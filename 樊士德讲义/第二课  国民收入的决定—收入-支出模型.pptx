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73" r:id="rId4"/>
    <p:sldId id="274" r:id="rId5"/>
    <p:sldId id="275" r:id="rId6"/>
    <p:sldId id="276" r:id="rId7"/>
    <p:sldId id="277" r:id="rId8"/>
    <p:sldId id="279" r:id="rId9"/>
    <p:sldId id="280" r:id="rId10"/>
    <p:sldId id="278" r:id="rId11"/>
    <p:sldId id="281" r:id="rId12"/>
    <p:sldId id="282" r:id="rId13"/>
    <p:sldId id="283" r:id="rId14"/>
    <p:sldId id="284" r:id="rId15"/>
    <p:sldId id="285" r:id="rId16"/>
    <p:sldId id="286" r:id="rId17"/>
    <p:sldId id="287" r:id="rId18"/>
    <p:sldId id="288" r:id="rId19"/>
    <p:sldId id="289" r:id="rId20"/>
    <p:sldId id="290" r:id="rId21"/>
    <p:sldId id="291" r:id="rId22"/>
    <p:sldId id="292" r:id="rId23"/>
    <p:sldId id="293" r:id="rId24"/>
    <p:sldId id="294" r:id="rId25"/>
    <p:sldId id="295" r:id="rId26"/>
    <p:sldId id="296" r:id="rId27"/>
    <p:sldId id="297" r:id="rId28"/>
    <p:sldId id="298"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 Id="rId6" Type="http://schemas.openxmlformats.org/officeDocument/2006/relationships/image" Target="../media/image21.wmf"/><Relationship Id="rId5" Type="http://schemas.openxmlformats.org/officeDocument/2006/relationships/image" Target="../media/image6.jpeg"/><Relationship Id="rId4" Type="http://schemas.openxmlformats.org/officeDocument/2006/relationships/image" Target="../media/image20.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 Id="rId6" Type="http://schemas.openxmlformats.org/officeDocument/2006/relationships/image" Target="../media/image26.wmf"/><Relationship Id="rId5" Type="http://schemas.openxmlformats.org/officeDocument/2006/relationships/image" Target="../media/image6.jpeg"/><Relationship Id="rId4" Type="http://schemas.openxmlformats.org/officeDocument/2006/relationships/image" Target="../media/image25.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image" Target="../media/image28.wmf"/><Relationship Id="rId7" Type="http://schemas.openxmlformats.org/officeDocument/2006/relationships/image" Target="../media/image31.wmf"/><Relationship Id="rId2" Type="http://schemas.openxmlformats.org/officeDocument/2006/relationships/image" Target="../media/image27.wmf"/><Relationship Id="rId1" Type="http://schemas.openxmlformats.org/officeDocument/2006/relationships/image" Target="../media/image22.wmf"/><Relationship Id="rId6" Type="http://schemas.openxmlformats.org/officeDocument/2006/relationships/image" Target="../media/image30.wmf"/><Relationship Id="rId5" Type="http://schemas.openxmlformats.org/officeDocument/2006/relationships/image" Target="../media/image6.jpeg"/><Relationship Id="rId4" Type="http://schemas.openxmlformats.org/officeDocument/2006/relationships/image" Target="../media/image2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6.jpe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AC1364-EE8A-4D14-90FD-462FC2B5103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0255131-0014-4150-A11D-0A3D0D4E2A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1A16C66-87D1-4985-BA41-66095AC1EDF8}"/>
              </a:ext>
            </a:extLst>
          </p:cNvPr>
          <p:cNvSpPr>
            <a:spLocks noGrp="1"/>
          </p:cNvSpPr>
          <p:nvPr>
            <p:ph type="dt" sz="half" idx="10"/>
          </p:nvPr>
        </p:nvSpPr>
        <p:spPr/>
        <p:txBody>
          <a:bodyPr/>
          <a:lstStyle/>
          <a:p>
            <a:fld id="{99C19437-A979-4DC7-A3A5-E91E78AA4B0E}" type="datetimeFigureOut">
              <a:rPr lang="zh-CN" altLang="en-US" smtClean="0"/>
              <a:t>2020/11/20</a:t>
            </a:fld>
            <a:endParaRPr lang="zh-CN" altLang="en-US"/>
          </a:p>
        </p:txBody>
      </p:sp>
      <p:sp>
        <p:nvSpPr>
          <p:cNvPr id="5" name="页脚占位符 4">
            <a:extLst>
              <a:ext uri="{FF2B5EF4-FFF2-40B4-BE49-F238E27FC236}">
                <a16:creationId xmlns:a16="http://schemas.microsoft.com/office/drawing/2014/main" id="{756ABF5D-B8AE-4F53-9B41-F6CFEBE5D09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4A7F2F1-4F53-491D-B236-886F70728F9D}"/>
              </a:ext>
            </a:extLst>
          </p:cNvPr>
          <p:cNvSpPr>
            <a:spLocks noGrp="1"/>
          </p:cNvSpPr>
          <p:nvPr>
            <p:ph type="sldNum" sz="quarter" idx="12"/>
          </p:nvPr>
        </p:nvSpPr>
        <p:spPr/>
        <p:txBody>
          <a:bodyPr/>
          <a:lstStyle/>
          <a:p>
            <a:fld id="{89A3A578-6446-4862-BD2F-EE50B9E0A610}" type="slidenum">
              <a:rPr lang="zh-CN" altLang="en-US" smtClean="0"/>
              <a:t>‹#›</a:t>
            </a:fld>
            <a:endParaRPr lang="zh-CN" altLang="en-US"/>
          </a:p>
        </p:txBody>
      </p:sp>
    </p:spTree>
    <p:extLst>
      <p:ext uri="{BB962C8B-B14F-4D97-AF65-F5344CB8AC3E}">
        <p14:creationId xmlns:p14="http://schemas.microsoft.com/office/powerpoint/2010/main" val="3904575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9247EB-429C-49BF-A2A6-17AD259BE39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9FBE6D7-51DB-4E3A-9FCF-4CE7B9A255B9}"/>
              </a:ext>
            </a:extLst>
          </p:cNvPr>
          <p:cNvSpPr>
            <a:spLocks noGrp="1"/>
          </p:cNvSpPr>
          <p:nvPr>
            <p:ph idx="1"/>
          </p:nvPr>
        </p:nvSpPr>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931FB1AF-75B3-4022-9C03-2644D10EAE93}"/>
              </a:ext>
            </a:extLst>
          </p:cNvPr>
          <p:cNvSpPr>
            <a:spLocks noGrp="1"/>
          </p:cNvSpPr>
          <p:nvPr>
            <p:ph type="dt" sz="half" idx="10"/>
          </p:nvPr>
        </p:nvSpPr>
        <p:spPr/>
        <p:txBody>
          <a:bodyPr/>
          <a:lstStyle/>
          <a:p>
            <a:fld id="{99C19437-A979-4DC7-A3A5-E91E78AA4B0E}" type="datetimeFigureOut">
              <a:rPr lang="zh-CN" altLang="en-US" smtClean="0"/>
              <a:t>2020/11/20</a:t>
            </a:fld>
            <a:endParaRPr lang="zh-CN" altLang="en-US"/>
          </a:p>
        </p:txBody>
      </p:sp>
      <p:sp>
        <p:nvSpPr>
          <p:cNvPr id="5" name="页脚占位符 4">
            <a:extLst>
              <a:ext uri="{FF2B5EF4-FFF2-40B4-BE49-F238E27FC236}">
                <a16:creationId xmlns:a16="http://schemas.microsoft.com/office/drawing/2014/main" id="{FA9FB91B-727C-4942-A3ED-BB67091CFDD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2167741-8F3D-42A4-9C21-2E8318D297A8}"/>
              </a:ext>
            </a:extLst>
          </p:cNvPr>
          <p:cNvSpPr>
            <a:spLocks noGrp="1"/>
          </p:cNvSpPr>
          <p:nvPr>
            <p:ph type="sldNum" sz="quarter" idx="12"/>
          </p:nvPr>
        </p:nvSpPr>
        <p:spPr/>
        <p:txBody>
          <a:bodyPr/>
          <a:lstStyle/>
          <a:p>
            <a:fld id="{89A3A578-6446-4862-BD2F-EE50B9E0A610}" type="slidenum">
              <a:rPr lang="zh-CN" altLang="en-US" smtClean="0"/>
              <a:t>‹#›</a:t>
            </a:fld>
            <a:endParaRPr lang="zh-CN" altLang="en-US"/>
          </a:p>
        </p:txBody>
      </p:sp>
    </p:spTree>
    <p:extLst>
      <p:ext uri="{BB962C8B-B14F-4D97-AF65-F5344CB8AC3E}">
        <p14:creationId xmlns:p14="http://schemas.microsoft.com/office/powerpoint/2010/main" val="154980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C1994F-8666-468D-AD0D-4B185A921D5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CCAC419-BEB8-4FC3-ADA6-1D66A01315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75ECD738-70CB-4054-9070-953964D6488E}"/>
              </a:ext>
            </a:extLst>
          </p:cNvPr>
          <p:cNvSpPr>
            <a:spLocks noGrp="1"/>
          </p:cNvSpPr>
          <p:nvPr>
            <p:ph type="dt" sz="half" idx="10"/>
          </p:nvPr>
        </p:nvSpPr>
        <p:spPr/>
        <p:txBody>
          <a:bodyPr/>
          <a:lstStyle/>
          <a:p>
            <a:fld id="{99C19437-A979-4DC7-A3A5-E91E78AA4B0E}" type="datetimeFigureOut">
              <a:rPr lang="zh-CN" altLang="en-US" smtClean="0"/>
              <a:t>2020/11/20</a:t>
            </a:fld>
            <a:endParaRPr lang="zh-CN" altLang="en-US"/>
          </a:p>
        </p:txBody>
      </p:sp>
      <p:sp>
        <p:nvSpPr>
          <p:cNvPr id="5" name="页脚占位符 4">
            <a:extLst>
              <a:ext uri="{FF2B5EF4-FFF2-40B4-BE49-F238E27FC236}">
                <a16:creationId xmlns:a16="http://schemas.microsoft.com/office/drawing/2014/main" id="{89FA8942-AF47-4C78-8206-88E66BDA339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E8E09C2-FC79-4482-BE66-07396D9B8574}"/>
              </a:ext>
            </a:extLst>
          </p:cNvPr>
          <p:cNvSpPr>
            <a:spLocks noGrp="1"/>
          </p:cNvSpPr>
          <p:nvPr>
            <p:ph type="sldNum" sz="quarter" idx="12"/>
          </p:nvPr>
        </p:nvSpPr>
        <p:spPr/>
        <p:txBody>
          <a:bodyPr/>
          <a:lstStyle/>
          <a:p>
            <a:fld id="{89A3A578-6446-4862-BD2F-EE50B9E0A610}" type="slidenum">
              <a:rPr lang="zh-CN" altLang="en-US" smtClean="0"/>
              <a:t>‹#›</a:t>
            </a:fld>
            <a:endParaRPr lang="zh-CN" altLang="en-US"/>
          </a:p>
        </p:txBody>
      </p:sp>
    </p:spTree>
    <p:extLst>
      <p:ext uri="{BB962C8B-B14F-4D97-AF65-F5344CB8AC3E}">
        <p14:creationId xmlns:p14="http://schemas.microsoft.com/office/powerpoint/2010/main" val="2844760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5075A8-825A-491D-8B92-12C24532667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5030530-5F85-472F-B5B4-AC159C45A122}"/>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F64DC0D9-03CB-461F-9B0E-DC364D42B6C1}"/>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D0AC05A4-FBB1-43A8-B177-DF2C6C3A7081}"/>
              </a:ext>
            </a:extLst>
          </p:cNvPr>
          <p:cNvSpPr>
            <a:spLocks noGrp="1"/>
          </p:cNvSpPr>
          <p:nvPr>
            <p:ph type="dt" sz="half" idx="10"/>
          </p:nvPr>
        </p:nvSpPr>
        <p:spPr/>
        <p:txBody>
          <a:bodyPr/>
          <a:lstStyle/>
          <a:p>
            <a:fld id="{99C19437-A979-4DC7-A3A5-E91E78AA4B0E}" type="datetimeFigureOut">
              <a:rPr lang="zh-CN" altLang="en-US" smtClean="0"/>
              <a:t>2020/11/20</a:t>
            </a:fld>
            <a:endParaRPr lang="zh-CN" altLang="en-US"/>
          </a:p>
        </p:txBody>
      </p:sp>
      <p:sp>
        <p:nvSpPr>
          <p:cNvPr id="6" name="页脚占位符 5">
            <a:extLst>
              <a:ext uri="{FF2B5EF4-FFF2-40B4-BE49-F238E27FC236}">
                <a16:creationId xmlns:a16="http://schemas.microsoft.com/office/drawing/2014/main" id="{DE6A4B35-69F0-403E-9E91-2E97089E5EA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1F081B7-6004-4B47-B1B1-7A59330DDB0B}"/>
              </a:ext>
            </a:extLst>
          </p:cNvPr>
          <p:cNvSpPr>
            <a:spLocks noGrp="1"/>
          </p:cNvSpPr>
          <p:nvPr>
            <p:ph type="sldNum" sz="quarter" idx="12"/>
          </p:nvPr>
        </p:nvSpPr>
        <p:spPr/>
        <p:txBody>
          <a:bodyPr/>
          <a:lstStyle/>
          <a:p>
            <a:fld id="{89A3A578-6446-4862-BD2F-EE50B9E0A610}" type="slidenum">
              <a:rPr lang="zh-CN" altLang="en-US" smtClean="0"/>
              <a:t>‹#›</a:t>
            </a:fld>
            <a:endParaRPr lang="zh-CN" altLang="en-US"/>
          </a:p>
        </p:txBody>
      </p:sp>
    </p:spTree>
    <p:extLst>
      <p:ext uri="{BB962C8B-B14F-4D97-AF65-F5344CB8AC3E}">
        <p14:creationId xmlns:p14="http://schemas.microsoft.com/office/powerpoint/2010/main" val="2112647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8E8E10-83E4-40F2-B843-F6737B061C3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F4098BC-9B7F-4823-9EB2-ED3112A8FC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30B94E1C-6C1B-44C7-BD98-D120F97B9DB4}"/>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0A1B8DE5-94BC-419E-A1B9-4A49C4EFF5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0B628B64-2F86-481F-8E04-2D6EAEF838F6}"/>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643FD425-9E15-45AF-91A9-D91956E46306}"/>
              </a:ext>
            </a:extLst>
          </p:cNvPr>
          <p:cNvSpPr>
            <a:spLocks noGrp="1"/>
          </p:cNvSpPr>
          <p:nvPr>
            <p:ph type="dt" sz="half" idx="10"/>
          </p:nvPr>
        </p:nvSpPr>
        <p:spPr/>
        <p:txBody>
          <a:bodyPr/>
          <a:lstStyle/>
          <a:p>
            <a:fld id="{99C19437-A979-4DC7-A3A5-E91E78AA4B0E}" type="datetimeFigureOut">
              <a:rPr lang="zh-CN" altLang="en-US" smtClean="0"/>
              <a:t>2020/11/20</a:t>
            </a:fld>
            <a:endParaRPr lang="zh-CN" altLang="en-US"/>
          </a:p>
        </p:txBody>
      </p:sp>
      <p:sp>
        <p:nvSpPr>
          <p:cNvPr id="8" name="页脚占位符 7">
            <a:extLst>
              <a:ext uri="{FF2B5EF4-FFF2-40B4-BE49-F238E27FC236}">
                <a16:creationId xmlns:a16="http://schemas.microsoft.com/office/drawing/2014/main" id="{6AACD1B6-D101-48EC-B06E-2C67BA949E7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6F73C82-1659-4F37-8964-FE0430ED1DA2}"/>
              </a:ext>
            </a:extLst>
          </p:cNvPr>
          <p:cNvSpPr>
            <a:spLocks noGrp="1"/>
          </p:cNvSpPr>
          <p:nvPr>
            <p:ph type="sldNum" sz="quarter" idx="12"/>
          </p:nvPr>
        </p:nvSpPr>
        <p:spPr/>
        <p:txBody>
          <a:bodyPr/>
          <a:lstStyle/>
          <a:p>
            <a:fld id="{89A3A578-6446-4862-BD2F-EE50B9E0A610}" type="slidenum">
              <a:rPr lang="zh-CN" altLang="en-US" smtClean="0"/>
              <a:t>‹#›</a:t>
            </a:fld>
            <a:endParaRPr lang="zh-CN" altLang="en-US"/>
          </a:p>
        </p:txBody>
      </p:sp>
    </p:spTree>
    <p:extLst>
      <p:ext uri="{BB962C8B-B14F-4D97-AF65-F5344CB8AC3E}">
        <p14:creationId xmlns:p14="http://schemas.microsoft.com/office/powerpoint/2010/main" val="2998650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DC99BD-5AD2-4E9B-85AD-3D775ADD848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A957A81-88AE-4281-ADE9-81757C00294E}"/>
              </a:ext>
            </a:extLst>
          </p:cNvPr>
          <p:cNvSpPr>
            <a:spLocks noGrp="1"/>
          </p:cNvSpPr>
          <p:nvPr>
            <p:ph type="dt" sz="half" idx="10"/>
          </p:nvPr>
        </p:nvSpPr>
        <p:spPr/>
        <p:txBody>
          <a:bodyPr/>
          <a:lstStyle/>
          <a:p>
            <a:fld id="{99C19437-A979-4DC7-A3A5-E91E78AA4B0E}" type="datetimeFigureOut">
              <a:rPr lang="zh-CN" altLang="en-US" smtClean="0"/>
              <a:t>2020/11/20</a:t>
            </a:fld>
            <a:endParaRPr lang="zh-CN" altLang="en-US"/>
          </a:p>
        </p:txBody>
      </p:sp>
      <p:sp>
        <p:nvSpPr>
          <p:cNvPr id="4" name="页脚占位符 3">
            <a:extLst>
              <a:ext uri="{FF2B5EF4-FFF2-40B4-BE49-F238E27FC236}">
                <a16:creationId xmlns:a16="http://schemas.microsoft.com/office/drawing/2014/main" id="{82B6714C-4C03-4C57-93EC-13AC5747442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A8B93E0-B877-440F-AEFD-96D9A1A3734C}"/>
              </a:ext>
            </a:extLst>
          </p:cNvPr>
          <p:cNvSpPr>
            <a:spLocks noGrp="1"/>
          </p:cNvSpPr>
          <p:nvPr>
            <p:ph type="sldNum" sz="quarter" idx="12"/>
          </p:nvPr>
        </p:nvSpPr>
        <p:spPr/>
        <p:txBody>
          <a:bodyPr/>
          <a:lstStyle/>
          <a:p>
            <a:fld id="{89A3A578-6446-4862-BD2F-EE50B9E0A610}" type="slidenum">
              <a:rPr lang="zh-CN" altLang="en-US" smtClean="0"/>
              <a:t>‹#›</a:t>
            </a:fld>
            <a:endParaRPr lang="zh-CN" altLang="en-US"/>
          </a:p>
        </p:txBody>
      </p:sp>
    </p:spTree>
    <p:extLst>
      <p:ext uri="{BB962C8B-B14F-4D97-AF65-F5344CB8AC3E}">
        <p14:creationId xmlns:p14="http://schemas.microsoft.com/office/powerpoint/2010/main" val="1448951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EC1B14F-B3AD-49D6-80C3-6FBF928C4EDB}"/>
              </a:ext>
            </a:extLst>
          </p:cNvPr>
          <p:cNvSpPr>
            <a:spLocks noGrp="1"/>
          </p:cNvSpPr>
          <p:nvPr>
            <p:ph type="dt" sz="half" idx="10"/>
          </p:nvPr>
        </p:nvSpPr>
        <p:spPr/>
        <p:txBody>
          <a:bodyPr/>
          <a:lstStyle/>
          <a:p>
            <a:fld id="{99C19437-A979-4DC7-A3A5-E91E78AA4B0E}" type="datetimeFigureOut">
              <a:rPr lang="zh-CN" altLang="en-US" smtClean="0"/>
              <a:t>2020/11/20</a:t>
            </a:fld>
            <a:endParaRPr lang="zh-CN" altLang="en-US"/>
          </a:p>
        </p:txBody>
      </p:sp>
      <p:sp>
        <p:nvSpPr>
          <p:cNvPr id="3" name="页脚占位符 2">
            <a:extLst>
              <a:ext uri="{FF2B5EF4-FFF2-40B4-BE49-F238E27FC236}">
                <a16:creationId xmlns:a16="http://schemas.microsoft.com/office/drawing/2014/main" id="{4EB5B930-3E73-4AC9-B086-5AE263EDA1A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635932-2B0F-4A5D-AE91-FF875DA457A2}"/>
              </a:ext>
            </a:extLst>
          </p:cNvPr>
          <p:cNvSpPr>
            <a:spLocks noGrp="1"/>
          </p:cNvSpPr>
          <p:nvPr>
            <p:ph type="sldNum" sz="quarter" idx="12"/>
          </p:nvPr>
        </p:nvSpPr>
        <p:spPr/>
        <p:txBody>
          <a:bodyPr/>
          <a:lstStyle/>
          <a:p>
            <a:fld id="{89A3A578-6446-4862-BD2F-EE50B9E0A610}" type="slidenum">
              <a:rPr lang="zh-CN" altLang="en-US" smtClean="0"/>
              <a:t>‹#›</a:t>
            </a:fld>
            <a:endParaRPr lang="zh-CN" altLang="en-US"/>
          </a:p>
        </p:txBody>
      </p:sp>
    </p:spTree>
    <p:extLst>
      <p:ext uri="{BB962C8B-B14F-4D97-AF65-F5344CB8AC3E}">
        <p14:creationId xmlns:p14="http://schemas.microsoft.com/office/powerpoint/2010/main" val="2911209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DDD674-D96A-4289-BF4E-9953B3CC69A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F0F1DC4-9886-4A4E-A938-6EE047428D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0C734179-B3DF-4587-809B-5A3CADD51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07EF4877-1CE4-46DC-9E16-8A8F032A825C}"/>
              </a:ext>
            </a:extLst>
          </p:cNvPr>
          <p:cNvSpPr>
            <a:spLocks noGrp="1"/>
          </p:cNvSpPr>
          <p:nvPr>
            <p:ph type="dt" sz="half" idx="10"/>
          </p:nvPr>
        </p:nvSpPr>
        <p:spPr/>
        <p:txBody>
          <a:bodyPr/>
          <a:lstStyle/>
          <a:p>
            <a:fld id="{99C19437-A979-4DC7-A3A5-E91E78AA4B0E}" type="datetimeFigureOut">
              <a:rPr lang="zh-CN" altLang="en-US" smtClean="0"/>
              <a:t>2020/11/20</a:t>
            </a:fld>
            <a:endParaRPr lang="zh-CN" altLang="en-US"/>
          </a:p>
        </p:txBody>
      </p:sp>
      <p:sp>
        <p:nvSpPr>
          <p:cNvPr id="6" name="页脚占位符 5">
            <a:extLst>
              <a:ext uri="{FF2B5EF4-FFF2-40B4-BE49-F238E27FC236}">
                <a16:creationId xmlns:a16="http://schemas.microsoft.com/office/drawing/2014/main" id="{446695C1-30B2-4877-A043-EF24437CEF0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A8A5CA1-AA8F-4D94-9DAE-75FCF76D75F7}"/>
              </a:ext>
            </a:extLst>
          </p:cNvPr>
          <p:cNvSpPr>
            <a:spLocks noGrp="1"/>
          </p:cNvSpPr>
          <p:nvPr>
            <p:ph type="sldNum" sz="quarter" idx="12"/>
          </p:nvPr>
        </p:nvSpPr>
        <p:spPr/>
        <p:txBody>
          <a:bodyPr/>
          <a:lstStyle/>
          <a:p>
            <a:fld id="{89A3A578-6446-4862-BD2F-EE50B9E0A610}" type="slidenum">
              <a:rPr lang="zh-CN" altLang="en-US" smtClean="0"/>
              <a:t>‹#›</a:t>
            </a:fld>
            <a:endParaRPr lang="zh-CN" altLang="en-US"/>
          </a:p>
        </p:txBody>
      </p:sp>
    </p:spTree>
    <p:extLst>
      <p:ext uri="{BB962C8B-B14F-4D97-AF65-F5344CB8AC3E}">
        <p14:creationId xmlns:p14="http://schemas.microsoft.com/office/powerpoint/2010/main" val="1522210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F9A15-9ADF-43B8-A61B-2E4F2BB95FF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76F817A-CFE1-494D-8D48-BDE987AEC1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A4BA402-50E5-48C3-B694-211746D312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A715ED11-7264-4A7F-8711-E67AE5235CF2}"/>
              </a:ext>
            </a:extLst>
          </p:cNvPr>
          <p:cNvSpPr>
            <a:spLocks noGrp="1"/>
          </p:cNvSpPr>
          <p:nvPr>
            <p:ph type="dt" sz="half" idx="10"/>
          </p:nvPr>
        </p:nvSpPr>
        <p:spPr/>
        <p:txBody>
          <a:bodyPr/>
          <a:lstStyle/>
          <a:p>
            <a:fld id="{99C19437-A979-4DC7-A3A5-E91E78AA4B0E}" type="datetimeFigureOut">
              <a:rPr lang="zh-CN" altLang="en-US" smtClean="0"/>
              <a:t>2020/11/20</a:t>
            </a:fld>
            <a:endParaRPr lang="zh-CN" altLang="en-US"/>
          </a:p>
        </p:txBody>
      </p:sp>
      <p:sp>
        <p:nvSpPr>
          <p:cNvPr id="6" name="页脚占位符 5">
            <a:extLst>
              <a:ext uri="{FF2B5EF4-FFF2-40B4-BE49-F238E27FC236}">
                <a16:creationId xmlns:a16="http://schemas.microsoft.com/office/drawing/2014/main" id="{CC008131-57B9-4D24-9E65-7540CF30B66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5700116-B28A-4A5A-AED8-2110E2D9C7F3}"/>
              </a:ext>
            </a:extLst>
          </p:cNvPr>
          <p:cNvSpPr>
            <a:spLocks noGrp="1"/>
          </p:cNvSpPr>
          <p:nvPr>
            <p:ph type="sldNum" sz="quarter" idx="12"/>
          </p:nvPr>
        </p:nvSpPr>
        <p:spPr/>
        <p:txBody>
          <a:bodyPr/>
          <a:lstStyle/>
          <a:p>
            <a:fld id="{89A3A578-6446-4862-BD2F-EE50B9E0A610}" type="slidenum">
              <a:rPr lang="zh-CN" altLang="en-US" smtClean="0"/>
              <a:t>‹#›</a:t>
            </a:fld>
            <a:endParaRPr lang="zh-CN" altLang="en-US"/>
          </a:p>
        </p:txBody>
      </p:sp>
    </p:spTree>
    <p:extLst>
      <p:ext uri="{BB962C8B-B14F-4D97-AF65-F5344CB8AC3E}">
        <p14:creationId xmlns:p14="http://schemas.microsoft.com/office/powerpoint/2010/main" val="4282964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82AA1B-632A-4344-A87E-BB6D9D74A44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2D061C5-A93E-4EA8-AC86-BCAE99712584}"/>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B7937B0-3C1D-498A-9EBE-95EC62B3FA25}"/>
              </a:ext>
            </a:extLst>
          </p:cNvPr>
          <p:cNvSpPr>
            <a:spLocks noGrp="1"/>
          </p:cNvSpPr>
          <p:nvPr>
            <p:ph type="dt" sz="half" idx="10"/>
          </p:nvPr>
        </p:nvSpPr>
        <p:spPr/>
        <p:txBody>
          <a:bodyPr/>
          <a:lstStyle/>
          <a:p>
            <a:fld id="{99C19437-A979-4DC7-A3A5-E91E78AA4B0E}" type="datetimeFigureOut">
              <a:rPr lang="zh-CN" altLang="en-US" smtClean="0"/>
              <a:t>2020/11/20</a:t>
            </a:fld>
            <a:endParaRPr lang="zh-CN" altLang="en-US"/>
          </a:p>
        </p:txBody>
      </p:sp>
      <p:sp>
        <p:nvSpPr>
          <p:cNvPr id="5" name="页脚占位符 4">
            <a:extLst>
              <a:ext uri="{FF2B5EF4-FFF2-40B4-BE49-F238E27FC236}">
                <a16:creationId xmlns:a16="http://schemas.microsoft.com/office/drawing/2014/main" id="{13BBDFCA-11CA-4AA4-8E30-72BE0D7196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9D3DC96-AD94-4E96-B303-745F2E4A4A3E}"/>
              </a:ext>
            </a:extLst>
          </p:cNvPr>
          <p:cNvSpPr>
            <a:spLocks noGrp="1"/>
          </p:cNvSpPr>
          <p:nvPr>
            <p:ph type="sldNum" sz="quarter" idx="12"/>
          </p:nvPr>
        </p:nvSpPr>
        <p:spPr/>
        <p:txBody>
          <a:bodyPr/>
          <a:lstStyle/>
          <a:p>
            <a:fld id="{89A3A578-6446-4862-BD2F-EE50B9E0A610}" type="slidenum">
              <a:rPr lang="zh-CN" altLang="en-US" smtClean="0"/>
              <a:t>‹#›</a:t>
            </a:fld>
            <a:endParaRPr lang="zh-CN" altLang="en-US"/>
          </a:p>
        </p:txBody>
      </p:sp>
    </p:spTree>
    <p:extLst>
      <p:ext uri="{BB962C8B-B14F-4D97-AF65-F5344CB8AC3E}">
        <p14:creationId xmlns:p14="http://schemas.microsoft.com/office/powerpoint/2010/main" val="2572615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16E000D-3109-4AEA-99E9-A9617A06D25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1FE062A-DC2E-4A62-A8B5-1C197D445747}"/>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AC4BE63-4ABD-4A2E-B7AD-DAB19CD27282}"/>
              </a:ext>
            </a:extLst>
          </p:cNvPr>
          <p:cNvSpPr>
            <a:spLocks noGrp="1"/>
          </p:cNvSpPr>
          <p:nvPr>
            <p:ph type="dt" sz="half" idx="10"/>
          </p:nvPr>
        </p:nvSpPr>
        <p:spPr/>
        <p:txBody>
          <a:bodyPr/>
          <a:lstStyle/>
          <a:p>
            <a:fld id="{99C19437-A979-4DC7-A3A5-E91E78AA4B0E}" type="datetimeFigureOut">
              <a:rPr lang="zh-CN" altLang="en-US" smtClean="0"/>
              <a:t>2020/11/20</a:t>
            </a:fld>
            <a:endParaRPr lang="zh-CN" altLang="en-US"/>
          </a:p>
        </p:txBody>
      </p:sp>
      <p:sp>
        <p:nvSpPr>
          <p:cNvPr id="5" name="页脚占位符 4">
            <a:extLst>
              <a:ext uri="{FF2B5EF4-FFF2-40B4-BE49-F238E27FC236}">
                <a16:creationId xmlns:a16="http://schemas.microsoft.com/office/drawing/2014/main" id="{40B37865-6487-4D34-9DF6-9285C6EE744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858842E-DED6-4B5E-B282-92C84BF7BC57}"/>
              </a:ext>
            </a:extLst>
          </p:cNvPr>
          <p:cNvSpPr>
            <a:spLocks noGrp="1"/>
          </p:cNvSpPr>
          <p:nvPr>
            <p:ph type="sldNum" sz="quarter" idx="12"/>
          </p:nvPr>
        </p:nvSpPr>
        <p:spPr/>
        <p:txBody>
          <a:bodyPr/>
          <a:lstStyle/>
          <a:p>
            <a:fld id="{89A3A578-6446-4862-BD2F-EE50B9E0A610}" type="slidenum">
              <a:rPr lang="zh-CN" altLang="en-US" smtClean="0"/>
              <a:t>‹#›</a:t>
            </a:fld>
            <a:endParaRPr lang="zh-CN" altLang="en-US"/>
          </a:p>
        </p:txBody>
      </p:sp>
    </p:spTree>
    <p:extLst>
      <p:ext uri="{BB962C8B-B14F-4D97-AF65-F5344CB8AC3E}">
        <p14:creationId xmlns:p14="http://schemas.microsoft.com/office/powerpoint/2010/main" val="3815708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E8980F2-10BB-40D5-871C-267C132D5D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798D8C1-83C2-48F3-A7D4-76823FEB29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EEFD7C1-A2AC-4672-9B2E-0C7BD16FDE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C19437-A979-4DC7-A3A5-E91E78AA4B0E}" type="datetimeFigureOut">
              <a:rPr lang="zh-CN" altLang="en-US" smtClean="0"/>
              <a:t>2020/11/20</a:t>
            </a:fld>
            <a:endParaRPr lang="zh-CN" altLang="en-US"/>
          </a:p>
        </p:txBody>
      </p:sp>
      <p:sp>
        <p:nvSpPr>
          <p:cNvPr id="5" name="页脚占位符 4">
            <a:extLst>
              <a:ext uri="{FF2B5EF4-FFF2-40B4-BE49-F238E27FC236}">
                <a16:creationId xmlns:a16="http://schemas.microsoft.com/office/drawing/2014/main" id="{3F2B63C4-88D6-4DFD-B9A2-221553A67B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60D0BE0-E407-4C8E-8BB4-83780B9994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A3A578-6446-4862-BD2F-EE50B9E0A610}" type="slidenum">
              <a:rPr lang="zh-CN" altLang="en-US" smtClean="0"/>
              <a:t>‹#›</a:t>
            </a:fld>
            <a:endParaRPr lang="zh-CN" altLang="en-US"/>
          </a:p>
        </p:txBody>
      </p:sp>
    </p:spTree>
    <p:extLst>
      <p:ext uri="{BB962C8B-B14F-4D97-AF65-F5344CB8AC3E}">
        <p14:creationId xmlns:p14="http://schemas.microsoft.com/office/powerpoint/2010/main" val="2986017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image" Target="../media/image6.jpeg"/><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21.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8.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20.wmf"/><Relationship Id="rId4" Type="http://schemas.openxmlformats.org/officeDocument/2006/relationships/image" Target="../media/image17.wmf"/><Relationship Id="rId9" Type="http://schemas.openxmlformats.org/officeDocument/2006/relationships/oleObject" Target="../embeddings/oleObject4.bin"/></Relationships>
</file>

<file path=ppt/slides/_rels/slide25.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image" Target="../media/image6.jpeg"/><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26.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3.wmf"/><Relationship Id="rId11" Type="http://schemas.openxmlformats.org/officeDocument/2006/relationships/oleObject" Target="../embeddings/oleObject10.bin"/><Relationship Id="rId5" Type="http://schemas.openxmlformats.org/officeDocument/2006/relationships/oleObject" Target="../embeddings/oleObject7.bin"/><Relationship Id="rId10" Type="http://schemas.openxmlformats.org/officeDocument/2006/relationships/image" Target="../media/image25.wmf"/><Relationship Id="rId4" Type="http://schemas.openxmlformats.org/officeDocument/2006/relationships/image" Target="../media/image22.wmf"/><Relationship Id="rId9" Type="http://schemas.openxmlformats.org/officeDocument/2006/relationships/oleObject" Target="../embeddings/oleObject9.bin"/></Relationships>
</file>

<file path=ppt/slides/_rels/slide26.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image" Target="../media/image6.jpeg"/><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image" Target="../media/image30.wmf"/><Relationship Id="rId17" Type="http://schemas.openxmlformats.org/officeDocument/2006/relationships/image" Target="../media/image32.wmf"/><Relationship Id="rId2" Type="http://schemas.openxmlformats.org/officeDocument/2006/relationships/slideLayout" Target="../slideLayouts/slideLayout2.xml"/><Relationship Id="rId16" Type="http://schemas.openxmlformats.org/officeDocument/2006/relationships/oleObject" Target="../embeddings/oleObject17.bin"/><Relationship Id="rId1" Type="http://schemas.openxmlformats.org/officeDocument/2006/relationships/vmlDrawing" Target="../drawings/vmlDrawing3.vml"/><Relationship Id="rId6" Type="http://schemas.openxmlformats.org/officeDocument/2006/relationships/image" Target="../media/image27.wmf"/><Relationship Id="rId11" Type="http://schemas.openxmlformats.org/officeDocument/2006/relationships/oleObject" Target="../embeddings/oleObject15.bin"/><Relationship Id="rId5" Type="http://schemas.openxmlformats.org/officeDocument/2006/relationships/oleObject" Target="../embeddings/oleObject12.bin"/><Relationship Id="rId15" Type="http://schemas.openxmlformats.org/officeDocument/2006/relationships/image" Target="../media/image31.wmf"/><Relationship Id="rId10" Type="http://schemas.openxmlformats.org/officeDocument/2006/relationships/image" Target="../media/image29.wmf"/><Relationship Id="rId4" Type="http://schemas.openxmlformats.org/officeDocument/2006/relationships/image" Target="../media/image22.wmf"/><Relationship Id="rId9" Type="http://schemas.openxmlformats.org/officeDocument/2006/relationships/oleObject" Target="../embeddings/oleObject14.bin"/><Relationship Id="rId14" Type="http://schemas.openxmlformats.org/officeDocument/2006/relationships/oleObject" Target="../embeddings/oleObject16.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34.wmf"/><Relationship Id="rId5" Type="http://schemas.openxmlformats.org/officeDocument/2006/relationships/oleObject" Target="../embeddings/oleObject19.bin"/><Relationship Id="rId4" Type="http://schemas.openxmlformats.org/officeDocument/2006/relationships/image" Target="../media/image33.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6.jpeg"/><Relationship Id="rId4" Type="http://schemas.openxmlformats.org/officeDocument/2006/relationships/image" Target="../media/image3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35CDA6-945A-40A8-A838-A6F9908628E4}"/>
              </a:ext>
            </a:extLst>
          </p:cNvPr>
          <p:cNvSpPr>
            <a:spLocks noGrp="1"/>
          </p:cNvSpPr>
          <p:nvPr>
            <p:ph type="ctrTitle"/>
          </p:nvPr>
        </p:nvSpPr>
        <p:spPr>
          <a:xfrm>
            <a:off x="864124" y="1226058"/>
            <a:ext cx="9144000" cy="2387600"/>
          </a:xfrm>
        </p:spPr>
        <p:txBody>
          <a:bodyPr>
            <a:normAutofit/>
          </a:bodyPr>
          <a:lstStyle/>
          <a:p>
            <a:r>
              <a:rPr lang="zh-CN" altLang="zh-CN" sz="4400" b="1" kern="0" dirty="0">
                <a:effectLst/>
                <a:ea typeface="宋体" panose="02010600030101010101" pitchFamily="2" charset="-122"/>
                <a:cs typeface="宋体" panose="02010600030101010101" pitchFamily="2" charset="-122"/>
              </a:rPr>
              <a:t>国民收入的决定</a:t>
            </a:r>
            <a:br>
              <a:rPr lang="en-US" altLang="zh-CN" sz="4400" b="1" kern="0" dirty="0">
                <a:effectLst/>
                <a:ea typeface="宋体" panose="02010600030101010101" pitchFamily="2" charset="-122"/>
                <a:cs typeface="宋体" panose="02010600030101010101" pitchFamily="2" charset="-122"/>
              </a:rPr>
            </a:br>
            <a:r>
              <a:rPr lang="en-US" altLang="zh-CN" sz="4400" b="1" kern="0" dirty="0">
                <a:effectLst/>
                <a:ea typeface="宋体" panose="02010600030101010101" pitchFamily="2" charset="-122"/>
                <a:cs typeface="宋体" panose="02010600030101010101" pitchFamily="2" charset="-122"/>
              </a:rPr>
              <a:t>                         </a:t>
            </a:r>
            <a:r>
              <a:rPr lang="zh-CN" altLang="zh-CN" sz="4400" b="1" kern="0" dirty="0">
                <a:effectLst/>
                <a:ea typeface="宋体" panose="02010600030101010101" pitchFamily="2" charset="-122"/>
                <a:cs typeface="宋体" panose="02010600030101010101" pitchFamily="2" charset="-122"/>
              </a:rPr>
              <a:t>—收入</a:t>
            </a:r>
            <a:r>
              <a:rPr lang="en-US" altLang="zh-CN" sz="4400" b="1" kern="0" dirty="0">
                <a:effectLst/>
                <a:ea typeface="宋体" panose="02010600030101010101" pitchFamily="2" charset="-122"/>
                <a:cs typeface="宋体" panose="02010600030101010101" pitchFamily="2" charset="-122"/>
              </a:rPr>
              <a:t>-</a:t>
            </a:r>
            <a:r>
              <a:rPr lang="zh-CN" altLang="zh-CN" sz="4400" b="1" kern="0" dirty="0">
                <a:effectLst/>
                <a:ea typeface="宋体" panose="02010600030101010101" pitchFamily="2" charset="-122"/>
                <a:cs typeface="宋体" panose="02010600030101010101" pitchFamily="2" charset="-122"/>
              </a:rPr>
              <a:t>支出模型</a:t>
            </a:r>
            <a:endParaRPr lang="zh-CN" altLang="en-US" sz="4400" dirty="0"/>
          </a:p>
        </p:txBody>
      </p:sp>
    </p:spTree>
    <p:extLst>
      <p:ext uri="{BB962C8B-B14F-4D97-AF65-F5344CB8AC3E}">
        <p14:creationId xmlns:p14="http://schemas.microsoft.com/office/powerpoint/2010/main" val="279545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D0F097B-06B3-421C-B6F6-AC60EBC4C76E}"/>
              </a:ext>
            </a:extLst>
          </p:cNvPr>
          <p:cNvSpPr>
            <a:spLocks noGrp="1" noChangeArrowheads="1"/>
          </p:cNvSpPr>
          <p:nvPr>
            <p:ph type="title"/>
          </p:nvPr>
        </p:nvSpPr>
        <p:spPr>
          <a:xfrm>
            <a:off x="419911" y="19975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latin typeface="黑体" panose="02010609060101010101" pitchFamily="49" charset="-122"/>
                <a:ea typeface="黑体" panose="02010609060101010101" pitchFamily="49" charset="-122"/>
              </a:rPr>
              <a:t>均衡产出（收入）</a:t>
            </a:r>
          </a:p>
        </p:txBody>
      </p:sp>
      <p:sp>
        <p:nvSpPr>
          <p:cNvPr id="5" name="Rectangle 3">
            <a:extLst>
              <a:ext uri="{FF2B5EF4-FFF2-40B4-BE49-F238E27FC236}">
                <a16:creationId xmlns:a16="http://schemas.microsoft.com/office/drawing/2014/main" id="{5F930603-880A-47BF-B512-5017A12350C8}"/>
              </a:ext>
            </a:extLst>
          </p:cNvPr>
          <p:cNvSpPr>
            <a:spLocks noGrp="1" noChangeArrowheads="1"/>
          </p:cNvSpPr>
          <p:nvPr>
            <p:ph idx="1"/>
          </p:nvPr>
        </p:nvSpPr>
        <p:spPr>
          <a:xfrm>
            <a:off x="513709" y="1018535"/>
            <a:ext cx="8351837" cy="1008062"/>
          </a:xfrm>
          <a:noFill/>
          <a:ln w="3175" cmpd="sng">
            <a:solidFill>
              <a:schemeClr val="tx1"/>
            </a:solidFill>
          </a:ln>
        </p:spPr>
        <p:txBody>
          <a:bodyPr/>
          <a:lstStyle/>
          <a:p>
            <a:pPr>
              <a:buClr>
                <a:schemeClr val="hlink"/>
              </a:buClr>
              <a:buSzPct val="95000"/>
              <a:buFont typeface="Wingdings" panose="05000000000000000000" pitchFamily="2" charset="2"/>
              <a:buChar char="u"/>
            </a:pPr>
            <a:r>
              <a:rPr lang="zh-CN" altLang="en-US" b="1">
                <a:latin typeface="黑体" panose="02010609060101010101" pitchFamily="49" charset="-122"/>
                <a:ea typeface="黑体" panose="02010609060101010101" pitchFamily="49" charset="-122"/>
              </a:rPr>
              <a:t>均衡产出：与总需求相等的产出。社会收入正好等于居民和厂商想要有的支出。</a:t>
            </a:r>
          </a:p>
        </p:txBody>
      </p:sp>
      <p:sp>
        <p:nvSpPr>
          <p:cNvPr id="6" name="Rectangle 4">
            <a:extLst>
              <a:ext uri="{FF2B5EF4-FFF2-40B4-BE49-F238E27FC236}">
                <a16:creationId xmlns:a16="http://schemas.microsoft.com/office/drawing/2014/main" id="{787B05CD-98F3-4C9A-8B5F-C11BE289217E}"/>
              </a:ext>
            </a:extLst>
          </p:cNvPr>
          <p:cNvSpPr>
            <a:spLocks noChangeArrowheads="1"/>
          </p:cNvSpPr>
          <p:nvPr/>
        </p:nvSpPr>
        <p:spPr bwMode="auto">
          <a:xfrm>
            <a:off x="513708" y="3609335"/>
            <a:ext cx="4679950" cy="707886"/>
          </a:xfrm>
          <a:prstGeom prst="rect">
            <a:avLst/>
          </a:prstGeom>
          <a:noFill/>
          <a:ln w="3175" cmpd="tri">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rgbClr val="336600"/>
              </a:buClr>
              <a:buSzPct val="95000"/>
              <a:buFont typeface="Wingdings" panose="05000000000000000000" pitchFamily="2" charset="2"/>
              <a:buChar char="l"/>
            </a:pPr>
            <a:r>
              <a:rPr lang="zh-CN" altLang="en-US" sz="2000" b="1" dirty="0"/>
              <a:t>均衡，不再变动。</a:t>
            </a:r>
            <a:r>
              <a:rPr lang="zh-CN" altLang="en-US" sz="2000" b="1" dirty="0">
                <a:solidFill>
                  <a:schemeClr val="bg1"/>
                </a:solidFill>
              </a:rPr>
              <a:t>非意愿存货</a:t>
            </a:r>
            <a:r>
              <a:rPr lang="en-US" altLang="zh-CN" sz="2000" b="1" dirty="0">
                <a:solidFill>
                  <a:schemeClr val="bg1"/>
                </a:solidFill>
              </a:rPr>
              <a:t>IU</a:t>
            </a:r>
            <a:r>
              <a:rPr lang="en-US" altLang="zh-CN" sz="2000" dirty="0">
                <a:solidFill>
                  <a:schemeClr val="bg1"/>
                </a:solidFill>
              </a:rPr>
              <a:t> </a:t>
            </a:r>
            <a:r>
              <a:rPr lang="zh-CN" altLang="en-US" sz="2000" b="1" dirty="0">
                <a:solidFill>
                  <a:schemeClr val="bg1"/>
                </a:solidFill>
              </a:rPr>
              <a:t>＝</a:t>
            </a:r>
            <a:r>
              <a:rPr lang="en-US" altLang="zh-CN" sz="2000" b="1" dirty="0">
                <a:solidFill>
                  <a:schemeClr val="bg1"/>
                </a:solidFill>
              </a:rPr>
              <a:t>0</a:t>
            </a:r>
          </a:p>
          <a:p>
            <a:pPr>
              <a:buClr>
                <a:srgbClr val="336600"/>
              </a:buClr>
              <a:buSzPct val="95000"/>
              <a:buFont typeface="Wingdings" panose="05000000000000000000" pitchFamily="2" charset="2"/>
              <a:buChar char="l"/>
            </a:pPr>
            <a:r>
              <a:rPr lang="zh-CN" altLang="en-US" sz="2000" b="1" dirty="0">
                <a:solidFill>
                  <a:schemeClr val="bg1"/>
                </a:solidFill>
              </a:rPr>
              <a:t>总产出＝总需求，厂商生产稳定</a:t>
            </a:r>
          </a:p>
        </p:txBody>
      </p:sp>
      <p:sp>
        <p:nvSpPr>
          <p:cNvPr id="7" name="Rectangle 5">
            <a:extLst>
              <a:ext uri="{FF2B5EF4-FFF2-40B4-BE49-F238E27FC236}">
                <a16:creationId xmlns:a16="http://schemas.microsoft.com/office/drawing/2014/main" id="{08945D47-6ED0-44CB-A5F2-1F1330917E5B}"/>
              </a:ext>
            </a:extLst>
          </p:cNvPr>
          <p:cNvSpPr>
            <a:spLocks noChangeArrowheads="1"/>
          </p:cNvSpPr>
          <p:nvPr/>
        </p:nvSpPr>
        <p:spPr bwMode="auto">
          <a:xfrm>
            <a:off x="513708" y="2169472"/>
            <a:ext cx="5472112" cy="707886"/>
          </a:xfrm>
          <a:prstGeom prst="rect">
            <a:avLst/>
          </a:prstGeom>
          <a:noFill/>
          <a:ln w="3175" cmpd="tri">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rgbClr val="336600"/>
              </a:buClr>
              <a:buSzPct val="95000"/>
              <a:buFont typeface="Wingdings" panose="05000000000000000000" pitchFamily="2" charset="2"/>
              <a:buChar char="l"/>
            </a:pPr>
            <a:r>
              <a:rPr lang="zh-CN" altLang="en-US" sz="2000" b="1"/>
              <a:t>产出</a:t>
            </a:r>
            <a:r>
              <a:rPr lang="en-US" altLang="zh-CN" sz="2000" b="1"/>
              <a:t>&gt;</a:t>
            </a:r>
            <a:r>
              <a:rPr lang="zh-CN" altLang="en-US" sz="2000" b="1"/>
              <a:t>需求，厂商非意愿存货增加，减少生产</a:t>
            </a:r>
          </a:p>
          <a:p>
            <a:pPr>
              <a:buClr>
                <a:srgbClr val="336600"/>
              </a:buClr>
              <a:buSzPct val="95000"/>
              <a:buFont typeface="Wingdings" panose="05000000000000000000" pitchFamily="2" charset="2"/>
              <a:buChar char="l"/>
            </a:pPr>
            <a:r>
              <a:rPr lang="zh-CN" altLang="en-US" sz="2000" b="1"/>
              <a:t>产出</a:t>
            </a:r>
            <a:r>
              <a:rPr lang="en-US" altLang="zh-CN" sz="2000" b="1"/>
              <a:t>&lt;</a:t>
            </a:r>
            <a:r>
              <a:rPr lang="zh-CN" altLang="en-US" sz="2000" b="1"/>
              <a:t>需求，厂商库存减少，增加生产</a:t>
            </a:r>
          </a:p>
        </p:txBody>
      </p:sp>
      <p:sp>
        <p:nvSpPr>
          <p:cNvPr id="8" name="Rectangle 6">
            <a:extLst>
              <a:ext uri="{FF2B5EF4-FFF2-40B4-BE49-F238E27FC236}">
                <a16:creationId xmlns:a16="http://schemas.microsoft.com/office/drawing/2014/main" id="{9B520CDF-CCB2-4089-A9A1-BE5E6BDA3AEE}"/>
              </a:ext>
            </a:extLst>
          </p:cNvPr>
          <p:cNvSpPr>
            <a:spLocks noChangeArrowheads="1"/>
          </p:cNvSpPr>
          <p:nvPr/>
        </p:nvSpPr>
        <p:spPr bwMode="auto">
          <a:xfrm>
            <a:off x="513708" y="4474523"/>
            <a:ext cx="4679950" cy="1015663"/>
          </a:xfrm>
          <a:prstGeom prst="rect">
            <a:avLst/>
          </a:prstGeom>
          <a:noFill/>
          <a:ln w="3175" cmpd="tri">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rgbClr val="336600"/>
              </a:buClr>
              <a:buSzPct val="95000"/>
              <a:buFont typeface="Wingdings" panose="05000000000000000000" pitchFamily="2" charset="2"/>
              <a:buChar char="l"/>
            </a:pPr>
            <a:r>
              <a:rPr lang="zh-CN" altLang="en-US" sz="2000" b="1"/>
              <a:t>公式：</a:t>
            </a:r>
            <a:r>
              <a:rPr lang="en-US" altLang="zh-CN" sz="2000" b="1"/>
              <a:t>y = c + i = E</a:t>
            </a:r>
          </a:p>
          <a:p>
            <a:pPr lvl="1">
              <a:buClr>
                <a:srgbClr val="336600"/>
              </a:buClr>
              <a:buSzPct val="95000"/>
              <a:buFont typeface="Wingdings" panose="05000000000000000000" pitchFamily="2" charset="2"/>
              <a:buChar char="l"/>
            </a:pPr>
            <a:r>
              <a:rPr lang="zh-CN" altLang="en-US" sz="2000" b="1"/>
              <a:t>小写字母：意愿消费和投资</a:t>
            </a:r>
          </a:p>
          <a:p>
            <a:pPr lvl="1">
              <a:buClr>
                <a:srgbClr val="336600"/>
              </a:buClr>
              <a:buSzPct val="95000"/>
              <a:buFont typeface="Wingdings" panose="05000000000000000000" pitchFamily="2" charset="2"/>
              <a:buChar char="l"/>
            </a:pPr>
            <a:r>
              <a:rPr lang="zh-CN" altLang="en-US" sz="2000" b="1"/>
              <a:t>大写字母：实际支出</a:t>
            </a:r>
          </a:p>
        </p:txBody>
      </p:sp>
      <p:sp>
        <p:nvSpPr>
          <p:cNvPr id="10" name="Rectangle 39">
            <a:extLst>
              <a:ext uri="{FF2B5EF4-FFF2-40B4-BE49-F238E27FC236}">
                <a16:creationId xmlns:a16="http://schemas.microsoft.com/office/drawing/2014/main" id="{ED33A9BD-832B-49B7-ADA3-D8BD50527BF8}"/>
              </a:ext>
            </a:extLst>
          </p:cNvPr>
          <p:cNvSpPr>
            <a:spLocks noChangeArrowheads="1"/>
          </p:cNvSpPr>
          <p:nvPr/>
        </p:nvSpPr>
        <p:spPr bwMode="auto">
          <a:xfrm>
            <a:off x="6057259" y="2104553"/>
            <a:ext cx="2795587" cy="1015663"/>
          </a:xfrm>
          <a:prstGeom prst="rect">
            <a:avLst/>
          </a:prstGeom>
          <a:noFill/>
          <a:ln w="3175" cmpd="dbl">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buClr>
                <a:srgbClr val="336600"/>
              </a:buClr>
              <a:buSzPct val="95000"/>
              <a:buFont typeface="Wingdings" panose="05000000000000000000" pitchFamily="2" charset="2"/>
              <a:buNone/>
            </a:pPr>
            <a:r>
              <a:rPr lang="en-US" altLang="zh-CN" sz="2000" b="1" dirty="0"/>
              <a:t>AE</a:t>
            </a:r>
            <a:r>
              <a:rPr lang="zh-CN" altLang="en-US" sz="2000" b="1" dirty="0"/>
              <a:t>＝总支出（需求） </a:t>
            </a:r>
            <a:r>
              <a:rPr kumimoji="0" lang="en-US" altLang="zh-CN" sz="2000" b="1" dirty="0">
                <a:solidFill>
                  <a:schemeClr val="bg1"/>
                </a:solidFill>
              </a:rPr>
              <a:t>Aggregate</a:t>
            </a:r>
            <a:r>
              <a:rPr kumimoji="0" lang="en-US" altLang="zh-CN" sz="2000" dirty="0"/>
              <a:t> </a:t>
            </a:r>
            <a:r>
              <a:rPr lang="en-US" altLang="zh-CN" sz="2000" b="1" dirty="0"/>
              <a:t>expenditure</a:t>
            </a:r>
            <a:r>
              <a:rPr lang="en-US" altLang="zh-CN" sz="2000" dirty="0"/>
              <a:t> </a:t>
            </a:r>
          </a:p>
        </p:txBody>
      </p:sp>
      <p:sp>
        <p:nvSpPr>
          <p:cNvPr id="11" name="Rectangle 40">
            <a:extLst>
              <a:ext uri="{FF2B5EF4-FFF2-40B4-BE49-F238E27FC236}">
                <a16:creationId xmlns:a16="http://schemas.microsoft.com/office/drawing/2014/main" id="{075691DD-4E90-4DCB-8A3A-5383453ED0A8}"/>
              </a:ext>
            </a:extLst>
          </p:cNvPr>
          <p:cNvSpPr>
            <a:spLocks noChangeArrowheads="1"/>
          </p:cNvSpPr>
          <p:nvPr/>
        </p:nvSpPr>
        <p:spPr bwMode="auto">
          <a:xfrm>
            <a:off x="513708" y="3029898"/>
            <a:ext cx="4679950" cy="466725"/>
          </a:xfrm>
          <a:prstGeom prst="rect">
            <a:avLst/>
          </a:prstGeom>
          <a:no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b="1"/>
              <a:t>IU</a:t>
            </a:r>
            <a:r>
              <a:rPr lang="zh-CN" altLang="en-US" b="1"/>
              <a:t>＝</a:t>
            </a:r>
            <a:r>
              <a:rPr lang="en-US" altLang="zh-CN">
                <a:solidFill>
                  <a:srgbClr val="422D8D"/>
                </a:solidFill>
              </a:rPr>
              <a:t>unintended</a:t>
            </a:r>
            <a:r>
              <a:rPr lang="en-US" altLang="zh-CN"/>
              <a:t> </a:t>
            </a:r>
            <a:r>
              <a:rPr lang="en-US" altLang="zh-CN" b="1"/>
              <a:t>inventory</a:t>
            </a:r>
          </a:p>
        </p:txBody>
      </p:sp>
      <p:sp>
        <p:nvSpPr>
          <p:cNvPr id="12" name="Text Box 42">
            <a:extLst>
              <a:ext uri="{FF2B5EF4-FFF2-40B4-BE49-F238E27FC236}">
                <a16:creationId xmlns:a16="http://schemas.microsoft.com/office/drawing/2014/main" id="{2245EC3B-F8B7-4D63-9707-4642B077D19B}"/>
              </a:ext>
            </a:extLst>
          </p:cNvPr>
          <p:cNvSpPr txBox="1">
            <a:spLocks noChangeArrowheads="1"/>
          </p:cNvSpPr>
          <p:nvPr/>
        </p:nvSpPr>
        <p:spPr bwMode="auto">
          <a:xfrm>
            <a:off x="513708" y="5698486"/>
            <a:ext cx="3960812" cy="461665"/>
          </a:xfrm>
          <a:prstGeom prst="rect">
            <a:avLst/>
          </a:prstGeom>
          <a:noFill/>
          <a:ln w="3175"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rgbClr val="FF0000"/>
              </a:buClr>
              <a:buSzPct val="95000"/>
              <a:buFont typeface="Wingdings" panose="05000000000000000000" pitchFamily="2" charset="2"/>
              <a:buChar char="n"/>
            </a:pPr>
            <a:r>
              <a:rPr lang="en-US" altLang="zh-CN" b="1"/>
              <a:t>y&gt;AE</a:t>
            </a:r>
            <a:r>
              <a:rPr lang="zh-CN" altLang="en-US" b="1"/>
              <a:t>，</a:t>
            </a:r>
            <a:r>
              <a:rPr lang="en-US" altLang="zh-CN" b="1"/>
              <a:t>IU&gt;0</a:t>
            </a:r>
            <a:r>
              <a:rPr lang="zh-CN" altLang="en-US" b="1"/>
              <a:t>，增加</a:t>
            </a:r>
          </a:p>
        </p:txBody>
      </p:sp>
      <p:pic>
        <p:nvPicPr>
          <p:cNvPr id="15" name="图片 14">
            <a:extLst>
              <a:ext uri="{FF2B5EF4-FFF2-40B4-BE49-F238E27FC236}">
                <a16:creationId xmlns:a16="http://schemas.microsoft.com/office/drawing/2014/main" id="{07183BAE-0935-46AE-8B5D-F87B1A76F0EB}"/>
              </a:ext>
            </a:extLst>
          </p:cNvPr>
          <p:cNvPicPr>
            <a:picLocks noChangeAspect="1"/>
          </p:cNvPicPr>
          <p:nvPr/>
        </p:nvPicPr>
        <p:blipFill>
          <a:blip r:embed="rId2"/>
          <a:stretch>
            <a:fillRect/>
          </a:stretch>
        </p:blipFill>
        <p:spPr>
          <a:xfrm>
            <a:off x="5778185" y="3496623"/>
            <a:ext cx="2872989" cy="2476715"/>
          </a:xfrm>
          <a:prstGeom prst="rect">
            <a:avLst/>
          </a:prstGeom>
        </p:spPr>
      </p:pic>
    </p:spTree>
    <p:extLst>
      <p:ext uri="{BB962C8B-B14F-4D97-AF65-F5344CB8AC3E}">
        <p14:creationId xmlns:p14="http://schemas.microsoft.com/office/powerpoint/2010/main" val="3525857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4D18F35-8870-4C6F-9FA8-E6E651A83819}"/>
              </a:ext>
            </a:extLst>
          </p:cNvPr>
          <p:cNvSpPr>
            <a:spLocks noGrp="1" noChangeArrowheads="1"/>
          </p:cNvSpPr>
          <p:nvPr>
            <p:ph type="title"/>
          </p:nvPr>
        </p:nvSpPr>
        <p:spPr>
          <a:xfrm>
            <a:off x="838200" y="173832"/>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latin typeface="黑体" panose="02010609060101010101" pitchFamily="49" charset="-122"/>
                <a:ea typeface="黑体" panose="02010609060101010101" pitchFamily="49" charset="-122"/>
              </a:rPr>
              <a:t>投资＝储蓄</a:t>
            </a:r>
          </a:p>
        </p:txBody>
      </p:sp>
      <p:sp>
        <p:nvSpPr>
          <p:cNvPr id="5" name="Rectangle 3">
            <a:extLst>
              <a:ext uri="{FF2B5EF4-FFF2-40B4-BE49-F238E27FC236}">
                <a16:creationId xmlns:a16="http://schemas.microsoft.com/office/drawing/2014/main" id="{D48383EF-F151-4C37-89F1-D13840B0CEDA}"/>
              </a:ext>
            </a:extLst>
          </p:cNvPr>
          <p:cNvSpPr>
            <a:spLocks noGrp="1" noChangeArrowheads="1"/>
          </p:cNvSpPr>
          <p:nvPr>
            <p:ph idx="1"/>
          </p:nvPr>
        </p:nvSpPr>
        <p:spPr>
          <a:xfrm>
            <a:off x="1087640" y="1196976"/>
            <a:ext cx="2663825" cy="1844675"/>
          </a:xfrm>
          <a:noFill/>
          <a:ln w="3175">
            <a:solidFill>
              <a:schemeClr val="tx1"/>
            </a:solidFill>
          </a:ln>
        </p:spPr>
        <p:txBody>
          <a:bodyPr>
            <a:normAutofit lnSpcReduction="10000"/>
          </a:bodyPr>
          <a:lstStyle/>
          <a:p>
            <a:pPr>
              <a:buFont typeface="Wingdings" panose="05000000000000000000" pitchFamily="2" charset="2"/>
              <a:buNone/>
            </a:pPr>
            <a:r>
              <a:rPr lang="zh-CN" altLang="en-US" b="1">
                <a:latin typeface="黑体" panose="02010609060101010101" pitchFamily="49" charset="-122"/>
                <a:ea typeface="黑体" panose="02010609060101010101" pitchFamily="49" charset="-122"/>
              </a:rPr>
              <a:t>均衡时：</a:t>
            </a:r>
          </a:p>
          <a:p>
            <a:r>
              <a:rPr lang="en-US" altLang="zh-CN" b="1">
                <a:latin typeface="黑体" panose="02010609060101010101" pitchFamily="49" charset="-122"/>
                <a:ea typeface="黑体" panose="02010609060101010101" pitchFamily="49" charset="-122"/>
              </a:rPr>
              <a:t>E = y</a:t>
            </a:r>
          </a:p>
          <a:p>
            <a:r>
              <a:rPr lang="en-US" altLang="zh-CN" b="1">
                <a:latin typeface="黑体" panose="02010609060101010101" pitchFamily="49" charset="-122"/>
                <a:ea typeface="黑体" panose="02010609060101010101" pitchFamily="49" charset="-122"/>
              </a:rPr>
              <a:t>E = c + i</a:t>
            </a:r>
          </a:p>
          <a:p>
            <a:r>
              <a:rPr lang="en-US" altLang="zh-CN" b="1">
                <a:latin typeface="黑体" panose="02010609060101010101" pitchFamily="49" charset="-122"/>
                <a:ea typeface="黑体" panose="02010609060101010101" pitchFamily="49" charset="-122"/>
              </a:rPr>
              <a:t>y = c + s</a:t>
            </a:r>
          </a:p>
        </p:txBody>
      </p:sp>
      <p:sp>
        <p:nvSpPr>
          <p:cNvPr id="6" name="Rectangle 4">
            <a:extLst>
              <a:ext uri="{FF2B5EF4-FFF2-40B4-BE49-F238E27FC236}">
                <a16:creationId xmlns:a16="http://schemas.microsoft.com/office/drawing/2014/main" id="{8FAD8E06-4379-41EB-A554-B3545064D39D}"/>
              </a:ext>
            </a:extLst>
          </p:cNvPr>
          <p:cNvSpPr>
            <a:spLocks noChangeArrowheads="1"/>
          </p:cNvSpPr>
          <p:nvPr/>
        </p:nvSpPr>
        <p:spPr bwMode="auto">
          <a:xfrm>
            <a:off x="1087640" y="3357564"/>
            <a:ext cx="8135937" cy="1200329"/>
          </a:xfrm>
          <a:prstGeom prst="rect">
            <a:avLst/>
          </a:prstGeom>
          <a:no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hlink"/>
              </a:buClr>
              <a:buSzPct val="95000"/>
              <a:buFont typeface="Wingdings" panose="05000000000000000000" pitchFamily="2" charset="2"/>
              <a:buNone/>
            </a:pPr>
            <a:r>
              <a:rPr lang="zh-CN" altLang="en-US" b="1"/>
              <a:t>意义：</a:t>
            </a:r>
          </a:p>
          <a:p>
            <a:pPr>
              <a:buClr>
                <a:schemeClr val="hlink"/>
              </a:buClr>
              <a:buSzPct val="95000"/>
              <a:buFont typeface="Wingdings" panose="05000000000000000000" pitchFamily="2" charset="2"/>
              <a:buChar char="u"/>
            </a:pPr>
            <a:r>
              <a:rPr lang="zh-CN" altLang="en-US" b="1"/>
              <a:t>如果经济要达到均衡，计划投资＝计划储蓄，</a:t>
            </a:r>
          </a:p>
          <a:p>
            <a:pPr>
              <a:buClr>
                <a:schemeClr val="hlink"/>
              </a:buClr>
              <a:buSzPct val="95000"/>
              <a:buFont typeface="Wingdings" panose="05000000000000000000" pitchFamily="2" charset="2"/>
              <a:buChar char="u"/>
            </a:pPr>
            <a:r>
              <a:rPr lang="zh-CN" altLang="en-US" b="1"/>
              <a:t>是一个前提条件。是宏观经济战略要考虑的前提条件。</a:t>
            </a:r>
          </a:p>
        </p:txBody>
      </p:sp>
      <p:sp>
        <p:nvSpPr>
          <p:cNvPr id="7" name="Rectangle 5">
            <a:extLst>
              <a:ext uri="{FF2B5EF4-FFF2-40B4-BE49-F238E27FC236}">
                <a16:creationId xmlns:a16="http://schemas.microsoft.com/office/drawing/2014/main" id="{2A5381FA-7B96-4F7C-9840-8B33013DEF3E}"/>
              </a:ext>
            </a:extLst>
          </p:cNvPr>
          <p:cNvSpPr>
            <a:spLocks noChangeArrowheads="1"/>
          </p:cNvSpPr>
          <p:nvPr/>
        </p:nvSpPr>
        <p:spPr bwMode="auto">
          <a:xfrm>
            <a:off x="1087640" y="5013326"/>
            <a:ext cx="8135937" cy="830997"/>
          </a:xfrm>
          <a:prstGeom prst="rect">
            <a:avLst/>
          </a:prstGeom>
          <a:noFill/>
          <a:ln w="3175"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rgbClr val="FF0000"/>
              </a:buClr>
              <a:buSzPct val="95000"/>
              <a:buFont typeface="Wingdings" panose="05000000000000000000" pitchFamily="2" charset="2"/>
              <a:buChar char="n"/>
            </a:pPr>
            <a:r>
              <a:rPr lang="zh-CN" altLang="en-US" b="1"/>
              <a:t>在上章国民收入核算中，从事后的实际情况看，</a:t>
            </a:r>
            <a:r>
              <a:rPr lang="en-US" altLang="zh-CN" b="1"/>
              <a:t>I = S</a:t>
            </a:r>
            <a:r>
              <a:rPr lang="zh-CN" altLang="en-US" b="1"/>
              <a:t>，是必然的结果。是会计结果。</a:t>
            </a:r>
          </a:p>
        </p:txBody>
      </p:sp>
      <p:sp>
        <p:nvSpPr>
          <p:cNvPr id="8" name="Rectangle 8">
            <a:extLst>
              <a:ext uri="{FF2B5EF4-FFF2-40B4-BE49-F238E27FC236}">
                <a16:creationId xmlns:a16="http://schemas.microsoft.com/office/drawing/2014/main" id="{C9F0814E-1A56-4479-B3F3-13AE78D53D06}"/>
              </a:ext>
            </a:extLst>
          </p:cNvPr>
          <p:cNvSpPr>
            <a:spLocks noChangeArrowheads="1"/>
          </p:cNvSpPr>
          <p:nvPr/>
        </p:nvSpPr>
        <p:spPr bwMode="auto">
          <a:xfrm>
            <a:off x="5262764" y="1557338"/>
            <a:ext cx="2881312" cy="1079500"/>
          </a:xfrm>
          <a:prstGeom prst="rect">
            <a:avLst/>
          </a:prstGeom>
          <a:noFill/>
          <a:ln w="3175" cmpd="tri">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FF0000"/>
              </a:buClr>
              <a:buFont typeface="Wingdings" panose="05000000000000000000" pitchFamily="2" charset="2"/>
              <a:buChar char="p"/>
            </a:pPr>
            <a:r>
              <a:rPr lang="en-US" altLang="zh-CN" b="1">
                <a:latin typeface="黑体" panose="02010609060101010101" pitchFamily="49" charset="-122"/>
                <a:ea typeface="黑体" panose="02010609060101010101" pitchFamily="49" charset="-122"/>
              </a:rPr>
              <a:t>c + i = c + s</a:t>
            </a:r>
          </a:p>
          <a:p>
            <a:pPr>
              <a:buClr>
                <a:srgbClr val="FF0000"/>
              </a:buClr>
              <a:buFont typeface="Wingdings" panose="05000000000000000000" pitchFamily="2" charset="2"/>
              <a:buChar char="p"/>
            </a:pPr>
            <a:r>
              <a:rPr lang="en-US" altLang="zh-CN" b="1">
                <a:latin typeface="黑体" panose="02010609060101010101" pitchFamily="49" charset="-122"/>
                <a:ea typeface="黑体" panose="02010609060101010101" pitchFamily="49" charset="-122"/>
              </a:rPr>
              <a:t>i = s </a:t>
            </a:r>
          </a:p>
        </p:txBody>
      </p:sp>
      <p:sp>
        <p:nvSpPr>
          <p:cNvPr id="9" name="AutoShape 9">
            <a:extLst>
              <a:ext uri="{FF2B5EF4-FFF2-40B4-BE49-F238E27FC236}">
                <a16:creationId xmlns:a16="http://schemas.microsoft.com/office/drawing/2014/main" id="{393415B2-622D-4159-9470-4A8EE62990C9}"/>
              </a:ext>
            </a:extLst>
          </p:cNvPr>
          <p:cNvSpPr>
            <a:spLocks noChangeArrowheads="1"/>
          </p:cNvSpPr>
          <p:nvPr/>
        </p:nvSpPr>
        <p:spPr bwMode="auto">
          <a:xfrm>
            <a:off x="3822902" y="1916113"/>
            <a:ext cx="1223963" cy="36036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no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690961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77BEB445-FAAE-4989-8AAA-A1759085379A}"/>
              </a:ext>
            </a:extLst>
          </p:cNvPr>
          <p:cNvSpPr>
            <a:spLocks noGrp="1" noChangeArrowheads="1"/>
          </p:cNvSpPr>
          <p:nvPr>
            <p:ph type="title"/>
          </p:nvPr>
        </p:nvSpPr>
        <p:spPr>
          <a:xfrm>
            <a:off x="838200" y="36512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ea typeface="黑体" panose="02010609060101010101" pitchFamily="49" charset="-122"/>
              </a:rPr>
              <a:t>凯恩斯的消费理论</a:t>
            </a:r>
          </a:p>
        </p:txBody>
      </p:sp>
      <p:sp>
        <p:nvSpPr>
          <p:cNvPr id="5" name="Rectangle 3">
            <a:extLst>
              <a:ext uri="{FF2B5EF4-FFF2-40B4-BE49-F238E27FC236}">
                <a16:creationId xmlns:a16="http://schemas.microsoft.com/office/drawing/2014/main" id="{67841B0A-FF36-4C8A-91D8-BA495CF7110A}"/>
              </a:ext>
            </a:extLst>
          </p:cNvPr>
          <p:cNvSpPr>
            <a:spLocks noGrp="1" noChangeArrowheads="1"/>
          </p:cNvSpPr>
          <p:nvPr>
            <p:ph idx="1"/>
          </p:nvPr>
        </p:nvSpPr>
        <p:spPr>
          <a:xfrm>
            <a:off x="844449" y="1216432"/>
            <a:ext cx="8135937" cy="1439863"/>
          </a:xfrm>
          <a:noFill/>
          <a:ln w="3175" cmpd="thickThin">
            <a:solidFill>
              <a:schemeClr val="tx1"/>
            </a:solidFill>
          </a:ln>
        </p:spPr>
        <p:txBody>
          <a:bodyPr>
            <a:normAutofit lnSpcReduction="10000"/>
          </a:bodyPr>
          <a:lstStyle/>
          <a:p>
            <a:pPr>
              <a:buClr>
                <a:srgbClr val="FF0000"/>
              </a:buClr>
              <a:buSzPct val="95000"/>
              <a:buFont typeface="Wingdings" panose="05000000000000000000" pitchFamily="2" charset="2"/>
              <a:buNone/>
            </a:pPr>
            <a:r>
              <a:rPr lang="en-US" altLang="zh-CN" b="1">
                <a:latin typeface="黑体" panose="02010609060101010101" pitchFamily="49" charset="-122"/>
                <a:ea typeface="黑体" panose="02010609060101010101" pitchFamily="49" charset="-122"/>
              </a:rPr>
              <a:t>1.</a:t>
            </a:r>
            <a:r>
              <a:rPr lang="zh-CN" altLang="en-US" b="1">
                <a:latin typeface="黑体" panose="02010609060101010101" pitchFamily="49" charset="-122"/>
                <a:ea typeface="黑体" panose="02010609060101010101" pitchFamily="49" charset="-122"/>
              </a:rPr>
              <a:t>消费：</a:t>
            </a:r>
            <a:r>
              <a:rPr lang="zh-CN" altLang="en-US">
                <a:latin typeface="黑体" panose="02010609060101010101" pitchFamily="49" charset="-122"/>
                <a:ea typeface="黑体" panose="02010609060101010101" pitchFamily="49" charset="-122"/>
              </a:rPr>
              <a:t>一个国家</a:t>
            </a:r>
            <a:r>
              <a:rPr lang="en-US" altLang="zh-CN">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或地区</a:t>
            </a:r>
            <a:r>
              <a:rPr lang="en-US" altLang="zh-CN">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，一定时期内，</a:t>
            </a:r>
          </a:p>
          <a:p>
            <a:pPr>
              <a:buClr>
                <a:srgbClr val="FF0000"/>
              </a:buClr>
              <a:buSzPct val="95000"/>
              <a:buFont typeface="Wingdings" panose="05000000000000000000" pitchFamily="2" charset="2"/>
              <a:buChar char="n"/>
            </a:pPr>
            <a:r>
              <a:rPr lang="zh-CN" altLang="en-US">
                <a:latin typeface="黑体" panose="02010609060101010101" pitchFamily="49" charset="-122"/>
                <a:ea typeface="黑体" panose="02010609060101010101" pitchFamily="49" charset="-122"/>
              </a:rPr>
              <a:t>居民个人</a:t>
            </a:r>
            <a:r>
              <a:rPr lang="en-US" altLang="zh-CN">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或家庭</a:t>
            </a:r>
            <a:r>
              <a:rPr lang="en-US" altLang="zh-CN">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，为满足消费欲望，</a:t>
            </a:r>
          </a:p>
          <a:p>
            <a:pPr>
              <a:buClr>
                <a:srgbClr val="FF0000"/>
              </a:buClr>
              <a:buSzPct val="95000"/>
              <a:buFont typeface="Wingdings" panose="05000000000000000000" pitchFamily="2" charset="2"/>
              <a:buChar char="n"/>
            </a:pPr>
            <a:r>
              <a:rPr lang="zh-CN" altLang="en-US">
                <a:latin typeface="黑体" panose="02010609060101010101" pitchFamily="49" charset="-122"/>
                <a:ea typeface="黑体" panose="02010609060101010101" pitchFamily="49" charset="-122"/>
              </a:rPr>
              <a:t>而用于购买消费品和劳务的所有支出。</a:t>
            </a:r>
          </a:p>
        </p:txBody>
      </p:sp>
      <p:sp>
        <p:nvSpPr>
          <p:cNvPr id="6" name="Rectangle 4">
            <a:extLst>
              <a:ext uri="{FF2B5EF4-FFF2-40B4-BE49-F238E27FC236}">
                <a16:creationId xmlns:a16="http://schemas.microsoft.com/office/drawing/2014/main" id="{FBF70405-85F6-4C37-BF0B-EE0C0AAE5B72}"/>
              </a:ext>
            </a:extLst>
          </p:cNvPr>
          <p:cNvSpPr>
            <a:spLocks noChangeArrowheads="1"/>
          </p:cNvSpPr>
          <p:nvPr/>
        </p:nvSpPr>
        <p:spPr bwMode="auto">
          <a:xfrm>
            <a:off x="844449" y="3016656"/>
            <a:ext cx="8135937" cy="1081088"/>
          </a:xfrm>
          <a:prstGeom prst="rect">
            <a:avLst/>
          </a:prstGeom>
          <a:noFill/>
          <a:ln w="3175" cmpd="tri">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buClr>
                <a:srgbClr val="FF0000"/>
              </a:buClr>
              <a:buSzPct val="95000"/>
              <a:buFont typeface="Wingdings" panose="05000000000000000000" pitchFamily="2" charset="2"/>
              <a:buNone/>
            </a:pPr>
            <a:r>
              <a:rPr lang="en-US" altLang="zh-CN" b="1">
                <a:latin typeface="黑体" panose="02010609060101010101" pitchFamily="49" charset="-122"/>
                <a:ea typeface="黑体" panose="02010609060101010101" pitchFamily="49" charset="-122"/>
              </a:rPr>
              <a:t>2.</a:t>
            </a:r>
            <a:r>
              <a:rPr lang="zh-CN" altLang="en-US" b="1">
                <a:latin typeface="黑体" panose="02010609060101010101" pitchFamily="49" charset="-122"/>
                <a:ea typeface="黑体" panose="02010609060101010101" pitchFamily="49" charset="-122"/>
              </a:rPr>
              <a:t>消费函数：指消费支出与决定消费诸因素之间的依存关系。</a:t>
            </a:r>
            <a:r>
              <a:rPr lang="zh-CN" altLang="en-US">
                <a:solidFill>
                  <a:srgbClr val="FF0000"/>
                </a:solidFill>
                <a:latin typeface="黑体" panose="02010609060101010101" pitchFamily="49" charset="-122"/>
                <a:ea typeface="黑体" panose="02010609060101010101" pitchFamily="49" charset="-122"/>
              </a:rPr>
              <a:t>（广义上的概念）</a:t>
            </a:r>
          </a:p>
        </p:txBody>
      </p:sp>
      <p:sp>
        <p:nvSpPr>
          <p:cNvPr id="7" name="Rectangle 8">
            <a:extLst>
              <a:ext uri="{FF2B5EF4-FFF2-40B4-BE49-F238E27FC236}">
                <a16:creationId xmlns:a16="http://schemas.microsoft.com/office/drawing/2014/main" id="{A446A794-BA71-438F-9824-064470672620}"/>
              </a:ext>
            </a:extLst>
          </p:cNvPr>
          <p:cNvSpPr>
            <a:spLocks noChangeArrowheads="1"/>
          </p:cNvSpPr>
          <p:nvPr/>
        </p:nvSpPr>
        <p:spPr bwMode="auto">
          <a:xfrm>
            <a:off x="844449" y="4312057"/>
            <a:ext cx="8135937" cy="1800225"/>
          </a:xfrm>
          <a:prstGeom prst="rect">
            <a:avLst/>
          </a:prstGeom>
          <a:noFill/>
          <a:ln w="3175" cmpd="dbl">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p"/>
            </a:pPr>
            <a:r>
              <a:rPr lang="zh-CN" altLang="en-US">
                <a:latin typeface="黑体" panose="02010609060101010101" pitchFamily="49" charset="-122"/>
                <a:ea typeface="黑体" panose="02010609060101010101" pitchFamily="49" charset="-122"/>
              </a:rPr>
              <a:t>影响消费的因素很多，如收入、消费品价格、消费者偏好、消费者预期、消费信贷、利率水平等等。</a:t>
            </a:r>
          </a:p>
          <a:p>
            <a:pPr>
              <a:buClr>
                <a:srgbClr val="336600"/>
              </a:buClr>
              <a:buSzPct val="95000"/>
              <a:buFont typeface="Wingdings" panose="05000000000000000000" pitchFamily="2" charset="2"/>
              <a:buChar char="p"/>
            </a:pPr>
            <a:r>
              <a:rPr lang="zh-CN" altLang="en-US">
                <a:latin typeface="黑体" panose="02010609060101010101" pitchFamily="49" charset="-122"/>
                <a:ea typeface="黑体" panose="02010609060101010101" pitchFamily="49" charset="-122"/>
              </a:rPr>
              <a:t>其中最重要的是个人收入。</a:t>
            </a:r>
          </a:p>
          <a:p>
            <a:pPr>
              <a:buClr>
                <a:srgbClr val="336600"/>
              </a:buClr>
              <a:buSzPct val="95000"/>
              <a:buFont typeface="Wingdings" panose="05000000000000000000" pitchFamily="2" charset="2"/>
              <a:buChar char="p"/>
            </a:pPr>
            <a:r>
              <a:rPr lang="zh-CN" altLang="en-US">
                <a:latin typeface="黑体" panose="02010609060101010101" pitchFamily="49" charset="-122"/>
                <a:ea typeface="黑体" panose="02010609060101010101" pitchFamily="49" charset="-122"/>
              </a:rPr>
              <a:t>宏观经济学假定消费与收入水平存在着稳定函数关系。</a:t>
            </a:r>
          </a:p>
        </p:txBody>
      </p:sp>
    </p:spTree>
    <p:extLst>
      <p:ext uri="{BB962C8B-B14F-4D97-AF65-F5344CB8AC3E}">
        <p14:creationId xmlns:p14="http://schemas.microsoft.com/office/powerpoint/2010/main" val="779153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DF532808-8119-49E6-88F9-516AAC38115A}"/>
              </a:ext>
            </a:extLst>
          </p:cNvPr>
          <p:cNvSpPr>
            <a:spLocks noGrp="1" noChangeArrowheads="1"/>
          </p:cNvSpPr>
          <p:nvPr>
            <p:ph type="title"/>
          </p:nvPr>
        </p:nvSpPr>
        <p:spPr>
          <a:xfrm>
            <a:off x="838200" y="36512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t>凯恩斯消费函数</a:t>
            </a:r>
          </a:p>
        </p:txBody>
      </p:sp>
      <p:sp>
        <p:nvSpPr>
          <p:cNvPr id="5" name="Rectangle 4">
            <a:extLst>
              <a:ext uri="{FF2B5EF4-FFF2-40B4-BE49-F238E27FC236}">
                <a16:creationId xmlns:a16="http://schemas.microsoft.com/office/drawing/2014/main" id="{6F36D9DE-E8EF-4503-9773-4FF4BA8456C3}"/>
              </a:ext>
            </a:extLst>
          </p:cNvPr>
          <p:cNvSpPr>
            <a:spLocks noGrp="1" noChangeArrowheads="1"/>
          </p:cNvSpPr>
          <p:nvPr>
            <p:ph idx="1"/>
          </p:nvPr>
        </p:nvSpPr>
        <p:spPr>
          <a:xfrm>
            <a:off x="970906" y="1235888"/>
            <a:ext cx="8135937" cy="1560513"/>
          </a:xfrm>
          <a:noFill/>
          <a:ln w="3175" cmpd="sng">
            <a:solidFill>
              <a:schemeClr val="tx1"/>
            </a:solidFill>
          </a:ln>
        </p:spPr>
        <p:txBody>
          <a:bodyPr>
            <a:normAutofit fontScale="92500" lnSpcReduction="10000"/>
          </a:bodyPr>
          <a:lstStyle/>
          <a:p>
            <a:pPr>
              <a:lnSpc>
                <a:spcPct val="110000"/>
              </a:lnSpc>
              <a:buClr>
                <a:schemeClr val="hlink"/>
              </a:buClr>
              <a:buSzPct val="95000"/>
              <a:buFont typeface="Wingdings" panose="05000000000000000000" pitchFamily="2" charset="2"/>
              <a:buChar char="u"/>
            </a:pPr>
            <a:r>
              <a:rPr lang="zh-CN" altLang="en-US" b="1"/>
              <a:t>凯恩斯消费函数：随着收入增加，消费也会增加；</a:t>
            </a:r>
          </a:p>
          <a:p>
            <a:pPr>
              <a:lnSpc>
                <a:spcPct val="110000"/>
              </a:lnSpc>
              <a:buClr>
                <a:schemeClr val="hlink"/>
              </a:buClr>
              <a:buSzPct val="95000"/>
              <a:buFont typeface="Wingdings" panose="05000000000000000000" pitchFamily="2" charset="2"/>
              <a:buChar char="u"/>
            </a:pPr>
            <a:r>
              <a:rPr lang="zh-CN" altLang="en-US" b="1"/>
              <a:t>但是消费的增加不及收入增加的多。</a:t>
            </a:r>
          </a:p>
          <a:p>
            <a:pPr>
              <a:lnSpc>
                <a:spcPct val="110000"/>
              </a:lnSpc>
              <a:buClr>
                <a:schemeClr val="hlink"/>
              </a:buClr>
              <a:buSzPct val="95000"/>
              <a:buFont typeface="Wingdings" panose="05000000000000000000" pitchFamily="2" charset="2"/>
              <a:buChar char="u"/>
            </a:pPr>
            <a:r>
              <a:rPr lang="zh-CN" altLang="en-US" b="1"/>
              <a:t>消费和收入之间的这种关系，称为凯恩斯消费函数。</a:t>
            </a:r>
          </a:p>
        </p:txBody>
      </p:sp>
      <p:sp>
        <p:nvSpPr>
          <p:cNvPr id="6" name="Rectangle 5">
            <a:extLst>
              <a:ext uri="{FF2B5EF4-FFF2-40B4-BE49-F238E27FC236}">
                <a16:creationId xmlns:a16="http://schemas.microsoft.com/office/drawing/2014/main" id="{0EA52EBE-373F-4BA0-B7F6-8ABF781861A0}"/>
              </a:ext>
            </a:extLst>
          </p:cNvPr>
          <p:cNvSpPr>
            <a:spLocks noChangeArrowheads="1"/>
          </p:cNvSpPr>
          <p:nvPr/>
        </p:nvSpPr>
        <p:spPr bwMode="auto">
          <a:xfrm>
            <a:off x="970906" y="4260076"/>
            <a:ext cx="3743325" cy="1584325"/>
          </a:xfrm>
          <a:prstGeom prst="rect">
            <a:avLst/>
          </a:prstGeom>
          <a:noFill/>
          <a:ln w="3175" cmpd="tri">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FF0000"/>
              </a:buClr>
              <a:buFont typeface="Wingdings" panose="05000000000000000000" pitchFamily="2" charset="2"/>
              <a:buChar char="p"/>
            </a:pPr>
            <a:r>
              <a:rPr lang="en-US" altLang="zh-CN" b="1"/>
              <a:t>c</a:t>
            </a:r>
            <a:r>
              <a:rPr lang="zh-CN" altLang="en-US" b="1"/>
              <a:t>＝消费，</a:t>
            </a:r>
            <a:r>
              <a:rPr lang="en-US" altLang="zh-CN" b="1"/>
              <a:t>y</a:t>
            </a:r>
            <a:r>
              <a:rPr lang="zh-CN" altLang="en-US" b="1"/>
              <a:t>＝收入：</a:t>
            </a:r>
          </a:p>
          <a:p>
            <a:pPr>
              <a:buClr>
                <a:srgbClr val="FF0000"/>
              </a:buClr>
              <a:buFont typeface="Wingdings" panose="05000000000000000000" pitchFamily="2" charset="2"/>
              <a:buChar char="p"/>
            </a:pPr>
            <a:r>
              <a:rPr lang="en-US" altLang="zh-CN" b="1"/>
              <a:t>c </a:t>
            </a:r>
            <a:r>
              <a:rPr lang="zh-CN" altLang="en-US" b="1"/>
              <a:t>＝ </a:t>
            </a:r>
            <a:r>
              <a:rPr lang="en-US" altLang="zh-CN" b="1"/>
              <a:t>c</a:t>
            </a:r>
            <a:r>
              <a:rPr lang="zh-CN" altLang="en-US" b="1"/>
              <a:t>（</a:t>
            </a:r>
            <a:r>
              <a:rPr lang="en-US" altLang="zh-CN" b="1"/>
              <a:t>y</a:t>
            </a:r>
            <a:r>
              <a:rPr lang="zh-CN" altLang="en-US" b="1"/>
              <a:t>） </a:t>
            </a:r>
          </a:p>
          <a:p>
            <a:pPr>
              <a:buClr>
                <a:srgbClr val="FF0000"/>
              </a:buClr>
              <a:buFont typeface="Wingdings" panose="05000000000000000000" pitchFamily="2" charset="2"/>
              <a:buChar char="p"/>
            </a:pPr>
            <a:r>
              <a:rPr lang="zh-CN" altLang="en-US" b="1"/>
              <a:t>满足</a:t>
            </a:r>
            <a:r>
              <a:rPr lang="en-US" altLang="zh-CN" b="1"/>
              <a:t>dc / dy </a:t>
            </a:r>
            <a:r>
              <a:rPr lang="zh-CN" altLang="en-US" b="1"/>
              <a:t>＞ </a:t>
            </a:r>
            <a:r>
              <a:rPr lang="en-US" altLang="zh-CN" b="1"/>
              <a:t>0</a:t>
            </a:r>
          </a:p>
        </p:txBody>
      </p:sp>
      <p:sp>
        <p:nvSpPr>
          <p:cNvPr id="7" name="Rectangle 24">
            <a:extLst>
              <a:ext uri="{FF2B5EF4-FFF2-40B4-BE49-F238E27FC236}">
                <a16:creationId xmlns:a16="http://schemas.microsoft.com/office/drawing/2014/main" id="{15F81D70-05CF-484D-93ED-67D912099504}"/>
              </a:ext>
            </a:extLst>
          </p:cNvPr>
          <p:cNvSpPr>
            <a:spLocks noChangeArrowheads="1"/>
          </p:cNvSpPr>
          <p:nvPr/>
        </p:nvSpPr>
        <p:spPr bwMode="auto">
          <a:xfrm>
            <a:off x="970906" y="3180576"/>
            <a:ext cx="3743325" cy="830997"/>
          </a:xfrm>
          <a:prstGeom prst="rect">
            <a:avLst/>
          </a:prstGeom>
          <a:noFill/>
          <a:ln w="3175" cmpd="tri">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rgbClr val="336600"/>
              </a:buClr>
              <a:buSzPct val="95000"/>
              <a:buFont typeface="Wingdings" panose="05000000000000000000" pitchFamily="2" charset="2"/>
              <a:buChar char="l"/>
            </a:pPr>
            <a:r>
              <a:rPr lang="zh-CN" altLang="en-US" b="1"/>
              <a:t>凯恩斯消费函数又被直接称之为消费倾向。</a:t>
            </a:r>
          </a:p>
        </p:txBody>
      </p:sp>
      <p:pic>
        <p:nvPicPr>
          <p:cNvPr id="8" name="图片 7">
            <a:extLst>
              <a:ext uri="{FF2B5EF4-FFF2-40B4-BE49-F238E27FC236}">
                <a16:creationId xmlns:a16="http://schemas.microsoft.com/office/drawing/2014/main" id="{850D2616-DFAC-4D94-96BE-8B4A50B17DC7}"/>
              </a:ext>
            </a:extLst>
          </p:cNvPr>
          <p:cNvPicPr>
            <a:picLocks noChangeAspect="1"/>
          </p:cNvPicPr>
          <p:nvPr/>
        </p:nvPicPr>
        <p:blipFill>
          <a:blip r:embed="rId2"/>
          <a:stretch>
            <a:fillRect/>
          </a:stretch>
        </p:blipFill>
        <p:spPr>
          <a:xfrm>
            <a:off x="5410823" y="3099351"/>
            <a:ext cx="3696020" cy="2857748"/>
          </a:xfrm>
          <a:prstGeom prst="rect">
            <a:avLst/>
          </a:prstGeom>
        </p:spPr>
      </p:pic>
    </p:spTree>
    <p:extLst>
      <p:ext uri="{BB962C8B-B14F-4D97-AF65-F5344CB8AC3E}">
        <p14:creationId xmlns:p14="http://schemas.microsoft.com/office/powerpoint/2010/main" val="2084515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40ADCDBF-69FE-4BAF-A3E8-012FA5D53D73}"/>
              </a:ext>
            </a:extLst>
          </p:cNvPr>
          <p:cNvSpPr>
            <a:spLocks noChangeArrowheads="1"/>
          </p:cNvSpPr>
          <p:nvPr/>
        </p:nvSpPr>
        <p:spPr bwMode="auto">
          <a:xfrm>
            <a:off x="970907" y="2187035"/>
            <a:ext cx="3743325" cy="1296988"/>
          </a:xfrm>
          <a:prstGeom prst="rect">
            <a:avLst/>
          </a:prstGeom>
          <a:no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buClr>
                <a:schemeClr val="hlink"/>
              </a:buClr>
              <a:buSzPct val="95000"/>
              <a:buFont typeface="Wingdings" panose="05000000000000000000" pitchFamily="2" charset="2"/>
              <a:buChar char="u"/>
            </a:pP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常数，自发性消费：</a:t>
            </a:r>
          </a:p>
          <a:p>
            <a:pPr>
              <a:lnSpc>
                <a:spcPct val="90000"/>
              </a:lnSpc>
              <a:buClr>
                <a:schemeClr val="hlink"/>
              </a:buClr>
              <a:buSzPct val="95000"/>
              <a:buFont typeface="Wingdings" panose="05000000000000000000" pitchFamily="2" charset="2"/>
              <a:buChar char="u"/>
            </a:pPr>
            <a:r>
              <a:rPr lang="zh-CN" altLang="en-US" b="1" dirty="0">
                <a:solidFill>
                  <a:schemeClr val="bg1"/>
                </a:solidFill>
              </a:rPr>
              <a:t>基本最低消费支出。</a:t>
            </a:r>
          </a:p>
          <a:p>
            <a:pPr>
              <a:lnSpc>
                <a:spcPct val="90000"/>
              </a:lnSpc>
              <a:buClr>
                <a:schemeClr val="hlink"/>
              </a:buClr>
              <a:buSzPct val="95000"/>
              <a:buFont typeface="Wingdings" panose="05000000000000000000" pitchFamily="2" charset="2"/>
              <a:buChar char="u"/>
            </a:pPr>
            <a:r>
              <a:rPr lang="zh-CN" altLang="en-US" b="1" dirty="0">
                <a:solidFill>
                  <a:schemeClr val="bg1"/>
                </a:solidFill>
              </a:rPr>
              <a:t>不随收入变化而变动。</a:t>
            </a:r>
          </a:p>
        </p:txBody>
      </p:sp>
      <p:sp>
        <p:nvSpPr>
          <p:cNvPr id="5" name="Rectangle 7">
            <a:extLst>
              <a:ext uri="{FF2B5EF4-FFF2-40B4-BE49-F238E27FC236}">
                <a16:creationId xmlns:a16="http://schemas.microsoft.com/office/drawing/2014/main" id="{8F4F2F6D-18E3-4109-B745-E2E82BA344CA}"/>
              </a:ext>
            </a:extLst>
          </p:cNvPr>
          <p:cNvSpPr>
            <a:spLocks noGrp="1" noChangeArrowheads="1"/>
          </p:cNvSpPr>
          <p:nvPr>
            <p:ph type="title"/>
          </p:nvPr>
        </p:nvSpPr>
        <p:spPr>
          <a:xfrm>
            <a:off x="838200" y="36512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t>线性消费函数</a:t>
            </a:r>
          </a:p>
        </p:txBody>
      </p:sp>
      <p:sp>
        <p:nvSpPr>
          <p:cNvPr id="6" name="Rectangle 23">
            <a:extLst>
              <a:ext uri="{FF2B5EF4-FFF2-40B4-BE49-F238E27FC236}">
                <a16:creationId xmlns:a16="http://schemas.microsoft.com/office/drawing/2014/main" id="{D63B284B-3362-422D-8022-AB16D0BD1729}"/>
              </a:ext>
            </a:extLst>
          </p:cNvPr>
          <p:cNvSpPr>
            <a:spLocks noGrp="1" noChangeArrowheads="1"/>
          </p:cNvSpPr>
          <p:nvPr>
            <p:ph idx="1"/>
          </p:nvPr>
        </p:nvSpPr>
        <p:spPr>
          <a:xfrm>
            <a:off x="970906" y="1323436"/>
            <a:ext cx="8280400" cy="638175"/>
          </a:xfrm>
          <a:noFill/>
          <a:ln w="3175" cmpd="sng">
            <a:solidFill>
              <a:schemeClr val="tx1"/>
            </a:solidFill>
          </a:ln>
        </p:spPr>
        <p:txBody>
          <a:bodyPr/>
          <a:lstStyle/>
          <a:p>
            <a:pPr>
              <a:spcBef>
                <a:spcPct val="0"/>
              </a:spcBef>
              <a:buClr>
                <a:schemeClr val="hlink"/>
              </a:buClr>
              <a:buSzPct val="95000"/>
              <a:buFont typeface="Wingdings" panose="05000000000000000000" pitchFamily="2" charset="2"/>
              <a:buChar char="u"/>
            </a:pPr>
            <a:r>
              <a:rPr lang="zh-CN" altLang="en-US" b="1"/>
              <a:t>简单线性消费函数：</a:t>
            </a:r>
            <a:r>
              <a:rPr lang="en-US" altLang="zh-CN" b="1"/>
              <a:t>c = a + by  </a:t>
            </a:r>
            <a:r>
              <a:rPr lang="zh-CN" altLang="en-US" b="1"/>
              <a:t>（</a:t>
            </a:r>
            <a:r>
              <a:rPr lang="en-US" altLang="zh-CN" b="1"/>
              <a:t>1 </a:t>
            </a:r>
            <a:r>
              <a:rPr lang="zh-CN" altLang="en-US" b="1"/>
              <a:t>＞ </a:t>
            </a:r>
            <a:r>
              <a:rPr lang="en-US" altLang="zh-CN" b="1"/>
              <a:t>b </a:t>
            </a:r>
            <a:r>
              <a:rPr lang="zh-CN" altLang="en-US" b="1"/>
              <a:t>＞ </a:t>
            </a:r>
            <a:r>
              <a:rPr lang="en-US" altLang="zh-CN" b="1"/>
              <a:t>0</a:t>
            </a:r>
            <a:r>
              <a:rPr lang="zh-CN" altLang="en-US" b="1"/>
              <a:t>）</a:t>
            </a:r>
          </a:p>
        </p:txBody>
      </p:sp>
      <p:sp>
        <p:nvSpPr>
          <p:cNvPr id="7" name="Rectangle 10">
            <a:extLst>
              <a:ext uri="{FF2B5EF4-FFF2-40B4-BE49-F238E27FC236}">
                <a16:creationId xmlns:a16="http://schemas.microsoft.com/office/drawing/2014/main" id="{6CA1E2E6-385C-42CE-8E13-46A3FAAB42FA}"/>
              </a:ext>
            </a:extLst>
          </p:cNvPr>
          <p:cNvSpPr>
            <a:spLocks noChangeArrowheads="1"/>
          </p:cNvSpPr>
          <p:nvPr/>
        </p:nvSpPr>
        <p:spPr bwMode="auto">
          <a:xfrm>
            <a:off x="970907" y="3915824"/>
            <a:ext cx="3743325" cy="1368425"/>
          </a:xfrm>
          <a:prstGeom prst="rect">
            <a:avLst/>
          </a:prstGeom>
          <a:no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buClr>
                <a:schemeClr val="hlink"/>
              </a:buClr>
              <a:buSzPct val="95000"/>
              <a:buFont typeface="Wingdings" panose="05000000000000000000" pitchFamily="2" charset="2"/>
              <a:buChar char="u"/>
            </a:pPr>
            <a:r>
              <a:rPr lang="en-US" altLang="zh-CN" b="1" dirty="0">
                <a:solidFill>
                  <a:schemeClr val="bg1"/>
                </a:solidFill>
                <a:latin typeface="黑体" panose="02010609060101010101" pitchFamily="49" charset="-122"/>
                <a:ea typeface="黑体" panose="02010609060101010101" pitchFamily="49" charset="-122"/>
              </a:rPr>
              <a:t>by-</a:t>
            </a:r>
            <a:r>
              <a:rPr lang="zh-CN" altLang="en-US" b="1" dirty="0">
                <a:solidFill>
                  <a:schemeClr val="bg1"/>
                </a:solidFill>
                <a:latin typeface="黑体" panose="02010609060101010101" pitchFamily="49" charset="-122"/>
                <a:ea typeface="黑体" panose="02010609060101010101" pitchFamily="49" charset="-122"/>
              </a:rPr>
              <a:t>诱致性消费：</a:t>
            </a:r>
          </a:p>
          <a:p>
            <a:pPr>
              <a:buClr>
                <a:schemeClr val="hlink"/>
              </a:buClr>
              <a:buSzPct val="95000"/>
              <a:buFont typeface="Wingdings" panose="05000000000000000000" pitchFamily="2" charset="2"/>
              <a:buChar char="u"/>
            </a:pPr>
            <a:r>
              <a:rPr lang="zh-CN" altLang="en-US" b="1" dirty="0">
                <a:solidFill>
                  <a:schemeClr val="bg1"/>
                </a:solidFill>
                <a:latin typeface="黑体" panose="02010609060101010101" pitchFamily="49" charset="-122"/>
                <a:ea typeface="黑体" panose="02010609060101010101" pitchFamily="49" charset="-122"/>
              </a:rPr>
              <a:t>消费中受收入水平影响的部分。</a:t>
            </a:r>
          </a:p>
        </p:txBody>
      </p:sp>
      <p:sp>
        <p:nvSpPr>
          <p:cNvPr id="8" name="Rectangle 11">
            <a:extLst>
              <a:ext uri="{FF2B5EF4-FFF2-40B4-BE49-F238E27FC236}">
                <a16:creationId xmlns:a16="http://schemas.microsoft.com/office/drawing/2014/main" id="{F36E56D0-6F12-43C1-B3D6-D9967809F9AE}"/>
              </a:ext>
            </a:extLst>
          </p:cNvPr>
          <p:cNvSpPr>
            <a:spLocks noChangeArrowheads="1"/>
          </p:cNvSpPr>
          <p:nvPr/>
        </p:nvSpPr>
        <p:spPr bwMode="auto">
          <a:xfrm>
            <a:off x="5003156" y="2187036"/>
            <a:ext cx="4248150" cy="576263"/>
          </a:xfrm>
          <a:prstGeom prst="rect">
            <a:avLst/>
          </a:prstGeom>
          <a:no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buClr>
                <a:schemeClr val="hlink"/>
              </a:buClr>
              <a:buSzPct val="95000"/>
              <a:buFont typeface="Wingdings" panose="05000000000000000000" pitchFamily="2" charset="2"/>
              <a:buChar char="u"/>
            </a:pPr>
            <a:r>
              <a:rPr lang="en-US" altLang="zh-CN" b="1">
                <a:latin typeface="黑体" panose="02010609060101010101" pitchFamily="49" charset="-122"/>
                <a:ea typeface="黑体" panose="02010609060101010101" pitchFamily="49" charset="-122"/>
              </a:rPr>
              <a:t>b-</a:t>
            </a:r>
            <a:r>
              <a:rPr lang="zh-CN" altLang="en-US" b="1">
                <a:latin typeface="黑体" panose="02010609060101010101" pitchFamily="49" charset="-122"/>
                <a:ea typeface="黑体" panose="02010609060101010101" pitchFamily="49" charset="-122"/>
              </a:rPr>
              <a:t>常数</a:t>
            </a:r>
            <a:r>
              <a:rPr lang="en-US" altLang="zh-CN" b="1">
                <a:latin typeface="黑体" panose="02010609060101010101" pitchFamily="49" charset="-122"/>
                <a:ea typeface="黑体" panose="02010609060101010101" pitchFamily="49" charset="-122"/>
              </a:rPr>
              <a:t>,</a:t>
            </a:r>
            <a:r>
              <a:rPr lang="zh-CN" altLang="en-US" sz="2000" b="1">
                <a:latin typeface="黑体" panose="02010609060101010101" pitchFamily="49" charset="-122"/>
                <a:ea typeface="黑体" panose="02010609060101010101" pitchFamily="49" charset="-122"/>
              </a:rPr>
              <a:t>斜率，边际消费倾向</a:t>
            </a:r>
          </a:p>
        </p:txBody>
      </p:sp>
      <p:pic>
        <p:nvPicPr>
          <p:cNvPr id="9" name="图片 8">
            <a:extLst>
              <a:ext uri="{FF2B5EF4-FFF2-40B4-BE49-F238E27FC236}">
                <a16:creationId xmlns:a16="http://schemas.microsoft.com/office/drawing/2014/main" id="{3E01114F-2CC9-4B6A-99EF-7F0C310749EE}"/>
              </a:ext>
            </a:extLst>
          </p:cNvPr>
          <p:cNvPicPr>
            <a:picLocks noChangeAspect="1"/>
          </p:cNvPicPr>
          <p:nvPr/>
        </p:nvPicPr>
        <p:blipFill>
          <a:blip r:embed="rId2"/>
          <a:stretch>
            <a:fillRect/>
          </a:stretch>
        </p:blipFill>
        <p:spPr>
          <a:xfrm>
            <a:off x="5252548" y="3098766"/>
            <a:ext cx="3749365" cy="3002540"/>
          </a:xfrm>
          <a:prstGeom prst="rect">
            <a:avLst/>
          </a:prstGeom>
        </p:spPr>
      </p:pic>
    </p:spTree>
    <p:extLst>
      <p:ext uri="{BB962C8B-B14F-4D97-AF65-F5344CB8AC3E}">
        <p14:creationId xmlns:p14="http://schemas.microsoft.com/office/powerpoint/2010/main" val="3520655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2">
            <a:extLst>
              <a:ext uri="{FF2B5EF4-FFF2-40B4-BE49-F238E27FC236}">
                <a16:creationId xmlns:a16="http://schemas.microsoft.com/office/drawing/2014/main" id="{57483205-B767-445F-A45D-4D2019C32E80}"/>
              </a:ext>
            </a:extLst>
          </p:cNvPr>
          <p:cNvSpPr>
            <a:spLocks noGrp="1" noChangeArrowheads="1"/>
          </p:cNvSpPr>
          <p:nvPr>
            <p:ph type="title"/>
          </p:nvPr>
        </p:nvSpPr>
        <p:spPr>
          <a:xfrm>
            <a:off x="838200" y="36512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t>消费倾向 </a:t>
            </a:r>
            <a:r>
              <a:rPr lang="en-US" altLang="zh-CN" sz="2800" dirty="0"/>
              <a:t>propensity</a:t>
            </a:r>
          </a:p>
        </p:txBody>
      </p:sp>
      <p:sp>
        <p:nvSpPr>
          <p:cNvPr id="5" name="Rectangle 114">
            <a:extLst>
              <a:ext uri="{FF2B5EF4-FFF2-40B4-BE49-F238E27FC236}">
                <a16:creationId xmlns:a16="http://schemas.microsoft.com/office/drawing/2014/main" id="{9D8E8DA7-E3A8-4D47-A631-7B8F4616EC10}"/>
              </a:ext>
            </a:extLst>
          </p:cNvPr>
          <p:cNvSpPr>
            <a:spLocks noGrp="1" noChangeArrowheads="1"/>
          </p:cNvSpPr>
          <p:nvPr>
            <p:ph idx="1"/>
          </p:nvPr>
        </p:nvSpPr>
        <p:spPr>
          <a:xfrm>
            <a:off x="1087639" y="1196975"/>
            <a:ext cx="5472112" cy="566738"/>
          </a:xfrm>
          <a:noFill/>
          <a:ln w="3175" cmpd="sng">
            <a:solidFill>
              <a:schemeClr val="tx1"/>
            </a:solidFill>
          </a:ln>
        </p:spPr>
        <p:txBody>
          <a:bodyPr/>
          <a:lstStyle/>
          <a:p>
            <a:pPr>
              <a:lnSpc>
                <a:spcPct val="90000"/>
              </a:lnSpc>
              <a:buClr>
                <a:schemeClr val="hlink"/>
              </a:buClr>
              <a:buSzPct val="95000"/>
              <a:buFont typeface="Wingdings" panose="05000000000000000000" pitchFamily="2" charset="2"/>
              <a:buChar char="u"/>
            </a:pPr>
            <a:r>
              <a:rPr lang="zh-CN" altLang="en-US" b="1"/>
              <a:t>消费倾向：消费与收入的比率。</a:t>
            </a:r>
          </a:p>
        </p:txBody>
      </p:sp>
      <p:sp>
        <p:nvSpPr>
          <p:cNvPr id="6" name="Rectangle 115">
            <a:extLst>
              <a:ext uri="{FF2B5EF4-FFF2-40B4-BE49-F238E27FC236}">
                <a16:creationId xmlns:a16="http://schemas.microsoft.com/office/drawing/2014/main" id="{D2625FAE-0EFF-480E-9CB3-C63674CC7038}"/>
              </a:ext>
            </a:extLst>
          </p:cNvPr>
          <p:cNvSpPr>
            <a:spLocks noRot="1" noChangeArrowheads="1"/>
          </p:cNvSpPr>
          <p:nvPr/>
        </p:nvSpPr>
        <p:spPr bwMode="auto">
          <a:xfrm>
            <a:off x="1087640" y="1844675"/>
            <a:ext cx="8351837" cy="1512888"/>
          </a:xfrm>
          <a:prstGeom prst="rect">
            <a:avLst/>
          </a:prstGeom>
          <a:no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80963" indent="-80963">
              <a:spcBef>
                <a:spcPct val="20000"/>
              </a:spcBef>
              <a:buClr>
                <a:srgbClr val="422D8D"/>
              </a:buClr>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1pPr>
            <a:lvl2pPr marL="823913" indent="-465138">
              <a:spcBef>
                <a:spcPct val="20000"/>
              </a:spcBef>
              <a:buClr>
                <a:schemeClr val="folHlink"/>
              </a:buClr>
              <a:buFont typeface="Wingdings" panose="05000000000000000000" pitchFamily="2" charset="2"/>
              <a:buChar char="p"/>
              <a:defRPr kumimoji="1" sz="2000">
                <a:solidFill>
                  <a:schemeClr val="tx1"/>
                </a:solidFill>
                <a:latin typeface="Times New Roman" panose="02020603050405020304" pitchFamily="18" charset="0"/>
                <a:ea typeface="宋体" panose="02010600030101010101" pitchFamily="2" charset="-122"/>
              </a:defRPr>
            </a:lvl2pPr>
            <a:lvl3pPr marL="12319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39888"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9pPr>
          </a:lstStyle>
          <a:p>
            <a:pPr>
              <a:buClr>
                <a:schemeClr val="hlink"/>
              </a:buClr>
              <a:buSzPct val="95000"/>
              <a:buFont typeface="Wingdings" panose="05000000000000000000" pitchFamily="2" charset="2"/>
              <a:buChar char="u"/>
            </a:pPr>
            <a:r>
              <a:rPr lang="zh-CN" altLang="en-US" sz="2400" b="1">
                <a:ea typeface="黑体" panose="02010609060101010101" pitchFamily="49" charset="-122"/>
              </a:rPr>
              <a:t>平均消费倾向 </a:t>
            </a:r>
            <a:r>
              <a:rPr lang="en-US" altLang="zh-CN" sz="2400" b="1">
                <a:latin typeface="黑体" panose="02010609060101010101" pitchFamily="49" charset="-122"/>
                <a:ea typeface="黑体" panose="02010609060101010101" pitchFamily="49" charset="-122"/>
              </a:rPr>
              <a:t>APC  </a:t>
            </a:r>
            <a:r>
              <a:rPr lang="en-US" altLang="zh-CN" sz="2400" b="1" i="1">
                <a:solidFill>
                  <a:srgbClr val="CB5323"/>
                </a:solidFill>
              </a:rPr>
              <a:t>average  propensity to  consume</a:t>
            </a:r>
          </a:p>
          <a:p>
            <a:pPr>
              <a:buClr>
                <a:schemeClr val="hlink"/>
              </a:buClr>
              <a:buSzPct val="95000"/>
              <a:buFont typeface="Wingdings" panose="05000000000000000000" pitchFamily="2" charset="2"/>
              <a:buChar char="u"/>
            </a:pPr>
            <a:r>
              <a:rPr lang="zh-CN" altLang="zh-CN" sz="2400" b="1">
                <a:ea typeface="黑体" panose="02010609060101010101" pitchFamily="49" charset="-122"/>
              </a:rPr>
              <a:t>平均每单位收入</a:t>
            </a:r>
            <a:r>
              <a:rPr lang="zh-CN" altLang="en-US" sz="2400" b="1">
                <a:ea typeface="黑体" panose="02010609060101010101" pitchFamily="49" charset="-122"/>
              </a:rPr>
              <a:t>中</a:t>
            </a:r>
            <a:r>
              <a:rPr lang="zh-CN" altLang="zh-CN" sz="2400" b="1">
                <a:ea typeface="黑体" panose="02010609060101010101" pitchFamily="49" charset="-122"/>
              </a:rPr>
              <a:t>消费</a:t>
            </a:r>
            <a:r>
              <a:rPr lang="zh-CN" altLang="en-US" sz="2400" b="1">
                <a:ea typeface="黑体" panose="02010609060101010101" pitchFamily="49" charset="-122"/>
              </a:rPr>
              <a:t>所占比例。</a:t>
            </a:r>
          </a:p>
          <a:p>
            <a:pPr>
              <a:buClr>
                <a:schemeClr val="hlink"/>
              </a:buClr>
              <a:buSzPct val="95000"/>
              <a:buFont typeface="Wingdings" panose="05000000000000000000" pitchFamily="2" charset="2"/>
              <a:buChar char="u"/>
            </a:pPr>
            <a:r>
              <a:rPr lang="zh-CN" altLang="en-US" sz="2400" b="1">
                <a:ea typeface="黑体" panose="02010609060101010101" pitchFamily="49" charset="-122"/>
              </a:rPr>
              <a:t>计算：总消费在总收入中所占比例</a:t>
            </a:r>
            <a:r>
              <a:rPr lang="zh-CN" altLang="en-US" sz="2400" b="1"/>
              <a:t>＝消费</a:t>
            </a:r>
            <a:r>
              <a:rPr lang="en-US" altLang="zh-CN" sz="2400" b="1"/>
              <a:t>/</a:t>
            </a:r>
            <a:r>
              <a:rPr lang="zh-CN" altLang="en-US" sz="2400" b="1"/>
              <a:t>收入</a:t>
            </a:r>
            <a:r>
              <a:rPr lang="zh-CN" altLang="en-US" sz="2400" b="1">
                <a:latin typeface="黑体" panose="02010609060101010101" pitchFamily="49" charset="-122"/>
                <a:ea typeface="黑体" panose="02010609060101010101" pitchFamily="49" charset="-122"/>
              </a:rPr>
              <a:t>＝</a:t>
            </a:r>
            <a:r>
              <a:rPr lang="en-US" altLang="zh-CN" sz="2400" b="1">
                <a:latin typeface="黑体" panose="02010609060101010101" pitchFamily="49" charset="-122"/>
                <a:ea typeface="黑体" panose="02010609060101010101" pitchFamily="49" charset="-122"/>
              </a:rPr>
              <a:t>c/y</a:t>
            </a:r>
          </a:p>
        </p:txBody>
      </p:sp>
      <p:sp>
        <p:nvSpPr>
          <p:cNvPr id="7" name="Rectangle 116">
            <a:extLst>
              <a:ext uri="{FF2B5EF4-FFF2-40B4-BE49-F238E27FC236}">
                <a16:creationId xmlns:a16="http://schemas.microsoft.com/office/drawing/2014/main" id="{F4695686-EBF1-4F7C-B1E9-3DE3B8F728CB}"/>
              </a:ext>
            </a:extLst>
          </p:cNvPr>
          <p:cNvSpPr>
            <a:spLocks noChangeArrowheads="1"/>
          </p:cNvSpPr>
          <p:nvPr/>
        </p:nvSpPr>
        <p:spPr bwMode="auto">
          <a:xfrm>
            <a:off x="1087640" y="3500438"/>
            <a:ext cx="8351837" cy="1727200"/>
          </a:xfrm>
          <a:prstGeom prst="rect">
            <a:avLst/>
          </a:prstGeom>
          <a:noFill/>
          <a:ln w="3175" cmpd="tri">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l"/>
            </a:pPr>
            <a:r>
              <a:rPr lang="en-US" altLang="zh-CN" b="1">
                <a:latin typeface="黑体" panose="02010609060101010101" pitchFamily="49" charset="-122"/>
                <a:ea typeface="黑体" panose="02010609060101010101" pitchFamily="49" charset="-122"/>
              </a:rPr>
              <a:t>APC</a:t>
            </a:r>
          </a:p>
          <a:p>
            <a:pPr>
              <a:buClr>
                <a:srgbClr val="336600"/>
              </a:buClr>
              <a:buSzPct val="95000"/>
              <a:buFont typeface="Wingdings" panose="05000000000000000000" pitchFamily="2" charset="2"/>
              <a:buChar char="l"/>
            </a:pPr>
            <a:r>
              <a:rPr lang="en-US" altLang="zh-CN" sz="2000" b="1">
                <a:latin typeface="黑体" panose="02010609060101010101" pitchFamily="49" charset="-122"/>
                <a:ea typeface="黑体" panose="02010609060101010101" pitchFamily="49" charset="-122"/>
              </a:rPr>
              <a:t>&lt;1</a:t>
            </a:r>
            <a:r>
              <a:rPr lang="zh-CN" altLang="en-US" sz="2000" b="1">
                <a:latin typeface="黑体" panose="02010609060101010101" pitchFamily="49" charset="-122"/>
                <a:ea typeface="黑体" panose="02010609060101010101" pitchFamily="49" charset="-122"/>
              </a:rPr>
              <a:t>，消费总量</a:t>
            </a:r>
            <a:r>
              <a:rPr lang="en-US" altLang="zh-CN" sz="2000" b="1">
                <a:latin typeface="黑体" panose="02010609060101010101" pitchFamily="49" charset="-122"/>
                <a:ea typeface="黑体" panose="02010609060101010101" pitchFamily="49" charset="-122"/>
              </a:rPr>
              <a:t>&lt;</a:t>
            </a:r>
            <a:r>
              <a:rPr lang="zh-CN" altLang="en-US" sz="2000" b="1">
                <a:latin typeface="黑体" panose="02010609060101010101" pitchFamily="49" charset="-122"/>
                <a:ea typeface="黑体" panose="02010609060101010101" pitchFamily="49" charset="-122"/>
              </a:rPr>
              <a:t>收入总量（产生储蓄）；</a:t>
            </a:r>
          </a:p>
          <a:p>
            <a:pPr>
              <a:buClr>
                <a:srgbClr val="336600"/>
              </a:buClr>
              <a:buSzPct val="95000"/>
              <a:buFont typeface="Wingdings" panose="05000000000000000000" pitchFamily="2" charset="2"/>
              <a:buChar char="l"/>
            </a:pPr>
            <a:r>
              <a:rPr lang="zh-CN" altLang="en-US" sz="2000" b="1">
                <a:latin typeface="黑体" panose="02010609060101010101" pitchFamily="49" charset="-122"/>
                <a:ea typeface="黑体" panose="02010609060101010101" pitchFamily="49" charset="-122"/>
              </a:rPr>
              <a:t>＝</a:t>
            </a:r>
            <a:r>
              <a:rPr lang="en-US" altLang="zh-CN" sz="2000" b="1">
                <a:latin typeface="黑体" panose="02010609060101010101" pitchFamily="49" charset="-122"/>
                <a:ea typeface="黑体" panose="02010609060101010101" pitchFamily="49" charset="-122"/>
              </a:rPr>
              <a:t>1</a:t>
            </a:r>
            <a:r>
              <a:rPr lang="zh-CN" altLang="en-US" sz="2000" b="1">
                <a:latin typeface="黑体" panose="02010609060101010101" pitchFamily="49" charset="-122"/>
                <a:ea typeface="黑体" panose="02010609060101010101" pitchFamily="49" charset="-122"/>
              </a:rPr>
              <a:t>，把全部收入都用于消费（储蓄为零）；</a:t>
            </a:r>
          </a:p>
          <a:p>
            <a:pPr>
              <a:buClr>
                <a:srgbClr val="336600"/>
              </a:buClr>
              <a:buSzPct val="95000"/>
              <a:buFont typeface="Wingdings" panose="05000000000000000000" pitchFamily="2" charset="2"/>
              <a:buChar char="l"/>
            </a:pPr>
            <a:r>
              <a:rPr lang="en-US" altLang="zh-CN" sz="2000" b="1">
                <a:latin typeface="黑体" panose="02010609060101010101" pitchFamily="49" charset="-122"/>
                <a:ea typeface="黑体" panose="02010609060101010101" pitchFamily="49" charset="-122"/>
              </a:rPr>
              <a:t>&gt;1</a:t>
            </a:r>
            <a:r>
              <a:rPr lang="zh-CN" altLang="en-US" sz="2000" b="1">
                <a:latin typeface="黑体" panose="02010609060101010101" pitchFamily="49" charset="-122"/>
                <a:ea typeface="黑体" panose="02010609060101010101" pitchFamily="49" charset="-122"/>
              </a:rPr>
              <a:t>，消费总量大于收入总量（负债消费，即产生负储蓄）。</a:t>
            </a:r>
          </a:p>
        </p:txBody>
      </p:sp>
      <p:sp>
        <p:nvSpPr>
          <p:cNvPr id="8" name="Rectangle 117">
            <a:extLst>
              <a:ext uri="{FF2B5EF4-FFF2-40B4-BE49-F238E27FC236}">
                <a16:creationId xmlns:a16="http://schemas.microsoft.com/office/drawing/2014/main" id="{4663EB1D-849A-429F-BC97-41B381BC0128}"/>
              </a:ext>
            </a:extLst>
          </p:cNvPr>
          <p:cNvSpPr>
            <a:spLocks noRot="1" noChangeArrowheads="1"/>
          </p:cNvSpPr>
          <p:nvPr/>
        </p:nvSpPr>
        <p:spPr bwMode="auto">
          <a:xfrm>
            <a:off x="1087640" y="5373689"/>
            <a:ext cx="8351837" cy="936625"/>
          </a:xfrm>
          <a:prstGeom prst="rect">
            <a:avLst/>
          </a:prstGeom>
          <a:noFill/>
          <a:ln w="3175"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422D8D"/>
              </a:buClr>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1pPr>
            <a:lvl2pPr marL="823913" indent="-465138">
              <a:spcBef>
                <a:spcPct val="20000"/>
              </a:spcBef>
              <a:buClr>
                <a:schemeClr val="folHlink"/>
              </a:buClr>
              <a:buFont typeface="Wingdings" panose="05000000000000000000" pitchFamily="2" charset="2"/>
              <a:buChar char="p"/>
              <a:defRPr kumimoji="1" sz="2000">
                <a:solidFill>
                  <a:schemeClr val="tx1"/>
                </a:solidFill>
                <a:latin typeface="Times New Roman" panose="02020603050405020304" pitchFamily="18" charset="0"/>
                <a:ea typeface="宋体" panose="02010600030101010101" pitchFamily="2" charset="-122"/>
              </a:defRPr>
            </a:lvl2pPr>
            <a:lvl3pPr marL="12319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39888"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9pPr>
          </a:lstStyle>
          <a:p>
            <a:pPr>
              <a:buClr>
                <a:schemeClr val="hlink"/>
              </a:buClr>
              <a:buSzPct val="95000"/>
              <a:buFont typeface="Wingdings" panose="05000000000000000000" pitchFamily="2" charset="2"/>
              <a:buChar char="u"/>
            </a:pPr>
            <a:r>
              <a:rPr lang="zh-CN" altLang="en-US" sz="2400" b="1"/>
              <a:t>例：收入</a:t>
            </a:r>
            <a:r>
              <a:rPr lang="en-US" altLang="zh-CN" sz="2400" b="1"/>
              <a:t>100</a:t>
            </a:r>
            <a:r>
              <a:rPr lang="zh-CN" altLang="en-US" sz="2400" b="1"/>
              <a:t>元中</a:t>
            </a:r>
            <a:r>
              <a:rPr lang="en-US" altLang="zh-CN" sz="2400" b="1"/>
              <a:t>80</a:t>
            </a:r>
            <a:r>
              <a:rPr lang="zh-CN" altLang="en-US" sz="2400" b="1"/>
              <a:t>元用于消费</a:t>
            </a:r>
          </a:p>
          <a:p>
            <a:pPr>
              <a:buClr>
                <a:schemeClr val="hlink"/>
              </a:buClr>
              <a:buSzPct val="95000"/>
              <a:buFont typeface="Wingdings" panose="05000000000000000000" pitchFamily="2" charset="2"/>
              <a:buChar char="u"/>
            </a:pPr>
            <a:r>
              <a:rPr lang="zh-CN" altLang="en-US" sz="2400" b="1"/>
              <a:t>平均消费倾向</a:t>
            </a:r>
            <a:r>
              <a:rPr lang="en-US" altLang="zh-CN" sz="2400" b="1"/>
              <a:t>APC = c/y = 0.8</a:t>
            </a:r>
          </a:p>
        </p:txBody>
      </p:sp>
    </p:spTree>
    <p:extLst>
      <p:ext uri="{BB962C8B-B14F-4D97-AF65-F5344CB8AC3E}">
        <p14:creationId xmlns:p14="http://schemas.microsoft.com/office/powerpoint/2010/main" val="1286736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AD15BF9-F666-430C-A9FB-F8A9BD3C6E3B}"/>
              </a:ext>
            </a:extLst>
          </p:cNvPr>
          <p:cNvSpPr>
            <a:spLocks noGrp="1" noChangeArrowheads="1"/>
          </p:cNvSpPr>
          <p:nvPr>
            <p:ph type="title"/>
          </p:nvPr>
        </p:nvSpPr>
        <p:spPr>
          <a:xfrm>
            <a:off x="838200" y="36512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t>边际消费倾向 </a:t>
            </a:r>
            <a:r>
              <a:rPr lang="en-US" altLang="zh-CN" sz="2800" dirty="0"/>
              <a:t>MPC</a:t>
            </a:r>
          </a:p>
        </p:txBody>
      </p:sp>
      <p:sp>
        <p:nvSpPr>
          <p:cNvPr id="5" name="Rectangle 3">
            <a:extLst>
              <a:ext uri="{FF2B5EF4-FFF2-40B4-BE49-F238E27FC236}">
                <a16:creationId xmlns:a16="http://schemas.microsoft.com/office/drawing/2014/main" id="{C6ADC61C-72AD-4822-8A2A-60FDB5FE3F56}"/>
              </a:ext>
            </a:extLst>
          </p:cNvPr>
          <p:cNvSpPr>
            <a:spLocks noGrp="1" noChangeArrowheads="1"/>
          </p:cNvSpPr>
          <p:nvPr>
            <p:ph idx="1"/>
          </p:nvPr>
        </p:nvSpPr>
        <p:spPr>
          <a:xfrm>
            <a:off x="858973" y="2781300"/>
            <a:ext cx="8353425" cy="2305050"/>
          </a:xfrm>
          <a:noFill/>
          <a:ln w="3175" cmpd="thickThin">
            <a:solidFill>
              <a:schemeClr val="tx1"/>
            </a:solidFill>
          </a:ln>
        </p:spPr>
        <p:txBody>
          <a:bodyPr>
            <a:normAutofit fontScale="92500" lnSpcReduction="10000"/>
          </a:bodyPr>
          <a:lstStyle/>
          <a:p>
            <a:pPr>
              <a:buClr>
                <a:srgbClr val="FF0000"/>
              </a:buClr>
              <a:buSzPct val="95000"/>
              <a:buFont typeface="Wingdings" panose="05000000000000000000" pitchFamily="2" charset="2"/>
              <a:buChar char="n"/>
            </a:pPr>
            <a:r>
              <a:rPr lang="zh-CN" altLang="en-US" b="1">
                <a:latin typeface="黑体" panose="02010609060101010101" pitchFamily="49" charset="-122"/>
                <a:ea typeface="黑体" panose="02010609060101010101" pitchFamily="49" charset="-122"/>
              </a:rPr>
              <a:t>当消费增量</a:t>
            </a:r>
            <a:r>
              <a:rPr lang="en-US" altLang="zh-CN" b="1">
                <a:latin typeface="黑体" panose="02010609060101010101" pitchFamily="49" charset="-122"/>
                <a:ea typeface="黑体" panose="02010609060101010101" pitchFamily="49" charset="-122"/>
              </a:rPr>
              <a:t>Δc</a:t>
            </a:r>
            <a:r>
              <a:rPr lang="zh-CN" altLang="en-US" b="1">
                <a:latin typeface="黑体" panose="02010609060101010101" pitchFamily="49" charset="-122"/>
                <a:ea typeface="黑体" panose="02010609060101010101" pitchFamily="49" charset="-122"/>
              </a:rPr>
              <a:t>与收入增量</a:t>
            </a:r>
            <a:r>
              <a:rPr lang="en-US" altLang="zh-CN" b="1">
                <a:latin typeface="黑体" panose="02010609060101010101" pitchFamily="49" charset="-122"/>
                <a:ea typeface="黑体" panose="02010609060101010101" pitchFamily="49" charset="-122"/>
              </a:rPr>
              <a:t>Δy</a:t>
            </a:r>
            <a:r>
              <a:rPr lang="zh-CN" altLang="en-US" b="1">
                <a:latin typeface="黑体" panose="02010609060101010101" pitchFamily="49" charset="-122"/>
                <a:ea typeface="黑体" panose="02010609060101010101" pitchFamily="49" charset="-122"/>
              </a:rPr>
              <a:t>趋于无穷小时，即：</a:t>
            </a:r>
          </a:p>
          <a:p>
            <a:pPr>
              <a:buClr>
                <a:srgbClr val="FF0000"/>
              </a:buClr>
              <a:buSzPct val="95000"/>
              <a:buFont typeface="Wingdings" panose="05000000000000000000" pitchFamily="2" charset="2"/>
              <a:buChar char="n"/>
            </a:pPr>
            <a:r>
              <a:rPr lang="en-US" altLang="zh-CN" b="1">
                <a:latin typeface="黑体" panose="02010609060101010101" pitchFamily="49" charset="-122"/>
                <a:ea typeface="黑体" panose="02010609060101010101" pitchFamily="49" charset="-122"/>
              </a:rPr>
              <a:t>MPC = dc/dy</a:t>
            </a:r>
          </a:p>
          <a:p>
            <a:pPr>
              <a:buClr>
                <a:srgbClr val="FF0000"/>
              </a:buClr>
              <a:buSzPct val="95000"/>
              <a:buFont typeface="Wingdings" panose="05000000000000000000" pitchFamily="2" charset="2"/>
              <a:buChar char="n"/>
            </a:pPr>
            <a:r>
              <a:rPr lang="en-US" altLang="zh-CN" b="1">
                <a:latin typeface="黑体" panose="02010609060101010101" pitchFamily="49" charset="-122"/>
                <a:ea typeface="黑体" panose="02010609060101010101" pitchFamily="49" charset="-122"/>
              </a:rPr>
              <a:t>MPC</a:t>
            </a:r>
            <a:r>
              <a:rPr lang="zh-CN" altLang="en-US" b="1">
                <a:latin typeface="黑体" panose="02010609060101010101" pitchFamily="49" charset="-122"/>
                <a:ea typeface="黑体" panose="02010609060101010101" pitchFamily="49" charset="-122"/>
              </a:rPr>
              <a:t>是消费曲线上任一点切线的斜率。</a:t>
            </a:r>
          </a:p>
          <a:p>
            <a:pPr>
              <a:buClr>
                <a:srgbClr val="FF0000"/>
              </a:buClr>
              <a:buSzPct val="95000"/>
              <a:buFont typeface="Wingdings" panose="05000000000000000000" pitchFamily="2" charset="2"/>
              <a:buChar char="n"/>
            </a:pPr>
            <a:r>
              <a:rPr lang="zh-CN" altLang="en-US" b="1">
                <a:latin typeface="黑体" panose="02010609060101010101" pitchFamily="49" charset="-122"/>
                <a:ea typeface="黑体" panose="02010609060101010101" pitchFamily="49" charset="-122"/>
              </a:rPr>
              <a:t>不论</a:t>
            </a:r>
            <a:r>
              <a:rPr lang="en-US" altLang="zh-CN" b="1">
                <a:latin typeface="黑体" panose="02010609060101010101" pitchFamily="49" charset="-122"/>
                <a:ea typeface="黑体" panose="02010609060101010101" pitchFamily="49" charset="-122"/>
              </a:rPr>
              <a:t>MPC</a:t>
            </a:r>
            <a:r>
              <a:rPr lang="zh-CN" altLang="en-US" b="1">
                <a:latin typeface="黑体" panose="02010609060101010101" pitchFamily="49" charset="-122"/>
                <a:ea typeface="黑体" panose="02010609060101010101" pitchFamily="49" charset="-122"/>
              </a:rPr>
              <a:t>是常数还是变数，总是一个小于</a:t>
            </a:r>
            <a:r>
              <a:rPr lang="en-US" altLang="zh-CN" b="1">
                <a:latin typeface="黑体" panose="02010609060101010101" pitchFamily="49" charset="-122"/>
                <a:ea typeface="黑体" panose="02010609060101010101" pitchFamily="49" charset="-122"/>
              </a:rPr>
              <a:t>1</a:t>
            </a:r>
            <a:r>
              <a:rPr lang="zh-CN" altLang="en-US" b="1">
                <a:latin typeface="黑体" panose="02010609060101010101" pitchFamily="49" charset="-122"/>
                <a:ea typeface="黑体" panose="02010609060101010101" pitchFamily="49" charset="-122"/>
              </a:rPr>
              <a:t>的正数。有：</a:t>
            </a:r>
          </a:p>
          <a:p>
            <a:pPr>
              <a:buClr>
                <a:srgbClr val="FF0000"/>
              </a:buClr>
              <a:buSzPct val="95000"/>
              <a:buFont typeface="Wingdings" panose="05000000000000000000" pitchFamily="2" charset="2"/>
              <a:buChar char="n"/>
            </a:pPr>
            <a:r>
              <a:rPr lang="en-US" altLang="zh-CN" b="1">
                <a:latin typeface="黑体" panose="02010609060101010101" pitchFamily="49" charset="-122"/>
                <a:ea typeface="黑体" panose="02010609060101010101" pitchFamily="49" charset="-122"/>
              </a:rPr>
              <a:t>1 &gt; MPC &gt; 0</a:t>
            </a:r>
          </a:p>
        </p:txBody>
      </p:sp>
      <p:sp>
        <p:nvSpPr>
          <p:cNvPr id="6" name="Rectangle 4">
            <a:extLst>
              <a:ext uri="{FF2B5EF4-FFF2-40B4-BE49-F238E27FC236}">
                <a16:creationId xmlns:a16="http://schemas.microsoft.com/office/drawing/2014/main" id="{BD7D8941-B3DF-4B23-8AEC-34BCEA98535A}"/>
              </a:ext>
            </a:extLst>
          </p:cNvPr>
          <p:cNvSpPr>
            <a:spLocks noRot="1" noChangeArrowheads="1"/>
          </p:cNvSpPr>
          <p:nvPr/>
        </p:nvSpPr>
        <p:spPr bwMode="auto">
          <a:xfrm>
            <a:off x="858973" y="1196976"/>
            <a:ext cx="8353425" cy="1368425"/>
          </a:xfrm>
          <a:prstGeom prst="rect">
            <a:avLst/>
          </a:prstGeom>
          <a:no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422D8D"/>
              </a:buClr>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1pPr>
            <a:lvl2pPr marL="823913" indent="-285750">
              <a:spcBef>
                <a:spcPct val="20000"/>
              </a:spcBef>
              <a:buClr>
                <a:schemeClr val="folHlink"/>
              </a:buClr>
              <a:buFont typeface="Wingdings" panose="05000000000000000000" pitchFamily="2" charset="2"/>
              <a:buChar char="p"/>
              <a:defRPr kumimoji="1" sz="2000">
                <a:solidFill>
                  <a:schemeClr val="tx1"/>
                </a:solidFill>
                <a:latin typeface="Times New Roman" panose="02020603050405020304" pitchFamily="18" charset="0"/>
                <a:ea typeface="宋体" panose="02010600030101010101" pitchFamily="2" charset="-122"/>
              </a:defRPr>
            </a:lvl2pPr>
            <a:lvl3pPr marL="12319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39888"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9pPr>
          </a:lstStyle>
          <a:p>
            <a:pPr>
              <a:lnSpc>
                <a:spcPct val="90000"/>
              </a:lnSpc>
              <a:buClr>
                <a:schemeClr val="hlink"/>
              </a:buClr>
              <a:buSzPct val="95000"/>
              <a:buFont typeface="Wingdings" panose="05000000000000000000" pitchFamily="2" charset="2"/>
              <a:buChar char="u"/>
            </a:pPr>
            <a:r>
              <a:rPr lang="zh-CN" altLang="en-US" sz="2400" b="1" dirty="0"/>
              <a:t>边际消费倾向</a:t>
            </a:r>
            <a:r>
              <a:rPr lang="zh-CN" altLang="en-US" sz="2400" b="1" i="1" dirty="0"/>
              <a:t> </a:t>
            </a:r>
            <a:r>
              <a:rPr lang="en-US" altLang="zh-CN" sz="2400" b="1" i="1" dirty="0">
                <a:solidFill>
                  <a:srgbClr val="CB5323"/>
                </a:solidFill>
              </a:rPr>
              <a:t>marginal propensity to consume</a:t>
            </a:r>
          </a:p>
          <a:p>
            <a:pPr>
              <a:lnSpc>
                <a:spcPct val="90000"/>
              </a:lnSpc>
              <a:buClr>
                <a:schemeClr val="hlink"/>
              </a:buClr>
              <a:buSzPct val="95000"/>
              <a:buFont typeface="Wingdings" panose="05000000000000000000" pitchFamily="2" charset="2"/>
              <a:buChar char="u"/>
            </a:pPr>
            <a:r>
              <a:rPr lang="zh-CN" altLang="en-US" sz="2400" b="1" dirty="0"/>
              <a:t>每增减</a:t>
            </a:r>
            <a:r>
              <a:rPr lang="en-US" altLang="zh-CN" sz="2400" b="1" dirty="0"/>
              <a:t>1</a:t>
            </a:r>
            <a:r>
              <a:rPr lang="zh-CN" altLang="en-US" sz="2400" b="1" dirty="0"/>
              <a:t>元国民收入所引起的消费变化。</a:t>
            </a:r>
          </a:p>
          <a:p>
            <a:pPr>
              <a:lnSpc>
                <a:spcPct val="90000"/>
              </a:lnSpc>
              <a:buClr>
                <a:schemeClr val="hlink"/>
              </a:buClr>
              <a:buSzPct val="95000"/>
              <a:buFont typeface="Wingdings" panose="05000000000000000000" pitchFamily="2" charset="2"/>
              <a:buChar char="u"/>
            </a:pPr>
            <a:r>
              <a:rPr lang="en-US" altLang="zh-CN" sz="2400" b="1" dirty="0"/>
              <a:t>MPC</a:t>
            </a:r>
            <a:r>
              <a:rPr lang="zh-CN" altLang="en-US" sz="2400" b="1" dirty="0"/>
              <a:t>＝ </a:t>
            </a:r>
            <a:r>
              <a:rPr lang="zh-CN" altLang="en-US" sz="2400" b="1" dirty="0">
                <a:sym typeface="Webdings" panose="05030102010509060703" pitchFamily="18" charset="2"/>
              </a:rPr>
              <a:t></a:t>
            </a:r>
            <a:r>
              <a:rPr lang="en-US" altLang="zh-CN" sz="2400" b="1" dirty="0">
                <a:sym typeface="Webdings" panose="05030102010509060703" pitchFamily="18" charset="2"/>
              </a:rPr>
              <a:t>c/ </a:t>
            </a:r>
            <a:r>
              <a:rPr lang="en-US" altLang="zh-CN" sz="2400" b="1" dirty="0"/>
              <a:t>y</a:t>
            </a:r>
          </a:p>
        </p:txBody>
      </p:sp>
      <p:sp>
        <p:nvSpPr>
          <p:cNvPr id="7" name="Rectangle 5">
            <a:extLst>
              <a:ext uri="{FF2B5EF4-FFF2-40B4-BE49-F238E27FC236}">
                <a16:creationId xmlns:a16="http://schemas.microsoft.com/office/drawing/2014/main" id="{6B91520B-D587-448F-9053-6DE7E074A336}"/>
              </a:ext>
            </a:extLst>
          </p:cNvPr>
          <p:cNvSpPr>
            <a:spLocks noRot="1" noChangeArrowheads="1"/>
          </p:cNvSpPr>
          <p:nvPr/>
        </p:nvSpPr>
        <p:spPr bwMode="auto">
          <a:xfrm>
            <a:off x="858973" y="5300664"/>
            <a:ext cx="8353425" cy="936625"/>
          </a:xfrm>
          <a:prstGeom prst="rect">
            <a:avLst/>
          </a:prstGeom>
          <a:noFill/>
          <a:ln w="3175" cmpd="tri">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422D8D"/>
              </a:buClr>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1pPr>
            <a:lvl2pPr marL="823913" indent="-285750">
              <a:spcBef>
                <a:spcPct val="20000"/>
              </a:spcBef>
              <a:buClr>
                <a:schemeClr val="folHlink"/>
              </a:buClr>
              <a:buFont typeface="Wingdings" panose="05000000000000000000" pitchFamily="2" charset="2"/>
              <a:buChar char="p"/>
              <a:defRPr kumimoji="1" sz="2000">
                <a:solidFill>
                  <a:schemeClr val="tx1"/>
                </a:solidFill>
                <a:latin typeface="Times New Roman" panose="02020603050405020304" pitchFamily="18" charset="0"/>
                <a:ea typeface="宋体" panose="02010600030101010101" pitchFamily="2" charset="-122"/>
              </a:defRPr>
            </a:lvl2pPr>
            <a:lvl3pPr marL="12319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39888"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9pPr>
          </a:lstStyle>
          <a:p>
            <a:pPr>
              <a:lnSpc>
                <a:spcPct val="90000"/>
              </a:lnSpc>
              <a:buClr>
                <a:srgbClr val="336600"/>
              </a:buClr>
              <a:buSzPct val="95000"/>
              <a:buFont typeface="Wingdings" panose="05000000000000000000" pitchFamily="2" charset="2"/>
              <a:buChar char="l"/>
            </a:pPr>
            <a:r>
              <a:rPr lang="zh-CN" altLang="en-US" sz="2400" b="1"/>
              <a:t>例：收入由</a:t>
            </a:r>
            <a:r>
              <a:rPr lang="en-US" altLang="zh-CN" sz="2400" b="1"/>
              <a:t>100</a:t>
            </a:r>
            <a:r>
              <a:rPr lang="zh-CN" altLang="en-US" sz="2400" b="1"/>
              <a:t>元增加到</a:t>
            </a:r>
            <a:r>
              <a:rPr lang="en-US" altLang="zh-CN" sz="2400" b="1"/>
              <a:t>120</a:t>
            </a:r>
            <a:r>
              <a:rPr lang="zh-CN" altLang="en-US" sz="2400" b="1"/>
              <a:t>元，消费由</a:t>
            </a:r>
            <a:r>
              <a:rPr lang="en-US" altLang="zh-CN" sz="2400" b="1"/>
              <a:t>80</a:t>
            </a:r>
            <a:r>
              <a:rPr lang="zh-CN" altLang="en-US" sz="2400" b="1"/>
              <a:t>元增加到</a:t>
            </a:r>
            <a:r>
              <a:rPr lang="en-US" altLang="zh-CN" sz="2400" b="1"/>
              <a:t>94</a:t>
            </a:r>
            <a:r>
              <a:rPr lang="zh-CN" altLang="en-US" sz="2400" b="1"/>
              <a:t>元。 </a:t>
            </a:r>
          </a:p>
          <a:p>
            <a:pPr>
              <a:lnSpc>
                <a:spcPct val="90000"/>
              </a:lnSpc>
              <a:buClr>
                <a:srgbClr val="336600"/>
              </a:buClr>
              <a:buSzPct val="95000"/>
              <a:buFont typeface="Wingdings" panose="05000000000000000000" pitchFamily="2" charset="2"/>
              <a:buChar char="l"/>
            </a:pPr>
            <a:r>
              <a:rPr lang="en-US" altLang="zh-CN" sz="2400" b="1"/>
              <a:t>MPC</a:t>
            </a:r>
            <a:r>
              <a:rPr lang="zh-CN" altLang="en-US" sz="2400" b="1"/>
              <a:t>＝</a:t>
            </a:r>
            <a:r>
              <a:rPr lang="zh-CN" altLang="en-US" sz="2400" b="1">
                <a:sym typeface="Webdings" panose="05030102010509060703" pitchFamily="18" charset="2"/>
              </a:rPr>
              <a:t></a:t>
            </a:r>
            <a:r>
              <a:rPr lang="en-US" altLang="zh-CN" sz="2400" b="1">
                <a:sym typeface="Webdings" panose="05030102010509060703" pitchFamily="18" charset="2"/>
              </a:rPr>
              <a:t>c/ y</a:t>
            </a:r>
            <a:r>
              <a:rPr lang="zh-CN" altLang="en-US" sz="2400" b="1">
                <a:sym typeface="Webdings" panose="05030102010509060703" pitchFamily="18" charset="2"/>
              </a:rPr>
              <a:t>＝</a:t>
            </a:r>
            <a:r>
              <a:rPr lang="en-US" altLang="zh-CN" sz="2400" b="1">
                <a:sym typeface="Webdings" panose="05030102010509060703" pitchFamily="18" charset="2"/>
              </a:rPr>
              <a:t>( </a:t>
            </a:r>
            <a:r>
              <a:rPr lang="en-US" altLang="zh-CN" sz="2400" b="1"/>
              <a:t>94-80)/(120-100) </a:t>
            </a:r>
            <a:r>
              <a:rPr lang="zh-CN" altLang="en-US" sz="2400" b="1"/>
              <a:t>＝</a:t>
            </a:r>
            <a:r>
              <a:rPr lang="en-US" altLang="zh-CN" sz="2400" b="1"/>
              <a:t>0.7</a:t>
            </a:r>
          </a:p>
        </p:txBody>
      </p:sp>
    </p:spTree>
    <p:extLst>
      <p:ext uri="{BB962C8B-B14F-4D97-AF65-F5344CB8AC3E}">
        <p14:creationId xmlns:p14="http://schemas.microsoft.com/office/powerpoint/2010/main" val="2771447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A8B8872-7A82-4942-BB40-3789F08F8B85}"/>
              </a:ext>
            </a:extLst>
          </p:cNvPr>
          <p:cNvSpPr>
            <a:spLocks noGrp="1" noChangeArrowheads="1"/>
          </p:cNvSpPr>
          <p:nvPr>
            <p:ph type="title"/>
          </p:nvPr>
        </p:nvSpPr>
        <p:spPr>
          <a:xfrm>
            <a:off x="838200" y="36512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t>边际消费倾向递减规律</a:t>
            </a:r>
          </a:p>
        </p:txBody>
      </p:sp>
      <p:sp>
        <p:nvSpPr>
          <p:cNvPr id="5" name="Rectangle 6">
            <a:extLst>
              <a:ext uri="{FF2B5EF4-FFF2-40B4-BE49-F238E27FC236}">
                <a16:creationId xmlns:a16="http://schemas.microsoft.com/office/drawing/2014/main" id="{4C9447F7-6351-4E9E-B17F-4ECCC72961ED}"/>
              </a:ext>
            </a:extLst>
          </p:cNvPr>
          <p:cNvSpPr>
            <a:spLocks noGrp="1" noRot="1" noChangeArrowheads="1"/>
          </p:cNvSpPr>
          <p:nvPr>
            <p:ph idx="1"/>
          </p:nvPr>
        </p:nvSpPr>
        <p:spPr>
          <a:xfrm>
            <a:off x="4850858" y="1196976"/>
            <a:ext cx="4032250" cy="2016125"/>
          </a:xfrm>
          <a:noFill/>
          <a:ln w="3175" cap="flat" cmpd="sng">
            <a:solidFill>
              <a:schemeClr val="tx1"/>
            </a:solidFill>
          </a:ln>
        </p:spPr>
        <p:txBody>
          <a:bodyPr/>
          <a:lstStyle/>
          <a:p>
            <a:pPr marL="0" indent="0"/>
            <a:r>
              <a:rPr lang="zh-CN" altLang="en-US" dirty="0"/>
              <a:t>边际消费倾向递减规律</a:t>
            </a:r>
            <a:r>
              <a:rPr lang="zh-CN" altLang="en-US" dirty="0">
                <a:sym typeface="Wingdings" panose="05000000000000000000" pitchFamily="2" charset="2"/>
              </a:rPr>
              <a:t>（</a:t>
            </a:r>
            <a:r>
              <a:rPr lang="zh-CN" altLang="en-US" sz="2000" b="1" dirty="0">
                <a:solidFill>
                  <a:srgbClr val="000000"/>
                </a:solidFill>
                <a:latin typeface="黑体" panose="02010609060101010101" pitchFamily="49" charset="-122"/>
                <a:ea typeface="黑体" panose="02010609060101010101" pitchFamily="49" charset="-122"/>
              </a:rPr>
              <a:t>消费函数为非线性状态）</a:t>
            </a:r>
            <a:endParaRPr lang="zh-CN" altLang="en-US" sz="2000" dirty="0"/>
          </a:p>
          <a:p>
            <a:pPr marL="0" indent="0"/>
            <a:r>
              <a:rPr lang="zh-CN" altLang="en-US" b="1" dirty="0"/>
              <a:t>边际消费倾向随着收入增加而呈现递减趋势。</a:t>
            </a:r>
          </a:p>
        </p:txBody>
      </p:sp>
      <p:graphicFrame>
        <p:nvGraphicFramePr>
          <p:cNvPr id="6" name="Group 61">
            <a:extLst>
              <a:ext uri="{FF2B5EF4-FFF2-40B4-BE49-F238E27FC236}">
                <a16:creationId xmlns:a16="http://schemas.microsoft.com/office/drawing/2014/main" id="{780FAC07-6B20-4189-955D-C7BEE86BA45C}"/>
              </a:ext>
            </a:extLst>
          </p:cNvPr>
          <p:cNvGraphicFramePr>
            <a:graphicFrameLocks/>
          </p:cNvGraphicFramePr>
          <p:nvPr>
            <p:extLst>
              <p:ext uri="{D42A27DB-BD31-4B8C-83A1-F6EECF244321}">
                <p14:modId xmlns:p14="http://schemas.microsoft.com/office/powerpoint/2010/main" val="378366407"/>
              </p:ext>
            </p:extLst>
          </p:nvPr>
        </p:nvGraphicFramePr>
        <p:xfrm>
          <a:off x="364041" y="1246366"/>
          <a:ext cx="4032250" cy="4895852"/>
        </p:xfrm>
        <a:graphic>
          <a:graphicData uri="http://schemas.openxmlformats.org/drawingml/2006/table">
            <a:tbl>
              <a:tblPr/>
              <a:tblGrid>
                <a:gridCol w="419100">
                  <a:extLst>
                    <a:ext uri="{9D8B030D-6E8A-4147-A177-3AD203B41FA5}">
                      <a16:colId xmlns:a16="http://schemas.microsoft.com/office/drawing/2014/main" val="4084916509"/>
                    </a:ext>
                  </a:extLst>
                </a:gridCol>
                <a:gridCol w="904875">
                  <a:extLst>
                    <a:ext uri="{9D8B030D-6E8A-4147-A177-3AD203B41FA5}">
                      <a16:colId xmlns:a16="http://schemas.microsoft.com/office/drawing/2014/main" val="298723112"/>
                    </a:ext>
                  </a:extLst>
                </a:gridCol>
                <a:gridCol w="908050">
                  <a:extLst>
                    <a:ext uri="{9D8B030D-6E8A-4147-A177-3AD203B41FA5}">
                      <a16:colId xmlns:a16="http://schemas.microsoft.com/office/drawing/2014/main" val="523678969"/>
                    </a:ext>
                  </a:extLst>
                </a:gridCol>
                <a:gridCol w="908050">
                  <a:extLst>
                    <a:ext uri="{9D8B030D-6E8A-4147-A177-3AD203B41FA5}">
                      <a16:colId xmlns:a16="http://schemas.microsoft.com/office/drawing/2014/main" val="3533589960"/>
                    </a:ext>
                  </a:extLst>
                </a:gridCol>
                <a:gridCol w="892175">
                  <a:extLst>
                    <a:ext uri="{9D8B030D-6E8A-4147-A177-3AD203B41FA5}">
                      <a16:colId xmlns:a16="http://schemas.microsoft.com/office/drawing/2014/main" val="2930051888"/>
                    </a:ext>
                  </a:extLst>
                </a:gridCol>
              </a:tblGrid>
              <a:tr h="612775">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endParaRPr kumimoji="1" lang="zh-CN"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收入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消费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MPC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APC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95438660"/>
                  </a:ext>
                </a:extLst>
              </a:tr>
              <a:tr h="611188">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9000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9110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endParaRPr kumimoji="1" lang="zh-CN"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1.01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76630491"/>
                  </a:ext>
                </a:extLst>
              </a:tr>
              <a:tr h="612775">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0.89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29033683"/>
                  </a:ext>
                </a:extLst>
              </a:tr>
              <a:tr h="611188">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11000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10850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0.85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0.99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84977099"/>
                  </a:ext>
                </a:extLst>
              </a:tr>
              <a:tr h="612775">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12000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11600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0.75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0.97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65388275"/>
                  </a:ext>
                </a:extLst>
              </a:tr>
              <a:tr h="611188">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13000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12240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0.94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73645219"/>
                  </a:ext>
                </a:extLst>
              </a:tr>
              <a:tr h="612775">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14000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12830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0.59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0.92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27733158"/>
                  </a:ext>
                </a:extLst>
              </a:tr>
              <a:tr h="611188">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15000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13360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0.53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422D8D"/>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1pPr>
                      <a:lvl2pPr>
                        <a:spcBef>
                          <a:spcPct val="20000"/>
                        </a:spcBef>
                        <a:buClr>
                          <a:schemeClr val="folHlink"/>
                        </a:buClr>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buSzPct val="65000"/>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SzPct val="65000"/>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422D8D"/>
                        </a:buClr>
                        <a:buSzTx/>
                        <a:buFont typeface="Wingdings" panose="05000000000000000000" pitchFamily="2" charset="2"/>
                        <a:buNone/>
                        <a:tabLst/>
                      </a:pPr>
                      <a:r>
                        <a:rPr kumimoji="1" lang="en-US" altLang="zh-CN"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0.89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92898629"/>
                  </a:ext>
                </a:extLst>
              </a:tr>
            </a:tbl>
          </a:graphicData>
        </a:graphic>
      </p:graphicFrame>
      <p:sp>
        <p:nvSpPr>
          <p:cNvPr id="7" name="Rectangle 7">
            <a:extLst>
              <a:ext uri="{FF2B5EF4-FFF2-40B4-BE49-F238E27FC236}">
                <a16:creationId xmlns:a16="http://schemas.microsoft.com/office/drawing/2014/main" id="{1209F352-1CE3-444D-B7BC-AADF747164E9}"/>
              </a:ext>
            </a:extLst>
          </p:cNvPr>
          <p:cNvSpPr>
            <a:spLocks noChangeArrowheads="1"/>
          </p:cNvSpPr>
          <p:nvPr/>
        </p:nvSpPr>
        <p:spPr bwMode="auto">
          <a:xfrm>
            <a:off x="4850858" y="3429001"/>
            <a:ext cx="4032250" cy="1368425"/>
          </a:xfrm>
          <a:prstGeom prst="rect">
            <a:avLst/>
          </a:prstGeom>
          <a:noFill/>
          <a:ln w="3175"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FF0000"/>
              </a:buClr>
              <a:buSzPct val="95000"/>
              <a:buFont typeface="Wingdings" panose="05000000000000000000" pitchFamily="2" charset="2"/>
              <a:buChar char="n"/>
            </a:pPr>
            <a:r>
              <a:rPr lang="zh-CN" altLang="en-US" b="1">
                <a:latin typeface="黑体" panose="02010609060101010101" pitchFamily="49" charset="-122"/>
                <a:ea typeface="黑体" panose="02010609060101010101" pitchFamily="49" charset="-122"/>
              </a:rPr>
              <a:t>随着收入增加，消费占收入的绝对比例也呈递减状态， </a:t>
            </a:r>
            <a:r>
              <a:rPr lang="en-US" altLang="zh-CN" b="1">
                <a:latin typeface="黑体" panose="02010609060101010101" pitchFamily="49" charset="-122"/>
                <a:ea typeface="黑体" panose="02010609060101010101" pitchFamily="49" charset="-122"/>
              </a:rPr>
              <a:t>APC</a:t>
            </a:r>
            <a:r>
              <a:rPr lang="zh-CN" altLang="en-US" b="1">
                <a:latin typeface="黑体" panose="02010609060101010101" pitchFamily="49" charset="-122"/>
                <a:ea typeface="黑体" panose="02010609060101010101" pitchFamily="49" charset="-122"/>
              </a:rPr>
              <a:t>也有递减趋势。</a:t>
            </a:r>
          </a:p>
        </p:txBody>
      </p:sp>
      <p:sp>
        <p:nvSpPr>
          <p:cNvPr id="8" name="Rectangle 9">
            <a:extLst>
              <a:ext uri="{FF2B5EF4-FFF2-40B4-BE49-F238E27FC236}">
                <a16:creationId xmlns:a16="http://schemas.microsoft.com/office/drawing/2014/main" id="{B40F80FF-2FD0-480A-A7C0-E7A103D98DB2}"/>
              </a:ext>
            </a:extLst>
          </p:cNvPr>
          <p:cNvSpPr>
            <a:spLocks noChangeArrowheads="1"/>
          </p:cNvSpPr>
          <p:nvPr/>
        </p:nvSpPr>
        <p:spPr bwMode="auto">
          <a:xfrm>
            <a:off x="4850858" y="4941889"/>
            <a:ext cx="4032250" cy="1200329"/>
          </a:xfrm>
          <a:prstGeom prst="rect">
            <a:avLst/>
          </a:prstGeom>
          <a:noFill/>
          <a:ln w="3175" cmpd="tri">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rgbClr val="336600"/>
              </a:buClr>
              <a:buSzPct val="95000"/>
              <a:buFont typeface="Wingdings" panose="05000000000000000000" pitchFamily="2" charset="2"/>
              <a:buChar char="l"/>
            </a:pPr>
            <a:r>
              <a:rPr lang="zh-CN" altLang="en-US" b="1"/>
              <a:t>线性中，若</a:t>
            </a:r>
            <a:r>
              <a:rPr lang="en-US" altLang="zh-CN" b="1"/>
              <a:t>a = 0</a:t>
            </a:r>
            <a:r>
              <a:rPr lang="zh-CN" altLang="en-US" b="1"/>
              <a:t>，</a:t>
            </a:r>
            <a:r>
              <a:rPr lang="en-US" altLang="zh-CN" b="1"/>
              <a:t>c = ky</a:t>
            </a:r>
          </a:p>
          <a:p>
            <a:pPr>
              <a:buClr>
                <a:srgbClr val="336600"/>
              </a:buClr>
              <a:buSzPct val="95000"/>
              <a:buFont typeface="Wingdings" panose="05000000000000000000" pitchFamily="2" charset="2"/>
              <a:buChar char="l"/>
            </a:pPr>
            <a:r>
              <a:rPr lang="en-US" altLang="zh-CN" b="1"/>
              <a:t>APC</a:t>
            </a:r>
            <a:r>
              <a:rPr lang="zh-CN" altLang="en-US" b="1"/>
              <a:t>＝</a:t>
            </a:r>
            <a:r>
              <a:rPr lang="en-US" altLang="zh-CN" b="1"/>
              <a:t>MPC</a:t>
            </a:r>
            <a:r>
              <a:rPr lang="zh-CN" altLang="en-US" b="1"/>
              <a:t>，</a:t>
            </a:r>
          </a:p>
          <a:p>
            <a:pPr>
              <a:buClr>
                <a:srgbClr val="336600"/>
              </a:buClr>
              <a:buSzPct val="95000"/>
              <a:buFont typeface="Wingdings" panose="05000000000000000000" pitchFamily="2" charset="2"/>
              <a:buChar char="l"/>
            </a:pPr>
            <a:r>
              <a:rPr lang="zh-CN" altLang="en-US" b="1"/>
              <a:t>不再随收入增加而递减</a:t>
            </a:r>
          </a:p>
        </p:txBody>
      </p:sp>
    </p:spTree>
    <p:extLst>
      <p:ext uri="{BB962C8B-B14F-4D97-AF65-F5344CB8AC3E}">
        <p14:creationId xmlns:p14="http://schemas.microsoft.com/office/powerpoint/2010/main" val="1689581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E090727-0D35-4DEF-993E-C98270A0349C}"/>
              </a:ext>
            </a:extLst>
          </p:cNvPr>
          <p:cNvSpPr>
            <a:spLocks noGrp="1" noChangeArrowheads="1"/>
          </p:cNvSpPr>
          <p:nvPr>
            <p:ph type="title"/>
          </p:nvPr>
        </p:nvSpPr>
        <p:spPr>
          <a:xfrm>
            <a:off x="838200" y="36512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t>储蓄</a:t>
            </a:r>
          </a:p>
        </p:txBody>
      </p:sp>
      <p:sp>
        <p:nvSpPr>
          <p:cNvPr id="5" name="Rectangle 3">
            <a:extLst>
              <a:ext uri="{FF2B5EF4-FFF2-40B4-BE49-F238E27FC236}">
                <a16:creationId xmlns:a16="http://schemas.microsoft.com/office/drawing/2014/main" id="{9483F52F-5CDD-4FC2-98EA-E56A1DA5A284}"/>
              </a:ext>
            </a:extLst>
          </p:cNvPr>
          <p:cNvSpPr>
            <a:spLocks noGrp="1" noChangeArrowheads="1"/>
          </p:cNvSpPr>
          <p:nvPr>
            <p:ph idx="1"/>
          </p:nvPr>
        </p:nvSpPr>
        <p:spPr>
          <a:xfrm>
            <a:off x="854176" y="1268414"/>
            <a:ext cx="8135937" cy="866775"/>
          </a:xfrm>
          <a:ln/>
        </p:spPr>
        <p:txBody>
          <a:bodyPr/>
          <a:lstStyle/>
          <a:p>
            <a:pPr marL="0" indent="0">
              <a:buNone/>
            </a:pPr>
            <a:r>
              <a:rPr lang="zh-CN" altLang="en-US" b="1" dirty="0">
                <a:solidFill>
                  <a:schemeClr val="bg1"/>
                </a:solidFill>
                <a:latin typeface="黑体" panose="02010609060101010101" pitchFamily="49" charset="-122"/>
                <a:ea typeface="黑体" panose="02010609060101010101" pitchFamily="49" charset="-122"/>
              </a:rPr>
              <a:t>储蓄：一个国家或地区一定时期内，居民个人或家庭收入中未用于消费的部分。</a:t>
            </a:r>
          </a:p>
        </p:txBody>
      </p:sp>
      <p:sp>
        <p:nvSpPr>
          <p:cNvPr id="6" name="Rectangle 4">
            <a:extLst>
              <a:ext uri="{FF2B5EF4-FFF2-40B4-BE49-F238E27FC236}">
                <a16:creationId xmlns:a16="http://schemas.microsoft.com/office/drawing/2014/main" id="{15C9B9FA-4307-417C-8962-9B2CBC152D3B}"/>
              </a:ext>
            </a:extLst>
          </p:cNvPr>
          <p:cNvSpPr>
            <a:spLocks noChangeArrowheads="1"/>
          </p:cNvSpPr>
          <p:nvPr/>
        </p:nvSpPr>
        <p:spPr bwMode="auto">
          <a:xfrm>
            <a:off x="854176" y="2349501"/>
            <a:ext cx="8135937" cy="936625"/>
          </a:xfrm>
          <a:prstGeom prst="rect">
            <a:avLst/>
          </a:prstGeom>
          <a:noFill/>
          <a:ln w="76200" cmpd="tri">
            <a:noFill/>
            <a:miter lim="800000"/>
            <a:headEnd/>
            <a:tailEnd/>
          </a:ln>
          <a:effec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l"/>
            </a:pPr>
            <a:r>
              <a:rPr lang="zh-CN" altLang="en-US" b="1" dirty="0">
                <a:latin typeface="黑体" panose="02010609060101010101" pitchFamily="49" charset="-122"/>
                <a:ea typeface="黑体" panose="02010609060101010101" pitchFamily="49" charset="-122"/>
              </a:rPr>
              <a:t>储蓄函数：指储蓄与决定储蓄的各种因素之间的依存关系。</a:t>
            </a:r>
            <a:r>
              <a:rPr lang="zh-CN" altLang="en-US" dirty="0">
                <a:solidFill>
                  <a:srgbClr val="FFFF00"/>
                </a:solidFill>
                <a:latin typeface="黑体" panose="02010609060101010101" pitchFamily="49" charset="-122"/>
                <a:ea typeface="黑体" panose="02010609060101010101" pitchFamily="49" charset="-122"/>
              </a:rPr>
              <a:t>（广义上的概念）</a:t>
            </a:r>
            <a:endParaRPr lang="zh-CN" altLang="en-US" b="1" dirty="0">
              <a:solidFill>
                <a:srgbClr val="FFFF00"/>
              </a:solidFill>
              <a:latin typeface="黑体" panose="02010609060101010101" pitchFamily="49" charset="-122"/>
              <a:ea typeface="黑体" panose="02010609060101010101" pitchFamily="49" charset="-122"/>
            </a:endParaRPr>
          </a:p>
        </p:txBody>
      </p:sp>
      <p:sp>
        <p:nvSpPr>
          <p:cNvPr id="7" name="Rectangle 5">
            <a:extLst>
              <a:ext uri="{FF2B5EF4-FFF2-40B4-BE49-F238E27FC236}">
                <a16:creationId xmlns:a16="http://schemas.microsoft.com/office/drawing/2014/main" id="{1203F7EC-00CC-40D6-B900-BEFC764F163A}"/>
              </a:ext>
            </a:extLst>
          </p:cNvPr>
          <p:cNvSpPr>
            <a:spLocks noChangeArrowheads="1"/>
          </p:cNvSpPr>
          <p:nvPr/>
        </p:nvSpPr>
        <p:spPr bwMode="auto">
          <a:xfrm>
            <a:off x="854176" y="3429000"/>
            <a:ext cx="8135937" cy="1441450"/>
          </a:xfrm>
          <a:prstGeom prst="rect">
            <a:avLst/>
          </a:prstGeom>
          <a:noFill/>
          <a:ln w="76200" cmpd="tri">
            <a:noFill/>
            <a:miter lim="800000"/>
            <a:headEnd/>
            <a:tailEnd/>
          </a:ln>
          <a:effec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FF0000"/>
              </a:buClr>
              <a:buFont typeface="Wingdings" panose="05000000000000000000" pitchFamily="2" charset="2"/>
              <a:buChar char="p"/>
            </a:pPr>
            <a:r>
              <a:rPr lang="zh-CN" altLang="en-US" b="1" dirty="0">
                <a:solidFill>
                  <a:schemeClr val="bg1"/>
                </a:solidFill>
                <a:latin typeface="黑体" panose="02010609060101010101" pitchFamily="49" charset="-122"/>
                <a:ea typeface="黑体" panose="02010609060101010101" pitchFamily="49" charset="-122"/>
              </a:rPr>
              <a:t>影响储蓄的因素很多，如收入、分配状况、消费习惯、社会保障体系、利率水平等，</a:t>
            </a:r>
          </a:p>
          <a:p>
            <a:pPr>
              <a:buClr>
                <a:srgbClr val="FF0000"/>
              </a:buClr>
              <a:buFont typeface="Wingdings" panose="05000000000000000000" pitchFamily="2" charset="2"/>
              <a:buChar char="p"/>
            </a:pPr>
            <a:r>
              <a:rPr lang="zh-CN" altLang="en-US" b="1" dirty="0">
                <a:solidFill>
                  <a:schemeClr val="bg1"/>
                </a:solidFill>
                <a:latin typeface="黑体" panose="02010609060101010101" pitchFamily="49" charset="-122"/>
                <a:ea typeface="黑体" panose="02010609060101010101" pitchFamily="49" charset="-122"/>
              </a:rPr>
              <a:t>最重要的是收入水平。</a:t>
            </a:r>
          </a:p>
        </p:txBody>
      </p:sp>
      <p:sp>
        <p:nvSpPr>
          <p:cNvPr id="8" name="Rectangle 7">
            <a:extLst>
              <a:ext uri="{FF2B5EF4-FFF2-40B4-BE49-F238E27FC236}">
                <a16:creationId xmlns:a16="http://schemas.microsoft.com/office/drawing/2014/main" id="{C42327A2-7384-456E-A8E6-5CAEAB65971B}"/>
              </a:ext>
            </a:extLst>
          </p:cNvPr>
          <p:cNvSpPr>
            <a:spLocks noChangeArrowheads="1"/>
          </p:cNvSpPr>
          <p:nvPr/>
        </p:nvSpPr>
        <p:spPr bwMode="auto">
          <a:xfrm>
            <a:off x="854176" y="5013326"/>
            <a:ext cx="8135937" cy="1008063"/>
          </a:xfrm>
          <a:prstGeom prst="rect">
            <a:avLst/>
          </a:prstGeom>
          <a:noFill/>
          <a:ln w="76200">
            <a:noFill/>
            <a:miter lim="800000"/>
            <a:headEnd/>
            <a:tailEnd/>
          </a:ln>
          <a:effec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
                <a:schemeClr val="hlink"/>
              </a:buClr>
              <a:buSzPct val="95000"/>
              <a:buFont typeface="Wingdings" panose="05000000000000000000" pitchFamily="2" charset="2"/>
              <a:buChar char="u"/>
            </a:pPr>
            <a:r>
              <a:rPr lang="zh-CN" altLang="en-US" b="1" dirty="0">
                <a:latin typeface="黑体" panose="02010609060101010101" pitchFamily="49" charset="-122"/>
                <a:ea typeface="黑体" panose="02010609060101010101" pitchFamily="49" charset="-122"/>
              </a:rPr>
              <a:t>凯恩斯储蓄函数：储蓄随着收入增加而增加，这种关系称之为凯恩斯储蓄函数。</a:t>
            </a:r>
            <a:r>
              <a:rPr lang="zh-CN" altLang="en-US" b="1" dirty="0">
                <a:solidFill>
                  <a:srgbClr val="FFFF00"/>
                </a:solidFill>
              </a:rPr>
              <a:t>又被直接称之为储蓄倾向。</a:t>
            </a:r>
          </a:p>
        </p:txBody>
      </p:sp>
    </p:spTree>
    <p:extLst>
      <p:ext uri="{BB962C8B-B14F-4D97-AF65-F5344CB8AC3E}">
        <p14:creationId xmlns:p14="http://schemas.microsoft.com/office/powerpoint/2010/main" val="11264327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9A851590-2452-490E-9082-ECA4CE1A1A5E}"/>
              </a:ext>
            </a:extLst>
          </p:cNvPr>
          <p:cNvSpPr>
            <a:spLocks noGrp="1" noChangeArrowheads="1"/>
          </p:cNvSpPr>
          <p:nvPr>
            <p:ph type="title"/>
          </p:nvPr>
        </p:nvSpPr>
        <p:spPr>
          <a:xfrm>
            <a:off x="585508" y="571636"/>
            <a:ext cx="7198783" cy="5762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t>储蓄函数公式</a:t>
            </a:r>
          </a:p>
        </p:txBody>
      </p:sp>
      <p:sp>
        <p:nvSpPr>
          <p:cNvPr id="5" name="Rectangle 7">
            <a:extLst>
              <a:ext uri="{FF2B5EF4-FFF2-40B4-BE49-F238E27FC236}">
                <a16:creationId xmlns:a16="http://schemas.microsoft.com/office/drawing/2014/main" id="{7AD8EB5A-F048-4139-BEB7-634B1F5AEEE1}"/>
              </a:ext>
            </a:extLst>
          </p:cNvPr>
          <p:cNvSpPr txBox="1">
            <a:spLocks noChangeArrowheads="1"/>
          </p:cNvSpPr>
          <p:nvPr/>
        </p:nvSpPr>
        <p:spPr>
          <a:xfrm>
            <a:off x="513709" y="1508260"/>
            <a:ext cx="4751387" cy="922338"/>
          </a:xfrm>
          <a:prstGeom prst="rect">
            <a:avLst/>
          </a:prstGeom>
          <a:noFill/>
          <a:ln w="57150" cmpd="thickThi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hlink"/>
              </a:buClr>
              <a:buFont typeface="Wingdings" panose="05000000000000000000" pitchFamily="2" charset="2"/>
              <a:buChar char="u"/>
            </a:pPr>
            <a:r>
              <a:rPr lang="en-US" altLang="zh-CN" sz="2000" b="1" dirty="0">
                <a:latin typeface="黑体" panose="02010609060101010101" pitchFamily="49" charset="-122"/>
                <a:ea typeface="黑体" panose="02010609060101010101" pitchFamily="49" charset="-122"/>
              </a:rPr>
              <a:t>s-</a:t>
            </a:r>
            <a:r>
              <a:rPr lang="zh-CN" altLang="en-US" sz="2000" b="1" dirty="0">
                <a:latin typeface="黑体" panose="02010609060101010101" pitchFamily="49" charset="-122"/>
                <a:ea typeface="黑体" panose="02010609060101010101" pitchFamily="49" charset="-122"/>
              </a:rPr>
              <a:t>储蓄，</a:t>
            </a:r>
            <a:r>
              <a:rPr lang="en-US" altLang="zh-CN" sz="2000" b="1" dirty="0">
                <a:latin typeface="黑体" panose="02010609060101010101" pitchFamily="49" charset="-122"/>
                <a:ea typeface="黑体" panose="02010609060101010101" pitchFamily="49" charset="-122"/>
              </a:rPr>
              <a:t>y-</a:t>
            </a:r>
            <a:r>
              <a:rPr lang="zh-CN" altLang="en-US" sz="2000" b="1" dirty="0">
                <a:latin typeface="黑体" panose="02010609060101010101" pitchFamily="49" charset="-122"/>
                <a:ea typeface="黑体" panose="02010609060101010101" pitchFamily="49" charset="-122"/>
              </a:rPr>
              <a:t>收入：</a:t>
            </a:r>
          </a:p>
          <a:p>
            <a:pPr>
              <a:buClr>
                <a:schemeClr val="hlink"/>
              </a:buClr>
              <a:buFont typeface="Wingdings" panose="05000000000000000000" pitchFamily="2" charset="2"/>
              <a:buChar char="u"/>
            </a:pPr>
            <a:r>
              <a:rPr lang="en-US" altLang="zh-CN" sz="2000" b="1" dirty="0">
                <a:latin typeface="黑体" panose="02010609060101010101" pitchFamily="49" charset="-122"/>
                <a:ea typeface="黑体" panose="02010609060101010101" pitchFamily="49" charset="-122"/>
              </a:rPr>
              <a:t>s = s</a:t>
            </a:r>
            <a:r>
              <a:rPr lang="zh-CN" altLang="en-US" sz="2000" b="1" dirty="0">
                <a:latin typeface="黑体" panose="02010609060101010101" pitchFamily="49" charset="-122"/>
                <a:ea typeface="黑体" panose="02010609060101010101" pitchFamily="49" charset="-122"/>
              </a:rPr>
              <a:t>（</a:t>
            </a:r>
            <a:r>
              <a:rPr lang="en-US" altLang="zh-CN" sz="2000" b="1" dirty="0">
                <a:latin typeface="黑体" panose="02010609060101010101" pitchFamily="49" charset="-122"/>
                <a:ea typeface="黑体" panose="02010609060101010101" pitchFamily="49" charset="-122"/>
              </a:rPr>
              <a:t>y</a:t>
            </a:r>
            <a:r>
              <a:rPr lang="zh-CN" altLang="en-US" sz="2000" b="1" dirty="0">
                <a:latin typeface="黑体" panose="02010609060101010101" pitchFamily="49" charset="-122"/>
                <a:ea typeface="黑体" panose="02010609060101010101" pitchFamily="49" charset="-122"/>
              </a:rPr>
              <a:t>）（满足</a:t>
            </a:r>
            <a:r>
              <a:rPr lang="en-US" altLang="zh-CN" sz="2000" b="1" dirty="0">
                <a:latin typeface="黑体" panose="02010609060101010101" pitchFamily="49" charset="-122"/>
                <a:ea typeface="黑体" panose="02010609060101010101" pitchFamily="49" charset="-122"/>
              </a:rPr>
              <a:t>ds / </a:t>
            </a:r>
            <a:r>
              <a:rPr lang="en-US" altLang="zh-CN" sz="2000" b="1" dirty="0" err="1">
                <a:latin typeface="黑体" panose="02010609060101010101" pitchFamily="49" charset="-122"/>
                <a:ea typeface="黑体" panose="02010609060101010101" pitchFamily="49" charset="-122"/>
              </a:rPr>
              <a:t>dy</a:t>
            </a:r>
            <a:r>
              <a:rPr lang="en-US" altLang="zh-CN" sz="2000" b="1" dirty="0">
                <a:latin typeface="黑体" panose="02010609060101010101" pitchFamily="49" charset="-122"/>
                <a:ea typeface="黑体" panose="02010609060101010101" pitchFamily="49" charset="-122"/>
              </a:rPr>
              <a:t> </a:t>
            </a:r>
            <a:r>
              <a:rPr lang="zh-CN" altLang="en-US" sz="2000" b="1" dirty="0">
                <a:latin typeface="黑体" panose="02010609060101010101" pitchFamily="49" charset="-122"/>
                <a:ea typeface="黑体" panose="02010609060101010101" pitchFamily="49" charset="-122"/>
              </a:rPr>
              <a:t>＞ </a:t>
            </a:r>
            <a:r>
              <a:rPr lang="en-US" altLang="zh-CN" sz="2000" b="1" dirty="0">
                <a:latin typeface="黑体" panose="02010609060101010101" pitchFamily="49" charset="-122"/>
                <a:ea typeface="黑体" panose="02010609060101010101" pitchFamily="49" charset="-122"/>
              </a:rPr>
              <a:t>0</a:t>
            </a:r>
            <a:r>
              <a:rPr lang="zh-CN" altLang="en-US" sz="2000" b="1" dirty="0">
                <a:latin typeface="黑体" panose="02010609060101010101" pitchFamily="49" charset="-122"/>
                <a:ea typeface="黑体" panose="02010609060101010101" pitchFamily="49" charset="-122"/>
              </a:rPr>
              <a:t>）</a:t>
            </a:r>
          </a:p>
        </p:txBody>
      </p:sp>
      <p:sp>
        <p:nvSpPr>
          <p:cNvPr id="6" name="Rectangle 11">
            <a:extLst>
              <a:ext uri="{FF2B5EF4-FFF2-40B4-BE49-F238E27FC236}">
                <a16:creationId xmlns:a16="http://schemas.microsoft.com/office/drawing/2014/main" id="{83EAC34D-B7B2-438F-8542-DFF46AF5F14F}"/>
              </a:ext>
            </a:extLst>
          </p:cNvPr>
          <p:cNvSpPr>
            <a:spLocks noChangeArrowheads="1"/>
          </p:cNvSpPr>
          <p:nvPr/>
        </p:nvSpPr>
        <p:spPr bwMode="auto">
          <a:xfrm>
            <a:off x="513709" y="3668848"/>
            <a:ext cx="4751387" cy="2806700"/>
          </a:xfrm>
          <a:prstGeom prst="rect">
            <a:avLst/>
          </a:prstGeom>
          <a:noFill/>
          <a:ln w="762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buClr>
                <a:schemeClr val="hlink"/>
              </a:buClr>
              <a:buSzPct val="95000"/>
              <a:buFont typeface="Wingdings" panose="05000000000000000000" pitchFamily="2" charset="2"/>
              <a:buChar char="u"/>
            </a:pPr>
            <a:r>
              <a:rPr lang="zh-CN" altLang="en-US" b="1" dirty="0"/>
              <a:t>线性储蓄函数</a:t>
            </a:r>
          </a:p>
          <a:p>
            <a:pPr>
              <a:buClr>
                <a:schemeClr val="hlink"/>
              </a:buClr>
              <a:buSzPct val="95000"/>
              <a:buFont typeface="Wingdings" panose="05000000000000000000" pitchFamily="2" charset="2"/>
              <a:buChar char="u"/>
            </a:pPr>
            <a:r>
              <a:rPr lang="en-US" altLang="zh-CN" b="1" dirty="0">
                <a:solidFill>
                  <a:schemeClr val="bg1"/>
                </a:solidFill>
                <a:latin typeface="黑体" panose="02010609060101010101" pitchFamily="49" charset="-122"/>
                <a:ea typeface="黑体" panose="02010609060101010101" pitchFamily="49" charset="-122"/>
              </a:rPr>
              <a:t>c = a + by</a:t>
            </a:r>
            <a:r>
              <a:rPr lang="zh-CN" altLang="en-US" b="1" dirty="0">
                <a:solidFill>
                  <a:schemeClr val="bg1"/>
                </a:solidFill>
                <a:latin typeface="黑体" panose="02010609060101010101" pitchFamily="49" charset="-122"/>
                <a:ea typeface="黑体" panose="02010609060101010101" pitchFamily="49" charset="-122"/>
              </a:rPr>
              <a:t>，代入</a:t>
            </a:r>
            <a:r>
              <a:rPr lang="en-US" altLang="zh-CN" b="1" dirty="0">
                <a:solidFill>
                  <a:schemeClr val="bg1"/>
                </a:solidFill>
                <a:latin typeface="黑体" panose="02010609060101010101" pitchFamily="49" charset="-122"/>
                <a:ea typeface="黑体" panose="02010609060101010101" pitchFamily="49" charset="-122"/>
              </a:rPr>
              <a:t>s = y - c</a:t>
            </a:r>
          </a:p>
          <a:p>
            <a:pPr>
              <a:buClr>
                <a:schemeClr val="hlink"/>
              </a:buClr>
              <a:buSzPct val="95000"/>
              <a:buFont typeface="Wingdings" panose="05000000000000000000" pitchFamily="2" charset="2"/>
              <a:buChar char="u"/>
            </a:pPr>
            <a:r>
              <a:rPr lang="en-US" altLang="zh-CN" b="1" dirty="0">
                <a:solidFill>
                  <a:schemeClr val="bg1"/>
                </a:solidFill>
                <a:latin typeface="黑体" panose="02010609060101010101" pitchFamily="49" charset="-122"/>
                <a:ea typeface="黑体" panose="02010609060101010101" pitchFamily="49" charset="-122"/>
              </a:rPr>
              <a:t>s = y -</a:t>
            </a:r>
            <a:r>
              <a:rPr lang="zh-CN" altLang="en-US" b="1" dirty="0">
                <a:solidFill>
                  <a:schemeClr val="bg1"/>
                </a:solidFill>
                <a:latin typeface="黑体" panose="02010609060101010101" pitchFamily="49" charset="-122"/>
                <a:ea typeface="黑体" panose="02010609060101010101" pitchFamily="49" charset="-122"/>
              </a:rPr>
              <a:t>（</a:t>
            </a:r>
            <a:r>
              <a:rPr lang="en-US" altLang="zh-CN" b="1" dirty="0">
                <a:solidFill>
                  <a:schemeClr val="bg1"/>
                </a:solidFill>
                <a:latin typeface="黑体" panose="02010609060101010101" pitchFamily="49" charset="-122"/>
                <a:ea typeface="黑体" panose="02010609060101010101" pitchFamily="49" charset="-122"/>
              </a:rPr>
              <a:t>a + by</a:t>
            </a:r>
            <a:r>
              <a:rPr lang="zh-CN" altLang="en-US" b="1" dirty="0">
                <a:solidFill>
                  <a:schemeClr val="bg1"/>
                </a:solidFill>
                <a:latin typeface="黑体" panose="02010609060101010101" pitchFamily="49" charset="-122"/>
                <a:ea typeface="黑体" panose="02010609060101010101" pitchFamily="49" charset="-122"/>
              </a:rPr>
              <a:t>），</a:t>
            </a:r>
          </a:p>
          <a:p>
            <a:pPr>
              <a:buClr>
                <a:schemeClr val="hlink"/>
              </a:buClr>
              <a:buSzPct val="95000"/>
              <a:buFont typeface="Wingdings" panose="05000000000000000000" pitchFamily="2" charset="2"/>
              <a:buChar char="u"/>
            </a:pPr>
            <a:r>
              <a:rPr lang="zh-CN" altLang="en-US" b="1" dirty="0">
                <a:solidFill>
                  <a:schemeClr val="bg1"/>
                </a:solidFill>
                <a:latin typeface="黑体" panose="02010609060101010101" pitchFamily="49" charset="-122"/>
                <a:ea typeface="黑体" panose="02010609060101010101" pitchFamily="49" charset="-122"/>
              </a:rPr>
              <a:t>整理：</a:t>
            </a:r>
          </a:p>
          <a:p>
            <a:pPr>
              <a:buClr>
                <a:schemeClr val="hlink"/>
              </a:buClr>
              <a:buSzPct val="95000"/>
              <a:buFont typeface="Wingdings" panose="05000000000000000000" pitchFamily="2" charset="2"/>
              <a:buChar char="u"/>
            </a:pPr>
            <a:r>
              <a:rPr lang="en-US" altLang="zh-CN" b="1" dirty="0">
                <a:solidFill>
                  <a:schemeClr val="bg1"/>
                </a:solidFill>
                <a:latin typeface="黑体" panose="02010609060101010101" pitchFamily="49" charset="-122"/>
                <a:ea typeface="黑体" panose="02010609060101010101" pitchFamily="49" charset="-122"/>
              </a:rPr>
              <a:t>s = - a + (1-b) y </a:t>
            </a:r>
          </a:p>
          <a:p>
            <a:pPr>
              <a:buClr>
                <a:schemeClr val="hlink"/>
              </a:buClr>
              <a:buSzPct val="95000"/>
              <a:buFont typeface="Wingdings" panose="05000000000000000000" pitchFamily="2" charset="2"/>
              <a:buChar char="u"/>
            </a:pPr>
            <a:r>
              <a:rPr lang="zh-CN" altLang="en-US" sz="2000" b="1" dirty="0">
                <a:solidFill>
                  <a:schemeClr val="bg1"/>
                </a:solidFill>
                <a:latin typeface="黑体" panose="02010609060101010101" pitchFamily="49" charset="-122"/>
                <a:ea typeface="黑体" panose="02010609060101010101" pitchFamily="49" charset="-122"/>
              </a:rPr>
              <a:t>（</a:t>
            </a:r>
            <a:r>
              <a:rPr lang="en-US" altLang="zh-CN" sz="2000" b="1" dirty="0">
                <a:solidFill>
                  <a:schemeClr val="bg1"/>
                </a:solidFill>
                <a:latin typeface="黑体" panose="02010609060101010101" pitchFamily="49" charset="-122"/>
                <a:ea typeface="黑体" panose="02010609060101010101" pitchFamily="49" charset="-122"/>
              </a:rPr>
              <a:t>1</a:t>
            </a:r>
            <a:r>
              <a:rPr lang="zh-CN" altLang="en-US" sz="2000" b="1" dirty="0">
                <a:solidFill>
                  <a:schemeClr val="bg1"/>
                </a:solidFill>
                <a:latin typeface="黑体" panose="02010609060101010101" pitchFamily="49" charset="-122"/>
                <a:ea typeface="黑体" panose="02010609060101010101" pitchFamily="49" charset="-122"/>
              </a:rPr>
              <a:t>＞</a:t>
            </a:r>
            <a:r>
              <a:rPr lang="en-US" altLang="zh-CN" sz="2000" b="1" dirty="0">
                <a:solidFill>
                  <a:schemeClr val="bg1"/>
                </a:solidFill>
                <a:latin typeface="黑体" panose="02010609060101010101" pitchFamily="49" charset="-122"/>
                <a:ea typeface="黑体" panose="02010609060101010101" pitchFamily="49" charset="-122"/>
              </a:rPr>
              <a:t>b</a:t>
            </a:r>
            <a:r>
              <a:rPr lang="zh-CN" altLang="en-US" sz="2000" b="1" dirty="0">
                <a:solidFill>
                  <a:schemeClr val="bg1"/>
                </a:solidFill>
                <a:latin typeface="黑体" panose="02010609060101010101" pitchFamily="49" charset="-122"/>
                <a:ea typeface="黑体" panose="02010609060101010101" pitchFamily="49" charset="-122"/>
              </a:rPr>
              <a:t>＞</a:t>
            </a:r>
            <a:r>
              <a:rPr lang="en-US" altLang="zh-CN" sz="2000" b="1" dirty="0">
                <a:solidFill>
                  <a:schemeClr val="bg1"/>
                </a:solidFill>
                <a:latin typeface="黑体" panose="02010609060101010101" pitchFamily="49" charset="-122"/>
                <a:ea typeface="黑体" panose="02010609060101010101" pitchFamily="49" charset="-122"/>
              </a:rPr>
              <a:t>0</a:t>
            </a:r>
            <a:r>
              <a:rPr lang="zh-CN" altLang="en-US" sz="2000" b="1" dirty="0">
                <a:solidFill>
                  <a:schemeClr val="bg1"/>
                </a:solidFill>
                <a:latin typeface="黑体" panose="02010609060101010101" pitchFamily="49" charset="-122"/>
                <a:ea typeface="黑体" panose="02010609060101010101" pitchFamily="49" charset="-122"/>
              </a:rPr>
              <a:t>）</a:t>
            </a:r>
          </a:p>
        </p:txBody>
      </p:sp>
      <p:sp>
        <p:nvSpPr>
          <p:cNvPr id="7" name="Rectangle 12">
            <a:extLst>
              <a:ext uri="{FF2B5EF4-FFF2-40B4-BE49-F238E27FC236}">
                <a16:creationId xmlns:a16="http://schemas.microsoft.com/office/drawing/2014/main" id="{8F7EA800-9F0A-4E73-88B5-134482909003}"/>
              </a:ext>
            </a:extLst>
          </p:cNvPr>
          <p:cNvSpPr>
            <a:spLocks noChangeArrowheads="1"/>
          </p:cNvSpPr>
          <p:nvPr/>
        </p:nvSpPr>
        <p:spPr bwMode="auto">
          <a:xfrm>
            <a:off x="513709" y="2587761"/>
            <a:ext cx="4751387" cy="830997"/>
          </a:xfrm>
          <a:prstGeom prst="rect">
            <a:avLst/>
          </a:prstGeom>
          <a:noFill/>
          <a:ln w="76200" cmpd="tri">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rgbClr val="FF0000"/>
              </a:buClr>
              <a:buSzPct val="95000"/>
              <a:buFont typeface="Wingdings" panose="05000000000000000000" pitchFamily="2" charset="2"/>
              <a:buChar char="p"/>
            </a:pPr>
            <a:r>
              <a:rPr lang="zh-CN" altLang="en-US" b="1"/>
              <a:t>储蓄是收入减消费后的余额，</a:t>
            </a:r>
          </a:p>
          <a:p>
            <a:pPr>
              <a:buClr>
                <a:srgbClr val="FF0000"/>
              </a:buClr>
              <a:buSzPct val="95000"/>
              <a:buFont typeface="Wingdings" panose="05000000000000000000" pitchFamily="2" charset="2"/>
              <a:buChar char="p"/>
            </a:pPr>
            <a:r>
              <a:rPr lang="zh-CN" altLang="en-US" b="1"/>
              <a:t>即</a:t>
            </a:r>
            <a:r>
              <a:rPr lang="en-US" altLang="zh-CN" b="1"/>
              <a:t>s = y - c</a:t>
            </a:r>
          </a:p>
        </p:txBody>
      </p:sp>
      <p:pic>
        <p:nvPicPr>
          <p:cNvPr id="8" name="图片 7">
            <a:extLst>
              <a:ext uri="{FF2B5EF4-FFF2-40B4-BE49-F238E27FC236}">
                <a16:creationId xmlns:a16="http://schemas.microsoft.com/office/drawing/2014/main" id="{93F29558-68B0-4D01-80D7-59F1142D1426}"/>
              </a:ext>
            </a:extLst>
          </p:cNvPr>
          <p:cNvPicPr>
            <a:picLocks noChangeAspect="1"/>
          </p:cNvPicPr>
          <p:nvPr/>
        </p:nvPicPr>
        <p:blipFill>
          <a:blip r:embed="rId2"/>
          <a:stretch>
            <a:fillRect/>
          </a:stretch>
        </p:blipFill>
        <p:spPr>
          <a:xfrm>
            <a:off x="5105568" y="1112813"/>
            <a:ext cx="3642676" cy="4861981"/>
          </a:xfrm>
          <a:prstGeom prst="rect">
            <a:avLst/>
          </a:prstGeom>
        </p:spPr>
      </p:pic>
    </p:spTree>
    <p:extLst>
      <p:ext uri="{BB962C8B-B14F-4D97-AF65-F5344CB8AC3E}">
        <p14:creationId xmlns:p14="http://schemas.microsoft.com/office/powerpoint/2010/main" val="2440636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4">
            <a:extLst>
              <a:ext uri="{FF2B5EF4-FFF2-40B4-BE49-F238E27FC236}">
                <a16:creationId xmlns:a16="http://schemas.microsoft.com/office/drawing/2014/main" id="{CD057B90-4A79-43BA-89D5-D11B17D1EEB3}"/>
              </a:ext>
            </a:extLst>
          </p:cNvPr>
          <p:cNvSpPr>
            <a:spLocks noGrp="1" noChangeArrowheads="1"/>
          </p:cNvSpPr>
          <p:nvPr>
            <p:ph type="title"/>
          </p:nvPr>
        </p:nvSpPr>
        <p:spPr>
          <a:xfrm>
            <a:off x="838200" y="36512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t>储蓄倾向</a:t>
            </a:r>
          </a:p>
        </p:txBody>
      </p:sp>
      <p:sp>
        <p:nvSpPr>
          <p:cNvPr id="5" name="Rectangle 96">
            <a:extLst>
              <a:ext uri="{FF2B5EF4-FFF2-40B4-BE49-F238E27FC236}">
                <a16:creationId xmlns:a16="http://schemas.microsoft.com/office/drawing/2014/main" id="{30EAB981-0CDB-440F-AD0D-DD129134E22C}"/>
              </a:ext>
            </a:extLst>
          </p:cNvPr>
          <p:cNvSpPr>
            <a:spLocks noGrp="1" noChangeArrowheads="1"/>
          </p:cNvSpPr>
          <p:nvPr>
            <p:ph idx="1"/>
          </p:nvPr>
        </p:nvSpPr>
        <p:spPr>
          <a:xfrm>
            <a:off x="838200" y="1258889"/>
            <a:ext cx="5472112" cy="576263"/>
          </a:xfrm>
          <a:noFill/>
          <a:ln/>
        </p:spPr>
        <p:txBody>
          <a:bodyPr/>
          <a:lstStyle/>
          <a:p>
            <a:pPr marL="0" indent="0">
              <a:buNone/>
            </a:pPr>
            <a:r>
              <a:rPr lang="zh-CN" altLang="en-US" dirty="0"/>
              <a:t>储蓄倾向：储蓄与收入的比率。</a:t>
            </a:r>
          </a:p>
        </p:txBody>
      </p:sp>
      <p:sp>
        <p:nvSpPr>
          <p:cNvPr id="6" name="Rectangle 97">
            <a:extLst>
              <a:ext uri="{FF2B5EF4-FFF2-40B4-BE49-F238E27FC236}">
                <a16:creationId xmlns:a16="http://schemas.microsoft.com/office/drawing/2014/main" id="{289FD818-7146-40A3-8513-8CA95028512F}"/>
              </a:ext>
            </a:extLst>
          </p:cNvPr>
          <p:cNvSpPr>
            <a:spLocks noRot="1" noChangeArrowheads="1"/>
          </p:cNvSpPr>
          <p:nvPr/>
        </p:nvSpPr>
        <p:spPr bwMode="auto">
          <a:xfrm>
            <a:off x="756899" y="1916113"/>
            <a:ext cx="8135937" cy="1439862"/>
          </a:xfrm>
          <a:prstGeom prst="rect">
            <a:avLst/>
          </a:prstGeom>
          <a:noFill/>
          <a:ln w="3175" cmpd="tri">
            <a:solidFill>
              <a:schemeClr val="tx1"/>
            </a:solidFill>
            <a:miter lim="800000"/>
            <a:headEnd/>
            <a:tailEnd/>
          </a:ln>
          <a:effec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l"/>
            </a:pPr>
            <a:r>
              <a:rPr lang="zh-CN" altLang="en-US" b="1"/>
              <a:t>平均储蓄倾向：储蓄总量与收入总量的比率</a:t>
            </a:r>
            <a:r>
              <a:rPr lang="en-US" altLang="zh-CN" b="1"/>
              <a:t>, APS</a:t>
            </a:r>
            <a:r>
              <a:rPr lang="zh-CN" altLang="en-US" b="1"/>
              <a:t>。</a:t>
            </a:r>
            <a:r>
              <a:rPr lang="zh-CN" altLang="en-US" b="1" i="1"/>
              <a:t> </a:t>
            </a:r>
          </a:p>
          <a:p>
            <a:pPr>
              <a:buClr>
                <a:srgbClr val="336600"/>
              </a:buClr>
              <a:buSzPct val="95000"/>
              <a:buFont typeface="Wingdings" panose="05000000000000000000" pitchFamily="2" charset="2"/>
              <a:buChar char="l"/>
            </a:pPr>
            <a:r>
              <a:rPr lang="en-US" altLang="zh-CN" b="1" i="1"/>
              <a:t>average  propensity to  save</a:t>
            </a:r>
          </a:p>
          <a:p>
            <a:pPr>
              <a:buClr>
                <a:srgbClr val="336600"/>
              </a:buClr>
              <a:buSzPct val="95000"/>
              <a:buFont typeface="Wingdings" panose="05000000000000000000" pitchFamily="2" charset="2"/>
              <a:buChar char="l"/>
            </a:pPr>
            <a:r>
              <a:rPr lang="zh-CN" altLang="en-US" b="1"/>
              <a:t>储蓄与收入之比＝储蓄</a:t>
            </a:r>
            <a:r>
              <a:rPr lang="en-US" altLang="zh-CN" b="1"/>
              <a:t>/</a:t>
            </a:r>
            <a:r>
              <a:rPr lang="zh-CN" altLang="en-US" b="1"/>
              <a:t>收入  </a:t>
            </a:r>
            <a:r>
              <a:rPr lang="en-US" altLang="zh-CN" b="1"/>
              <a:t>APS = s / y</a:t>
            </a:r>
          </a:p>
        </p:txBody>
      </p:sp>
      <p:sp>
        <p:nvSpPr>
          <p:cNvPr id="7" name="Rectangle 98">
            <a:extLst>
              <a:ext uri="{FF2B5EF4-FFF2-40B4-BE49-F238E27FC236}">
                <a16:creationId xmlns:a16="http://schemas.microsoft.com/office/drawing/2014/main" id="{577B1488-26DA-46DD-B723-D3C896A325BF}"/>
              </a:ext>
            </a:extLst>
          </p:cNvPr>
          <p:cNvSpPr>
            <a:spLocks noRot="1" noChangeArrowheads="1"/>
          </p:cNvSpPr>
          <p:nvPr/>
        </p:nvSpPr>
        <p:spPr bwMode="auto">
          <a:xfrm>
            <a:off x="756899" y="3500439"/>
            <a:ext cx="8135937" cy="935037"/>
          </a:xfrm>
          <a:prstGeom prst="rect">
            <a:avLst/>
          </a:prstGeom>
          <a:noFill/>
          <a:ln w="3175" cmpd="tri">
            <a:solidFill>
              <a:schemeClr val="tx1"/>
            </a:solidFill>
            <a:miter lim="800000"/>
            <a:headEnd/>
            <a:tailEnd/>
          </a:ln>
          <a:effectLst/>
        </p:spPr>
        <p:txBody>
          <a:bodyPr/>
          <a:lstStyle>
            <a:lvl1pPr marL="342900" indent="-342900">
              <a:spcBef>
                <a:spcPct val="20000"/>
              </a:spcBef>
              <a:buClr>
                <a:srgbClr val="422D8D"/>
              </a:buClr>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9pPr>
          </a:lstStyle>
          <a:p>
            <a:pPr>
              <a:lnSpc>
                <a:spcPct val="110000"/>
              </a:lnSpc>
              <a:buClr>
                <a:srgbClr val="336600"/>
              </a:buClr>
              <a:buSzPct val="95000"/>
              <a:buFont typeface="Wingdings" panose="05000000000000000000" pitchFamily="2" charset="2"/>
              <a:buChar char="l"/>
            </a:pPr>
            <a:r>
              <a:rPr lang="zh-CN" altLang="en-US" sz="2400" b="1"/>
              <a:t>收入</a:t>
            </a:r>
            <a:r>
              <a:rPr lang="en-US" altLang="zh-CN" sz="2400" b="1"/>
              <a:t>100</a:t>
            </a:r>
            <a:r>
              <a:rPr lang="zh-CN" altLang="en-US" sz="2400" b="1"/>
              <a:t>元中，</a:t>
            </a:r>
            <a:r>
              <a:rPr lang="en-US" altLang="zh-CN" sz="2400" b="1"/>
              <a:t>80</a:t>
            </a:r>
            <a:r>
              <a:rPr lang="zh-CN" altLang="en-US" sz="2400" b="1"/>
              <a:t>元用于消费，其余</a:t>
            </a:r>
            <a:r>
              <a:rPr lang="en-US" altLang="zh-CN" sz="2400" b="1"/>
              <a:t>20</a:t>
            </a:r>
            <a:r>
              <a:rPr lang="zh-CN" altLang="en-US" sz="2400" b="1"/>
              <a:t>元用于储蓄，</a:t>
            </a:r>
            <a:r>
              <a:rPr lang="zh-CN" altLang="en-US" sz="2400" b="1">
                <a:latin typeface="黑体" panose="02010609060101010101" pitchFamily="49" charset="-122"/>
                <a:ea typeface="黑体" panose="02010609060101010101" pitchFamily="49" charset="-122"/>
              </a:rPr>
              <a:t>平均储蓄倾向 </a:t>
            </a:r>
            <a:r>
              <a:rPr lang="en-US" altLang="zh-CN" sz="2400" b="1">
                <a:latin typeface="黑体" panose="02010609060101010101" pitchFamily="49" charset="-122"/>
                <a:ea typeface="黑体" panose="02010609060101010101" pitchFamily="49" charset="-122"/>
              </a:rPr>
              <a:t>APS =</a:t>
            </a:r>
            <a:r>
              <a:rPr lang="en-US" altLang="zh-CN" b="1"/>
              <a:t>s / y </a:t>
            </a:r>
            <a:r>
              <a:rPr lang="en-US" altLang="zh-CN" sz="2400" b="1">
                <a:latin typeface="黑体" panose="02010609060101010101" pitchFamily="49" charset="-122"/>
                <a:ea typeface="黑体" panose="02010609060101010101" pitchFamily="49" charset="-122"/>
              </a:rPr>
              <a:t>= </a:t>
            </a:r>
            <a:r>
              <a:rPr lang="en-US" altLang="zh-CN" sz="2400" b="1"/>
              <a:t>0.2</a:t>
            </a:r>
          </a:p>
        </p:txBody>
      </p:sp>
      <p:sp>
        <p:nvSpPr>
          <p:cNvPr id="8" name="Rectangle 99">
            <a:extLst>
              <a:ext uri="{FF2B5EF4-FFF2-40B4-BE49-F238E27FC236}">
                <a16:creationId xmlns:a16="http://schemas.microsoft.com/office/drawing/2014/main" id="{BC6DF0DD-9BDD-41A0-9923-CA904F3A9EE9}"/>
              </a:ext>
            </a:extLst>
          </p:cNvPr>
          <p:cNvSpPr>
            <a:spLocks noRot="1" noChangeArrowheads="1"/>
          </p:cNvSpPr>
          <p:nvPr/>
        </p:nvSpPr>
        <p:spPr bwMode="auto">
          <a:xfrm>
            <a:off x="756899" y="4581526"/>
            <a:ext cx="8207375" cy="1439863"/>
          </a:xfrm>
          <a:prstGeom prst="rect">
            <a:avLst/>
          </a:prstGeom>
          <a:noFill/>
          <a:ln w="3175">
            <a:solidFill>
              <a:schemeClr val="tx1"/>
            </a:solidFill>
            <a:miter lim="800000"/>
            <a:headEnd/>
            <a:tailEnd/>
          </a:ln>
          <a:effectLst/>
        </p:spPr>
        <p:txBody>
          <a:bodyPr/>
          <a:lstStyle>
            <a:lvl1pPr marL="342900" indent="-342900">
              <a:spcBef>
                <a:spcPct val="20000"/>
              </a:spcBef>
              <a:buClr>
                <a:srgbClr val="422D8D"/>
              </a:buClr>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9pPr>
          </a:lstStyle>
          <a:p>
            <a:pPr>
              <a:buFont typeface="Wingdings" panose="05000000000000000000" pitchFamily="2" charset="2"/>
              <a:buNone/>
            </a:pPr>
            <a:r>
              <a:rPr lang="zh-CN" altLang="en-US" sz="2400" b="1">
                <a:solidFill>
                  <a:srgbClr val="CC0000"/>
                </a:solidFill>
                <a:ea typeface="黑体" panose="02010609060101010101" pitchFamily="49" charset="-122"/>
              </a:rPr>
              <a:t>边际储蓄倾向</a:t>
            </a:r>
            <a:r>
              <a:rPr lang="zh-CN" altLang="en-US" sz="2400" b="1">
                <a:solidFill>
                  <a:srgbClr val="000066"/>
                </a:solidFill>
              </a:rPr>
              <a:t>：</a:t>
            </a:r>
            <a:r>
              <a:rPr lang="en-US" altLang="zh-CN" sz="2400" b="1">
                <a:solidFill>
                  <a:srgbClr val="000066"/>
                </a:solidFill>
              </a:rPr>
              <a:t>MPS  </a:t>
            </a:r>
            <a:r>
              <a:rPr lang="en-US" altLang="zh-CN" sz="2400" b="1" i="1">
                <a:solidFill>
                  <a:srgbClr val="CB5323"/>
                </a:solidFill>
              </a:rPr>
              <a:t>marginal</a:t>
            </a:r>
            <a:r>
              <a:rPr lang="en-US" altLang="zh-CN" sz="2400" b="1">
                <a:solidFill>
                  <a:srgbClr val="000066"/>
                </a:solidFill>
              </a:rPr>
              <a:t> </a:t>
            </a:r>
            <a:r>
              <a:rPr lang="en-US" altLang="zh-CN" sz="2400" b="1" i="1">
                <a:solidFill>
                  <a:srgbClr val="CB5323"/>
                </a:solidFill>
              </a:rPr>
              <a:t>propensity to  save</a:t>
            </a:r>
          </a:p>
          <a:p>
            <a:pPr>
              <a:buClr>
                <a:schemeClr val="hlink"/>
              </a:buClr>
              <a:buSzPct val="95000"/>
              <a:buFont typeface="Wingdings" panose="05000000000000000000" pitchFamily="2" charset="2"/>
              <a:buChar char="u"/>
            </a:pPr>
            <a:r>
              <a:rPr lang="zh-CN" altLang="en-US" sz="2400" b="1">
                <a:solidFill>
                  <a:srgbClr val="000066"/>
                </a:solidFill>
              </a:rPr>
              <a:t>每增减</a:t>
            </a:r>
            <a:r>
              <a:rPr lang="en-US" altLang="zh-CN" sz="2400" b="1">
                <a:solidFill>
                  <a:srgbClr val="000066"/>
                </a:solidFill>
              </a:rPr>
              <a:t>1</a:t>
            </a:r>
            <a:r>
              <a:rPr lang="zh-CN" altLang="en-US" sz="2400" b="1">
                <a:solidFill>
                  <a:srgbClr val="000066"/>
                </a:solidFill>
              </a:rPr>
              <a:t>元国民收入所带来的储蓄的变化。</a:t>
            </a:r>
          </a:p>
          <a:p>
            <a:pPr>
              <a:buClr>
                <a:schemeClr val="hlink"/>
              </a:buClr>
              <a:buSzPct val="95000"/>
              <a:buFont typeface="Wingdings" panose="05000000000000000000" pitchFamily="2" charset="2"/>
              <a:buChar char="u"/>
            </a:pPr>
            <a:r>
              <a:rPr lang="zh-CN" altLang="en-US" sz="2400" b="1">
                <a:solidFill>
                  <a:srgbClr val="000000"/>
                </a:solidFill>
                <a:latin typeface="黑体" panose="02010609060101010101" pitchFamily="49" charset="-122"/>
                <a:ea typeface="黑体" panose="02010609060101010101" pitchFamily="49" charset="-122"/>
              </a:rPr>
              <a:t>公式：储蓄增量与收入增量的比率 </a:t>
            </a:r>
            <a:r>
              <a:rPr lang="zh-CN" altLang="zh-CN" sz="2400" b="1">
                <a:solidFill>
                  <a:srgbClr val="000066"/>
                </a:solidFill>
              </a:rPr>
              <a:t>MPS=Δs/Δy</a:t>
            </a:r>
            <a:endParaRPr lang="en-US" altLang="zh-CN" sz="2400" b="1">
              <a:solidFill>
                <a:srgbClr val="000066"/>
              </a:solidFill>
            </a:endParaRPr>
          </a:p>
        </p:txBody>
      </p:sp>
    </p:spTree>
    <p:extLst>
      <p:ext uri="{BB962C8B-B14F-4D97-AF65-F5344CB8AC3E}">
        <p14:creationId xmlns:p14="http://schemas.microsoft.com/office/powerpoint/2010/main" val="2989920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6E88632A-783B-41D0-9D95-937BAD1E2BB0}"/>
              </a:ext>
            </a:extLst>
          </p:cNvPr>
          <p:cNvSpPr>
            <a:spLocks noGrp="1" noChangeArrowheads="1"/>
          </p:cNvSpPr>
          <p:nvPr>
            <p:ph type="title"/>
          </p:nvPr>
        </p:nvSpPr>
        <p:spPr>
          <a:xfrm>
            <a:off x="838200" y="36512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t>边际储蓄倾向</a:t>
            </a:r>
            <a:r>
              <a:rPr lang="en-US" altLang="zh-CN" sz="2800" dirty="0"/>
              <a:t>MPS</a:t>
            </a:r>
          </a:p>
        </p:txBody>
      </p:sp>
      <p:sp>
        <p:nvSpPr>
          <p:cNvPr id="5" name="Rectangle 3">
            <a:extLst>
              <a:ext uri="{FF2B5EF4-FFF2-40B4-BE49-F238E27FC236}">
                <a16:creationId xmlns:a16="http://schemas.microsoft.com/office/drawing/2014/main" id="{D6096658-BAC2-4BAB-8023-6A4A09D1A0E9}"/>
              </a:ext>
            </a:extLst>
          </p:cNvPr>
          <p:cNvSpPr>
            <a:spLocks noGrp="1" noChangeArrowheads="1"/>
          </p:cNvSpPr>
          <p:nvPr>
            <p:ph idx="1"/>
          </p:nvPr>
        </p:nvSpPr>
        <p:spPr>
          <a:xfrm>
            <a:off x="351680" y="1274797"/>
            <a:ext cx="8208963" cy="647700"/>
          </a:xfrm>
          <a:noFill/>
          <a:ln w="76200" cmpd="tri">
            <a:noFill/>
          </a:ln>
        </p:spPr>
        <p:txBody>
          <a:bodyPr/>
          <a:lstStyle/>
          <a:p>
            <a:pPr>
              <a:buClr>
                <a:srgbClr val="FF0000"/>
              </a:buClr>
              <a:buFont typeface="Wingdings" panose="05000000000000000000" pitchFamily="2" charset="2"/>
              <a:buChar char="p"/>
            </a:pPr>
            <a:r>
              <a:rPr lang="zh-CN" altLang="en-US" b="1" dirty="0">
                <a:solidFill>
                  <a:schemeClr val="bg1"/>
                </a:solidFill>
                <a:latin typeface="黑体" panose="02010609060101010101" pitchFamily="49" charset="-122"/>
                <a:ea typeface="黑体" panose="02010609060101010101" pitchFamily="49" charset="-122"/>
              </a:rPr>
              <a:t>当</a:t>
            </a:r>
            <a:r>
              <a:rPr lang="en-US" altLang="zh-CN" b="1" dirty="0" err="1">
                <a:solidFill>
                  <a:schemeClr val="bg1"/>
                </a:solidFill>
                <a:latin typeface="黑体" panose="02010609060101010101" pitchFamily="49" charset="-122"/>
                <a:ea typeface="黑体" panose="02010609060101010101" pitchFamily="49" charset="-122"/>
              </a:rPr>
              <a:t>Δs</a:t>
            </a:r>
            <a:r>
              <a:rPr lang="zh-CN" altLang="en-US" b="1" dirty="0">
                <a:solidFill>
                  <a:schemeClr val="bg1"/>
                </a:solidFill>
                <a:latin typeface="黑体" panose="02010609060101010101" pitchFamily="49" charset="-122"/>
                <a:ea typeface="黑体" panose="02010609060101010101" pitchFamily="49" charset="-122"/>
              </a:rPr>
              <a:t>与</a:t>
            </a:r>
            <a:r>
              <a:rPr lang="en-US" altLang="zh-CN" b="1" dirty="0" err="1">
                <a:solidFill>
                  <a:schemeClr val="bg1"/>
                </a:solidFill>
                <a:latin typeface="黑体" panose="02010609060101010101" pitchFamily="49" charset="-122"/>
                <a:ea typeface="黑体" panose="02010609060101010101" pitchFamily="49" charset="-122"/>
              </a:rPr>
              <a:t>Δy</a:t>
            </a:r>
            <a:r>
              <a:rPr lang="zh-CN" altLang="en-US" b="1" dirty="0">
                <a:solidFill>
                  <a:schemeClr val="bg1"/>
                </a:solidFill>
                <a:latin typeface="黑体" panose="02010609060101010101" pitchFamily="49" charset="-122"/>
                <a:ea typeface="黑体" panose="02010609060101010101" pitchFamily="49" charset="-122"/>
              </a:rPr>
              <a:t>趋于无穷小时，</a:t>
            </a:r>
            <a:r>
              <a:rPr lang="en-US" altLang="zh-CN" b="1" dirty="0">
                <a:solidFill>
                  <a:schemeClr val="bg1"/>
                </a:solidFill>
                <a:latin typeface="黑体" panose="02010609060101010101" pitchFamily="49" charset="-122"/>
                <a:ea typeface="黑体" panose="02010609060101010101" pitchFamily="49" charset="-122"/>
              </a:rPr>
              <a:t>MPS = ds/</a:t>
            </a:r>
            <a:r>
              <a:rPr lang="en-US" altLang="zh-CN" b="1" dirty="0" err="1">
                <a:solidFill>
                  <a:schemeClr val="bg1"/>
                </a:solidFill>
                <a:latin typeface="黑体" panose="02010609060101010101" pitchFamily="49" charset="-122"/>
                <a:ea typeface="黑体" panose="02010609060101010101" pitchFamily="49" charset="-122"/>
              </a:rPr>
              <a:t>dy</a:t>
            </a:r>
            <a:endParaRPr lang="en-US" altLang="zh-CN" b="1" dirty="0">
              <a:solidFill>
                <a:schemeClr val="bg1"/>
              </a:solidFill>
              <a:latin typeface="黑体" panose="02010609060101010101" pitchFamily="49" charset="-122"/>
              <a:ea typeface="黑体" panose="02010609060101010101" pitchFamily="49" charset="-122"/>
            </a:endParaRPr>
          </a:p>
        </p:txBody>
      </p:sp>
      <p:sp>
        <p:nvSpPr>
          <p:cNvPr id="6" name="Rectangle 5">
            <a:extLst>
              <a:ext uri="{FF2B5EF4-FFF2-40B4-BE49-F238E27FC236}">
                <a16:creationId xmlns:a16="http://schemas.microsoft.com/office/drawing/2014/main" id="{30641476-A20E-42A3-BCA6-5A656E29BD7E}"/>
              </a:ext>
            </a:extLst>
          </p:cNvPr>
          <p:cNvSpPr>
            <a:spLocks noRot="1" noChangeArrowheads="1"/>
          </p:cNvSpPr>
          <p:nvPr/>
        </p:nvSpPr>
        <p:spPr bwMode="auto">
          <a:xfrm>
            <a:off x="351680" y="3362361"/>
            <a:ext cx="8208963" cy="1152525"/>
          </a:xfrm>
          <a:prstGeom prst="rect">
            <a:avLst/>
          </a:prstGeom>
          <a:noFill/>
          <a:ln w="3175" cmpd="thickThin">
            <a:solidFill>
              <a:schemeClr val="tx1"/>
            </a:solidFill>
            <a:miter lim="800000"/>
            <a:headEnd/>
            <a:tailEnd/>
          </a:ln>
          <a:effectLst/>
        </p:spPr>
        <p:txBody>
          <a:bodyPr/>
          <a:lstStyle>
            <a:lvl1pPr marL="342900" indent="-342900">
              <a:spcBef>
                <a:spcPct val="20000"/>
              </a:spcBef>
              <a:buClr>
                <a:srgbClr val="422D8D"/>
              </a:buClr>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9pPr>
          </a:lstStyle>
          <a:p>
            <a:pPr>
              <a:buClr>
                <a:srgbClr val="FF0000"/>
              </a:buClr>
              <a:buSzPct val="95000"/>
              <a:buFont typeface="Wingdings" panose="05000000000000000000" pitchFamily="2" charset="2"/>
              <a:buChar char="n"/>
            </a:pPr>
            <a:r>
              <a:rPr lang="zh-CN" altLang="en-US" sz="2400" b="1"/>
              <a:t>收入由</a:t>
            </a:r>
            <a:r>
              <a:rPr lang="en-US" altLang="zh-CN" sz="2400" b="1"/>
              <a:t>100</a:t>
            </a:r>
            <a:r>
              <a:rPr lang="zh-CN" altLang="en-US" sz="2400" b="1"/>
              <a:t>元增加到</a:t>
            </a:r>
            <a:r>
              <a:rPr lang="en-US" altLang="zh-CN" sz="2400" b="1"/>
              <a:t>120</a:t>
            </a:r>
            <a:r>
              <a:rPr lang="zh-CN" altLang="en-US" sz="2400" b="1"/>
              <a:t>元，消费由</a:t>
            </a:r>
            <a:r>
              <a:rPr lang="en-US" altLang="zh-CN" sz="2400" b="1"/>
              <a:t>80</a:t>
            </a:r>
            <a:r>
              <a:rPr lang="zh-CN" altLang="en-US" sz="2400" b="1"/>
              <a:t>元增加到</a:t>
            </a:r>
            <a:r>
              <a:rPr lang="en-US" altLang="zh-CN" sz="2400" b="1"/>
              <a:t>94</a:t>
            </a:r>
            <a:r>
              <a:rPr lang="zh-CN" altLang="en-US" sz="2400" b="1"/>
              <a:t>元。 </a:t>
            </a:r>
          </a:p>
          <a:p>
            <a:pPr>
              <a:buClr>
                <a:srgbClr val="FF0000"/>
              </a:buClr>
              <a:buSzPct val="95000"/>
              <a:buFont typeface="Wingdings" panose="05000000000000000000" pitchFamily="2" charset="2"/>
              <a:buChar char="n"/>
            </a:pPr>
            <a:r>
              <a:rPr lang="en-US" altLang="zh-CN" sz="2400" b="1">
                <a:latin typeface="黑体" panose="02010609060101010101" pitchFamily="49" charset="-122"/>
                <a:ea typeface="黑体" panose="02010609060101010101" pitchFamily="49" charset="-122"/>
              </a:rPr>
              <a:t>MPS </a:t>
            </a:r>
            <a:r>
              <a:rPr lang="zh-CN" altLang="en-US" sz="2400" b="1">
                <a:latin typeface="黑体" panose="02010609060101010101" pitchFamily="49" charset="-122"/>
                <a:ea typeface="黑体" panose="02010609060101010101" pitchFamily="49" charset="-122"/>
              </a:rPr>
              <a:t>＝</a:t>
            </a:r>
            <a:r>
              <a:rPr lang="zh-CN" altLang="en-US" sz="2400" b="1">
                <a:latin typeface="黑体" panose="02010609060101010101" pitchFamily="49" charset="-122"/>
                <a:ea typeface="黑体" panose="02010609060101010101" pitchFamily="49" charset="-122"/>
                <a:sym typeface="Webdings" panose="05030102010509060703" pitchFamily="18" charset="2"/>
              </a:rPr>
              <a:t></a:t>
            </a:r>
            <a:r>
              <a:rPr lang="en-US" altLang="zh-CN" sz="2400" b="1">
                <a:latin typeface="黑体" panose="02010609060101010101" pitchFamily="49" charset="-122"/>
                <a:ea typeface="黑体" panose="02010609060101010101" pitchFamily="49" charset="-122"/>
                <a:sym typeface="Webdings" panose="05030102010509060703" pitchFamily="18" charset="2"/>
              </a:rPr>
              <a:t>S/Y</a:t>
            </a:r>
            <a:r>
              <a:rPr lang="zh-CN" altLang="en-US" sz="2400" b="1">
                <a:sym typeface="Webdings" panose="05030102010509060703" pitchFamily="18" charset="2"/>
              </a:rPr>
              <a:t>＝ </a:t>
            </a:r>
            <a:r>
              <a:rPr lang="en-US" altLang="zh-CN" sz="2400" b="1">
                <a:sym typeface="Webdings" panose="05030102010509060703" pitchFamily="18" charset="2"/>
              </a:rPr>
              <a:t>(</a:t>
            </a:r>
            <a:r>
              <a:rPr lang="en-US" altLang="zh-CN" sz="2400" b="1"/>
              <a:t>26-20)/(120-100)</a:t>
            </a:r>
            <a:r>
              <a:rPr lang="zh-CN" altLang="en-US" sz="2400" b="1"/>
              <a:t>＝ </a:t>
            </a:r>
            <a:r>
              <a:rPr lang="en-US" altLang="zh-CN" sz="2400" b="1"/>
              <a:t>0.3</a:t>
            </a:r>
          </a:p>
        </p:txBody>
      </p:sp>
      <p:sp>
        <p:nvSpPr>
          <p:cNvPr id="7" name="Rectangle 10">
            <a:extLst>
              <a:ext uri="{FF2B5EF4-FFF2-40B4-BE49-F238E27FC236}">
                <a16:creationId xmlns:a16="http://schemas.microsoft.com/office/drawing/2014/main" id="{5D470E94-0419-4661-9632-676CFB62DC61}"/>
              </a:ext>
            </a:extLst>
          </p:cNvPr>
          <p:cNvSpPr>
            <a:spLocks noChangeArrowheads="1"/>
          </p:cNvSpPr>
          <p:nvPr/>
        </p:nvSpPr>
        <p:spPr bwMode="auto">
          <a:xfrm>
            <a:off x="351680" y="4946685"/>
            <a:ext cx="8208963" cy="1439862"/>
          </a:xfrm>
          <a:prstGeom prst="rect">
            <a:avLst/>
          </a:prstGeom>
          <a:noFill/>
          <a:ln w="3175" cmpd="thickThin">
            <a:solidFill>
              <a:schemeClr val="tx1"/>
            </a:solidFill>
            <a:miter lim="800000"/>
            <a:headEnd/>
            <a:tailEnd/>
          </a:ln>
          <a:effec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buClr>
                <a:schemeClr val="hlink"/>
              </a:buClr>
              <a:buFont typeface="Wingdings" panose="05000000000000000000" pitchFamily="2" charset="2"/>
              <a:buChar char="u"/>
            </a:pPr>
            <a:r>
              <a:rPr lang="zh-CN" altLang="en-US">
                <a:latin typeface="黑体" panose="02010609060101010101" pitchFamily="49" charset="-122"/>
                <a:ea typeface="黑体" panose="02010609060101010101" pitchFamily="49" charset="-122"/>
              </a:rPr>
              <a:t>储蓄函数为线性时，</a:t>
            </a:r>
            <a:r>
              <a:rPr lang="en-US" altLang="zh-CN">
                <a:latin typeface="黑体" panose="02010609060101010101" pitchFamily="49" charset="-122"/>
                <a:ea typeface="黑体" panose="02010609060101010101" pitchFamily="49" charset="-122"/>
              </a:rPr>
              <a:t>MPS</a:t>
            </a:r>
            <a:r>
              <a:rPr lang="zh-CN" altLang="en-US">
                <a:latin typeface="黑体" panose="02010609060101010101" pitchFamily="49" charset="-122"/>
                <a:ea typeface="黑体" panose="02010609060101010101" pitchFamily="49" charset="-122"/>
              </a:rPr>
              <a:t>为常数（</a:t>
            </a:r>
            <a:r>
              <a:rPr lang="en-US" altLang="zh-CN">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b</a:t>
            </a:r>
            <a:r>
              <a:rPr lang="zh-CN" altLang="en-US">
                <a:latin typeface="黑体" panose="02010609060101010101" pitchFamily="49" charset="-122"/>
                <a:ea typeface="黑体" panose="02010609060101010101" pitchFamily="49" charset="-122"/>
              </a:rPr>
              <a:t>）。</a:t>
            </a:r>
          </a:p>
          <a:p>
            <a:pPr>
              <a:buClr>
                <a:schemeClr val="hlink"/>
              </a:buClr>
              <a:buFont typeface="Wingdings" panose="05000000000000000000" pitchFamily="2" charset="2"/>
              <a:buChar char="u"/>
            </a:pPr>
            <a:r>
              <a:rPr lang="zh-CN" altLang="en-US">
                <a:latin typeface="黑体" panose="02010609060101010101" pitchFamily="49" charset="-122"/>
                <a:ea typeface="黑体" panose="02010609060101010101" pitchFamily="49" charset="-122"/>
              </a:rPr>
              <a:t>非线性时，</a:t>
            </a:r>
            <a:r>
              <a:rPr lang="en-US" altLang="zh-CN">
                <a:latin typeface="黑体" panose="02010609060101010101" pitchFamily="49" charset="-122"/>
                <a:ea typeface="黑体" panose="02010609060101010101" pitchFamily="49" charset="-122"/>
              </a:rPr>
              <a:t>MPS</a:t>
            </a:r>
            <a:r>
              <a:rPr lang="zh-CN" altLang="en-US">
                <a:latin typeface="黑体" panose="02010609060101010101" pitchFamily="49" charset="-122"/>
                <a:ea typeface="黑体" panose="02010609060101010101" pitchFamily="49" charset="-122"/>
              </a:rPr>
              <a:t>有随收入递增趋势。</a:t>
            </a:r>
          </a:p>
          <a:p>
            <a:pPr>
              <a:buClr>
                <a:schemeClr val="hlink"/>
              </a:buClr>
              <a:buSzPct val="95000"/>
              <a:buFont typeface="Wingdings" panose="05000000000000000000" pitchFamily="2" charset="2"/>
              <a:buChar char="u"/>
            </a:pPr>
            <a:r>
              <a:rPr lang="en-US" altLang="zh-CN">
                <a:latin typeface="黑体" panose="02010609060101010101" pitchFamily="49" charset="-122"/>
                <a:ea typeface="黑体" panose="02010609060101010101" pitchFamily="49" charset="-122"/>
              </a:rPr>
              <a:t>MPS</a:t>
            </a:r>
            <a:r>
              <a:rPr lang="zh-CN" altLang="en-US">
                <a:latin typeface="黑体" panose="02010609060101010101" pitchFamily="49" charset="-122"/>
                <a:ea typeface="黑体" panose="02010609060101010101" pitchFamily="49" charset="-122"/>
              </a:rPr>
              <a:t>和</a:t>
            </a:r>
            <a:r>
              <a:rPr lang="en-US" altLang="zh-CN">
                <a:latin typeface="黑体" panose="02010609060101010101" pitchFamily="49" charset="-122"/>
                <a:ea typeface="黑体" panose="02010609060101010101" pitchFamily="49" charset="-122"/>
              </a:rPr>
              <a:t>APS</a:t>
            </a:r>
            <a:r>
              <a:rPr lang="zh-CN" altLang="en-US">
                <a:latin typeface="黑体" panose="02010609060101010101" pitchFamily="49" charset="-122"/>
                <a:ea typeface="黑体" panose="02010609060101010101" pitchFamily="49" charset="-122"/>
              </a:rPr>
              <a:t>都递增，但是</a:t>
            </a:r>
            <a:r>
              <a:rPr lang="en-US" altLang="zh-CN">
                <a:latin typeface="黑体" panose="02010609060101010101" pitchFamily="49" charset="-122"/>
                <a:ea typeface="黑体" panose="02010609060101010101" pitchFamily="49" charset="-122"/>
              </a:rPr>
              <a:t>MPS&gt;APS</a:t>
            </a:r>
            <a:r>
              <a:rPr lang="zh-CN" altLang="en-US">
                <a:latin typeface="黑体" panose="02010609060101010101" pitchFamily="49" charset="-122"/>
                <a:ea typeface="黑体" panose="02010609060101010101" pitchFamily="49" charset="-122"/>
              </a:rPr>
              <a:t>。</a:t>
            </a:r>
          </a:p>
        </p:txBody>
      </p:sp>
      <p:sp>
        <p:nvSpPr>
          <p:cNvPr id="8" name="Rectangle 11">
            <a:extLst>
              <a:ext uri="{FF2B5EF4-FFF2-40B4-BE49-F238E27FC236}">
                <a16:creationId xmlns:a16="http://schemas.microsoft.com/office/drawing/2014/main" id="{ACC48783-01F8-4640-A044-D6A1668AABF4}"/>
              </a:ext>
            </a:extLst>
          </p:cNvPr>
          <p:cNvSpPr>
            <a:spLocks noChangeArrowheads="1"/>
          </p:cNvSpPr>
          <p:nvPr/>
        </p:nvSpPr>
        <p:spPr bwMode="auto">
          <a:xfrm>
            <a:off x="351680" y="2138398"/>
            <a:ext cx="4608513" cy="646331"/>
          </a:xfrm>
          <a:prstGeom prst="rect">
            <a:avLst/>
          </a:prstGeom>
          <a:noFill/>
          <a:ln w="762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hlink"/>
              </a:buClr>
              <a:buSzPct val="95000"/>
              <a:buFont typeface="Wingdings" panose="05000000000000000000" pitchFamily="2" charset="2"/>
              <a:buChar char="u"/>
            </a:pPr>
            <a:r>
              <a:rPr lang="en-US" altLang="zh-CN" b="1" dirty="0">
                <a:solidFill>
                  <a:schemeClr val="bg1"/>
                </a:solidFill>
              </a:rPr>
              <a:t>MPS</a:t>
            </a:r>
            <a:r>
              <a:rPr lang="zh-CN" altLang="en-US" b="1" dirty="0">
                <a:solidFill>
                  <a:schemeClr val="bg1"/>
                </a:solidFill>
              </a:rPr>
              <a:t>是储蓄函数的一阶导数；</a:t>
            </a:r>
          </a:p>
          <a:p>
            <a:pPr>
              <a:buClr>
                <a:schemeClr val="hlink"/>
              </a:buClr>
              <a:buSzPct val="95000"/>
              <a:buFont typeface="Wingdings" panose="05000000000000000000" pitchFamily="2" charset="2"/>
              <a:buChar char="u"/>
            </a:pPr>
            <a:r>
              <a:rPr lang="zh-CN" altLang="en-US" b="1" dirty="0">
                <a:solidFill>
                  <a:schemeClr val="bg1"/>
                </a:solidFill>
              </a:rPr>
              <a:t>储蓄曲线上任一点切线斜率</a:t>
            </a:r>
            <a:r>
              <a:rPr lang="zh-CN" altLang="en-US" b="1" dirty="0">
                <a:solidFill>
                  <a:srgbClr val="000000"/>
                </a:solidFill>
              </a:rPr>
              <a:t>。</a:t>
            </a:r>
          </a:p>
        </p:txBody>
      </p:sp>
    </p:spTree>
    <p:extLst>
      <p:ext uri="{BB962C8B-B14F-4D97-AF65-F5344CB8AC3E}">
        <p14:creationId xmlns:p14="http://schemas.microsoft.com/office/powerpoint/2010/main" val="3984927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B8B99D2-DFBE-41DF-9838-ABB5DCC64167}"/>
              </a:ext>
            </a:extLst>
          </p:cNvPr>
          <p:cNvSpPr>
            <a:spLocks noGrp="1" noChangeArrowheads="1"/>
          </p:cNvSpPr>
          <p:nvPr>
            <p:ph type="title"/>
          </p:nvPr>
        </p:nvSpPr>
        <p:spPr>
          <a:xfrm>
            <a:off x="838200" y="36512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t>消费倾向与储蓄倾向</a:t>
            </a:r>
          </a:p>
        </p:txBody>
      </p:sp>
      <p:sp>
        <p:nvSpPr>
          <p:cNvPr id="5" name="Rectangle 3">
            <a:extLst>
              <a:ext uri="{FF2B5EF4-FFF2-40B4-BE49-F238E27FC236}">
                <a16:creationId xmlns:a16="http://schemas.microsoft.com/office/drawing/2014/main" id="{8CEE63AD-00D8-4B10-A3CE-078C9346C483}"/>
              </a:ext>
            </a:extLst>
          </p:cNvPr>
          <p:cNvSpPr>
            <a:spLocks noGrp="1" noChangeArrowheads="1"/>
          </p:cNvSpPr>
          <p:nvPr>
            <p:ph idx="1"/>
          </p:nvPr>
        </p:nvSpPr>
        <p:spPr>
          <a:xfrm>
            <a:off x="474797" y="1196976"/>
            <a:ext cx="8207375" cy="1439863"/>
          </a:xfrm>
          <a:blipFill dpi="0" rotWithShape="0">
            <a:blip r:embed="rId2"/>
            <a:srcRect/>
            <a:tile tx="0" ty="0" sx="100000" sy="100000" flip="none" algn="tl"/>
          </a:blipFill>
          <a:ln w="76200" cmpd="sng">
            <a:solidFill>
              <a:srgbClr val="336600"/>
            </a:solidFill>
          </a:ln>
        </p:spPr>
        <p:txBody>
          <a:bodyPr>
            <a:normAutofit lnSpcReduction="10000"/>
          </a:bodyPr>
          <a:lstStyle/>
          <a:p>
            <a:r>
              <a:rPr lang="zh-CN" altLang="en-US" b="1" dirty="0">
                <a:solidFill>
                  <a:srgbClr val="000000"/>
                </a:solidFill>
                <a:latin typeface="黑体" panose="02010609060101010101" pitchFamily="49" charset="-122"/>
                <a:ea typeface="黑体" panose="02010609060101010101" pitchFamily="49" charset="-122"/>
              </a:rPr>
              <a:t>对收入来说，储蓄与消费为互补函数，</a:t>
            </a:r>
            <a:r>
              <a:rPr lang="en-US" altLang="zh-CN" b="1" dirty="0">
                <a:solidFill>
                  <a:srgbClr val="000000"/>
                </a:solidFill>
                <a:latin typeface="黑体" panose="02010609060101010101" pitchFamily="49" charset="-122"/>
                <a:ea typeface="黑体" panose="02010609060101010101" pitchFamily="49" charset="-122"/>
              </a:rPr>
              <a:t>y = c + s</a:t>
            </a:r>
            <a:r>
              <a:rPr lang="zh-CN" altLang="en-US" b="1" dirty="0">
                <a:solidFill>
                  <a:srgbClr val="000000"/>
                </a:solidFill>
                <a:latin typeface="黑体" panose="02010609060101010101" pitchFamily="49" charset="-122"/>
                <a:ea typeface="黑体" panose="02010609060101010101" pitchFamily="49" charset="-122"/>
              </a:rPr>
              <a:t>，</a:t>
            </a:r>
          </a:p>
          <a:p>
            <a:r>
              <a:rPr lang="zh-CN" altLang="en-US" b="1" dirty="0">
                <a:solidFill>
                  <a:srgbClr val="000000"/>
                </a:solidFill>
                <a:latin typeface="黑体" panose="02010609060101010101" pitchFamily="49" charset="-122"/>
                <a:ea typeface="黑体" panose="02010609060101010101" pitchFamily="49" charset="-122"/>
              </a:rPr>
              <a:t>两边同除</a:t>
            </a:r>
            <a:r>
              <a:rPr lang="en-US" altLang="zh-CN" b="1" dirty="0">
                <a:solidFill>
                  <a:srgbClr val="000000"/>
                </a:solidFill>
                <a:latin typeface="黑体" panose="02010609060101010101" pitchFamily="49" charset="-122"/>
                <a:ea typeface="黑体" panose="02010609060101010101" pitchFamily="49" charset="-122"/>
              </a:rPr>
              <a:t>Y</a:t>
            </a:r>
            <a:r>
              <a:rPr lang="zh-CN" altLang="en-US" b="1" dirty="0">
                <a:solidFill>
                  <a:srgbClr val="000000"/>
                </a:solidFill>
                <a:latin typeface="黑体" panose="02010609060101010101" pitchFamily="49" charset="-122"/>
                <a:ea typeface="黑体" panose="02010609060101010101" pitchFamily="49" charset="-122"/>
              </a:rPr>
              <a:t>有 </a:t>
            </a:r>
            <a:r>
              <a:rPr lang="en-US" altLang="zh-CN" b="1" dirty="0">
                <a:solidFill>
                  <a:srgbClr val="000000"/>
                </a:solidFill>
                <a:latin typeface="黑体" panose="02010609060101010101" pitchFamily="49" charset="-122"/>
                <a:ea typeface="黑体" panose="02010609060101010101" pitchFamily="49" charset="-122"/>
              </a:rPr>
              <a:t>y/y = c/y + s/y</a:t>
            </a:r>
            <a:r>
              <a:rPr lang="zh-CN" altLang="en-US" b="1" dirty="0">
                <a:solidFill>
                  <a:srgbClr val="000000"/>
                </a:solidFill>
                <a:latin typeface="黑体" panose="02010609060101010101" pitchFamily="49" charset="-122"/>
                <a:ea typeface="黑体" panose="02010609060101010101" pitchFamily="49" charset="-122"/>
              </a:rPr>
              <a:t>，</a:t>
            </a:r>
          </a:p>
          <a:p>
            <a:r>
              <a:rPr lang="zh-CN" altLang="en-US" b="1" dirty="0">
                <a:solidFill>
                  <a:srgbClr val="000000"/>
                </a:solidFill>
                <a:latin typeface="黑体" panose="02010609060101010101" pitchFamily="49" charset="-122"/>
                <a:ea typeface="黑体" panose="02010609060101010101" pitchFamily="49" charset="-122"/>
              </a:rPr>
              <a:t>即： </a:t>
            </a:r>
            <a:r>
              <a:rPr lang="en-US" altLang="zh-CN" b="1" dirty="0">
                <a:solidFill>
                  <a:srgbClr val="000000"/>
                </a:solidFill>
                <a:latin typeface="黑体" panose="02010609060101010101" pitchFamily="49" charset="-122"/>
                <a:ea typeface="黑体" panose="02010609060101010101" pitchFamily="49" charset="-122"/>
              </a:rPr>
              <a:t>APC + APS = 1</a:t>
            </a:r>
          </a:p>
        </p:txBody>
      </p:sp>
      <p:sp>
        <p:nvSpPr>
          <p:cNvPr id="6" name="Rectangle 5">
            <a:extLst>
              <a:ext uri="{FF2B5EF4-FFF2-40B4-BE49-F238E27FC236}">
                <a16:creationId xmlns:a16="http://schemas.microsoft.com/office/drawing/2014/main" id="{09922A10-9568-4AF8-8481-ABD7A167B13C}"/>
              </a:ext>
            </a:extLst>
          </p:cNvPr>
          <p:cNvSpPr>
            <a:spLocks noChangeArrowheads="1"/>
          </p:cNvSpPr>
          <p:nvPr/>
        </p:nvSpPr>
        <p:spPr bwMode="auto">
          <a:xfrm>
            <a:off x="474795" y="2924176"/>
            <a:ext cx="4573859" cy="792163"/>
          </a:xfrm>
          <a:prstGeom prst="rect">
            <a:avLst/>
          </a:prstGeom>
          <a:noFill/>
          <a:ln w="38100" cmpd="dbl">
            <a:noFill/>
            <a:miter lim="800000"/>
            <a:headEnd/>
            <a:tailEnd/>
          </a:ln>
          <a:effec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buClr>
                <a:srgbClr val="336600"/>
              </a:buClr>
              <a:buSzPct val="95000"/>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同理， 有</a:t>
            </a:r>
            <a:r>
              <a:rPr lang="en-US" altLang="zh-CN" b="1" dirty="0" err="1">
                <a:latin typeface="黑体" panose="02010609060101010101" pitchFamily="49" charset="-122"/>
                <a:ea typeface="黑体" panose="02010609060101010101" pitchFamily="49" charset="-122"/>
              </a:rPr>
              <a:t>Δy</a:t>
            </a:r>
            <a:r>
              <a:rPr lang="en-US" altLang="zh-CN" b="1" dirty="0">
                <a:latin typeface="黑体" panose="02010609060101010101" pitchFamily="49" charset="-122"/>
                <a:ea typeface="黑体" panose="02010609060101010101" pitchFamily="49" charset="-122"/>
              </a:rPr>
              <a:t> = </a:t>
            </a:r>
            <a:r>
              <a:rPr lang="en-US" altLang="zh-CN" b="1" dirty="0" err="1">
                <a:latin typeface="黑体" panose="02010609060101010101" pitchFamily="49" charset="-122"/>
                <a:ea typeface="黑体" panose="02010609060101010101" pitchFamily="49" charset="-122"/>
              </a:rPr>
              <a:t>Δc</a:t>
            </a:r>
            <a:r>
              <a:rPr lang="en-US" altLang="zh-CN" b="1" dirty="0">
                <a:latin typeface="黑体" panose="02010609060101010101" pitchFamily="49" charset="-122"/>
                <a:ea typeface="黑体" panose="02010609060101010101" pitchFamily="49" charset="-122"/>
              </a:rPr>
              <a:t> + </a:t>
            </a:r>
            <a:r>
              <a:rPr lang="en-US" altLang="zh-CN" b="1" dirty="0" err="1">
                <a:latin typeface="黑体" panose="02010609060101010101" pitchFamily="49" charset="-122"/>
                <a:ea typeface="黑体" panose="02010609060101010101" pitchFamily="49" charset="-122"/>
              </a:rPr>
              <a:t>Δs</a:t>
            </a:r>
            <a:r>
              <a:rPr lang="zh-CN" altLang="en-US" b="1" dirty="0">
                <a:latin typeface="黑体" panose="02010609060101010101" pitchFamily="49" charset="-122"/>
                <a:ea typeface="黑体" panose="02010609060101010101" pitchFamily="49" charset="-122"/>
              </a:rPr>
              <a:t>；</a:t>
            </a:r>
          </a:p>
        </p:txBody>
      </p:sp>
      <p:sp>
        <p:nvSpPr>
          <p:cNvPr id="7" name="Rectangle 47">
            <a:extLst>
              <a:ext uri="{FF2B5EF4-FFF2-40B4-BE49-F238E27FC236}">
                <a16:creationId xmlns:a16="http://schemas.microsoft.com/office/drawing/2014/main" id="{7E93EC2B-7DF3-433E-A9FE-91238C1349EE}"/>
              </a:ext>
            </a:extLst>
          </p:cNvPr>
          <p:cNvSpPr>
            <a:spLocks noChangeArrowheads="1"/>
          </p:cNvSpPr>
          <p:nvPr/>
        </p:nvSpPr>
        <p:spPr bwMode="auto">
          <a:xfrm>
            <a:off x="474796" y="3716339"/>
            <a:ext cx="4032250" cy="1296987"/>
          </a:xfrm>
          <a:prstGeom prst="rect">
            <a:avLst/>
          </a:prstGeom>
          <a:noFill/>
          <a:ln w="38100" cmpd="dbl" algn="ctr">
            <a:noFill/>
            <a:miter lim="800000"/>
            <a:headEnd/>
            <a:tailEnd/>
          </a:ln>
          <a:effec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buClr>
                <a:srgbClr val="336600"/>
              </a:buClr>
              <a:buSzPct val="95000"/>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两边同除</a:t>
            </a:r>
            <a:r>
              <a:rPr lang="en-US" altLang="zh-CN" b="1" dirty="0" err="1">
                <a:latin typeface="黑体" panose="02010609060101010101" pitchFamily="49" charset="-122"/>
                <a:ea typeface="黑体" panose="02010609060101010101" pitchFamily="49" charset="-122"/>
              </a:rPr>
              <a:t>Δy</a:t>
            </a:r>
            <a:r>
              <a:rPr lang="zh-CN" altLang="en-US" b="1" dirty="0">
                <a:latin typeface="黑体" panose="02010609060101010101" pitchFamily="49" charset="-122"/>
                <a:ea typeface="黑体" panose="02010609060101010101" pitchFamily="49" charset="-122"/>
              </a:rPr>
              <a:t>，则</a:t>
            </a:r>
          </a:p>
          <a:p>
            <a:pPr>
              <a:lnSpc>
                <a:spcPct val="90000"/>
              </a:lnSpc>
              <a:buClr>
                <a:srgbClr val="336600"/>
              </a:buClr>
              <a:buSzPct val="95000"/>
              <a:buFont typeface="Wingdings" panose="05000000000000000000" pitchFamily="2" charset="2"/>
              <a:buChar char="p"/>
            </a:pPr>
            <a:r>
              <a:rPr lang="en-US" altLang="zh-CN" b="1" dirty="0" err="1">
                <a:latin typeface="黑体" panose="02010609060101010101" pitchFamily="49" charset="-122"/>
                <a:ea typeface="黑体" panose="02010609060101010101" pitchFamily="49" charset="-122"/>
              </a:rPr>
              <a:t>Δy</a:t>
            </a:r>
            <a:r>
              <a:rPr lang="en-US" altLang="zh-CN" b="1" dirty="0">
                <a:latin typeface="黑体" panose="02010609060101010101" pitchFamily="49" charset="-122"/>
                <a:ea typeface="黑体" panose="02010609060101010101" pitchFamily="49" charset="-122"/>
              </a:rPr>
              <a:t>/</a:t>
            </a:r>
            <a:r>
              <a:rPr lang="en-US" altLang="zh-CN" b="1" dirty="0" err="1">
                <a:latin typeface="黑体" panose="02010609060101010101" pitchFamily="49" charset="-122"/>
                <a:ea typeface="黑体" panose="02010609060101010101" pitchFamily="49" charset="-122"/>
              </a:rPr>
              <a:t>Δy</a:t>
            </a:r>
            <a:r>
              <a:rPr lang="en-US" altLang="zh-CN" b="1" dirty="0">
                <a:latin typeface="黑体" panose="02010609060101010101" pitchFamily="49" charset="-122"/>
                <a:ea typeface="黑体" panose="02010609060101010101" pitchFamily="49" charset="-122"/>
              </a:rPr>
              <a:t> = </a:t>
            </a:r>
            <a:r>
              <a:rPr lang="en-US" altLang="zh-CN" b="1" dirty="0" err="1">
                <a:latin typeface="黑体" panose="02010609060101010101" pitchFamily="49" charset="-122"/>
                <a:ea typeface="黑体" panose="02010609060101010101" pitchFamily="49" charset="-122"/>
              </a:rPr>
              <a:t>Δc</a:t>
            </a:r>
            <a:r>
              <a:rPr lang="en-US" altLang="zh-CN" b="1" dirty="0">
                <a:latin typeface="黑体" panose="02010609060101010101" pitchFamily="49" charset="-122"/>
                <a:ea typeface="黑体" panose="02010609060101010101" pitchFamily="49" charset="-122"/>
              </a:rPr>
              <a:t>/</a:t>
            </a:r>
            <a:r>
              <a:rPr lang="en-US" altLang="zh-CN" b="1" dirty="0" err="1">
                <a:latin typeface="黑体" panose="02010609060101010101" pitchFamily="49" charset="-122"/>
                <a:ea typeface="黑体" panose="02010609060101010101" pitchFamily="49" charset="-122"/>
              </a:rPr>
              <a:t>Δy</a:t>
            </a:r>
            <a:r>
              <a:rPr lang="en-US" altLang="zh-CN" b="1" dirty="0">
                <a:latin typeface="黑体" panose="02010609060101010101" pitchFamily="49" charset="-122"/>
                <a:ea typeface="黑体" panose="02010609060101010101" pitchFamily="49" charset="-122"/>
              </a:rPr>
              <a:t> +</a:t>
            </a:r>
            <a:r>
              <a:rPr lang="en-US" altLang="zh-CN" b="1" dirty="0" err="1">
                <a:latin typeface="黑体" panose="02010609060101010101" pitchFamily="49" charset="-122"/>
                <a:ea typeface="黑体" panose="02010609060101010101" pitchFamily="49" charset="-122"/>
              </a:rPr>
              <a:t>Δs</a:t>
            </a:r>
            <a:r>
              <a:rPr lang="en-US" altLang="zh-CN" b="1" dirty="0">
                <a:latin typeface="黑体" panose="02010609060101010101" pitchFamily="49" charset="-122"/>
                <a:ea typeface="黑体" panose="02010609060101010101" pitchFamily="49" charset="-122"/>
              </a:rPr>
              <a:t>/</a:t>
            </a:r>
            <a:r>
              <a:rPr lang="en-US" altLang="zh-CN" b="1" dirty="0" err="1">
                <a:latin typeface="黑体" panose="02010609060101010101" pitchFamily="49" charset="-122"/>
                <a:ea typeface="黑体" panose="02010609060101010101" pitchFamily="49" charset="-122"/>
              </a:rPr>
              <a:t>Δy</a:t>
            </a:r>
            <a:endParaRPr lang="en-US" altLang="zh-CN" b="1" dirty="0">
              <a:latin typeface="黑体" panose="02010609060101010101" pitchFamily="49" charset="-122"/>
              <a:ea typeface="黑体" panose="02010609060101010101" pitchFamily="49" charset="-122"/>
            </a:endParaRPr>
          </a:p>
        </p:txBody>
      </p:sp>
      <p:sp>
        <p:nvSpPr>
          <p:cNvPr id="8" name="Rectangle 48">
            <a:extLst>
              <a:ext uri="{FF2B5EF4-FFF2-40B4-BE49-F238E27FC236}">
                <a16:creationId xmlns:a16="http://schemas.microsoft.com/office/drawing/2014/main" id="{16B399FA-A2ED-4B44-90B2-74374F7A2208}"/>
              </a:ext>
            </a:extLst>
          </p:cNvPr>
          <p:cNvSpPr>
            <a:spLocks noChangeArrowheads="1"/>
          </p:cNvSpPr>
          <p:nvPr/>
        </p:nvSpPr>
        <p:spPr bwMode="auto">
          <a:xfrm>
            <a:off x="474796" y="5013326"/>
            <a:ext cx="4032250" cy="1223963"/>
          </a:xfrm>
          <a:prstGeom prst="rect">
            <a:avLst/>
          </a:prstGeom>
          <a:noFill/>
          <a:ln w="38100" cmpd="dbl" algn="ctr">
            <a:noFill/>
            <a:miter lim="800000"/>
            <a:headEnd/>
            <a:tailEnd/>
          </a:ln>
          <a:effec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buClr>
                <a:srgbClr val="336600"/>
              </a:buClr>
              <a:buSzPct val="95000"/>
              <a:buFont typeface="Wingdings" panose="05000000000000000000" pitchFamily="2" charset="2"/>
              <a:buChar char="p"/>
            </a:pPr>
            <a:r>
              <a:rPr lang="zh-CN" altLang="en-US" b="1">
                <a:latin typeface="黑体" panose="02010609060101010101" pitchFamily="49" charset="-122"/>
                <a:ea typeface="黑体" panose="02010609060101010101" pitchFamily="49" charset="-122"/>
              </a:rPr>
              <a:t>即： </a:t>
            </a:r>
            <a:r>
              <a:rPr lang="en-US" altLang="zh-CN" b="1">
                <a:latin typeface="黑体" panose="02010609060101010101" pitchFamily="49" charset="-122"/>
                <a:ea typeface="黑体" panose="02010609060101010101" pitchFamily="49" charset="-122"/>
              </a:rPr>
              <a:t>MPC + MPS = 1</a:t>
            </a:r>
          </a:p>
          <a:p>
            <a:pPr>
              <a:lnSpc>
                <a:spcPct val="90000"/>
              </a:lnSpc>
              <a:buClr>
                <a:srgbClr val="336600"/>
              </a:buClr>
              <a:buSzPct val="95000"/>
              <a:buFont typeface="Wingdings" panose="05000000000000000000" pitchFamily="2" charset="2"/>
              <a:buChar char="p"/>
            </a:pPr>
            <a:r>
              <a:rPr lang="zh-CN" altLang="en-US" b="1">
                <a:latin typeface="黑体" panose="02010609060101010101" pitchFamily="49" charset="-122"/>
                <a:ea typeface="黑体" panose="02010609060101010101" pitchFamily="49" charset="-122"/>
              </a:rPr>
              <a:t>推断</a:t>
            </a:r>
            <a:r>
              <a:rPr lang="en-US" altLang="zh-CN" b="1">
                <a:latin typeface="黑体" panose="02010609060101010101" pitchFamily="49" charset="-122"/>
                <a:ea typeface="黑体" panose="02010609060101010101" pitchFamily="49" charset="-122"/>
              </a:rPr>
              <a:t>:</a:t>
            </a:r>
            <a:r>
              <a:rPr lang="zh-CN" altLang="en-US" b="1">
                <a:latin typeface="黑体" panose="02010609060101010101" pitchFamily="49" charset="-122"/>
                <a:ea typeface="黑体" panose="02010609060101010101" pitchFamily="49" charset="-122"/>
              </a:rPr>
              <a:t>若</a:t>
            </a:r>
            <a:r>
              <a:rPr lang="en-US" altLang="zh-CN" b="1">
                <a:latin typeface="黑体" panose="02010609060101010101" pitchFamily="49" charset="-122"/>
                <a:ea typeface="黑体" panose="02010609060101010101" pitchFamily="49" charset="-122"/>
              </a:rPr>
              <a:t>MPC</a:t>
            </a:r>
            <a:r>
              <a:rPr lang="zh-CN" altLang="en-US" b="1">
                <a:latin typeface="黑体" panose="02010609060101010101" pitchFamily="49" charset="-122"/>
                <a:ea typeface="黑体" panose="02010609060101010101" pitchFamily="49" charset="-122"/>
              </a:rPr>
              <a:t>递减，那么</a:t>
            </a:r>
            <a:r>
              <a:rPr lang="en-US" altLang="zh-CN" b="1">
                <a:latin typeface="黑体" panose="02010609060101010101" pitchFamily="49" charset="-122"/>
                <a:ea typeface="黑体" panose="02010609060101010101" pitchFamily="49" charset="-122"/>
              </a:rPr>
              <a:t>MPS</a:t>
            </a:r>
            <a:r>
              <a:rPr lang="zh-CN" altLang="en-US" b="1">
                <a:latin typeface="黑体" panose="02010609060101010101" pitchFamily="49" charset="-122"/>
                <a:ea typeface="黑体" panose="02010609060101010101" pitchFamily="49" charset="-122"/>
              </a:rPr>
              <a:t>必递增。</a:t>
            </a:r>
          </a:p>
        </p:txBody>
      </p:sp>
      <p:pic>
        <p:nvPicPr>
          <p:cNvPr id="9" name="图片 8">
            <a:extLst>
              <a:ext uri="{FF2B5EF4-FFF2-40B4-BE49-F238E27FC236}">
                <a16:creationId xmlns:a16="http://schemas.microsoft.com/office/drawing/2014/main" id="{38FE6814-692F-4708-98BD-513AC5AA6AD1}"/>
              </a:ext>
            </a:extLst>
          </p:cNvPr>
          <p:cNvPicPr>
            <a:picLocks noChangeAspect="1"/>
          </p:cNvPicPr>
          <p:nvPr/>
        </p:nvPicPr>
        <p:blipFill>
          <a:blip r:embed="rId3"/>
          <a:stretch>
            <a:fillRect/>
          </a:stretch>
        </p:blipFill>
        <p:spPr>
          <a:xfrm>
            <a:off x="4841359" y="3038155"/>
            <a:ext cx="3840813" cy="3093988"/>
          </a:xfrm>
          <a:prstGeom prst="rect">
            <a:avLst/>
          </a:prstGeom>
        </p:spPr>
      </p:pic>
    </p:spTree>
    <p:extLst>
      <p:ext uri="{BB962C8B-B14F-4D97-AF65-F5344CB8AC3E}">
        <p14:creationId xmlns:p14="http://schemas.microsoft.com/office/powerpoint/2010/main" val="2001738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C3377E4-39B5-4EB9-81BA-3B0677BC72B9}"/>
              </a:ext>
            </a:extLst>
          </p:cNvPr>
          <p:cNvSpPr>
            <a:spLocks noGrp="1" noChangeArrowheads="1"/>
          </p:cNvSpPr>
          <p:nvPr>
            <p:ph type="title"/>
          </p:nvPr>
        </p:nvSpPr>
        <p:spPr>
          <a:xfrm>
            <a:off x="293450" y="36512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ea typeface="黑体" panose="02010609060101010101" pitchFamily="49" charset="-122"/>
              </a:rPr>
              <a:t>两部门国民收入的决定</a:t>
            </a:r>
          </a:p>
        </p:txBody>
      </p:sp>
      <p:sp>
        <p:nvSpPr>
          <p:cNvPr id="5" name="Rectangle 3">
            <a:extLst>
              <a:ext uri="{FF2B5EF4-FFF2-40B4-BE49-F238E27FC236}">
                <a16:creationId xmlns:a16="http://schemas.microsoft.com/office/drawing/2014/main" id="{7DEC6AFB-A263-4B7E-92C6-3CC38A494E2C}"/>
              </a:ext>
            </a:extLst>
          </p:cNvPr>
          <p:cNvSpPr>
            <a:spLocks noGrp="1" noChangeArrowheads="1"/>
          </p:cNvSpPr>
          <p:nvPr>
            <p:ph idx="1"/>
          </p:nvPr>
        </p:nvSpPr>
        <p:spPr>
          <a:xfrm>
            <a:off x="503978" y="1196975"/>
            <a:ext cx="5472112" cy="566738"/>
          </a:xfrm>
          <a:ln/>
        </p:spPr>
        <p:txBody>
          <a:bodyPr/>
          <a:lstStyle/>
          <a:p>
            <a:pPr>
              <a:buFont typeface="Wingdings" panose="05000000000000000000" pitchFamily="2" charset="2"/>
              <a:buNone/>
            </a:pPr>
            <a:r>
              <a:rPr lang="en-US" altLang="zh-CN" sz="2800" b="1" dirty="0">
                <a:solidFill>
                  <a:schemeClr val="bg1"/>
                </a:solidFill>
              </a:rPr>
              <a:t>1.</a:t>
            </a:r>
            <a:r>
              <a:rPr lang="zh-CN" altLang="en-US" sz="2800" b="1" dirty="0">
                <a:solidFill>
                  <a:schemeClr val="bg1"/>
                </a:solidFill>
              </a:rPr>
              <a:t>消费函数决定的均衡收入</a:t>
            </a:r>
          </a:p>
        </p:txBody>
      </p:sp>
      <p:sp>
        <p:nvSpPr>
          <p:cNvPr id="6" name="Rectangle 4">
            <a:extLst>
              <a:ext uri="{FF2B5EF4-FFF2-40B4-BE49-F238E27FC236}">
                <a16:creationId xmlns:a16="http://schemas.microsoft.com/office/drawing/2014/main" id="{C97C9AE2-3D26-49CD-AD99-24BE98672C70}"/>
              </a:ext>
            </a:extLst>
          </p:cNvPr>
          <p:cNvSpPr>
            <a:spLocks noChangeArrowheads="1"/>
          </p:cNvSpPr>
          <p:nvPr/>
        </p:nvSpPr>
        <p:spPr bwMode="auto">
          <a:xfrm>
            <a:off x="503979" y="1844676"/>
            <a:ext cx="8351837" cy="576263"/>
          </a:xfrm>
          <a:prstGeom prst="rect">
            <a:avLst/>
          </a:prstGeom>
          <a:noFill/>
          <a:ln w="3175" cmpd="dbl">
            <a:solidFill>
              <a:schemeClr val="tx1"/>
            </a:solidFill>
            <a:miter lim="800000"/>
            <a:headEnd/>
            <a:tailEnd/>
          </a:ln>
          <a:effec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p"/>
            </a:pPr>
            <a:r>
              <a:rPr lang="zh-CN" altLang="en-US" b="1">
                <a:latin typeface="黑体" panose="02010609060101010101" pitchFamily="49" charset="-122"/>
                <a:ea typeface="黑体" panose="02010609060101010101" pitchFamily="49" charset="-122"/>
              </a:rPr>
              <a:t>假设</a:t>
            </a:r>
            <a:r>
              <a:rPr lang="en-US" altLang="zh-CN" b="1">
                <a:effectLst>
                  <a:outerShdw blurRad="38100" dist="38100" dir="2700000" algn="tl">
                    <a:srgbClr val="000000"/>
                  </a:outerShdw>
                </a:effectLst>
                <a:latin typeface="黑体" panose="02010609060101010101" pitchFamily="49" charset="-122"/>
                <a:ea typeface="黑体" panose="02010609060101010101" pitchFamily="49" charset="-122"/>
              </a:rPr>
              <a:t>i</a:t>
            </a:r>
            <a:r>
              <a:rPr lang="zh-CN" altLang="en-US" b="1">
                <a:latin typeface="黑体" panose="02010609060101010101" pitchFamily="49" charset="-122"/>
                <a:ea typeface="黑体" panose="02010609060101010101" pitchFamily="49" charset="-122"/>
              </a:rPr>
              <a:t>固定，为自发计划投资。</a:t>
            </a:r>
            <a:r>
              <a:rPr lang="en-US" altLang="zh-CN" b="1">
                <a:latin typeface="黑体" panose="02010609060101010101" pitchFamily="49" charset="-122"/>
                <a:ea typeface="黑体" panose="02010609060101010101" pitchFamily="49" charset="-122"/>
              </a:rPr>
              <a:t>y = c + i , c = a + by.</a:t>
            </a:r>
          </a:p>
        </p:txBody>
      </p:sp>
      <p:sp>
        <p:nvSpPr>
          <p:cNvPr id="7" name="Rectangle 5">
            <a:extLst>
              <a:ext uri="{FF2B5EF4-FFF2-40B4-BE49-F238E27FC236}">
                <a16:creationId xmlns:a16="http://schemas.microsoft.com/office/drawing/2014/main" id="{A2A0A3B0-DD61-4BAD-ADF4-DA35FEDCAE16}"/>
              </a:ext>
            </a:extLst>
          </p:cNvPr>
          <p:cNvSpPr>
            <a:spLocks noChangeArrowheads="1"/>
          </p:cNvSpPr>
          <p:nvPr/>
        </p:nvSpPr>
        <p:spPr bwMode="auto">
          <a:xfrm>
            <a:off x="503979" y="3284538"/>
            <a:ext cx="3887787" cy="576262"/>
          </a:xfrm>
          <a:prstGeom prst="rect">
            <a:avLst/>
          </a:prstGeom>
          <a:noFill/>
          <a:ln w="3175" cmpd="tri">
            <a:solidFill>
              <a:schemeClr val="tx1"/>
            </a:solidFill>
            <a:miter lim="800000"/>
            <a:headEnd/>
            <a:tailEnd/>
          </a:ln>
          <a:effec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None/>
            </a:pPr>
            <a:r>
              <a:rPr lang="zh-CN" altLang="en-US" sz="2000" b="1">
                <a:latin typeface="黑体" panose="02010609060101010101" pitchFamily="49" charset="-122"/>
                <a:ea typeface="黑体" panose="02010609060101010101" pitchFamily="49" charset="-122"/>
              </a:rPr>
              <a:t>例：</a:t>
            </a:r>
            <a:r>
              <a:rPr lang="en-US" altLang="zh-CN" sz="2000" b="1">
                <a:latin typeface="黑体" panose="02010609060101010101" pitchFamily="49" charset="-122"/>
                <a:ea typeface="黑体" panose="02010609060101010101" pitchFamily="49" charset="-122"/>
              </a:rPr>
              <a:t>c</a:t>
            </a:r>
            <a:r>
              <a:rPr lang="zh-CN" altLang="en-US" sz="2000" b="1">
                <a:latin typeface="黑体" panose="02010609060101010101" pitchFamily="49" charset="-122"/>
                <a:ea typeface="黑体" panose="02010609060101010101" pitchFamily="49" charset="-122"/>
              </a:rPr>
              <a:t>＝</a:t>
            </a:r>
            <a:r>
              <a:rPr lang="en-US" altLang="zh-CN" sz="2000" b="1">
                <a:latin typeface="黑体" panose="02010609060101010101" pitchFamily="49" charset="-122"/>
                <a:ea typeface="黑体" panose="02010609060101010101" pitchFamily="49" charset="-122"/>
              </a:rPr>
              <a:t>1000+0.8y,i</a:t>
            </a:r>
            <a:r>
              <a:rPr lang="zh-CN" altLang="en-US" sz="2000" b="1">
                <a:latin typeface="黑体" panose="02010609060101010101" pitchFamily="49" charset="-122"/>
                <a:ea typeface="黑体" panose="02010609060101010101" pitchFamily="49" charset="-122"/>
              </a:rPr>
              <a:t>＝</a:t>
            </a:r>
            <a:r>
              <a:rPr lang="en-US" altLang="zh-CN" sz="2000" b="1">
                <a:latin typeface="黑体" panose="02010609060101010101" pitchFamily="49" charset="-122"/>
                <a:ea typeface="黑体" panose="02010609060101010101" pitchFamily="49" charset="-122"/>
              </a:rPr>
              <a:t>600</a:t>
            </a:r>
          </a:p>
        </p:txBody>
      </p:sp>
      <p:sp>
        <p:nvSpPr>
          <p:cNvPr id="8" name="Rectangle 170">
            <a:extLst>
              <a:ext uri="{FF2B5EF4-FFF2-40B4-BE49-F238E27FC236}">
                <a16:creationId xmlns:a16="http://schemas.microsoft.com/office/drawing/2014/main" id="{D1FD76D4-3E4E-4094-9D25-70D1623F09C4}"/>
              </a:ext>
            </a:extLst>
          </p:cNvPr>
          <p:cNvSpPr>
            <a:spLocks noChangeArrowheads="1"/>
          </p:cNvSpPr>
          <p:nvPr/>
        </p:nvSpPr>
        <p:spPr bwMode="auto">
          <a:xfrm>
            <a:off x="503979" y="3933825"/>
            <a:ext cx="3887787" cy="863600"/>
          </a:xfrm>
          <a:prstGeom prst="rect">
            <a:avLst/>
          </a:prstGeom>
          <a:noFill/>
          <a:ln w="3175" cmpd="tri">
            <a:solidFill>
              <a:schemeClr val="tx1"/>
            </a:solidFill>
            <a:miter lim="800000"/>
            <a:headEnd/>
            <a:tailEnd/>
          </a:ln>
          <a:effec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l"/>
            </a:pPr>
            <a:r>
              <a:rPr lang="en-US" altLang="zh-CN" sz="2000" b="1">
                <a:latin typeface="黑体" panose="02010609060101010101" pitchFamily="49" charset="-122"/>
                <a:ea typeface="黑体" panose="02010609060101010101" pitchFamily="49" charset="-122"/>
              </a:rPr>
              <a:t>y</a:t>
            </a:r>
            <a:r>
              <a:rPr lang="zh-CN" altLang="en-US" sz="2000" b="1">
                <a:latin typeface="黑体" panose="02010609060101010101" pitchFamily="49" charset="-122"/>
                <a:ea typeface="黑体" panose="02010609060101010101" pitchFamily="49" charset="-122"/>
              </a:rPr>
              <a:t>＝</a:t>
            </a:r>
            <a:r>
              <a:rPr lang="en-US" altLang="zh-CN" sz="2000" b="1">
                <a:latin typeface="黑体" panose="02010609060101010101" pitchFamily="49" charset="-122"/>
                <a:ea typeface="黑体" panose="02010609060101010101" pitchFamily="49" charset="-122"/>
              </a:rPr>
              <a:t>(1000</a:t>
            </a:r>
            <a:r>
              <a:rPr lang="zh-CN" altLang="en-US" sz="2000" b="1">
                <a:latin typeface="黑体" panose="02010609060101010101" pitchFamily="49" charset="-122"/>
                <a:ea typeface="黑体" panose="02010609060101010101" pitchFamily="49" charset="-122"/>
              </a:rPr>
              <a:t>＋</a:t>
            </a:r>
            <a:r>
              <a:rPr lang="en-US" altLang="zh-CN" sz="2000" b="1">
                <a:latin typeface="黑体" panose="02010609060101010101" pitchFamily="49" charset="-122"/>
                <a:ea typeface="黑体" panose="02010609060101010101" pitchFamily="49" charset="-122"/>
              </a:rPr>
              <a:t>600)/</a:t>
            </a:r>
            <a:r>
              <a:rPr lang="zh-CN" altLang="en-US" sz="2000" b="1">
                <a:latin typeface="黑体" panose="02010609060101010101" pitchFamily="49" charset="-122"/>
                <a:ea typeface="黑体" panose="02010609060101010101" pitchFamily="49" charset="-122"/>
              </a:rPr>
              <a:t>（</a:t>
            </a:r>
            <a:r>
              <a:rPr lang="en-US" altLang="zh-CN" sz="2000" b="1">
                <a:latin typeface="黑体" panose="02010609060101010101" pitchFamily="49" charset="-122"/>
                <a:ea typeface="黑体" panose="02010609060101010101" pitchFamily="49" charset="-122"/>
              </a:rPr>
              <a:t>1</a:t>
            </a:r>
            <a:r>
              <a:rPr lang="zh-CN" altLang="en-US" sz="2000" b="1">
                <a:latin typeface="黑体" panose="02010609060101010101" pitchFamily="49" charset="-122"/>
                <a:ea typeface="黑体" panose="02010609060101010101" pitchFamily="49" charset="-122"/>
              </a:rPr>
              <a:t>－</a:t>
            </a:r>
            <a:r>
              <a:rPr lang="en-US" altLang="zh-CN" sz="2000" b="1">
                <a:latin typeface="黑体" panose="02010609060101010101" pitchFamily="49" charset="-122"/>
                <a:ea typeface="黑体" panose="02010609060101010101" pitchFamily="49" charset="-122"/>
              </a:rPr>
              <a:t>0.8</a:t>
            </a:r>
            <a:r>
              <a:rPr lang="zh-CN" altLang="en-US" sz="2000" b="1">
                <a:latin typeface="黑体" panose="02010609060101010101" pitchFamily="49" charset="-122"/>
                <a:ea typeface="黑体" panose="02010609060101010101" pitchFamily="49" charset="-122"/>
              </a:rPr>
              <a:t>）    </a:t>
            </a:r>
          </a:p>
          <a:p>
            <a:pPr>
              <a:buClr>
                <a:srgbClr val="336600"/>
              </a:buClr>
              <a:buSzPct val="95000"/>
              <a:buFont typeface="Wingdings" panose="05000000000000000000" pitchFamily="2" charset="2"/>
              <a:buNone/>
            </a:pPr>
            <a:r>
              <a:rPr lang="zh-CN" altLang="en-US" sz="2000" b="1">
                <a:latin typeface="黑体" panose="02010609060101010101" pitchFamily="49" charset="-122"/>
                <a:ea typeface="黑体" panose="02010609060101010101" pitchFamily="49" charset="-122"/>
              </a:rPr>
              <a:t>    ＝</a:t>
            </a:r>
            <a:r>
              <a:rPr lang="en-US" altLang="zh-CN" sz="2000" b="1">
                <a:latin typeface="黑体" panose="02010609060101010101" pitchFamily="49" charset="-122"/>
                <a:ea typeface="黑体" panose="02010609060101010101" pitchFamily="49" charset="-122"/>
              </a:rPr>
              <a:t>8000</a:t>
            </a:r>
          </a:p>
        </p:txBody>
      </p:sp>
      <p:sp>
        <p:nvSpPr>
          <p:cNvPr id="9" name="Rectangle 171">
            <a:extLst>
              <a:ext uri="{FF2B5EF4-FFF2-40B4-BE49-F238E27FC236}">
                <a16:creationId xmlns:a16="http://schemas.microsoft.com/office/drawing/2014/main" id="{AC08F929-0CBA-4B08-BEEA-4DED5046CA40}"/>
              </a:ext>
            </a:extLst>
          </p:cNvPr>
          <p:cNvSpPr>
            <a:spLocks noChangeArrowheads="1"/>
          </p:cNvSpPr>
          <p:nvPr/>
        </p:nvSpPr>
        <p:spPr bwMode="auto">
          <a:xfrm>
            <a:off x="503979" y="4868864"/>
            <a:ext cx="3887787" cy="1584325"/>
          </a:xfrm>
          <a:prstGeom prst="rect">
            <a:avLst/>
          </a:prstGeom>
          <a:noFill/>
          <a:ln w="3175" cmpd="tri">
            <a:solidFill>
              <a:schemeClr val="tx1"/>
            </a:solidFill>
            <a:miter lim="800000"/>
            <a:headEnd/>
            <a:tailEnd/>
          </a:ln>
          <a:effec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l"/>
            </a:pPr>
            <a:r>
              <a:rPr lang="en-US" altLang="zh-CN" sz="2000" b="1">
                <a:latin typeface="黑体" panose="02010609060101010101" pitchFamily="49" charset="-122"/>
                <a:ea typeface="黑体" panose="02010609060101010101" pitchFamily="49" charset="-122"/>
              </a:rPr>
              <a:t>c</a:t>
            </a:r>
            <a:r>
              <a:rPr lang="zh-CN" altLang="en-US" sz="2000" b="1">
                <a:latin typeface="黑体" panose="02010609060101010101" pitchFamily="49" charset="-122"/>
                <a:ea typeface="黑体" panose="02010609060101010101" pitchFamily="49" charset="-122"/>
              </a:rPr>
              <a:t>＝</a:t>
            </a:r>
            <a:r>
              <a:rPr lang="en-US" altLang="zh-CN" sz="2000" b="1">
                <a:latin typeface="黑体" panose="02010609060101010101" pitchFamily="49" charset="-122"/>
                <a:ea typeface="黑体" panose="02010609060101010101" pitchFamily="49" charset="-122"/>
              </a:rPr>
              <a:t>y-i</a:t>
            </a:r>
            <a:r>
              <a:rPr lang="zh-CN" altLang="en-US" sz="2000" b="1">
                <a:latin typeface="黑体" panose="02010609060101010101" pitchFamily="49" charset="-122"/>
                <a:ea typeface="黑体" panose="02010609060101010101" pitchFamily="49" charset="-122"/>
              </a:rPr>
              <a:t>＝</a:t>
            </a:r>
            <a:r>
              <a:rPr lang="en-US" altLang="zh-CN" sz="2000" b="1">
                <a:latin typeface="黑体" panose="02010609060101010101" pitchFamily="49" charset="-122"/>
                <a:ea typeface="黑体" panose="02010609060101010101" pitchFamily="49" charset="-122"/>
              </a:rPr>
              <a:t>8000-600</a:t>
            </a:r>
            <a:r>
              <a:rPr lang="zh-CN" altLang="en-US" sz="2000" b="1">
                <a:latin typeface="黑体" panose="02010609060101010101" pitchFamily="49" charset="-122"/>
                <a:ea typeface="黑体" panose="02010609060101010101" pitchFamily="49" charset="-122"/>
              </a:rPr>
              <a:t>＝</a:t>
            </a:r>
            <a:r>
              <a:rPr lang="en-US" altLang="zh-CN" sz="2000" b="1">
                <a:latin typeface="黑体" panose="02010609060101010101" pitchFamily="49" charset="-122"/>
                <a:ea typeface="黑体" panose="02010609060101010101" pitchFamily="49" charset="-122"/>
              </a:rPr>
              <a:t>7400 </a:t>
            </a:r>
          </a:p>
          <a:p>
            <a:pPr>
              <a:buClr>
                <a:srgbClr val="336600"/>
              </a:buClr>
              <a:buSzPct val="95000"/>
              <a:buFont typeface="Wingdings" panose="05000000000000000000" pitchFamily="2" charset="2"/>
              <a:buChar char="l"/>
            </a:pPr>
            <a:r>
              <a:rPr lang="en-US" altLang="zh-CN" sz="2000" b="1">
                <a:latin typeface="黑体" panose="02010609060101010101" pitchFamily="49" charset="-122"/>
                <a:ea typeface="黑体" panose="02010609060101010101" pitchFamily="49" charset="-122"/>
              </a:rPr>
              <a:t>s</a:t>
            </a:r>
            <a:r>
              <a:rPr lang="zh-CN" altLang="en-US" sz="2000" b="1">
                <a:latin typeface="黑体" panose="02010609060101010101" pitchFamily="49" charset="-122"/>
                <a:ea typeface="黑体" panose="02010609060101010101" pitchFamily="49" charset="-122"/>
              </a:rPr>
              <a:t>＝</a:t>
            </a:r>
            <a:r>
              <a:rPr lang="en-US" altLang="zh-CN" sz="2000" b="1">
                <a:latin typeface="黑体" panose="02010609060101010101" pitchFamily="49" charset="-122"/>
                <a:ea typeface="黑体" panose="02010609060101010101" pitchFamily="49" charset="-122"/>
              </a:rPr>
              <a:t>y-c</a:t>
            </a:r>
          </a:p>
          <a:p>
            <a:pPr>
              <a:buClr>
                <a:srgbClr val="336600"/>
              </a:buClr>
              <a:buSzPct val="95000"/>
              <a:buFont typeface="Wingdings" panose="05000000000000000000" pitchFamily="2" charset="2"/>
              <a:buNone/>
            </a:pPr>
            <a:r>
              <a:rPr lang="en-US" altLang="zh-CN" sz="2000" b="1">
                <a:latin typeface="黑体" panose="02010609060101010101" pitchFamily="49" charset="-122"/>
                <a:ea typeface="黑体" panose="02010609060101010101" pitchFamily="49" charset="-122"/>
              </a:rPr>
              <a:t>    </a:t>
            </a:r>
            <a:r>
              <a:rPr lang="zh-CN" altLang="en-US" sz="2000" b="1">
                <a:latin typeface="黑体" panose="02010609060101010101" pitchFamily="49" charset="-122"/>
                <a:ea typeface="黑体" panose="02010609060101010101" pitchFamily="49" charset="-122"/>
              </a:rPr>
              <a:t>＝</a:t>
            </a:r>
            <a:r>
              <a:rPr lang="en-US" altLang="zh-CN" sz="2000" b="1">
                <a:latin typeface="黑体" panose="02010609060101010101" pitchFamily="49" charset="-122"/>
                <a:ea typeface="黑体" panose="02010609060101010101" pitchFamily="49" charset="-122"/>
              </a:rPr>
              <a:t>8000-7400</a:t>
            </a:r>
            <a:r>
              <a:rPr lang="zh-CN" altLang="en-US" sz="2000" b="1">
                <a:latin typeface="黑体" panose="02010609060101010101" pitchFamily="49" charset="-122"/>
                <a:ea typeface="黑体" panose="02010609060101010101" pitchFamily="49" charset="-122"/>
              </a:rPr>
              <a:t>＝</a:t>
            </a:r>
            <a:r>
              <a:rPr lang="en-US" altLang="zh-CN" sz="2000" b="1">
                <a:latin typeface="黑体" panose="02010609060101010101" pitchFamily="49" charset="-122"/>
                <a:ea typeface="黑体" panose="02010609060101010101" pitchFamily="49" charset="-122"/>
              </a:rPr>
              <a:t>600</a:t>
            </a:r>
          </a:p>
          <a:p>
            <a:pPr>
              <a:buClr>
                <a:srgbClr val="336600"/>
              </a:buClr>
              <a:buSzPct val="95000"/>
              <a:buFont typeface="Wingdings" panose="05000000000000000000" pitchFamily="2" charset="2"/>
              <a:buChar char="l"/>
            </a:pPr>
            <a:r>
              <a:rPr lang="zh-CN" altLang="en-US" sz="2000" b="1">
                <a:latin typeface="黑体" panose="02010609060101010101" pitchFamily="49" charset="-122"/>
                <a:ea typeface="黑体" panose="02010609060101010101" pitchFamily="49" charset="-122"/>
              </a:rPr>
              <a:t>储蓄与投资相等。</a:t>
            </a:r>
          </a:p>
        </p:txBody>
      </p:sp>
      <p:sp>
        <p:nvSpPr>
          <p:cNvPr id="10" name="AutoShape 177">
            <a:extLst>
              <a:ext uri="{FF2B5EF4-FFF2-40B4-BE49-F238E27FC236}">
                <a16:creationId xmlns:a16="http://schemas.microsoft.com/office/drawing/2014/main" id="{E33B81CA-65D7-45A4-936A-21F35287BF9C}"/>
              </a:ext>
            </a:extLst>
          </p:cNvPr>
          <p:cNvSpPr>
            <a:spLocks noChangeArrowheads="1"/>
          </p:cNvSpPr>
          <p:nvPr/>
        </p:nvSpPr>
        <p:spPr bwMode="auto">
          <a:xfrm>
            <a:off x="6120553" y="981075"/>
            <a:ext cx="2735262" cy="719138"/>
          </a:xfrm>
          <a:prstGeom prst="wedgeRoundRectCallout">
            <a:avLst>
              <a:gd name="adj1" fmla="val -72579"/>
              <a:gd name="adj2" fmla="val 14236"/>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000"/>
              <a:t>知道消费和投资，就可求得均衡国民收入</a:t>
            </a:r>
          </a:p>
        </p:txBody>
      </p:sp>
      <p:sp>
        <p:nvSpPr>
          <p:cNvPr id="11" name="Rectangle 178">
            <a:extLst>
              <a:ext uri="{FF2B5EF4-FFF2-40B4-BE49-F238E27FC236}">
                <a16:creationId xmlns:a16="http://schemas.microsoft.com/office/drawing/2014/main" id="{59316C73-CB8C-48F1-977B-36F462C116F7}"/>
              </a:ext>
            </a:extLst>
          </p:cNvPr>
          <p:cNvSpPr>
            <a:spLocks noChangeArrowheads="1"/>
          </p:cNvSpPr>
          <p:nvPr/>
        </p:nvSpPr>
        <p:spPr bwMode="auto">
          <a:xfrm>
            <a:off x="503979" y="2420938"/>
            <a:ext cx="8351837" cy="647700"/>
          </a:xfrm>
          <a:prstGeom prst="rect">
            <a:avLst/>
          </a:prstGeom>
          <a:noFill/>
          <a:ln w="3175" cmpd="dbl">
            <a:solidFill>
              <a:schemeClr val="tx1"/>
            </a:solidFill>
            <a:miter lim="800000"/>
            <a:headEnd/>
            <a:tailEnd/>
          </a:ln>
          <a:effec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buClr>
                <a:srgbClr val="336600"/>
              </a:buClr>
              <a:buSzPct val="95000"/>
              <a:buFont typeface="Wingdings" panose="05000000000000000000" pitchFamily="2" charset="2"/>
              <a:buChar char="p"/>
            </a:pPr>
            <a:r>
              <a:rPr lang="zh-CN" altLang="en-US" b="1">
                <a:latin typeface="黑体" panose="02010609060101010101" pitchFamily="49" charset="-122"/>
                <a:ea typeface="黑体" panose="02010609060101010101" pitchFamily="49" charset="-122"/>
              </a:rPr>
              <a:t>求解，得均衡</a:t>
            </a:r>
            <a:r>
              <a:rPr lang="zh-CN" altLang="zh-CN" b="1">
                <a:latin typeface="黑体" panose="02010609060101010101" pitchFamily="49" charset="-122"/>
                <a:ea typeface="黑体" panose="02010609060101010101" pitchFamily="49" charset="-122"/>
              </a:rPr>
              <a:t>国民收入</a:t>
            </a:r>
            <a:r>
              <a:rPr lang="zh-CN" altLang="en-US"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y = (a+i) /(1-b)</a:t>
            </a:r>
          </a:p>
        </p:txBody>
      </p:sp>
      <p:pic>
        <p:nvPicPr>
          <p:cNvPr id="12" name="图片 11">
            <a:extLst>
              <a:ext uri="{FF2B5EF4-FFF2-40B4-BE49-F238E27FC236}">
                <a16:creationId xmlns:a16="http://schemas.microsoft.com/office/drawing/2014/main" id="{85EAA5EC-7036-4DC0-9EE1-2B8ADA027FCC}"/>
              </a:ext>
            </a:extLst>
          </p:cNvPr>
          <p:cNvPicPr>
            <a:picLocks noChangeAspect="1"/>
          </p:cNvPicPr>
          <p:nvPr/>
        </p:nvPicPr>
        <p:blipFill>
          <a:blip r:embed="rId2"/>
          <a:stretch>
            <a:fillRect/>
          </a:stretch>
        </p:blipFill>
        <p:spPr>
          <a:xfrm>
            <a:off x="4679897" y="3372985"/>
            <a:ext cx="4092295" cy="3055885"/>
          </a:xfrm>
          <a:prstGeom prst="rect">
            <a:avLst/>
          </a:prstGeom>
        </p:spPr>
      </p:pic>
    </p:spTree>
    <p:extLst>
      <p:ext uri="{BB962C8B-B14F-4D97-AF65-F5344CB8AC3E}">
        <p14:creationId xmlns:p14="http://schemas.microsoft.com/office/powerpoint/2010/main" val="2432346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AAABE6A-FD7F-4D21-A6C9-F5092F6874B3}"/>
              </a:ext>
            </a:extLst>
          </p:cNvPr>
          <p:cNvSpPr>
            <a:spLocks noGrp="1" noChangeArrowheads="1"/>
          </p:cNvSpPr>
          <p:nvPr>
            <p:ph type="title"/>
          </p:nvPr>
        </p:nvSpPr>
        <p:spPr>
          <a:xfrm>
            <a:off x="838200" y="36512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en-US" altLang="zh-CN" sz="2800" dirty="0"/>
              <a:t>2.</a:t>
            </a:r>
            <a:r>
              <a:rPr lang="zh-CN" altLang="en-US" sz="2800" dirty="0"/>
              <a:t>储蓄函数决定均衡收入</a:t>
            </a:r>
          </a:p>
        </p:txBody>
      </p:sp>
      <p:sp>
        <p:nvSpPr>
          <p:cNvPr id="5" name="Rectangle 3">
            <a:extLst>
              <a:ext uri="{FF2B5EF4-FFF2-40B4-BE49-F238E27FC236}">
                <a16:creationId xmlns:a16="http://schemas.microsoft.com/office/drawing/2014/main" id="{E4CD090A-53F9-4104-8139-ED1D82BAEE7C}"/>
              </a:ext>
            </a:extLst>
          </p:cNvPr>
          <p:cNvSpPr>
            <a:spLocks noGrp="1" noChangeArrowheads="1"/>
          </p:cNvSpPr>
          <p:nvPr>
            <p:ph idx="1"/>
          </p:nvPr>
        </p:nvSpPr>
        <p:spPr>
          <a:xfrm>
            <a:off x="970908" y="1420711"/>
            <a:ext cx="8207375" cy="2160588"/>
          </a:xfrm>
          <a:noFill/>
          <a:ln w="3175" cmpd="sng">
            <a:solidFill>
              <a:schemeClr val="tx1"/>
            </a:solidFill>
          </a:ln>
        </p:spPr>
        <p:txBody>
          <a:bodyPr/>
          <a:lstStyle/>
          <a:p>
            <a:pPr>
              <a:buClr>
                <a:schemeClr val="hlink"/>
              </a:buClr>
              <a:buSzPct val="95000"/>
              <a:buFont typeface="Wingdings" panose="05000000000000000000" pitchFamily="2" charset="2"/>
              <a:buChar char="u"/>
            </a:pPr>
            <a:r>
              <a:rPr lang="zh-CN" altLang="en-US" dirty="0">
                <a:latin typeface="黑体" panose="02010609060101010101" pitchFamily="49" charset="-122"/>
                <a:ea typeface="黑体" panose="02010609060101010101" pitchFamily="49" charset="-122"/>
              </a:rPr>
              <a:t>储蓄函数：</a:t>
            </a:r>
            <a:r>
              <a:rPr lang="en-US" altLang="zh-CN" dirty="0">
                <a:latin typeface="黑体" panose="02010609060101010101" pitchFamily="49" charset="-122"/>
                <a:ea typeface="黑体" panose="02010609060101010101" pitchFamily="49" charset="-122"/>
              </a:rPr>
              <a:t>s = y </a:t>
            </a:r>
            <a:r>
              <a:rPr lang="en-US" altLang="zh-CN" dirty="0">
                <a:ea typeface="黑体" panose="02010609060101010101" pitchFamily="49" charset="-122"/>
              </a:rPr>
              <a:t>–</a:t>
            </a:r>
            <a:r>
              <a:rPr lang="en-US" altLang="zh-CN" dirty="0">
                <a:latin typeface="黑体" panose="02010609060101010101" pitchFamily="49" charset="-122"/>
                <a:ea typeface="黑体" panose="02010609060101010101" pitchFamily="49" charset="-122"/>
              </a:rPr>
              <a:t> c = -a + (1-b)y</a:t>
            </a:r>
          </a:p>
        </p:txBody>
      </p:sp>
      <p:sp>
        <p:nvSpPr>
          <p:cNvPr id="6" name="Rectangle 4">
            <a:extLst>
              <a:ext uri="{FF2B5EF4-FFF2-40B4-BE49-F238E27FC236}">
                <a16:creationId xmlns:a16="http://schemas.microsoft.com/office/drawing/2014/main" id="{79A502C8-A4A2-4A89-9F68-D4AAEF2AA320}"/>
              </a:ext>
            </a:extLst>
          </p:cNvPr>
          <p:cNvSpPr>
            <a:spLocks noChangeArrowheads="1"/>
          </p:cNvSpPr>
          <p:nvPr/>
        </p:nvSpPr>
        <p:spPr bwMode="auto">
          <a:xfrm>
            <a:off x="970908" y="3724175"/>
            <a:ext cx="3743325" cy="936625"/>
          </a:xfrm>
          <a:prstGeom prst="rect">
            <a:avLst/>
          </a:prstGeom>
          <a:noFill/>
          <a:ln w="3175"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hlink"/>
              </a:buClr>
              <a:buFont typeface="Wingdings" panose="05000000000000000000" pitchFamily="2" charset="2"/>
              <a:buNone/>
            </a:pPr>
            <a:r>
              <a:rPr lang="zh-CN" altLang="en-US" b="1" dirty="0"/>
              <a:t>例：</a:t>
            </a:r>
            <a:r>
              <a:rPr lang="en-US" altLang="zh-CN" b="1" dirty="0"/>
              <a:t>s </a:t>
            </a:r>
            <a:r>
              <a:rPr lang="zh-CN" altLang="en-US" b="1" dirty="0"/>
              <a:t>＝ </a:t>
            </a:r>
            <a:r>
              <a:rPr lang="en-US" altLang="zh-CN" b="1" dirty="0"/>
              <a:t>-1000+(1-0.8)y</a:t>
            </a:r>
          </a:p>
          <a:p>
            <a:pPr>
              <a:buClr>
                <a:schemeClr val="hlink"/>
              </a:buClr>
              <a:buFont typeface="Wingdings" panose="05000000000000000000" pitchFamily="2" charset="2"/>
              <a:buChar char="u"/>
            </a:pPr>
            <a:r>
              <a:rPr lang="zh-CN" altLang="en-US" b="1" dirty="0"/>
              <a:t>自发计划投资</a:t>
            </a:r>
            <a:r>
              <a:rPr lang="en-US" altLang="zh-CN" b="1" dirty="0" err="1"/>
              <a:t>i</a:t>
            </a:r>
            <a:r>
              <a:rPr lang="zh-CN" altLang="en-US" b="1" dirty="0"/>
              <a:t>＝</a:t>
            </a:r>
            <a:r>
              <a:rPr lang="en-US" altLang="zh-CN" b="1" dirty="0"/>
              <a:t>600</a:t>
            </a:r>
          </a:p>
        </p:txBody>
      </p:sp>
      <p:sp>
        <p:nvSpPr>
          <p:cNvPr id="7" name="AutoShape 64">
            <a:extLst>
              <a:ext uri="{FF2B5EF4-FFF2-40B4-BE49-F238E27FC236}">
                <a16:creationId xmlns:a16="http://schemas.microsoft.com/office/drawing/2014/main" id="{702002F2-5582-4A62-BD74-90097E49D920}"/>
              </a:ext>
            </a:extLst>
          </p:cNvPr>
          <p:cNvSpPr>
            <a:spLocks noChangeArrowheads="1"/>
          </p:cNvSpPr>
          <p:nvPr/>
        </p:nvSpPr>
        <p:spPr bwMode="auto">
          <a:xfrm>
            <a:off x="5579420" y="484086"/>
            <a:ext cx="3095625" cy="865188"/>
          </a:xfrm>
          <a:prstGeom prst="wedgeRoundRectCallout">
            <a:avLst>
              <a:gd name="adj1" fmla="val -61435"/>
              <a:gd name="adj2" fmla="val -12019"/>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000" dirty="0"/>
              <a:t>知道储蓄函数和投资，也可求得均衡国民收入</a:t>
            </a:r>
          </a:p>
        </p:txBody>
      </p:sp>
      <p:sp>
        <p:nvSpPr>
          <p:cNvPr id="8" name="Rectangle 65">
            <a:extLst>
              <a:ext uri="{FF2B5EF4-FFF2-40B4-BE49-F238E27FC236}">
                <a16:creationId xmlns:a16="http://schemas.microsoft.com/office/drawing/2014/main" id="{BAE68178-41BD-4BB2-A37D-CF3DD736F867}"/>
              </a:ext>
            </a:extLst>
          </p:cNvPr>
          <p:cNvSpPr>
            <a:spLocks noChangeArrowheads="1"/>
          </p:cNvSpPr>
          <p:nvPr/>
        </p:nvSpPr>
        <p:spPr bwMode="auto">
          <a:xfrm>
            <a:off x="970908" y="1996975"/>
            <a:ext cx="8207375" cy="1584325"/>
          </a:xfrm>
          <a:prstGeom prst="rect">
            <a:avLst/>
          </a:prstGeom>
          <a:no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buClr>
                <a:schemeClr val="hlink"/>
              </a:buClr>
              <a:buSzPct val="95000"/>
              <a:buFont typeface="Wingdings" panose="05000000000000000000" pitchFamily="2" charset="2"/>
              <a:buChar char="u"/>
            </a:pPr>
            <a:r>
              <a:rPr lang="zh-CN" altLang="en-US" dirty="0">
                <a:latin typeface="黑体" panose="02010609060101010101" pitchFamily="49" charset="-122"/>
                <a:ea typeface="黑体" panose="02010609060101010101" pitchFamily="49" charset="-122"/>
              </a:rPr>
              <a:t>计划投资等于计划储蓄：</a:t>
            </a:r>
            <a:r>
              <a:rPr lang="en-US" altLang="zh-CN" dirty="0" err="1">
                <a:latin typeface="黑体" panose="02010609060101010101" pitchFamily="49" charset="-122"/>
                <a:ea typeface="黑体" panose="02010609060101010101" pitchFamily="49" charset="-122"/>
              </a:rPr>
              <a:t>i</a:t>
            </a:r>
            <a:r>
              <a:rPr lang="en-US" altLang="zh-CN" dirty="0">
                <a:latin typeface="黑体" panose="02010609060101010101" pitchFamily="49" charset="-122"/>
                <a:ea typeface="黑体" panose="02010609060101010101" pitchFamily="49" charset="-122"/>
              </a:rPr>
              <a:t> = s </a:t>
            </a:r>
          </a:p>
        </p:txBody>
      </p:sp>
      <p:sp>
        <p:nvSpPr>
          <p:cNvPr id="9" name="Rectangle 66">
            <a:extLst>
              <a:ext uri="{FF2B5EF4-FFF2-40B4-BE49-F238E27FC236}">
                <a16:creationId xmlns:a16="http://schemas.microsoft.com/office/drawing/2014/main" id="{CAD830D2-B065-41F4-BCF8-3589C764514F}"/>
              </a:ext>
            </a:extLst>
          </p:cNvPr>
          <p:cNvSpPr>
            <a:spLocks noChangeArrowheads="1"/>
          </p:cNvSpPr>
          <p:nvPr/>
        </p:nvSpPr>
        <p:spPr bwMode="auto">
          <a:xfrm>
            <a:off x="970908" y="2500211"/>
            <a:ext cx="8207375" cy="1081088"/>
          </a:xfrm>
          <a:prstGeom prst="rect">
            <a:avLst/>
          </a:prstGeom>
          <a:no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buClr>
                <a:schemeClr val="hlink"/>
              </a:buClr>
              <a:buSzPct val="95000"/>
              <a:buFont typeface="Wingdings" panose="05000000000000000000" pitchFamily="2" charset="2"/>
              <a:buChar char="u"/>
            </a:pPr>
            <a:r>
              <a:rPr lang="zh-CN" altLang="en-US">
                <a:latin typeface="黑体" panose="02010609060101010101" pitchFamily="49" charset="-122"/>
                <a:ea typeface="黑体" panose="02010609060101010101" pitchFamily="49" charset="-122"/>
              </a:rPr>
              <a:t>联立：</a:t>
            </a:r>
            <a:r>
              <a:rPr lang="en-US" altLang="zh-CN">
                <a:latin typeface="黑体" panose="02010609060101010101" pitchFamily="49" charset="-122"/>
                <a:ea typeface="黑体" panose="02010609060101010101" pitchFamily="49" charset="-122"/>
              </a:rPr>
              <a:t>i = -a + (1-b</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y</a:t>
            </a:r>
          </a:p>
        </p:txBody>
      </p:sp>
      <p:sp>
        <p:nvSpPr>
          <p:cNvPr id="10" name="Rectangle 67">
            <a:extLst>
              <a:ext uri="{FF2B5EF4-FFF2-40B4-BE49-F238E27FC236}">
                <a16:creationId xmlns:a16="http://schemas.microsoft.com/office/drawing/2014/main" id="{F3D9A6C3-3E14-4AFF-8CC1-72F509E5D63D}"/>
              </a:ext>
            </a:extLst>
          </p:cNvPr>
          <p:cNvSpPr>
            <a:spLocks noChangeArrowheads="1"/>
          </p:cNvSpPr>
          <p:nvPr/>
        </p:nvSpPr>
        <p:spPr bwMode="auto">
          <a:xfrm>
            <a:off x="970908" y="3005037"/>
            <a:ext cx="8207375" cy="576263"/>
          </a:xfrm>
          <a:prstGeom prst="rect">
            <a:avLst/>
          </a:prstGeom>
          <a:no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buClr>
                <a:schemeClr val="hlink"/>
              </a:buClr>
              <a:buSzPct val="95000"/>
              <a:buFont typeface="Wingdings" panose="05000000000000000000" pitchFamily="2" charset="2"/>
              <a:buChar char="u"/>
            </a:pPr>
            <a:r>
              <a:rPr lang="zh-CN" altLang="en-US">
                <a:latin typeface="黑体" panose="02010609060101010101" pitchFamily="49" charset="-122"/>
                <a:ea typeface="黑体" panose="02010609060101010101" pitchFamily="49" charset="-122"/>
              </a:rPr>
              <a:t>得均衡</a:t>
            </a:r>
            <a:r>
              <a:rPr lang="zh-CN" altLang="zh-CN">
                <a:latin typeface="黑体" panose="02010609060101010101" pitchFamily="49" charset="-122"/>
                <a:ea typeface="黑体" panose="02010609060101010101" pitchFamily="49" charset="-122"/>
              </a:rPr>
              <a:t>国民收入</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y =( a+i)/(1-b)</a:t>
            </a:r>
          </a:p>
        </p:txBody>
      </p:sp>
      <p:sp>
        <p:nvSpPr>
          <p:cNvPr id="11" name="Rectangle 68">
            <a:extLst>
              <a:ext uri="{FF2B5EF4-FFF2-40B4-BE49-F238E27FC236}">
                <a16:creationId xmlns:a16="http://schemas.microsoft.com/office/drawing/2014/main" id="{1CE6E503-7DF3-460A-A20B-A0BDD1D49FC6}"/>
              </a:ext>
            </a:extLst>
          </p:cNvPr>
          <p:cNvSpPr>
            <a:spLocks noChangeArrowheads="1"/>
          </p:cNvSpPr>
          <p:nvPr/>
        </p:nvSpPr>
        <p:spPr bwMode="auto">
          <a:xfrm>
            <a:off x="970908" y="4660800"/>
            <a:ext cx="3743325" cy="936625"/>
          </a:xfrm>
          <a:prstGeom prst="rect">
            <a:avLst/>
          </a:prstGeom>
          <a:noFill/>
          <a:ln w="3175"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hlink"/>
              </a:buClr>
              <a:buFont typeface="Wingdings" panose="05000000000000000000" pitchFamily="2" charset="2"/>
              <a:buChar char="u"/>
            </a:pPr>
            <a:r>
              <a:rPr lang="zh-CN" altLang="en-US" b="1" dirty="0"/>
              <a:t>均衡收入为 </a:t>
            </a:r>
            <a:r>
              <a:rPr lang="en-US" altLang="zh-CN" b="1" dirty="0"/>
              <a:t>y</a:t>
            </a:r>
            <a:r>
              <a:rPr lang="zh-CN" altLang="en-US" b="1" dirty="0"/>
              <a:t>＝</a:t>
            </a:r>
            <a:r>
              <a:rPr lang="en-US" altLang="zh-CN" b="1" dirty="0"/>
              <a:t>(1000</a:t>
            </a:r>
            <a:r>
              <a:rPr lang="zh-CN" altLang="en-US" b="1" dirty="0"/>
              <a:t>＋</a:t>
            </a:r>
            <a:r>
              <a:rPr lang="en-US" altLang="zh-CN" b="1" dirty="0"/>
              <a:t>600)/(1</a:t>
            </a:r>
            <a:r>
              <a:rPr lang="zh-CN" altLang="en-US" b="1" dirty="0"/>
              <a:t>－</a:t>
            </a:r>
            <a:r>
              <a:rPr lang="en-US" altLang="zh-CN" b="1" dirty="0"/>
              <a:t>0.8)</a:t>
            </a:r>
            <a:r>
              <a:rPr lang="zh-CN" altLang="en-US" b="1" dirty="0"/>
              <a:t>＝</a:t>
            </a:r>
            <a:r>
              <a:rPr lang="en-US" altLang="zh-CN" b="1" dirty="0"/>
              <a:t>8000</a:t>
            </a:r>
          </a:p>
        </p:txBody>
      </p:sp>
      <p:sp>
        <p:nvSpPr>
          <p:cNvPr id="12" name="Rectangle 69">
            <a:extLst>
              <a:ext uri="{FF2B5EF4-FFF2-40B4-BE49-F238E27FC236}">
                <a16:creationId xmlns:a16="http://schemas.microsoft.com/office/drawing/2014/main" id="{25E875C9-3088-4A5E-817B-57C4C98ABE58}"/>
              </a:ext>
            </a:extLst>
          </p:cNvPr>
          <p:cNvSpPr>
            <a:spLocks noChangeArrowheads="1"/>
          </p:cNvSpPr>
          <p:nvPr/>
        </p:nvSpPr>
        <p:spPr bwMode="auto">
          <a:xfrm>
            <a:off x="970908" y="5668861"/>
            <a:ext cx="3743325" cy="935038"/>
          </a:xfrm>
          <a:prstGeom prst="rect">
            <a:avLst/>
          </a:prstGeom>
          <a:noFill/>
          <a:ln w="3175"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hlink"/>
              </a:buClr>
              <a:buFont typeface="Wingdings" panose="05000000000000000000" pitchFamily="2" charset="2"/>
              <a:buChar char="u"/>
            </a:pPr>
            <a:r>
              <a:rPr lang="en-US" altLang="zh-CN" b="1"/>
              <a:t>s</a:t>
            </a:r>
            <a:r>
              <a:rPr lang="zh-CN" altLang="en-US" b="1"/>
              <a:t>＝</a:t>
            </a:r>
            <a:r>
              <a:rPr lang="en-US" altLang="zh-CN" b="1"/>
              <a:t>i=600</a:t>
            </a:r>
            <a:r>
              <a:rPr lang="zh-CN" altLang="en-US" b="1"/>
              <a:t>，</a:t>
            </a:r>
            <a:r>
              <a:rPr lang="en-US" altLang="zh-CN" b="1"/>
              <a:t>y</a:t>
            </a:r>
            <a:r>
              <a:rPr lang="zh-CN" altLang="en-US" b="1"/>
              <a:t>＝</a:t>
            </a:r>
            <a:r>
              <a:rPr lang="en-US" altLang="zh-CN" b="1"/>
              <a:t>8000 </a:t>
            </a:r>
          </a:p>
          <a:p>
            <a:pPr>
              <a:buClr>
                <a:schemeClr val="hlink"/>
              </a:buClr>
              <a:buFont typeface="Wingdings" panose="05000000000000000000" pitchFamily="2" charset="2"/>
              <a:buChar char="u"/>
            </a:pPr>
            <a:r>
              <a:rPr lang="en-US" altLang="zh-CN" b="1"/>
              <a:t>s</a:t>
            </a:r>
            <a:r>
              <a:rPr lang="zh-CN" altLang="en-US" b="1"/>
              <a:t>＝</a:t>
            </a:r>
            <a:r>
              <a:rPr lang="en-US" altLang="zh-CN" b="1"/>
              <a:t>0</a:t>
            </a:r>
            <a:r>
              <a:rPr lang="zh-CN" altLang="en-US" b="1"/>
              <a:t>，</a:t>
            </a:r>
            <a:r>
              <a:rPr lang="en-US" altLang="zh-CN" b="1"/>
              <a:t>y</a:t>
            </a:r>
            <a:r>
              <a:rPr lang="zh-CN" altLang="en-US" b="1"/>
              <a:t>＝</a:t>
            </a:r>
            <a:r>
              <a:rPr lang="en-US" altLang="zh-CN" b="1"/>
              <a:t>5000</a:t>
            </a:r>
          </a:p>
        </p:txBody>
      </p:sp>
      <p:pic>
        <p:nvPicPr>
          <p:cNvPr id="13" name="图片 12">
            <a:extLst>
              <a:ext uri="{FF2B5EF4-FFF2-40B4-BE49-F238E27FC236}">
                <a16:creationId xmlns:a16="http://schemas.microsoft.com/office/drawing/2014/main" id="{2E122EC8-1D82-40D6-9537-F41D1DED0674}"/>
              </a:ext>
            </a:extLst>
          </p:cNvPr>
          <p:cNvPicPr>
            <a:picLocks noChangeAspect="1"/>
          </p:cNvPicPr>
          <p:nvPr/>
        </p:nvPicPr>
        <p:blipFill>
          <a:blip r:embed="rId2"/>
          <a:stretch>
            <a:fillRect/>
          </a:stretch>
        </p:blipFill>
        <p:spPr>
          <a:xfrm>
            <a:off x="5074595" y="3734531"/>
            <a:ext cx="3962743" cy="2789162"/>
          </a:xfrm>
          <a:prstGeom prst="rect">
            <a:avLst/>
          </a:prstGeom>
        </p:spPr>
      </p:pic>
    </p:spTree>
    <p:extLst>
      <p:ext uri="{BB962C8B-B14F-4D97-AF65-F5344CB8AC3E}">
        <p14:creationId xmlns:p14="http://schemas.microsoft.com/office/powerpoint/2010/main" val="1756899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6664D5FF-7777-4E3B-857C-3ABEF9316993}"/>
              </a:ext>
            </a:extLst>
          </p:cNvPr>
          <p:cNvSpPr>
            <a:spLocks noGrp="1" noChangeArrowheads="1"/>
          </p:cNvSpPr>
          <p:nvPr>
            <p:ph type="title"/>
          </p:nvPr>
        </p:nvSpPr>
        <p:spPr>
          <a:xfrm>
            <a:off x="527141" y="522999"/>
            <a:ext cx="7198783" cy="5762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ea typeface="黑体" panose="02010609060101010101" pitchFamily="49" charset="-122"/>
              </a:rPr>
              <a:t>乘数论</a:t>
            </a:r>
          </a:p>
        </p:txBody>
      </p:sp>
      <p:sp>
        <p:nvSpPr>
          <p:cNvPr id="9" name="Rectangle 3">
            <a:extLst>
              <a:ext uri="{FF2B5EF4-FFF2-40B4-BE49-F238E27FC236}">
                <a16:creationId xmlns:a16="http://schemas.microsoft.com/office/drawing/2014/main" id="{35611FD9-64AA-451A-8D86-8A67FBEBA234}"/>
              </a:ext>
            </a:extLst>
          </p:cNvPr>
          <p:cNvSpPr txBox="1">
            <a:spLocks noChangeArrowheads="1"/>
          </p:cNvSpPr>
          <p:nvPr/>
        </p:nvSpPr>
        <p:spPr>
          <a:xfrm>
            <a:off x="1895036" y="1459624"/>
            <a:ext cx="5472112" cy="638175"/>
          </a:xfrm>
          <a:prstGeom prst="rect">
            <a:avLst/>
          </a:prstGeom>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zh-CN"/>
              <a:t>1.</a:t>
            </a:r>
            <a:r>
              <a:rPr lang="zh-CN" altLang="en-US"/>
              <a:t>对乘数的感性认识</a:t>
            </a:r>
          </a:p>
        </p:txBody>
      </p:sp>
      <p:pic>
        <p:nvPicPr>
          <p:cNvPr id="10" name="图片 9">
            <a:extLst>
              <a:ext uri="{FF2B5EF4-FFF2-40B4-BE49-F238E27FC236}">
                <a16:creationId xmlns:a16="http://schemas.microsoft.com/office/drawing/2014/main" id="{33371B9A-5190-40BB-955E-A9DED328A8A4}"/>
              </a:ext>
            </a:extLst>
          </p:cNvPr>
          <p:cNvPicPr>
            <a:picLocks noChangeAspect="1"/>
          </p:cNvPicPr>
          <p:nvPr/>
        </p:nvPicPr>
        <p:blipFill>
          <a:blip r:embed="rId2"/>
          <a:stretch>
            <a:fillRect/>
          </a:stretch>
        </p:blipFill>
        <p:spPr>
          <a:xfrm>
            <a:off x="335253" y="2097799"/>
            <a:ext cx="7582557" cy="3718882"/>
          </a:xfrm>
          <a:prstGeom prst="rect">
            <a:avLst/>
          </a:prstGeom>
        </p:spPr>
      </p:pic>
    </p:spTree>
    <p:extLst>
      <p:ext uri="{BB962C8B-B14F-4D97-AF65-F5344CB8AC3E}">
        <p14:creationId xmlns:p14="http://schemas.microsoft.com/office/powerpoint/2010/main" val="490492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C2C35F1-C4ED-4BB9-90E4-50D26871BED6}"/>
              </a:ext>
            </a:extLst>
          </p:cNvPr>
          <p:cNvSpPr>
            <a:spLocks noGrp="1" noChangeArrowheads="1"/>
          </p:cNvSpPr>
          <p:nvPr>
            <p:ph type="title"/>
          </p:nvPr>
        </p:nvSpPr>
        <p:spPr>
          <a:xfrm>
            <a:off x="838200" y="36512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t>解释</a:t>
            </a:r>
          </a:p>
        </p:txBody>
      </p:sp>
      <p:sp>
        <p:nvSpPr>
          <p:cNvPr id="5" name="Rectangle 104">
            <a:extLst>
              <a:ext uri="{FF2B5EF4-FFF2-40B4-BE49-F238E27FC236}">
                <a16:creationId xmlns:a16="http://schemas.microsoft.com/office/drawing/2014/main" id="{7FEE00DE-01DF-407A-BA60-44754CC6D6C2}"/>
              </a:ext>
            </a:extLst>
          </p:cNvPr>
          <p:cNvSpPr>
            <a:spLocks noGrp="1" noRot="1" noChangeArrowheads="1"/>
          </p:cNvSpPr>
          <p:nvPr>
            <p:ph idx="1"/>
          </p:nvPr>
        </p:nvSpPr>
        <p:spPr>
          <a:xfrm>
            <a:off x="893086" y="1323436"/>
            <a:ext cx="8351837" cy="936625"/>
          </a:xfrm>
          <a:noFill/>
          <a:ln w="3175" cmpd="tri">
            <a:solidFill>
              <a:schemeClr val="tx1"/>
            </a:solidFill>
          </a:ln>
        </p:spPr>
        <p:txBody>
          <a:bodyPr/>
          <a:lstStyle/>
          <a:p>
            <a:pPr marL="0" indent="0"/>
            <a:r>
              <a:rPr lang="zh-CN" altLang="en-US" sz="2000" b="1" dirty="0"/>
              <a:t>投资</a:t>
            </a:r>
            <a:r>
              <a:rPr lang="en-US" altLang="zh-CN" sz="2000" b="1" dirty="0"/>
              <a:t>100</a:t>
            </a:r>
            <a:r>
              <a:rPr lang="zh-CN" altLang="en-US" sz="2000" b="1" dirty="0"/>
              <a:t>购买要素，形成要素收入</a:t>
            </a:r>
            <a:r>
              <a:rPr lang="en-US" altLang="zh-CN" sz="2000" b="1" dirty="0"/>
              <a:t>y</a:t>
            </a:r>
            <a:r>
              <a:rPr lang="en-US" altLang="zh-CN" sz="2000" b="1" baseline="-25000" dirty="0"/>
              <a:t>1</a:t>
            </a:r>
            <a:r>
              <a:rPr lang="zh-CN" altLang="en-US" sz="2000" b="1" dirty="0"/>
              <a:t>＝</a:t>
            </a:r>
            <a:r>
              <a:rPr lang="en-US" altLang="zh-CN" sz="2000" b="1" dirty="0"/>
              <a:t>100</a:t>
            </a:r>
            <a:r>
              <a:rPr lang="zh-CN" altLang="en-US" sz="2000" b="1" dirty="0"/>
              <a:t>；</a:t>
            </a:r>
          </a:p>
          <a:p>
            <a:pPr marL="0" indent="0"/>
            <a:r>
              <a:rPr lang="zh-CN" altLang="en-US" sz="2000" b="1" dirty="0"/>
              <a:t>如果边际消费倾向是</a:t>
            </a:r>
            <a:r>
              <a:rPr lang="en-US" altLang="zh-CN" sz="2000" b="1" dirty="0"/>
              <a:t>0.8</a:t>
            </a:r>
            <a:r>
              <a:rPr lang="zh-CN" altLang="en-US" sz="2000" b="1" dirty="0"/>
              <a:t>，要素收入</a:t>
            </a:r>
            <a:r>
              <a:rPr lang="en-US" altLang="zh-CN" sz="2000" b="1" dirty="0"/>
              <a:t>100</a:t>
            </a:r>
            <a:r>
              <a:rPr lang="zh-CN" altLang="en-US" sz="2000" b="1" dirty="0"/>
              <a:t>中，有</a:t>
            </a:r>
            <a:r>
              <a:rPr lang="en-US" altLang="zh-CN" sz="2000" b="1" dirty="0"/>
              <a:t>80</a:t>
            </a:r>
            <a:r>
              <a:rPr lang="zh-CN" altLang="en-US" sz="2000" b="1" dirty="0"/>
              <a:t>用于购买消费品。</a:t>
            </a:r>
          </a:p>
        </p:txBody>
      </p:sp>
      <p:sp>
        <p:nvSpPr>
          <p:cNvPr id="6" name="Rectangle 105">
            <a:extLst>
              <a:ext uri="{FF2B5EF4-FFF2-40B4-BE49-F238E27FC236}">
                <a16:creationId xmlns:a16="http://schemas.microsoft.com/office/drawing/2014/main" id="{3072FA7F-6B9D-4CF9-96A6-B881F403C9D9}"/>
              </a:ext>
            </a:extLst>
          </p:cNvPr>
          <p:cNvSpPr>
            <a:spLocks noRot="1" noChangeArrowheads="1"/>
          </p:cNvSpPr>
          <p:nvPr/>
        </p:nvSpPr>
        <p:spPr bwMode="auto">
          <a:xfrm>
            <a:off x="893086" y="2475961"/>
            <a:ext cx="3887787" cy="1152525"/>
          </a:xfrm>
          <a:prstGeom prst="rect">
            <a:avLst/>
          </a:prstGeom>
          <a:noFill/>
          <a:ln w="3175"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422D8D"/>
              </a:buClr>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1pPr>
            <a:lvl2pPr marL="261938">
              <a:spcBef>
                <a:spcPct val="20000"/>
              </a:spcBef>
              <a:buClr>
                <a:schemeClr val="folHlink"/>
              </a:buClr>
              <a:buFont typeface="Wingdings" panose="05000000000000000000" pitchFamily="2" charset="2"/>
              <a:buChar char="p"/>
              <a:defRPr kumimoji="1" sz="2000">
                <a:solidFill>
                  <a:schemeClr val="tx1"/>
                </a:solidFill>
                <a:latin typeface="Times New Roman" panose="02020603050405020304" pitchFamily="18" charset="0"/>
                <a:ea typeface="宋体" panose="02010600030101010101" pitchFamily="2" charset="-122"/>
              </a:defRPr>
            </a:lvl2pPr>
            <a:lvl3pPr marL="12319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39888"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9pPr>
          </a:lstStyle>
          <a:p>
            <a:pPr>
              <a:buClr>
                <a:schemeClr val="hlink"/>
              </a:buClr>
              <a:buSzPct val="95000"/>
              <a:buFont typeface="Wingdings" panose="05000000000000000000" pitchFamily="2" charset="2"/>
              <a:buChar char="u"/>
            </a:pPr>
            <a:r>
              <a:rPr lang="en-US" altLang="zh-CN" b="1" dirty="0"/>
              <a:t>80</a:t>
            </a:r>
            <a:r>
              <a:rPr lang="zh-CN" altLang="en-US" b="1" dirty="0"/>
              <a:t>的购买形成新收入</a:t>
            </a:r>
            <a:r>
              <a:rPr lang="en-US" altLang="zh-CN" b="1" dirty="0"/>
              <a:t>y</a:t>
            </a:r>
            <a:r>
              <a:rPr lang="en-US" altLang="zh-CN" sz="1800" b="1" baseline="-25000" dirty="0"/>
              <a:t>2</a:t>
            </a:r>
            <a:r>
              <a:rPr lang="zh-CN" altLang="en-US" sz="1800" b="1" dirty="0"/>
              <a:t>＝</a:t>
            </a:r>
            <a:r>
              <a:rPr lang="zh-CN" altLang="en-US" b="1" dirty="0"/>
              <a:t> </a:t>
            </a:r>
            <a:r>
              <a:rPr lang="en-US" altLang="zh-CN" b="1" dirty="0"/>
              <a:t>80</a:t>
            </a:r>
          </a:p>
          <a:p>
            <a:pPr>
              <a:buClr>
                <a:schemeClr val="hlink"/>
              </a:buClr>
              <a:buSzPct val="95000"/>
              <a:buFont typeface="Wingdings" panose="05000000000000000000" pitchFamily="2" charset="2"/>
              <a:buChar char="u"/>
            </a:pPr>
            <a:r>
              <a:rPr lang="zh-CN" altLang="en-US" b="1" dirty="0"/>
              <a:t>其中</a:t>
            </a:r>
            <a:r>
              <a:rPr lang="en-US" altLang="zh-CN" b="1" dirty="0"/>
              <a:t>80×0.8</a:t>
            </a:r>
            <a:r>
              <a:rPr lang="zh-CN" altLang="en-US" b="1" dirty="0"/>
              <a:t>＝</a:t>
            </a:r>
            <a:r>
              <a:rPr lang="en-US" altLang="zh-CN" b="1" dirty="0"/>
              <a:t>64</a:t>
            </a:r>
            <a:r>
              <a:rPr lang="zh-CN" altLang="en-US" b="1" dirty="0"/>
              <a:t>再次购买</a:t>
            </a:r>
          </a:p>
          <a:p>
            <a:pPr>
              <a:buClr>
                <a:schemeClr val="hlink"/>
              </a:buClr>
              <a:buSzPct val="95000"/>
              <a:buFont typeface="Wingdings" panose="05000000000000000000" pitchFamily="2" charset="2"/>
              <a:buChar char="u"/>
            </a:pPr>
            <a:r>
              <a:rPr lang="zh-CN" altLang="en-US" b="1" dirty="0"/>
              <a:t>形成新的收入</a:t>
            </a:r>
            <a:r>
              <a:rPr lang="en-US" altLang="zh-CN" b="1" dirty="0"/>
              <a:t>y</a:t>
            </a:r>
            <a:r>
              <a:rPr lang="en-US" altLang="zh-CN" sz="1800" b="1" baseline="-25000" dirty="0"/>
              <a:t>3</a:t>
            </a:r>
            <a:r>
              <a:rPr lang="zh-CN" altLang="en-US" b="1" dirty="0"/>
              <a:t>＝</a:t>
            </a:r>
            <a:r>
              <a:rPr lang="en-US" altLang="zh-CN" b="1" dirty="0"/>
              <a:t>64</a:t>
            </a:r>
          </a:p>
        </p:txBody>
      </p:sp>
      <p:sp>
        <p:nvSpPr>
          <p:cNvPr id="7" name="Rectangle 106">
            <a:extLst>
              <a:ext uri="{FF2B5EF4-FFF2-40B4-BE49-F238E27FC236}">
                <a16:creationId xmlns:a16="http://schemas.microsoft.com/office/drawing/2014/main" id="{433C7D69-4A24-4CF1-A48A-5426E8470084}"/>
              </a:ext>
            </a:extLst>
          </p:cNvPr>
          <p:cNvSpPr>
            <a:spLocks noRot="1" noChangeArrowheads="1"/>
          </p:cNvSpPr>
          <p:nvPr/>
        </p:nvSpPr>
        <p:spPr bwMode="auto">
          <a:xfrm>
            <a:off x="893086" y="3771360"/>
            <a:ext cx="3887787" cy="1441450"/>
          </a:xfrm>
          <a:prstGeom prst="rect">
            <a:avLst/>
          </a:prstGeom>
          <a:noFill/>
          <a:ln w="3175"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422D8D"/>
              </a:buClr>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1pPr>
            <a:lvl2pPr marL="261938">
              <a:spcBef>
                <a:spcPct val="20000"/>
              </a:spcBef>
              <a:buClr>
                <a:schemeClr val="folHlink"/>
              </a:buClr>
              <a:buFont typeface="Wingdings" panose="05000000000000000000" pitchFamily="2" charset="2"/>
              <a:buChar char="p"/>
              <a:defRPr kumimoji="1" sz="2000">
                <a:solidFill>
                  <a:schemeClr val="tx1"/>
                </a:solidFill>
                <a:latin typeface="Times New Roman" panose="02020603050405020304" pitchFamily="18" charset="0"/>
                <a:ea typeface="宋体" panose="02010600030101010101" pitchFamily="2" charset="-122"/>
              </a:defRPr>
            </a:lvl2pPr>
            <a:lvl3pPr marL="12319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39888"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9pPr>
          </a:lstStyle>
          <a:p>
            <a:pPr>
              <a:buClr>
                <a:schemeClr val="hlink"/>
              </a:buClr>
              <a:buSzPct val="95000"/>
              <a:buFont typeface="Wingdings" panose="05000000000000000000" pitchFamily="2" charset="2"/>
              <a:buChar char="u"/>
            </a:pPr>
            <a:r>
              <a:rPr lang="zh-CN" altLang="en-US" b="1" dirty="0"/>
              <a:t>如此，循环往复，</a:t>
            </a:r>
          </a:p>
          <a:p>
            <a:pPr>
              <a:buClr>
                <a:schemeClr val="hlink"/>
              </a:buClr>
              <a:buSzPct val="95000"/>
              <a:buFont typeface="Wingdings" panose="05000000000000000000" pitchFamily="2" charset="2"/>
              <a:buChar char="u"/>
            </a:pPr>
            <a:r>
              <a:rPr lang="zh-CN" altLang="en-US" b="1" dirty="0"/>
              <a:t>总收入</a:t>
            </a:r>
            <a:r>
              <a:rPr lang="en-US" altLang="zh-CN" b="1" dirty="0"/>
              <a:t>y</a:t>
            </a:r>
            <a:r>
              <a:rPr lang="zh-CN" altLang="en-US" b="1" dirty="0"/>
              <a:t>＝</a:t>
            </a:r>
            <a:r>
              <a:rPr lang="en-US" altLang="zh-CN" b="1" dirty="0"/>
              <a:t>100</a:t>
            </a:r>
            <a:r>
              <a:rPr lang="zh-CN" altLang="en-US" b="1" dirty="0"/>
              <a:t>＋</a:t>
            </a:r>
            <a:r>
              <a:rPr lang="en-US" altLang="zh-CN" b="1" dirty="0"/>
              <a:t>100</a:t>
            </a:r>
            <a:r>
              <a:rPr lang="en-US" altLang="zh-CN" b="1" dirty="0">
                <a:sym typeface="Wingdings 2" panose="05020102010507070707" pitchFamily="18" charset="2"/>
              </a:rPr>
              <a:t>0.8</a:t>
            </a:r>
            <a:r>
              <a:rPr lang="zh-CN" altLang="en-US" b="1" dirty="0">
                <a:sym typeface="Wingdings 2" panose="05020102010507070707" pitchFamily="18" charset="2"/>
              </a:rPr>
              <a:t>＋</a:t>
            </a:r>
            <a:r>
              <a:rPr lang="en-US" altLang="zh-CN" b="1" dirty="0">
                <a:sym typeface="Wingdings 2" panose="05020102010507070707" pitchFamily="18" charset="2"/>
              </a:rPr>
              <a:t>1000.80.8</a:t>
            </a:r>
            <a:r>
              <a:rPr lang="zh-CN" altLang="en-US" b="1" dirty="0">
                <a:sym typeface="Wingdings 2" panose="05020102010507070707" pitchFamily="18" charset="2"/>
              </a:rPr>
              <a:t>＋</a:t>
            </a:r>
            <a:r>
              <a:rPr lang="en-US" altLang="zh-CN" b="1" dirty="0">
                <a:sym typeface="Wingdings 2" panose="05020102010507070707" pitchFamily="18" charset="2"/>
              </a:rPr>
              <a:t>....</a:t>
            </a:r>
            <a:r>
              <a:rPr lang="zh-CN" altLang="en-US" b="1" dirty="0">
                <a:sym typeface="Wingdings 2" panose="05020102010507070707" pitchFamily="18" charset="2"/>
              </a:rPr>
              <a:t>＝</a:t>
            </a:r>
            <a:r>
              <a:rPr lang="en-US" altLang="zh-CN" b="1" dirty="0">
                <a:sym typeface="Wingdings 2" panose="05020102010507070707" pitchFamily="18" charset="2"/>
              </a:rPr>
              <a:t>100  1/</a:t>
            </a:r>
            <a:r>
              <a:rPr lang="zh-CN" altLang="en-US" b="1" dirty="0">
                <a:sym typeface="Wingdings 2" panose="05020102010507070707" pitchFamily="18" charset="2"/>
              </a:rPr>
              <a:t>（</a:t>
            </a:r>
            <a:r>
              <a:rPr lang="en-US" altLang="zh-CN" b="1" dirty="0">
                <a:sym typeface="Wingdings 2" panose="05020102010507070707" pitchFamily="18" charset="2"/>
              </a:rPr>
              <a:t>1</a:t>
            </a:r>
            <a:r>
              <a:rPr lang="zh-CN" altLang="en-US" b="1" dirty="0">
                <a:sym typeface="Wingdings 2" panose="05020102010507070707" pitchFamily="18" charset="2"/>
              </a:rPr>
              <a:t>－</a:t>
            </a:r>
            <a:r>
              <a:rPr lang="en-US" altLang="zh-CN" b="1" dirty="0">
                <a:sym typeface="Wingdings 2" panose="05020102010507070707" pitchFamily="18" charset="2"/>
              </a:rPr>
              <a:t>0.8</a:t>
            </a:r>
            <a:r>
              <a:rPr lang="zh-CN" altLang="en-US" b="1" dirty="0">
                <a:sym typeface="Wingdings 2" panose="05020102010507070707" pitchFamily="18" charset="2"/>
              </a:rPr>
              <a:t>）＝</a:t>
            </a:r>
            <a:r>
              <a:rPr lang="en-US" altLang="zh-CN" b="1" dirty="0">
                <a:sym typeface="Wingdings 2" panose="05020102010507070707" pitchFamily="18" charset="2"/>
              </a:rPr>
              <a:t>500</a:t>
            </a:r>
          </a:p>
        </p:txBody>
      </p:sp>
      <p:pic>
        <p:nvPicPr>
          <p:cNvPr id="8" name="图片 7">
            <a:extLst>
              <a:ext uri="{FF2B5EF4-FFF2-40B4-BE49-F238E27FC236}">
                <a16:creationId xmlns:a16="http://schemas.microsoft.com/office/drawing/2014/main" id="{55058B1E-6B00-405A-95B4-AE72534827F4}"/>
              </a:ext>
            </a:extLst>
          </p:cNvPr>
          <p:cNvPicPr>
            <a:picLocks noChangeAspect="1"/>
          </p:cNvPicPr>
          <p:nvPr/>
        </p:nvPicPr>
        <p:blipFill>
          <a:blip r:embed="rId2"/>
          <a:stretch>
            <a:fillRect/>
          </a:stretch>
        </p:blipFill>
        <p:spPr>
          <a:xfrm>
            <a:off x="5069004" y="2475961"/>
            <a:ext cx="3848433" cy="3581710"/>
          </a:xfrm>
          <a:prstGeom prst="rect">
            <a:avLst/>
          </a:prstGeom>
        </p:spPr>
      </p:pic>
    </p:spTree>
    <p:extLst>
      <p:ext uri="{BB962C8B-B14F-4D97-AF65-F5344CB8AC3E}">
        <p14:creationId xmlns:p14="http://schemas.microsoft.com/office/powerpoint/2010/main" val="2706799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F83DDEC-7DDF-49E8-A56A-BF3F45E53D5B}"/>
              </a:ext>
            </a:extLst>
          </p:cNvPr>
          <p:cNvSpPr>
            <a:spLocks noGrp="1" noChangeArrowheads="1"/>
          </p:cNvSpPr>
          <p:nvPr>
            <p:ph type="title"/>
          </p:nvPr>
        </p:nvSpPr>
        <p:spPr>
          <a:xfrm>
            <a:off x="235309" y="454905"/>
            <a:ext cx="7198783" cy="5762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t>乘数理论</a:t>
            </a:r>
            <a:r>
              <a:rPr lang="zh-CN" altLang="en-US" sz="2800" dirty="0">
                <a:solidFill>
                  <a:srgbClr val="CB5323"/>
                </a:solidFill>
              </a:rPr>
              <a:t>（</a:t>
            </a:r>
            <a:r>
              <a:rPr lang="en-US" altLang="zh-CN" sz="2800" dirty="0">
                <a:solidFill>
                  <a:srgbClr val="CB5323"/>
                </a:solidFill>
              </a:rPr>
              <a:t>multiplier</a:t>
            </a:r>
            <a:r>
              <a:rPr lang="zh-CN" altLang="en-US" sz="2800" dirty="0">
                <a:solidFill>
                  <a:srgbClr val="CB5323"/>
                </a:solidFill>
              </a:rPr>
              <a:t>） ：</a:t>
            </a:r>
            <a:r>
              <a:rPr lang="en-US" altLang="zh-CN" sz="2800" dirty="0">
                <a:solidFill>
                  <a:srgbClr val="CB5323"/>
                </a:solidFill>
              </a:rPr>
              <a:t>K</a:t>
            </a:r>
          </a:p>
        </p:txBody>
      </p:sp>
      <p:sp>
        <p:nvSpPr>
          <p:cNvPr id="5" name="Rectangle 3">
            <a:extLst>
              <a:ext uri="{FF2B5EF4-FFF2-40B4-BE49-F238E27FC236}">
                <a16:creationId xmlns:a16="http://schemas.microsoft.com/office/drawing/2014/main" id="{6FBA0091-373C-4ADC-B388-7E2786DAFFC7}"/>
              </a:ext>
            </a:extLst>
          </p:cNvPr>
          <p:cNvSpPr txBox="1">
            <a:spLocks noChangeArrowheads="1"/>
          </p:cNvSpPr>
          <p:nvPr/>
        </p:nvSpPr>
        <p:spPr>
          <a:xfrm>
            <a:off x="1674641" y="5855580"/>
            <a:ext cx="8064500" cy="576263"/>
          </a:xfrm>
          <a:prstGeom prst="rect">
            <a:avLst/>
          </a:prstGeom>
          <a:noFill/>
          <a:ln w="3175" cap="flat" cmpd="sng">
            <a:solidFill>
              <a:schemeClr val="tx1"/>
            </a:solid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hlink"/>
              </a:buClr>
              <a:buSzPct val="95000"/>
              <a:buFont typeface="Wingdings" panose="05000000000000000000" pitchFamily="2" charset="2"/>
              <a:buChar char="u"/>
            </a:pPr>
            <a:r>
              <a:rPr lang="zh-CN" altLang="en-US" b="1" dirty="0">
                <a:latin typeface="黑体" panose="02010609060101010101" pitchFamily="49" charset="-122"/>
                <a:ea typeface="黑体" panose="02010609060101010101" pitchFamily="49" charset="-122"/>
              </a:rPr>
              <a:t>乘数</a:t>
            </a:r>
            <a:r>
              <a:rPr lang="en-US" altLang="zh-CN" b="1" dirty="0">
                <a:latin typeface="黑体" panose="02010609060101010101" pitchFamily="49" charset="-122"/>
                <a:ea typeface="黑体" panose="02010609060101010101" pitchFamily="49" charset="-122"/>
              </a:rPr>
              <a:t>K</a:t>
            </a:r>
            <a:r>
              <a:rPr lang="zh-CN" altLang="en-US" b="1" dirty="0">
                <a:latin typeface="黑体" panose="02010609060101010101" pitchFamily="49" charset="-122"/>
                <a:ea typeface="黑体" panose="02010609060101010101" pitchFamily="49" charset="-122"/>
              </a:rPr>
              <a:t>：总需求</a:t>
            </a:r>
            <a:r>
              <a:rPr lang="zh-CN" altLang="en-US" sz="1800" b="1" dirty="0">
                <a:solidFill>
                  <a:srgbClr val="FFFF00"/>
                </a:solidFill>
                <a:latin typeface="黑体" panose="02010609060101010101" pitchFamily="49" charset="-122"/>
                <a:ea typeface="黑体" panose="02010609060101010101" pitchFamily="49" charset="-122"/>
              </a:rPr>
              <a:t>（</a:t>
            </a:r>
            <a:r>
              <a:rPr lang="en-US" altLang="zh-CN" sz="1800" b="1" dirty="0">
                <a:solidFill>
                  <a:srgbClr val="FFFF00"/>
                </a:solidFill>
                <a:latin typeface="黑体" panose="02010609060101010101" pitchFamily="49" charset="-122"/>
                <a:ea typeface="黑体" panose="02010609060101010101" pitchFamily="49" charset="-122"/>
              </a:rPr>
              <a:t>I</a:t>
            </a:r>
            <a:r>
              <a:rPr lang="zh-CN" altLang="en-US" sz="1800" b="1" dirty="0">
                <a:solidFill>
                  <a:srgbClr val="FFFF00"/>
                </a:solidFill>
                <a:latin typeface="黑体" panose="02010609060101010101" pitchFamily="49" charset="-122"/>
                <a:ea typeface="黑体" panose="02010609060101010101" pitchFamily="49" charset="-122"/>
              </a:rPr>
              <a:t>、</a:t>
            </a:r>
            <a:r>
              <a:rPr lang="en-US" altLang="zh-CN" sz="1800" b="1" dirty="0">
                <a:solidFill>
                  <a:srgbClr val="FFFF00"/>
                </a:solidFill>
                <a:latin typeface="黑体" panose="02010609060101010101" pitchFamily="49" charset="-122"/>
                <a:ea typeface="黑体" panose="02010609060101010101" pitchFamily="49" charset="-122"/>
              </a:rPr>
              <a:t>C</a:t>
            </a:r>
            <a:r>
              <a:rPr lang="zh-CN" altLang="en-US" sz="1800" b="1" dirty="0">
                <a:solidFill>
                  <a:srgbClr val="FFFF00"/>
                </a:solidFill>
                <a:latin typeface="黑体" panose="02010609060101010101" pitchFamily="49" charset="-122"/>
                <a:ea typeface="黑体" panose="02010609060101010101" pitchFamily="49" charset="-122"/>
              </a:rPr>
              <a:t>等）</a:t>
            </a:r>
            <a:r>
              <a:rPr lang="zh-CN" altLang="en-US" b="1" dirty="0">
                <a:latin typeface="黑体" panose="02010609060101010101" pitchFamily="49" charset="-122"/>
                <a:ea typeface="黑体" panose="02010609060101010101" pitchFamily="49" charset="-122"/>
              </a:rPr>
              <a:t>变化导致国民收入变化的倍数。</a:t>
            </a:r>
            <a:endParaRPr lang="zh-CN" altLang="en-US" b="1" dirty="0">
              <a:ea typeface="仿宋_GB2312" pitchFamily="49" charset="-122"/>
            </a:endParaRPr>
          </a:p>
        </p:txBody>
      </p:sp>
      <p:sp>
        <p:nvSpPr>
          <p:cNvPr id="6" name="AutoShape 6">
            <a:extLst>
              <a:ext uri="{FF2B5EF4-FFF2-40B4-BE49-F238E27FC236}">
                <a16:creationId xmlns:a16="http://schemas.microsoft.com/office/drawing/2014/main" id="{E4FDE9D6-02CC-4E5C-9F91-EF1CA7D357A4}"/>
              </a:ext>
            </a:extLst>
          </p:cNvPr>
          <p:cNvSpPr>
            <a:spLocks noChangeArrowheads="1"/>
          </p:cNvSpPr>
          <p:nvPr/>
        </p:nvSpPr>
        <p:spPr bwMode="auto">
          <a:xfrm rot="16200000">
            <a:off x="3870948" y="4378411"/>
            <a:ext cx="431800" cy="1512887"/>
          </a:xfrm>
          <a:prstGeom prst="downArrow">
            <a:avLst>
              <a:gd name="adj1" fmla="val 50000"/>
              <a:gd name="adj2" fmla="val 87592"/>
            </a:avLst>
          </a:prstGeom>
          <a:solidFill>
            <a:schemeClr val="accent1"/>
          </a:solidFill>
          <a:ln w="9525">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AutoShape 9">
            <a:extLst>
              <a:ext uri="{FF2B5EF4-FFF2-40B4-BE49-F238E27FC236}">
                <a16:creationId xmlns:a16="http://schemas.microsoft.com/office/drawing/2014/main" id="{05DEDAED-C7FB-4712-B028-726105C5C9C1}"/>
              </a:ext>
            </a:extLst>
          </p:cNvPr>
          <p:cNvSpPr>
            <a:spLocks noChangeArrowheads="1"/>
          </p:cNvSpPr>
          <p:nvPr/>
        </p:nvSpPr>
        <p:spPr bwMode="auto">
          <a:xfrm rot="16200000">
            <a:off x="4914729" y="2974267"/>
            <a:ext cx="647700" cy="1800225"/>
          </a:xfrm>
          <a:prstGeom prst="downArrow">
            <a:avLst>
              <a:gd name="adj1" fmla="val 50000"/>
              <a:gd name="adj2" fmla="val 69485"/>
            </a:avLst>
          </a:prstGeom>
          <a:solidFill>
            <a:schemeClr val="accent1"/>
          </a:solidFill>
          <a:ln w="9525">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Text Box 11">
            <a:extLst>
              <a:ext uri="{FF2B5EF4-FFF2-40B4-BE49-F238E27FC236}">
                <a16:creationId xmlns:a16="http://schemas.microsoft.com/office/drawing/2014/main" id="{8D1065BE-DD63-4FE7-B000-031140C98FA2}"/>
              </a:ext>
            </a:extLst>
          </p:cNvPr>
          <p:cNvSpPr txBox="1">
            <a:spLocks noChangeArrowheads="1"/>
          </p:cNvSpPr>
          <p:nvPr/>
        </p:nvSpPr>
        <p:spPr bwMode="auto">
          <a:xfrm>
            <a:off x="1603205" y="2686930"/>
            <a:ext cx="8135937" cy="400110"/>
          </a:xfrm>
          <a:prstGeom prst="rect">
            <a:avLst/>
          </a:prstGeom>
          <a:noFill/>
          <a:ln w="3175" cmpd="tri">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rgbClr val="336600"/>
              </a:buClr>
              <a:buSzPct val="95000"/>
              <a:buFont typeface="Wingdings" panose="05000000000000000000" pitchFamily="2" charset="2"/>
              <a:buChar char="l"/>
            </a:pPr>
            <a:r>
              <a:rPr kumimoji="0" lang="zh-CN" altLang="en-US" b="1" dirty="0">
                <a:latin typeface="Arial" panose="020B0604020202020204" pitchFamily="34" charset="0"/>
              </a:rPr>
              <a:t>令 </a:t>
            </a:r>
            <a:r>
              <a:rPr kumimoji="0" lang="zh-CN" altLang="en-US" sz="2000" b="1" dirty="0">
                <a:solidFill>
                  <a:srgbClr val="FFFF00"/>
                </a:solidFill>
                <a:latin typeface="Arial" panose="020B0604020202020204" pitchFamily="34" charset="0"/>
              </a:rPr>
              <a:t>（原始的或自发的）</a:t>
            </a:r>
            <a:r>
              <a:rPr kumimoji="0" lang="zh-CN" altLang="en-US" b="1" dirty="0">
                <a:latin typeface="Arial" panose="020B0604020202020204" pitchFamily="34" charset="0"/>
              </a:rPr>
              <a:t>总需求</a:t>
            </a:r>
            <a:r>
              <a:rPr kumimoji="0" lang="en-US" altLang="zh-CN" b="1" dirty="0">
                <a:latin typeface="Arial" panose="020B0604020202020204" pitchFamily="34" charset="0"/>
              </a:rPr>
              <a:t>AD</a:t>
            </a:r>
            <a:r>
              <a:rPr kumimoji="0" lang="zh-CN" altLang="en-US" b="1" dirty="0">
                <a:latin typeface="Arial" panose="020B0604020202020204" pitchFamily="34" charset="0"/>
              </a:rPr>
              <a:t>＝</a:t>
            </a:r>
            <a:r>
              <a:rPr kumimoji="0" lang="en-US" altLang="zh-CN" b="1" dirty="0">
                <a:latin typeface="Arial" panose="020B0604020202020204" pitchFamily="34" charset="0"/>
              </a:rPr>
              <a:t>a</a:t>
            </a:r>
            <a:r>
              <a:rPr kumimoji="0" lang="zh-CN" altLang="en-US" b="1" dirty="0">
                <a:latin typeface="Arial" panose="020B0604020202020204" pitchFamily="34" charset="0"/>
              </a:rPr>
              <a:t>＋</a:t>
            </a:r>
            <a:r>
              <a:rPr kumimoji="0" lang="en-US" altLang="zh-CN" b="1" dirty="0" err="1">
                <a:latin typeface="Arial" panose="020B0604020202020204" pitchFamily="34" charset="0"/>
              </a:rPr>
              <a:t>i</a:t>
            </a:r>
            <a:r>
              <a:rPr kumimoji="0" lang="en-US" altLang="zh-CN" b="1" dirty="0">
                <a:latin typeface="Arial" panose="020B0604020202020204" pitchFamily="34" charset="0"/>
              </a:rPr>
              <a:t>  </a:t>
            </a:r>
            <a:r>
              <a:rPr kumimoji="0" lang="zh-CN" altLang="en-US" b="1" dirty="0">
                <a:latin typeface="Arial" panose="020B0604020202020204" pitchFamily="34" charset="0"/>
              </a:rPr>
              <a:t>则 </a:t>
            </a:r>
            <a:r>
              <a:rPr kumimoji="0" lang="en-US" altLang="zh-CN" b="1" dirty="0">
                <a:latin typeface="Arial" panose="020B0604020202020204" pitchFamily="34" charset="0"/>
              </a:rPr>
              <a:t>y</a:t>
            </a:r>
            <a:r>
              <a:rPr kumimoji="0" lang="zh-CN" altLang="en-US" b="1" dirty="0">
                <a:latin typeface="Arial" panose="020B0604020202020204" pitchFamily="34" charset="0"/>
              </a:rPr>
              <a:t>＝</a:t>
            </a:r>
            <a:r>
              <a:rPr kumimoji="0" lang="en-US" altLang="zh-CN" b="1" dirty="0">
                <a:latin typeface="Arial" panose="020B0604020202020204" pitchFamily="34" charset="0"/>
              </a:rPr>
              <a:t>AD/(1</a:t>
            </a:r>
            <a:r>
              <a:rPr kumimoji="0" lang="zh-CN" altLang="en-US" b="1" dirty="0">
                <a:latin typeface="Arial" panose="020B0604020202020204" pitchFamily="34" charset="0"/>
              </a:rPr>
              <a:t>－</a:t>
            </a:r>
            <a:r>
              <a:rPr kumimoji="0" lang="en-US" altLang="zh-CN" b="1" dirty="0">
                <a:latin typeface="Arial" panose="020B0604020202020204" pitchFamily="34" charset="0"/>
              </a:rPr>
              <a:t>b)</a:t>
            </a:r>
          </a:p>
        </p:txBody>
      </p:sp>
      <p:sp>
        <p:nvSpPr>
          <p:cNvPr id="9" name="Rectangle 12">
            <a:extLst>
              <a:ext uri="{FF2B5EF4-FFF2-40B4-BE49-F238E27FC236}">
                <a16:creationId xmlns:a16="http://schemas.microsoft.com/office/drawing/2014/main" id="{708839C4-C275-48ED-9526-5E4F042E698D}"/>
              </a:ext>
            </a:extLst>
          </p:cNvPr>
          <p:cNvSpPr>
            <a:spLocks noChangeArrowheads="1"/>
          </p:cNvSpPr>
          <p:nvPr/>
        </p:nvSpPr>
        <p:spPr bwMode="auto">
          <a:xfrm>
            <a:off x="5130629" y="1247068"/>
            <a:ext cx="4608512" cy="1274195"/>
          </a:xfrm>
          <a:prstGeom prst="rect">
            <a:avLst/>
          </a:prstGeom>
          <a:noFill/>
          <a:ln w="3175" cmpd="tri">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rgbClr val="336600"/>
              </a:buClr>
              <a:buSzPct val="95000"/>
              <a:buFont typeface="Wingdings" panose="05000000000000000000" pitchFamily="2" charset="2"/>
              <a:buChar char="l"/>
            </a:pPr>
            <a:r>
              <a:rPr kumimoji="0" lang="en-US" altLang="zh-CN" b="1"/>
              <a:t> a</a:t>
            </a:r>
            <a:r>
              <a:rPr kumimoji="0" lang="zh-CN" altLang="en-US" b="1"/>
              <a:t>＝自发消费 ：最低消费</a:t>
            </a:r>
          </a:p>
          <a:p>
            <a:pPr>
              <a:buClr>
                <a:srgbClr val="336600"/>
              </a:buClr>
              <a:buSzPct val="95000"/>
              <a:buFont typeface="Wingdings" panose="05000000000000000000" pitchFamily="2" charset="2"/>
              <a:buChar char="l"/>
            </a:pPr>
            <a:r>
              <a:rPr lang="zh-CN" altLang="en-US" b="1">
                <a:effectLst>
                  <a:outerShdw blurRad="38100" dist="38100" dir="2700000" algn="tl">
                    <a:srgbClr val="000000"/>
                  </a:outerShdw>
                </a:effectLst>
              </a:rPr>
              <a:t> </a:t>
            </a:r>
            <a:r>
              <a:rPr lang="en-US" altLang="zh-CN" b="1">
                <a:effectLst>
                  <a:outerShdw blurRad="38100" dist="38100" dir="2700000" algn="tl">
                    <a:srgbClr val="000000"/>
                  </a:outerShdw>
                </a:effectLst>
              </a:rPr>
              <a:t>i </a:t>
            </a:r>
            <a:r>
              <a:rPr lang="zh-CN" altLang="en-US" b="1">
                <a:effectLst>
                  <a:outerShdw blurRad="38100" dist="38100" dir="2700000" algn="tl">
                    <a:srgbClr val="000000"/>
                  </a:outerShdw>
                </a:effectLst>
              </a:rPr>
              <a:t>＝ </a:t>
            </a:r>
            <a:r>
              <a:rPr lang="zh-CN" altLang="en-US" b="1"/>
              <a:t>固定自发计划投资</a:t>
            </a:r>
          </a:p>
          <a:p>
            <a:pPr>
              <a:spcBef>
                <a:spcPct val="20000"/>
              </a:spcBef>
              <a:buClr>
                <a:srgbClr val="336600"/>
              </a:buClr>
              <a:buSzPct val="95000"/>
              <a:buFont typeface="Wingdings" panose="05000000000000000000" pitchFamily="2" charset="2"/>
              <a:buChar char="l"/>
            </a:pPr>
            <a:r>
              <a:rPr lang="zh-CN" altLang="en-US" b="1"/>
              <a:t> </a:t>
            </a:r>
            <a:r>
              <a:rPr lang="en-US" altLang="zh-CN" b="1"/>
              <a:t>b</a:t>
            </a:r>
            <a:r>
              <a:rPr lang="zh-CN" altLang="en-US" b="1"/>
              <a:t>＝边际消费倾向</a:t>
            </a:r>
          </a:p>
        </p:txBody>
      </p:sp>
      <p:sp>
        <p:nvSpPr>
          <p:cNvPr id="10" name="Rectangle 13">
            <a:extLst>
              <a:ext uri="{FF2B5EF4-FFF2-40B4-BE49-F238E27FC236}">
                <a16:creationId xmlns:a16="http://schemas.microsoft.com/office/drawing/2014/main" id="{1C779800-9F9F-402B-89ED-ABC9EA3C3C1B}"/>
              </a:ext>
            </a:extLst>
          </p:cNvPr>
          <p:cNvSpPr>
            <a:spLocks noChangeArrowheads="1"/>
          </p:cNvSpPr>
          <p:nvPr/>
        </p:nvSpPr>
        <p:spPr bwMode="auto">
          <a:xfrm>
            <a:off x="1603205" y="1320093"/>
            <a:ext cx="3311525" cy="904863"/>
          </a:xfrm>
          <a:prstGeom prst="rect">
            <a:avLst/>
          </a:prstGeom>
          <a:noFill/>
          <a:ln w="3175"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rgbClr val="FF0000"/>
              </a:buClr>
              <a:buSzPct val="95000"/>
              <a:buFont typeface="Wingdings" panose="05000000000000000000" pitchFamily="2" charset="2"/>
              <a:buChar char="n"/>
            </a:pPr>
            <a:r>
              <a:rPr lang="zh-CN" altLang="en-US" b="1"/>
              <a:t>均衡</a:t>
            </a:r>
            <a:r>
              <a:rPr lang="zh-CN" altLang="zh-CN" b="1"/>
              <a:t>国民收入</a:t>
            </a:r>
            <a:r>
              <a:rPr lang="zh-CN" altLang="en-US" b="1"/>
              <a:t>：</a:t>
            </a:r>
          </a:p>
          <a:p>
            <a:pPr>
              <a:spcBef>
                <a:spcPct val="20000"/>
              </a:spcBef>
              <a:buClr>
                <a:srgbClr val="FF0000"/>
              </a:buClr>
              <a:buSzPct val="95000"/>
              <a:buFont typeface="Wingdings" panose="05000000000000000000" pitchFamily="2" charset="2"/>
              <a:buChar char="n"/>
            </a:pPr>
            <a:r>
              <a:rPr lang="en-US" altLang="zh-CN" b="1"/>
              <a:t>y =( a+i)/(1-b)</a:t>
            </a:r>
          </a:p>
        </p:txBody>
      </p:sp>
      <p:pic>
        <p:nvPicPr>
          <p:cNvPr id="11" name="Picture 16">
            <a:extLst>
              <a:ext uri="{FF2B5EF4-FFF2-40B4-BE49-F238E27FC236}">
                <a16:creationId xmlns:a16="http://schemas.microsoft.com/office/drawing/2014/main" id="{6B6CD169-139C-49AF-864F-141B03BB7F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3205" y="3336217"/>
            <a:ext cx="2663825" cy="14097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7">
            <a:extLst>
              <a:ext uri="{FF2B5EF4-FFF2-40B4-BE49-F238E27FC236}">
                <a16:creationId xmlns:a16="http://schemas.microsoft.com/office/drawing/2014/main" id="{19541EE4-18A9-434C-8181-DCB9A55798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8692" y="3479092"/>
            <a:ext cx="2232025" cy="9779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0">
            <a:extLst>
              <a:ext uri="{FF2B5EF4-FFF2-40B4-BE49-F238E27FC236}">
                <a16:creationId xmlns:a16="http://schemas.microsoft.com/office/drawing/2014/main" id="{E9D6C4B1-EFD5-4792-A6BF-CE519E12CA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4641" y="4847518"/>
            <a:ext cx="1511300" cy="776287"/>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14" name="Picture 22">
            <a:extLst>
              <a:ext uri="{FF2B5EF4-FFF2-40B4-BE49-F238E27FC236}">
                <a16:creationId xmlns:a16="http://schemas.microsoft.com/office/drawing/2014/main" id="{D4888557-E2B1-4AB2-B050-BA7B3A7AA0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4730" y="4626854"/>
            <a:ext cx="3425825" cy="90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89087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EF215241-C7F1-4F3F-918A-E361A50EB552}"/>
              </a:ext>
            </a:extLst>
          </p:cNvPr>
          <p:cNvSpPr>
            <a:spLocks noGrp="1" noChangeArrowheads="1"/>
          </p:cNvSpPr>
          <p:nvPr>
            <p:ph type="title"/>
          </p:nvPr>
        </p:nvSpPr>
        <p:spPr>
          <a:xfrm>
            <a:off x="595004" y="36512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t>乘数的作用</a:t>
            </a:r>
          </a:p>
        </p:txBody>
      </p:sp>
      <p:sp>
        <p:nvSpPr>
          <p:cNvPr id="5" name="Rectangle 9">
            <a:extLst>
              <a:ext uri="{FF2B5EF4-FFF2-40B4-BE49-F238E27FC236}">
                <a16:creationId xmlns:a16="http://schemas.microsoft.com/office/drawing/2014/main" id="{942FD5B0-BB9C-4C7D-9E35-2718553FA47D}"/>
              </a:ext>
            </a:extLst>
          </p:cNvPr>
          <p:cNvSpPr>
            <a:spLocks noGrp="1" noChangeArrowheads="1"/>
          </p:cNvSpPr>
          <p:nvPr>
            <p:ph sz="half" idx="1"/>
          </p:nvPr>
        </p:nvSpPr>
        <p:spPr>
          <a:xfrm>
            <a:off x="601253" y="2060576"/>
            <a:ext cx="3990975" cy="1008063"/>
          </a:xfrm>
          <a:noFill/>
          <a:ln w="3175" cap="flat" cmpd="sng">
            <a:solidFill>
              <a:schemeClr val="tx1"/>
            </a:solidFill>
            <a:headEnd type="none" w="med" len="med"/>
            <a:tailEnd type="none" w="med" len="med"/>
          </a:ln>
        </p:spPr>
        <p:txBody>
          <a:bodyPr>
            <a:normAutofit fontScale="92500" lnSpcReduction="20000"/>
          </a:bodyPr>
          <a:lstStyle/>
          <a:p>
            <a:pPr marL="0" indent="0">
              <a:buClr>
                <a:srgbClr val="006600"/>
              </a:buClr>
              <a:buSzPct val="95000"/>
              <a:buFont typeface="Wingdings" panose="05000000000000000000" pitchFamily="2" charset="2"/>
              <a:buChar char="p"/>
              <a:tabLst>
                <a:tab pos="273050" algn="l"/>
              </a:tabLst>
            </a:pPr>
            <a:r>
              <a:rPr lang="zh-CN" altLang="en-US"/>
              <a:t>乘数作用条件：社会上各种资源没有得到充分利用。</a:t>
            </a:r>
          </a:p>
        </p:txBody>
      </p:sp>
      <p:sp>
        <p:nvSpPr>
          <p:cNvPr id="6" name="Rectangle 4">
            <a:extLst>
              <a:ext uri="{FF2B5EF4-FFF2-40B4-BE49-F238E27FC236}">
                <a16:creationId xmlns:a16="http://schemas.microsoft.com/office/drawing/2014/main" id="{2D252DD4-B9A9-403B-BE28-8B7C27F80E51}"/>
              </a:ext>
            </a:extLst>
          </p:cNvPr>
          <p:cNvSpPr txBox="1">
            <a:spLocks noRot="1" noChangeArrowheads="1"/>
          </p:cNvSpPr>
          <p:nvPr/>
        </p:nvSpPr>
        <p:spPr>
          <a:xfrm>
            <a:off x="601252" y="1266826"/>
            <a:ext cx="8064500" cy="568325"/>
          </a:xfrm>
          <a:prstGeom prst="rect">
            <a:avLst/>
          </a:prstGeom>
          <a:noFill/>
          <a:ln w="3175" cmpd="sng">
            <a:solidFill>
              <a:schemeClr val="tx1"/>
            </a:solid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hlink"/>
              </a:buClr>
              <a:buSzPct val="95000"/>
              <a:buFont typeface="Wingdings" panose="05000000000000000000" pitchFamily="2" charset="2"/>
              <a:buChar char="u"/>
            </a:pPr>
            <a:r>
              <a:rPr lang="zh-CN" altLang="en-US" b="1"/>
              <a:t>乘数取决于边际消费倾向</a:t>
            </a:r>
            <a:r>
              <a:rPr lang="en-US" altLang="zh-CN" b="1"/>
              <a:t>b</a:t>
            </a:r>
            <a:r>
              <a:rPr lang="zh-CN" altLang="en-US" b="1"/>
              <a:t>，成正相关。</a:t>
            </a:r>
          </a:p>
        </p:txBody>
      </p:sp>
      <p:sp>
        <p:nvSpPr>
          <p:cNvPr id="7" name="Rectangle 6">
            <a:extLst>
              <a:ext uri="{FF2B5EF4-FFF2-40B4-BE49-F238E27FC236}">
                <a16:creationId xmlns:a16="http://schemas.microsoft.com/office/drawing/2014/main" id="{C9530DFD-3DEB-43BD-A881-BD3A69218840}"/>
              </a:ext>
            </a:extLst>
          </p:cNvPr>
          <p:cNvSpPr>
            <a:spLocks noChangeArrowheads="1"/>
          </p:cNvSpPr>
          <p:nvPr/>
        </p:nvSpPr>
        <p:spPr bwMode="auto">
          <a:xfrm>
            <a:off x="601252" y="5013325"/>
            <a:ext cx="8064500" cy="1295400"/>
          </a:xfrm>
          <a:prstGeom prst="rect">
            <a:avLst/>
          </a:prstGeom>
          <a:noFill/>
          <a:ln w="3175" cmpd="tri">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spcBef>
                <a:spcPct val="20000"/>
              </a:spcBef>
              <a:buClr>
                <a:srgbClr val="422D8D"/>
              </a:buClr>
              <a:buFont typeface="Wingdings" panose="05000000000000000000" pitchFamily="2" charset="2"/>
              <a:buChar char="v"/>
              <a:tabLst>
                <a:tab pos="273050" algn="l"/>
              </a:tabLst>
              <a:defRPr kumimoji="1" sz="2000">
                <a:solidFill>
                  <a:schemeClr val="tx1"/>
                </a:solidFill>
                <a:latin typeface="Times New Roman" panose="02020603050405020304" pitchFamily="18" charset="0"/>
                <a:ea typeface="宋体" panose="02010600030101010101" pitchFamily="2" charset="-122"/>
              </a:defRPr>
            </a:lvl1pPr>
            <a:lvl2pPr marL="357188">
              <a:spcBef>
                <a:spcPct val="20000"/>
              </a:spcBef>
              <a:buClr>
                <a:schemeClr val="folHlink"/>
              </a:buClr>
              <a:buFont typeface="Wingdings" panose="05000000000000000000" pitchFamily="2" charset="2"/>
              <a:buChar char="p"/>
              <a:tabLst>
                <a:tab pos="273050" algn="l"/>
              </a:tabLst>
              <a:defRPr kumimoji="1" sz="2000">
                <a:solidFill>
                  <a:schemeClr val="tx1"/>
                </a:solidFill>
                <a:latin typeface="Times New Roman" panose="02020603050405020304" pitchFamily="18" charset="0"/>
                <a:ea typeface="宋体" panose="02010600030101010101" pitchFamily="2" charset="-122"/>
              </a:defRPr>
            </a:lvl2pPr>
            <a:lvl3pPr marL="984250">
              <a:spcBef>
                <a:spcPct val="20000"/>
              </a:spcBef>
              <a:buChar char="•"/>
              <a:tabLst>
                <a:tab pos="273050" algn="l"/>
              </a:tabLst>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tabLst>
                <a:tab pos="273050" algn="l"/>
              </a:tabLst>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tabLst>
                <a:tab pos="273050" algn="l"/>
              </a:tabLst>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tabLst>
                <a:tab pos="273050" algn="l"/>
              </a:tabLs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tabLst>
                <a:tab pos="273050" algn="l"/>
              </a:tabLs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tabLst>
                <a:tab pos="273050" algn="l"/>
              </a:tabLs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tabLst>
                <a:tab pos="273050" algn="l"/>
              </a:tabLst>
              <a:defRPr kumimoji="1">
                <a:solidFill>
                  <a:schemeClr val="tx1"/>
                </a:solidFill>
                <a:latin typeface="Times New Roman" panose="02020603050405020304" pitchFamily="18" charset="0"/>
                <a:ea typeface="宋体" panose="02010600030101010101" pitchFamily="2" charset="-122"/>
              </a:defRPr>
            </a:lvl9pPr>
          </a:lstStyle>
          <a:p>
            <a:pPr>
              <a:lnSpc>
                <a:spcPct val="80000"/>
              </a:lnSpc>
              <a:buClr>
                <a:srgbClr val="336600"/>
              </a:buClr>
              <a:buSzPct val="95000"/>
              <a:buFont typeface="Wingdings" panose="05000000000000000000" pitchFamily="2" charset="2"/>
              <a:buNone/>
            </a:pPr>
            <a:r>
              <a:rPr lang="zh-CN" altLang="en-US" sz="2400" b="1"/>
              <a:t>乘数作用的双重性：</a:t>
            </a:r>
          </a:p>
          <a:p>
            <a:pPr>
              <a:lnSpc>
                <a:spcPct val="80000"/>
              </a:lnSpc>
              <a:buClr>
                <a:srgbClr val="336600"/>
              </a:buClr>
              <a:buSzPct val="95000"/>
              <a:buFont typeface="Wingdings" panose="05000000000000000000" pitchFamily="2" charset="2"/>
              <a:buChar char="l"/>
            </a:pPr>
            <a:r>
              <a:rPr lang="zh-CN" altLang="en-US" sz="2400" b="1"/>
              <a:t>总需求增加，引起国民收入大幅度的增加；</a:t>
            </a:r>
          </a:p>
          <a:p>
            <a:pPr>
              <a:lnSpc>
                <a:spcPct val="80000"/>
              </a:lnSpc>
              <a:buClr>
                <a:srgbClr val="336600"/>
              </a:buClr>
              <a:buSzPct val="95000"/>
              <a:buFont typeface="Wingdings" panose="05000000000000000000" pitchFamily="2" charset="2"/>
              <a:buChar char="l"/>
            </a:pPr>
            <a:r>
              <a:rPr lang="zh-CN" altLang="en-US" sz="2400" b="1"/>
              <a:t>总需求减少，引起国民收入大幅度的减少。</a:t>
            </a:r>
          </a:p>
        </p:txBody>
      </p:sp>
      <p:sp>
        <p:nvSpPr>
          <p:cNvPr id="8" name="Rectangle 11">
            <a:extLst>
              <a:ext uri="{FF2B5EF4-FFF2-40B4-BE49-F238E27FC236}">
                <a16:creationId xmlns:a16="http://schemas.microsoft.com/office/drawing/2014/main" id="{14CDAC79-6CBE-4634-ACFB-7356003A29F1}"/>
              </a:ext>
            </a:extLst>
          </p:cNvPr>
          <p:cNvSpPr>
            <a:spLocks noChangeArrowheads="1"/>
          </p:cNvSpPr>
          <p:nvPr/>
        </p:nvSpPr>
        <p:spPr bwMode="auto">
          <a:xfrm>
            <a:off x="601252" y="3355077"/>
            <a:ext cx="8064500" cy="1300372"/>
          </a:xfrm>
          <a:prstGeom prst="rect">
            <a:avLst/>
          </a:prstGeom>
          <a:noFill/>
          <a:ln w="3175" cmpd="tri">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6176" anchor="ctr">
            <a:spAutoFit/>
          </a:bodyPr>
          <a:lstStyle/>
          <a:p>
            <a:pPr>
              <a:lnSpc>
                <a:spcPct val="120000"/>
              </a:lnSpc>
              <a:buClr>
                <a:srgbClr val="336600"/>
              </a:buClr>
              <a:buSzPct val="95000"/>
              <a:buFont typeface="Wingdings" panose="05000000000000000000" pitchFamily="2" charset="2"/>
              <a:buChar char="l"/>
            </a:pPr>
            <a:r>
              <a:rPr lang="zh-CN" altLang="en-US" b="1">
                <a:effectLst>
                  <a:outerShdw blurRad="38100" dist="38100" dir="2700000" algn="tl">
                    <a:srgbClr val="000000"/>
                  </a:outerShdw>
                </a:effectLst>
              </a:rPr>
              <a:t>乘数的经济意义</a:t>
            </a:r>
          </a:p>
          <a:p>
            <a:pPr>
              <a:lnSpc>
                <a:spcPct val="120000"/>
              </a:lnSpc>
              <a:buClr>
                <a:srgbClr val="336600"/>
              </a:buClr>
              <a:buSzPct val="95000"/>
              <a:buFont typeface="Wingdings" panose="05000000000000000000" pitchFamily="2" charset="2"/>
              <a:buChar char="l"/>
            </a:pPr>
            <a:r>
              <a:rPr lang="zh-CN" altLang="en-US" sz="2000" b="1"/>
              <a:t>经济各部门密切相连，一个部门、产业投资的增加，也会在其他部门引起连锁反应；收入的增加会持续带来需求的增加。</a:t>
            </a:r>
          </a:p>
        </p:txBody>
      </p:sp>
      <p:sp>
        <p:nvSpPr>
          <p:cNvPr id="9" name="Rectangle 7">
            <a:extLst>
              <a:ext uri="{FF2B5EF4-FFF2-40B4-BE49-F238E27FC236}">
                <a16:creationId xmlns:a16="http://schemas.microsoft.com/office/drawing/2014/main" id="{3C21CDE4-EE04-4870-8094-9DEEE7B73607}"/>
              </a:ext>
            </a:extLst>
          </p:cNvPr>
          <p:cNvSpPr>
            <a:spLocks noRot="1" noChangeArrowheads="1"/>
          </p:cNvSpPr>
          <p:nvPr/>
        </p:nvSpPr>
        <p:spPr bwMode="auto">
          <a:xfrm>
            <a:off x="4849402" y="1989139"/>
            <a:ext cx="3816350" cy="1584325"/>
          </a:xfrm>
          <a:prstGeom prst="rect">
            <a:avLst/>
          </a:prstGeom>
          <a:no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spcBef>
                <a:spcPct val="20000"/>
              </a:spcBef>
              <a:buClr>
                <a:srgbClr val="422D8D"/>
              </a:buClr>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1pPr>
            <a:lvl2pPr marL="914400" indent="-457200">
              <a:spcBef>
                <a:spcPct val="20000"/>
              </a:spcBef>
              <a:buClr>
                <a:schemeClr val="folHlink"/>
              </a:buClr>
              <a:buFont typeface="Wingdings" panose="05000000000000000000" pitchFamily="2" charset="2"/>
              <a:buChar char="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714500" indent="-342900">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marL="2171700" indent="-342900">
              <a:spcBef>
                <a:spcPct val="20000"/>
              </a:spcBef>
              <a:buSzPct val="65000"/>
              <a:buChar char="•"/>
              <a:defRPr kumimoji="1">
                <a:solidFill>
                  <a:schemeClr val="tx1"/>
                </a:solidFill>
                <a:latin typeface="Times New Roman" panose="02020603050405020304" pitchFamily="18" charset="0"/>
                <a:ea typeface="宋体" panose="02010600030101010101" pitchFamily="2" charset="-122"/>
              </a:defRPr>
            </a:lvl5pPr>
            <a:lvl6pPr marL="2628900" indent="-3429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6pPr>
            <a:lvl7pPr marL="3086100" indent="-3429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7pPr>
            <a:lvl8pPr marL="3543300" indent="-3429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8pPr>
            <a:lvl9pPr marL="4000500" indent="-342900" fontAlgn="base">
              <a:spcBef>
                <a:spcPct val="20000"/>
              </a:spcBef>
              <a:spcAft>
                <a:spcPct val="0"/>
              </a:spcAft>
              <a:buSzPct val="65000"/>
              <a:buChar char="•"/>
              <a:defRPr kumimoji="1">
                <a:solidFill>
                  <a:schemeClr val="tx1"/>
                </a:solidFill>
                <a:latin typeface="Times New Roman" panose="02020603050405020304" pitchFamily="18" charset="0"/>
                <a:ea typeface="宋体" panose="02010600030101010101" pitchFamily="2" charset="-122"/>
              </a:defRPr>
            </a:lvl9pPr>
          </a:lstStyle>
          <a:p>
            <a:pPr>
              <a:buClr>
                <a:srgbClr val="006600"/>
              </a:buClr>
              <a:buSzPct val="95000"/>
              <a:buFont typeface="Wingdings" panose="05000000000000000000" pitchFamily="2" charset="2"/>
              <a:buNone/>
            </a:pPr>
            <a:r>
              <a:rPr lang="zh-CN" altLang="en-US"/>
              <a:t>练习：乘数最大的是：</a:t>
            </a:r>
          </a:p>
          <a:p>
            <a:pPr>
              <a:buClr>
                <a:srgbClr val="006600"/>
              </a:buClr>
              <a:buSzPct val="95000"/>
              <a:buFont typeface="Wingdings" panose="05000000000000000000" pitchFamily="2" charset="2"/>
              <a:buChar char="p"/>
            </a:pPr>
            <a:r>
              <a:rPr lang="en-US" altLang="zh-CN"/>
              <a:t>A.</a:t>
            </a:r>
            <a:r>
              <a:rPr lang="zh-CN" altLang="en-US"/>
              <a:t>边际消费倾向为</a:t>
            </a:r>
            <a:r>
              <a:rPr lang="en-US" altLang="zh-CN"/>
              <a:t>0.6</a:t>
            </a:r>
          </a:p>
          <a:p>
            <a:pPr>
              <a:buClr>
                <a:srgbClr val="006600"/>
              </a:buClr>
              <a:buSzPct val="95000"/>
              <a:buFont typeface="Wingdings" panose="05000000000000000000" pitchFamily="2" charset="2"/>
              <a:buChar char="p"/>
            </a:pPr>
            <a:r>
              <a:rPr lang="en-US" altLang="zh-CN"/>
              <a:t>B.</a:t>
            </a:r>
            <a:r>
              <a:rPr lang="zh-CN" altLang="en-US"/>
              <a:t>边际消费倾向为</a:t>
            </a:r>
            <a:r>
              <a:rPr lang="en-US" altLang="zh-CN"/>
              <a:t>0.4</a:t>
            </a:r>
          </a:p>
          <a:p>
            <a:pPr>
              <a:buClr>
                <a:srgbClr val="006600"/>
              </a:buClr>
              <a:buSzPct val="95000"/>
              <a:buFont typeface="Wingdings" panose="05000000000000000000" pitchFamily="2" charset="2"/>
              <a:buChar char="p"/>
            </a:pPr>
            <a:r>
              <a:rPr lang="en-US" altLang="zh-CN"/>
              <a:t>C.</a:t>
            </a:r>
            <a:r>
              <a:rPr lang="zh-CN" altLang="en-US"/>
              <a:t>边际消费倾向为</a:t>
            </a:r>
            <a:r>
              <a:rPr lang="en-US" altLang="zh-CN"/>
              <a:t>0.75</a:t>
            </a:r>
          </a:p>
        </p:txBody>
      </p:sp>
    </p:spTree>
    <p:extLst>
      <p:ext uri="{BB962C8B-B14F-4D97-AF65-F5344CB8AC3E}">
        <p14:creationId xmlns:p14="http://schemas.microsoft.com/office/powerpoint/2010/main" val="37057626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2524515-04F7-47CC-B8B6-C62121FB7BEB}"/>
              </a:ext>
            </a:extLst>
          </p:cNvPr>
          <p:cNvSpPr>
            <a:spLocks noGrp="1" noChangeArrowheads="1"/>
          </p:cNvSpPr>
          <p:nvPr>
            <p:ph idx="1"/>
          </p:nvPr>
        </p:nvSpPr>
        <p:spPr>
          <a:xfrm>
            <a:off x="727716" y="1196975"/>
            <a:ext cx="8135937" cy="1944688"/>
          </a:xfrm>
          <a:noFill/>
          <a:ln w="3175" cmpd="tri">
            <a:solidFill>
              <a:schemeClr val="tx1"/>
            </a:solidFill>
          </a:ln>
        </p:spPr>
        <p:txBody>
          <a:bodyPr>
            <a:normAutofit lnSpcReduction="10000"/>
          </a:bodyPr>
          <a:lstStyle/>
          <a:p>
            <a:pPr>
              <a:buClr>
                <a:srgbClr val="FF0000"/>
              </a:buClr>
              <a:buFont typeface="Wingdings" panose="05000000000000000000" pitchFamily="2" charset="2"/>
              <a:buChar char="p"/>
            </a:pPr>
            <a:r>
              <a:rPr lang="zh-CN" altLang="en-US" b="1" dirty="0"/>
              <a:t>假设消费函数</a:t>
            </a:r>
            <a:r>
              <a:rPr lang="en-US" altLang="zh-CN" b="1" dirty="0"/>
              <a:t>c=100+0.8y</a:t>
            </a:r>
            <a:r>
              <a:rPr lang="zh-CN" altLang="en-US" b="1" dirty="0"/>
              <a:t>，投资</a:t>
            </a:r>
            <a:r>
              <a:rPr lang="en-US" altLang="zh-CN" b="1" dirty="0" err="1"/>
              <a:t>i</a:t>
            </a:r>
            <a:r>
              <a:rPr lang="en-US" altLang="zh-CN" b="1" dirty="0"/>
              <a:t>=50</a:t>
            </a:r>
          </a:p>
          <a:p>
            <a:pPr>
              <a:buClr>
                <a:srgbClr val="FF0000"/>
              </a:buClr>
              <a:buFont typeface="Wingdings" panose="05000000000000000000" pitchFamily="2" charset="2"/>
              <a:buChar char="p"/>
            </a:pPr>
            <a:r>
              <a:rPr lang="zh-CN" altLang="en-US" sz="2000" b="1" dirty="0">
                <a:sym typeface="Wingdings" panose="05000000000000000000" pitchFamily="2" charset="2"/>
              </a:rPr>
              <a:t>（</a:t>
            </a:r>
            <a:r>
              <a:rPr lang="en-US" altLang="zh-CN" sz="2000" b="1" dirty="0">
                <a:sym typeface="Wingdings" panose="05000000000000000000" pitchFamily="2" charset="2"/>
              </a:rPr>
              <a:t>1</a:t>
            </a:r>
            <a:r>
              <a:rPr lang="zh-CN" altLang="en-US" sz="2000" b="1" dirty="0">
                <a:sym typeface="Wingdings" panose="05000000000000000000" pitchFamily="2" charset="2"/>
              </a:rPr>
              <a:t>）求均衡收入、消费和储蓄。</a:t>
            </a:r>
          </a:p>
          <a:p>
            <a:pPr>
              <a:buClr>
                <a:srgbClr val="FF0000"/>
              </a:buClr>
              <a:buFont typeface="Wingdings" panose="05000000000000000000" pitchFamily="2" charset="2"/>
              <a:buChar char="p"/>
            </a:pPr>
            <a:r>
              <a:rPr lang="zh-CN" altLang="en-US" sz="2000" b="1" dirty="0">
                <a:sym typeface="Wingdings" panose="05000000000000000000" pitchFamily="2" charset="2"/>
              </a:rPr>
              <a:t>（</a:t>
            </a:r>
            <a:r>
              <a:rPr lang="en-US" altLang="zh-CN" sz="2000" b="1" dirty="0">
                <a:sym typeface="Wingdings" panose="05000000000000000000" pitchFamily="2" charset="2"/>
              </a:rPr>
              <a:t>2</a:t>
            </a:r>
            <a:r>
              <a:rPr lang="zh-CN" altLang="en-US" sz="2000" b="1" dirty="0">
                <a:sym typeface="Wingdings" panose="05000000000000000000" pitchFamily="2" charset="2"/>
              </a:rPr>
              <a:t>）如果当时实际产出（即收入）为</a:t>
            </a:r>
            <a:r>
              <a:rPr lang="en-US" altLang="zh-CN" sz="2000" b="1" dirty="0">
                <a:sym typeface="Wingdings" panose="05000000000000000000" pitchFamily="2" charset="2"/>
              </a:rPr>
              <a:t>800</a:t>
            </a:r>
            <a:r>
              <a:rPr lang="zh-CN" altLang="en-US" sz="2000" b="1" dirty="0">
                <a:sym typeface="Wingdings" panose="05000000000000000000" pitchFamily="2" charset="2"/>
              </a:rPr>
              <a:t>，试求企业非意愿存货积累为多少？</a:t>
            </a:r>
          </a:p>
          <a:p>
            <a:pPr>
              <a:buClr>
                <a:srgbClr val="FF0000"/>
              </a:buClr>
              <a:buFont typeface="Wingdings" panose="05000000000000000000" pitchFamily="2" charset="2"/>
              <a:buChar char="p"/>
            </a:pPr>
            <a:r>
              <a:rPr lang="zh-CN" altLang="en-US" sz="2000" b="1" dirty="0">
                <a:sym typeface="Wingdings" panose="05000000000000000000" pitchFamily="2" charset="2"/>
              </a:rPr>
              <a:t>（</a:t>
            </a:r>
            <a:r>
              <a:rPr lang="en-US" altLang="zh-CN" sz="2000" b="1" dirty="0">
                <a:sym typeface="Wingdings" panose="05000000000000000000" pitchFamily="2" charset="2"/>
              </a:rPr>
              <a:t>3</a:t>
            </a:r>
            <a:r>
              <a:rPr lang="zh-CN" altLang="en-US" sz="2000" b="1" dirty="0">
                <a:sym typeface="Wingdings" panose="05000000000000000000" pitchFamily="2" charset="2"/>
              </a:rPr>
              <a:t>）若投资增到</a:t>
            </a:r>
            <a:r>
              <a:rPr lang="en-US" altLang="zh-CN" sz="2000" b="1" dirty="0">
                <a:sym typeface="Wingdings" panose="05000000000000000000" pitchFamily="2" charset="2"/>
              </a:rPr>
              <a:t>100</a:t>
            </a:r>
            <a:r>
              <a:rPr lang="zh-CN" altLang="en-US" sz="2000" b="1" dirty="0">
                <a:sym typeface="Wingdings" panose="05000000000000000000" pitchFamily="2" charset="2"/>
              </a:rPr>
              <a:t>，试求增加的收入。</a:t>
            </a:r>
          </a:p>
        </p:txBody>
      </p:sp>
      <p:sp>
        <p:nvSpPr>
          <p:cNvPr id="5" name="Rectangle 4">
            <a:extLst>
              <a:ext uri="{FF2B5EF4-FFF2-40B4-BE49-F238E27FC236}">
                <a16:creationId xmlns:a16="http://schemas.microsoft.com/office/drawing/2014/main" id="{03F45738-C094-42FD-9596-CD05FD985002}"/>
              </a:ext>
            </a:extLst>
          </p:cNvPr>
          <p:cNvSpPr>
            <a:spLocks noChangeArrowheads="1"/>
          </p:cNvSpPr>
          <p:nvPr/>
        </p:nvSpPr>
        <p:spPr bwMode="auto">
          <a:xfrm>
            <a:off x="727716" y="3284538"/>
            <a:ext cx="8135937" cy="3097212"/>
          </a:xfrm>
          <a:prstGeom prst="rect">
            <a:avLst/>
          </a:prstGeom>
          <a:noFill/>
          <a:ln w="3175"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
                <a:srgbClr val="FF0000"/>
              </a:buClr>
              <a:buSzPct val="95000"/>
              <a:buFont typeface="Wingdings" panose="05000000000000000000" pitchFamily="2" charset="2"/>
              <a:buChar char="n"/>
            </a:pPr>
            <a:r>
              <a:rPr lang="zh-CN" altLang="en-US" b="1"/>
              <a:t>（</a:t>
            </a:r>
            <a:r>
              <a:rPr lang="en-US" altLang="zh-CN" b="1"/>
              <a:t>1</a:t>
            </a:r>
            <a:r>
              <a:rPr lang="zh-CN" altLang="en-US" b="1"/>
              <a:t>） 均衡收入</a:t>
            </a:r>
            <a:r>
              <a:rPr lang="en-US" altLang="zh-CN" b="1"/>
              <a:t>y</a:t>
            </a:r>
            <a:r>
              <a:rPr lang="zh-CN" altLang="en-US" b="1"/>
              <a:t>＝</a:t>
            </a:r>
            <a:r>
              <a:rPr lang="en-US" altLang="zh-CN" b="1"/>
              <a:t>(100</a:t>
            </a:r>
            <a:r>
              <a:rPr lang="zh-CN" altLang="en-US" b="1"/>
              <a:t>＋</a:t>
            </a:r>
            <a:r>
              <a:rPr lang="en-US" altLang="zh-CN" b="1"/>
              <a:t>50)/(1</a:t>
            </a:r>
            <a:r>
              <a:rPr lang="zh-CN" altLang="en-US" b="1"/>
              <a:t>－</a:t>
            </a:r>
            <a:r>
              <a:rPr lang="en-US" altLang="zh-CN" b="1"/>
              <a:t>0.8)</a:t>
            </a:r>
            <a:r>
              <a:rPr lang="zh-CN" altLang="en-US" b="1"/>
              <a:t>＝</a:t>
            </a:r>
            <a:r>
              <a:rPr lang="en-US" altLang="zh-CN" b="1"/>
              <a:t>750</a:t>
            </a:r>
          </a:p>
          <a:p>
            <a:pPr>
              <a:spcBef>
                <a:spcPct val="0"/>
              </a:spcBef>
              <a:buClr>
                <a:srgbClr val="FF0000"/>
              </a:buClr>
              <a:buSzPct val="95000"/>
              <a:buFont typeface="Wingdings" panose="05000000000000000000" pitchFamily="2" charset="2"/>
              <a:buChar char="n"/>
            </a:pPr>
            <a:r>
              <a:rPr lang="en-US" altLang="zh-CN" b="1"/>
              <a:t>c</a:t>
            </a:r>
            <a:r>
              <a:rPr lang="zh-CN" altLang="en-US" b="1"/>
              <a:t>＝</a:t>
            </a:r>
            <a:r>
              <a:rPr lang="en-US" altLang="zh-CN" b="1"/>
              <a:t>100</a:t>
            </a:r>
            <a:r>
              <a:rPr lang="zh-CN" altLang="en-US" b="1"/>
              <a:t>＋</a:t>
            </a:r>
            <a:r>
              <a:rPr lang="en-US" altLang="zh-CN" b="1"/>
              <a:t>0.8×750</a:t>
            </a:r>
            <a:r>
              <a:rPr lang="zh-CN" altLang="en-US" b="1"/>
              <a:t>＝</a:t>
            </a:r>
            <a:r>
              <a:rPr lang="en-US" altLang="zh-CN" b="1"/>
              <a:t>700</a:t>
            </a:r>
          </a:p>
          <a:p>
            <a:pPr>
              <a:spcBef>
                <a:spcPct val="0"/>
              </a:spcBef>
              <a:buClr>
                <a:srgbClr val="FF0000"/>
              </a:buClr>
              <a:buSzPct val="95000"/>
              <a:buFont typeface="Wingdings" panose="05000000000000000000" pitchFamily="2" charset="2"/>
              <a:buChar char="n"/>
            </a:pPr>
            <a:r>
              <a:rPr lang="en-US" altLang="zh-CN" b="1"/>
              <a:t>s</a:t>
            </a:r>
            <a:r>
              <a:rPr lang="zh-CN" altLang="en-US" b="1"/>
              <a:t>＝</a:t>
            </a:r>
            <a:r>
              <a:rPr lang="en-US" altLang="zh-CN" b="1"/>
              <a:t>y</a:t>
            </a:r>
            <a:r>
              <a:rPr lang="zh-CN" altLang="en-US" b="1"/>
              <a:t>－</a:t>
            </a:r>
            <a:r>
              <a:rPr lang="en-US" altLang="zh-CN" b="1"/>
              <a:t>c</a:t>
            </a:r>
            <a:r>
              <a:rPr lang="zh-CN" altLang="en-US" b="1"/>
              <a:t>＝</a:t>
            </a:r>
            <a:r>
              <a:rPr lang="en-US" altLang="zh-CN" b="1"/>
              <a:t>750</a:t>
            </a:r>
            <a:r>
              <a:rPr lang="zh-CN" altLang="en-US" b="1"/>
              <a:t>－</a:t>
            </a:r>
            <a:r>
              <a:rPr lang="en-US" altLang="zh-CN" b="1"/>
              <a:t>700</a:t>
            </a:r>
            <a:r>
              <a:rPr lang="zh-CN" altLang="en-US" b="1"/>
              <a:t>＝</a:t>
            </a:r>
            <a:r>
              <a:rPr lang="en-US" altLang="zh-CN" b="1"/>
              <a:t>50</a:t>
            </a:r>
          </a:p>
        </p:txBody>
      </p:sp>
      <p:sp>
        <p:nvSpPr>
          <p:cNvPr id="6" name="Rectangle 8">
            <a:extLst>
              <a:ext uri="{FF2B5EF4-FFF2-40B4-BE49-F238E27FC236}">
                <a16:creationId xmlns:a16="http://schemas.microsoft.com/office/drawing/2014/main" id="{3942BFE8-98C4-404A-B20B-4A95DB4AC0FF}"/>
              </a:ext>
            </a:extLst>
          </p:cNvPr>
          <p:cNvSpPr>
            <a:spLocks noChangeArrowheads="1"/>
          </p:cNvSpPr>
          <p:nvPr/>
        </p:nvSpPr>
        <p:spPr bwMode="auto">
          <a:xfrm>
            <a:off x="727716" y="4508501"/>
            <a:ext cx="8135937" cy="1871663"/>
          </a:xfrm>
          <a:prstGeom prst="rect">
            <a:avLst/>
          </a:prstGeom>
          <a:noFill/>
          <a:ln w="3175"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
                <a:srgbClr val="FF0000"/>
              </a:buClr>
              <a:buSzPct val="95000"/>
              <a:buFont typeface="Wingdings" panose="05000000000000000000" pitchFamily="2" charset="2"/>
              <a:buChar char="n"/>
            </a:pPr>
            <a:r>
              <a:rPr lang="zh-CN" altLang="en-US" b="1"/>
              <a:t>（</a:t>
            </a:r>
            <a:r>
              <a:rPr lang="en-US" altLang="zh-CN" b="1"/>
              <a:t>2</a:t>
            </a:r>
            <a:r>
              <a:rPr lang="zh-CN" altLang="en-US" b="1"/>
              <a:t>） 企业非意愿存货积累＝产出－需求＝</a:t>
            </a:r>
            <a:r>
              <a:rPr lang="en-US" altLang="zh-CN" b="1"/>
              <a:t>800</a:t>
            </a:r>
            <a:r>
              <a:rPr lang="zh-CN" altLang="en-US" b="1"/>
              <a:t>－</a:t>
            </a:r>
            <a:r>
              <a:rPr lang="en-US" altLang="zh-CN" b="1"/>
              <a:t>750</a:t>
            </a:r>
            <a:r>
              <a:rPr lang="zh-CN" altLang="en-US" b="1"/>
              <a:t>＝</a:t>
            </a:r>
            <a:r>
              <a:rPr lang="en-US" altLang="zh-CN" b="1"/>
              <a:t>50</a:t>
            </a:r>
          </a:p>
        </p:txBody>
      </p:sp>
      <p:sp>
        <p:nvSpPr>
          <p:cNvPr id="7" name="Rectangle 9">
            <a:extLst>
              <a:ext uri="{FF2B5EF4-FFF2-40B4-BE49-F238E27FC236}">
                <a16:creationId xmlns:a16="http://schemas.microsoft.com/office/drawing/2014/main" id="{FF9757A7-2018-4D79-965C-7036DDF960D9}"/>
              </a:ext>
            </a:extLst>
          </p:cNvPr>
          <p:cNvSpPr>
            <a:spLocks noChangeArrowheads="1"/>
          </p:cNvSpPr>
          <p:nvPr/>
        </p:nvSpPr>
        <p:spPr bwMode="auto">
          <a:xfrm>
            <a:off x="727716" y="5084764"/>
            <a:ext cx="8135937" cy="1296987"/>
          </a:xfrm>
          <a:prstGeom prst="rect">
            <a:avLst/>
          </a:prstGeom>
          <a:noFill/>
          <a:ln w="3175"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
                <a:srgbClr val="FF0000"/>
              </a:buClr>
              <a:buSzPct val="95000"/>
              <a:buFont typeface="Wingdings" panose="05000000000000000000" pitchFamily="2" charset="2"/>
              <a:buChar char="n"/>
            </a:pPr>
            <a:r>
              <a:rPr lang="zh-CN" altLang="en-US" b="1"/>
              <a:t>（</a:t>
            </a:r>
            <a:r>
              <a:rPr lang="en-US" altLang="zh-CN" b="1"/>
              <a:t>3</a:t>
            </a:r>
            <a:r>
              <a:rPr lang="zh-CN" altLang="en-US" b="1"/>
              <a:t>）若投资增至</a:t>
            </a:r>
            <a:r>
              <a:rPr lang="en-US" altLang="zh-CN" b="1"/>
              <a:t>100</a:t>
            </a:r>
            <a:r>
              <a:rPr lang="zh-CN" altLang="en-US" b="1"/>
              <a:t>，则收入</a:t>
            </a:r>
            <a:r>
              <a:rPr lang="en-US" altLang="zh-CN" b="1"/>
              <a:t>y’</a:t>
            </a:r>
            <a:r>
              <a:rPr lang="zh-CN" altLang="en-US" b="1"/>
              <a:t>＝（</a:t>
            </a:r>
            <a:r>
              <a:rPr lang="en-US" altLang="zh-CN" b="1"/>
              <a:t>100</a:t>
            </a:r>
            <a:r>
              <a:rPr lang="zh-CN" altLang="en-US" b="1"/>
              <a:t>＋</a:t>
            </a:r>
            <a:r>
              <a:rPr lang="en-US" altLang="zh-CN" b="1"/>
              <a:t>100</a:t>
            </a:r>
            <a:r>
              <a:rPr lang="zh-CN" altLang="en-US" b="1"/>
              <a:t>）</a:t>
            </a:r>
            <a:r>
              <a:rPr lang="en-US" altLang="zh-CN" b="1"/>
              <a:t>/</a:t>
            </a:r>
            <a:r>
              <a:rPr lang="zh-CN" altLang="en-US" b="1"/>
              <a:t>（</a:t>
            </a:r>
            <a:r>
              <a:rPr lang="en-US" altLang="zh-CN" b="1"/>
              <a:t>1</a:t>
            </a:r>
            <a:r>
              <a:rPr lang="zh-CN" altLang="en-US" b="1"/>
              <a:t>－</a:t>
            </a:r>
            <a:r>
              <a:rPr lang="en-US" altLang="zh-CN" b="1"/>
              <a:t>0.8)</a:t>
            </a:r>
            <a:r>
              <a:rPr lang="zh-CN" altLang="en-US" b="1"/>
              <a:t>＝</a:t>
            </a:r>
            <a:r>
              <a:rPr lang="en-US" altLang="zh-CN" b="1"/>
              <a:t>1000</a:t>
            </a:r>
            <a:r>
              <a:rPr lang="zh-CN" altLang="en-US" b="1"/>
              <a:t>，比原来的收入</a:t>
            </a:r>
            <a:r>
              <a:rPr lang="en-US" altLang="zh-CN" b="1"/>
              <a:t>750</a:t>
            </a:r>
            <a:r>
              <a:rPr lang="zh-CN" altLang="en-US" b="1"/>
              <a:t>增加</a:t>
            </a:r>
            <a:r>
              <a:rPr lang="en-US" altLang="zh-CN" b="1"/>
              <a:t>250</a:t>
            </a:r>
          </a:p>
          <a:p>
            <a:pPr>
              <a:spcBef>
                <a:spcPct val="0"/>
              </a:spcBef>
              <a:buClr>
                <a:srgbClr val="FF0000"/>
              </a:buClr>
              <a:buSzPct val="95000"/>
              <a:buFont typeface="Wingdings" panose="05000000000000000000" pitchFamily="2" charset="2"/>
              <a:buChar char="n"/>
            </a:pPr>
            <a:r>
              <a:rPr lang="zh-CN" altLang="en-US" b="1"/>
              <a:t>（△</a:t>
            </a:r>
            <a:r>
              <a:rPr lang="en-US" altLang="zh-CN" b="1"/>
              <a:t>y</a:t>
            </a:r>
            <a:r>
              <a:rPr lang="zh-CN" altLang="en-US" b="1"/>
              <a:t>＝</a:t>
            </a:r>
            <a:r>
              <a:rPr lang="en-US" altLang="zh-CN" b="1"/>
              <a:t>y’</a:t>
            </a:r>
            <a:r>
              <a:rPr lang="zh-CN" altLang="en-US" b="1"/>
              <a:t>－</a:t>
            </a:r>
            <a:r>
              <a:rPr lang="en-US" altLang="zh-CN" b="1"/>
              <a:t>y</a:t>
            </a:r>
            <a:r>
              <a:rPr lang="zh-CN" altLang="en-US" b="1"/>
              <a:t>＝</a:t>
            </a:r>
            <a:r>
              <a:rPr lang="en-US" altLang="zh-CN" b="1"/>
              <a:t>1000</a:t>
            </a:r>
            <a:r>
              <a:rPr lang="zh-CN" altLang="en-US" b="1"/>
              <a:t>－</a:t>
            </a:r>
            <a:r>
              <a:rPr lang="en-US" altLang="zh-CN" b="1"/>
              <a:t>750</a:t>
            </a:r>
            <a:r>
              <a:rPr lang="zh-CN" altLang="en-US" b="1"/>
              <a:t>＝</a:t>
            </a:r>
            <a:r>
              <a:rPr lang="en-US" altLang="zh-CN" b="1"/>
              <a:t>250</a:t>
            </a:r>
            <a:r>
              <a:rPr lang="zh-CN" altLang="en-US" b="1"/>
              <a:t>）</a:t>
            </a:r>
          </a:p>
        </p:txBody>
      </p:sp>
    </p:spTree>
    <p:extLst>
      <p:ext uri="{BB962C8B-B14F-4D97-AF65-F5344CB8AC3E}">
        <p14:creationId xmlns:p14="http://schemas.microsoft.com/office/powerpoint/2010/main" val="163795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D8D63882-13E9-41F2-AF07-6C7D70E25C74}"/>
              </a:ext>
            </a:extLst>
          </p:cNvPr>
          <p:cNvSpPr>
            <a:spLocks noGrp="1" noChangeArrowheads="1"/>
          </p:cNvSpPr>
          <p:nvPr>
            <p:ph idx="1"/>
          </p:nvPr>
        </p:nvSpPr>
        <p:spPr>
          <a:xfrm>
            <a:off x="1165461" y="1842511"/>
            <a:ext cx="8135937" cy="3600450"/>
          </a:xfrm>
          <a:noFill/>
          <a:ln w="3175" cmpd="thickThin">
            <a:solidFill>
              <a:schemeClr val="tx1"/>
            </a:solidFill>
          </a:ln>
        </p:spPr>
        <p:txBody>
          <a:bodyPr/>
          <a:lstStyle/>
          <a:p>
            <a:pPr>
              <a:buClr>
                <a:srgbClr val="FF0000"/>
              </a:buClr>
              <a:buSzPct val="95000"/>
              <a:buFont typeface="Wingdings" panose="05000000000000000000" pitchFamily="2" charset="2"/>
              <a:buChar char="n"/>
            </a:pPr>
            <a:r>
              <a:rPr lang="zh-CN" altLang="en-US" b="1" dirty="0"/>
              <a:t>（</a:t>
            </a:r>
            <a:r>
              <a:rPr lang="en-US" altLang="zh-CN" b="1" dirty="0"/>
              <a:t>4</a:t>
            </a:r>
            <a:r>
              <a:rPr lang="zh-CN" altLang="en-US" b="1" dirty="0"/>
              <a:t>） 变化后的收入</a:t>
            </a:r>
            <a:r>
              <a:rPr lang="en-US" altLang="zh-CN" b="1" dirty="0"/>
              <a:t>y</a:t>
            </a:r>
            <a:r>
              <a:rPr lang="zh-CN" altLang="en-US" b="1" dirty="0"/>
              <a:t>＝（</a:t>
            </a:r>
            <a:r>
              <a:rPr lang="en-US" altLang="zh-CN" b="1" dirty="0"/>
              <a:t>100</a:t>
            </a:r>
            <a:r>
              <a:rPr lang="zh-CN" altLang="en-US" b="1" dirty="0"/>
              <a:t>＋</a:t>
            </a:r>
            <a:r>
              <a:rPr lang="en-US" altLang="zh-CN" b="1" dirty="0"/>
              <a:t>50</a:t>
            </a:r>
            <a:r>
              <a:rPr lang="zh-CN" altLang="en-US" b="1" dirty="0"/>
              <a:t>）</a:t>
            </a:r>
            <a:r>
              <a:rPr lang="en-US" altLang="zh-CN" b="1" dirty="0"/>
              <a:t>/</a:t>
            </a:r>
            <a:r>
              <a:rPr lang="zh-CN" altLang="en-US" b="1" dirty="0"/>
              <a:t>（</a:t>
            </a:r>
            <a:r>
              <a:rPr lang="en-US" altLang="zh-CN" b="1" dirty="0"/>
              <a:t>1</a:t>
            </a:r>
            <a:r>
              <a:rPr lang="zh-CN" altLang="en-US" b="1" dirty="0"/>
              <a:t>－</a:t>
            </a:r>
            <a:r>
              <a:rPr lang="en-US" altLang="zh-CN" b="1" dirty="0"/>
              <a:t>0.9)</a:t>
            </a:r>
            <a:r>
              <a:rPr lang="zh-CN" altLang="en-US" b="1" dirty="0"/>
              <a:t>＝</a:t>
            </a:r>
            <a:r>
              <a:rPr lang="en-US" altLang="zh-CN" b="1" dirty="0"/>
              <a:t>1500</a:t>
            </a:r>
          </a:p>
          <a:p>
            <a:pPr>
              <a:buClr>
                <a:srgbClr val="FF0000"/>
              </a:buClr>
              <a:buSzPct val="95000"/>
              <a:buFont typeface="Wingdings" panose="05000000000000000000" pitchFamily="2" charset="2"/>
              <a:buChar char="n"/>
            </a:pPr>
            <a:r>
              <a:rPr lang="en-US" altLang="zh-CN" b="1" dirty="0"/>
              <a:t>s</a:t>
            </a:r>
            <a:r>
              <a:rPr lang="zh-CN" altLang="en-US" b="1" dirty="0"/>
              <a:t>＝</a:t>
            </a:r>
            <a:r>
              <a:rPr lang="en-US" altLang="zh-CN" b="1" dirty="0"/>
              <a:t>y</a:t>
            </a:r>
            <a:r>
              <a:rPr lang="zh-CN" altLang="en-US" b="1" dirty="0"/>
              <a:t>－</a:t>
            </a:r>
            <a:r>
              <a:rPr lang="en-US" altLang="zh-CN" b="1" dirty="0"/>
              <a:t>c</a:t>
            </a:r>
            <a:r>
              <a:rPr lang="zh-CN" altLang="en-US" b="1" dirty="0"/>
              <a:t>＝</a:t>
            </a:r>
            <a:r>
              <a:rPr lang="en-US" altLang="zh-CN" b="1" dirty="0"/>
              <a:t>1500</a:t>
            </a:r>
            <a:r>
              <a:rPr lang="zh-CN" altLang="en-US" b="1" dirty="0"/>
              <a:t>－</a:t>
            </a:r>
            <a:r>
              <a:rPr lang="en-US" altLang="zh-CN" b="1" dirty="0"/>
              <a:t>(100</a:t>
            </a:r>
            <a:r>
              <a:rPr lang="zh-CN" altLang="en-US" b="1" dirty="0"/>
              <a:t>＋</a:t>
            </a:r>
            <a:r>
              <a:rPr lang="en-US" altLang="zh-CN" b="1" dirty="0"/>
              <a:t>0.9×1500)</a:t>
            </a:r>
            <a:r>
              <a:rPr lang="zh-CN" altLang="en-US" b="1" dirty="0"/>
              <a:t>＝</a:t>
            </a:r>
            <a:r>
              <a:rPr lang="en-US" altLang="zh-CN" b="1" dirty="0"/>
              <a:t>1500</a:t>
            </a:r>
            <a:r>
              <a:rPr lang="zh-CN" altLang="en-US" b="1" dirty="0"/>
              <a:t>－</a:t>
            </a:r>
            <a:r>
              <a:rPr lang="en-US" altLang="zh-CN" b="1" dirty="0"/>
              <a:t>1450</a:t>
            </a:r>
            <a:r>
              <a:rPr lang="zh-CN" altLang="en-US" b="1" dirty="0"/>
              <a:t>＝</a:t>
            </a:r>
            <a:r>
              <a:rPr lang="en-US" altLang="zh-CN" b="1" dirty="0"/>
              <a:t>50</a:t>
            </a:r>
          </a:p>
          <a:p>
            <a:pPr>
              <a:buClr>
                <a:srgbClr val="FF0000"/>
              </a:buClr>
              <a:buSzPct val="95000"/>
              <a:buFont typeface="Wingdings" panose="05000000000000000000" pitchFamily="2" charset="2"/>
              <a:buChar char="n"/>
            </a:pPr>
            <a:r>
              <a:rPr lang="zh-CN" altLang="en-US" b="1" dirty="0"/>
              <a:t>若投资增至</a:t>
            </a:r>
            <a:r>
              <a:rPr lang="en-US" altLang="zh-CN" b="1" dirty="0"/>
              <a:t>100</a:t>
            </a:r>
            <a:r>
              <a:rPr lang="zh-CN" altLang="en-US" b="1" dirty="0"/>
              <a:t>，则收入</a:t>
            </a:r>
            <a:r>
              <a:rPr lang="en-US" altLang="zh-CN" b="1" dirty="0"/>
              <a:t>y</a:t>
            </a:r>
            <a:r>
              <a:rPr lang="zh-CN" altLang="en-US" b="1" dirty="0"/>
              <a:t>＝（</a:t>
            </a:r>
            <a:r>
              <a:rPr lang="en-US" altLang="zh-CN" b="1" dirty="0"/>
              <a:t>100</a:t>
            </a:r>
            <a:r>
              <a:rPr lang="zh-CN" altLang="en-US" b="1" dirty="0"/>
              <a:t>＋</a:t>
            </a:r>
            <a:r>
              <a:rPr lang="en-US" altLang="zh-CN" b="1" dirty="0"/>
              <a:t>100</a:t>
            </a:r>
            <a:r>
              <a:rPr lang="zh-CN" altLang="en-US" b="1" dirty="0"/>
              <a:t>）</a:t>
            </a:r>
            <a:r>
              <a:rPr lang="en-US" altLang="zh-CN" b="1" dirty="0"/>
              <a:t>/</a:t>
            </a:r>
            <a:r>
              <a:rPr lang="zh-CN" altLang="en-US" b="1" dirty="0"/>
              <a:t>（</a:t>
            </a:r>
            <a:r>
              <a:rPr lang="en-US" altLang="zh-CN" b="1" dirty="0"/>
              <a:t>1</a:t>
            </a:r>
            <a:r>
              <a:rPr lang="zh-CN" altLang="en-US" b="1" dirty="0"/>
              <a:t>－</a:t>
            </a:r>
            <a:r>
              <a:rPr lang="en-US" altLang="zh-CN" b="1" dirty="0"/>
              <a:t>0.9)</a:t>
            </a:r>
            <a:r>
              <a:rPr lang="zh-CN" altLang="en-US" b="1" dirty="0"/>
              <a:t>＝</a:t>
            </a:r>
            <a:r>
              <a:rPr lang="en-US" altLang="zh-CN" b="1" dirty="0"/>
              <a:t>2000</a:t>
            </a:r>
            <a:r>
              <a:rPr lang="zh-CN" altLang="en-US" b="1" dirty="0"/>
              <a:t>，比原来的收入</a:t>
            </a:r>
            <a:r>
              <a:rPr lang="en-US" altLang="zh-CN" b="1" dirty="0"/>
              <a:t>1500</a:t>
            </a:r>
            <a:r>
              <a:rPr lang="zh-CN" altLang="en-US" b="1" dirty="0"/>
              <a:t>增加</a:t>
            </a:r>
            <a:r>
              <a:rPr lang="en-US" altLang="zh-CN" b="1" dirty="0"/>
              <a:t>500</a:t>
            </a:r>
          </a:p>
          <a:p>
            <a:pPr>
              <a:buClr>
                <a:srgbClr val="FF0000"/>
              </a:buClr>
              <a:buSzPct val="95000"/>
              <a:buFont typeface="Wingdings" panose="05000000000000000000" pitchFamily="2" charset="2"/>
              <a:buChar char="n"/>
            </a:pPr>
            <a:r>
              <a:rPr lang="zh-CN" altLang="en-US" b="1" dirty="0"/>
              <a:t>（△</a:t>
            </a:r>
            <a:r>
              <a:rPr lang="en-US" altLang="zh-CN" b="1" dirty="0"/>
              <a:t>y</a:t>
            </a:r>
            <a:r>
              <a:rPr lang="zh-CN" altLang="en-US" b="1" dirty="0"/>
              <a:t>＝ </a:t>
            </a:r>
            <a:r>
              <a:rPr lang="en-US" altLang="zh-CN" b="1" dirty="0"/>
              <a:t>2000</a:t>
            </a:r>
            <a:r>
              <a:rPr lang="zh-CN" altLang="en-US" b="1" dirty="0"/>
              <a:t>－</a:t>
            </a:r>
            <a:r>
              <a:rPr lang="en-US" altLang="zh-CN" b="1" dirty="0"/>
              <a:t>1500</a:t>
            </a:r>
            <a:r>
              <a:rPr lang="zh-CN" altLang="en-US" b="1" dirty="0"/>
              <a:t>＝</a:t>
            </a:r>
            <a:r>
              <a:rPr lang="en-US" altLang="zh-CN" b="1" dirty="0"/>
              <a:t>500</a:t>
            </a:r>
            <a:r>
              <a:rPr lang="zh-CN" altLang="en-US" b="1" dirty="0"/>
              <a:t>） </a:t>
            </a:r>
          </a:p>
        </p:txBody>
      </p:sp>
      <p:sp>
        <p:nvSpPr>
          <p:cNvPr id="5" name="Rectangle 7">
            <a:extLst>
              <a:ext uri="{FF2B5EF4-FFF2-40B4-BE49-F238E27FC236}">
                <a16:creationId xmlns:a16="http://schemas.microsoft.com/office/drawing/2014/main" id="{6EADD6F1-309E-4CDB-8D75-56495E2A17D6}"/>
              </a:ext>
            </a:extLst>
          </p:cNvPr>
          <p:cNvSpPr>
            <a:spLocks noChangeArrowheads="1"/>
          </p:cNvSpPr>
          <p:nvPr/>
        </p:nvSpPr>
        <p:spPr bwMode="auto">
          <a:xfrm>
            <a:off x="1165461" y="846778"/>
            <a:ext cx="8135937" cy="1244600"/>
          </a:xfrm>
          <a:prstGeom prst="rect">
            <a:avLst/>
          </a:prstGeom>
          <a:noFill/>
          <a:ln w="76200" cmpd="tri">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rgbClr val="FF0000"/>
              </a:buClr>
              <a:buFont typeface="Wingdings" panose="05000000000000000000" pitchFamily="2" charset="2"/>
              <a:buChar char="p"/>
            </a:pPr>
            <a:r>
              <a:rPr lang="zh-CN" altLang="en-US" b="1" dirty="0">
                <a:sym typeface="Wingdings" panose="05000000000000000000" pitchFamily="2" charset="2"/>
              </a:rPr>
              <a:t>（</a:t>
            </a:r>
            <a:r>
              <a:rPr lang="en-US" altLang="zh-CN" b="1" dirty="0">
                <a:sym typeface="Wingdings" panose="05000000000000000000" pitchFamily="2" charset="2"/>
              </a:rPr>
              <a:t>4</a:t>
            </a:r>
            <a:r>
              <a:rPr lang="zh-CN" altLang="en-US" b="1" dirty="0">
                <a:sym typeface="Wingdings" panose="05000000000000000000" pitchFamily="2" charset="2"/>
              </a:rPr>
              <a:t>）若消费函数为</a:t>
            </a:r>
            <a:r>
              <a:rPr lang="en-US" altLang="zh-CN" b="1" dirty="0"/>
              <a:t>c=100+0.9y</a:t>
            </a:r>
            <a:r>
              <a:rPr lang="zh-CN" altLang="en-US" b="1" dirty="0"/>
              <a:t>，投资</a:t>
            </a:r>
            <a:r>
              <a:rPr lang="en-US" altLang="zh-CN" b="1" dirty="0" err="1"/>
              <a:t>i</a:t>
            </a:r>
            <a:r>
              <a:rPr lang="zh-CN" altLang="en-US" b="1" dirty="0"/>
              <a:t>仍为</a:t>
            </a:r>
            <a:r>
              <a:rPr lang="en-US" altLang="zh-CN" b="1" dirty="0"/>
              <a:t>50</a:t>
            </a:r>
            <a:r>
              <a:rPr lang="zh-CN" altLang="en-US" b="1" dirty="0"/>
              <a:t>，</a:t>
            </a:r>
            <a:r>
              <a:rPr lang="zh-CN" altLang="en-US" b="1" dirty="0">
                <a:sym typeface="Wingdings" panose="05000000000000000000" pitchFamily="2" charset="2"/>
              </a:rPr>
              <a:t>收入和储蓄各为多少？投资增到</a:t>
            </a:r>
            <a:r>
              <a:rPr lang="en-US" altLang="zh-CN" b="1" dirty="0">
                <a:sym typeface="Wingdings" panose="05000000000000000000" pitchFamily="2" charset="2"/>
              </a:rPr>
              <a:t>100</a:t>
            </a:r>
            <a:r>
              <a:rPr lang="zh-CN" altLang="en-US" b="1" dirty="0">
                <a:sym typeface="Wingdings" panose="05000000000000000000" pitchFamily="2" charset="2"/>
              </a:rPr>
              <a:t>时，收入增加多少？</a:t>
            </a:r>
          </a:p>
          <a:p>
            <a:pPr>
              <a:buClr>
                <a:srgbClr val="FF0000"/>
              </a:buClr>
              <a:buFont typeface="Wingdings" panose="05000000000000000000" pitchFamily="2" charset="2"/>
              <a:buChar char="p"/>
            </a:pPr>
            <a:r>
              <a:rPr lang="zh-CN" altLang="en-US" b="1" dirty="0">
                <a:sym typeface="Wingdings" panose="05000000000000000000" pitchFamily="2" charset="2"/>
              </a:rPr>
              <a:t>（</a:t>
            </a:r>
            <a:r>
              <a:rPr lang="en-US" altLang="zh-CN" b="1" dirty="0">
                <a:sym typeface="Wingdings" panose="05000000000000000000" pitchFamily="2" charset="2"/>
              </a:rPr>
              <a:t>5</a:t>
            </a:r>
            <a:r>
              <a:rPr lang="zh-CN" altLang="en-US" b="1" dirty="0">
                <a:sym typeface="Wingdings" panose="05000000000000000000" pitchFamily="2" charset="2"/>
              </a:rPr>
              <a:t>）消费函数变动后，乘数有何变化？</a:t>
            </a:r>
          </a:p>
        </p:txBody>
      </p:sp>
      <p:sp>
        <p:nvSpPr>
          <p:cNvPr id="6" name="Rectangle 10">
            <a:extLst>
              <a:ext uri="{FF2B5EF4-FFF2-40B4-BE49-F238E27FC236}">
                <a16:creationId xmlns:a16="http://schemas.microsoft.com/office/drawing/2014/main" id="{4712C772-2B1B-47A4-9959-8B619CE4FE67}"/>
              </a:ext>
            </a:extLst>
          </p:cNvPr>
          <p:cNvSpPr>
            <a:spLocks noChangeArrowheads="1"/>
          </p:cNvSpPr>
          <p:nvPr/>
        </p:nvSpPr>
        <p:spPr bwMode="auto">
          <a:xfrm>
            <a:off x="1165461" y="5313430"/>
            <a:ext cx="8135937" cy="1104900"/>
          </a:xfrm>
          <a:prstGeom prst="rect">
            <a:avLst/>
          </a:prstGeom>
          <a:noFill/>
          <a:ln w="3175"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buClr>
                <a:srgbClr val="FF0000"/>
              </a:buClr>
              <a:buSzPct val="95000"/>
              <a:buFont typeface="Wingdings" panose="05000000000000000000" pitchFamily="2" charset="2"/>
              <a:buChar char="n"/>
            </a:pPr>
            <a:r>
              <a:rPr lang="zh-CN" altLang="en-US" b="1" dirty="0"/>
              <a:t>（</a:t>
            </a:r>
            <a:r>
              <a:rPr lang="en-US" altLang="zh-CN" b="1" dirty="0"/>
              <a:t>5</a:t>
            </a:r>
            <a:r>
              <a:rPr lang="zh-CN" altLang="en-US" b="1" dirty="0"/>
              <a:t>）消费函数从</a:t>
            </a:r>
            <a:r>
              <a:rPr lang="en-US" altLang="zh-CN" b="1" dirty="0"/>
              <a:t>c</a:t>
            </a:r>
            <a:r>
              <a:rPr lang="zh-CN" altLang="en-US" b="1" dirty="0"/>
              <a:t>＝</a:t>
            </a:r>
            <a:r>
              <a:rPr lang="en-US" altLang="zh-CN" b="1" dirty="0"/>
              <a:t>100</a:t>
            </a:r>
            <a:r>
              <a:rPr lang="zh-CN" altLang="en-US" b="1" dirty="0"/>
              <a:t>＋</a:t>
            </a:r>
            <a:r>
              <a:rPr lang="en-US" altLang="zh-CN" b="1" dirty="0"/>
              <a:t>0.8y</a:t>
            </a:r>
            <a:r>
              <a:rPr lang="zh-CN" altLang="en-US" b="1" dirty="0"/>
              <a:t>变为</a:t>
            </a:r>
            <a:r>
              <a:rPr lang="en-US" altLang="zh-CN" b="1" dirty="0"/>
              <a:t>c</a:t>
            </a:r>
            <a:r>
              <a:rPr lang="zh-CN" altLang="en-US" b="1" dirty="0"/>
              <a:t>＝</a:t>
            </a:r>
            <a:r>
              <a:rPr lang="en-US" altLang="zh-CN" b="1" dirty="0"/>
              <a:t>100</a:t>
            </a:r>
            <a:r>
              <a:rPr lang="zh-CN" altLang="en-US" b="1" dirty="0"/>
              <a:t>＋</a:t>
            </a:r>
            <a:r>
              <a:rPr lang="en-US" altLang="zh-CN" b="1" dirty="0"/>
              <a:t>0.9y</a:t>
            </a:r>
            <a:r>
              <a:rPr lang="zh-CN" altLang="en-US" b="1" dirty="0"/>
              <a:t>后</a:t>
            </a:r>
          </a:p>
          <a:p>
            <a:pPr>
              <a:lnSpc>
                <a:spcPct val="110000"/>
              </a:lnSpc>
              <a:buClr>
                <a:srgbClr val="FF0000"/>
              </a:buClr>
              <a:buSzPct val="95000"/>
              <a:buFont typeface="Wingdings" panose="05000000000000000000" pitchFamily="2" charset="2"/>
              <a:buChar char="n"/>
            </a:pPr>
            <a:r>
              <a:rPr lang="zh-CN" altLang="en-US" b="1" dirty="0"/>
              <a:t>乘数从</a:t>
            </a:r>
            <a:r>
              <a:rPr lang="en-US" altLang="zh-CN" b="1" dirty="0"/>
              <a:t>5(k</a:t>
            </a:r>
            <a:r>
              <a:rPr lang="zh-CN" altLang="en-US" b="1" dirty="0"/>
              <a:t>＝</a:t>
            </a:r>
            <a:r>
              <a:rPr lang="en-US" altLang="zh-CN" b="1" dirty="0"/>
              <a:t>1/(1</a:t>
            </a:r>
            <a:r>
              <a:rPr lang="zh-CN" altLang="en-US" b="1" dirty="0"/>
              <a:t>－</a:t>
            </a:r>
            <a:r>
              <a:rPr lang="en-US" altLang="zh-CN" b="1" dirty="0"/>
              <a:t>0.8)</a:t>
            </a:r>
            <a:r>
              <a:rPr lang="zh-CN" altLang="en-US" b="1" dirty="0"/>
              <a:t>＝</a:t>
            </a:r>
            <a:r>
              <a:rPr lang="en-US" altLang="zh-CN" b="1" dirty="0"/>
              <a:t>5)</a:t>
            </a:r>
            <a:r>
              <a:rPr lang="zh-CN" altLang="en-US" b="1" dirty="0"/>
              <a:t>变为</a:t>
            </a:r>
            <a:r>
              <a:rPr lang="en-US" altLang="zh-CN" b="1" dirty="0"/>
              <a:t>10(k</a:t>
            </a:r>
            <a:r>
              <a:rPr lang="zh-CN" altLang="en-US" b="1" dirty="0"/>
              <a:t>＝</a:t>
            </a:r>
            <a:r>
              <a:rPr lang="en-US" altLang="zh-CN" b="1" dirty="0"/>
              <a:t>1/(1</a:t>
            </a:r>
            <a:r>
              <a:rPr lang="zh-CN" altLang="en-US" b="1" dirty="0"/>
              <a:t>－</a:t>
            </a:r>
            <a:r>
              <a:rPr lang="en-US" altLang="zh-CN" b="1" dirty="0"/>
              <a:t>0.9)</a:t>
            </a:r>
            <a:r>
              <a:rPr lang="zh-CN" altLang="en-US" b="1" dirty="0"/>
              <a:t>＝</a:t>
            </a:r>
            <a:r>
              <a:rPr lang="en-US" altLang="zh-CN" b="1" dirty="0"/>
              <a:t>10)</a:t>
            </a:r>
          </a:p>
        </p:txBody>
      </p:sp>
    </p:spTree>
    <p:extLst>
      <p:ext uri="{BB962C8B-B14F-4D97-AF65-F5344CB8AC3E}">
        <p14:creationId xmlns:p14="http://schemas.microsoft.com/office/powerpoint/2010/main" val="38960127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DFA5167A-C554-49CA-956E-AD49291AD5AD}"/>
              </a:ext>
            </a:extLst>
          </p:cNvPr>
          <p:cNvSpPr>
            <a:spLocks noGrp="1" noChangeArrowheads="1"/>
          </p:cNvSpPr>
          <p:nvPr>
            <p:ph type="title"/>
          </p:nvPr>
        </p:nvSpPr>
        <p:spPr>
          <a:xfrm>
            <a:off x="838200" y="36512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ea typeface="黑体" panose="02010609060101010101" pitchFamily="49" charset="-122"/>
              </a:rPr>
              <a:t>三部门的收入决定及其乘数</a:t>
            </a:r>
          </a:p>
        </p:txBody>
      </p:sp>
      <p:sp>
        <p:nvSpPr>
          <p:cNvPr id="5" name="Rectangle 3">
            <a:extLst>
              <a:ext uri="{FF2B5EF4-FFF2-40B4-BE49-F238E27FC236}">
                <a16:creationId xmlns:a16="http://schemas.microsoft.com/office/drawing/2014/main" id="{73A44AF8-DD93-4614-85D4-A679DEF758AF}"/>
              </a:ext>
            </a:extLst>
          </p:cNvPr>
          <p:cNvSpPr>
            <a:spLocks noGrp="1" noChangeArrowheads="1"/>
          </p:cNvSpPr>
          <p:nvPr>
            <p:ph idx="1"/>
          </p:nvPr>
        </p:nvSpPr>
        <p:spPr>
          <a:xfrm>
            <a:off x="931998" y="1342892"/>
            <a:ext cx="8135937" cy="576263"/>
          </a:xfrm>
          <a:noFill/>
          <a:ln w="3175" cmpd="tri">
            <a:solidFill>
              <a:schemeClr val="tx1"/>
            </a:solidFill>
          </a:ln>
        </p:spPr>
        <p:txBody>
          <a:bodyPr/>
          <a:lstStyle/>
          <a:p>
            <a:pPr>
              <a:lnSpc>
                <a:spcPct val="90000"/>
              </a:lnSpc>
              <a:buClr>
                <a:srgbClr val="336600"/>
              </a:buClr>
              <a:buSzPct val="95000"/>
              <a:buFont typeface="Wingdings" panose="05000000000000000000" pitchFamily="2" charset="2"/>
              <a:buNone/>
            </a:pPr>
            <a:r>
              <a:rPr lang="en-US" altLang="zh-CN" sz="2800" b="1"/>
              <a:t>1.</a:t>
            </a:r>
            <a:r>
              <a:rPr lang="zh-CN" altLang="en-US" sz="2800" b="1"/>
              <a:t>三部门收入决定</a:t>
            </a:r>
          </a:p>
        </p:txBody>
      </p:sp>
      <p:sp>
        <p:nvSpPr>
          <p:cNvPr id="6" name="Rectangle 5">
            <a:extLst>
              <a:ext uri="{FF2B5EF4-FFF2-40B4-BE49-F238E27FC236}">
                <a16:creationId xmlns:a16="http://schemas.microsoft.com/office/drawing/2014/main" id="{7765A51F-D3B9-44E6-B37A-F76906ECFF06}"/>
              </a:ext>
            </a:extLst>
          </p:cNvPr>
          <p:cNvSpPr>
            <a:spLocks noChangeArrowheads="1"/>
          </p:cNvSpPr>
          <p:nvPr/>
        </p:nvSpPr>
        <p:spPr bwMode="auto">
          <a:xfrm>
            <a:off x="931998" y="3503480"/>
            <a:ext cx="8135937" cy="830997"/>
          </a:xfrm>
          <a:prstGeom prst="rect">
            <a:avLst/>
          </a:prstGeom>
          <a:noFill/>
          <a:ln w="3175" cmpd="tri">
            <a:solidFill>
              <a:schemeClr val="tx1"/>
            </a:solidFill>
            <a:miter lim="800000"/>
            <a:headEnd/>
            <a:tailEnd/>
          </a:ln>
          <a:effectLst/>
        </p:spPr>
        <p:txBody>
          <a:bodyPr>
            <a:spAutoFit/>
          </a:bodyPr>
          <a:lstStyle/>
          <a:p>
            <a:pPr>
              <a:spcBef>
                <a:spcPct val="20000"/>
              </a:spcBef>
              <a:buClr>
                <a:srgbClr val="FF0000"/>
              </a:buClr>
              <a:buFont typeface="Wingdings" panose="05000000000000000000" pitchFamily="2" charset="2"/>
              <a:buChar char="p"/>
            </a:pPr>
            <a:r>
              <a:rPr lang="zh-CN" altLang="en-US" b="1"/>
              <a:t>假定政府税收不随</a:t>
            </a:r>
            <a:r>
              <a:rPr lang="en-US" altLang="zh-CN" b="1"/>
              <a:t>NI</a:t>
            </a:r>
            <a:r>
              <a:rPr lang="zh-CN" altLang="en-US" b="1"/>
              <a:t>的变化而变动，则</a:t>
            </a:r>
            <a:r>
              <a:rPr lang="en-US" altLang="zh-CN" b="1"/>
              <a:t>NI</a:t>
            </a:r>
            <a:r>
              <a:rPr lang="zh-CN" altLang="en-US" b="1"/>
              <a:t>增量＝</a:t>
            </a:r>
            <a:r>
              <a:rPr lang="en-US" altLang="zh-CN" b="1"/>
              <a:t>DPI</a:t>
            </a:r>
            <a:r>
              <a:rPr lang="zh-CN" altLang="en-US" b="1"/>
              <a:t>增量；即是定量税（与之相反的是比例税，是收入的函数）</a:t>
            </a:r>
          </a:p>
        </p:txBody>
      </p:sp>
      <p:sp>
        <p:nvSpPr>
          <p:cNvPr id="7" name="Rectangle 6">
            <a:extLst>
              <a:ext uri="{FF2B5EF4-FFF2-40B4-BE49-F238E27FC236}">
                <a16:creationId xmlns:a16="http://schemas.microsoft.com/office/drawing/2014/main" id="{958CDEAE-BD61-4844-BD39-87A0890649CB}"/>
              </a:ext>
            </a:extLst>
          </p:cNvPr>
          <p:cNvSpPr>
            <a:spLocks noChangeArrowheads="1"/>
          </p:cNvSpPr>
          <p:nvPr/>
        </p:nvSpPr>
        <p:spPr bwMode="auto">
          <a:xfrm>
            <a:off x="931998" y="4727442"/>
            <a:ext cx="3455987" cy="1200329"/>
          </a:xfrm>
          <a:prstGeom prst="rect">
            <a:avLst/>
          </a:prstGeom>
          <a:noFill/>
          <a:ln w="3175" cmpd="tri">
            <a:solidFill>
              <a:schemeClr val="tx1"/>
            </a:solidFill>
            <a:miter lim="800000"/>
            <a:headEnd/>
            <a:tailEnd/>
          </a:ln>
          <a:effectLst/>
        </p:spPr>
        <p:txBody>
          <a:bodyPr>
            <a:spAutoFit/>
          </a:bodyPr>
          <a:lstStyle/>
          <a:p>
            <a:pPr>
              <a:spcBef>
                <a:spcPct val="20000"/>
              </a:spcBef>
              <a:buClr>
                <a:srgbClr val="FF0000"/>
              </a:buClr>
              <a:buFont typeface="Wingdings" panose="05000000000000000000" pitchFamily="2" charset="2"/>
              <a:buChar char="p"/>
            </a:pPr>
            <a:r>
              <a:rPr lang="zh-CN" altLang="en-US" b="1"/>
              <a:t>三部门中任何支出的增加导致</a:t>
            </a:r>
            <a:r>
              <a:rPr lang="en-US" altLang="zh-CN" b="1"/>
              <a:t>NI</a:t>
            </a:r>
            <a:r>
              <a:rPr lang="zh-CN" altLang="en-US" b="1"/>
              <a:t>增加的过程与二部门相同。</a:t>
            </a:r>
          </a:p>
        </p:txBody>
      </p:sp>
      <p:sp>
        <p:nvSpPr>
          <p:cNvPr id="8" name="Rectangle 7">
            <a:extLst>
              <a:ext uri="{FF2B5EF4-FFF2-40B4-BE49-F238E27FC236}">
                <a16:creationId xmlns:a16="http://schemas.microsoft.com/office/drawing/2014/main" id="{99EBE37B-1EE1-46DD-A3E4-3190B4FB641C}"/>
              </a:ext>
            </a:extLst>
          </p:cNvPr>
          <p:cNvSpPr>
            <a:spLocks noChangeArrowheads="1"/>
          </p:cNvSpPr>
          <p:nvPr/>
        </p:nvSpPr>
        <p:spPr bwMode="auto">
          <a:xfrm>
            <a:off x="931998" y="1919155"/>
            <a:ext cx="8135937" cy="1368425"/>
          </a:xfrm>
          <a:prstGeom prst="rect">
            <a:avLst/>
          </a:prstGeom>
          <a:noFill/>
          <a:ln w="3175" cmpd="tri">
            <a:solidFill>
              <a:schemeClr val="tx1"/>
            </a:solidFill>
            <a:miter lim="800000"/>
            <a:headEnd/>
            <a:tailEnd/>
          </a:ln>
          <a:effec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buClr>
                <a:srgbClr val="336600"/>
              </a:buClr>
              <a:buSzPct val="95000"/>
              <a:buFont typeface="Wingdings" panose="05000000000000000000" pitchFamily="2" charset="2"/>
              <a:buChar char="l"/>
            </a:pPr>
            <a:r>
              <a:rPr lang="zh-CN" altLang="en-US" b="1"/>
              <a:t>三部门经济：两部门</a:t>
            </a:r>
            <a:r>
              <a:rPr lang="en-US" altLang="zh-CN" b="1"/>
              <a:t>+</a:t>
            </a:r>
            <a:r>
              <a:rPr lang="zh-CN" altLang="en-US" b="1"/>
              <a:t>政府部门，考虑进税收和政府支出</a:t>
            </a:r>
          </a:p>
          <a:p>
            <a:pPr>
              <a:lnSpc>
                <a:spcPct val="90000"/>
              </a:lnSpc>
              <a:buClr>
                <a:srgbClr val="336600"/>
              </a:buClr>
              <a:buSzPct val="95000"/>
              <a:buFont typeface="Wingdings" panose="05000000000000000000" pitchFamily="2" charset="2"/>
              <a:buChar char="l"/>
            </a:pPr>
            <a:r>
              <a:rPr lang="zh-CN" altLang="en-US" b="1"/>
              <a:t>税收、政府支出（包括政府购买和政府转移支付）都是财政政策工具。 </a:t>
            </a:r>
          </a:p>
        </p:txBody>
      </p:sp>
      <p:pic>
        <p:nvPicPr>
          <p:cNvPr id="9" name="Picture 8">
            <a:extLst>
              <a:ext uri="{FF2B5EF4-FFF2-40B4-BE49-F238E27FC236}">
                <a16:creationId xmlns:a16="http://schemas.microsoft.com/office/drawing/2014/main" id="{A40AA1BA-6062-4F9D-B235-5847C4674F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884" y="4654417"/>
            <a:ext cx="4464050" cy="1800225"/>
          </a:xfrm>
          <a:prstGeom prst="rect">
            <a:avLst/>
          </a:prstGeom>
          <a:noFill/>
          <a:ln w="3175">
            <a:solidFill>
              <a:schemeClr val="tx1"/>
            </a:solidFill>
          </a:ln>
        </p:spPr>
      </p:pic>
    </p:spTree>
    <p:extLst>
      <p:ext uri="{BB962C8B-B14F-4D97-AF65-F5344CB8AC3E}">
        <p14:creationId xmlns:p14="http://schemas.microsoft.com/office/powerpoint/2010/main" val="962084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5">
            <a:extLst>
              <a:ext uri="{FF2B5EF4-FFF2-40B4-BE49-F238E27FC236}">
                <a16:creationId xmlns:a16="http://schemas.microsoft.com/office/drawing/2014/main" id="{9E8F7150-29D0-4E4C-8227-33B719D35FD2}"/>
              </a:ext>
            </a:extLst>
          </p:cNvPr>
          <p:cNvGraphicFramePr>
            <a:graphicFrameLocks noChangeAspect="1"/>
          </p:cNvGraphicFramePr>
          <p:nvPr>
            <p:extLst>
              <p:ext uri="{D42A27DB-BD31-4B8C-83A1-F6EECF244321}">
                <p14:modId xmlns:p14="http://schemas.microsoft.com/office/powerpoint/2010/main" val="2266841849"/>
              </p:ext>
            </p:extLst>
          </p:nvPr>
        </p:nvGraphicFramePr>
        <p:xfrm>
          <a:off x="6260086" y="1394874"/>
          <a:ext cx="2519363" cy="846137"/>
        </p:xfrm>
        <a:graphic>
          <a:graphicData uri="http://schemas.openxmlformats.org/presentationml/2006/ole">
            <mc:AlternateContent xmlns:mc="http://schemas.openxmlformats.org/markup-compatibility/2006">
              <mc:Choice xmlns:v="urn:schemas-microsoft-com:vml" Requires="v">
                <p:oleObj spid="_x0000_s1046" name="公式" r:id="rId3" imgW="1307880" imgH="393480" progId="Equation.3">
                  <p:embed/>
                </p:oleObj>
              </mc:Choice>
              <mc:Fallback>
                <p:oleObj name="公式" r:id="rId3" imgW="1307880" imgH="393480" progId="Equation.3">
                  <p:embed/>
                  <p:pic>
                    <p:nvPicPr>
                      <p:cNvPr id="52229" name="Object 5">
                        <a:extLst>
                          <a:ext uri="{FF2B5EF4-FFF2-40B4-BE49-F238E27FC236}">
                            <a16:creationId xmlns:a16="http://schemas.microsoft.com/office/drawing/2014/main" id="{261BE558-8B5A-4F25-9A0D-4BB88B5FB2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0086" y="1394874"/>
                        <a:ext cx="2519363" cy="846137"/>
                      </a:xfrm>
                      <a:prstGeom prst="rect">
                        <a:avLst/>
                      </a:prstGeom>
                      <a:solidFill>
                        <a:srgbClr val="CCCC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7">
            <a:extLst>
              <a:ext uri="{FF2B5EF4-FFF2-40B4-BE49-F238E27FC236}">
                <a16:creationId xmlns:a16="http://schemas.microsoft.com/office/drawing/2014/main" id="{164AB527-C28B-4C3D-9275-6BEE4E123F62}"/>
              </a:ext>
            </a:extLst>
          </p:cNvPr>
          <p:cNvGraphicFramePr>
            <a:graphicFrameLocks noChangeAspect="1"/>
          </p:cNvGraphicFramePr>
          <p:nvPr>
            <p:extLst>
              <p:ext uri="{D42A27DB-BD31-4B8C-83A1-F6EECF244321}">
                <p14:modId xmlns:p14="http://schemas.microsoft.com/office/powerpoint/2010/main" val="232401006"/>
              </p:ext>
            </p:extLst>
          </p:nvPr>
        </p:nvGraphicFramePr>
        <p:xfrm>
          <a:off x="5899723" y="3626898"/>
          <a:ext cx="2233612" cy="730250"/>
        </p:xfrm>
        <a:graphic>
          <a:graphicData uri="http://schemas.openxmlformats.org/presentationml/2006/ole">
            <mc:AlternateContent xmlns:mc="http://schemas.openxmlformats.org/markup-compatibility/2006">
              <mc:Choice xmlns:v="urn:schemas-microsoft-com:vml" Requires="v">
                <p:oleObj spid="_x0000_s1047" name="Equation" r:id="rId5" imgW="1193760" imgH="393480" progId="Equation.3">
                  <p:embed/>
                </p:oleObj>
              </mc:Choice>
              <mc:Fallback>
                <p:oleObj name="Equation" r:id="rId5" imgW="1193760" imgH="393480" progId="Equation.3">
                  <p:embed/>
                  <p:pic>
                    <p:nvPicPr>
                      <p:cNvPr id="52231" name="Object 7">
                        <a:extLst>
                          <a:ext uri="{FF2B5EF4-FFF2-40B4-BE49-F238E27FC236}">
                            <a16:creationId xmlns:a16="http://schemas.microsoft.com/office/drawing/2014/main" id="{465782C3-8E43-4B32-9CCA-641081F1EEE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99723" y="3626898"/>
                        <a:ext cx="2233612" cy="730250"/>
                      </a:xfrm>
                      <a:prstGeom prst="rect">
                        <a:avLst/>
                      </a:prstGeom>
                      <a:solidFill>
                        <a:srgbClr val="CCCC0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8">
            <a:extLst>
              <a:ext uri="{FF2B5EF4-FFF2-40B4-BE49-F238E27FC236}">
                <a16:creationId xmlns:a16="http://schemas.microsoft.com/office/drawing/2014/main" id="{7315C509-ECF1-4C0D-B2E5-B3D7F7CD1BBA}"/>
              </a:ext>
            </a:extLst>
          </p:cNvPr>
          <p:cNvGraphicFramePr>
            <a:graphicFrameLocks noChangeAspect="1"/>
          </p:cNvGraphicFramePr>
          <p:nvPr>
            <p:extLst>
              <p:ext uri="{D42A27DB-BD31-4B8C-83A1-F6EECF244321}">
                <p14:modId xmlns:p14="http://schemas.microsoft.com/office/powerpoint/2010/main" val="1366302071"/>
              </p:ext>
            </p:extLst>
          </p:nvPr>
        </p:nvGraphicFramePr>
        <p:xfrm>
          <a:off x="5899723" y="4419060"/>
          <a:ext cx="2209800" cy="730250"/>
        </p:xfrm>
        <a:graphic>
          <a:graphicData uri="http://schemas.openxmlformats.org/presentationml/2006/ole">
            <mc:AlternateContent xmlns:mc="http://schemas.openxmlformats.org/markup-compatibility/2006">
              <mc:Choice xmlns:v="urn:schemas-microsoft-com:vml" Requires="v">
                <p:oleObj spid="_x0000_s1048" name="Equation" r:id="rId7" imgW="1231560" imgH="393480" progId="Equation.3">
                  <p:embed/>
                </p:oleObj>
              </mc:Choice>
              <mc:Fallback>
                <p:oleObj name="Equation" r:id="rId7" imgW="1231560" imgH="393480" progId="Equation.3">
                  <p:embed/>
                  <p:pic>
                    <p:nvPicPr>
                      <p:cNvPr id="52232" name="Object 8">
                        <a:extLst>
                          <a:ext uri="{FF2B5EF4-FFF2-40B4-BE49-F238E27FC236}">
                            <a16:creationId xmlns:a16="http://schemas.microsoft.com/office/drawing/2014/main" id="{49653B84-DB0D-4EE2-9AEC-4A1CEAF822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99723" y="4419060"/>
                        <a:ext cx="2209800" cy="730250"/>
                      </a:xfrm>
                      <a:prstGeom prst="rect">
                        <a:avLst/>
                      </a:prstGeom>
                      <a:solidFill>
                        <a:srgbClr val="CCCC0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9">
            <a:extLst>
              <a:ext uri="{FF2B5EF4-FFF2-40B4-BE49-F238E27FC236}">
                <a16:creationId xmlns:a16="http://schemas.microsoft.com/office/drawing/2014/main" id="{2AA97DE7-B56A-4BDA-9708-BAEDB5B51A68}"/>
              </a:ext>
            </a:extLst>
          </p:cNvPr>
          <p:cNvGraphicFramePr>
            <a:graphicFrameLocks noChangeAspect="1"/>
          </p:cNvGraphicFramePr>
          <p:nvPr>
            <p:extLst>
              <p:ext uri="{D42A27DB-BD31-4B8C-83A1-F6EECF244321}">
                <p14:modId xmlns:p14="http://schemas.microsoft.com/office/powerpoint/2010/main" val="2038918897"/>
              </p:ext>
            </p:extLst>
          </p:nvPr>
        </p:nvGraphicFramePr>
        <p:xfrm>
          <a:off x="859411" y="5282660"/>
          <a:ext cx="4043363" cy="762000"/>
        </p:xfrm>
        <a:graphic>
          <a:graphicData uri="http://schemas.openxmlformats.org/presentationml/2006/ole">
            <mc:AlternateContent xmlns:mc="http://schemas.openxmlformats.org/markup-compatibility/2006">
              <mc:Choice xmlns:v="urn:schemas-microsoft-com:vml" Requires="v">
                <p:oleObj spid="_x0000_s1049" name="公式" r:id="rId9" imgW="1828800" imgH="393480" progId="Equation.3">
                  <p:embed/>
                </p:oleObj>
              </mc:Choice>
              <mc:Fallback>
                <p:oleObj name="公式" r:id="rId9" imgW="1828800" imgH="393480" progId="Equation.3">
                  <p:embed/>
                  <p:pic>
                    <p:nvPicPr>
                      <p:cNvPr id="52233" name="Object 9">
                        <a:extLst>
                          <a:ext uri="{FF2B5EF4-FFF2-40B4-BE49-F238E27FC236}">
                            <a16:creationId xmlns:a16="http://schemas.microsoft.com/office/drawing/2014/main" id="{7B749F8F-B1AC-4AF5-8529-53B08F0CCBB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59411" y="5282660"/>
                        <a:ext cx="4043363" cy="762000"/>
                      </a:xfrm>
                      <a:prstGeom prst="rect">
                        <a:avLst/>
                      </a:prstGeom>
                      <a:solidFill>
                        <a:srgbClr val="CCCC0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10">
            <a:extLst>
              <a:ext uri="{FF2B5EF4-FFF2-40B4-BE49-F238E27FC236}">
                <a16:creationId xmlns:a16="http://schemas.microsoft.com/office/drawing/2014/main" id="{FA264AFD-A92F-4010-BA33-3CAFBD38A340}"/>
              </a:ext>
            </a:extLst>
          </p:cNvPr>
          <p:cNvGraphicFramePr>
            <a:graphicFrameLocks noChangeAspect="1"/>
          </p:cNvGraphicFramePr>
          <p:nvPr>
            <p:extLst>
              <p:ext uri="{D42A27DB-BD31-4B8C-83A1-F6EECF244321}">
                <p14:modId xmlns:p14="http://schemas.microsoft.com/office/powerpoint/2010/main" val="3662629724"/>
              </p:ext>
            </p:extLst>
          </p:nvPr>
        </p:nvGraphicFramePr>
        <p:xfrm>
          <a:off x="5828285" y="5355685"/>
          <a:ext cx="2743200" cy="1066800"/>
        </p:xfrm>
        <a:graphic>
          <a:graphicData uri="http://schemas.openxmlformats.org/presentationml/2006/ole">
            <mc:AlternateContent xmlns:mc="http://schemas.openxmlformats.org/markup-compatibility/2006">
              <mc:Choice xmlns:v="urn:schemas-microsoft-com:vml" Requires="v">
                <p:oleObj spid="_x0000_s1050" name="Equation" r:id="rId11" imgW="990360" imgH="419040" progId="Equation.3">
                  <p:embed/>
                </p:oleObj>
              </mc:Choice>
              <mc:Fallback>
                <p:oleObj name="Equation" r:id="rId11" imgW="990360" imgH="419040" progId="Equation.3">
                  <p:embed/>
                  <p:pic>
                    <p:nvPicPr>
                      <p:cNvPr id="52234" name="Object 10">
                        <a:extLst>
                          <a:ext uri="{FF2B5EF4-FFF2-40B4-BE49-F238E27FC236}">
                            <a16:creationId xmlns:a16="http://schemas.microsoft.com/office/drawing/2014/main" id="{24B07FAF-F413-4BA1-9407-6F03CEFBF1B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28285" y="5355685"/>
                        <a:ext cx="2743200" cy="1066800"/>
                      </a:xfrm>
                      <a:prstGeom prst="rect">
                        <a:avLst/>
                      </a:prstGeom>
                      <a:blipFill dpi="0" rotWithShape="0">
                        <a:blip r:embed="rId13"/>
                        <a:srcRect/>
                        <a:tile tx="0" ty="0" sx="100000" sy="100000" flip="none" algn="tl"/>
                      </a:blipFill>
                      <a:ln w="76200" algn="ctr">
                        <a:solidFill>
                          <a:srgbClr val="3366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Rectangle 12">
            <a:extLst>
              <a:ext uri="{FF2B5EF4-FFF2-40B4-BE49-F238E27FC236}">
                <a16:creationId xmlns:a16="http://schemas.microsoft.com/office/drawing/2014/main" id="{42163CD9-0203-4FED-893D-B86BC3305C6F}"/>
              </a:ext>
            </a:extLst>
          </p:cNvPr>
          <p:cNvSpPr>
            <a:spLocks noGrp="1" noChangeArrowheads="1"/>
          </p:cNvSpPr>
          <p:nvPr>
            <p:ph type="title"/>
          </p:nvPr>
        </p:nvSpPr>
        <p:spPr>
          <a:xfrm>
            <a:off x="838200" y="36512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t>三部门中的乘数</a:t>
            </a:r>
          </a:p>
        </p:txBody>
      </p:sp>
      <p:sp>
        <p:nvSpPr>
          <p:cNvPr id="10" name="Rectangle 13">
            <a:extLst>
              <a:ext uri="{FF2B5EF4-FFF2-40B4-BE49-F238E27FC236}">
                <a16:creationId xmlns:a16="http://schemas.microsoft.com/office/drawing/2014/main" id="{4521FF9D-9FA0-42EC-85EC-B274A82A01E4}"/>
              </a:ext>
            </a:extLst>
          </p:cNvPr>
          <p:cNvSpPr>
            <a:spLocks noChangeArrowheads="1"/>
          </p:cNvSpPr>
          <p:nvPr/>
        </p:nvSpPr>
        <p:spPr bwMode="auto">
          <a:xfrm>
            <a:off x="572073" y="1323436"/>
            <a:ext cx="5543550" cy="904863"/>
          </a:xfrm>
          <a:prstGeom prst="rect">
            <a:avLst/>
          </a:prstGeom>
          <a:noFill/>
          <a:ln w="3175" cmpd="thickThin">
            <a:solidFill>
              <a:schemeClr val="tx1"/>
            </a:solidFill>
            <a:miter lim="800000"/>
            <a:headEnd/>
            <a:tailEnd/>
          </a:ln>
          <a:effectLst/>
        </p:spPr>
        <p:txBody>
          <a:bodyPr>
            <a:spAutoFit/>
          </a:bodyPr>
          <a:lstStyle/>
          <a:p>
            <a:pPr>
              <a:spcBef>
                <a:spcPct val="20000"/>
              </a:spcBef>
              <a:buClr>
                <a:srgbClr val="FF0000"/>
              </a:buClr>
              <a:buSzPct val="95000"/>
              <a:buFont typeface="Wingdings" panose="05000000000000000000" pitchFamily="2" charset="2"/>
              <a:buChar char="n"/>
            </a:pPr>
            <a:r>
              <a:rPr lang="zh-CN" altLang="en-US" b="1"/>
              <a:t>先不管转移支付，则</a:t>
            </a:r>
          </a:p>
          <a:p>
            <a:pPr>
              <a:spcBef>
                <a:spcPct val="20000"/>
              </a:spcBef>
              <a:buClr>
                <a:srgbClr val="FF0000"/>
              </a:buClr>
              <a:buSzPct val="95000"/>
              <a:buFont typeface="Wingdings" panose="05000000000000000000" pitchFamily="2" charset="2"/>
              <a:buChar char="n"/>
            </a:pPr>
            <a:r>
              <a:rPr lang="en-US" altLang="zh-CN" b="1"/>
              <a:t>y=c+i+g</a:t>
            </a:r>
            <a:r>
              <a:rPr lang="zh-CN" altLang="en-US" b="1"/>
              <a:t>＝</a:t>
            </a:r>
            <a:r>
              <a:rPr lang="en-US" altLang="zh-CN" b="1"/>
              <a:t>a+b(y-T)+i+g ,   T</a:t>
            </a:r>
            <a:r>
              <a:rPr lang="zh-CN" altLang="en-US" b="1"/>
              <a:t>为定量税</a:t>
            </a:r>
          </a:p>
        </p:txBody>
      </p:sp>
      <p:sp>
        <p:nvSpPr>
          <p:cNvPr id="11" name="Rectangle 14">
            <a:extLst>
              <a:ext uri="{FF2B5EF4-FFF2-40B4-BE49-F238E27FC236}">
                <a16:creationId xmlns:a16="http://schemas.microsoft.com/office/drawing/2014/main" id="{296EABCB-7772-43AF-BF00-B85D1C4BA7FE}"/>
              </a:ext>
            </a:extLst>
          </p:cNvPr>
          <p:cNvSpPr>
            <a:spLocks noChangeArrowheads="1"/>
          </p:cNvSpPr>
          <p:nvPr/>
        </p:nvSpPr>
        <p:spPr bwMode="auto">
          <a:xfrm>
            <a:off x="572074" y="2618836"/>
            <a:ext cx="8207375" cy="830997"/>
          </a:xfrm>
          <a:prstGeom prst="rect">
            <a:avLst/>
          </a:prstGeom>
          <a:noFill/>
          <a:ln w="3175">
            <a:solidFill>
              <a:schemeClr val="tx1"/>
            </a:solidFill>
            <a:miter lim="800000"/>
            <a:headEnd/>
            <a:tailEnd/>
          </a:ln>
          <a:effectLst/>
        </p:spPr>
        <p:txBody>
          <a:bodyPr>
            <a:spAutoFit/>
          </a:bodyPr>
          <a:lstStyle/>
          <a:p>
            <a:pPr>
              <a:spcBef>
                <a:spcPct val="20000"/>
              </a:spcBef>
              <a:buClr>
                <a:schemeClr val="hlink"/>
              </a:buClr>
              <a:buSzPct val="95000"/>
              <a:buFont typeface="Wingdings" panose="05000000000000000000" pitchFamily="2" charset="2"/>
              <a:buChar char="u"/>
            </a:pPr>
            <a:r>
              <a:rPr lang="zh-CN" altLang="en-US" b="1"/>
              <a:t>政府购买乘数：收入变动对导致其的政府购买支出变动的比率。   </a:t>
            </a:r>
            <a:r>
              <a:rPr lang="en-US" altLang="zh-CN" b="1"/>
              <a:t>k</a:t>
            </a:r>
            <a:r>
              <a:rPr lang="en-US" altLang="zh-CN" b="1" baseline="-25000"/>
              <a:t>g</a:t>
            </a:r>
            <a:r>
              <a:rPr lang="zh-CN" altLang="en-US" b="1"/>
              <a:t>＝</a:t>
            </a:r>
            <a:r>
              <a:rPr lang="zh-CN" altLang="en-US" b="1">
                <a:sym typeface="Wingdings 3" panose="05040102010807070707" pitchFamily="18" charset="2"/>
              </a:rPr>
              <a:t></a:t>
            </a:r>
            <a:r>
              <a:rPr lang="en-US" altLang="zh-CN" b="1">
                <a:sym typeface="Wingdings 3" panose="05040102010807070707" pitchFamily="18" charset="2"/>
              </a:rPr>
              <a:t>y/g</a:t>
            </a:r>
          </a:p>
        </p:txBody>
      </p:sp>
      <p:sp>
        <p:nvSpPr>
          <p:cNvPr id="12" name="Rectangle 15">
            <a:extLst>
              <a:ext uri="{FF2B5EF4-FFF2-40B4-BE49-F238E27FC236}">
                <a16:creationId xmlns:a16="http://schemas.microsoft.com/office/drawing/2014/main" id="{61EEEF19-2087-4868-BBF5-9D61EFD51945}"/>
              </a:ext>
            </a:extLst>
          </p:cNvPr>
          <p:cNvSpPr>
            <a:spLocks noChangeArrowheads="1"/>
          </p:cNvSpPr>
          <p:nvPr/>
        </p:nvSpPr>
        <p:spPr bwMode="auto">
          <a:xfrm>
            <a:off x="859411" y="3698335"/>
            <a:ext cx="4683125" cy="1371600"/>
          </a:xfrm>
          <a:prstGeom prst="rect">
            <a:avLst/>
          </a:prstGeom>
          <a:noFill/>
          <a:ln w="3175" cmpd="thickThin">
            <a:solidFill>
              <a:schemeClr val="tx1"/>
            </a:solidFill>
            <a:miter lim="800000"/>
            <a:headEnd/>
            <a:tailEnd/>
          </a:ln>
          <a:effectLst/>
        </p:spPr>
        <p:txBody>
          <a:bodyPr/>
          <a:lstStyle/>
          <a:p>
            <a:pPr>
              <a:lnSpc>
                <a:spcPct val="110000"/>
              </a:lnSpc>
              <a:buClr>
                <a:schemeClr val="hlink"/>
              </a:buClr>
              <a:buFont typeface="Wingdings" panose="05000000000000000000" pitchFamily="2" charset="2"/>
              <a:buChar char="u"/>
            </a:pPr>
            <a:r>
              <a:rPr lang="zh-CN" altLang="en-US" b="1">
                <a:sym typeface="Wingdings 3" panose="05040102010807070707" pitchFamily="18" charset="2"/>
              </a:rPr>
              <a:t>假设其他条件都不变，</a:t>
            </a:r>
          </a:p>
          <a:p>
            <a:pPr>
              <a:lnSpc>
                <a:spcPct val="110000"/>
              </a:lnSpc>
              <a:buClr>
                <a:schemeClr val="hlink"/>
              </a:buClr>
              <a:buFont typeface="Wingdings" panose="05000000000000000000" pitchFamily="2" charset="2"/>
              <a:buChar char="u"/>
            </a:pPr>
            <a:r>
              <a:rPr lang="zh-CN" altLang="en-US" b="1">
                <a:sym typeface="Wingdings 3" panose="05040102010807070707" pitchFamily="18" charset="2"/>
              </a:rPr>
              <a:t>只有</a:t>
            </a:r>
            <a:r>
              <a:rPr lang="en-US" altLang="zh-CN" b="1">
                <a:sym typeface="Wingdings 3" panose="05040102010807070707" pitchFamily="18" charset="2"/>
              </a:rPr>
              <a:t>g</a:t>
            </a:r>
            <a:r>
              <a:rPr lang="zh-CN" altLang="en-US" b="1">
                <a:sym typeface="Wingdings 3" panose="05040102010807070707" pitchFamily="18" charset="2"/>
              </a:rPr>
              <a:t>变导致</a:t>
            </a:r>
            <a:r>
              <a:rPr lang="en-US" altLang="zh-CN" b="1">
                <a:sym typeface="Wingdings 3" panose="05040102010807070707" pitchFamily="18" charset="2"/>
              </a:rPr>
              <a:t>y</a:t>
            </a:r>
            <a:r>
              <a:rPr lang="zh-CN" altLang="en-US" b="1">
                <a:sym typeface="Wingdings 3" panose="05040102010807070707" pitchFamily="18" charset="2"/>
              </a:rPr>
              <a:t>变。</a:t>
            </a:r>
          </a:p>
          <a:p>
            <a:pPr>
              <a:lnSpc>
                <a:spcPct val="110000"/>
              </a:lnSpc>
              <a:buClr>
                <a:schemeClr val="hlink"/>
              </a:buClr>
              <a:buFont typeface="Wingdings" panose="05000000000000000000" pitchFamily="2" charset="2"/>
              <a:buChar char="u"/>
            </a:pPr>
            <a:r>
              <a:rPr lang="en-US" altLang="zh-CN" b="1">
                <a:sym typeface="Wingdings 3" panose="05040102010807070707" pitchFamily="18" charset="2"/>
              </a:rPr>
              <a:t>g</a:t>
            </a:r>
            <a:r>
              <a:rPr lang="en-US" altLang="zh-CN" b="1" baseline="-25000">
                <a:sym typeface="Wingdings 3" panose="05040102010807070707" pitchFamily="18" charset="2"/>
              </a:rPr>
              <a:t>1</a:t>
            </a:r>
            <a:r>
              <a:rPr lang="en-US" altLang="zh-CN" b="1">
                <a:sym typeface="Wingdings" panose="05000000000000000000" pitchFamily="2" charset="2"/>
              </a:rPr>
              <a:t>g</a:t>
            </a:r>
            <a:r>
              <a:rPr lang="en-US" altLang="zh-CN" b="1" baseline="-25000">
                <a:sym typeface="Wingdings" panose="05000000000000000000" pitchFamily="2" charset="2"/>
              </a:rPr>
              <a:t>2</a:t>
            </a:r>
            <a:r>
              <a:rPr lang="zh-CN" altLang="en-US" b="1">
                <a:sym typeface="Wingdings" panose="05000000000000000000" pitchFamily="2" charset="2"/>
              </a:rPr>
              <a:t>时，</a:t>
            </a:r>
            <a:r>
              <a:rPr lang="en-US" altLang="zh-CN" b="1">
                <a:sym typeface="Wingdings" panose="05000000000000000000" pitchFamily="2" charset="2"/>
              </a:rPr>
              <a:t>y</a:t>
            </a:r>
            <a:r>
              <a:rPr lang="en-US" altLang="zh-CN" b="1" baseline="-25000">
                <a:sym typeface="Wingdings" panose="05000000000000000000" pitchFamily="2" charset="2"/>
              </a:rPr>
              <a:t>1</a:t>
            </a:r>
            <a:r>
              <a:rPr lang="en-US" altLang="zh-CN" b="1">
                <a:sym typeface="Wingdings" panose="05000000000000000000" pitchFamily="2" charset="2"/>
              </a:rPr>
              <a:t>y</a:t>
            </a:r>
            <a:r>
              <a:rPr lang="en-US" altLang="zh-CN" b="1" baseline="-25000">
                <a:sym typeface="Wingdings" panose="05000000000000000000" pitchFamily="2" charset="2"/>
              </a:rPr>
              <a:t>2</a:t>
            </a:r>
            <a:r>
              <a:rPr lang="zh-CN" altLang="en-US" b="1">
                <a:sym typeface="Wingdings" panose="05000000000000000000" pitchFamily="2" charset="2"/>
              </a:rPr>
              <a:t>。</a:t>
            </a:r>
          </a:p>
        </p:txBody>
      </p:sp>
    </p:spTree>
    <p:extLst>
      <p:ext uri="{BB962C8B-B14F-4D97-AF65-F5344CB8AC3E}">
        <p14:creationId xmlns:p14="http://schemas.microsoft.com/office/powerpoint/2010/main" val="20751618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9C387BEA-D890-48C4-AEB6-9768E61DE99F}"/>
              </a:ext>
            </a:extLst>
          </p:cNvPr>
          <p:cNvSpPr>
            <a:spLocks noGrp="1" noChangeArrowheads="1"/>
          </p:cNvSpPr>
          <p:nvPr>
            <p:ph type="title"/>
          </p:nvPr>
        </p:nvSpPr>
        <p:spPr>
          <a:xfrm>
            <a:off x="838200" y="36512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t>三部门中的税收乘数</a:t>
            </a:r>
          </a:p>
        </p:txBody>
      </p:sp>
      <p:sp>
        <p:nvSpPr>
          <p:cNvPr id="5" name="Rectangle 3">
            <a:extLst>
              <a:ext uri="{FF2B5EF4-FFF2-40B4-BE49-F238E27FC236}">
                <a16:creationId xmlns:a16="http://schemas.microsoft.com/office/drawing/2014/main" id="{B3664AC3-1ACC-4FD0-BCDB-3D9107744694}"/>
              </a:ext>
            </a:extLst>
          </p:cNvPr>
          <p:cNvSpPr>
            <a:spLocks noGrp="1" noChangeArrowheads="1"/>
          </p:cNvSpPr>
          <p:nvPr>
            <p:ph idx="1"/>
          </p:nvPr>
        </p:nvSpPr>
        <p:spPr>
          <a:xfrm>
            <a:off x="1009819" y="1294253"/>
            <a:ext cx="4103687" cy="1135063"/>
          </a:xfrm>
          <a:noFill/>
          <a:ln w="76200" cmpd="tri">
            <a:noFill/>
          </a:ln>
        </p:spPr>
        <p:txBody>
          <a:bodyPr>
            <a:normAutofit lnSpcReduction="10000"/>
          </a:bodyPr>
          <a:lstStyle/>
          <a:p>
            <a:pPr marL="0" indent="0">
              <a:buClr>
                <a:srgbClr val="336600"/>
              </a:buClr>
              <a:buSzPct val="95000"/>
              <a:buFont typeface="Wingdings" panose="05000000000000000000" pitchFamily="2" charset="2"/>
              <a:buChar char="l"/>
            </a:pPr>
            <a:r>
              <a:rPr lang="zh-CN" altLang="en-US" b="1" dirty="0">
                <a:sym typeface="Wingdings 3" panose="05040102010807070707" pitchFamily="18" charset="2"/>
              </a:rPr>
              <a:t>同理可以得到税收（定量税、税收绝对量）乘数如下</a:t>
            </a:r>
          </a:p>
        </p:txBody>
      </p:sp>
      <p:graphicFrame>
        <p:nvGraphicFramePr>
          <p:cNvPr id="6" name="Object 4">
            <a:extLst>
              <a:ext uri="{FF2B5EF4-FFF2-40B4-BE49-F238E27FC236}">
                <a16:creationId xmlns:a16="http://schemas.microsoft.com/office/drawing/2014/main" id="{E7BB8FE0-7C4F-44FB-96D0-393C48CE58E3}"/>
              </a:ext>
            </a:extLst>
          </p:cNvPr>
          <p:cNvGraphicFramePr>
            <a:graphicFrameLocks noChangeAspect="1"/>
          </p:cNvGraphicFramePr>
          <p:nvPr>
            <p:extLst>
              <p:ext uri="{D42A27DB-BD31-4B8C-83A1-F6EECF244321}">
                <p14:modId xmlns:p14="http://schemas.microsoft.com/office/powerpoint/2010/main" val="1598314165"/>
              </p:ext>
            </p:extLst>
          </p:nvPr>
        </p:nvGraphicFramePr>
        <p:xfrm>
          <a:off x="5473868" y="1438716"/>
          <a:ext cx="2735262" cy="935037"/>
        </p:xfrm>
        <a:graphic>
          <a:graphicData uri="http://schemas.openxmlformats.org/presentationml/2006/ole">
            <mc:AlternateContent xmlns:mc="http://schemas.openxmlformats.org/markup-compatibility/2006">
              <mc:Choice xmlns:v="urn:schemas-microsoft-com:vml" Requires="v">
                <p:oleObj spid="_x0000_s2070" name="Equation" r:id="rId3" imgW="1117440" imgH="393480" progId="Equation.3">
                  <p:embed/>
                </p:oleObj>
              </mc:Choice>
              <mc:Fallback>
                <p:oleObj name="Equation" r:id="rId3" imgW="1117440" imgH="393480" progId="Equation.3">
                  <p:embed/>
                  <p:pic>
                    <p:nvPicPr>
                      <p:cNvPr id="53252" name="Object 4">
                        <a:extLst>
                          <a:ext uri="{FF2B5EF4-FFF2-40B4-BE49-F238E27FC236}">
                            <a16:creationId xmlns:a16="http://schemas.microsoft.com/office/drawing/2014/main" id="{6F3B5DAB-4663-43AD-99FF-479983AD11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3868" y="1438716"/>
                        <a:ext cx="2735262" cy="935037"/>
                      </a:xfrm>
                      <a:prstGeom prst="rect">
                        <a:avLst/>
                      </a:prstGeom>
                      <a:solidFill>
                        <a:schemeClr val="accent1"/>
                      </a:solidFill>
                      <a:ln w="38100" cmpd="dbl">
                        <a:solidFill>
                          <a:srgbClr val="C0A558"/>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5">
            <a:extLst>
              <a:ext uri="{FF2B5EF4-FFF2-40B4-BE49-F238E27FC236}">
                <a16:creationId xmlns:a16="http://schemas.microsoft.com/office/drawing/2014/main" id="{6A829310-E89F-413B-81B2-36E8912B5B7C}"/>
              </a:ext>
            </a:extLst>
          </p:cNvPr>
          <p:cNvGraphicFramePr>
            <a:graphicFrameLocks noChangeAspect="1"/>
          </p:cNvGraphicFramePr>
          <p:nvPr>
            <p:extLst>
              <p:ext uri="{D42A27DB-BD31-4B8C-83A1-F6EECF244321}">
                <p14:modId xmlns:p14="http://schemas.microsoft.com/office/powerpoint/2010/main" val="1473475061"/>
              </p:ext>
            </p:extLst>
          </p:nvPr>
        </p:nvGraphicFramePr>
        <p:xfrm>
          <a:off x="1009818" y="2589652"/>
          <a:ext cx="2159000" cy="730250"/>
        </p:xfrm>
        <a:graphic>
          <a:graphicData uri="http://schemas.openxmlformats.org/presentationml/2006/ole">
            <mc:AlternateContent xmlns:mc="http://schemas.openxmlformats.org/markup-compatibility/2006">
              <mc:Choice xmlns:v="urn:schemas-microsoft-com:vml" Requires="v">
                <p:oleObj spid="_x0000_s2071" name="公式" r:id="rId5" imgW="1180800" imgH="393480" progId="Equation.3">
                  <p:embed/>
                </p:oleObj>
              </mc:Choice>
              <mc:Fallback>
                <p:oleObj name="公式" r:id="rId5" imgW="1180800" imgH="393480" progId="Equation.3">
                  <p:embed/>
                  <p:pic>
                    <p:nvPicPr>
                      <p:cNvPr id="53253" name="Object 5">
                        <a:extLst>
                          <a:ext uri="{FF2B5EF4-FFF2-40B4-BE49-F238E27FC236}">
                            <a16:creationId xmlns:a16="http://schemas.microsoft.com/office/drawing/2014/main" id="{9501C8B4-70E9-4F30-ACBE-0DF2A984221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9818" y="2589652"/>
                        <a:ext cx="2159000" cy="730250"/>
                      </a:xfrm>
                      <a:prstGeom prst="rect">
                        <a:avLst/>
                      </a:prstGeom>
                      <a:solidFill>
                        <a:schemeClr val="accent1"/>
                      </a:solidFill>
                      <a:ln w="38100" cmpd="dbl" algn="ctr">
                        <a:solidFill>
                          <a:srgbClr val="C0A558"/>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6">
            <a:extLst>
              <a:ext uri="{FF2B5EF4-FFF2-40B4-BE49-F238E27FC236}">
                <a16:creationId xmlns:a16="http://schemas.microsoft.com/office/drawing/2014/main" id="{02262FDE-7247-4FE8-BA23-3E15CE68A7AF}"/>
              </a:ext>
            </a:extLst>
          </p:cNvPr>
          <p:cNvGraphicFramePr>
            <a:graphicFrameLocks noChangeAspect="1"/>
          </p:cNvGraphicFramePr>
          <p:nvPr>
            <p:extLst>
              <p:ext uri="{D42A27DB-BD31-4B8C-83A1-F6EECF244321}">
                <p14:modId xmlns:p14="http://schemas.microsoft.com/office/powerpoint/2010/main" val="618568117"/>
              </p:ext>
            </p:extLst>
          </p:nvPr>
        </p:nvGraphicFramePr>
        <p:xfrm>
          <a:off x="1009819" y="3526277"/>
          <a:ext cx="2187575" cy="730250"/>
        </p:xfrm>
        <a:graphic>
          <a:graphicData uri="http://schemas.openxmlformats.org/presentationml/2006/ole">
            <mc:AlternateContent xmlns:mc="http://schemas.openxmlformats.org/markup-compatibility/2006">
              <mc:Choice xmlns:v="urn:schemas-microsoft-com:vml" Requires="v">
                <p:oleObj spid="_x0000_s2072" name="公式" r:id="rId7" imgW="1218960" imgH="393480" progId="Equation.3">
                  <p:embed/>
                </p:oleObj>
              </mc:Choice>
              <mc:Fallback>
                <p:oleObj name="公式" r:id="rId7" imgW="1218960" imgH="393480" progId="Equation.3">
                  <p:embed/>
                  <p:pic>
                    <p:nvPicPr>
                      <p:cNvPr id="53254" name="Object 6">
                        <a:extLst>
                          <a:ext uri="{FF2B5EF4-FFF2-40B4-BE49-F238E27FC236}">
                            <a16:creationId xmlns:a16="http://schemas.microsoft.com/office/drawing/2014/main" id="{0365C4BE-BB61-469D-85FE-08708F1DA2C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9819" y="3526277"/>
                        <a:ext cx="2187575" cy="730250"/>
                      </a:xfrm>
                      <a:prstGeom prst="rect">
                        <a:avLst/>
                      </a:prstGeom>
                      <a:solidFill>
                        <a:schemeClr val="accent1"/>
                      </a:solidFill>
                      <a:ln w="38100" cmpd="dbl" algn="ctr">
                        <a:solidFill>
                          <a:srgbClr val="C0A558"/>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7">
            <a:extLst>
              <a:ext uri="{FF2B5EF4-FFF2-40B4-BE49-F238E27FC236}">
                <a16:creationId xmlns:a16="http://schemas.microsoft.com/office/drawing/2014/main" id="{8F95BAFB-C3FD-421B-B375-8E60A36486C6}"/>
              </a:ext>
            </a:extLst>
          </p:cNvPr>
          <p:cNvGraphicFramePr>
            <a:graphicFrameLocks noChangeAspect="1"/>
          </p:cNvGraphicFramePr>
          <p:nvPr>
            <p:extLst>
              <p:ext uri="{D42A27DB-BD31-4B8C-83A1-F6EECF244321}">
                <p14:modId xmlns:p14="http://schemas.microsoft.com/office/powerpoint/2010/main" val="3459365675"/>
              </p:ext>
            </p:extLst>
          </p:nvPr>
        </p:nvGraphicFramePr>
        <p:xfrm>
          <a:off x="3529180" y="2950016"/>
          <a:ext cx="5545138" cy="809625"/>
        </p:xfrm>
        <a:graphic>
          <a:graphicData uri="http://schemas.openxmlformats.org/presentationml/2006/ole">
            <mc:AlternateContent xmlns:mc="http://schemas.openxmlformats.org/markup-compatibility/2006">
              <mc:Choice xmlns:v="urn:schemas-microsoft-com:vml" Requires="v">
                <p:oleObj spid="_x0000_s2073" name="公式" r:id="rId9" imgW="2361960" imgH="393480" progId="Equation.3">
                  <p:embed/>
                </p:oleObj>
              </mc:Choice>
              <mc:Fallback>
                <p:oleObj name="公式" r:id="rId9" imgW="2361960" imgH="393480" progId="Equation.3">
                  <p:embed/>
                  <p:pic>
                    <p:nvPicPr>
                      <p:cNvPr id="53255" name="Object 7">
                        <a:extLst>
                          <a:ext uri="{FF2B5EF4-FFF2-40B4-BE49-F238E27FC236}">
                            <a16:creationId xmlns:a16="http://schemas.microsoft.com/office/drawing/2014/main" id="{66EF71FB-681F-45F7-8F50-99C9B1EC211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29180" y="2950016"/>
                        <a:ext cx="5545138" cy="809625"/>
                      </a:xfrm>
                      <a:prstGeom prst="rect">
                        <a:avLst/>
                      </a:prstGeom>
                      <a:solidFill>
                        <a:schemeClr val="accent1"/>
                      </a:solidFill>
                      <a:ln w="38100" cmpd="dbl" algn="ctr">
                        <a:solidFill>
                          <a:srgbClr val="C0A558"/>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8">
            <a:extLst>
              <a:ext uri="{FF2B5EF4-FFF2-40B4-BE49-F238E27FC236}">
                <a16:creationId xmlns:a16="http://schemas.microsoft.com/office/drawing/2014/main" id="{3B8FA877-C2CD-40A6-AC44-50757BE85C77}"/>
              </a:ext>
            </a:extLst>
          </p:cNvPr>
          <p:cNvGraphicFramePr>
            <a:graphicFrameLocks noChangeAspect="1"/>
          </p:cNvGraphicFramePr>
          <p:nvPr>
            <p:extLst>
              <p:ext uri="{D42A27DB-BD31-4B8C-83A1-F6EECF244321}">
                <p14:modId xmlns:p14="http://schemas.microsoft.com/office/powerpoint/2010/main" val="599986188"/>
              </p:ext>
            </p:extLst>
          </p:nvPr>
        </p:nvGraphicFramePr>
        <p:xfrm>
          <a:off x="1074905" y="4745478"/>
          <a:ext cx="7772400" cy="1008063"/>
        </p:xfrm>
        <a:graphic>
          <a:graphicData uri="http://schemas.openxmlformats.org/presentationml/2006/ole">
            <mc:AlternateContent xmlns:mc="http://schemas.openxmlformats.org/markup-compatibility/2006">
              <mc:Choice xmlns:v="urn:schemas-microsoft-com:vml" Requires="v">
                <p:oleObj spid="_x0000_s2074" name="Equation" r:id="rId11" imgW="1002960" imgH="393480" progId="Equation.3">
                  <p:embed/>
                </p:oleObj>
              </mc:Choice>
              <mc:Fallback>
                <p:oleObj name="Equation" r:id="rId11" imgW="1002960" imgH="393480" progId="Equation.3">
                  <p:embed/>
                  <p:pic>
                    <p:nvPicPr>
                      <p:cNvPr id="53256" name="Object 8">
                        <a:extLst>
                          <a:ext uri="{FF2B5EF4-FFF2-40B4-BE49-F238E27FC236}">
                            <a16:creationId xmlns:a16="http://schemas.microsoft.com/office/drawing/2014/main" id="{47F29F62-24B2-48AE-8624-9B278AC4BF6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74905" y="4745478"/>
                        <a:ext cx="7772400" cy="1008063"/>
                      </a:xfrm>
                      <a:prstGeom prst="rect">
                        <a:avLst/>
                      </a:prstGeom>
                      <a:blipFill dpi="0" rotWithShape="0">
                        <a:blip r:embed="rId13"/>
                        <a:srcRect/>
                        <a:tile tx="0" ty="0" sx="100000" sy="100000" flip="none" algn="tl"/>
                      </a:blipFill>
                      <a:ln w="76200" algn="ctr">
                        <a:solidFill>
                          <a:srgbClr val="3366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AutoShape 9">
            <a:extLst>
              <a:ext uri="{FF2B5EF4-FFF2-40B4-BE49-F238E27FC236}">
                <a16:creationId xmlns:a16="http://schemas.microsoft.com/office/drawing/2014/main" id="{7A3A42F9-3D01-478B-AED2-8AAF04B1FAF3}"/>
              </a:ext>
            </a:extLst>
          </p:cNvPr>
          <p:cNvSpPr>
            <a:spLocks/>
          </p:cNvSpPr>
          <p:nvPr/>
        </p:nvSpPr>
        <p:spPr bwMode="auto">
          <a:xfrm>
            <a:off x="3168819" y="2589652"/>
            <a:ext cx="288925" cy="1657350"/>
          </a:xfrm>
          <a:prstGeom prst="rightBrace">
            <a:avLst>
              <a:gd name="adj1" fmla="val 4780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966065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5B68294-1D90-4221-B9BB-DCBAB441DEFE}"/>
              </a:ext>
            </a:extLst>
          </p:cNvPr>
          <p:cNvSpPr>
            <a:spLocks noGrp="1" noChangeArrowheads="1"/>
          </p:cNvSpPr>
          <p:nvPr>
            <p:ph type="title"/>
          </p:nvPr>
        </p:nvSpPr>
        <p:spPr>
          <a:xfrm>
            <a:off x="838200" y="36512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a:t>三部门中的投资乘数</a:t>
            </a:r>
          </a:p>
        </p:txBody>
      </p:sp>
      <p:sp>
        <p:nvSpPr>
          <p:cNvPr id="5" name="Rectangle 11">
            <a:extLst>
              <a:ext uri="{FF2B5EF4-FFF2-40B4-BE49-F238E27FC236}">
                <a16:creationId xmlns:a16="http://schemas.microsoft.com/office/drawing/2014/main" id="{E58D8E04-4325-4E04-957A-B0218580E884}"/>
              </a:ext>
            </a:extLst>
          </p:cNvPr>
          <p:cNvSpPr>
            <a:spLocks noGrp="1" noChangeArrowheads="1"/>
          </p:cNvSpPr>
          <p:nvPr>
            <p:ph idx="1"/>
          </p:nvPr>
        </p:nvSpPr>
        <p:spPr>
          <a:xfrm>
            <a:off x="197489" y="3862255"/>
            <a:ext cx="8280400" cy="1368425"/>
          </a:xfrm>
          <a:noFill/>
          <a:ln>
            <a:noFill/>
          </a:ln>
        </p:spPr>
        <p:txBody>
          <a:bodyPr>
            <a:normAutofit fontScale="85000" lnSpcReduction="10000"/>
          </a:bodyPr>
          <a:lstStyle/>
          <a:p>
            <a:pPr>
              <a:lnSpc>
                <a:spcPct val="90000"/>
              </a:lnSpc>
            </a:pPr>
            <a:r>
              <a:rPr lang="zh-CN" altLang="en-US"/>
              <a:t>政府转移支付乘数</a:t>
            </a:r>
          </a:p>
          <a:p>
            <a:pPr>
              <a:lnSpc>
                <a:spcPct val="90000"/>
              </a:lnSpc>
            </a:pPr>
            <a:r>
              <a:rPr lang="zh-CN" altLang="en-US" b="1"/>
              <a:t>有了政府转移支付之后，</a:t>
            </a:r>
          </a:p>
          <a:p>
            <a:pPr>
              <a:lnSpc>
                <a:spcPct val="90000"/>
              </a:lnSpc>
            </a:pPr>
            <a:r>
              <a:rPr lang="en-US" altLang="zh-CN" b="1"/>
              <a:t>y=c+i+g</a:t>
            </a:r>
            <a:r>
              <a:rPr lang="zh-CN" altLang="en-US" b="1"/>
              <a:t>＝</a:t>
            </a:r>
            <a:r>
              <a:rPr lang="en-US" altLang="zh-CN" b="1"/>
              <a:t>a+b(y-T+tr)+i+g ,   T</a:t>
            </a:r>
            <a:r>
              <a:rPr lang="zh-CN" altLang="en-US" b="1"/>
              <a:t>为定量税，</a:t>
            </a:r>
            <a:r>
              <a:rPr lang="en-US" altLang="zh-CN" b="1"/>
              <a:t>tr</a:t>
            </a:r>
            <a:r>
              <a:rPr lang="zh-CN" altLang="en-US" b="1"/>
              <a:t>为转移支付</a:t>
            </a:r>
          </a:p>
        </p:txBody>
      </p:sp>
      <p:graphicFrame>
        <p:nvGraphicFramePr>
          <p:cNvPr id="6" name="Object 4">
            <a:extLst>
              <a:ext uri="{FF2B5EF4-FFF2-40B4-BE49-F238E27FC236}">
                <a16:creationId xmlns:a16="http://schemas.microsoft.com/office/drawing/2014/main" id="{45A1AF31-6742-408C-8623-CC11B240A9A2}"/>
              </a:ext>
            </a:extLst>
          </p:cNvPr>
          <p:cNvGraphicFramePr>
            <a:graphicFrameLocks noChangeAspect="1"/>
          </p:cNvGraphicFramePr>
          <p:nvPr>
            <p:extLst>
              <p:ext uri="{D42A27DB-BD31-4B8C-83A1-F6EECF244321}">
                <p14:modId xmlns:p14="http://schemas.microsoft.com/office/powerpoint/2010/main" val="1306082464"/>
              </p:ext>
            </p:extLst>
          </p:nvPr>
        </p:nvGraphicFramePr>
        <p:xfrm>
          <a:off x="5814064" y="550730"/>
          <a:ext cx="2520950" cy="1082675"/>
        </p:xfrm>
        <a:graphic>
          <a:graphicData uri="http://schemas.openxmlformats.org/presentationml/2006/ole">
            <mc:AlternateContent xmlns:mc="http://schemas.openxmlformats.org/markup-compatibility/2006">
              <mc:Choice xmlns:v="urn:schemas-microsoft-com:vml" Requires="v">
                <p:oleObj spid="_x0000_s3102" name="Equation" r:id="rId3" imgW="1117440" imgH="393480" progId="Equation.3">
                  <p:embed/>
                </p:oleObj>
              </mc:Choice>
              <mc:Fallback>
                <p:oleObj name="Equation" r:id="rId3" imgW="1117440" imgH="393480" progId="Equation.3">
                  <p:embed/>
                  <p:pic>
                    <p:nvPicPr>
                      <p:cNvPr id="54276" name="Object 4">
                        <a:extLst>
                          <a:ext uri="{FF2B5EF4-FFF2-40B4-BE49-F238E27FC236}">
                            <a16:creationId xmlns:a16="http://schemas.microsoft.com/office/drawing/2014/main" id="{F5CB8A0C-A274-48B0-81D0-242ECBFDA0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4064" y="550730"/>
                        <a:ext cx="2520950" cy="1082675"/>
                      </a:xfrm>
                      <a:prstGeom prst="rect">
                        <a:avLst/>
                      </a:prstGeom>
                      <a:solidFill>
                        <a:schemeClr val="accent1"/>
                      </a:solidFill>
                      <a:ln w="38100" cmpd="dbl" algn="ctr">
                        <a:solidFill>
                          <a:srgbClr val="C0A558"/>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5">
            <a:extLst>
              <a:ext uri="{FF2B5EF4-FFF2-40B4-BE49-F238E27FC236}">
                <a16:creationId xmlns:a16="http://schemas.microsoft.com/office/drawing/2014/main" id="{81174264-A474-4057-A363-6BE4A3C3CB03}"/>
              </a:ext>
            </a:extLst>
          </p:cNvPr>
          <p:cNvGraphicFramePr>
            <a:graphicFrameLocks noChangeAspect="1"/>
          </p:cNvGraphicFramePr>
          <p:nvPr>
            <p:extLst>
              <p:ext uri="{D42A27DB-BD31-4B8C-83A1-F6EECF244321}">
                <p14:modId xmlns:p14="http://schemas.microsoft.com/office/powerpoint/2010/main" val="3110883448"/>
              </p:ext>
            </p:extLst>
          </p:nvPr>
        </p:nvGraphicFramePr>
        <p:xfrm>
          <a:off x="270515" y="1414329"/>
          <a:ext cx="2232025" cy="730250"/>
        </p:xfrm>
        <a:graphic>
          <a:graphicData uri="http://schemas.openxmlformats.org/presentationml/2006/ole">
            <mc:AlternateContent xmlns:mc="http://schemas.openxmlformats.org/markup-compatibility/2006">
              <mc:Choice xmlns:v="urn:schemas-microsoft-com:vml" Requires="v">
                <p:oleObj spid="_x0000_s3103" name="Equation" r:id="rId5" imgW="1193760" imgH="393480" progId="Equation.3">
                  <p:embed/>
                </p:oleObj>
              </mc:Choice>
              <mc:Fallback>
                <p:oleObj name="Equation" r:id="rId5" imgW="1193760" imgH="393480" progId="Equation.3">
                  <p:embed/>
                  <p:pic>
                    <p:nvPicPr>
                      <p:cNvPr id="54277" name="Object 5">
                        <a:extLst>
                          <a:ext uri="{FF2B5EF4-FFF2-40B4-BE49-F238E27FC236}">
                            <a16:creationId xmlns:a16="http://schemas.microsoft.com/office/drawing/2014/main" id="{56C63B00-7B55-4685-BB0F-C299D4811D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515" y="1414329"/>
                        <a:ext cx="2232025" cy="730250"/>
                      </a:xfrm>
                      <a:prstGeom prst="rect">
                        <a:avLst/>
                      </a:prstGeom>
                      <a:solidFill>
                        <a:schemeClr val="accent1"/>
                      </a:solidFill>
                      <a:ln w="38100" cmpd="dbl" algn="ctr">
                        <a:solidFill>
                          <a:srgbClr val="C0A558"/>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6">
            <a:extLst>
              <a:ext uri="{FF2B5EF4-FFF2-40B4-BE49-F238E27FC236}">
                <a16:creationId xmlns:a16="http://schemas.microsoft.com/office/drawing/2014/main" id="{1C91F76B-D9F7-4831-BE8F-20F475156355}"/>
              </a:ext>
            </a:extLst>
          </p:cNvPr>
          <p:cNvGraphicFramePr>
            <a:graphicFrameLocks noChangeAspect="1"/>
          </p:cNvGraphicFramePr>
          <p:nvPr>
            <p:extLst>
              <p:ext uri="{D42A27DB-BD31-4B8C-83A1-F6EECF244321}">
                <p14:modId xmlns:p14="http://schemas.microsoft.com/office/powerpoint/2010/main" val="257443673"/>
              </p:ext>
            </p:extLst>
          </p:nvPr>
        </p:nvGraphicFramePr>
        <p:xfrm>
          <a:off x="270515" y="2206491"/>
          <a:ext cx="2232025" cy="730250"/>
        </p:xfrm>
        <a:graphic>
          <a:graphicData uri="http://schemas.openxmlformats.org/presentationml/2006/ole">
            <mc:AlternateContent xmlns:mc="http://schemas.openxmlformats.org/markup-compatibility/2006">
              <mc:Choice xmlns:v="urn:schemas-microsoft-com:vml" Requires="v">
                <p:oleObj spid="_x0000_s3104" name="Equation" r:id="rId7" imgW="1231560" imgH="393480" progId="Equation.3">
                  <p:embed/>
                </p:oleObj>
              </mc:Choice>
              <mc:Fallback>
                <p:oleObj name="Equation" r:id="rId7" imgW="1231560" imgH="393480" progId="Equation.3">
                  <p:embed/>
                  <p:pic>
                    <p:nvPicPr>
                      <p:cNvPr id="54278" name="Object 6">
                        <a:extLst>
                          <a:ext uri="{FF2B5EF4-FFF2-40B4-BE49-F238E27FC236}">
                            <a16:creationId xmlns:a16="http://schemas.microsoft.com/office/drawing/2014/main" id="{52C28FB0-A85A-4C65-A021-015DCE7797C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515" y="2206491"/>
                        <a:ext cx="2232025" cy="730250"/>
                      </a:xfrm>
                      <a:prstGeom prst="rect">
                        <a:avLst/>
                      </a:prstGeom>
                      <a:solidFill>
                        <a:schemeClr val="accent1"/>
                      </a:solidFill>
                      <a:ln w="38100" cmpd="dbl" algn="ctr">
                        <a:solidFill>
                          <a:srgbClr val="C0A558"/>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7">
            <a:extLst>
              <a:ext uri="{FF2B5EF4-FFF2-40B4-BE49-F238E27FC236}">
                <a16:creationId xmlns:a16="http://schemas.microsoft.com/office/drawing/2014/main" id="{EDE1D69C-9962-46FD-8E2E-3E2985168C57}"/>
              </a:ext>
            </a:extLst>
          </p:cNvPr>
          <p:cNvGraphicFramePr>
            <a:graphicFrameLocks noChangeAspect="1"/>
          </p:cNvGraphicFramePr>
          <p:nvPr>
            <p:extLst>
              <p:ext uri="{D42A27DB-BD31-4B8C-83A1-F6EECF244321}">
                <p14:modId xmlns:p14="http://schemas.microsoft.com/office/powerpoint/2010/main" val="292499894"/>
              </p:ext>
            </p:extLst>
          </p:nvPr>
        </p:nvGraphicFramePr>
        <p:xfrm>
          <a:off x="2791465" y="1774691"/>
          <a:ext cx="3817937" cy="762000"/>
        </p:xfrm>
        <a:graphic>
          <a:graphicData uri="http://schemas.openxmlformats.org/presentationml/2006/ole">
            <mc:AlternateContent xmlns:mc="http://schemas.openxmlformats.org/markup-compatibility/2006">
              <mc:Choice xmlns:v="urn:schemas-microsoft-com:vml" Requires="v">
                <p:oleObj spid="_x0000_s3105" name="公式" r:id="rId9" imgW="1726920" imgH="393480" progId="Equation.3">
                  <p:embed/>
                </p:oleObj>
              </mc:Choice>
              <mc:Fallback>
                <p:oleObj name="公式" r:id="rId9" imgW="1726920" imgH="393480" progId="Equation.3">
                  <p:embed/>
                  <p:pic>
                    <p:nvPicPr>
                      <p:cNvPr id="54279" name="Object 7">
                        <a:extLst>
                          <a:ext uri="{FF2B5EF4-FFF2-40B4-BE49-F238E27FC236}">
                            <a16:creationId xmlns:a16="http://schemas.microsoft.com/office/drawing/2014/main" id="{45B48032-68AB-4976-AA4E-3D5894B01AB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91465" y="1774691"/>
                        <a:ext cx="3817937" cy="762000"/>
                      </a:xfrm>
                      <a:prstGeom prst="rect">
                        <a:avLst/>
                      </a:prstGeom>
                      <a:solidFill>
                        <a:schemeClr val="accent1"/>
                      </a:solidFill>
                      <a:ln w="38100" cmpd="dbl" algn="ctr">
                        <a:solidFill>
                          <a:srgbClr val="C0A558"/>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8">
            <a:extLst>
              <a:ext uri="{FF2B5EF4-FFF2-40B4-BE49-F238E27FC236}">
                <a16:creationId xmlns:a16="http://schemas.microsoft.com/office/drawing/2014/main" id="{5697ADA4-C71C-4C70-A4EE-ADC8D587C00B}"/>
              </a:ext>
            </a:extLst>
          </p:cNvPr>
          <p:cNvGraphicFramePr>
            <a:graphicFrameLocks noChangeAspect="1"/>
          </p:cNvGraphicFramePr>
          <p:nvPr>
            <p:extLst>
              <p:ext uri="{D42A27DB-BD31-4B8C-83A1-F6EECF244321}">
                <p14:modId xmlns:p14="http://schemas.microsoft.com/office/powerpoint/2010/main" val="3304395477"/>
              </p:ext>
            </p:extLst>
          </p:nvPr>
        </p:nvGraphicFramePr>
        <p:xfrm>
          <a:off x="2789876" y="2711316"/>
          <a:ext cx="2952750" cy="966788"/>
        </p:xfrm>
        <a:graphic>
          <a:graphicData uri="http://schemas.openxmlformats.org/presentationml/2006/ole">
            <mc:AlternateContent xmlns:mc="http://schemas.openxmlformats.org/markup-compatibility/2006">
              <mc:Choice xmlns:v="urn:schemas-microsoft-com:vml" Requires="v">
                <p:oleObj spid="_x0000_s3106" name="Equation" r:id="rId11" imgW="939600" imgH="393480" progId="Equation.3">
                  <p:embed/>
                </p:oleObj>
              </mc:Choice>
              <mc:Fallback>
                <p:oleObj name="Equation" r:id="rId11" imgW="939600" imgH="393480" progId="Equation.3">
                  <p:embed/>
                  <p:pic>
                    <p:nvPicPr>
                      <p:cNvPr id="54280" name="Object 8">
                        <a:extLst>
                          <a:ext uri="{FF2B5EF4-FFF2-40B4-BE49-F238E27FC236}">
                            <a16:creationId xmlns:a16="http://schemas.microsoft.com/office/drawing/2014/main" id="{942275F6-347E-43BC-9CE5-24BAAF5210D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89876" y="2711316"/>
                        <a:ext cx="2952750" cy="966788"/>
                      </a:xfrm>
                      <a:prstGeom prst="rect">
                        <a:avLst/>
                      </a:prstGeom>
                      <a:blipFill dpi="0" rotWithShape="0">
                        <a:blip r:embed="rId13"/>
                        <a:srcRect/>
                        <a:tile tx="0" ty="0" sx="100000" sy="100000" flip="none" algn="tl"/>
                      </a:blipFill>
                      <a:ln w="76200" algn="ctr">
                        <a:solidFill>
                          <a:srgbClr val="3366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2">
            <a:extLst>
              <a:ext uri="{FF2B5EF4-FFF2-40B4-BE49-F238E27FC236}">
                <a16:creationId xmlns:a16="http://schemas.microsoft.com/office/drawing/2014/main" id="{497F719C-5868-43FF-B4D9-76EDD9E9EF40}"/>
              </a:ext>
            </a:extLst>
          </p:cNvPr>
          <p:cNvGraphicFramePr>
            <a:graphicFrameLocks noChangeAspect="1"/>
          </p:cNvGraphicFramePr>
          <p:nvPr>
            <p:extLst>
              <p:ext uri="{D42A27DB-BD31-4B8C-83A1-F6EECF244321}">
                <p14:modId xmlns:p14="http://schemas.microsoft.com/office/powerpoint/2010/main" val="3367651909"/>
              </p:ext>
            </p:extLst>
          </p:nvPr>
        </p:nvGraphicFramePr>
        <p:xfrm>
          <a:off x="197490" y="5446580"/>
          <a:ext cx="3887787" cy="904875"/>
        </p:xfrm>
        <a:graphic>
          <a:graphicData uri="http://schemas.openxmlformats.org/presentationml/2006/ole">
            <mc:AlternateContent xmlns:mc="http://schemas.openxmlformats.org/markup-compatibility/2006">
              <mc:Choice xmlns:v="urn:schemas-microsoft-com:vml" Requires="v">
                <p:oleObj spid="_x0000_s3107" name="Equation" r:id="rId14" imgW="1434960" imgH="393480" progId="Equation.3">
                  <p:embed/>
                </p:oleObj>
              </mc:Choice>
              <mc:Fallback>
                <p:oleObj name="Equation" r:id="rId14" imgW="1434960" imgH="393480" progId="Equation.3">
                  <p:embed/>
                  <p:pic>
                    <p:nvPicPr>
                      <p:cNvPr id="54284" name="Object 12">
                        <a:extLst>
                          <a:ext uri="{FF2B5EF4-FFF2-40B4-BE49-F238E27FC236}">
                            <a16:creationId xmlns:a16="http://schemas.microsoft.com/office/drawing/2014/main" id="{109A8ECD-BD0B-46E3-99D5-58BE0C3CEB1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7490" y="5446580"/>
                        <a:ext cx="3887787" cy="904875"/>
                      </a:xfrm>
                      <a:prstGeom prst="rect">
                        <a:avLst/>
                      </a:prstGeom>
                      <a:blipFill dpi="0" rotWithShape="0">
                        <a:blip r:embed="rId13"/>
                        <a:srcRect/>
                        <a:tile tx="0" ty="0" sx="100000" sy="100000" flip="none" algn="tl"/>
                      </a:blipFill>
                      <a:ln w="76200" algn="ctr">
                        <a:solidFill>
                          <a:srgbClr val="3366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3">
            <a:extLst>
              <a:ext uri="{FF2B5EF4-FFF2-40B4-BE49-F238E27FC236}">
                <a16:creationId xmlns:a16="http://schemas.microsoft.com/office/drawing/2014/main" id="{71EEFAAF-41F7-473A-9F51-59D7755C5239}"/>
              </a:ext>
            </a:extLst>
          </p:cNvPr>
          <p:cNvGraphicFramePr>
            <a:graphicFrameLocks noChangeAspect="1"/>
          </p:cNvGraphicFramePr>
          <p:nvPr>
            <p:extLst>
              <p:ext uri="{D42A27DB-BD31-4B8C-83A1-F6EECF244321}">
                <p14:modId xmlns:p14="http://schemas.microsoft.com/office/powerpoint/2010/main" val="3116951366"/>
              </p:ext>
            </p:extLst>
          </p:nvPr>
        </p:nvGraphicFramePr>
        <p:xfrm>
          <a:off x="4374201" y="5446579"/>
          <a:ext cx="2808288" cy="971550"/>
        </p:xfrm>
        <a:graphic>
          <a:graphicData uri="http://schemas.openxmlformats.org/presentationml/2006/ole">
            <mc:AlternateContent xmlns:mc="http://schemas.openxmlformats.org/markup-compatibility/2006">
              <mc:Choice xmlns:v="urn:schemas-microsoft-com:vml" Requires="v">
                <p:oleObj spid="_x0000_s3108" name="Equation" r:id="rId16" imgW="1015920" imgH="393480" progId="Equation.3">
                  <p:embed/>
                </p:oleObj>
              </mc:Choice>
              <mc:Fallback>
                <p:oleObj name="Equation" r:id="rId16" imgW="1015920" imgH="393480" progId="Equation.3">
                  <p:embed/>
                  <p:pic>
                    <p:nvPicPr>
                      <p:cNvPr id="54285" name="Object 13">
                        <a:extLst>
                          <a:ext uri="{FF2B5EF4-FFF2-40B4-BE49-F238E27FC236}">
                            <a16:creationId xmlns:a16="http://schemas.microsoft.com/office/drawing/2014/main" id="{BE1C024C-4C52-4EBA-B97F-E0086864BFC8}"/>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74201" y="5446579"/>
                        <a:ext cx="2808288" cy="971550"/>
                      </a:xfrm>
                      <a:prstGeom prst="rect">
                        <a:avLst/>
                      </a:prstGeom>
                      <a:blipFill dpi="0" rotWithShape="0">
                        <a:blip r:embed="rId13"/>
                        <a:srcRect/>
                        <a:tile tx="0" ty="0" sx="100000" sy="100000" flip="none" algn="tl"/>
                      </a:blipFill>
                      <a:ln w="76200" algn="ctr">
                        <a:solidFill>
                          <a:srgbClr val="3366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78992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E9619EF5-A9D8-4EB2-95AD-A29A75D7AB4B}"/>
              </a:ext>
            </a:extLst>
          </p:cNvPr>
          <p:cNvSpPr>
            <a:spLocks noGrp="1" noChangeArrowheads="1"/>
          </p:cNvSpPr>
          <p:nvPr>
            <p:ph type="title"/>
          </p:nvPr>
        </p:nvSpPr>
        <p:spPr>
          <a:xfrm>
            <a:off x="838200" y="365125"/>
            <a:ext cx="10515600" cy="13255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t>平衡预算乘数</a:t>
            </a:r>
          </a:p>
        </p:txBody>
      </p:sp>
      <p:sp>
        <p:nvSpPr>
          <p:cNvPr id="5" name="Rectangle 3">
            <a:extLst>
              <a:ext uri="{FF2B5EF4-FFF2-40B4-BE49-F238E27FC236}">
                <a16:creationId xmlns:a16="http://schemas.microsoft.com/office/drawing/2014/main" id="{DAD6313A-E318-4FDA-AAD9-8B9F49CFE81F}"/>
              </a:ext>
            </a:extLst>
          </p:cNvPr>
          <p:cNvSpPr>
            <a:spLocks noGrp="1" noChangeArrowheads="1"/>
          </p:cNvSpPr>
          <p:nvPr>
            <p:ph idx="1"/>
          </p:nvPr>
        </p:nvSpPr>
        <p:spPr>
          <a:xfrm>
            <a:off x="906157" y="5661026"/>
            <a:ext cx="8064500" cy="568325"/>
          </a:xfrm>
          <a:noFill/>
          <a:ln w="3175" cmpd="thickThin">
            <a:solidFill>
              <a:schemeClr val="tx1"/>
            </a:solidFill>
          </a:ln>
        </p:spPr>
        <p:txBody>
          <a:bodyPr/>
          <a:lstStyle/>
          <a:p>
            <a:pPr>
              <a:lnSpc>
                <a:spcPct val="90000"/>
              </a:lnSpc>
              <a:buClr>
                <a:schemeClr val="hlink"/>
              </a:buClr>
              <a:buFont typeface="Wingdings" panose="05000000000000000000" pitchFamily="2" charset="2"/>
              <a:buChar char="u"/>
            </a:pPr>
            <a:r>
              <a:rPr lang="zh-CN" altLang="en-US" b="1">
                <a:sym typeface="Wingdings 3" panose="05040102010807070707" pitchFamily="18" charset="2"/>
              </a:rPr>
              <a:t>变形得，政府平衡预算乘数 </a:t>
            </a:r>
            <a:r>
              <a:rPr lang="en-US" altLang="zh-CN" b="1">
                <a:sym typeface="Wingdings 3" panose="05040102010807070707" pitchFamily="18" charset="2"/>
              </a:rPr>
              <a:t>k</a:t>
            </a:r>
            <a:r>
              <a:rPr lang="en-US" altLang="zh-CN" b="1" baseline="-25000">
                <a:sym typeface="Wingdings 3" panose="05040102010807070707" pitchFamily="18" charset="2"/>
              </a:rPr>
              <a:t>b</a:t>
            </a:r>
            <a:r>
              <a:rPr lang="en-US" altLang="zh-CN" b="1">
                <a:sym typeface="Wingdings 3" panose="05040102010807070707" pitchFamily="18" charset="2"/>
              </a:rPr>
              <a:t>=1</a:t>
            </a:r>
          </a:p>
        </p:txBody>
      </p:sp>
      <p:graphicFrame>
        <p:nvGraphicFramePr>
          <p:cNvPr id="6" name="Object 4">
            <a:extLst>
              <a:ext uri="{FF2B5EF4-FFF2-40B4-BE49-F238E27FC236}">
                <a16:creationId xmlns:a16="http://schemas.microsoft.com/office/drawing/2014/main" id="{3581FC0F-85D2-42E2-B20B-0CEB6D5CA4C9}"/>
              </a:ext>
            </a:extLst>
          </p:cNvPr>
          <p:cNvGraphicFramePr>
            <a:graphicFrameLocks noChangeAspect="1"/>
          </p:cNvGraphicFramePr>
          <p:nvPr>
            <p:extLst>
              <p:ext uri="{D42A27DB-BD31-4B8C-83A1-F6EECF244321}">
                <p14:modId xmlns:p14="http://schemas.microsoft.com/office/powerpoint/2010/main" val="584468462"/>
              </p:ext>
            </p:extLst>
          </p:nvPr>
        </p:nvGraphicFramePr>
        <p:xfrm>
          <a:off x="906157" y="2708275"/>
          <a:ext cx="6299200" cy="762000"/>
        </p:xfrm>
        <a:graphic>
          <a:graphicData uri="http://schemas.openxmlformats.org/presentationml/2006/ole">
            <mc:AlternateContent xmlns:mc="http://schemas.openxmlformats.org/markup-compatibility/2006">
              <mc:Choice xmlns:v="urn:schemas-microsoft-com:vml" Requires="v">
                <p:oleObj spid="_x0000_s4106" name="Equation" r:id="rId3" imgW="2412720" imgH="393480" progId="Equation.3">
                  <p:embed/>
                </p:oleObj>
              </mc:Choice>
              <mc:Fallback>
                <p:oleObj name="Equation" r:id="rId3" imgW="2412720" imgH="393480" progId="Equation.3">
                  <p:embed/>
                  <p:pic>
                    <p:nvPicPr>
                      <p:cNvPr id="55300" name="Object 4">
                        <a:extLst>
                          <a:ext uri="{FF2B5EF4-FFF2-40B4-BE49-F238E27FC236}">
                            <a16:creationId xmlns:a16="http://schemas.microsoft.com/office/drawing/2014/main" id="{C9E6799D-0E77-4333-A2D6-8A06805E53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6157" y="2708275"/>
                        <a:ext cx="6299200" cy="762000"/>
                      </a:xfrm>
                      <a:prstGeom prst="rect">
                        <a:avLst/>
                      </a:prstGeom>
                      <a:solidFill>
                        <a:srgbClr val="CCCC00"/>
                      </a:solidFill>
                      <a:ln w="57150" cmpd="thinThick">
                        <a:solidFill>
                          <a:srgbClr val="C0A558"/>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5">
            <a:extLst>
              <a:ext uri="{FF2B5EF4-FFF2-40B4-BE49-F238E27FC236}">
                <a16:creationId xmlns:a16="http://schemas.microsoft.com/office/drawing/2014/main" id="{B468B48B-8738-4AD2-B730-0E58BE23F9AF}"/>
              </a:ext>
            </a:extLst>
          </p:cNvPr>
          <p:cNvGraphicFramePr>
            <a:graphicFrameLocks noChangeAspect="1"/>
          </p:cNvGraphicFramePr>
          <p:nvPr>
            <p:extLst>
              <p:ext uri="{D42A27DB-BD31-4B8C-83A1-F6EECF244321}">
                <p14:modId xmlns:p14="http://schemas.microsoft.com/office/powerpoint/2010/main" val="282337885"/>
              </p:ext>
            </p:extLst>
          </p:nvPr>
        </p:nvGraphicFramePr>
        <p:xfrm>
          <a:off x="2490483" y="4581525"/>
          <a:ext cx="6403975" cy="762000"/>
        </p:xfrm>
        <a:graphic>
          <a:graphicData uri="http://schemas.openxmlformats.org/presentationml/2006/ole">
            <mc:AlternateContent xmlns:mc="http://schemas.openxmlformats.org/markup-compatibility/2006">
              <mc:Choice xmlns:v="urn:schemas-microsoft-com:vml" Requires="v">
                <p:oleObj spid="_x0000_s4107" name="Equation" r:id="rId5" imgW="2425680" imgH="393480" progId="Equation.3">
                  <p:embed/>
                </p:oleObj>
              </mc:Choice>
              <mc:Fallback>
                <p:oleObj name="Equation" r:id="rId5" imgW="2425680" imgH="393480" progId="Equation.3">
                  <p:embed/>
                  <p:pic>
                    <p:nvPicPr>
                      <p:cNvPr id="55301" name="Object 5">
                        <a:extLst>
                          <a:ext uri="{FF2B5EF4-FFF2-40B4-BE49-F238E27FC236}">
                            <a16:creationId xmlns:a16="http://schemas.microsoft.com/office/drawing/2014/main" id="{F7048FF5-7C9D-4CBB-828F-C646F7A5A0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0483" y="4581525"/>
                        <a:ext cx="6403975" cy="762000"/>
                      </a:xfrm>
                      <a:prstGeom prst="rect">
                        <a:avLst/>
                      </a:prstGeom>
                      <a:solidFill>
                        <a:srgbClr val="CCCC00"/>
                      </a:solidFill>
                      <a:ln w="57150" cmpd="thinThick" algn="ctr">
                        <a:solidFill>
                          <a:srgbClr val="C0A558"/>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Rectangle 9">
            <a:extLst>
              <a:ext uri="{FF2B5EF4-FFF2-40B4-BE49-F238E27FC236}">
                <a16:creationId xmlns:a16="http://schemas.microsoft.com/office/drawing/2014/main" id="{E779F626-23F8-4026-AFBD-DB4A9E148813}"/>
              </a:ext>
            </a:extLst>
          </p:cNvPr>
          <p:cNvSpPr>
            <a:spLocks noChangeArrowheads="1"/>
          </p:cNvSpPr>
          <p:nvPr/>
        </p:nvSpPr>
        <p:spPr bwMode="auto">
          <a:xfrm>
            <a:off x="834720" y="1268413"/>
            <a:ext cx="8064500" cy="1225550"/>
          </a:xfrm>
          <a:prstGeom prst="rect">
            <a:avLst/>
          </a:prstGeom>
          <a:noFill/>
          <a:ln w="3175" cmpd="dbl">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rgbClr val="336600"/>
              </a:buClr>
              <a:buSzPct val="95000"/>
              <a:buFont typeface="Wingdings" panose="05000000000000000000" pitchFamily="2" charset="2"/>
              <a:buChar char="p"/>
            </a:pPr>
            <a:r>
              <a:rPr lang="zh-CN" altLang="en-US" b="1"/>
              <a:t>平衡预算乘数：政府税收和购买性支出以相等数量增加和减少时国民收入变动对政府收支变动的比率。此时，政府预算是平衡的。</a:t>
            </a:r>
          </a:p>
        </p:txBody>
      </p:sp>
      <p:sp>
        <p:nvSpPr>
          <p:cNvPr id="9" name="Rectangle 10">
            <a:extLst>
              <a:ext uri="{FF2B5EF4-FFF2-40B4-BE49-F238E27FC236}">
                <a16:creationId xmlns:a16="http://schemas.microsoft.com/office/drawing/2014/main" id="{8347953A-296F-45E6-9E57-EC36C273EED4}"/>
              </a:ext>
            </a:extLst>
          </p:cNvPr>
          <p:cNvSpPr>
            <a:spLocks noChangeArrowheads="1"/>
          </p:cNvSpPr>
          <p:nvPr/>
        </p:nvSpPr>
        <p:spPr bwMode="auto">
          <a:xfrm>
            <a:off x="906158" y="3716339"/>
            <a:ext cx="3095625" cy="461665"/>
          </a:xfrm>
          <a:prstGeom prst="rect">
            <a:avLst/>
          </a:prstGeom>
          <a:noFill/>
          <a:ln w="3175" cmpd="tri">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rgbClr val="336600"/>
              </a:buClr>
              <a:buSzPct val="95000"/>
              <a:buFont typeface="Wingdings" panose="05000000000000000000" pitchFamily="2" charset="2"/>
              <a:buChar char="l"/>
            </a:pPr>
            <a:r>
              <a:rPr lang="zh-CN" altLang="en-US" b="1"/>
              <a:t>由于</a:t>
            </a:r>
            <a:r>
              <a:rPr lang="zh-CN" altLang="en-US" b="1">
                <a:sym typeface="Wingdings 3" panose="05040102010807070707" pitchFamily="18" charset="2"/>
              </a:rPr>
              <a:t></a:t>
            </a:r>
            <a:r>
              <a:rPr lang="en-US" altLang="zh-CN" b="1">
                <a:sym typeface="Wingdings 3" panose="05040102010807070707" pitchFamily="18" charset="2"/>
              </a:rPr>
              <a:t>g =T</a:t>
            </a:r>
          </a:p>
        </p:txBody>
      </p:sp>
    </p:spTree>
    <p:extLst>
      <p:ext uri="{BB962C8B-B14F-4D97-AF65-F5344CB8AC3E}">
        <p14:creationId xmlns:p14="http://schemas.microsoft.com/office/powerpoint/2010/main" val="25156144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0">
            <a:extLst>
              <a:ext uri="{FF2B5EF4-FFF2-40B4-BE49-F238E27FC236}">
                <a16:creationId xmlns:a16="http://schemas.microsoft.com/office/drawing/2014/main" id="{B43130CF-4F1E-4739-A330-0C95D8211F05}"/>
              </a:ext>
            </a:extLst>
          </p:cNvPr>
          <p:cNvSpPr>
            <a:spLocks noGrp="1" noChangeArrowheads="1"/>
          </p:cNvSpPr>
          <p:nvPr>
            <p:ph idx="1"/>
          </p:nvPr>
        </p:nvSpPr>
        <p:spPr>
          <a:xfrm>
            <a:off x="1836671" y="107475"/>
            <a:ext cx="8424862" cy="3024188"/>
          </a:xfrm>
          <a:noFill/>
          <a:ln w="3175" cmpd="tri">
            <a:solidFill>
              <a:schemeClr val="tx1"/>
            </a:solidFill>
          </a:ln>
        </p:spPr>
        <p:txBody>
          <a:bodyPr/>
          <a:lstStyle/>
          <a:p>
            <a:r>
              <a:rPr lang="zh-CN" altLang="en-US" b="1" dirty="0"/>
              <a:t>假设消费函数</a:t>
            </a:r>
            <a:r>
              <a:rPr lang="en-US" altLang="zh-CN" b="1" dirty="0"/>
              <a:t>c=100+0.8y</a:t>
            </a:r>
            <a:r>
              <a:rPr lang="zh-CN" altLang="en-US" b="1" dirty="0"/>
              <a:t>，投资</a:t>
            </a:r>
            <a:r>
              <a:rPr lang="en-US" altLang="zh-CN" b="1" dirty="0" err="1"/>
              <a:t>i</a:t>
            </a:r>
            <a:r>
              <a:rPr lang="en-US" altLang="zh-CN" b="1" dirty="0"/>
              <a:t>=50</a:t>
            </a:r>
          </a:p>
          <a:p>
            <a:r>
              <a:rPr lang="zh-CN" altLang="en-US" sz="2000" b="1" dirty="0"/>
              <a:t>政府购买支出</a:t>
            </a:r>
            <a:r>
              <a:rPr lang="en-US" altLang="zh-CN" sz="2000" b="1" dirty="0"/>
              <a:t>g</a:t>
            </a:r>
            <a:r>
              <a:rPr lang="zh-CN" altLang="en-US" sz="2000" b="1" dirty="0"/>
              <a:t>＝</a:t>
            </a:r>
            <a:r>
              <a:rPr lang="en-US" altLang="zh-CN" sz="2000" b="1" dirty="0"/>
              <a:t>200</a:t>
            </a:r>
            <a:r>
              <a:rPr lang="zh-CN" altLang="en-US" sz="2000" b="1" dirty="0"/>
              <a:t>，政府转移支付</a:t>
            </a:r>
            <a:r>
              <a:rPr lang="en-US" altLang="zh-CN" sz="2000" b="1" dirty="0"/>
              <a:t>tr</a:t>
            </a:r>
            <a:r>
              <a:rPr lang="zh-CN" altLang="en-US" sz="2000" b="1" dirty="0"/>
              <a:t>＝</a:t>
            </a:r>
            <a:r>
              <a:rPr lang="en-US" altLang="zh-CN" sz="2000" b="1" dirty="0"/>
              <a:t>62.5</a:t>
            </a:r>
            <a:r>
              <a:rPr lang="zh-CN" altLang="en-US" sz="2000" b="1" dirty="0"/>
              <a:t>，直接税</a:t>
            </a:r>
            <a:r>
              <a:rPr lang="en-US" altLang="zh-CN" sz="2000" b="1" dirty="0"/>
              <a:t>T</a:t>
            </a:r>
            <a:r>
              <a:rPr lang="zh-CN" altLang="en-US" sz="2000" b="1" dirty="0"/>
              <a:t>＝</a:t>
            </a:r>
            <a:r>
              <a:rPr lang="en-US" altLang="zh-CN" sz="2000" b="1" dirty="0"/>
              <a:t>250</a:t>
            </a:r>
          </a:p>
          <a:p>
            <a:r>
              <a:rPr lang="zh-CN" altLang="en-US" sz="2000" b="1" dirty="0">
                <a:sym typeface="Wingdings" panose="05000000000000000000" pitchFamily="2" charset="2"/>
              </a:rPr>
              <a:t>（</a:t>
            </a:r>
            <a:r>
              <a:rPr lang="en-US" altLang="zh-CN" sz="2000" b="1" dirty="0">
                <a:sym typeface="Wingdings" panose="05000000000000000000" pitchFamily="2" charset="2"/>
              </a:rPr>
              <a:t>1</a:t>
            </a:r>
            <a:r>
              <a:rPr lang="zh-CN" altLang="en-US" sz="2000" b="1" dirty="0">
                <a:sym typeface="Wingdings" panose="05000000000000000000" pitchFamily="2" charset="2"/>
              </a:rPr>
              <a:t>）求均衡收入。</a:t>
            </a:r>
          </a:p>
          <a:p>
            <a:r>
              <a:rPr lang="zh-CN" altLang="en-US" sz="2000" b="1" dirty="0">
                <a:sym typeface="Wingdings" panose="05000000000000000000" pitchFamily="2" charset="2"/>
              </a:rPr>
              <a:t>（</a:t>
            </a:r>
            <a:r>
              <a:rPr lang="en-US" altLang="zh-CN" sz="2000" b="1" dirty="0">
                <a:sym typeface="Wingdings" panose="05000000000000000000" pitchFamily="2" charset="2"/>
              </a:rPr>
              <a:t>2</a:t>
            </a:r>
            <a:r>
              <a:rPr lang="zh-CN" altLang="en-US" sz="2000" b="1" dirty="0">
                <a:sym typeface="Wingdings" panose="05000000000000000000" pitchFamily="2" charset="2"/>
              </a:rPr>
              <a:t>）求投资乘数、政府支出乘数、税收乘数、转移支付乘数、平衡预算乘数。</a:t>
            </a:r>
          </a:p>
          <a:p>
            <a:r>
              <a:rPr lang="zh-CN" altLang="en-US" sz="2000" b="1" dirty="0">
                <a:sym typeface="Wingdings" panose="05000000000000000000" pitchFamily="2" charset="2"/>
              </a:rPr>
              <a:t>（</a:t>
            </a:r>
            <a:r>
              <a:rPr lang="en-US" altLang="zh-CN" sz="2000" b="1" dirty="0">
                <a:sym typeface="Wingdings" panose="05000000000000000000" pitchFamily="2" charset="2"/>
              </a:rPr>
              <a:t>3</a:t>
            </a:r>
            <a:r>
              <a:rPr lang="zh-CN" altLang="en-US" sz="2000" b="1" dirty="0">
                <a:sym typeface="Wingdings" panose="05000000000000000000" pitchFamily="2" charset="2"/>
              </a:rPr>
              <a:t>）假定达到充分就业所需要的国民收入为</a:t>
            </a:r>
            <a:r>
              <a:rPr lang="en-US" altLang="zh-CN" sz="2000" b="1" dirty="0">
                <a:sym typeface="Wingdings" panose="05000000000000000000" pitchFamily="2" charset="2"/>
              </a:rPr>
              <a:t>1200</a:t>
            </a:r>
            <a:r>
              <a:rPr lang="zh-CN" altLang="en-US" sz="2000" b="1" dirty="0">
                <a:sym typeface="Wingdings" panose="05000000000000000000" pitchFamily="2" charset="2"/>
              </a:rPr>
              <a:t>，试问：</a:t>
            </a:r>
            <a:r>
              <a:rPr lang="en-US" altLang="zh-CN" sz="2000" b="1" dirty="0">
                <a:sym typeface="Wingdings" panose="05000000000000000000" pitchFamily="2" charset="2"/>
              </a:rPr>
              <a:t>1</a:t>
            </a:r>
            <a:r>
              <a:rPr lang="zh-CN" altLang="en-US" sz="2000" b="1" dirty="0">
                <a:sym typeface="Wingdings" panose="05000000000000000000" pitchFamily="2" charset="2"/>
              </a:rPr>
              <a:t>）增加政府购买；</a:t>
            </a:r>
            <a:r>
              <a:rPr lang="en-US" altLang="zh-CN" sz="2000" b="1" dirty="0">
                <a:sym typeface="Wingdings" panose="05000000000000000000" pitchFamily="2" charset="2"/>
              </a:rPr>
              <a:t>2</a:t>
            </a:r>
            <a:r>
              <a:rPr lang="zh-CN" altLang="en-US" sz="2000" b="1" dirty="0">
                <a:sym typeface="Wingdings" panose="05000000000000000000" pitchFamily="2" charset="2"/>
              </a:rPr>
              <a:t>）减少税收；</a:t>
            </a:r>
            <a:r>
              <a:rPr lang="en-US" altLang="zh-CN" sz="2000" b="1" dirty="0">
                <a:sym typeface="Wingdings" panose="05000000000000000000" pitchFamily="2" charset="2"/>
              </a:rPr>
              <a:t>3</a:t>
            </a:r>
            <a:r>
              <a:rPr lang="zh-CN" altLang="en-US" sz="2000" b="1" dirty="0">
                <a:sym typeface="Wingdings" panose="05000000000000000000" pitchFamily="2" charset="2"/>
              </a:rPr>
              <a:t>）以同一数额增加政府购买和税收（平衡预算）实现这个充分就业的国民收入，各需要多少数额？</a:t>
            </a:r>
          </a:p>
        </p:txBody>
      </p:sp>
      <p:sp>
        <p:nvSpPr>
          <p:cNvPr id="5" name="Rectangle 17">
            <a:extLst>
              <a:ext uri="{FF2B5EF4-FFF2-40B4-BE49-F238E27FC236}">
                <a16:creationId xmlns:a16="http://schemas.microsoft.com/office/drawing/2014/main" id="{7D2E0200-FF9C-461C-A5AE-96E12D4C34BA}"/>
              </a:ext>
            </a:extLst>
          </p:cNvPr>
          <p:cNvSpPr>
            <a:spLocks noChangeArrowheads="1"/>
          </p:cNvSpPr>
          <p:nvPr/>
        </p:nvSpPr>
        <p:spPr bwMode="auto">
          <a:xfrm>
            <a:off x="741228" y="3897040"/>
            <a:ext cx="7993062" cy="1368425"/>
          </a:xfrm>
          <a:prstGeom prst="rect">
            <a:avLst/>
          </a:prstGeom>
          <a:noFill/>
          <a:ln w="3175"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
                <a:srgbClr val="FF0000"/>
              </a:buClr>
              <a:buSzPct val="95000"/>
              <a:buFont typeface="Wingdings" panose="05000000000000000000" pitchFamily="2" charset="2"/>
              <a:buChar char="n"/>
            </a:pPr>
            <a:r>
              <a:rPr lang="zh-CN" altLang="en-US" b="1" dirty="0"/>
              <a:t>（</a:t>
            </a:r>
            <a:r>
              <a:rPr lang="en-US" altLang="zh-CN" b="1" dirty="0"/>
              <a:t>1</a:t>
            </a:r>
            <a:r>
              <a:rPr lang="zh-CN" altLang="en-US" b="1" dirty="0"/>
              <a:t>） 均衡收入</a:t>
            </a:r>
          </a:p>
          <a:p>
            <a:pPr>
              <a:spcBef>
                <a:spcPct val="0"/>
              </a:spcBef>
              <a:buClr>
                <a:srgbClr val="FF0000"/>
              </a:buClr>
              <a:buSzPct val="95000"/>
              <a:buFont typeface="Wingdings" panose="05000000000000000000" pitchFamily="2" charset="2"/>
              <a:buChar char="n"/>
            </a:pPr>
            <a:r>
              <a:rPr lang="en-US" altLang="zh-CN" b="1" dirty="0"/>
              <a:t>y</a:t>
            </a:r>
            <a:r>
              <a:rPr lang="zh-CN" altLang="en-US" b="1" dirty="0"/>
              <a:t>＝</a:t>
            </a:r>
            <a:r>
              <a:rPr lang="en-US" altLang="zh-CN" b="1" dirty="0"/>
              <a:t>(100</a:t>
            </a:r>
            <a:r>
              <a:rPr lang="zh-CN" altLang="en-US" b="1" dirty="0"/>
              <a:t>＋</a:t>
            </a:r>
            <a:r>
              <a:rPr lang="en-US" altLang="zh-CN" b="1" dirty="0"/>
              <a:t>50</a:t>
            </a:r>
            <a:r>
              <a:rPr lang="zh-CN" altLang="en-US" b="1" dirty="0"/>
              <a:t>＋</a:t>
            </a:r>
            <a:r>
              <a:rPr lang="en-US" altLang="zh-CN" b="1" dirty="0"/>
              <a:t>200</a:t>
            </a:r>
            <a:r>
              <a:rPr lang="zh-CN" altLang="en-US" b="1" dirty="0"/>
              <a:t>＋</a:t>
            </a:r>
            <a:r>
              <a:rPr lang="en-US" altLang="zh-CN" b="1" dirty="0"/>
              <a:t>0.8×62.5</a:t>
            </a:r>
            <a:r>
              <a:rPr lang="zh-CN" altLang="en-US" b="1" dirty="0"/>
              <a:t>－</a:t>
            </a:r>
            <a:r>
              <a:rPr lang="en-US" altLang="zh-CN" b="1" dirty="0"/>
              <a:t>0.8×250)/(1</a:t>
            </a:r>
            <a:r>
              <a:rPr lang="zh-CN" altLang="en-US" b="1" dirty="0"/>
              <a:t>－</a:t>
            </a:r>
            <a:r>
              <a:rPr lang="en-US" altLang="zh-CN" b="1" dirty="0"/>
              <a:t>0.8)</a:t>
            </a:r>
          </a:p>
          <a:p>
            <a:pPr>
              <a:spcBef>
                <a:spcPct val="0"/>
              </a:spcBef>
              <a:buClr>
                <a:srgbClr val="FF0000"/>
              </a:buClr>
              <a:buSzPct val="95000"/>
              <a:buFont typeface="Wingdings" panose="05000000000000000000" pitchFamily="2" charset="2"/>
              <a:buChar char="n"/>
            </a:pPr>
            <a:r>
              <a:rPr lang="en-US" altLang="zh-CN" b="1" dirty="0"/>
              <a:t>  </a:t>
            </a:r>
            <a:r>
              <a:rPr lang="zh-CN" altLang="en-US" b="1" dirty="0"/>
              <a:t>＝</a:t>
            </a:r>
            <a:r>
              <a:rPr lang="en-US" altLang="zh-CN" b="1" dirty="0"/>
              <a:t>1000</a:t>
            </a:r>
          </a:p>
        </p:txBody>
      </p:sp>
      <p:sp>
        <p:nvSpPr>
          <p:cNvPr id="6" name="Rectangle 18">
            <a:extLst>
              <a:ext uri="{FF2B5EF4-FFF2-40B4-BE49-F238E27FC236}">
                <a16:creationId xmlns:a16="http://schemas.microsoft.com/office/drawing/2014/main" id="{6D0D0A61-B3A7-46B0-A693-962D4389641D}"/>
              </a:ext>
            </a:extLst>
          </p:cNvPr>
          <p:cNvSpPr>
            <a:spLocks noChangeArrowheads="1"/>
          </p:cNvSpPr>
          <p:nvPr/>
        </p:nvSpPr>
        <p:spPr bwMode="auto">
          <a:xfrm>
            <a:off x="845394" y="5330858"/>
            <a:ext cx="7991475" cy="1296987"/>
          </a:xfrm>
          <a:prstGeom prst="rect">
            <a:avLst/>
          </a:prstGeom>
          <a:noFill/>
          <a:ln w="3175"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
                <a:srgbClr val="FF0000"/>
              </a:buClr>
              <a:buSzPct val="95000"/>
              <a:buFont typeface="Wingdings" panose="05000000000000000000" pitchFamily="2" charset="2"/>
              <a:buChar char="n"/>
            </a:pPr>
            <a:r>
              <a:rPr lang="zh-CN" altLang="en-US" b="1" dirty="0"/>
              <a:t>（</a:t>
            </a:r>
            <a:r>
              <a:rPr lang="en-US" altLang="zh-CN" b="1" dirty="0"/>
              <a:t>2</a:t>
            </a:r>
            <a:r>
              <a:rPr lang="zh-CN" altLang="en-US" b="1" dirty="0"/>
              <a:t>）</a:t>
            </a:r>
            <a:r>
              <a:rPr lang="en-US" altLang="zh-CN" b="1" dirty="0"/>
              <a:t>b</a:t>
            </a:r>
            <a:r>
              <a:rPr lang="zh-CN" altLang="en-US" b="1" dirty="0"/>
              <a:t>＝</a:t>
            </a:r>
            <a:r>
              <a:rPr lang="en-US" altLang="zh-CN" b="1" dirty="0"/>
              <a:t>0.8</a:t>
            </a:r>
          </a:p>
          <a:p>
            <a:pPr>
              <a:spcBef>
                <a:spcPct val="0"/>
              </a:spcBef>
              <a:buClr>
                <a:srgbClr val="FF0000"/>
              </a:buClr>
              <a:buSzPct val="95000"/>
              <a:buFont typeface="Wingdings" panose="05000000000000000000" pitchFamily="2" charset="2"/>
              <a:buChar char="n"/>
            </a:pPr>
            <a:r>
              <a:rPr lang="zh-CN" altLang="en-US" b="1" dirty="0">
                <a:sym typeface="Wingdings" panose="05000000000000000000" pitchFamily="2" charset="2"/>
              </a:rPr>
              <a:t>投资乘数＝</a:t>
            </a:r>
            <a:r>
              <a:rPr lang="en-US" altLang="zh-CN" b="1" dirty="0">
                <a:sym typeface="Wingdings" panose="05000000000000000000" pitchFamily="2" charset="2"/>
              </a:rPr>
              <a:t>1/</a:t>
            </a:r>
            <a:r>
              <a:rPr lang="zh-CN" altLang="en-US" b="1" dirty="0">
                <a:sym typeface="Wingdings" panose="05000000000000000000" pitchFamily="2" charset="2"/>
              </a:rPr>
              <a:t>（</a:t>
            </a:r>
            <a:r>
              <a:rPr lang="en-US" altLang="zh-CN" b="1" dirty="0">
                <a:sym typeface="Wingdings" panose="05000000000000000000" pitchFamily="2" charset="2"/>
              </a:rPr>
              <a:t>1</a:t>
            </a:r>
            <a:r>
              <a:rPr lang="zh-CN" altLang="en-US" b="1" dirty="0">
                <a:sym typeface="Wingdings" panose="05000000000000000000" pitchFamily="2" charset="2"/>
              </a:rPr>
              <a:t>－</a:t>
            </a:r>
            <a:r>
              <a:rPr lang="en-US" altLang="zh-CN" b="1" dirty="0">
                <a:sym typeface="Wingdings" panose="05000000000000000000" pitchFamily="2" charset="2"/>
              </a:rPr>
              <a:t>b</a:t>
            </a:r>
            <a:r>
              <a:rPr lang="zh-CN" altLang="en-US" b="1" dirty="0">
                <a:sym typeface="Wingdings" panose="05000000000000000000" pitchFamily="2" charset="2"/>
              </a:rPr>
              <a:t>）＝</a:t>
            </a:r>
            <a:r>
              <a:rPr lang="en-US" altLang="zh-CN" b="1" dirty="0">
                <a:sym typeface="Wingdings" panose="05000000000000000000" pitchFamily="2" charset="2"/>
              </a:rPr>
              <a:t>5  ,</a:t>
            </a:r>
            <a:r>
              <a:rPr lang="zh-CN" altLang="en-US" b="1" dirty="0">
                <a:sym typeface="Wingdings" panose="05000000000000000000" pitchFamily="2" charset="2"/>
              </a:rPr>
              <a:t>政府支出乘数</a:t>
            </a:r>
            <a:r>
              <a:rPr lang="en-US" altLang="zh-CN" b="1" dirty="0">
                <a:sym typeface="Wingdings" panose="05000000000000000000" pitchFamily="2" charset="2"/>
              </a:rPr>
              <a:t>=5  </a:t>
            </a:r>
          </a:p>
          <a:p>
            <a:pPr>
              <a:spcBef>
                <a:spcPct val="0"/>
              </a:spcBef>
              <a:buClr>
                <a:srgbClr val="FF0000"/>
              </a:buClr>
              <a:buSzPct val="95000"/>
              <a:buFont typeface="Wingdings" panose="05000000000000000000" pitchFamily="2" charset="2"/>
              <a:buChar char="n"/>
            </a:pPr>
            <a:r>
              <a:rPr lang="zh-CN" altLang="en-US" b="1" dirty="0">
                <a:sym typeface="Wingdings" panose="05000000000000000000" pitchFamily="2" charset="2"/>
              </a:rPr>
              <a:t>税收乘数＝－</a:t>
            </a:r>
            <a:r>
              <a:rPr lang="en-US" altLang="zh-CN" b="1" dirty="0">
                <a:sym typeface="Wingdings" panose="05000000000000000000" pitchFamily="2" charset="2"/>
              </a:rPr>
              <a:t>4  ,</a:t>
            </a:r>
            <a:r>
              <a:rPr lang="zh-CN" altLang="en-US" b="1" dirty="0">
                <a:sym typeface="Wingdings" panose="05000000000000000000" pitchFamily="2" charset="2"/>
              </a:rPr>
              <a:t>转移支付乘数＝</a:t>
            </a:r>
            <a:r>
              <a:rPr lang="en-US" altLang="zh-CN" b="1" dirty="0">
                <a:sym typeface="Wingdings" panose="05000000000000000000" pitchFamily="2" charset="2"/>
              </a:rPr>
              <a:t>4 ,</a:t>
            </a:r>
            <a:r>
              <a:rPr lang="zh-CN" altLang="en-US" b="1" dirty="0">
                <a:sym typeface="Wingdings" panose="05000000000000000000" pitchFamily="2" charset="2"/>
              </a:rPr>
              <a:t>平衡预算乘数＝</a:t>
            </a:r>
            <a:r>
              <a:rPr lang="en-US" altLang="zh-CN" b="1" dirty="0">
                <a:sym typeface="Wingdings" panose="05000000000000000000" pitchFamily="2" charset="2"/>
              </a:rPr>
              <a:t>1</a:t>
            </a:r>
          </a:p>
        </p:txBody>
      </p:sp>
      <p:graphicFrame>
        <p:nvGraphicFramePr>
          <p:cNvPr id="8" name="Object 22">
            <a:extLst>
              <a:ext uri="{FF2B5EF4-FFF2-40B4-BE49-F238E27FC236}">
                <a16:creationId xmlns:a16="http://schemas.microsoft.com/office/drawing/2014/main" id="{963F3C76-AD93-4A28-96DC-EAB3B113CC22}"/>
              </a:ext>
            </a:extLst>
          </p:cNvPr>
          <p:cNvGraphicFramePr>
            <a:graphicFrameLocks noChangeAspect="1"/>
          </p:cNvGraphicFramePr>
          <p:nvPr>
            <p:extLst>
              <p:ext uri="{D42A27DB-BD31-4B8C-83A1-F6EECF244321}">
                <p14:modId xmlns:p14="http://schemas.microsoft.com/office/powerpoint/2010/main" val="963331015"/>
              </p:ext>
            </p:extLst>
          </p:nvPr>
        </p:nvGraphicFramePr>
        <p:xfrm>
          <a:off x="7743253" y="2744618"/>
          <a:ext cx="3887787" cy="904875"/>
        </p:xfrm>
        <a:graphic>
          <a:graphicData uri="http://schemas.openxmlformats.org/presentationml/2006/ole">
            <mc:AlternateContent xmlns:mc="http://schemas.openxmlformats.org/markup-compatibility/2006">
              <mc:Choice xmlns:v="urn:schemas-microsoft-com:vml" Requires="v">
                <p:oleObj spid="_x0000_s5126" name="Equation" r:id="rId3" imgW="1434960" imgH="393480" progId="Equation.3">
                  <p:embed/>
                </p:oleObj>
              </mc:Choice>
              <mc:Fallback>
                <p:oleObj name="Equation" r:id="rId3" imgW="1434960" imgH="393480" progId="Equation.3">
                  <p:embed/>
                  <p:pic>
                    <p:nvPicPr>
                      <p:cNvPr id="93206" name="Object 22">
                        <a:extLst>
                          <a:ext uri="{FF2B5EF4-FFF2-40B4-BE49-F238E27FC236}">
                            <a16:creationId xmlns:a16="http://schemas.microsoft.com/office/drawing/2014/main" id="{3BE2BC14-569C-4F13-A523-27BA0B2985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3253" y="2744618"/>
                        <a:ext cx="3887787" cy="904875"/>
                      </a:xfrm>
                      <a:prstGeom prst="rect">
                        <a:avLst/>
                      </a:prstGeom>
                      <a:blipFill dpi="0" rotWithShape="0">
                        <a:blip r:embed="rId5"/>
                        <a:srcRect/>
                        <a:tile tx="0" ty="0" sx="100000" sy="100000" flip="none" algn="tl"/>
                      </a:blipFill>
                      <a:ln w="76200" algn="ctr">
                        <a:solidFill>
                          <a:srgbClr val="3366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71495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blinds(horizontal)">
                                      <p:cBhvr>
                                        <p:cTn id="7" dur="500"/>
                                        <p:tgtEl>
                                          <p:spTgt spid="4">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blinds(horizont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blinds(horizontal)">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blinds(horizontal)">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blinds(horizontal)">
                                      <p:cBhvr>
                                        <p:cTn id="27" dur="500"/>
                                        <p:tgtEl>
                                          <p:spTgt spid="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
                                            <p:txEl>
                                              <p:pRg st="4" end="4"/>
                                            </p:txEl>
                                          </p:spTgt>
                                        </p:tgtEl>
                                        <p:attrNameLst>
                                          <p:attrName>style.visibility</p:attrName>
                                        </p:attrNameLst>
                                      </p:cBhvr>
                                      <p:to>
                                        <p:strVal val="visible"/>
                                      </p:to>
                                    </p:set>
                                    <p:animEffect transition="in" filter="blinds(horizontal)">
                                      <p:cBhvr>
                                        <p:cTn id="32" dur="500"/>
                                        <p:tgtEl>
                                          <p:spTgt spid="4">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linds(horizontal)">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linds(horizontal)">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blinds(horizontal)">
                                      <p:cBhvr>
                                        <p:cTn id="4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theme/theme1.xml><?xml version="1.0" encoding="utf-8"?>
<a:theme xmlns:a="http://schemas.openxmlformats.org/drawingml/2006/main" name="Office 主题​​">
  <a:themeElements>
    <a:clrScheme name="自定义 1">
      <a:dk1>
        <a:srgbClr val="FFFFFF"/>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1">
      <a:majorFont>
        <a:latin typeface="等线 Light"/>
        <a:ea typeface="微软雅黑"/>
        <a:cs typeface=""/>
      </a:majorFont>
      <a:minorFont>
        <a:latin typeface="等线"/>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444</TotalTime>
  <Words>2576</Words>
  <Application>Microsoft Office PowerPoint</Application>
  <PresentationFormat>宽屏</PresentationFormat>
  <Paragraphs>264</Paragraphs>
  <Slides>28</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28</vt:i4>
      </vt:variant>
    </vt:vector>
  </HeadingPairs>
  <TitlesOfParts>
    <vt:vector size="37" baseType="lpstr">
      <vt:lpstr>等线</vt:lpstr>
      <vt:lpstr>等线 Light</vt:lpstr>
      <vt:lpstr>黑体</vt:lpstr>
      <vt:lpstr>Arial</vt:lpstr>
      <vt:lpstr>Times New Roman</vt:lpstr>
      <vt:lpstr>Wingdings</vt:lpstr>
      <vt:lpstr>Office 主题​​</vt:lpstr>
      <vt:lpstr>公式</vt:lpstr>
      <vt:lpstr>Equation</vt:lpstr>
      <vt:lpstr>国民收入的决定                          —收入-支出模型</vt:lpstr>
      <vt:lpstr>均衡产出（收入）</vt:lpstr>
      <vt:lpstr>投资＝储蓄</vt:lpstr>
      <vt:lpstr>凯恩斯的消费理论</vt:lpstr>
      <vt:lpstr>凯恩斯消费函数</vt:lpstr>
      <vt:lpstr>线性消费函数</vt:lpstr>
      <vt:lpstr>消费倾向 propensity</vt:lpstr>
      <vt:lpstr>边际消费倾向 MPC</vt:lpstr>
      <vt:lpstr>边际消费倾向递减规律</vt:lpstr>
      <vt:lpstr>储蓄</vt:lpstr>
      <vt:lpstr>储蓄函数公式</vt:lpstr>
      <vt:lpstr>储蓄倾向</vt:lpstr>
      <vt:lpstr>边际储蓄倾向MPS</vt:lpstr>
      <vt:lpstr>消费倾向与储蓄倾向</vt:lpstr>
      <vt:lpstr>两部门国民收入的决定</vt:lpstr>
      <vt:lpstr>2.储蓄函数决定均衡收入</vt:lpstr>
      <vt:lpstr>乘数论</vt:lpstr>
      <vt:lpstr>解释</vt:lpstr>
      <vt:lpstr>乘数理论（multiplier） ：K</vt:lpstr>
      <vt:lpstr>乘数的作用</vt:lpstr>
      <vt:lpstr>PowerPoint 演示文稿</vt:lpstr>
      <vt:lpstr>PowerPoint 演示文稿</vt:lpstr>
      <vt:lpstr>三部门的收入决定及其乘数</vt:lpstr>
      <vt:lpstr>三部门中的乘数</vt:lpstr>
      <vt:lpstr>三部门中的税收乘数</vt:lpstr>
      <vt:lpstr>三部门中的投资乘数</vt:lpstr>
      <vt:lpstr>平衡预算乘数</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收入—支出模型</dc:title>
  <dc:creator>984071643@qq.com</dc:creator>
  <cp:lastModifiedBy> </cp:lastModifiedBy>
  <cp:revision>26</cp:revision>
  <dcterms:created xsi:type="dcterms:W3CDTF">2018-03-12T07:45:50Z</dcterms:created>
  <dcterms:modified xsi:type="dcterms:W3CDTF">2020-11-20T04:09:59Z</dcterms:modified>
</cp:coreProperties>
</file>