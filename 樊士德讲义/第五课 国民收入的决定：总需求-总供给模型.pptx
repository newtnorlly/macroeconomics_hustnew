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9" r:id="rId3"/>
    <p:sldId id="270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  <p:sldId id="281" r:id="rId15"/>
    <p:sldId id="282" r:id="rId16"/>
    <p:sldId id="283" r:id="rId17"/>
    <p:sldId id="284" r:id="rId18"/>
    <p:sldId id="285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A1B44D-F47B-41F8-8D4F-8E08FEBFBE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BEE6CE4-0582-4939-9145-BAFF8BC5EC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6429E4-058A-4469-8D3D-A3FCA0651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72A18-9474-4BB0-B955-D5E37854B44A}" type="datetimeFigureOut">
              <a:rPr lang="zh-CN" altLang="en-US" smtClean="0"/>
              <a:t>2020/11/11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AF0037-4AC4-44E9-9BB1-BB86E39D1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D29D8CC-A3D0-48FB-9F40-4E1157DB9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99A08-6E85-423F-B8B8-DF9310DD18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0993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938469-517C-43AC-83D5-5292D6FB4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8F39EEA-2F94-486C-B17E-8966745038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DB04EA5-3C1E-4FB7-9E0D-166BAA1B7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72A18-9474-4BB0-B955-D5E37854B44A}" type="datetimeFigureOut">
              <a:rPr lang="zh-CN" altLang="en-US" smtClean="0"/>
              <a:t>2020/11/11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5A7B94-EE03-4C70-A5B6-06C6781BB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E8F9A72-44BD-4245-A36A-C855E4553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99A08-6E85-423F-B8B8-DF9310DD18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5239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38D0F6-B1BD-4ACE-AE53-3329FAF9B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513F319-8ADE-4A4E-A395-F811425BD0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9B27B4-8675-4DDA-BCE6-5B4D821ED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72A18-9474-4BB0-B955-D5E37854B44A}" type="datetimeFigureOut">
              <a:rPr lang="zh-CN" altLang="en-US" smtClean="0"/>
              <a:t>2020/11/11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54D51EA-7E0E-4536-86FE-7C59C95BF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0B1FDAD-EE62-4C3B-9549-F3A5B145E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99A08-6E85-423F-B8B8-DF9310DD18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5892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76F3B8-10F7-47F0-90BA-014ABD1D9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C8670F8-21DE-4D92-85A7-FCDD355C82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BE60653-53E8-483A-99C0-DEA79AA2C5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A050E91-98C7-46AD-A644-57B6681E0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72A18-9474-4BB0-B955-D5E37854B44A}" type="datetimeFigureOut">
              <a:rPr lang="zh-CN" altLang="en-US" smtClean="0"/>
              <a:t>2020/11/11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C6B5C30-7BF3-4551-88F6-19F35063F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019BBF4-3962-46C5-9F5A-C9A7908F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99A08-6E85-423F-B8B8-DF9310DD18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4915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8FE1AB-B1B3-48C8-AB9E-C61E76535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3405266-CC2E-42BB-AF8C-24225ED605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9B86DFF-51C2-4255-B475-31D6B5D52E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CED352C-DD6D-4EAD-A2FE-E0E94EC922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683D902-6E93-4E8D-8C51-540F99DEB2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CCB6B11-68CD-4C72-9DC0-0223577DD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72A18-9474-4BB0-B955-D5E37854B44A}" type="datetimeFigureOut">
              <a:rPr lang="zh-CN" altLang="en-US" smtClean="0"/>
              <a:t>2020/11/11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04B6EF1-C8E6-4311-92D1-0079A24B4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69861BC-0CEB-4068-B0D6-1323B4FC8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99A08-6E85-423F-B8B8-DF9310DD18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6853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B24789-C54F-4D32-BC56-35232F7B3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14D7339-F968-4BE5-996E-EA82AD48B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72A18-9474-4BB0-B955-D5E37854B44A}" type="datetimeFigureOut">
              <a:rPr lang="zh-CN" altLang="en-US" smtClean="0"/>
              <a:t>2020/11/11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9298E1D-8AD0-4CEB-B4A9-7C23276B2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D6C0228-B859-4EC2-BDA2-3E1F29AE2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99A08-6E85-423F-B8B8-DF9310DD18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3282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3AADA9C-1455-4968-BF03-F9AE4C8E4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72A18-9474-4BB0-B955-D5E37854B44A}" type="datetimeFigureOut">
              <a:rPr lang="zh-CN" altLang="en-US" smtClean="0"/>
              <a:t>2020/11/11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365E83D-755E-4E77-80B6-18E42A20E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449DA48-F46C-4980-A056-6EDACC2CB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99A08-6E85-423F-B8B8-DF9310DD18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87014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41E3B6-D471-44B6-961A-60E1DF1FC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365F8FF-ED1A-4158-9341-767FFB4F31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4D8023B-8206-4D52-99EC-46D649B29B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64C93B2-63AD-493A-A9DE-176B81FB9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72A18-9474-4BB0-B955-D5E37854B44A}" type="datetimeFigureOut">
              <a:rPr lang="zh-CN" altLang="en-US" smtClean="0"/>
              <a:t>2020/11/11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152F0E8-D537-4F7B-94A1-2EF8ED985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A89F46A-48E1-45E5-BE66-A2EA142D4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99A08-6E85-423F-B8B8-DF9310DD18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50828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D839A1-3C13-49D0-A5AC-F7B7DBC5A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8EDD7B3-9B8C-4E46-81D8-D54EFC9681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651EFC4-9041-46AA-8E63-58A2B4910F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07F8283-269C-44C0-BFDF-BFA43F166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72A18-9474-4BB0-B955-D5E37854B44A}" type="datetimeFigureOut">
              <a:rPr lang="zh-CN" altLang="en-US" smtClean="0"/>
              <a:t>2020/11/11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8B2A9DC-C39D-42E4-BE54-1DF85CEA4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9B29805-E3C9-409D-961B-69510A33A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99A08-6E85-423F-B8B8-DF9310DD18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26081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77A3D4-CC8F-441B-A184-21B1A11FA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50E4835-EBAF-4185-8B17-474E380B6E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E240153-EBFA-4CB2-BE89-F69EC93D9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72A18-9474-4BB0-B955-D5E37854B44A}" type="datetimeFigureOut">
              <a:rPr lang="zh-CN" altLang="en-US" smtClean="0"/>
              <a:t>2020/11/11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1BE973E-74E1-4B9A-B46D-DD0579981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1AAC1C3-F70F-4DA8-BC59-15375C641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99A08-6E85-423F-B8B8-DF9310DD18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4968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90C0658-4F70-4531-A571-AAD6128697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A64D781-B6EA-40DE-9972-D6DA7A9855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518CF02-5734-4851-9844-49E72E92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72A18-9474-4BB0-B955-D5E37854B44A}" type="datetimeFigureOut">
              <a:rPr lang="zh-CN" altLang="en-US" smtClean="0"/>
              <a:t>2020/11/11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ECC675-EAD8-425A-8AF7-DA0230293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8E539CF-5B4D-4DFD-B6A4-3D6A995F0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99A08-6E85-423F-B8B8-DF9310DD18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6786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051D135-1C45-4672-8EFE-4D7B02D5E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8516AF4-08F5-4A51-93F4-C9D6F17A1E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1E5F2B-2625-448B-973A-95DE4DD509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672A18-9474-4BB0-B955-D5E37854B44A}" type="datetimeFigureOut">
              <a:rPr lang="zh-CN" altLang="en-US" smtClean="0"/>
              <a:t>2020/11/11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DAF00E-7D5C-4726-8053-71AC39E8AB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838BDB7-19CB-4F06-AFD3-922DF0D274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599A08-6E85-423F-B8B8-DF9310DD18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050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9.png"/><Relationship Id="rId4" Type="http://schemas.openxmlformats.org/officeDocument/2006/relationships/image" Target="../media/image8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3F45EB-0010-41A9-8EF7-A04A9AD32DF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zh-CN"/>
              <a:t>总</a:t>
            </a:r>
            <a:r>
              <a:rPr lang="zh-CN" altLang="zh-CN" dirty="0"/>
              <a:t>需求—总供给模</a:t>
            </a:r>
            <a:r>
              <a:rPr lang="zh-CN" altLang="en-US" dirty="0"/>
              <a:t>型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DC11CF8-9FF3-47E0-BF53-37D38D5CCD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8450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109DB770-825C-47A8-B567-9005997E11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523171"/>
            <a:ext cx="6696075" cy="647700"/>
          </a:xfrm>
          <a:prstGeom prst="rect">
            <a:avLst/>
          </a:prstGeom>
          <a:noFill/>
          <a:ln w="38100" cap="flat" cmpd="dbl" algn="ctr">
            <a:noFill/>
            <a:prstDash val="solid"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kumimoji="1" sz="3200" b="1" kern="12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dirty="0">
                <a:solidFill>
                  <a:schemeClr val="bg1"/>
                </a:solidFill>
              </a:rPr>
              <a:t>总需求曲线  </a:t>
            </a:r>
            <a:r>
              <a:rPr lang="en-US" altLang="zh-CN" dirty="0">
                <a:solidFill>
                  <a:schemeClr val="bg1"/>
                </a:solidFill>
              </a:rPr>
              <a:t>AD </a:t>
            </a:r>
            <a:r>
              <a:rPr lang="en-US" altLang="zh-CN" sz="2400" dirty="0">
                <a:solidFill>
                  <a:schemeClr val="bg1"/>
                </a:solidFill>
              </a:rPr>
              <a:t>Aggregate Demand</a:t>
            </a:r>
          </a:p>
        </p:txBody>
      </p:sp>
      <p:sp>
        <p:nvSpPr>
          <p:cNvPr id="7" name="Rectangle 98">
            <a:extLst>
              <a:ext uri="{FF2B5EF4-FFF2-40B4-BE49-F238E27FC236}">
                <a16:creationId xmlns:a16="http://schemas.microsoft.com/office/drawing/2014/main" id="{658FED0E-4A01-48E5-8917-862831A0FB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1604259"/>
            <a:ext cx="8135937" cy="719137"/>
          </a:xfrm>
          <a:prstGeom prst="rect">
            <a:avLst/>
          </a:prstGeom>
          <a:noFill/>
          <a:ln w="57150" cap="sq" cmpd="thickThin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74625" indent="-174625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Blip>
                <a:blip r:embed="rId2"/>
              </a:buBlip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3538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Blip>
                <a:blip r:embed="rId3"/>
              </a:buBlip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en-US" altLang="zh-CN" sz="2800" b="0"/>
              <a:t>1.</a:t>
            </a:r>
            <a:r>
              <a:rPr lang="zh-CN" altLang="en-US" sz="2800" b="0"/>
              <a:t>总需求</a:t>
            </a:r>
          </a:p>
        </p:txBody>
      </p:sp>
      <p:sp>
        <p:nvSpPr>
          <p:cNvPr id="9" name="Rectangle 99">
            <a:extLst>
              <a:ext uri="{FF2B5EF4-FFF2-40B4-BE49-F238E27FC236}">
                <a16:creationId xmlns:a16="http://schemas.microsoft.com/office/drawing/2014/main" id="{EC283CFE-E036-46C2-8119-D7CF6D7967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544" y="2683759"/>
            <a:ext cx="8135937" cy="647700"/>
          </a:xfrm>
          <a:prstGeom prst="rect">
            <a:avLst/>
          </a:prstGeom>
          <a:noFill/>
          <a:ln w="76200" cap="sq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>
            <a:lvl1pPr marL="174625" indent="-174625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Blip>
                <a:blip r:embed="rId2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363538">
              <a:spcBef>
                <a:spcPct val="20000"/>
              </a:spcBef>
              <a:buFont typeface="Wingdings" panose="05000000000000000000" pitchFamily="2" charset="2"/>
              <a:buBlip>
                <a:blip r:embed="rId3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hlink"/>
              </a:buClr>
              <a:buSzPct val="95000"/>
              <a:buFont typeface="Wingdings" panose="05000000000000000000" pitchFamily="2" charset="2"/>
              <a:buChar char="u"/>
            </a:pPr>
            <a:r>
              <a:rPr lang="zh-CN" altLang="en-US"/>
              <a:t>总需求：一定时期内，对本国产品和劳务的需求总量。</a:t>
            </a:r>
          </a:p>
        </p:txBody>
      </p:sp>
      <p:sp>
        <p:nvSpPr>
          <p:cNvPr id="11" name="Rectangle 100">
            <a:extLst>
              <a:ext uri="{FF2B5EF4-FFF2-40B4-BE49-F238E27FC236}">
                <a16:creationId xmlns:a16="http://schemas.microsoft.com/office/drawing/2014/main" id="{4AD2567E-E929-4147-87AA-E4A8DFB22C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544" y="3620384"/>
            <a:ext cx="8135937" cy="935037"/>
          </a:xfrm>
          <a:prstGeom prst="rect">
            <a:avLst/>
          </a:prstGeom>
          <a:noFill/>
          <a:ln w="57150" cap="sq" cmpd="thickThin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>
            <a:lvl1pPr marL="174625" indent="-174625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Blip>
                <a:blip r:embed="rId2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363538">
              <a:spcBef>
                <a:spcPct val="20000"/>
              </a:spcBef>
              <a:buFont typeface="Wingdings" panose="05000000000000000000" pitchFamily="2" charset="2"/>
              <a:buBlip>
                <a:blip r:embed="rId3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hlink"/>
              </a:buClr>
              <a:buFont typeface="Wingdings" panose="05000000000000000000" pitchFamily="2" charset="2"/>
              <a:buChar char="u"/>
            </a:pPr>
            <a:r>
              <a:rPr lang="zh-CN" altLang="en-US"/>
              <a:t>包括国内消费需求、投资需求、政府购买需求和国外需求。</a:t>
            </a:r>
          </a:p>
        </p:txBody>
      </p:sp>
      <p:sp>
        <p:nvSpPr>
          <p:cNvPr id="13" name="Rectangle 101">
            <a:extLst>
              <a:ext uri="{FF2B5EF4-FFF2-40B4-BE49-F238E27FC236}">
                <a16:creationId xmlns:a16="http://schemas.microsoft.com/office/drawing/2014/main" id="{BCA2B8E4-4D67-4CDA-806B-FA5BF5D9A6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544" y="4915784"/>
            <a:ext cx="8135937" cy="1439862"/>
          </a:xfrm>
          <a:prstGeom prst="rect">
            <a:avLst/>
          </a:prstGeom>
          <a:noFill/>
          <a:ln w="57150" cap="sq" cmpd="thickThin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>
            <a:lvl1pPr marL="174625" indent="-174625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Blip>
                <a:blip r:embed="rId2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363538">
              <a:spcBef>
                <a:spcPct val="20000"/>
              </a:spcBef>
              <a:buFont typeface="Wingdings" panose="05000000000000000000" pitchFamily="2" charset="2"/>
              <a:buBlip>
                <a:blip r:embed="rId3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hlink"/>
              </a:buClr>
              <a:buFont typeface="Wingdings" panose="05000000000000000000" pitchFamily="2" charset="2"/>
              <a:buChar char="u"/>
            </a:pPr>
            <a:r>
              <a:rPr lang="zh-CN" altLang="en-US"/>
              <a:t>总需求＝消费＋投资＋政府购买＋净出口，即：</a:t>
            </a:r>
          </a:p>
          <a:p>
            <a:pPr>
              <a:buClr>
                <a:schemeClr val="hlink"/>
              </a:buClr>
              <a:buFont typeface="Wingdings" panose="05000000000000000000" pitchFamily="2" charset="2"/>
              <a:buChar char="u"/>
            </a:pPr>
            <a:r>
              <a:rPr lang="en-US" altLang="zh-CN" i="1"/>
              <a:t>AD</a:t>
            </a:r>
            <a:r>
              <a:rPr lang="zh-CN" altLang="en-US"/>
              <a:t>＝</a:t>
            </a:r>
            <a:r>
              <a:rPr lang="en-US" altLang="zh-CN" i="1"/>
              <a:t>C</a:t>
            </a:r>
            <a:r>
              <a:rPr lang="zh-CN" altLang="en-US"/>
              <a:t>＋</a:t>
            </a:r>
            <a:r>
              <a:rPr lang="en-US" altLang="zh-CN" i="1"/>
              <a:t>I</a:t>
            </a:r>
            <a:r>
              <a:rPr lang="zh-CN" altLang="en-US"/>
              <a:t>＋</a:t>
            </a:r>
            <a:r>
              <a:rPr lang="en-US" altLang="zh-CN" i="1"/>
              <a:t>G</a:t>
            </a:r>
            <a:r>
              <a:rPr lang="zh-CN" altLang="en-US"/>
              <a:t>＋</a:t>
            </a:r>
            <a:r>
              <a:rPr lang="en-US" altLang="zh-CN"/>
              <a:t>(</a:t>
            </a:r>
            <a:r>
              <a:rPr lang="en-US" altLang="zh-CN" i="1"/>
              <a:t>X</a:t>
            </a:r>
            <a:r>
              <a:rPr lang="zh-CN" altLang="en-US"/>
              <a:t>－</a:t>
            </a:r>
            <a:r>
              <a:rPr lang="en-US" altLang="zh-CN" i="1"/>
              <a:t>M)</a:t>
            </a:r>
            <a:endParaRPr lang="en-US" altLang="zh-CN"/>
          </a:p>
          <a:p>
            <a:pPr>
              <a:buClr>
                <a:schemeClr val="hlink"/>
              </a:buClr>
              <a:buFont typeface="Wingdings" panose="05000000000000000000" pitchFamily="2" charset="2"/>
              <a:buChar char="u"/>
            </a:pPr>
            <a:r>
              <a:rPr lang="zh-CN" altLang="en-US"/>
              <a:t>总需求＝</a:t>
            </a:r>
            <a:r>
              <a:rPr lang="en-US" altLang="zh-CN" i="1"/>
              <a:t>GDP</a:t>
            </a:r>
            <a:r>
              <a:rPr lang="zh-CN" altLang="en-US"/>
              <a:t>＝总支出</a:t>
            </a:r>
          </a:p>
        </p:txBody>
      </p:sp>
    </p:spTree>
    <p:extLst>
      <p:ext uri="{BB962C8B-B14F-4D97-AF65-F5344CB8AC3E}">
        <p14:creationId xmlns:p14="http://schemas.microsoft.com/office/powerpoint/2010/main" val="5447948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EC36A633-674E-4B0D-8D32-A7968072EE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542453"/>
            <a:ext cx="6696075" cy="647700"/>
          </a:xfrm>
          <a:ln/>
          <a:extLst>
            <a:ext uri="{91240B29-F687-4F45-9708-019B960494DF}">
              <a14:hiddenLine xmlns:a14="http://schemas.microsoft.com/office/drawing/2010/main" w="38100" cap="flat" cmpd="dbl" algn="ctr">
                <a:solidFill>
                  <a:srgbClr val="000099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r>
              <a:rPr lang="zh-CN" altLang="en-US" sz="3200" dirty="0"/>
              <a:t>总需求曲线图示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10B9D234-C129-4A4B-9C54-5263D36E5B11}"/>
              </a:ext>
            </a:extLst>
          </p:cNvPr>
          <p:cNvSpPr txBox="1">
            <a:spLocks noChangeArrowheads="1"/>
          </p:cNvSpPr>
          <p:nvPr/>
        </p:nvSpPr>
        <p:spPr>
          <a:xfrm>
            <a:off x="468313" y="1623541"/>
            <a:ext cx="8135937" cy="935037"/>
          </a:xfrm>
          <a:prstGeom prst="rect">
            <a:avLst/>
          </a:prstGeom>
          <a:noFill/>
          <a:ln w="3175" cmpd="sng" algn="ctr"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hlink"/>
              </a:buClr>
              <a:buSzPct val="95000"/>
              <a:buFont typeface="Wingdings" panose="05000000000000000000" pitchFamily="2" charset="2"/>
              <a:buChar char="u"/>
            </a:pPr>
            <a:r>
              <a:rPr lang="zh-CN" altLang="en-US"/>
              <a:t>总需求函数：价格水平与国民收入间的关系，表示在某个价格水平上，社会需要多高水平的产量。 </a:t>
            </a:r>
          </a:p>
        </p:txBody>
      </p:sp>
      <p:sp>
        <p:nvSpPr>
          <p:cNvPr id="6" name="Rectangle 15">
            <a:extLst>
              <a:ext uri="{FF2B5EF4-FFF2-40B4-BE49-F238E27FC236}">
                <a16:creationId xmlns:a16="http://schemas.microsoft.com/office/drawing/2014/main" id="{F027369D-E1E7-4688-8FE2-22A15E98D4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2918941"/>
            <a:ext cx="3671887" cy="1439862"/>
          </a:xfrm>
          <a:prstGeom prst="rect">
            <a:avLst/>
          </a:prstGeom>
          <a:noFill/>
          <a:ln w="3175" cap="sq" cmpd="thickThin" algn="ctr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174625" indent="-174625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Blip>
                <a:blip r:embed="rId2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363538">
              <a:spcBef>
                <a:spcPct val="20000"/>
              </a:spcBef>
              <a:buFont typeface="Wingdings" panose="05000000000000000000" pitchFamily="2" charset="2"/>
              <a:buBlip>
                <a:blip r:embed="rId3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000"/>
              <a:t>总需求曲线与微观意义的需求曲线基本相同。</a:t>
            </a:r>
          </a:p>
          <a:p>
            <a:r>
              <a:rPr lang="zh-CN" altLang="en-US" sz="2000"/>
              <a:t>总需求与一般物价水平反方向变动。</a:t>
            </a:r>
          </a:p>
        </p:txBody>
      </p:sp>
      <p:sp>
        <p:nvSpPr>
          <p:cNvPr id="7" name="Rectangle 113">
            <a:extLst>
              <a:ext uri="{FF2B5EF4-FFF2-40B4-BE49-F238E27FC236}">
                <a16:creationId xmlns:a16="http://schemas.microsoft.com/office/drawing/2014/main" id="{F6929AE4-3520-4558-89BE-E8F99A8D41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4647728"/>
            <a:ext cx="3671887" cy="1800225"/>
          </a:xfrm>
          <a:prstGeom prst="rect">
            <a:avLst/>
          </a:prstGeom>
          <a:noFill/>
          <a:ln w="3175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Blip>
                <a:blip r:embed="rId2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42913">
              <a:spcBef>
                <a:spcPct val="20000"/>
              </a:spcBef>
              <a:buFont typeface="Wingdings" panose="05000000000000000000" pitchFamily="2" charset="2"/>
              <a:buBlip>
                <a:blip r:embed="rId3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/>
              <a:t>总需求函数的机制：</a:t>
            </a:r>
          </a:p>
          <a:p>
            <a:r>
              <a:rPr lang="zh-CN" altLang="en-US"/>
              <a:t>价格水平上升，导致利率上升，国民收入水平下降。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98EE693-9F78-4CEB-853C-2BE287CBA1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7746" y="2972714"/>
            <a:ext cx="3414056" cy="276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3307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>
            <a:extLst>
              <a:ext uri="{FF2B5EF4-FFF2-40B4-BE49-F238E27FC236}">
                <a16:creationId xmlns:a16="http://schemas.microsoft.com/office/drawing/2014/main" id="{01398AB2-4D5F-4F93-8B44-F4E802691F31}"/>
              </a:ext>
            </a:extLst>
          </p:cNvPr>
          <p:cNvSpPr txBox="1">
            <a:spLocks noChangeArrowheads="1"/>
          </p:cNvSpPr>
          <p:nvPr/>
        </p:nvSpPr>
        <p:spPr>
          <a:xfrm>
            <a:off x="448858" y="1978971"/>
            <a:ext cx="3095625" cy="1439863"/>
          </a:xfrm>
          <a:prstGeom prst="rect">
            <a:avLst/>
          </a:prstGeom>
          <a:ln>
            <a:headEnd/>
            <a:tailEnd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dirty="0"/>
              <a:t>价格水平为</a:t>
            </a:r>
            <a:r>
              <a:rPr lang="en-US" altLang="zh-CN" dirty="0"/>
              <a:t>P</a:t>
            </a:r>
            <a:r>
              <a:rPr lang="en-US" altLang="zh-CN" baseline="-25000" dirty="0"/>
              <a:t>1</a:t>
            </a:r>
            <a:r>
              <a:rPr lang="zh-CN" altLang="en-US" dirty="0"/>
              <a:t>时，均衡总支出＝总收入＝</a:t>
            </a:r>
            <a:r>
              <a:rPr lang="en-US" altLang="zh-CN" dirty="0"/>
              <a:t>y</a:t>
            </a:r>
            <a:r>
              <a:rPr lang="en-US" altLang="zh-CN" baseline="-25000" dirty="0"/>
              <a:t>1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67384C75-0B92-4296-87CC-C8445F172C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8858" y="610546"/>
            <a:ext cx="6696075" cy="647700"/>
          </a:xfrm>
          <a:ln/>
          <a:extLst>
            <a:ext uri="{91240B29-F687-4F45-9708-019B960494DF}">
              <a14:hiddenLine xmlns:a14="http://schemas.microsoft.com/office/drawing/2010/main" w="38100" cap="flat" cmpd="dbl" algn="ctr">
                <a:solidFill>
                  <a:srgbClr val="000099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r>
              <a:rPr lang="zh-CN" altLang="en-US" sz="2800" dirty="0"/>
              <a:t>总需求</a:t>
            </a:r>
            <a:r>
              <a:rPr lang="en-US" altLang="zh-CN" sz="2800" dirty="0"/>
              <a:t>AD</a:t>
            </a:r>
            <a:r>
              <a:rPr lang="zh-CN" altLang="en-US" sz="2800" dirty="0"/>
              <a:t>曲线的推导图示</a:t>
            </a:r>
          </a:p>
        </p:txBody>
      </p:sp>
      <p:sp>
        <p:nvSpPr>
          <p:cNvPr id="6" name="Rectangle 340">
            <a:extLst>
              <a:ext uri="{FF2B5EF4-FFF2-40B4-BE49-F238E27FC236}">
                <a16:creationId xmlns:a16="http://schemas.microsoft.com/office/drawing/2014/main" id="{DE08F525-3B5A-42BE-AF4B-F7997F955F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858" y="3634734"/>
            <a:ext cx="3095625" cy="1439862"/>
          </a:xfrm>
          <a:prstGeom prst="rect">
            <a:avLst/>
          </a:prstGeom>
          <a:noFill/>
          <a:ln w="3175" cap="sq" cmpd="thickThin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/>
          <a:lstStyle>
            <a:lvl1pPr marL="174625" indent="-174625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Blip>
                <a:blip r:embed="rId2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363538">
              <a:spcBef>
                <a:spcPct val="20000"/>
              </a:spcBef>
              <a:buFont typeface="Wingdings" panose="05000000000000000000" pitchFamily="2" charset="2"/>
              <a:buBlip>
                <a:blip r:embed="rId3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0" dirty="0"/>
              <a:t>价格水平为</a:t>
            </a:r>
            <a:r>
              <a:rPr lang="en-US" altLang="zh-CN" b="0" dirty="0"/>
              <a:t>P</a:t>
            </a:r>
            <a:r>
              <a:rPr lang="en-US" altLang="zh-CN" b="0" baseline="-25000" dirty="0"/>
              <a:t>2</a:t>
            </a:r>
            <a:r>
              <a:rPr lang="zh-CN" altLang="en-US" b="0" dirty="0"/>
              <a:t>时，均衡总支出＝总收入＝</a:t>
            </a:r>
            <a:r>
              <a:rPr lang="en-US" altLang="zh-CN" b="0" dirty="0"/>
              <a:t>y</a:t>
            </a:r>
            <a:r>
              <a:rPr lang="en-US" altLang="zh-CN" b="0" baseline="-25000" dirty="0"/>
              <a:t>2</a:t>
            </a:r>
          </a:p>
        </p:txBody>
      </p:sp>
      <p:sp>
        <p:nvSpPr>
          <p:cNvPr id="7" name="Rectangle 341">
            <a:extLst>
              <a:ext uri="{FF2B5EF4-FFF2-40B4-BE49-F238E27FC236}">
                <a16:creationId xmlns:a16="http://schemas.microsoft.com/office/drawing/2014/main" id="{A2FE75B9-6D55-4EA9-BAE3-E97E87129E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858" y="5434959"/>
            <a:ext cx="3095625" cy="1079500"/>
          </a:xfrm>
          <a:prstGeom prst="rect">
            <a:avLst/>
          </a:prstGeom>
          <a:noFill/>
          <a:ln w="3175" cap="sq" cmpd="thickThin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/>
          <a:lstStyle>
            <a:lvl1pPr marL="174625" indent="-174625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Blip>
                <a:blip r:embed="rId2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363538">
              <a:spcBef>
                <a:spcPct val="20000"/>
              </a:spcBef>
              <a:buFont typeface="Wingdings" panose="05000000000000000000" pitchFamily="2" charset="2"/>
              <a:buBlip>
                <a:blip r:embed="rId3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0" dirty="0"/>
              <a:t>两点连线。得到总需求曲线。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BE39383-F161-4907-92F5-F9FA69FB0D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4594" y="1419616"/>
            <a:ext cx="4282811" cy="4991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9219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>
            <a:extLst>
              <a:ext uri="{FF2B5EF4-FFF2-40B4-BE49-F238E27FC236}">
                <a16:creationId xmlns:a16="http://schemas.microsoft.com/office/drawing/2014/main" id="{0C96A622-B0E4-4C49-85CF-4DF3EAD72B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73995" y="365125"/>
            <a:ext cx="10515600" cy="1325563"/>
          </a:xfrm>
          <a:ln/>
          <a:extLst>
            <a:ext uri="{91240B29-F687-4F45-9708-019B960494DF}">
              <a14:hiddenLine xmlns:a14="http://schemas.microsoft.com/office/drawing/2010/main" w="38100" cap="flat" cmpd="dbl" algn="ctr">
                <a:solidFill>
                  <a:srgbClr val="000099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r>
              <a:rPr lang="en-US" altLang="zh-CN" sz="3200" dirty="0"/>
              <a:t>AD</a:t>
            </a:r>
            <a:r>
              <a:rPr lang="zh-CN" altLang="en-US" sz="3200" dirty="0"/>
              <a:t>曲线的经济含义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71936848-754B-4DB5-8CE5-848D2A90DB9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23434" y="1773238"/>
            <a:ext cx="8135937" cy="1008062"/>
          </a:xfrm>
          <a:noFill/>
          <a:ln w="3175" cmpd="tri">
            <a:solidFill>
              <a:schemeClr val="tx1"/>
            </a:solidFill>
          </a:ln>
        </p:spPr>
        <p:txBody>
          <a:bodyPr/>
          <a:lstStyle/>
          <a:p>
            <a:pPr>
              <a:buClr>
                <a:srgbClr val="336600"/>
              </a:buClr>
              <a:buSzPct val="95000"/>
              <a:buFont typeface="Wingdings" panose="05000000000000000000" pitchFamily="2" charset="2"/>
              <a:buChar char="l"/>
            </a:pPr>
            <a:r>
              <a:rPr lang="zh-CN" altLang="en-US" dirty="0"/>
              <a:t>描述总需求达到宏观均衡、即</a:t>
            </a:r>
            <a:r>
              <a:rPr lang="en-US" altLang="zh-CN" dirty="0"/>
              <a:t>IS=LM</a:t>
            </a:r>
            <a:r>
              <a:rPr lang="zh-CN" altLang="en-US" dirty="0"/>
              <a:t>时，一国总产出水平与价格水平之间关系。</a:t>
            </a:r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64A032B6-D1E3-4231-8DF8-3A0FD40CC0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434" y="3284539"/>
            <a:ext cx="8135937" cy="720725"/>
          </a:xfrm>
          <a:prstGeom prst="rect">
            <a:avLst/>
          </a:prstGeom>
          <a:noFill/>
          <a:ln w="3175" cap="sq" cmpd="tri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174625" indent="-174625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Blip>
                <a:blip r:embed="rId2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363538">
              <a:spcBef>
                <a:spcPct val="20000"/>
              </a:spcBef>
              <a:buFont typeface="Wingdings" panose="05000000000000000000" pitchFamily="2" charset="2"/>
              <a:buBlip>
                <a:blip r:embed="rId3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Clr>
                <a:srgbClr val="336600"/>
              </a:buClr>
              <a:buSzPct val="95000"/>
              <a:buFont typeface="Wingdings" panose="05000000000000000000" pitchFamily="2" charset="2"/>
              <a:buChar char="l"/>
            </a:pPr>
            <a:r>
              <a:rPr lang="zh-CN" altLang="en-US"/>
              <a:t>表明总产出与价格水平之间存在反向关系。</a:t>
            </a:r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EF1D1E77-0004-4195-ABE6-E63EADADA5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434" y="4581525"/>
            <a:ext cx="8135937" cy="1512888"/>
          </a:xfrm>
          <a:prstGeom prst="rect">
            <a:avLst/>
          </a:prstGeom>
          <a:noFill/>
          <a:ln w="3175" cap="sq" cmpd="tri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174625" indent="-174625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Blip>
                <a:blip r:embed="rId2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363538">
              <a:spcBef>
                <a:spcPct val="20000"/>
              </a:spcBef>
              <a:buFont typeface="Wingdings" panose="05000000000000000000" pitchFamily="2" charset="2"/>
              <a:buBlip>
                <a:blip r:embed="rId3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Clr>
                <a:srgbClr val="336600"/>
              </a:buClr>
              <a:buSzPct val="95000"/>
              <a:buFont typeface="Wingdings" panose="05000000000000000000" pitchFamily="2" charset="2"/>
              <a:buChar char="l"/>
            </a:pPr>
            <a:r>
              <a:rPr lang="zh-CN" altLang="en-US"/>
              <a:t>反映价格水平影响实际货币供给，实际货币供给影响利率水平，利率水平影响投资水平，投资水平影响产出水平水平这样一个复杂而迂回的传导机制。</a:t>
            </a:r>
          </a:p>
        </p:txBody>
      </p:sp>
    </p:spTree>
    <p:extLst>
      <p:ext uri="{BB962C8B-B14F-4D97-AF65-F5344CB8AC3E}">
        <p14:creationId xmlns:p14="http://schemas.microsoft.com/office/powerpoint/2010/main" val="7852789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99441FB1-97B0-4481-90A7-CCAE6131CC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39365" y="365125"/>
            <a:ext cx="10515600" cy="1325563"/>
          </a:xfrm>
          <a:ln/>
          <a:extLst>
            <a:ext uri="{91240B29-F687-4F45-9708-019B960494DF}">
              <a14:hiddenLine xmlns:a14="http://schemas.microsoft.com/office/drawing/2010/main" w="38100" cap="flat" cmpd="dbl" algn="ctr">
                <a:solidFill>
                  <a:srgbClr val="000099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r>
              <a:rPr lang="zh-CN" altLang="en-US" sz="2800" dirty="0"/>
              <a:t>扩张性财政政策对</a:t>
            </a:r>
            <a:r>
              <a:rPr lang="en-US" altLang="zh-CN" sz="2800" dirty="0"/>
              <a:t>AD</a:t>
            </a:r>
            <a:r>
              <a:rPr lang="zh-CN" altLang="en-US" sz="2800" dirty="0"/>
              <a:t>的影响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6BF52536-DD66-4E2A-A83B-E99EC15F74C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70907" y="1341438"/>
            <a:ext cx="3167062" cy="1295400"/>
          </a:xfrm>
          <a:noFill/>
          <a:ln w="3175" cmpd="sng">
            <a:solidFill>
              <a:schemeClr val="tx1"/>
            </a:solidFill>
          </a:ln>
        </p:spPr>
        <p:txBody>
          <a:bodyPr/>
          <a:lstStyle/>
          <a:p>
            <a:pPr marL="0" indent="0">
              <a:lnSpc>
                <a:spcPct val="90000"/>
              </a:lnSpc>
              <a:buClr>
                <a:schemeClr val="hlink"/>
              </a:buClr>
              <a:buSzPct val="95000"/>
              <a:buFont typeface="Wingdings" panose="05000000000000000000" pitchFamily="2" charset="2"/>
              <a:buChar char="u"/>
            </a:pPr>
            <a:r>
              <a:rPr lang="zh-CN" altLang="en-US" dirty="0"/>
              <a:t>扩张性财政和货币政策，都使</a:t>
            </a:r>
            <a:r>
              <a:rPr lang="en-US" altLang="zh-CN" dirty="0"/>
              <a:t>AD</a:t>
            </a:r>
            <a:r>
              <a:rPr lang="zh-CN" altLang="en-US" dirty="0"/>
              <a:t>曲线右移。</a:t>
            </a:r>
          </a:p>
        </p:txBody>
      </p:sp>
      <p:sp>
        <p:nvSpPr>
          <p:cNvPr id="6" name="Rectangle 296">
            <a:extLst>
              <a:ext uri="{FF2B5EF4-FFF2-40B4-BE49-F238E27FC236}">
                <a16:creationId xmlns:a16="http://schemas.microsoft.com/office/drawing/2014/main" id="{EF52BC75-DCAC-43FC-8796-D4639F50C0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0907" y="2781301"/>
            <a:ext cx="3167062" cy="2232025"/>
          </a:xfrm>
          <a:prstGeom prst="rect">
            <a:avLst/>
          </a:prstGeom>
          <a:noFill/>
          <a:ln w="3175" cap="sq" cmpd="thickThin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/>
          <a:lstStyle>
            <a:lvl1pPr marL="174625" indent="-174625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Blip>
                <a:blip r:embed="rId2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363538">
              <a:spcBef>
                <a:spcPct val="20000"/>
              </a:spcBef>
              <a:buFont typeface="Wingdings" panose="05000000000000000000" pitchFamily="2" charset="2"/>
              <a:buBlip>
                <a:blip r:embed="rId3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Clr>
                <a:srgbClr val="FF0000"/>
              </a:buClr>
              <a:buSzPct val="95000"/>
              <a:buFont typeface="Wingdings" panose="05000000000000000000" pitchFamily="2" charset="2"/>
              <a:buChar char="n"/>
            </a:pPr>
            <a:r>
              <a:rPr lang="zh-CN" altLang="en-US" dirty="0"/>
              <a:t>如扩张财政：</a:t>
            </a:r>
          </a:p>
          <a:p>
            <a:pPr>
              <a:buClr>
                <a:srgbClr val="FF0000"/>
              </a:buClr>
              <a:buSzPct val="95000"/>
              <a:buFont typeface="Wingdings" panose="05000000000000000000" pitchFamily="2" charset="2"/>
              <a:buChar char="n"/>
            </a:pPr>
            <a:r>
              <a:rPr lang="zh-CN" altLang="en-US" sz="2000" dirty="0"/>
              <a:t>增加政府支出，</a:t>
            </a:r>
            <a:r>
              <a:rPr lang="en-US" altLang="zh-CN" sz="2000" dirty="0"/>
              <a:t>IS</a:t>
            </a:r>
            <a:r>
              <a:rPr lang="zh-CN" altLang="en-US" sz="2000" dirty="0"/>
              <a:t>右移。</a:t>
            </a:r>
          </a:p>
          <a:p>
            <a:pPr>
              <a:buClr>
                <a:srgbClr val="FF0000"/>
              </a:buClr>
              <a:buSzPct val="95000"/>
              <a:buFont typeface="Wingdings" panose="05000000000000000000" pitchFamily="2" charset="2"/>
              <a:buChar char="n"/>
            </a:pPr>
            <a:r>
              <a:rPr lang="zh-CN" altLang="en-US" sz="2000" dirty="0"/>
              <a:t>在原价格水平下，形成新均衡，利率升高，收入增加。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D74438F-C856-46AA-B72F-42543AF300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0215" y="1341438"/>
            <a:ext cx="3817951" cy="4526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1573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6E756A72-208A-4325-BCB9-FEACA2BCDA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2634" y="306759"/>
            <a:ext cx="10515600" cy="1325563"/>
          </a:xfrm>
          <a:ln/>
          <a:extLst>
            <a:ext uri="{91240B29-F687-4F45-9708-019B960494DF}">
              <a14:hiddenLine xmlns:a14="http://schemas.microsoft.com/office/drawing/2010/main" w="38100" cap="flat" cmpd="dbl" algn="ctr">
                <a:solidFill>
                  <a:srgbClr val="000099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sz="2800" dirty="0"/>
              <a:t>总供给的一般说明</a:t>
            </a:r>
            <a:r>
              <a:rPr lang="en-US" altLang="zh-CN" sz="2800" dirty="0">
                <a:solidFill>
                  <a:srgbClr val="FFFF00"/>
                </a:solidFill>
              </a:rPr>
              <a:t>AS</a:t>
            </a:r>
            <a:r>
              <a:rPr lang="en-US" altLang="zh-CN" sz="2400" dirty="0">
                <a:solidFill>
                  <a:srgbClr val="990000"/>
                </a:solidFill>
              </a:rPr>
              <a:t> </a:t>
            </a:r>
            <a:r>
              <a:rPr lang="en-US" altLang="zh-CN" sz="2400" dirty="0"/>
              <a:t>Aggregate supply</a:t>
            </a:r>
            <a:r>
              <a:rPr lang="en-US" altLang="zh-CN" dirty="0"/>
              <a:t> 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47DF9214-C9BC-4DEB-8934-4518823CE5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77520" y="1341438"/>
            <a:ext cx="8135937" cy="1079500"/>
          </a:xfrm>
          <a:noFill/>
          <a:ln w="3175" cmpd="sng">
            <a:solidFill>
              <a:schemeClr val="tx1"/>
            </a:solidFill>
          </a:ln>
        </p:spPr>
        <p:txBody>
          <a:bodyPr/>
          <a:lstStyle/>
          <a:p>
            <a:pPr>
              <a:buClr>
                <a:schemeClr val="hlink"/>
              </a:buClr>
              <a:buSzPct val="95000"/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chemeClr val="bg1"/>
                </a:solidFill>
              </a:rPr>
              <a:t>总供给</a:t>
            </a:r>
            <a:r>
              <a:rPr lang="zh-CN" altLang="en-US" dirty="0">
                <a:solidFill>
                  <a:schemeClr val="bg1"/>
                </a:solidFill>
              </a:rPr>
              <a:t>：</a:t>
            </a:r>
            <a:r>
              <a:rPr lang="zh-CN" altLang="en-US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一国在一定时期内生产者和政府向国内和国外提供的，供最终使用的产品和劳务的总和。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155A6660-4CA5-4167-8801-AE52AD4640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520" y="2636839"/>
            <a:ext cx="8135937" cy="936625"/>
          </a:xfrm>
          <a:prstGeom prst="rect">
            <a:avLst/>
          </a:prstGeom>
          <a:noFill/>
          <a:ln w="3175" cap="sq" cmpd="thickThin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174625" indent="-174625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Blip>
                <a:blip r:embed="rId2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363538">
              <a:spcBef>
                <a:spcPct val="20000"/>
              </a:spcBef>
              <a:buFont typeface="Wingdings" panose="05000000000000000000" pitchFamily="2" charset="2"/>
              <a:buBlip>
                <a:blip r:embed="rId3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总供给＝总收入＝</a:t>
            </a:r>
            <a:r>
              <a:rPr lang="en-US" altLang="zh-CN" b="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GDP</a:t>
            </a:r>
            <a:r>
              <a:rPr lang="zh-CN" altLang="en-US" b="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br>
              <a:rPr lang="zh-CN" altLang="en-US" b="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zh-CN" altLang="en-US" b="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总供给主要由劳动力、生产性资本存量和技术决定。</a:t>
            </a:r>
          </a:p>
        </p:txBody>
      </p:sp>
    </p:spTree>
    <p:extLst>
      <p:ext uri="{BB962C8B-B14F-4D97-AF65-F5344CB8AC3E}">
        <p14:creationId xmlns:p14="http://schemas.microsoft.com/office/powerpoint/2010/main" val="25495421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>
            <a:extLst>
              <a:ext uri="{FF2B5EF4-FFF2-40B4-BE49-F238E27FC236}">
                <a16:creationId xmlns:a16="http://schemas.microsoft.com/office/drawing/2014/main" id="{2CD91BA7-EEC8-416B-99D2-393E5EE7FA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3903" y="717551"/>
            <a:ext cx="4391025" cy="647700"/>
          </a:xfrm>
          <a:noFill/>
          <a:ln w="38100" cap="flat" cmpd="dbl" algn="ctr">
            <a:noFill/>
            <a:prstDash val="solid"/>
            <a:miter lim="800000"/>
            <a:headEnd/>
            <a:tailEnd/>
          </a:ln>
        </p:spPr>
        <p:txBody>
          <a:bodyPr>
            <a:normAutofit fontScale="90000"/>
          </a:bodyPr>
          <a:lstStyle/>
          <a:p>
            <a:r>
              <a:rPr lang="zh-CN" altLang="en-US" dirty="0"/>
              <a:t>劳动市场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986B77A-BAF9-4823-8C8B-3BA7A336902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63902" y="1941515"/>
            <a:ext cx="4248150" cy="865187"/>
          </a:xfrm>
          <a:noFill/>
          <a:ln w="3175">
            <a:solidFill>
              <a:schemeClr val="tx1"/>
            </a:solidFill>
            <a:headEnd/>
            <a:tailEnd/>
          </a:ln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zh-CN" altLang="en-US" b="0">
                <a:latin typeface="黑体" panose="02010609060101010101" pitchFamily="49" charset="-122"/>
                <a:ea typeface="黑体" panose="02010609060101010101" pitchFamily="49" charset="-122"/>
              </a:rPr>
              <a:t>劳动需求：</a:t>
            </a:r>
          </a:p>
          <a:p>
            <a:pPr>
              <a:lnSpc>
                <a:spcPct val="90000"/>
              </a:lnSpc>
            </a:pPr>
            <a:r>
              <a:rPr lang="zh-CN" altLang="en-US" b="0">
                <a:latin typeface="黑体" panose="02010609060101010101" pitchFamily="49" charset="-122"/>
                <a:ea typeface="黑体" panose="02010609060101010101" pitchFamily="49" charset="-122"/>
              </a:rPr>
              <a:t>与实际工资反方向变动。</a:t>
            </a:r>
          </a:p>
        </p:txBody>
      </p:sp>
      <p:sp>
        <p:nvSpPr>
          <p:cNvPr id="6" name="Rectangle 95">
            <a:extLst>
              <a:ext uri="{FF2B5EF4-FFF2-40B4-BE49-F238E27FC236}">
                <a16:creationId xmlns:a16="http://schemas.microsoft.com/office/drawing/2014/main" id="{E47FCB5B-9F2B-4582-9953-2CA5271AB5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953" y="717552"/>
            <a:ext cx="3889375" cy="936625"/>
          </a:xfrm>
          <a:prstGeom prst="rect">
            <a:avLst/>
          </a:prstGeom>
          <a:noFill/>
          <a:ln w="3175" cap="sq" cmpd="thickThin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174625" indent="-174625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Blip>
                <a:blip r:embed="rId2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363538">
              <a:spcBef>
                <a:spcPct val="20000"/>
              </a:spcBef>
              <a:buFont typeface="Wingdings" panose="05000000000000000000" pitchFamily="2" charset="2"/>
              <a:buBlip>
                <a:blip r:embed="rId3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0" dirty="0">
                <a:latin typeface="黑体" panose="02010609060101010101" pitchFamily="49" charset="-122"/>
                <a:ea typeface="黑体" panose="02010609060101010101" pitchFamily="49" charset="-122"/>
              </a:rPr>
              <a:t>设名义工资是</a:t>
            </a:r>
            <a:r>
              <a:rPr lang="en-US" altLang="zh-CN" b="0" dirty="0">
                <a:latin typeface="黑体" panose="02010609060101010101" pitchFamily="49" charset="-122"/>
                <a:ea typeface="黑体" panose="02010609060101010101" pitchFamily="49" charset="-122"/>
              </a:rPr>
              <a:t>W</a:t>
            </a:r>
            <a:r>
              <a:rPr lang="zh-CN" altLang="en-US" b="0" dirty="0">
                <a:latin typeface="黑体" panose="02010609060101010101" pitchFamily="49" charset="-122"/>
                <a:ea typeface="黑体" panose="02010609060101010101" pitchFamily="49" charset="-122"/>
              </a:rPr>
              <a:t>，实际工资是</a:t>
            </a:r>
            <a:r>
              <a:rPr lang="en-US" altLang="zh-CN" b="0" dirty="0">
                <a:latin typeface="黑体" panose="02010609060101010101" pitchFamily="49" charset="-122"/>
                <a:ea typeface="黑体" panose="02010609060101010101" pitchFamily="49" charset="-122"/>
              </a:rPr>
              <a:t>W/P</a:t>
            </a:r>
            <a:r>
              <a:rPr lang="zh-CN" altLang="en-US" b="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  <p:sp>
        <p:nvSpPr>
          <p:cNvPr id="7" name="Rectangle 96">
            <a:extLst>
              <a:ext uri="{FF2B5EF4-FFF2-40B4-BE49-F238E27FC236}">
                <a16:creationId xmlns:a16="http://schemas.microsoft.com/office/drawing/2014/main" id="{C56D5820-0EB3-417F-BEB3-1DCDF40DED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953" y="1941515"/>
            <a:ext cx="3887787" cy="720725"/>
          </a:xfrm>
          <a:prstGeom prst="rect">
            <a:avLst/>
          </a:prstGeom>
          <a:noFill/>
          <a:ln w="3175" cap="sq" cmpd="thickThin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174625" indent="-174625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Blip>
                <a:blip r:embed="rId2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363538">
              <a:spcBef>
                <a:spcPct val="20000"/>
              </a:spcBef>
              <a:buFont typeface="Wingdings" panose="05000000000000000000" pitchFamily="2" charset="2"/>
              <a:buBlip>
                <a:blip r:embed="rId3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/>
              <a:t>劳动供给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D25353E-8404-4405-A11A-A711AB3BE8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902" y="3094040"/>
            <a:ext cx="7087214" cy="311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4406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B44A31AB-FF6B-4AD0-83F1-10A6FB8130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ln/>
          <a:extLst>
            <a:ext uri="{91240B29-F687-4F45-9708-019B960494DF}">
              <a14:hiddenLine xmlns:a14="http://schemas.microsoft.com/office/drawing/2010/main" w="38100" cap="flat" cmpd="dbl" algn="ctr">
                <a:solidFill>
                  <a:srgbClr val="000099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r>
              <a:rPr lang="zh-CN" altLang="en-US" sz="2800" dirty="0"/>
              <a:t>劳动市场的均衡</a:t>
            </a:r>
          </a:p>
        </p:txBody>
      </p:sp>
      <p:sp>
        <p:nvSpPr>
          <p:cNvPr id="5" name="Rectangle 34">
            <a:extLst>
              <a:ext uri="{FF2B5EF4-FFF2-40B4-BE49-F238E27FC236}">
                <a16:creationId xmlns:a16="http://schemas.microsoft.com/office/drawing/2014/main" id="{79585CD9-9674-4298-8E90-B03271CF4B9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428988"/>
            <a:ext cx="2879725" cy="3095625"/>
          </a:xfrm>
          <a:ln w="3175">
            <a:solidFill>
              <a:schemeClr val="tx1"/>
            </a:solidFill>
            <a:headEnd/>
            <a:tailEnd/>
          </a:ln>
        </p:spPr>
        <p:txBody>
          <a:bodyPr>
            <a:normAutofit lnSpcReduction="10000"/>
          </a:bodyPr>
          <a:lstStyle/>
          <a:p>
            <a:r>
              <a:rPr lang="zh-CN" altLang="en-US" b="0" dirty="0">
                <a:latin typeface="黑体" panose="02010609060101010101" pitchFamily="49" charset="-122"/>
                <a:ea typeface="黑体" panose="02010609060101010101" pitchFamily="49" charset="-122"/>
              </a:rPr>
              <a:t>在有伸缩性的工资和价格下，实际工资立即调整到劳动供求相等的水平。</a:t>
            </a:r>
          </a:p>
          <a:p>
            <a:r>
              <a:rPr lang="zh-CN" altLang="en-US" b="0" dirty="0">
                <a:latin typeface="黑体" panose="02010609060101010101" pitchFamily="49" charset="-122"/>
                <a:ea typeface="黑体" panose="02010609060101010101" pitchFamily="49" charset="-122"/>
              </a:rPr>
              <a:t>此时，产量始终等于潜在产量。</a:t>
            </a:r>
            <a:endParaRPr lang="zh-CN" altLang="en-US" sz="2800" dirty="0"/>
          </a:p>
        </p:txBody>
      </p:sp>
      <p:graphicFrame>
        <p:nvGraphicFramePr>
          <p:cNvPr id="6" name="Object 31">
            <a:extLst>
              <a:ext uri="{FF2B5EF4-FFF2-40B4-BE49-F238E27FC236}">
                <a16:creationId xmlns:a16="http://schemas.microsoft.com/office/drawing/2014/main" id="{D57FEA32-E11A-4D9C-B9BC-A09F70F7D1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7311721"/>
              </p:ext>
            </p:extLst>
          </p:nvPr>
        </p:nvGraphicFramePr>
        <p:xfrm>
          <a:off x="1035049" y="5145563"/>
          <a:ext cx="2486025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Equation" r:id="rId3" imgW="1104840" imgH="393480" progId="Equation.3">
                  <p:embed/>
                </p:oleObj>
              </mc:Choice>
              <mc:Fallback>
                <p:oleObj name="Equation" r:id="rId3" imgW="1104840" imgH="393480" progId="Equation.3">
                  <p:embed/>
                  <p:pic>
                    <p:nvPicPr>
                      <p:cNvPr id="233503" name="Object 31">
                        <a:extLst>
                          <a:ext uri="{FF2B5EF4-FFF2-40B4-BE49-F238E27FC236}">
                            <a16:creationId xmlns:a16="http://schemas.microsoft.com/office/drawing/2014/main" id="{11A8EE2E-4047-42EB-B6E0-2FA1377528E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5049" y="5145563"/>
                        <a:ext cx="2486025" cy="885825"/>
                      </a:xfrm>
                      <a:prstGeom prst="rect">
                        <a:avLst/>
                      </a:prstGeom>
                      <a:solidFill>
                        <a:srgbClr val="9966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图片 6">
            <a:extLst>
              <a:ext uri="{FF2B5EF4-FFF2-40B4-BE49-F238E27FC236}">
                <a16:creationId xmlns:a16="http://schemas.microsoft.com/office/drawing/2014/main" id="{E4918EE9-7BBD-42AD-89F7-127B942A67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2681" y="1531455"/>
            <a:ext cx="4366638" cy="3795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6409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F834EC50-62D7-48EC-BDB0-CBD92B131D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ln/>
          <a:extLst>
            <a:ext uri="{91240B29-F687-4F45-9708-019B960494DF}">
              <a14:hiddenLine xmlns:a14="http://schemas.microsoft.com/office/drawing/2010/main" w="38100" cap="flat" cmpd="dbl" algn="ctr">
                <a:solidFill>
                  <a:srgbClr val="000099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r>
              <a:rPr lang="zh-CN" altLang="en-US" sz="2800" dirty="0"/>
              <a:t>古典总供给曲线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0B792B34-8B0E-4A25-A1A7-6AC7B9B4608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31997" y="1341438"/>
            <a:ext cx="8280400" cy="647700"/>
          </a:xfrm>
          <a:noFill/>
          <a:ln w="3175" cmpd="sng">
            <a:solidFill>
              <a:schemeClr val="tx1"/>
            </a:solidFill>
          </a:ln>
        </p:spPr>
        <p:txBody>
          <a:bodyPr/>
          <a:lstStyle/>
          <a:p>
            <a:pPr>
              <a:buClr>
                <a:schemeClr val="hlink"/>
              </a:buClr>
              <a:buSzPct val="95000"/>
              <a:buFont typeface="Wingdings" panose="05000000000000000000" pitchFamily="2" charset="2"/>
              <a:buNone/>
            </a:pPr>
            <a:r>
              <a:rPr lang="en-US" altLang="zh-CN" sz="2800" dirty="0"/>
              <a:t>1. </a:t>
            </a:r>
            <a:r>
              <a:rPr lang="zh-CN" altLang="en-US" sz="2800" dirty="0"/>
              <a:t>总供给</a:t>
            </a:r>
            <a:r>
              <a:rPr lang="zh-CN" altLang="en-US" dirty="0"/>
              <a:t>函数：价格水平与总产量之间的关系。 </a:t>
            </a:r>
          </a:p>
        </p:txBody>
      </p:sp>
      <p:sp>
        <p:nvSpPr>
          <p:cNvPr id="6" name="Rectangle 71">
            <a:extLst>
              <a:ext uri="{FF2B5EF4-FFF2-40B4-BE49-F238E27FC236}">
                <a16:creationId xmlns:a16="http://schemas.microsoft.com/office/drawing/2014/main" id="{50BAFE7D-CC34-4F33-84F4-70E205E14C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1997" y="3141664"/>
            <a:ext cx="4824412" cy="1584325"/>
          </a:xfrm>
          <a:prstGeom prst="rect">
            <a:avLst/>
          </a:prstGeom>
          <a:noFill/>
          <a:ln w="3175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Blip>
                <a:blip r:embed="rId2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363538">
              <a:spcBef>
                <a:spcPct val="20000"/>
              </a:spcBef>
              <a:buFont typeface="Wingdings" panose="05000000000000000000" pitchFamily="2" charset="2"/>
              <a:buBlip>
                <a:blip r:embed="rId3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buClr>
                <a:schemeClr val="hlink"/>
              </a:buClr>
              <a:buSzPct val="95000"/>
              <a:buFont typeface="Wingdings" panose="05000000000000000000" pitchFamily="2" charset="2"/>
              <a:buNone/>
            </a:pPr>
            <a:r>
              <a:rPr lang="en-US" altLang="zh-CN"/>
              <a:t>2.</a:t>
            </a:r>
            <a:r>
              <a:rPr lang="zh-CN" altLang="en-US"/>
              <a:t>古典总供给曲线：</a:t>
            </a:r>
          </a:p>
          <a:p>
            <a:pPr>
              <a:lnSpc>
                <a:spcPct val="90000"/>
              </a:lnSpc>
              <a:buClr>
                <a:schemeClr val="hlink"/>
              </a:buClr>
              <a:buSzPct val="95000"/>
              <a:buFont typeface="Wingdings" panose="05000000000000000000" pitchFamily="2" charset="2"/>
              <a:buChar char="u"/>
            </a:pPr>
            <a:r>
              <a:rPr lang="zh-CN" altLang="en-US"/>
              <a:t>不受价格水平变动的影响，位于充分就业水平上的垂直的总供给曲线。</a:t>
            </a:r>
          </a:p>
        </p:txBody>
      </p:sp>
      <p:sp>
        <p:nvSpPr>
          <p:cNvPr id="7" name="Rectangle 72">
            <a:extLst>
              <a:ext uri="{FF2B5EF4-FFF2-40B4-BE49-F238E27FC236}">
                <a16:creationId xmlns:a16="http://schemas.microsoft.com/office/drawing/2014/main" id="{EE3F618F-582F-4EB9-87DB-95A4A048DD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1997" y="2060575"/>
            <a:ext cx="8280400" cy="935038"/>
          </a:xfrm>
          <a:prstGeom prst="rect">
            <a:avLst/>
          </a:prstGeom>
          <a:noFill/>
          <a:ln w="3175" cap="sq" cmpd="tri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174625" indent="-174625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Blip>
                <a:blip r:embed="rId2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363538">
              <a:spcBef>
                <a:spcPct val="20000"/>
              </a:spcBef>
              <a:buFont typeface="Wingdings" panose="05000000000000000000" pitchFamily="2" charset="2"/>
              <a:buBlip>
                <a:blip r:embed="rId3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Clr>
                <a:srgbClr val="FF0000"/>
              </a:buClr>
              <a:buSzPct val="95000"/>
              <a:buFont typeface="Wingdings" panose="05000000000000000000" pitchFamily="2" charset="2"/>
              <a:buChar char="p"/>
            </a:pPr>
            <a:r>
              <a:rPr lang="zh-CN" altLang="en-US"/>
              <a:t>根据货币工资与价格水平进行调整所需要的时间的长短，分为三种总供给曲线：古典、凯恩斯和常规总供给曲线。 </a:t>
            </a:r>
          </a:p>
        </p:txBody>
      </p:sp>
      <p:sp>
        <p:nvSpPr>
          <p:cNvPr id="8" name="Rectangle 73">
            <a:extLst>
              <a:ext uri="{FF2B5EF4-FFF2-40B4-BE49-F238E27FC236}">
                <a16:creationId xmlns:a16="http://schemas.microsoft.com/office/drawing/2014/main" id="{9501315A-DB7E-464D-985B-DAEDE9CD6E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1997" y="4797425"/>
            <a:ext cx="4824412" cy="1511300"/>
          </a:xfrm>
          <a:prstGeom prst="rect">
            <a:avLst/>
          </a:prstGeom>
          <a:noFill/>
          <a:ln w="3175" cap="sq" cmpd="thickThin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Blip>
                <a:blip r:embed="rId2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363538">
              <a:spcBef>
                <a:spcPct val="20000"/>
              </a:spcBef>
              <a:buFont typeface="Wingdings" panose="05000000000000000000" pitchFamily="2" charset="2"/>
              <a:buBlip>
                <a:blip r:embed="rId3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</a:pPr>
            <a:r>
              <a:rPr lang="zh-CN" altLang="en-US" sz="2000" b="0"/>
              <a:t>假设：实际工资能随时调整，使劳动市场达均衡。就业不随价格变而变动，始终处于充分就业状态。产量位于潜在产量、或者充分就业的水平上，不受价格影响。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B0EF5E0-4498-4BC2-9131-3F53F6EEE1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6172" y="3141664"/>
            <a:ext cx="2591025" cy="2758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5344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7D4B2693-0955-44B3-B6CF-32CF613D7B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ln/>
          <a:extLst>
            <a:ext uri="{91240B29-F687-4F45-9708-019B960494DF}">
              <a14:hiddenLine xmlns:a14="http://schemas.microsoft.com/office/drawing/2010/main" w="38100" cap="flat" cmpd="dbl" algn="ctr">
                <a:solidFill>
                  <a:srgbClr val="000099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r>
              <a:rPr lang="zh-CN" altLang="en-US" sz="2800" dirty="0"/>
              <a:t>潜在</a:t>
            </a:r>
            <a:r>
              <a:rPr lang="zh-CN" altLang="en-US" sz="2800" dirty="0">
                <a:solidFill>
                  <a:schemeClr val="bg1"/>
                </a:solidFill>
              </a:rPr>
              <a:t>（充分）</a:t>
            </a:r>
            <a:r>
              <a:rPr lang="zh-CN" altLang="en-US" sz="2800" dirty="0"/>
              <a:t>就业量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3D130D70-BB5E-45E5-94C1-515D46803B7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31997" y="1341439"/>
            <a:ext cx="8280400" cy="935037"/>
          </a:xfrm>
          <a:noFill/>
          <a:ln w="3175">
            <a:solidFill>
              <a:schemeClr val="tx1"/>
            </a:solidFill>
          </a:ln>
        </p:spPr>
        <p:txBody>
          <a:bodyPr/>
          <a:lstStyle/>
          <a:p>
            <a:pPr>
              <a:buClr>
                <a:srgbClr val="FF0000"/>
              </a:buClr>
              <a:buSzPct val="95000"/>
              <a:buFont typeface="Wingdings" panose="05000000000000000000" pitchFamily="2" charset="2"/>
              <a:buChar char="n"/>
            </a:pPr>
            <a:r>
              <a:rPr lang="zh-CN" altLang="en-US" dirty="0"/>
              <a:t>潜在（充分）就业量：在现有激励机制下，一个社会所有愿意工作的人都参加生产时所达到的就业量。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3908965-CFFC-4E07-AA64-0C1828F59A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1998" y="4005264"/>
            <a:ext cx="3959225" cy="830997"/>
          </a:xfrm>
          <a:prstGeom prst="rect">
            <a:avLst/>
          </a:prstGeom>
          <a:noFill/>
          <a:ln w="3175" cap="sq" cmpd="tri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zh-CN" altLang="en-US" b="1"/>
              <a:t>取决于资源配置情况，不取决于物价。</a:t>
            </a: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7B5AAFAD-02D0-46D4-804E-38B5BAF6C3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1998" y="2420939"/>
            <a:ext cx="3959225" cy="1512887"/>
          </a:xfrm>
          <a:prstGeom prst="rect">
            <a:avLst/>
          </a:prstGeom>
          <a:noFill/>
          <a:ln w="3175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Blip>
                <a:blip r:embed="rId2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363538">
              <a:spcBef>
                <a:spcPct val="20000"/>
              </a:spcBef>
              <a:buFont typeface="Wingdings" panose="05000000000000000000" pitchFamily="2" charset="2"/>
              <a:buBlip>
                <a:blip r:embed="rId3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</a:pPr>
            <a:r>
              <a:rPr lang="zh-CN" altLang="en-US"/>
              <a:t>潜在产量，即充分就业时的产量：现有资本和技术水平下，经济社会的潜在就业量所能生产的产量。</a:t>
            </a:r>
          </a:p>
        </p:txBody>
      </p:sp>
      <p:sp>
        <p:nvSpPr>
          <p:cNvPr id="8" name="Rectangle 34">
            <a:extLst>
              <a:ext uri="{FF2B5EF4-FFF2-40B4-BE49-F238E27FC236}">
                <a16:creationId xmlns:a16="http://schemas.microsoft.com/office/drawing/2014/main" id="{881D853D-E658-419F-B258-361DB199BA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1998" y="5013326"/>
            <a:ext cx="3959225" cy="1200329"/>
          </a:xfrm>
          <a:prstGeom prst="rect">
            <a:avLst/>
          </a:prstGeom>
          <a:noFill/>
          <a:ln w="3175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Clr>
                <a:schemeClr val="hlink"/>
              </a:buClr>
              <a:buSzPct val="95000"/>
              <a:buFont typeface="Wingdings" panose="05000000000000000000" pitchFamily="2" charset="2"/>
              <a:buChar char="u"/>
            </a:pPr>
            <a:r>
              <a:rPr lang="zh-CN" altLang="en-US" b="1"/>
              <a:t>古典总供给曲线的政策含义：增加需求不能增加产出，只能造成物价上涨。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C0C49A8-4201-4F57-BB4D-7E500CDAFE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1829" y="2667002"/>
            <a:ext cx="3246401" cy="3048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9189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>
            <a:extLst>
              <a:ext uri="{FF2B5EF4-FFF2-40B4-BE49-F238E27FC236}">
                <a16:creationId xmlns:a16="http://schemas.microsoft.com/office/drawing/2014/main" id="{A2C52F17-DB25-436B-892A-863A1ED7BC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ln/>
          <a:extLst>
            <a:ext uri="{91240B29-F687-4F45-9708-019B960494DF}">
              <a14:hiddenLine xmlns:a14="http://schemas.microsoft.com/office/drawing/2010/main" w="38100" cap="flat" cmpd="dbl" algn="ctr">
                <a:solidFill>
                  <a:srgbClr val="000099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r>
              <a:rPr lang="zh-CN" altLang="en-US" sz="2800" dirty="0"/>
              <a:t>凯恩斯总供给曲线</a:t>
            </a: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F01F6D89-9D25-4EA5-B3ED-DB9E904D4CF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56899" y="1341439"/>
            <a:ext cx="8280400" cy="1150937"/>
          </a:xfrm>
          <a:noFill/>
          <a:ln w="3175" cmpd="sng">
            <a:solidFill>
              <a:schemeClr val="tx1"/>
            </a:solidFill>
            <a:headEnd/>
            <a:tailEnd/>
          </a:ln>
        </p:spPr>
        <p:txBody>
          <a:bodyPr/>
          <a:lstStyle/>
          <a:p>
            <a:pPr>
              <a:buClr>
                <a:schemeClr val="hlink"/>
              </a:buClr>
              <a:buSzPct val="95000"/>
              <a:buFont typeface="Wingdings" panose="05000000000000000000" pitchFamily="2" charset="2"/>
              <a:buNone/>
            </a:pPr>
            <a:r>
              <a:rPr lang="en-US" altLang="zh-CN"/>
              <a:t>1.</a:t>
            </a:r>
            <a:r>
              <a:rPr lang="zh-CN" altLang="en-US"/>
              <a:t>货币工资的刚性：</a:t>
            </a:r>
            <a:r>
              <a:rPr lang="zh-CN" altLang="en-US" sz="2000"/>
              <a:t>工人会对工资的下降进行抵抗，工资只能上升，不能下降。但由于货币幻觉，工人会抵抗价格水平不变下的货币工资的下降，却不会抵抗货币工资不变下价格水平的提高。</a:t>
            </a:r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8562D357-A741-4C55-9FAC-70505D4697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899" y="2708276"/>
            <a:ext cx="4032250" cy="720725"/>
          </a:xfrm>
          <a:prstGeom prst="rect">
            <a:avLst/>
          </a:prstGeom>
          <a:noFill/>
          <a:ln w="3175" cap="sq" cmpd="thickThin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174625" indent="-174625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Blip>
                <a:blip r:embed="rId2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363538">
              <a:spcBef>
                <a:spcPct val="20000"/>
              </a:spcBef>
              <a:buFont typeface="Wingdings" panose="05000000000000000000" pitchFamily="2" charset="2"/>
              <a:buBlip>
                <a:blip r:embed="rId3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000" b="0"/>
              <a:t>价格水平上涨到</a:t>
            </a:r>
            <a:r>
              <a:rPr lang="en-US" altLang="zh-CN" sz="2000" b="0"/>
              <a:t>P</a:t>
            </a:r>
            <a:r>
              <a:rPr lang="en-US" altLang="zh-CN" sz="2000" b="0" baseline="-25000"/>
              <a:t>1</a:t>
            </a:r>
            <a:r>
              <a:rPr lang="zh-CN" altLang="en-US" sz="2000" b="0"/>
              <a:t>，实际工资下降到</a:t>
            </a:r>
            <a:r>
              <a:rPr lang="en-US" altLang="zh-CN" sz="2000" b="0"/>
              <a:t>W/P</a:t>
            </a:r>
            <a:r>
              <a:rPr lang="en-US" altLang="zh-CN" sz="2000" b="0" baseline="-25000"/>
              <a:t>1</a:t>
            </a:r>
            <a:r>
              <a:rPr lang="zh-CN" altLang="en-US" sz="2000" b="0"/>
              <a:t>。</a:t>
            </a:r>
          </a:p>
        </p:txBody>
      </p:sp>
      <p:sp>
        <p:nvSpPr>
          <p:cNvPr id="7" name="Rectangle 277">
            <a:extLst>
              <a:ext uri="{FF2B5EF4-FFF2-40B4-BE49-F238E27FC236}">
                <a16:creationId xmlns:a16="http://schemas.microsoft.com/office/drawing/2014/main" id="{83C8931E-D0C1-48FE-BC20-63B15E941A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899" y="4508501"/>
            <a:ext cx="4032250" cy="792163"/>
          </a:xfrm>
          <a:prstGeom prst="rect">
            <a:avLst/>
          </a:prstGeom>
          <a:noFill/>
          <a:ln w="3175" cap="sq" cmpd="thickThin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174625" indent="-174625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Blip>
                <a:blip r:embed="rId2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363538">
              <a:spcBef>
                <a:spcPct val="20000"/>
              </a:spcBef>
              <a:buFont typeface="Wingdings" panose="05000000000000000000" pitchFamily="2" charset="2"/>
              <a:buBlip>
                <a:blip r:embed="rId3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000" b="0"/>
              <a:t>价格水平下降到</a:t>
            </a:r>
            <a:r>
              <a:rPr lang="en-US" altLang="zh-CN" sz="2000" b="0"/>
              <a:t>P</a:t>
            </a:r>
            <a:r>
              <a:rPr lang="en-US" altLang="zh-CN" sz="2000" b="0" baseline="-25000"/>
              <a:t>2</a:t>
            </a:r>
            <a:r>
              <a:rPr lang="zh-CN" altLang="en-US" sz="2000" b="0"/>
              <a:t>，实际工资上涨到</a:t>
            </a:r>
            <a:r>
              <a:rPr lang="en-US" altLang="zh-CN" sz="2000" b="0"/>
              <a:t>W/P</a:t>
            </a:r>
            <a:r>
              <a:rPr lang="en-US" altLang="zh-CN" sz="2000" b="0" baseline="-25000"/>
              <a:t>2</a:t>
            </a:r>
            <a:r>
              <a:rPr lang="zh-CN" altLang="en-US" sz="2000" b="0"/>
              <a:t>。</a:t>
            </a:r>
          </a:p>
        </p:txBody>
      </p:sp>
      <p:sp>
        <p:nvSpPr>
          <p:cNvPr id="8" name="Rectangle 280">
            <a:extLst>
              <a:ext uri="{FF2B5EF4-FFF2-40B4-BE49-F238E27FC236}">
                <a16:creationId xmlns:a16="http://schemas.microsoft.com/office/drawing/2014/main" id="{363246F4-BD12-4A40-8098-1ED5EFC8FA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899" y="3429001"/>
            <a:ext cx="4032250" cy="1008063"/>
          </a:xfrm>
          <a:prstGeom prst="rect">
            <a:avLst/>
          </a:prstGeom>
          <a:noFill/>
          <a:ln w="3175" cap="sq" cmpd="thickThin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174625" indent="-174625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Blip>
                <a:blip r:embed="rId2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363538">
              <a:spcBef>
                <a:spcPct val="20000"/>
              </a:spcBef>
              <a:buFont typeface="Wingdings" panose="05000000000000000000" pitchFamily="2" charset="2"/>
              <a:buBlip>
                <a:blip r:embed="rId3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000" b="0"/>
              <a:t>劳动需求</a:t>
            </a:r>
            <a:r>
              <a:rPr lang="en-US" altLang="zh-CN" sz="2000" b="0"/>
              <a:t>&gt;</a:t>
            </a:r>
            <a:r>
              <a:rPr lang="zh-CN" altLang="en-US" sz="2000" b="0"/>
              <a:t>供给。提高工资到原实际工资</a:t>
            </a:r>
            <a:r>
              <a:rPr lang="en-US" altLang="zh-CN" sz="2000" b="0"/>
              <a:t>W/P</a:t>
            </a:r>
            <a:r>
              <a:rPr lang="en-US" altLang="zh-CN" sz="2000" b="0" baseline="-25000"/>
              <a:t>0</a:t>
            </a:r>
            <a:r>
              <a:rPr lang="zh-CN" altLang="en-US" sz="2000" b="0"/>
              <a:t>，就业为</a:t>
            </a:r>
            <a:r>
              <a:rPr lang="en-US" altLang="zh-CN" sz="2000" b="0"/>
              <a:t>N</a:t>
            </a:r>
            <a:r>
              <a:rPr lang="en-US" altLang="zh-CN" sz="2000" b="0" baseline="-25000"/>
              <a:t>0</a:t>
            </a:r>
            <a:r>
              <a:rPr lang="zh-CN" altLang="en-US" sz="2000" b="0"/>
              <a:t>。物价上涨，不影响劳动供求均衡</a:t>
            </a:r>
            <a:r>
              <a:rPr lang="en-US" altLang="zh-CN" sz="2000" b="0"/>
              <a:t>N</a:t>
            </a:r>
            <a:r>
              <a:rPr lang="en-US" altLang="zh-CN" sz="2000" b="0" baseline="-25000"/>
              <a:t>0</a:t>
            </a:r>
            <a:r>
              <a:rPr lang="zh-CN" altLang="en-US" sz="2000" b="0"/>
              <a:t>。</a:t>
            </a:r>
          </a:p>
        </p:txBody>
      </p:sp>
      <p:sp>
        <p:nvSpPr>
          <p:cNvPr id="9" name="Rectangle 281">
            <a:extLst>
              <a:ext uri="{FF2B5EF4-FFF2-40B4-BE49-F238E27FC236}">
                <a16:creationId xmlns:a16="http://schemas.microsoft.com/office/drawing/2014/main" id="{285F5FFF-B285-48A7-9FD7-D0C84A1CE7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899" y="5300664"/>
            <a:ext cx="4032250" cy="1081087"/>
          </a:xfrm>
          <a:prstGeom prst="rect">
            <a:avLst/>
          </a:prstGeom>
          <a:noFill/>
          <a:ln w="3175" cap="sq" cmpd="thickThin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174625" indent="-174625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Blip>
                <a:blip r:embed="rId2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363538">
              <a:spcBef>
                <a:spcPct val="20000"/>
              </a:spcBef>
              <a:buFont typeface="Wingdings" panose="05000000000000000000" pitchFamily="2" charset="2"/>
              <a:buBlip>
                <a:blip r:embed="rId3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000" b="0"/>
              <a:t>劳动供给</a:t>
            </a:r>
            <a:r>
              <a:rPr lang="en-US" altLang="zh-CN" sz="2000" b="0"/>
              <a:t>&gt;</a:t>
            </a:r>
            <a:r>
              <a:rPr lang="zh-CN" altLang="en-US" sz="2000" b="0"/>
              <a:t>需求，失业。实际工资太高，只能雇佣</a:t>
            </a:r>
            <a:r>
              <a:rPr lang="en-US" altLang="zh-CN" sz="2000" b="0"/>
              <a:t>N</a:t>
            </a:r>
            <a:r>
              <a:rPr lang="en-US" altLang="zh-CN" sz="2000" b="0" baseline="-25000"/>
              <a:t>2</a:t>
            </a:r>
            <a:r>
              <a:rPr lang="zh-CN" altLang="en-US" sz="2000" b="0"/>
              <a:t>。货币工资不可能降低，导致就业不均衡。</a:t>
            </a:r>
            <a:endParaRPr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65AF0523-D766-4ABA-8C63-52E02FFF1B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9969" y="2916742"/>
            <a:ext cx="3467400" cy="3040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585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52">
            <a:extLst>
              <a:ext uri="{FF2B5EF4-FFF2-40B4-BE49-F238E27FC236}">
                <a16:creationId xmlns:a16="http://schemas.microsoft.com/office/drawing/2014/main" id="{C89589E0-4E81-42E8-8BFD-ED6EA34A8F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4373" y="5229225"/>
            <a:ext cx="3887787" cy="1150938"/>
          </a:xfrm>
          <a:prstGeom prst="rect">
            <a:avLst/>
          </a:prstGeom>
          <a:noFill/>
          <a:ln w="3175" cap="sq" cmpd="thickThin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Blip>
                <a:blip r:embed="rId2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363538">
              <a:spcBef>
                <a:spcPct val="20000"/>
              </a:spcBef>
              <a:buFont typeface="Wingdings" panose="05000000000000000000" pitchFamily="2" charset="2"/>
              <a:buBlip>
                <a:blip r:embed="rId3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</a:pPr>
            <a:r>
              <a:rPr lang="zh-CN" altLang="en-US" sz="2000" b="0"/>
              <a:t>而在达到最大国民收入</a:t>
            </a:r>
            <a:r>
              <a:rPr lang="en-US" altLang="zh-CN" sz="2000" b="0"/>
              <a:t>yf</a:t>
            </a:r>
            <a:r>
              <a:rPr lang="zh-CN" altLang="en-US" sz="2000" b="0"/>
              <a:t>之后，不论价格水平高到何种程度，国民收入不会增长。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4DA554D7-31CE-41B3-81E0-57E2090134F1}"/>
              </a:ext>
            </a:extLst>
          </p:cNvPr>
          <p:cNvSpPr txBox="1">
            <a:spLocks noChangeArrowheads="1"/>
          </p:cNvSpPr>
          <p:nvPr/>
        </p:nvSpPr>
        <p:spPr>
          <a:xfrm>
            <a:off x="837404" y="400625"/>
            <a:ext cx="10515600" cy="1325563"/>
          </a:xfrm>
          <a:prstGeom prst="rect">
            <a:avLst/>
          </a:prstGeom>
          <a:ln/>
          <a:extLst>
            <a:ext uri="{91240B29-F687-4F45-9708-019B960494DF}">
              <a14:hiddenLine xmlns:a14="http://schemas.microsoft.com/office/drawing/2010/main" w="38100" cap="flat" cmpd="dbl" algn="ctr">
                <a:solidFill>
                  <a:srgbClr val="000099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dirty="0"/>
              <a:t>凯恩斯总供给曲线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4661EAC3-80E1-4D71-AA4E-C5C2FCC1EB2F}"/>
              </a:ext>
            </a:extLst>
          </p:cNvPr>
          <p:cNvSpPr txBox="1">
            <a:spLocks noChangeArrowheads="1"/>
          </p:cNvSpPr>
          <p:nvPr/>
        </p:nvSpPr>
        <p:spPr>
          <a:xfrm>
            <a:off x="951164" y="1373935"/>
            <a:ext cx="8280400" cy="647700"/>
          </a:xfrm>
          <a:prstGeom prst="rect">
            <a:avLst/>
          </a:prstGeom>
          <a:noFill/>
          <a:ln w="3175" cmpd="sng">
            <a:solidFill>
              <a:schemeClr val="tx1"/>
            </a:solidFill>
            <a:headEnd/>
            <a:tailEnd/>
          </a:ln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hlink"/>
              </a:buClr>
              <a:buSzPct val="95000"/>
              <a:buFont typeface="Wingdings" panose="05000000000000000000" pitchFamily="2" charset="2"/>
              <a:buChar char="u"/>
            </a:pPr>
            <a:r>
              <a:rPr lang="zh-CN" altLang="en-US" dirty="0"/>
              <a:t>凯恩斯总供给曲线：由垂直和水平线组成的“反</a:t>
            </a:r>
            <a:r>
              <a:rPr lang="en-US" altLang="zh-CN" dirty="0"/>
              <a:t>L”</a:t>
            </a:r>
            <a:r>
              <a:rPr lang="zh-CN" altLang="en-US" dirty="0"/>
              <a:t>曲线。</a:t>
            </a:r>
          </a:p>
        </p:txBody>
      </p:sp>
      <p:sp>
        <p:nvSpPr>
          <p:cNvPr id="11" name="Rectangle 250">
            <a:extLst>
              <a:ext uri="{FF2B5EF4-FFF2-40B4-BE49-F238E27FC236}">
                <a16:creationId xmlns:a16="http://schemas.microsoft.com/office/drawing/2014/main" id="{135080D4-26B4-4A43-B383-2C72EFC522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3577" y="2240538"/>
            <a:ext cx="3887787" cy="1871662"/>
          </a:xfrm>
          <a:prstGeom prst="rect">
            <a:avLst/>
          </a:prstGeom>
          <a:noFill/>
          <a:ln w="3175" cap="sq" cmpd="thickThin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Blip>
                <a:blip r:embed="rId2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363538">
              <a:spcBef>
                <a:spcPct val="20000"/>
              </a:spcBef>
              <a:buFont typeface="Wingdings" panose="05000000000000000000" pitchFamily="2" charset="2"/>
              <a:buBlip>
                <a:blip r:embed="rId3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</a:pPr>
            <a:r>
              <a:rPr lang="zh-CN" altLang="en-US" sz="2000" b="0" dirty="0"/>
              <a:t>假设：货币工资和价格水平不能进行调整。</a:t>
            </a:r>
          </a:p>
          <a:p>
            <a:pPr>
              <a:lnSpc>
                <a:spcPct val="110000"/>
              </a:lnSpc>
            </a:pPr>
            <a:r>
              <a:rPr lang="zh-CN" altLang="en-US" sz="2000" b="0" dirty="0"/>
              <a:t>萧条时，劳动力和资本大量闲置。收入增长，货币工资和物价水平保持不变。</a:t>
            </a:r>
          </a:p>
        </p:txBody>
      </p:sp>
      <p:sp>
        <p:nvSpPr>
          <p:cNvPr id="13" name="Rectangle 251">
            <a:extLst>
              <a:ext uri="{FF2B5EF4-FFF2-40B4-BE49-F238E27FC236}">
                <a16:creationId xmlns:a16="http://schemas.microsoft.com/office/drawing/2014/main" id="{1207AE0D-7705-4FF8-A759-ACBEC26888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3577" y="4112201"/>
            <a:ext cx="3887787" cy="1152525"/>
          </a:xfrm>
          <a:prstGeom prst="rect">
            <a:avLst/>
          </a:prstGeom>
          <a:noFill/>
          <a:ln w="3175" cap="sq" cmpd="thickThin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Blip>
                <a:blip r:embed="rId2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363538">
              <a:spcBef>
                <a:spcPct val="20000"/>
              </a:spcBef>
              <a:buFont typeface="Wingdings" panose="05000000000000000000" pitchFamily="2" charset="2"/>
              <a:buBlip>
                <a:blip r:embed="rId3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</a:pPr>
            <a:r>
              <a:rPr lang="zh-CN" altLang="en-US" sz="2000" b="0"/>
              <a:t>在到达充分就业国民收入前，能以不变价格水平，提供任何数量的国民收入。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8EC555D0-A5B5-4D92-AF1A-6AD0584546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4298" y="2240538"/>
            <a:ext cx="3596952" cy="3368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64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5">
            <a:extLst>
              <a:ext uri="{FF2B5EF4-FFF2-40B4-BE49-F238E27FC236}">
                <a16:creationId xmlns:a16="http://schemas.microsoft.com/office/drawing/2014/main" id="{40E21CC4-BD41-45C8-B302-86FE3D9B82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2557" y="365125"/>
            <a:ext cx="10515600" cy="1325563"/>
          </a:xfrm>
          <a:ln/>
          <a:extLst>
            <a:ext uri="{91240B29-F687-4F45-9708-019B960494DF}">
              <a14:hiddenLine xmlns:a14="http://schemas.microsoft.com/office/drawing/2010/main" w="38100" cap="flat" cmpd="dbl" algn="ctr">
                <a:solidFill>
                  <a:srgbClr val="000099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r>
              <a:rPr lang="zh-CN" altLang="en-US" sz="2800" dirty="0"/>
              <a:t>常规总供给曲线</a:t>
            </a: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860BCAB4-99AD-430C-BB28-D1387694F76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54176" y="1341438"/>
            <a:ext cx="3743325" cy="1439862"/>
          </a:xfrm>
          <a:noFill/>
          <a:ln w="3175" cmpd="dbl">
            <a:solidFill>
              <a:schemeClr val="tx1"/>
            </a:solidFill>
          </a:ln>
        </p:spPr>
        <p:txBody>
          <a:bodyPr>
            <a:normAutofit fontScale="92500"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800" dirty="0"/>
              <a:t>1.</a:t>
            </a:r>
            <a:r>
              <a:rPr lang="zh-CN" altLang="en-US" sz="2800" dirty="0"/>
              <a:t>常规总供给曲线</a:t>
            </a:r>
          </a:p>
          <a:p>
            <a:pPr>
              <a:buClr>
                <a:srgbClr val="336600"/>
              </a:buClr>
              <a:buSzPct val="95000"/>
              <a:buFont typeface="Wingdings" panose="05000000000000000000" pitchFamily="2" charset="2"/>
              <a:buChar char="p"/>
            </a:pPr>
            <a:r>
              <a:rPr lang="zh-CN" altLang="en-US" dirty="0"/>
              <a:t>常规下，短期总供给曲线位于两个极端之间。</a:t>
            </a:r>
          </a:p>
        </p:txBody>
      </p:sp>
      <p:sp>
        <p:nvSpPr>
          <p:cNvPr id="11" name="Rectangle 28">
            <a:extLst>
              <a:ext uri="{FF2B5EF4-FFF2-40B4-BE49-F238E27FC236}">
                <a16:creationId xmlns:a16="http://schemas.microsoft.com/office/drawing/2014/main" id="{78B24CB9-123E-4198-8E27-4F009ED9C8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76" y="2854325"/>
            <a:ext cx="3743325" cy="1727200"/>
          </a:xfrm>
          <a:prstGeom prst="rect">
            <a:avLst/>
          </a:prstGeom>
          <a:noFill/>
          <a:ln w="3175" cap="sq" cmpd="tri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174625" indent="-174625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Blip>
                <a:blip r:embed="rId2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363538">
              <a:spcBef>
                <a:spcPct val="20000"/>
              </a:spcBef>
              <a:buFont typeface="Wingdings" panose="05000000000000000000" pitchFamily="2" charset="2"/>
              <a:buBlip>
                <a:blip r:embed="rId3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Clr>
                <a:srgbClr val="336600"/>
              </a:buClr>
              <a:buSzPct val="95000"/>
              <a:buFont typeface="Wingdings" panose="05000000000000000000" pitchFamily="2" charset="2"/>
              <a:buChar char="l"/>
            </a:pPr>
            <a:r>
              <a:rPr lang="en-US" altLang="zh-CN" dirty="0"/>
              <a:t>AA</a:t>
            </a:r>
            <a:r>
              <a:rPr lang="zh-CN" altLang="en-US" dirty="0"/>
              <a:t>：古典总供给曲线</a:t>
            </a:r>
          </a:p>
        </p:txBody>
      </p:sp>
      <p:sp>
        <p:nvSpPr>
          <p:cNvPr id="12" name="Rectangle 29">
            <a:extLst>
              <a:ext uri="{FF2B5EF4-FFF2-40B4-BE49-F238E27FC236}">
                <a16:creationId xmlns:a16="http://schemas.microsoft.com/office/drawing/2014/main" id="{959E2F4C-01C6-41E4-B469-0FB3076310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76" y="3502025"/>
            <a:ext cx="3743325" cy="1079500"/>
          </a:xfrm>
          <a:prstGeom prst="rect">
            <a:avLst/>
          </a:prstGeom>
          <a:noFill/>
          <a:ln w="3175" cap="sq" cmpd="tri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174625" indent="-174625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Blip>
                <a:blip r:embed="rId2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363538">
              <a:spcBef>
                <a:spcPct val="20000"/>
              </a:spcBef>
              <a:buFont typeface="Wingdings" panose="05000000000000000000" pitchFamily="2" charset="2"/>
              <a:buBlip>
                <a:blip r:embed="rId3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Clr>
                <a:srgbClr val="336600"/>
              </a:buClr>
              <a:buSzPct val="95000"/>
              <a:buFont typeface="Wingdings" panose="05000000000000000000" pitchFamily="2" charset="2"/>
              <a:buChar char="l"/>
            </a:pPr>
            <a:r>
              <a:rPr lang="en-US" altLang="zh-CN" dirty="0"/>
              <a:t>BB</a:t>
            </a:r>
            <a:r>
              <a:rPr lang="zh-CN" altLang="en-US" dirty="0"/>
              <a:t>：凯恩斯总供给曲线</a:t>
            </a:r>
          </a:p>
        </p:txBody>
      </p:sp>
      <p:sp>
        <p:nvSpPr>
          <p:cNvPr id="13" name="Rectangle 30">
            <a:extLst>
              <a:ext uri="{FF2B5EF4-FFF2-40B4-BE49-F238E27FC236}">
                <a16:creationId xmlns:a16="http://schemas.microsoft.com/office/drawing/2014/main" id="{05166E97-C5D3-47FD-9EBD-B9FDE2302C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76" y="4078289"/>
            <a:ext cx="3743325" cy="503237"/>
          </a:xfrm>
          <a:prstGeom prst="rect">
            <a:avLst/>
          </a:prstGeom>
          <a:noFill/>
          <a:ln w="3175" cap="sq" cmpd="tri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174625" indent="-174625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Blip>
                <a:blip r:embed="rId2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363538">
              <a:spcBef>
                <a:spcPct val="20000"/>
              </a:spcBef>
              <a:buFont typeface="Wingdings" panose="05000000000000000000" pitchFamily="2" charset="2"/>
              <a:buBlip>
                <a:blip r:embed="rId3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Clr>
                <a:srgbClr val="336600"/>
              </a:buClr>
              <a:buSzPct val="95000"/>
              <a:buFont typeface="Wingdings" panose="05000000000000000000" pitchFamily="2" charset="2"/>
              <a:buChar char="l"/>
            </a:pPr>
            <a:r>
              <a:rPr lang="en-US" altLang="zh-CN" dirty="0"/>
              <a:t>CC</a:t>
            </a:r>
            <a:r>
              <a:rPr lang="zh-CN" altLang="en-US" dirty="0"/>
              <a:t>：常规总供给曲线</a:t>
            </a:r>
          </a:p>
        </p:txBody>
      </p:sp>
      <p:sp>
        <p:nvSpPr>
          <p:cNvPr id="14" name="Rectangle 31">
            <a:extLst>
              <a:ext uri="{FF2B5EF4-FFF2-40B4-BE49-F238E27FC236}">
                <a16:creationId xmlns:a16="http://schemas.microsoft.com/office/drawing/2014/main" id="{AAFB12EB-D099-4593-97C8-66EB1AB658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76" y="4652963"/>
            <a:ext cx="3743325" cy="1657350"/>
          </a:xfrm>
          <a:prstGeom prst="rect">
            <a:avLst/>
          </a:prstGeom>
          <a:noFill/>
          <a:ln w="3175" cap="sq" cmpd="tri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174625" indent="-174625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Blip>
                <a:blip r:embed="rId2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363538">
              <a:spcBef>
                <a:spcPct val="20000"/>
              </a:spcBef>
              <a:buFont typeface="Wingdings" panose="05000000000000000000" pitchFamily="2" charset="2"/>
              <a:buBlip>
                <a:blip r:embed="rId3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Clr>
                <a:srgbClr val="336600"/>
              </a:buClr>
              <a:buSzPct val="95000"/>
              <a:buFont typeface="Wingdings" panose="05000000000000000000" pitchFamily="2" charset="2"/>
              <a:buChar char="l"/>
            </a:pPr>
            <a:r>
              <a:rPr lang="zh-CN" altLang="en-US" dirty="0"/>
              <a:t>常规总供给曲线</a:t>
            </a:r>
            <a:r>
              <a:rPr lang="en-US" altLang="zh-CN" dirty="0"/>
              <a:t>CC</a:t>
            </a:r>
            <a:r>
              <a:rPr lang="zh-CN" altLang="en-US" dirty="0"/>
              <a:t>位于两个极端之间。</a:t>
            </a:r>
          </a:p>
          <a:p>
            <a:pPr>
              <a:buClr>
                <a:srgbClr val="336600"/>
              </a:buClr>
              <a:buSzPct val="95000"/>
              <a:buFont typeface="Wingdings" panose="05000000000000000000" pitchFamily="2" charset="2"/>
              <a:buChar char="l"/>
            </a:pPr>
            <a:r>
              <a:rPr lang="zh-CN" altLang="en-US" dirty="0"/>
              <a:t>普通的常规总供给曲线为</a:t>
            </a:r>
            <a:r>
              <a:rPr lang="en-US" altLang="zh-CN" dirty="0"/>
              <a:t>C’C’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7D646B8E-8A6F-4292-86EC-A3F2D7C03D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5339" y="1215827"/>
            <a:ext cx="4084674" cy="4572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5646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2">
            <a:extLst>
              <a:ext uri="{FF2B5EF4-FFF2-40B4-BE49-F238E27FC236}">
                <a16:creationId xmlns:a16="http://schemas.microsoft.com/office/drawing/2014/main" id="{CA6110EC-267A-48E1-8F6C-AA115C0EDA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ln/>
          <a:extLst>
            <a:ext uri="{91240B29-F687-4F45-9708-019B960494DF}">
              <a14:hiddenLine xmlns:a14="http://schemas.microsoft.com/office/drawing/2010/main" w="38100" cap="flat" cmpd="dbl" algn="ctr">
                <a:solidFill>
                  <a:srgbClr val="000099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r>
              <a:rPr lang="zh-CN" altLang="en-US" sz="2800" dirty="0"/>
              <a:t>常规总供给曲线的特点</a:t>
            </a:r>
          </a:p>
        </p:txBody>
      </p:sp>
      <p:sp>
        <p:nvSpPr>
          <p:cNvPr id="5" name="Rectangle 23">
            <a:extLst>
              <a:ext uri="{FF2B5EF4-FFF2-40B4-BE49-F238E27FC236}">
                <a16:creationId xmlns:a16="http://schemas.microsoft.com/office/drawing/2014/main" id="{60889079-26AF-4FCA-A1FC-FCD81586C50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09818" y="1341438"/>
            <a:ext cx="3816350" cy="1655762"/>
          </a:xfrm>
          <a:ln>
            <a:headEnd/>
            <a:tailEnd/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C</a:t>
            </a:r>
            <a:r>
              <a:rPr lang="en-US" altLang="zh-CN" b="0" baseline="-25000" dirty="0"/>
              <a:t>1</a:t>
            </a:r>
            <a:r>
              <a:rPr lang="zh-CN" altLang="en-US" dirty="0"/>
              <a:t>点：严重萧条。存在大量失业和闲置生产能力，当国民收入增加时，价格水平稍微上升。</a:t>
            </a:r>
          </a:p>
        </p:txBody>
      </p:sp>
      <p:sp>
        <p:nvSpPr>
          <p:cNvPr id="6" name="Rectangle 27">
            <a:extLst>
              <a:ext uri="{FF2B5EF4-FFF2-40B4-BE49-F238E27FC236}">
                <a16:creationId xmlns:a16="http://schemas.microsoft.com/office/drawing/2014/main" id="{3B696040-BD6A-4C6E-BAAD-3418D601A3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9818" y="3068639"/>
            <a:ext cx="3816350" cy="1296987"/>
          </a:xfrm>
          <a:prstGeom prst="rect">
            <a:avLst/>
          </a:prstGeom>
          <a:noFill/>
          <a:ln w="3175" cap="sq" cmpd="thickThin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/>
          <a:lstStyle>
            <a:lvl1pPr marL="174625" indent="-174625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Blip>
                <a:blip r:embed="rId2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363538">
              <a:spcBef>
                <a:spcPct val="20000"/>
              </a:spcBef>
              <a:buFont typeface="Wingdings" panose="05000000000000000000" pitchFamily="2" charset="2"/>
              <a:buBlip>
                <a:blip r:embed="rId3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/>
              <a:t>E</a:t>
            </a:r>
            <a:r>
              <a:rPr lang="zh-CN" altLang="en-US" dirty="0"/>
              <a:t>点：充分就业水平。但并不意味着整个社会的全部资源都已经就业。</a:t>
            </a:r>
          </a:p>
        </p:txBody>
      </p:sp>
      <p:sp>
        <p:nvSpPr>
          <p:cNvPr id="7" name="Rectangle 28">
            <a:extLst>
              <a:ext uri="{FF2B5EF4-FFF2-40B4-BE49-F238E27FC236}">
                <a16:creationId xmlns:a16="http://schemas.microsoft.com/office/drawing/2014/main" id="{502EB1CC-2884-42C2-9C87-79B10423A7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9818" y="4437063"/>
            <a:ext cx="3816350" cy="1655762"/>
          </a:xfrm>
          <a:prstGeom prst="rect">
            <a:avLst/>
          </a:prstGeom>
          <a:noFill/>
          <a:ln w="3175" cap="sq" cmpd="thickThin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/>
          <a:lstStyle>
            <a:lvl1pPr marL="174625" indent="-174625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Blip>
                <a:blip r:embed="rId2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363538">
              <a:spcBef>
                <a:spcPct val="20000"/>
              </a:spcBef>
              <a:buFont typeface="Wingdings" panose="05000000000000000000" pitchFamily="2" charset="2"/>
              <a:buBlip>
                <a:blip r:embed="rId3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/>
              <a:t>C</a:t>
            </a:r>
            <a:r>
              <a:rPr lang="en-US" altLang="zh-CN" b="0" baseline="-25000" dirty="0"/>
              <a:t>2</a:t>
            </a:r>
            <a:r>
              <a:rPr lang="zh-CN" altLang="en-US" dirty="0"/>
              <a:t>点：如果产出继续增加，价格水平上升的就会很快。曲线的斜率越来越大。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CC40778-4897-4CA8-BD4B-FFA367D362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2967" y="1249491"/>
            <a:ext cx="3985605" cy="4359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7992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536EA66C-0A32-4F48-AAF0-1F506BC619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ln/>
          <a:extLst>
            <a:ext uri="{91240B29-F687-4F45-9708-019B960494DF}">
              <a14:hiddenLine xmlns:a14="http://schemas.microsoft.com/office/drawing/2010/main" w="38100" cap="flat" cmpd="dbl" algn="ctr">
                <a:solidFill>
                  <a:srgbClr val="000099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r>
              <a:rPr lang="en-US" altLang="zh-CN" sz="3200" dirty="0"/>
              <a:t>AD-AS</a:t>
            </a:r>
            <a:r>
              <a:rPr lang="zh-CN" altLang="en-US" sz="3200" dirty="0"/>
              <a:t>模型对现实的解释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632100F6-8D71-4C4C-983C-0A37E7122E2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44449" y="1983464"/>
            <a:ext cx="6696075" cy="647700"/>
          </a:xfrm>
          <a:noFill/>
          <a:ln w="3175">
            <a:solidFill>
              <a:schemeClr val="tx1"/>
            </a:solidFill>
          </a:ln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800" b="0"/>
              <a:t>1.</a:t>
            </a:r>
            <a:r>
              <a:rPr lang="zh-CN" altLang="en-US" sz="2800" b="0"/>
              <a:t>宏观经济的短期目标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8C0E165A-6E15-4F57-9E95-876FCD16E0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5885" y="4502826"/>
            <a:ext cx="3671888" cy="935038"/>
          </a:xfrm>
          <a:prstGeom prst="rect">
            <a:avLst/>
          </a:prstGeom>
          <a:noFill/>
          <a:ln w="3175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174625" indent="-174625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Blip>
                <a:blip r:embed="rId2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363538">
              <a:spcBef>
                <a:spcPct val="20000"/>
              </a:spcBef>
              <a:buFont typeface="Wingdings" panose="05000000000000000000" pitchFamily="2" charset="2"/>
              <a:buBlip>
                <a:blip r:embed="rId3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hlink"/>
              </a:buClr>
              <a:buSzPct val="95000"/>
              <a:buFont typeface="Wingdings" panose="05000000000000000000" pitchFamily="2" charset="2"/>
              <a:buChar char="u"/>
            </a:pP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短期的宏观经济目标：充分就业和物价稳定。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EEF14F4-CFB9-49F7-B130-51A1B3FA3A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5045" y="2764265"/>
            <a:ext cx="3492279" cy="3150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0037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84E36C2C-95DD-41D6-93BF-E1F61A3267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1543" y="365125"/>
            <a:ext cx="10515600" cy="1325563"/>
          </a:xfrm>
          <a:ln/>
          <a:extLst>
            <a:ext uri="{91240B29-F687-4F45-9708-019B960494DF}">
              <a14:hiddenLine xmlns:a14="http://schemas.microsoft.com/office/drawing/2010/main" w="38100" cap="flat" cmpd="dbl" algn="ctr">
                <a:solidFill>
                  <a:srgbClr val="000099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r>
              <a:rPr lang="zh-CN" altLang="en-US" sz="2800" dirty="0"/>
              <a:t>常规总供给曲线下总需求的移动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69292757-1BF3-4460-8E15-9FB3A9FE287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16822" y="1844675"/>
            <a:ext cx="3455987" cy="1944688"/>
          </a:xfrm>
          <a:noFill/>
          <a:ln w="3175">
            <a:solidFill>
              <a:schemeClr val="tx1"/>
            </a:solidFill>
          </a:ln>
        </p:spPr>
        <p:txBody>
          <a:bodyPr/>
          <a:lstStyle/>
          <a:p>
            <a:r>
              <a:rPr lang="zh-CN" altLang="en-US" b="0" dirty="0"/>
              <a:t>投资减少，</a:t>
            </a:r>
            <a:r>
              <a:rPr lang="en-US" altLang="zh-CN" b="0" dirty="0"/>
              <a:t>AD</a:t>
            </a:r>
            <a:r>
              <a:rPr lang="zh-CN" altLang="en-US" b="0" dirty="0"/>
              <a:t>左移。</a:t>
            </a:r>
          </a:p>
          <a:p>
            <a:r>
              <a:rPr lang="zh-CN" altLang="en-US" b="0" dirty="0"/>
              <a:t>表明：经济萧条。就业和价格水平都低于充分就业。</a:t>
            </a:r>
          </a:p>
        </p:txBody>
      </p:sp>
      <p:sp>
        <p:nvSpPr>
          <p:cNvPr id="6" name="Rectangle 32">
            <a:extLst>
              <a:ext uri="{FF2B5EF4-FFF2-40B4-BE49-F238E27FC236}">
                <a16:creationId xmlns:a16="http://schemas.microsoft.com/office/drawing/2014/main" id="{DDD63C21-EF7A-4D9B-9E25-1AFF996973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822" y="4508501"/>
            <a:ext cx="3455987" cy="1368425"/>
          </a:xfrm>
          <a:prstGeom prst="rect">
            <a:avLst/>
          </a:prstGeom>
          <a:noFill/>
          <a:ln w="3175" cap="sq" cmpd="thickThin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174625" indent="-174625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Blip>
                <a:blip r:embed="rId2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363538">
              <a:spcBef>
                <a:spcPct val="20000"/>
              </a:spcBef>
              <a:buFont typeface="Wingdings" panose="05000000000000000000" pitchFamily="2" charset="2"/>
              <a:buBlip>
                <a:blip r:embed="rId3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0"/>
              <a:t>但是，价格下降幅度越来越小于收入下降的幅度。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50B37D2-00E8-434D-B175-B5F1D714A6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3559" y="1815114"/>
            <a:ext cx="4214225" cy="4061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4368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2F86457D-A509-4CEA-9DF7-E6F045930C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ln/>
          <a:extLst>
            <a:ext uri="{91240B29-F687-4F45-9708-019B960494DF}">
              <a14:hiddenLine xmlns:a14="http://schemas.microsoft.com/office/drawing/2010/main" w="38100" cap="flat" cmpd="dbl" algn="ctr">
                <a:solidFill>
                  <a:srgbClr val="000099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r>
              <a:rPr lang="zh-CN" altLang="en-US" sz="3200" dirty="0"/>
              <a:t>常规总供给曲线的移动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6DA8E5EC-20C4-4B54-BFB8-04AD57982EB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31998" y="1916114"/>
            <a:ext cx="3455987" cy="1800225"/>
          </a:xfrm>
          <a:ln>
            <a:headEnd/>
            <a:tailEnd/>
          </a:ln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由于某种原因。 </a:t>
            </a:r>
            <a:r>
              <a:rPr lang="en-US" altLang="zh-CN" dirty="0"/>
              <a:t>AS</a:t>
            </a:r>
            <a:r>
              <a:rPr lang="zh-CN" altLang="en-US" dirty="0"/>
              <a:t>左移。</a:t>
            </a:r>
          </a:p>
          <a:p>
            <a:pPr marL="0" indent="0">
              <a:buNone/>
            </a:pPr>
            <a:r>
              <a:rPr lang="zh-CN" altLang="en-US" dirty="0"/>
              <a:t>如：粮食歉收、石油涨价。</a:t>
            </a:r>
          </a:p>
        </p:txBody>
      </p:sp>
      <p:sp>
        <p:nvSpPr>
          <p:cNvPr id="6" name="Rectangle 33">
            <a:extLst>
              <a:ext uri="{FF2B5EF4-FFF2-40B4-BE49-F238E27FC236}">
                <a16:creationId xmlns:a16="http://schemas.microsoft.com/office/drawing/2014/main" id="{D9A5F4F4-6835-475D-8541-3D04B08D7C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1998" y="4221164"/>
            <a:ext cx="3455987" cy="1368425"/>
          </a:xfrm>
          <a:prstGeom prst="rect">
            <a:avLst/>
          </a:prstGeom>
          <a:noFill/>
          <a:ln w="3175" cap="sq" cmpd="thickThin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/>
          <a:lstStyle>
            <a:lvl1pPr marL="174625" indent="-174625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Blip>
                <a:blip r:embed="rId2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363538">
              <a:spcBef>
                <a:spcPct val="20000"/>
              </a:spcBef>
              <a:buFont typeface="Wingdings" panose="05000000000000000000" pitchFamily="2" charset="2"/>
              <a:buBlip>
                <a:blip r:embed="rId3"/>
              </a:buBlip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b="0" dirty="0"/>
              <a:t>E2</a:t>
            </a:r>
            <a:r>
              <a:rPr lang="zh-CN" altLang="en-US" dirty="0"/>
              <a:t>表示滞胀。</a:t>
            </a:r>
          </a:p>
          <a:p>
            <a:r>
              <a:rPr lang="zh-CN" altLang="en-US" dirty="0"/>
              <a:t>失业与通货膨胀并存。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9A9064C-E861-47AD-8024-60951A56DE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3606" y="1642087"/>
            <a:ext cx="3825572" cy="3947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426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自定义 1">
      <a:dk1>
        <a:srgbClr val="FFFFFF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3">
      <a:majorFont>
        <a:latin typeface="等线 Light"/>
        <a:ea typeface="微软雅黑"/>
        <a:cs typeface=""/>
      </a:majorFont>
      <a:minorFont>
        <a:latin typeface="等线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342</TotalTime>
  <Words>1086</Words>
  <Application>Microsoft Office PowerPoint</Application>
  <PresentationFormat>宽屏</PresentationFormat>
  <Paragraphs>85</Paragraphs>
  <Slides>18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6" baseType="lpstr">
      <vt:lpstr>等线</vt:lpstr>
      <vt:lpstr>等线 Light</vt:lpstr>
      <vt:lpstr>黑体</vt:lpstr>
      <vt:lpstr>Arial</vt:lpstr>
      <vt:lpstr>Times New Roman</vt:lpstr>
      <vt:lpstr>Wingdings</vt:lpstr>
      <vt:lpstr>Office 主题​​</vt:lpstr>
      <vt:lpstr>Equation</vt:lpstr>
      <vt:lpstr>总需求—总供给模型</vt:lpstr>
      <vt:lpstr>PowerPoint 演示文稿</vt:lpstr>
      <vt:lpstr>总需求曲线图示</vt:lpstr>
      <vt:lpstr>总需求AD曲线的推导图示</vt:lpstr>
      <vt:lpstr>AD曲线的经济含义</vt:lpstr>
      <vt:lpstr>扩张性财政政策对AD的影响</vt:lpstr>
      <vt:lpstr>总供给的一般说明AS Aggregate supply </vt:lpstr>
      <vt:lpstr>劳动市场</vt:lpstr>
      <vt:lpstr>劳动市场的均衡</vt:lpstr>
      <vt:lpstr>古典总供给曲线</vt:lpstr>
      <vt:lpstr>潜在（充分）就业量</vt:lpstr>
      <vt:lpstr>凯恩斯总供给曲线</vt:lpstr>
      <vt:lpstr>PowerPoint 演示文稿</vt:lpstr>
      <vt:lpstr>常规总供给曲线</vt:lpstr>
      <vt:lpstr>常规总供给曲线的特点</vt:lpstr>
      <vt:lpstr>AD-AS模型对现实的解释</vt:lpstr>
      <vt:lpstr>常规总供给曲线下总需求的移动</vt:lpstr>
      <vt:lpstr>常规总供给曲线的移动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第五章 总需求—总供给模型</dc:title>
  <dc:creator>984071643@qq.com</dc:creator>
  <cp:lastModifiedBy> </cp:lastModifiedBy>
  <cp:revision>23</cp:revision>
  <dcterms:created xsi:type="dcterms:W3CDTF">2018-03-14T08:06:29Z</dcterms:created>
  <dcterms:modified xsi:type="dcterms:W3CDTF">2020-11-11T12:57:56Z</dcterms:modified>
</cp:coreProperties>
</file>