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72" r:id="rId6"/>
    <p:sldId id="260" r:id="rId7"/>
    <p:sldId id="271" r:id="rId8"/>
    <p:sldId id="273" r:id="rId9"/>
    <p:sldId id="275"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76" r:id="rId24"/>
    <p:sldId id="290" r:id="rId25"/>
    <p:sldId id="274"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16491B-8199-40AF-978B-E8BA8E75D7F4}" type="datetimeFigureOut">
              <a:rPr lang="zh-CN" altLang="en-US" smtClean="0"/>
              <a:t>2020/11/20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7F23A-F890-46C3-BC54-24DCA9818FE3}" type="slidenum">
              <a:rPr lang="zh-CN" altLang="en-US" smtClean="0"/>
              <a:t>‹#›</a:t>
            </a:fld>
            <a:endParaRPr lang="zh-CN" altLang="en-US"/>
          </a:p>
        </p:txBody>
      </p:sp>
    </p:spTree>
    <p:extLst>
      <p:ext uri="{BB962C8B-B14F-4D97-AF65-F5344CB8AC3E}">
        <p14:creationId xmlns:p14="http://schemas.microsoft.com/office/powerpoint/2010/main" val="317874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0A7F23A-F890-46C3-BC54-24DCA9818FE3}" type="slidenum">
              <a:rPr lang="zh-CN" altLang="en-US" smtClean="0"/>
              <a:t>4</a:t>
            </a:fld>
            <a:endParaRPr lang="zh-CN" altLang="en-US"/>
          </a:p>
        </p:txBody>
      </p:sp>
    </p:spTree>
    <p:extLst>
      <p:ext uri="{BB962C8B-B14F-4D97-AF65-F5344CB8AC3E}">
        <p14:creationId xmlns:p14="http://schemas.microsoft.com/office/powerpoint/2010/main" val="2423947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E8E53-7B74-4E3C-8E97-EBDCF546BF1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CC2B6F2-ADF4-44DA-A8FE-AB795BEE3A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ABDCBB3-E2C8-4D68-AAD4-8368AD4716E5}"/>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5EE7752B-6558-4173-817C-6F3C37D937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04BEDB-688C-4DC7-A2EF-B85482BB2FA2}"/>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2372861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7EE51C-D17F-4E94-AE3A-51099C76D451}"/>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19961258-2785-408B-B681-061A8AA1B924}"/>
              </a:ext>
            </a:extLst>
          </p:cNvPr>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2DB5950B-B656-46BB-AE6B-323DA3B63493}"/>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3722FAE9-6296-4A25-95A5-B509BADE4F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4D74AB-148C-4A0A-B19F-651A5CADD9DD}"/>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1310168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AC011D-9BED-457A-A4F6-476BDDB47B7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F82787B-D2BF-4AFE-AC63-5840C01404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1C9B685-3BFE-49F4-8D95-A996A54CAD25}"/>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B5A37240-8701-4A62-9507-B9FF9D35E2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532A4F-8B7E-4571-9599-3FC711ABFD7E}"/>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1145869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F89A77-4024-49BA-8ECE-687D82CD70F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3C78CB-9E5F-4CC5-991E-9DDFB1F8503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FED8F52-21A9-4022-A003-D418C5D67FD9}"/>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144D55B4-22A8-44AE-B892-9E38D03A3D29}"/>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6" name="页脚占位符 5">
            <a:extLst>
              <a:ext uri="{FF2B5EF4-FFF2-40B4-BE49-F238E27FC236}">
                <a16:creationId xmlns:a16="http://schemas.microsoft.com/office/drawing/2014/main" id="{AC508CDF-1742-4847-B467-A4ECCB7DB42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A75C5E1-8C29-48CD-94F4-A6F405A67FA3}"/>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1595943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B258FF-A898-47DA-9F93-6D07094740C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3045FF-E71E-45B0-9951-B4858250C0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0B56CAB-EC72-48DB-A272-26E285363DBB}"/>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4F078D3-399B-4E53-B135-4EC07C23B0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965BE09-694A-46BC-9B26-6875BB34721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CA33E1B1-94B1-4F8D-93FD-83911527C2A7}"/>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8" name="页脚占位符 7">
            <a:extLst>
              <a:ext uri="{FF2B5EF4-FFF2-40B4-BE49-F238E27FC236}">
                <a16:creationId xmlns:a16="http://schemas.microsoft.com/office/drawing/2014/main" id="{78C207DC-B67F-4F99-A0B3-FD6867A1679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DE72F6-3861-429E-A28B-B3A497AA0358}"/>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4164736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C44648-702A-4F03-971C-E6E0D00C514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A30DBAC-C69C-40C9-8FB8-7682629C52CA}"/>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4" name="页脚占位符 3">
            <a:extLst>
              <a:ext uri="{FF2B5EF4-FFF2-40B4-BE49-F238E27FC236}">
                <a16:creationId xmlns:a16="http://schemas.microsoft.com/office/drawing/2014/main" id="{A5F66F7B-BA09-46DC-8137-DEECFAB1D4D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90EA935-1C9D-4F44-9BF6-BD9732870400}"/>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2055098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8D73C2E-3A3E-426F-A6B4-C164CB2A50E8}"/>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3" name="页脚占位符 2">
            <a:extLst>
              <a:ext uri="{FF2B5EF4-FFF2-40B4-BE49-F238E27FC236}">
                <a16:creationId xmlns:a16="http://schemas.microsoft.com/office/drawing/2014/main" id="{BCDF92B9-7616-4F10-9432-8A0DC87AF36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83EC722-67F6-4BE7-8202-A24620C971BB}"/>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494307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488B1-8355-4DA9-BEC2-A5A56D488BC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2631465-B857-4E84-A13F-E3196C431D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2B5FA87-D4EF-45BF-96DF-2664B32CCF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DCE8354-1A94-44FB-865C-24959519A5FD}"/>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6" name="页脚占位符 5">
            <a:extLst>
              <a:ext uri="{FF2B5EF4-FFF2-40B4-BE49-F238E27FC236}">
                <a16:creationId xmlns:a16="http://schemas.microsoft.com/office/drawing/2014/main" id="{F2A56183-DF11-4E1E-98DA-994FFA2FB1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254EA3-3F5A-42CD-8989-11B79C0D6440}"/>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2635007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C3A0E1-37CE-4F54-8425-FDB6E6A910E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9074222-9CB6-49AC-9242-BDA741DBBD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61F11AB-A3AA-4B22-86D8-ECA212DF9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7F9A67-B49E-42A9-B0FE-64F660E85718}"/>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6" name="页脚占位符 5">
            <a:extLst>
              <a:ext uri="{FF2B5EF4-FFF2-40B4-BE49-F238E27FC236}">
                <a16:creationId xmlns:a16="http://schemas.microsoft.com/office/drawing/2014/main" id="{E76DA5DF-3CAF-4688-9376-D2170FDAAA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04478AD-9E30-49A2-86BE-688B43016D44}"/>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3141134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E1481-4846-4AA2-9C66-51F74D86B51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D3E8E84-F8C4-4462-BCB2-920762C88EE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47A2D2A-1D72-4E2D-B13D-5397729E9541}"/>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83D9FADF-6923-424D-99E4-5DDB0790A8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0F5CF8-256B-4394-BF89-371497F730D3}"/>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147116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79BBA5A-3CB1-41C3-8862-996D4004BAD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3173120-1962-4924-B4E7-A1E535B22C4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9E81FA6-C051-4914-BA42-985E76C51D5A}"/>
              </a:ext>
            </a:extLst>
          </p:cNvPr>
          <p:cNvSpPr>
            <a:spLocks noGrp="1"/>
          </p:cNvSpPr>
          <p:nvPr>
            <p:ph type="dt" sz="half" idx="10"/>
          </p:nvPr>
        </p:nvSpPr>
        <p:spPr/>
        <p:txBody>
          <a:bodyPr/>
          <a:lstStyle/>
          <a:p>
            <a:fld id="{2CF9FA1C-82F5-4782-9F03-1E52D1F0F458}"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ABBCDF0E-3CEA-4E01-AA4F-A5C5744B48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7EC155-8C9A-46F6-8809-CAA83AD66DAE}"/>
              </a:ext>
            </a:extLst>
          </p:cNvPr>
          <p:cNvSpPr>
            <a:spLocks noGrp="1"/>
          </p:cNvSpPr>
          <p:nvPr>
            <p:ph type="sldNum" sz="quarter" idx="12"/>
          </p:nvPr>
        </p:nvSpPr>
        <p:spPr/>
        <p:txBody>
          <a:body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2596643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E3B511A-6E85-4E5A-A354-A7F38832A5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BFB85CA-2985-4469-B4D5-5722AD38A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A52A02F-13C8-41EB-A99B-3A621C186C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F9FA1C-82F5-4782-9F03-1E52D1F0F458}" type="datetimeFigureOut">
              <a:rPr lang="zh-CN" altLang="en-US" smtClean="0"/>
              <a:t>2020/11/20</a:t>
            </a:fld>
            <a:endParaRPr lang="zh-CN" altLang="en-US"/>
          </a:p>
        </p:txBody>
      </p:sp>
      <p:sp>
        <p:nvSpPr>
          <p:cNvPr id="5" name="页脚占位符 4">
            <a:extLst>
              <a:ext uri="{FF2B5EF4-FFF2-40B4-BE49-F238E27FC236}">
                <a16:creationId xmlns:a16="http://schemas.microsoft.com/office/drawing/2014/main" id="{78E19AA7-A843-4D6D-AC94-16DAC119C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DC833B3-3C64-4009-94E5-D5BC38DDD4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92EB5D-A8E9-4FBA-9567-60F090F9B270}" type="slidenum">
              <a:rPr lang="zh-CN" altLang="en-US" smtClean="0"/>
              <a:t>‹#›</a:t>
            </a:fld>
            <a:endParaRPr lang="zh-CN" altLang="en-US"/>
          </a:p>
        </p:txBody>
      </p:sp>
    </p:spTree>
    <p:extLst>
      <p:ext uri="{BB962C8B-B14F-4D97-AF65-F5344CB8AC3E}">
        <p14:creationId xmlns:p14="http://schemas.microsoft.com/office/powerpoint/2010/main" val="2498213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70A370-CF98-45E1-954D-5ECF823778F8}"/>
              </a:ext>
            </a:extLst>
          </p:cNvPr>
          <p:cNvSpPr>
            <a:spLocks noGrp="1"/>
          </p:cNvSpPr>
          <p:nvPr>
            <p:ph type="ctrTitle"/>
          </p:nvPr>
        </p:nvSpPr>
        <p:spPr/>
        <p:txBody>
          <a:bodyPr>
            <a:normAutofit/>
          </a:bodyPr>
          <a:lstStyle/>
          <a:p>
            <a:r>
              <a:rPr lang="zh-CN" altLang="en-US"/>
              <a:t>后续章节期末重点</a:t>
            </a:r>
            <a:endParaRPr lang="zh-CN" altLang="en-US" dirty="0"/>
          </a:p>
        </p:txBody>
      </p:sp>
      <p:sp>
        <p:nvSpPr>
          <p:cNvPr id="3" name="副标题 2">
            <a:extLst>
              <a:ext uri="{FF2B5EF4-FFF2-40B4-BE49-F238E27FC236}">
                <a16:creationId xmlns:a16="http://schemas.microsoft.com/office/drawing/2014/main" id="{3D1A98CB-DB57-46A5-856F-78B10ED95A07}"/>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92795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ECEB8D-904D-4C6A-9DDD-14A7CADA0292}"/>
              </a:ext>
            </a:extLst>
          </p:cNvPr>
          <p:cNvSpPr>
            <a:spLocks noGrp="1"/>
          </p:cNvSpPr>
          <p:nvPr>
            <p:ph type="title"/>
          </p:nvPr>
        </p:nvSpPr>
        <p:spPr/>
        <p:txBody>
          <a:bodyPr>
            <a:normAutofit/>
          </a:bodyPr>
          <a:lstStyle/>
          <a:p>
            <a:r>
              <a:rPr lang="zh-CN" altLang="zh-CN" sz="2800" b="1" dirty="0"/>
              <a:t>开放经济下国民收入的决定</a:t>
            </a:r>
            <a:endParaRPr lang="zh-CN" altLang="en-US" sz="2800" dirty="0"/>
          </a:p>
        </p:txBody>
      </p:sp>
      <p:sp>
        <p:nvSpPr>
          <p:cNvPr id="3" name="内容占位符 2">
            <a:extLst>
              <a:ext uri="{FF2B5EF4-FFF2-40B4-BE49-F238E27FC236}">
                <a16:creationId xmlns:a16="http://schemas.microsoft.com/office/drawing/2014/main" id="{AD67362A-EE3A-49B7-A78B-2D8D9243882C}"/>
              </a:ext>
            </a:extLst>
          </p:cNvPr>
          <p:cNvSpPr>
            <a:spLocks noGrp="1"/>
          </p:cNvSpPr>
          <p:nvPr>
            <p:ph idx="1"/>
          </p:nvPr>
        </p:nvSpPr>
        <p:spPr>
          <a:xfrm>
            <a:off x="838200" y="1368425"/>
            <a:ext cx="10515600" cy="5124450"/>
          </a:xfrm>
        </p:spPr>
        <p:txBody>
          <a:bodyPr>
            <a:normAutofit/>
          </a:bodyPr>
          <a:lstStyle/>
          <a:p>
            <a:pPr marL="0" indent="0">
              <a:buNone/>
            </a:pPr>
            <a:r>
              <a:rPr lang="zh-CN" altLang="zh-CN" dirty="0"/>
              <a:t>在封闭条件下，一国居民既不将产品和服务出售给外国，也不向外国购买产品和服务。封闭经济下一国的国民收入主要由消费，投资和政府购买三个部分组成：</a:t>
            </a:r>
          </a:p>
          <a:p>
            <a:pPr marL="0" indent="0">
              <a:buNone/>
            </a:pPr>
            <a:r>
              <a:rPr lang="en-US" altLang="zh-CN" dirty="0"/>
              <a:t>Y=C+I+G</a:t>
            </a:r>
            <a:endParaRPr lang="zh-CN" altLang="zh-CN" dirty="0"/>
          </a:p>
          <a:p>
            <a:pPr marL="0" indent="0">
              <a:buNone/>
            </a:pPr>
            <a:r>
              <a:rPr lang="zh-CN" altLang="zh-CN" dirty="0"/>
              <a:t>其中，</a:t>
            </a:r>
            <a:r>
              <a:rPr lang="en-US" altLang="zh-CN" dirty="0"/>
              <a:t>Y</a:t>
            </a:r>
            <a:r>
              <a:rPr lang="zh-CN" altLang="zh-CN" dirty="0"/>
              <a:t>为一国的国民收入</a:t>
            </a:r>
            <a:r>
              <a:rPr lang="en-US" altLang="zh-CN" dirty="0"/>
              <a:t>;C</a:t>
            </a:r>
            <a:r>
              <a:rPr lang="zh-CN" altLang="zh-CN" dirty="0"/>
              <a:t>为消费</a:t>
            </a:r>
            <a:r>
              <a:rPr lang="en-US" altLang="zh-CN" dirty="0"/>
              <a:t>;I</a:t>
            </a:r>
            <a:r>
              <a:rPr lang="zh-CN" altLang="zh-CN" dirty="0"/>
              <a:t>为投资</a:t>
            </a:r>
            <a:r>
              <a:rPr lang="en-US" altLang="zh-CN" dirty="0"/>
              <a:t>;G</a:t>
            </a:r>
            <a:r>
              <a:rPr lang="zh-CN" altLang="zh-CN" dirty="0"/>
              <a:t>为政府购买。</a:t>
            </a:r>
          </a:p>
          <a:p>
            <a:pPr marL="0" indent="0">
              <a:buNone/>
            </a:pPr>
            <a:r>
              <a:rPr lang="zh-CN" altLang="zh-CN" dirty="0"/>
              <a:t>在开放经济中，国家与国家之间存在大量的经济往来。这种国际间经济往来的主要表现是，一国会将其生产的一部分商品和服务出口到国外，并且从国外进口商品和服务用于本国居民的消费。由于进出口等国际间的经济往来，开放条件下国民收入主要由消费、投资、政府购买以及净出口四个部分组成：</a:t>
            </a:r>
          </a:p>
          <a:p>
            <a:pPr marL="0" indent="0">
              <a:buNone/>
            </a:pPr>
            <a:r>
              <a:rPr lang="en-US" altLang="zh-CN" b="1" dirty="0"/>
              <a:t>Y=C+I+G+(X-M)</a:t>
            </a:r>
            <a:endParaRPr lang="zh-CN" altLang="zh-CN" dirty="0"/>
          </a:p>
          <a:p>
            <a:pPr marL="0" indent="0">
              <a:buNone/>
            </a:pPr>
            <a:endParaRPr lang="zh-CN" altLang="en-US" dirty="0"/>
          </a:p>
        </p:txBody>
      </p:sp>
    </p:spTree>
    <p:extLst>
      <p:ext uri="{BB962C8B-B14F-4D97-AF65-F5344CB8AC3E}">
        <p14:creationId xmlns:p14="http://schemas.microsoft.com/office/powerpoint/2010/main" val="289793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E23A69-8C02-4EA5-90EA-E217A68C294C}"/>
              </a:ext>
            </a:extLst>
          </p:cNvPr>
          <p:cNvSpPr>
            <a:spLocks noGrp="1"/>
          </p:cNvSpPr>
          <p:nvPr>
            <p:ph type="title"/>
          </p:nvPr>
        </p:nvSpPr>
        <p:spPr/>
        <p:txBody>
          <a:bodyPr>
            <a:normAutofit/>
          </a:bodyPr>
          <a:lstStyle/>
          <a:p>
            <a:r>
              <a:rPr lang="zh-CN" altLang="zh-CN" sz="2800" b="1" dirty="0"/>
              <a:t>直接标价法；间接标价法</a:t>
            </a:r>
            <a:endParaRPr lang="zh-CN" altLang="en-US" sz="2800" dirty="0"/>
          </a:p>
        </p:txBody>
      </p:sp>
      <p:sp>
        <p:nvSpPr>
          <p:cNvPr id="3" name="内容占位符 2">
            <a:extLst>
              <a:ext uri="{FF2B5EF4-FFF2-40B4-BE49-F238E27FC236}">
                <a16:creationId xmlns:a16="http://schemas.microsoft.com/office/drawing/2014/main" id="{96DBCD54-719C-4A8E-9D36-0C8BD90C68F0}"/>
              </a:ext>
            </a:extLst>
          </p:cNvPr>
          <p:cNvSpPr>
            <a:spLocks noGrp="1"/>
          </p:cNvSpPr>
          <p:nvPr>
            <p:ph idx="1"/>
          </p:nvPr>
        </p:nvSpPr>
        <p:spPr>
          <a:xfrm>
            <a:off x="838200" y="1313234"/>
            <a:ext cx="10515600" cy="4902639"/>
          </a:xfrm>
        </p:spPr>
        <p:txBody>
          <a:bodyPr/>
          <a:lstStyle/>
          <a:p>
            <a:pPr marL="0" indent="0">
              <a:buNone/>
            </a:pPr>
            <a:r>
              <a:rPr lang="zh-CN" altLang="zh-CN" b="1" dirty="0">
                <a:solidFill>
                  <a:srgbClr val="FFFF00"/>
                </a:solidFill>
              </a:rPr>
              <a:t>汇率就是一个国家货币折算为另一个国家货币的比率。</a:t>
            </a:r>
            <a:r>
              <a:rPr lang="zh-CN" altLang="zh-CN" dirty="0"/>
              <a:t>汇率的表示方法一般分为两种，直接标价法和间接标价法。</a:t>
            </a:r>
            <a:r>
              <a:rPr lang="zh-CN" altLang="zh-CN" b="1" dirty="0">
                <a:solidFill>
                  <a:srgbClr val="FFFF00"/>
                </a:solidFill>
              </a:rPr>
              <a:t>直接标价法表明一单位外国货币可以兑换多少单位的本国货币。间接标价法表明一单位的本国货币可以兑换多少单位的外国货币。</a:t>
            </a:r>
            <a:r>
              <a:rPr lang="zh-CN" altLang="zh-CN" dirty="0"/>
              <a:t>假设中国为本国，美国为外国，直接标价法下的美元汇率为币贬值，汇率上升则表示本国货币升值。</a:t>
            </a:r>
          </a:p>
          <a:p>
            <a:pPr marL="0" indent="0">
              <a:buNone/>
            </a:pPr>
            <a:endParaRPr lang="zh-CN" altLang="en-US" dirty="0"/>
          </a:p>
        </p:txBody>
      </p:sp>
    </p:spTree>
    <p:extLst>
      <p:ext uri="{BB962C8B-B14F-4D97-AF65-F5344CB8AC3E}">
        <p14:creationId xmlns:p14="http://schemas.microsoft.com/office/powerpoint/2010/main" val="2671668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EA793-31C4-401B-9006-C3A0607644C3}"/>
              </a:ext>
            </a:extLst>
          </p:cNvPr>
          <p:cNvSpPr>
            <a:spLocks noGrp="1"/>
          </p:cNvSpPr>
          <p:nvPr>
            <p:ph type="title"/>
          </p:nvPr>
        </p:nvSpPr>
        <p:spPr/>
        <p:txBody>
          <a:bodyPr>
            <a:normAutofit/>
          </a:bodyPr>
          <a:lstStyle/>
          <a:p>
            <a:r>
              <a:rPr lang="zh-CN" altLang="zh-CN" sz="2800" b="1" dirty="0"/>
              <a:t>名义汇率与实际汇率</a:t>
            </a:r>
            <a:endParaRPr lang="zh-CN" altLang="en-US" sz="2800" dirty="0"/>
          </a:p>
        </p:txBody>
      </p:sp>
      <p:sp>
        <p:nvSpPr>
          <p:cNvPr id="3" name="内容占位符 2">
            <a:extLst>
              <a:ext uri="{FF2B5EF4-FFF2-40B4-BE49-F238E27FC236}">
                <a16:creationId xmlns:a16="http://schemas.microsoft.com/office/drawing/2014/main" id="{BCF7B62B-22E5-4599-ABEE-EEA6DABD3729}"/>
              </a:ext>
            </a:extLst>
          </p:cNvPr>
          <p:cNvSpPr>
            <a:spLocks noGrp="1"/>
          </p:cNvSpPr>
          <p:nvPr>
            <p:ph idx="1"/>
          </p:nvPr>
        </p:nvSpPr>
        <p:spPr>
          <a:xfrm>
            <a:off x="838200" y="1313234"/>
            <a:ext cx="10515600" cy="4863729"/>
          </a:xfrm>
        </p:spPr>
        <p:txBody>
          <a:bodyPr/>
          <a:lstStyle/>
          <a:p>
            <a:pPr marL="0" indent="0">
              <a:buNone/>
            </a:pPr>
            <a:r>
              <a:rPr lang="zh-CN" altLang="zh-CN" dirty="0"/>
              <a:t>汇率分为名义汇率和实际汇率。</a:t>
            </a:r>
            <a:r>
              <a:rPr lang="zh-CN" altLang="zh-CN" b="1" dirty="0">
                <a:solidFill>
                  <a:srgbClr val="FFFF00"/>
                </a:solidFill>
              </a:rPr>
              <a:t>名义汇率是两个国家货币的相对价格，是货币与货币之间的交换比率，我们用字母</a:t>
            </a:r>
            <a:r>
              <a:rPr lang="en-US" altLang="zh-CN" b="1" dirty="0">
                <a:solidFill>
                  <a:srgbClr val="FFFF00"/>
                </a:solidFill>
              </a:rPr>
              <a:t>e</a:t>
            </a:r>
            <a:r>
              <a:rPr lang="zh-CN" altLang="zh-CN" b="1" dirty="0">
                <a:solidFill>
                  <a:srgbClr val="FFFF00"/>
                </a:solidFill>
              </a:rPr>
              <a:t>表示</a:t>
            </a:r>
            <a:r>
              <a:rPr lang="zh-CN" altLang="zh-CN" dirty="0">
                <a:solidFill>
                  <a:srgbClr val="FFFF00"/>
                </a:solidFill>
              </a:rPr>
              <a:t>；</a:t>
            </a:r>
            <a:r>
              <a:rPr lang="zh-CN" altLang="zh-CN" b="1" dirty="0">
                <a:solidFill>
                  <a:srgbClr val="FFFF00"/>
                </a:solidFill>
              </a:rPr>
              <a:t>实际汇率则是两国产品的相对价格，我们用字母ξ表示</a:t>
            </a:r>
            <a:r>
              <a:rPr lang="zh-CN" altLang="zh-CN" dirty="0">
                <a:solidFill>
                  <a:srgbClr val="FFFF00"/>
                </a:solidFill>
              </a:rPr>
              <a:t>。</a:t>
            </a:r>
            <a:r>
              <a:rPr lang="zh-CN" altLang="zh-CN" dirty="0"/>
              <a:t>它表示的是一国产品与另一国产品的交换比率。实际汇率的经济含义是表示一单位外国物品可以交换几单位的本国物品。</a:t>
            </a:r>
          </a:p>
          <a:p>
            <a:pPr marL="0" indent="0">
              <a:buNone/>
            </a:pPr>
            <a:r>
              <a:rPr lang="zh-CN" altLang="zh-CN" dirty="0"/>
              <a:t>实际汇率的计算方法是：</a:t>
            </a:r>
          </a:p>
          <a:p>
            <a:pPr marL="0" indent="0">
              <a:buNone/>
            </a:pPr>
            <a:r>
              <a:rPr lang="zh-CN" altLang="zh-CN" b="1" dirty="0"/>
              <a:t>实际汇率</a:t>
            </a:r>
            <a:r>
              <a:rPr lang="en-US" altLang="zh-CN" b="1" dirty="0"/>
              <a:t>(</a:t>
            </a:r>
            <a:r>
              <a:rPr lang="zh-CN" altLang="zh-CN" b="1" dirty="0"/>
              <a:t>ξ</a:t>
            </a:r>
            <a:r>
              <a:rPr lang="en-US" altLang="zh-CN" b="1" dirty="0"/>
              <a:t>)==</a:t>
            </a:r>
            <a:r>
              <a:rPr lang="en-US" altLang="zh-CN" b="1" dirty="0" err="1"/>
              <a:t>eP</a:t>
            </a:r>
            <a:r>
              <a:rPr lang="en-US" altLang="zh-CN" b="1" dirty="0"/>
              <a:t>*/P</a:t>
            </a:r>
            <a:endParaRPr lang="zh-CN" altLang="zh-CN" dirty="0"/>
          </a:p>
          <a:p>
            <a:pPr marL="0" indent="0">
              <a:buNone/>
            </a:pPr>
            <a:r>
              <a:rPr lang="zh-CN" altLang="zh-CN" dirty="0"/>
              <a:t>其中，</a:t>
            </a:r>
            <a:r>
              <a:rPr lang="en-US" altLang="zh-CN" dirty="0"/>
              <a:t>P</a:t>
            </a:r>
            <a:r>
              <a:rPr lang="zh-CN" altLang="zh-CN" dirty="0"/>
              <a:t>表示本国的物价指数</a:t>
            </a:r>
            <a:r>
              <a:rPr lang="en-US" altLang="zh-CN" dirty="0"/>
              <a:t>;P*</a:t>
            </a:r>
            <a:r>
              <a:rPr lang="zh-CN" altLang="zh-CN" dirty="0"/>
              <a:t>表示外国的物价指数。上式同样也表明了实际汇率与名义汇率之间的关系。</a:t>
            </a:r>
          </a:p>
          <a:p>
            <a:pPr marL="0" indent="0">
              <a:buNone/>
            </a:pPr>
            <a:endParaRPr lang="zh-CN" altLang="en-US" dirty="0"/>
          </a:p>
        </p:txBody>
      </p:sp>
    </p:spTree>
    <p:extLst>
      <p:ext uri="{BB962C8B-B14F-4D97-AF65-F5344CB8AC3E}">
        <p14:creationId xmlns:p14="http://schemas.microsoft.com/office/powerpoint/2010/main" val="418429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E22FC42-59EC-41E0-987F-66E143F6EDC7}"/>
              </a:ext>
            </a:extLst>
          </p:cNvPr>
          <p:cNvSpPr>
            <a:spLocks noChangeArrowheads="1"/>
          </p:cNvSpPr>
          <p:nvPr/>
        </p:nvSpPr>
        <p:spPr bwMode="auto">
          <a:xfrm>
            <a:off x="647700" y="1959347"/>
            <a:ext cx="10441832" cy="1693349"/>
          </a:xfrm>
          <a:prstGeom prst="rect">
            <a:avLst/>
          </a:prstGeom>
          <a:blipFill dpi="0" rotWithShape="0">
            <a:blip r:embed="rId2"/>
            <a:srcRect/>
            <a:tile tx="0" ty="0" sx="100000" sy="100000" flip="none" algn="tl"/>
          </a:blipFill>
          <a:ln w="76200" algn="ctr">
            <a:solidFill>
              <a:srgbClr val="0066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nSpc>
                <a:spcPct val="130000"/>
              </a:lnSpc>
              <a:buClr>
                <a:srgbClr val="993300"/>
              </a:buClr>
              <a:buFont typeface="Wingdings" panose="05000000000000000000" pitchFamily="2" charset="2"/>
              <a:buChar char="n"/>
            </a:pPr>
            <a:r>
              <a:rPr lang="zh-CN" altLang="en-US" sz="2800" dirty="0">
                <a:solidFill>
                  <a:srgbClr val="1C1C1C"/>
                </a:solidFill>
                <a:latin typeface="宋体" panose="02010600030101010101" pitchFamily="2" charset="-122"/>
              </a:rPr>
              <a:t>实际汇率上升</a:t>
            </a:r>
            <a:r>
              <a:rPr lang="en-US" altLang="zh-CN" sz="2800" dirty="0">
                <a:solidFill>
                  <a:srgbClr val="1C1C1C"/>
                </a:solidFill>
                <a:latin typeface="宋体" panose="02010600030101010101" pitchFamily="2" charset="-122"/>
              </a:rPr>
              <a:t>,</a:t>
            </a:r>
            <a:r>
              <a:rPr lang="zh-CN" altLang="en-US" sz="2800" dirty="0">
                <a:solidFill>
                  <a:srgbClr val="1C1C1C"/>
                </a:solidFill>
                <a:latin typeface="宋体" panose="02010600030101010101" pitchFamily="2" charset="-122"/>
              </a:rPr>
              <a:t>外国商品就相对便宜，而国内产品相对昂贵。</a:t>
            </a:r>
          </a:p>
          <a:p>
            <a:pPr>
              <a:lnSpc>
                <a:spcPct val="130000"/>
              </a:lnSpc>
              <a:buClr>
                <a:srgbClr val="993300"/>
              </a:buClr>
              <a:buFont typeface="Wingdings" panose="05000000000000000000" pitchFamily="2" charset="2"/>
              <a:buChar char="n"/>
            </a:pPr>
            <a:r>
              <a:rPr lang="zh-CN" altLang="en-US" sz="2800" dirty="0">
                <a:solidFill>
                  <a:srgbClr val="1C1C1C"/>
                </a:solidFill>
                <a:latin typeface="宋体" panose="02010600030101010101" pitchFamily="2" charset="-122"/>
              </a:rPr>
              <a:t>实际汇率下降，外国商品就相对昂贵，意味着国内生产具有竞争力。</a:t>
            </a:r>
            <a:endParaRPr lang="zh-CN" altLang="el-GR" sz="2800" dirty="0">
              <a:solidFill>
                <a:srgbClr val="1C1C1C"/>
              </a:solidFill>
              <a:latin typeface="宋体" panose="02010600030101010101" pitchFamily="2" charset="-122"/>
            </a:endParaRPr>
          </a:p>
        </p:txBody>
      </p:sp>
    </p:spTree>
    <p:extLst>
      <p:ext uri="{BB962C8B-B14F-4D97-AF65-F5344CB8AC3E}">
        <p14:creationId xmlns:p14="http://schemas.microsoft.com/office/powerpoint/2010/main" val="3911392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84CFC-0F5B-42A1-8872-2B74A5329877}"/>
              </a:ext>
            </a:extLst>
          </p:cNvPr>
          <p:cNvSpPr>
            <a:spLocks noGrp="1"/>
          </p:cNvSpPr>
          <p:nvPr>
            <p:ph type="title"/>
          </p:nvPr>
        </p:nvSpPr>
        <p:spPr/>
        <p:txBody>
          <a:bodyPr>
            <a:normAutofit/>
          </a:bodyPr>
          <a:lstStyle/>
          <a:p>
            <a:r>
              <a:rPr lang="zh-CN" altLang="zh-CN" sz="2800" b="1" dirty="0"/>
              <a:t>汇率制度；固定汇率制度；浮动汇率制度</a:t>
            </a:r>
            <a:endParaRPr lang="zh-CN" altLang="en-US" sz="2800" dirty="0"/>
          </a:p>
        </p:txBody>
      </p:sp>
      <p:sp>
        <p:nvSpPr>
          <p:cNvPr id="3" name="内容占位符 2">
            <a:extLst>
              <a:ext uri="{FF2B5EF4-FFF2-40B4-BE49-F238E27FC236}">
                <a16:creationId xmlns:a16="http://schemas.microsoft.com/office/drawing/2014/main" id="{4B74DD61-31D2-4F12-A263-6ECE30DF873B}"/>
              </a:ext>
            </a:extLst>
          </p:cNvPr>
          <p:cNvSpPr>
            <a:spLocks noGrp="1"/>
          </p:cNvSpPr>
          <p:nvPr>
            <p:ph idx="1"/>
          </p:nvPr>
        </p:nvSpPr>
        <p:spPr>
          <a:xfrm>
            <a:off x="838200" y="1378153"/>
            <a:ext cx="10515600" cy="4351338"/>
          </a:xfrm>
        </p:spPr>
        <p:txBody>
          <a:bodyPr/>
          <a:lstStyle/>
          <a:p>
            <a:pPr marL="0" indent="0">
              <a:buNone/>
            </a:pPr>
            <a:r>
              <a:rPr lang="zh-CN" altLang="zh-CN" b="1" dirty="0"/>
              <a:t>汇率制度是指一国货币当局对本国汇率水平的确定、汇率变动的方式等问题所作的一系列安排或者规定。</a:t>
            </a:r>
            <a:r>
              <a:rPr lang="zh-CN" altLang="zh-CN" dirty="0"/>
              <a:t>按照汇率变动的程度，汇率制度可以分为两大基本类别：</a:t>
            </a:r>
            <a:r>
              <a:rPr lang="zh-CN" altLang="zh-CN" b="1" dirty="0"/>
              <a:t>固定汇率制度和浮动汇率制度</a:t>
            </a:r>
            <a:r>
              <a:rPr lang="zh-CN" altLang="zh-CN" dirty="0"/>
              <a:t>。</a:t>
            </a:r>
            <a:r>
              <a:rPr lang="zh-CN" altLang="zh-CN" b="1" dirty="0"/>
              <a:t>固定汇率制度是指政府用行政或法律手段确定、公布、维持本国货币与某种参照物之间固定比价的汇率制度。浮动汇率制度则是指汇率水平完全由外汇市场的供求关系决定，政府不加任何干预的汇率制度。</a:t>
            </a:r>
            <a:endParaRPr lang="zh-CN" altLang="zh-CN" dirty="0"/>
          </a:p>
          <a:p>
            <a:pPr marL="0" indent="0">
              <a:buNone/>
            </a:pPr>
            <a:endParaRPr lang="zh-CN" altLang="en-US" dirty="0"/>
          </a:p>
        </p:txBody>
      </p:sp>
    </p:spTree>
    <p:extLst>
      <p:ext uri="{BB962C8B-B14F-4D97-AF65-F5344CB8AC3E}">
        <p14:creationId xmlns:p14="http://schemas.microsoft.com/office/powerpoint/2010/main" val="2307756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EE5EE137-2CAB-475E-9BE6-8407384123F8}"/>
              </a:ext>
            </a:extLst>
          </p:cNvPr>
          <p:cNvSpPr>
            <a:spLocks noGrp="1" noChangeArrowheads="1"/>
          </p:cNvSpPr>
          <p:nvPr/>
        </p:nvSpPr>
        <p:spPr bwMode="auto">
          <a:xfrm>
            <a:off x="504350" y="787400"/>
            <a:ext cx="446405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400" b="1" kern="1200">
                <a:solidFill>
                  <a:schemeClr val="tx2"/>
                </a:solidFill>
                <a:latin typeface="+mj-lt"/>
                <a:ea typeface="+mj-ea"/>
                <a:cs typeface="+mj-cs"/>
              </a:defRPr>
            </a:lvl1pPr>
            <a:lvl2pPr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2pPr>
            <a:lvl3pPr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3pPr>
            <a:lvl4pPr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4pPr>
            <a:lvl5pPr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2400" b="1">
                <a:solidFill>
                  <a:schemeClr val="tx2"/>
                </a:solidFill>
                <a:latin typeface="Tahoma" panose="020B0604030504040204" pitchFamily="34" charset="0"/>
                <a:ea typeface="宋体" panose="02010600030101010101" pitchFamily="2" charset="-122"/>
              </a:defRPr>
            </a:lvl9pPr>
          </a:lstStyle>
          <a:p>
            <a:r>
              <a:rPr lang="zh-CN" altLang="en-US" dirty="0">
                <a:solidFill>
                  <a:schemeClr val="bg1"/>
                </a:solidFill>
              </a:rPr>
              <a:t>固定汇率制度的运行</a:t>
            </a:r>
          </a:p>
        </p:txBody>
      </p:sp>
      <p:sp>
        <p:nvSpPr>
          <p:cNvPr id="8" name="Rectangle 3">
            <a:extLst>
              <a:ext uri="{FF2B5EF4-FFF2-40B4-BE49-F238E27FC236}">
                <a16:creationId xmlns:a16="http://schemas.microsoft.com/office/drawing/2014/main" id="{57475995-8398-4C56-A002-461319084268}"/>
              </a:ext>
            </a:extLst>
          </p:cNvPr>
          <p:cNvSpPr>
            <a:spLocks noGrp="1" noChangeArrowheads="1"/>
          </p:cNvSpPr>
          <p:nvPr/>
        </p:nvSpPr>
        <p:spPr bwMode="auto">
          <a:xfrm>
            <a:off x="213128" y="1646238"/>
            <a:ext cx="7931150" cy="796372"/>
          </a:xfrm>
          <a:prstGeom prst="rect">
            <a:avLst/>
          </a:prstGeom>
          <a:solidFill>
            <a:schemeClr val="bg1">
              <a:alpha val="36000"/>
            </a:schemeClr>
          </a:solidFill>
          <a:ln w="76200" cap="flat" cmpd="tri" algn="ctr">
            <a:solidFill>
              <a:srgbClr val="CC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algn="l" rtl="0" fontAlgn="base">
              <a:lnSpc>
                <a:spcPct val="140000"/>
              </a:lnSpc>
              <a:spcBef>
                <a:spcPct val="5000"/>
              </a:spcBef>
              <a:spcAft>
                <a:spcPct val="5000"/>
              </a:spcAft>
              <a:buClr>
                <a:srgbClr val="000099"/>
              </a:buClr>
              <a:buFont typeface="Wingdings" panose="05000000000000000000" pitchFamily="2" charset="2"/>
              <a:buChar char="u"/>
              <a:defRPr sz="2000" b="1" kern="1200">
                <a:solidFill>
                  <a:schemeClr val="tx1"/>
                </a:solidFill>
                <a:latin typeface="+mn-lt"/>
                <a:ea typeface="+mn-ea"/>
                <a:cs typeface="+mn-cs"/>
              </a:defRPr>
            </a:lvl1pPr>
            <a:lvl2pPr marL="354013" algn="l" rtl="0" fontAlgn="base">
              <a:lnSpc>
                <a:spcPct val="140000"/>
              </a:lnSpc>
              <a:spcBef>
                <a:spcPct val="5000"/>
              </a:spcBef>
              <a:spcAft>
                <a:spcPct val="5000"/>
              </a:spcAft>
              <a:buClr>
                <a:srgbClr val="006600"/>
              </a:buClr>
              <a:buFont typeface="Wingdings" panose="05000000000000000000" pitchFamily="2" charset="2"/>
              <a:buChar char="n"/>
              <a:defRPr sz="2000" b="1" kern="1200">
                <a:solidFill>
                  <a:schemeClr val="tx1"/>
                </a:solidFill>
                <a:latin typeface="+mn-lt"/>
                <a:ea typeface="+mn-ea"/>
                <a:cs typeface="+mn-cs"/>
              </a:defRPr>
            </a:lvl2pPr>
            <a:lvl3pPr marL="1143000" indent="-228600" algn="l" rtl="0" fontAlgn="base">
              <a:spcBef>
                <a:spcPct val="20000"/>
              </a:spcBef>
              <a:spcAft>
                <a:spcPct val="0"/>
              </a:spcAft>
              <a:buChar char="•"/>
              <a:defRPr sz="2000" b="1" kern="1200">
                <a:solidFill>
                  <a:schemeClr val="tx1"/>
                </a:solidFill>
                <a:latin typeface="+mn-lt"/>
                <a:ea typeface="+mn-ea"/>
                <a:cs typeface="+mn-cs"/>
              </a:defRPr>
            </a:lvl3pPr>
            <a:lvl4pPr marL="1600200" indent="-228600" algn="l" rtl="0" fontAlgn="base">
              <a:spcBef>
                <a:spcPct val="20000"/>
              </a:spcBef>
              <a:spcAft>
                <a:spcPct val="0"/>
              </a:spcAft>
              <a:buChar char="–"/>
              <a:defRPr sz="2000" b="1" kern="1200">
                <a:solidFill>
                  <a:schemeClr val="tx1"/>
                </a:solidFill>
                <a:latin typeface="+mn-lt"/>
                <a:ea typeface="+mn-ea"/>
                <a:cs typeface="+mn-cs"/>
              </a:defRPr>
            </a:lvl4pPr>
            <a:lvl5pPr marL="2057400" indent="-228600" algn="l" rtl="0" fontAlgn="base">
              <a:spcBef>
                <a:spcPct val="20000"/>
              </a:spcBef>
              <a:spcAft>
                <a:spcPct val="0"/>
              </a:spcAft>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SzPct val="105000"/>
              <a:buFont typeface="Wingdings" panose="05000000000000000000" pitchFamily="2" charset="2"/>
              <a:buChar char="n"/>
            </a:pPr>
            <a:r>
              <a:rPr lang="zh-CN" altLang="en-US" dirty="0">
                <a:solidFill>
                  <a:schemeClr val="bg1"/>
                </a:solidFill>
                <a:latin typeface="宋体" panose="02010600030101010101" pitchFamily="2" charset="-122"/>
              </a:rPr>
              <a:t>当市场汇率和货币当局执行的汇率不一致时，会产生套利行为，因此固定汇率的运行会影响货币供给。</a:t>
            </a:r>
          </a:p>
        </p:txBody>
      </p:sp>
      <p:sp>
        <p:nvSpPr>
          <p:cNvPr id="9" name="Rectangle 5">
            <a:extLst>
              <a:ext uri="{FF2B5EF4-FFF2-40B4-BE49-F238E27FC236}">
                <a16:creationId xmlns:a16="http://schemas.microsoft.com/office/drawing/2014/main" id="{17A78221-6FAB-4D52-8CD2-A91D98209BC1}"/>
              </a:ext>
            </a:extLst>
          </p:cNvPr>
          <p:cNvSpPr>
            <a:spLocks noChangeArrowheads="1"/>
          </p:cNvSpPr>
          <p:nvPr/>
        </p:nvSpPr>
        <p:spPr bwMode="auto">
          <a:xfrm>
            <a:off x="224241" y="3092450"/>
            <a:ext cx="8135937" cy="2978150"/>
          </a:xfrm>
          <a:prstGeom prst="rect">
            <a:avLst/>
          </a:prstGeom>
          <a:blipFill dpi="0" rotWithShape="0">
            <a:blip r:embed="rId2"/>
            <a:srcRect/>
            <a:tile tx="0" ty="0" sx="100000" sy="100000" flip="none" algn="tl"/>
          </a:blipFill>
          <a:ln w="76200" algn="ctr">
            <a:solidFill>
              <a:srgbClr val="0066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nSpc>
                <a:spcPct val="130000"/>
              </a:lnSpc>
              <a:buClr>
                <a:srgbClr val="993300"/>
              </a:buClr>
              <a:buFont typeface="Wingdings" panose="05000000000000000000" pitchFamily="2" charset="2"/>
              <a:buChar char="n"/>
            </a:pPr>
            <a:r>
              <a:rPr lang="zh-CN" altLang="en-US" sz="2000">
                <a:solidFill>
                  <a:srgbClr val="1C1C1C"/>
                </a:solidFill>
                <a:latin typeface="宋体" panose="02010600030101010101" pitchFamily="2" charset="-122"/>
              </a:rPr>
              <a:t>如果市场上本国汇率上升，市场上套利者发现有获利机会，在外汇市场上（低价）买进外汇，然后卖给货币当局，从中获利，当获利者在市场上买进外汇是，正是增加了本国货币供给，直到汇率回落到均衡水平，无利可图。</a:t>
            </a:r>
          </a:p>
          <a:p>
            <a:pPr>
              <a:lnSpc>
                <a:spcPct val="130000"/>
              </a:lnSpc>
              <a:buClr>
                <a:srgbClr val="993300"/>
              </a:buClr>
              <a:buFont typeface="Wingdings" panose="05000000000000000000" pitchFamily="2" charset="2"/>
              <a:buChar char="n"/>
            </a:pPr>
            <a:r>
              <a:rPr lang="zh-CN" altLang="en-US" sz="2000">
                <a:solidFill>
                  <a:srgbClr val="1C1C1C"/>
                </a:solidFill>
                <a:latin typeface="宋体" panose="02010600030101010101" pitchFamily="2" charset="-122"/>
              </a:rPr>
              <a:t>反之，如果市场上本国汇率贬值，获利者就会向货币当局买进本国货币，然后在外汇市场卖出，从中获利，当买进本国货币时，减少了本国货币供给，直到汇率回升到均衡水平。</a:t>
            </a:r>
          </a:p>
        </p:txBody>
      </p:sp>
    </p:spTree>
    <p:extLst>
      <p:ext uri="{BB962C8B-B14F-4D97-AF65-F5344CB8AC3E}">
        <p14:creationId xmlns:p14="http://schemas.microsoft.com/office/powerpoint/2010/main" val="3794885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1551FB-F4B6-441D-BD94-E83CEA0B6238}"/>
              </a:ext>
            </a:extLst>
          </p:cNvPr>
          <p:cNvSpPr>
            <a:spLocks noGrp="1"/>
          </p:cNvSpPr>
          <p:nvPr>
            <p:ph type="title"/>
          </p:nvPr>
        </p:nvSpPr>
        <p:spPr/>
        <p:txBody>
          <a:bodyPr>
            <a:normAutofit/>
          </a:bodyPr>
          <a:lstStyle/>
          <a:p>
            <a:r>
              <a:rPr lang="zh-CN" altLang="zh-CN" sz="2400" b="1" kern="0" dirty="0">
                <a:effectLst/>
                <a:ea typeface="宋体" panose="02010600030101010101" pitchFamily="2" charset="-122"/>
                <a:cs typeface="宋体" panose="02010600030101010101" pitchFamily="2" charset="-122"/>
              </a:rPr>
              <a:t>开放经济的</a:t>
            </a:r>
            <a:r>
              <a:rPr lang="en-US" altLang="zh-CN" sz="2400" b="1" kern="0" dirty="0">
                <a:effectLst/>
                <a:ea typeface="宋体" panose="02010600030101010101" pitchFamily="2" charset="-122"/>
                <a:cs typeface="宋体" panose="02010600030101010101" pitchFamily="2" charset="-122"/>
              </a:rPr>
              <a:t>IS</a:t>
            </a:r>
            <a:r>
              <a:rPr lang="zh-CN" altLang="zh-CN" sz="2400" b="1" kern="0" dirty="0">
                <a:effectLst/>
                <a:ea typeface="宋体" panose="02010600030101010101" pitchFamily="2" charset="-122"/>
                <a:cs typeface="宋体" panose="02010600030101010101" pitchFamily="2" charset="-122"/>
              </a:rPr>
              <a:t>曲线</a:t>
            </a:r>
            <a:endParaRPr lang="zh-CN" altLang="en-US" sz="2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075B2DD-EB4C-4D63-BF1F-5D3605B55DF9}"/>
                  </a:ext>
                </a:extLst>
              </p:cNvPr>
              <p:cNvSpPr>
                <a:spLocks noGrp="1"/>
              </p:cNvSpPr>
              <p:nvPr>
                <p:ph idx="1"/>
              </p:nvPr>
            </p:nvSpPr>
            <p:spPr>
              <a:xfrm>
                <a:off x="838200" y="1348970"/>
                <a:ext cx="10515600" cy="4351338"/>
              </a:xfrm>
            </p:spPr>
            <p:txBody>
              <a:bodyPr>
                <a:normAutofit/>
              </a:bodyPr>
              <a:lstStyle/>
              <a:p>
                <a:pPr marL="0" indent="0" algn="just">
                  <a:buNone/>
                </a:pP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1</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）开放经济的</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IS</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曲线也从国民收入恒等式入手，但增加了净出口，公式为</a:t>
                </a:r>
              </a:p>
              <a:p>
                <a:pPr marL="0" indent="0" algn="just">
                  <a:buNone/>
                </a:pP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y=c(y)+</a:t>
                </a:r>
                <a:r>
                  <a:rPr lang="en-US" altLang="zh-CN" sz="2200" b="1" dirty="0" err="1">
                    <a:solidFill>
                      <a:schemeClr val="bg1"/>
                    </a:solidFill>
                    <a:effectLst/>
                    <a:latin typeface="宋体" panose="02010600030101010101" pitchFamily="2" charset="-122"/>
                    <a:ea typeface="宋体" panose="02010600030101010101" pitchFamily="2" charset="-122"/>
                    <a:cs typeface="宋体" panose="02010600030101010101" pitchFamily="2" charset="-122"/>
                  </a:rPr>
                  <a:t>i</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(r)+</a:t>
                </a:r>
                <a:r>
                  <a:rPr lang="en-US" altLang="zh-CN" sz="2200" b="1" dirty="0" err="1">
                    <a:solidFill>
                      <a:schemeClr val="bg1"/>
                    </a:solidFill>
                    <a:effectLst/>
                    <a:latin typeface="宋体" panose="02010600030101010101" pitchFamily="2" charset="-122"/>
                    <a:ea typeface="宋体" panose="02010600030101010101" pitchFamily="2" charset="-122"/>
                    <a:cs typeface="宋体" panose="02010600030101010101" pitchFamily="2" charset="-122"/>
                  </a:rPr>
                  <a:t>g+nx</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𝛆</m:t>
                    </m:r>
                  </m:oMath>
                </a14:m>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p>
              <a:p>
                <a:pPr marL="0" indent="0" algn="just">
                  <a:buNone/>
                </a:pP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2</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）由于假设国内物价水平和国外物价水平不变，所以实际汇率与名义汇率同比例变动，所以将</a:t>
                </a:r>
                <a:r>
                  <a:rPr lang="en-US" altLang="zh-CN" sz="2200" b="1" dirty="0" err="1">
                    <a:solidFill>
                      <a:schemeClr val="bg1"/>
                    </a:solidFill>
                    <a:effectLst/>
                    <a:latin typeface="宋体" panose="02010600030101010101" pitchFamily="2" charset="-122"/>
                    <a:ea typeface="宋体" panose="02010600030101010101" pitchFamily="2" charset="-122"/>
                    <a:cs typeface="宋体" panose="02010600030101010101" pitchFamily="2" charset="-122"/>
                  </a:rPr>
                  <a:t>nx</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𝛆</m:t>
                    </m:r>
                  </m:oMath>
                </a14:m>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换成</a:t>
                </a:r>
                <a:r>
                  <a:rPr lang="en-US" altLang="zh-CN" sz="2200" b="1" dirty="0" err="1">
                    <a:solidFill>
                      <a:schemeClr val="bg1"/>
                    </a:solidFill>
                    <a:effectLst/>
                    <a:latin typeface="宋体" panose="02010600030101010101" pitchFamily="2" charset="-122"/>
                    <a:ea typeface="宋体" panose="02010600030101010101" pitchFamily="2" charset="-122"/>
                    <a:cs typeface="宋体" panose="02010600030101010101" pitchFamily="2" charset="-122"/>
                  </a:rPr>
                  <a:t>nx</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e</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）；又</a:t>
                </a:r>
                <a14:m>
                  <m:oMath xmlns:m="http://schemas.openxmlformats.org/officeDocument/2006/math">
                    <m:sSub>
                      <m:sSubPr>
                        <m:ctrlPr>
                          <a:rPr lang="zh-CN" altLang="zh-CN" sz="2200" b="1" i="1">
                            <a:solidFill>
                              <a:schemeClr val="bg1"/>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𝒓</m:t>
                        </m:r>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𝒓</m:t>
                        </m:r>
                      </m:e>
                      <m:sub>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𝒘</m:t>
                        </m:r>
                      </m:sub>
                    </m:sSub>
                  </m:oMath>
                </a14:m>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所得到开放经济下</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IS</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曲线方程为：</a:t>
                </a:r>
                <a14:m>
                  <m:oMath xmlns:m="http://schemas.openxmlformats.org/officeDocument/2006/math">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𝐲</m:t>
                    </m:r>
                    <m:r>
                      <a:rPr lang="en-US" altLang="zh-CN" sz="2200" b="1">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𝐜</m:t>
                    </m:r>
                    <m:r>
                      <a:rPr lang="en-US" altLang="zh-CN" sz="2200" b="1">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𝐲</m:t>
                    </m:r>
                    <m:r>
                      <a:rPr lang="en-US" altLang="zh-CN" sz="2200" b="1">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200" b="1" i="1">
                            <a:solidFill>
                              <a:schemeClr val="bg1"/>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𝒊</m:t>
                        </m:r>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𝒓</m:t>
                        </m:r>
                      </m:e>
                      <m:sub>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𝒘</m:t>
                        </m:r>
                      </m:sub>
                    </m:sSub>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𝒈</m:t>
                    </m:r>
                    <m:r>
                      <a:rPr lang="en-US" altLang="zh-CN" sz="2200" b="1" smtClea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𝐧𝐱</m:t>
                    </m:r>
                    <m:r>
                      <a:rPr lang="en-US" altLang="zh-CN" sz="2200" b="1">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200" b="1"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𝐞</m:t>
                    </m:r>
                    <m:r>
                      <a:rPr lang="en-US" altLang="zh-CN" sz="2200" b="1">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即</a:t>
                </a:r>
                <a:r>
                  <a:rPr lang="en-US"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IS</a:t>
                </a:r>
                <a:r>
                  <a:rPr lang="en-US" altLang="zh-CN" sz="2200" b="1"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200" b="1" dirty="0">
                    <a:solidFill>
                      <a:schemeClr val="bg1"/>
                    </a:solidFill>
                    <a:effectLst/>
                    <a:latin typeface="宋体" panose="02010600030101010101" pitchFamily="2" charset="-122"/>
                    <a:ea typeface="宋体" panose="02010600030101010101" pitchFamily="2" charset="-122"/>
                    <a:cs typeface="宋体" panose="02010600030101010101" pitchFamily="2" charset="-122"/>
                  </a:rPr>
                  <a:t>的方程式。</a:t>
                </a:r>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E075B2DD-EB4C-4D63-BF1F-5D3605B55DF9}"/>
                  </a:ext>
                </a:extLst>
              </p:cNvPr>
              <p:cNvSpPr>
                <a:spLocks noGrp="1" noRot="1" noChangeAspect="1" noMove="1" noResize="1" noEditPoints="1" noAdjustHandles="1" noChangeArrowheads="1" noChangeShapeType="1" noTextEdit="1"/>
              </p:cNvSpPr>
              <p:nvPr>
                <p:ph idx="1"/>
              </p:nvPr>
            </p:nvSpPr>
            <p:spPr>
              <a:xfrm>
                <a:off x="838200" y="1348970"/>
                <a:ext cx="10515600" cy="4351338"/>
              </a:xfrm>
              <a:blipFill>
                <a:blip r:embed="rId2"/>
                <a:stretch>
                  <a:fillRect l="-754" t="-1681" r="-69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DF6F8B2-D643-4681-85C7-9ED85FB93EAA}"/>
              </a:ext>
            </a:extLst>
          </p:cNvPr>
          <p:cNvPicPr/>
          <p:nvPr/>
        </p:nvPicPr>
        <p:blipFill rotWithShape="1">
          <a:blip r:embed="rId3" cstate="print">
            <a:extLst>
              <a:ext uri="{28A0092B-C50C-407E-A947-70E740481C1C}">
                <a14:useLocalDpi xmlns:a14="http://schemas.microsoft.com/office/drawing/2010/main" val="0"/>
              </a:ext>
            </a:extLst>
          </a:blip>
          <a:srcRect r="4154" b="7778"/>
          <a:stretch/>
        </p:blipFill>
        <p:spPr bwMode="auto">
          <a:xfrm>
            <a:off x="749030" y="3428999"/>
            <a:ext cx="4475345" cy="3255153"/>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29F07DA-B867-44BF-850B-C4A289347D00}"/>
                  </a:ext>
                </a:extLst>
              </p:cNvPr>
              <p:cNvSpPr txBox="1"/>
              <p:nvPr/>
            </p:nvSpPr>
            <p:spPr>
              <a:xfrm>
                <a:off x="5732023" y="3524639"/>
                <a:ext cx="6094378" cy="646331"/>
              </a:xfrm>
              <a:prstGeom prst="rect">
                <a:avLst/>
              </a:prstGeom>
              <a:noFill/>
            </p:spPr>
            <p:txBody>
              <a:bodyPr wrap="square">
                <a:spAutoFit/>
              </a:bodyPr>
              <a:lstStyle/>
              <a:p>
                <a:r>
                  <a:rPr lang="zh-CN" altLang="zh-CN" sz="1800" b="1" kern="0" dirty="0">
                    <a:solidFill>
                      <a:schemeClr val="bg1"/>
                    </a:solidFill>
                    <a:effectLst/>
                    <a:ea typeface="宋体" panose="02010600030101010101" pitchFamily="2" charset="-122"/>
                    <a:cs typeface="宋体" panose="02010600030101010101" pitchFamily="2" charset="-122"/>
                  </a:rPr>
                  <a:t>传导机制</a:t>
                </a:r>
                <a:r>
                  <a:rPr lang="zh-CN" altLang="zh-CN" sz="1800" kern="0" dirty="0">
                    <a:solidFill>
                      <a:schemeClr val="bg1"/>
                    </a:solidFill>
                    <a:effectLst/>
                    <a:ea typeface="宋体" panose="02010600030101010101" pitchFamily="2" charset="-122"/>
                    <a:cs typeface="宋体" panose="02010600030101010101" pitchFamily="2" charset="-122"/>
                  </a:rPr>
                  <a:t>：汇率</a:t>
                </a:r>
                <a:r>
                  <a:rPr lang="en-US" altLang="zh-CN" sz="1800" kern="0" dirty="0">
                    <a:solidFill>
                      <a:schemeClr val="bg1"/>
                    </a:solidFill>
                    <a:effectLst/>
                    <a:ea typeface="宋体" panose="02010600030101010101" pitchFamily="2" charset="-122"/>
                    <a:cs typeface="宋体" panose="02010600030101010101" pitchFamily="2" charset="-122"/>
                  </a:rPr>
                  <a:t>e</a:t>
                </a:r>
                <a:r>
                  <a:rPr lang="zh-CN" altLang="zh-CN" sz="1800" kern="0" dirty="0">
                    <a:solidFill>
                      <a:schemeClr val="bg1"/>
                    </a:solidFill>
                    <a:effectLst/>
                    <a:ea typeface="宋体" panose="02010600030101010101" pitchFamily="2" charset="-122"/>
                    <a:cs typeface="宋体" panose="02010600030101010101" pitchFamily="2" charset="-122"/>
                  </a:rPr>
                  <a:t>上升</a:t>
                </a:r>
                <a14:m>
                  <m:oMath xmlns:m="http://schemas.openxmlformats.org/officeDocument/2006/math">
                    <m: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zh-CN"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外国较本国商品便宜</m:t>
                    </m:r>
                    <m: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zh-CN"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进口</m:t>
                    </m:r>
                    <m: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zh-CN"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出口</m:t>
                    </m:r>
                    <m: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nx</m:t>
                    </m:r>
                    <m: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y</m:t>
                    </m:r>
                    <m:r>
                      <a:rPr lang="en-US" altLang="zh-CN" sz="1800"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endParaRPr lang="zh-CN" altLang="en-US" dirty="0">
                  <a:solidFill>
                    <a:schemeClr val="bg1"/>
                  </a:solidFill>
                </a:endParaRPr>
              </a:p>
            </p:txBody>
          </p:sp>
        </mc:Choice>
        <mc:Fallback xmlns="">
          <p:sp>
            <p:nvSpPr>
              <p:cNvPr id="6" name="文本框 5">
                <a:extLst>
                  <a:ext uri="{FF2B5EF4-FFF2-40B4-BE49-F238E27FC236}">
                    <a16:creationId xmlns:a16="http://schemas.microsoft.com/office/drawing/2014/main" id="{929F07DA-B867-44BF-850B-C4A289347D00}"/>
                  </a:ext>
                </a:extLst>
              </p:cNvPr>
              <p:cNvSpPr txBox="1">
                <a:spLocks noRot="1" noChangeAspect="1" noMove="1" noResize="1" noEditPoints="1" noAdjustHandles="1" noChangeArrowheads="1" noChangeShapeType="1" noTextEdit="1"/>
              </p:cNvSpPr>
              <p:nvPr/>
            </p:nvSpPr>
            <p:spPr>
              <a:xfrm>
                <a:off x="5732023" y="3524639"/>
                <a:ext cx="6094378" cy="646331"/>
              </a:xfrm>
              <a:prstGeom prst="rect">
                <a:avLst/>
              </a:prstGeom>
              <a:blipFill>
                <a:blip r:embed="rId4"/>
                <a:stretch>
                  <a:fillRect l="-800" t="-7547" b="-37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32481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3BF08-01AA-4889-A34C-23F02B9BDC3A}"/>
              </a:ext>
            </a:extLst>
          </p:cNvPr>
          <p:cNvSpPr>
            <a:spLocks noGrp="1"/>
          </p:cNvSpPr>
          <p:nvPr>
            <p:ph type="title"/>
          </p:nvPr>
        </p:nvSpPr>
        <p:spPr>
          <a:xfrm>
            <a:off x="760379" y="146446"/>
            <a:ext cx="10515600" cy="1325563"/>
          </a:xfrm>
        </p:spPr>
        <p:txBody>
          <a:bodyPr/>
          <a:lstStyle/>
          <a:p>
            <a:r>
              <a:rPr lang="zh-CN" altLang="zh-CN" sz="1800" b="1" kern="0" dirty="0">
                <a:effectLst/>
                <a:ea typeface="宋体" panose="02010600030101010101" pitchFamily="2" charset="-122"/>
                <a:cs typeface="宋体" panose="02010600030101010101" pitchFamily="2" charset="-122"/>
              </a:rPr>
              <a:t>蒙代尔</a:t>
            </a:r>
            <a:r>
              <a:rPr lang="en-US" altLang="zh-CN" sz="1800" b="1" kern="0" dirty="0">
                <a:effectLst/>
                <a:ea typeface="宋体" panose="02010600030101010101" pitchFamily="2" charset="-122"/>
                <a:cs typeface="宋体" panose="02010600030101010101" pitchFamily="2" charset="-122"/>
              </a:rPr>
              <a:t>-</a:t>
            </a:r>
            <a:r>
              <a:rPr lang="zh-CN" altLang="zh-CN" sz="1800" b="1" kern="0" dirty="0">
                <a:effectLst/>
                <a:ea typeface="宋体" panose="02010600030101010101" pitchFamily="2" charset="-122"/>
                <a:cs typeface="宋体" panose="02010600030101010101" pitchFamily="2" charset="-122"/>
              </a:rPr>
              <a:t>弗莱明模型的应用</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A6BD51D-D429-4945-A4A7-36071410EEE7}"/>
                  </a:ext>
                </a:extLst>
              </p:cNvPr>
              <p:cNvSpPr>
                <a:spLocks noGrp="1"/>
              </p:cNvSpPr>
              <p:nvPr>
                <p:ph idx="1"/>
              </p:nvPr>
            </p:nvSpPr>
            <p:spPr>
              <a:xfrm>
                <a:off x="692285" y="1029594"/>
                <a:ext cx="6162472" cy="5681959"/>
              </a:xfrm>
            </p:spPr>
            <p:txBody>
              <a:bodyPr>
                <a:normAutofit fontScale="85000" lnSpcReduction="10000"/>
              </a:bodyPr>
              <a:lstStyle/>
              <a:p>
                <a:pPr marL="0" indent="0">
                  <a:buNone/>
                </a:pPr>
                <a:r>
                  <a:rPr lang="zh-CN" altLang="zh-CN" sz="2000" b="1" kern="0" dirty="0">
                    <a:effectLst/>
                    <a:ea typeface="宋体" panose="02010600030101010101" pitchFamily="2" charset="-122"/>
                    <a:cs typeface="宋体" panose="02010600030101010101" pitchFamily="2" charset="-122"/>
                  </a:rPr>
                  <a:t>短期扩张性财政政策在浮动汇率制下和固定汇率制下的政策效果</a:t>
                </a:r>
                <a:endParaRPr lang="en-US" altLang="zh-CN" sz="2000" b="1" kern="0" dirty="0">
                  <a:effectLst/>
                  <a:ea typeface="宋体" panose="02010600030101010101" pitchFamily="2" charset="-122"/>
                  <a:cs typeface="宋体" panose="02010600030101010101" pitchFamily="2" charset="-122"/>
                </a:endParaRPr>
              </a:p>
              <a:p>
                <a:pPr marL="0" indent="0">
                  <a:buNone/>
                </a:pPr>
                <a:endParaRPr lang="en-US" altLang="zh-CN" sz="2000" b="1" kern="0" dirty="0">
                  <a:ea typeface="宋体" panose="02010600030101010101" pitchFamily="2" charset="-122"/>
                </a:endParaRPr>
              </a:p>
              <a:p>
                <a:pPr marL="0" indent="0">
                  <a:buNone/>
                </a:pPr>
                <a:r>
                  <a:rPr lang="zh-CN" altLang="zh-CN" sz="2400" dirty="0">
                    <a:effectLst/>
                    <a:latin typeface="宋体" panose="02010600030101010101" pitchFamily="2" charset="-122"/>
                    <a:ea typeface="宋体" panose="02010600030101010101" pitchFamily="2" charset="-122"/>
                    <a:cs typeface="宋体" panose="02010600030101010101" pitchFamily="2" charset="-122"/>
                  </a:rPr>
                  <a:t>①政府通过减税或增加购买刺激国内支出，这一扩张性财政政策增加了计划支出使</a:t>
                </a:r>
                <a14:m>
                  <m:oMath xmlns:m="http://schemas.openxmlformats.org/officeDocument/2006/math">
                    <m:sSubSup>
                      <m:sSubSupPr>
                        <m:ctrlPr>
                          <a:rPr lang="zh-CN" altLang="zh-CN" sz="2400" i="1">
                            <a:effectLst/>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2400" i="1">
                            <a:effectLst/>
                            <a:latin typeface="Cambria Math" panose="02040503050406030204" pitchFamily="18" charset="0"/>
                            <a:ea typeface="宋体" panose="02010600030101010101" pitchFamily="2" charset="-122"/>
                            <a:cs typeface="宋体" panose="02010600030101010101" pitchFamily="2" charset="-122"/>
                          </a:rPr>
                          <m:t>𝐼𝑆</m:t>
                        </m:r>
                      </m:e>
                      <m:sub>
                        <m:r>
                          <a:rPr lang="en-US" altLang="zh-CN" sz="2400" i="1">
                            <a:effectLst/>
                            <a:latin typeface="Cambria Math" panose="02040503050406030204" pitchFamily="18" charset="0"/>
                            <a:ea typeface="宋体" panose="02010600030101010101" pitchFamily="2" charset="-122"/>
                            <a:cs typeface="宋体" panose="02010600030101010101" pitchFamily="2" charset="-122"/>
                          </a:rPr>
                          <m:t>1</m:t>
                        </m:r>
                      </m:sub>
                      <m:sup>
                        <m:r>
                          <a:rPr lang="zh-CN" altLang="en-US" sz="2400" i="1">
                            <a:effectLst/>
                            <a:latin typeface="Cambria Math" panose="02040503050406030204" pitchFamily="18" charset="0"/>
                            <a:ea typeface="MS Gothic" panose="020B0609070205080204" pitchFamily="49" charset="-128"/>
                            <a:cs typeface="MS Gothic" panose="020B0609070205080204" pitchFamily="49" charset="-128"/>
                          </a:rPr>
                          <m:t>∗</m:t>
                        </m:r>
                      </m:sup>
                    </m:sSubSup>
                  </m:oMath>
                </a14:m>
                <a:r>
                  <a:rPr lang="zh-CN" altLang="zh-CN" sz="2400" dirty="0">
                    <a:effectLst/>
                    <a:latin typeface="宋体" panose="02010600030101010101" pitchFamily="2" charset="-122"/>
                    <a:ea typeface="宋体" panose="02010600030101010101" pitchFamily="2" charset="-122"/>
                    <a:cs typeface="宋体" panose="02010600030101010101" pitchFamily="2" charset="-122"/>
                  </a:rPr>
                  <a:t>右移到</a:t>
                </a:r>
                <a14:m>
                  <m:oMath xmlns:m="http://schemas.openxmlformats.org/officeDocument/2006/math">
                    <m:sSubSup>
                      <m:sSubSupPr>
                        <m:ctrlPr>
                          <a:rPr lang="zh-CN" altLang="zh-CN" sz="2400" i="1">
                            <a:effectLst/>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2400" i="1">
                            <a:effectLst/>
                            <a:latin typeface="Cambria Math" panose="02040503050406030204" pitchFamily="18" charset="0"/>
                            <a:ea typeface="宋体" panose="02010600030101010101" pitchFamily="2" charset="-122"/>
                            <a:cs typeface="宋体" panose="02010600030101010101" pitchFamily="2" charset="-122"/>
                          </a:rPr>
                          <m:t>𝐼𝑆</m:t>
                        </m:r>
                      </m:e>
                      <m:sub>
                        <m:r>
                          <a:rPr lang="en-US" altLang="zh-CN" sz="2400" i="1">
                            <a:effectLst/>
                            <a:latin typeface="Cambria Math" panose="02040503050406030204" pitchFamily="18" charset="0"/>
                            <a:ea typeface="宋体" panose="02010600030101010101" pitchFamily="2" charset="-122"/>
                            <a:cs typeface="宋体" panose="02010600030101010101" pitchFamily="2" charset="-122"/>
                          </a:rPr>
                          <m:t>2</m:t>
                        </m:r>
                      </m:sub>
                      <m:sup>
                        <m:r>
                          <a:rPr lang="zh-CN" altLang="en-US" sz="2400" i="1">
                            <a:effectLst/>
                            <a:latin typeface="Cambria Math" panose="02040503050406030204" pitchFamily="18" charset="0"/>
                            <a:ea typeface="MS Gothic" panose="020B0609070205080204" pitchFamily="49" charset="-128"/>
                            <a:cs typeface="MS Gothic" panose="020B0609070205080204" pitchFamily="49" charset="-128"/>
                          </a:rPr>
                          <m:t>∗</m:t>
                        </m:r>
                      </m:sup>
                    </m:sSubSup>
                  </m:oMath>
                </a14:m>
                <a:r>
                  <a:rPr lang="zh-CN" altLang="zh-CN" sz="2400" dirty="0">
                    <a:effectLst/>
                    <a:latin typeface="宋体" panose="02010600030101010101" pitchFamily="2" charset="-122"/>
                    <a:ea typeface="宋体" panose="02010600030101010101" pitchFamily="2" charset="-122"/>
                    <a:cs typeface="宋体" panose="02010600030101010101" pitchFamily="2" charset="-122"/>
                  </a:rPr>
                  <a:t>，汇率上升而收入水平不变。</a:t>
                </a:r>
              </a:p>
              <a:p>
                <a:pPr marL="0" indent="0">
                  <a:buNone/>
                </a:pPr>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②背后的经济原因：</a:t>
                </a:r>
              </a:p>
              <a:p>
                <a:pPr marL="0" indent="0">
                  <a:buNone/>
                </a:pPr>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利率和汇率是其中的关键变量。在一个封闭经济中，当收入增加时，利率会上升，这是因为更高的收入增加了</a:t>
                </a:r>
              </a:p>
              <a:p>
                <a:pPr marL="0" indent="0">
                  <a:buNone/>
                </a:pPr>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对货币的需求。在一个小型开放经济下，这种情况是不可能的。只要利率上升到世界利率以上，资本就迅速从国外流入，以便从更高的回报中获益。资本的这一流入不仅使得利率回到了世界利率水平，还有另外一种作用。由于国外投资者需要买进本币在国内投资，资本的流动增加了外汇市场上对本币的需求，从而抬高了本币，本币升值使得本国产品相对于外国产品变得贵了，从而减少净出口，进出口的减少抵消了扩张性财政政策对于收入的影响。</a:t>
                </a:r>
              </a:p>
              <a:p>
                <a:pPr marL="0" indent="0">
                  <a:buNone/>
                </a:pPr>
                <a:endParaRPr lang="zh-CN" altLang="en-US" sz="2000" b="1" dirty="0"/>
              </a:p>
            </p:txBody>
          </p:sp>
        </mc:Choice>
        <mc:Fallback xmlns="">
          <p:sp>
            <p:nvSpPr>
              <p:cNvPr id="3" name="内容占位符 2">
                <a:extLst>
                  <a:ext uri="{FF2B5EF4-FFF2-40B4-BE49-F238E27FC236}">
                    <a16:creationId xmlns:a16="http://schemas.microsoft.com/office/drawing/2014/main" id="{7A6BD51D-D429-4945-A4A7-36071410EEE7}"/>
                  </a:ext>
                </a:extLst>
              </p:cNvPr>
              <p:cNvSpPr>
                <a:spLocks noGrp="1" noRot="1" noChangeAspect="1" noMove="1" noResize="1" noEditPoints="1" noAdjustHandles="1" noChangeArrowheads="1" noChangeShapeType="1" noTextEdit="1"/>
              </p:cNvSpPr>
              <p:nvPr>
                <p:ph idx="1"/>
              </p:nvPr>
            </p:nvSpPr>
            <p:spPr>
              <a:xfrm>
                <a:off x="692285" y="1029594"/>
                <a:ext cx="6162472" cy="5681959"/>
              </a:xfrm>
              <a:blipFill>
                <a:blip r:embed="rId2"/>
                <a:stretch>
                  <a:fillRect l="-1089" t="-1288" r="-297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38971855-9432-4A4F-B001-B03696ADA375}"/>
              </a:ext>
            </a:extLst>
          </p:cNvPr>
          <p:cNvSpPr txBox="1"/>
          <p:nvPr/>
        </p:nvSpPr>
        <p:spPr>
          <a:xfrm>
            <a:off x="760379" y="1472009"/>
            <a:ext cx="6094378" cy="369332"/>
          </a:xfrm>
          <a:prstGeom prst="rect">
            <a:avLst/>
          </a:prstGeom>
          <a:noFill/>
        </p:spPr>
        <p:txBody>
          <a:bodyPr wrap="square">
            <a:spAutoFit/>
          </a:bodyPr>
          <a:lstStyle/>
          <a:p>
            <a:r>
              <a:rPr lang="zh-CN" altLang="zh-CN" sz="1800" kern="0" dirty="0">
                <a:solidFill>
                  <a:schemeClr val="bg1"/>
                </a:solidFill>
                <a:effectLst/>
                <a:ea typeface="宋体" panose="02010600030101010101" pitchFamily="2" charset="-122"/>
                <a:cs typeface="宋体" panose="02010600030101010101" pitchFamily="2" charset="-122"/>
              </a:rPr>
              <a:t>（</a:t>
            </a:r>
            <a:r>
              <a:rPr lang="en-US" altLang="zh-CN" sz="1800" kern="0" dirty="0">
                <a:solidFill>
                  <a:schemeClr val="bg1"/>
                </a:solidFill>
                <a:effectLst/>
                <a:ea typeface="宋体" panose="02010600030101010101" pitchFamily="2" charset="-122"/>
                <a:cs typeface="宋体" panose="02010600030101010101" pitchFamily="2" charset="-122"/>
              </a:rPr>
              <a:t>1</a:t>
            </a:r>
            <a:r>
              <a:rPr lang="zh-CN" altLang="zh-CN" sz="1800" kern="0" dirty="0">
                <a:solidFill>
                  <a:schemeClr val="bg1"/>
                </a:solidFill>
                <a:effectLst/>
                <a:ea typeface="宋体" panose="02010600030101010101" pitchFamily="2" charset="-122"/>
                <a:cs typeface="宋体" panose="02010600030101010101" pitchFamily="2" charset="-122"/>
              </a:rPr>
              <a:t>）浮动汇率下的财政扩张</a:t>
            </a:r>
            <a:endParaRPr lang="zh-CN" altLang="en-US" dirty="0">
              <a:solidFill>
                <a:schemeClr val="bg1"/>
              </a:solidFill>
            </a:endParaRPr>
          </a:p>
        </p:txBody>
      </p:sp>
      <p:pic>
        <p:nvPicPr>
          <p:cNvPr id="6" name="图片 5">
            <a:extLst>
              <a:ext uri="{FF2B5EF4-FFF2-40B4-BE49-F238E27FC236}">
                <a16:creationId xmlns:a16="http://schemas.microsoft.com/office/drawing/2014/main" id="{7321B9B7-0820-4D92-B0E5-1E7B43CC37AB}"/>
              </a:ext>
            </a:extLst>
          </p:cNvPr>
          <p:cNvPicPr/>
          <p:nvPr/>
        </p:nvPicPr>
        <p:blipFill rotWithShape="1">
          <a:blip r:embed="rId3" cstate="print">
            <a:extLst>
              <a:ext uri="{28A0092B-C50C-407E-A947-70E740481C1C}">
                <a14:useLocalDpi xmlns:a14="http://schemas.microsoft.com/office/drawing/2010/main" val="0"/>
              </a:ext>
            </a:extLst>
          </a:blip>
          <a:srcRect b="11356"/>
          <a:stretch/>
        </p:blipFill>
        <p:spPr bwMode="auto">
          <a:xfrm>
            <a:off x="7169251" y="1154620"/>
            <a:ext cx="3578225" cy="25273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9347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9F8A8-3CC9-4787-BC5C-F9CF282F6BE3}"/>
              </a:ext>
            </a:extLst>
          </p:cNvPr>
          <p:cNvSpPr>
            <a:spLocks noGrp="1"/>
          </p:cNvSpPr>
          <p:nvPr>
            <p:ph type="title"/>
          </p:nvPr>
        </p:nvSpPr>
        <p:spPr/>
        <p:txBody>
          <a:bodyPr/>
          <a:lstStyle/>
          <a:p>
            <a:r>
              <a:rPr lang="zh-CN" altLang="zh-CN" sz="1800" kern="0" dirty="0">
                <a:solidFill>
                  <a:schemeClr val="bg1"/>
                </a:solidFill>
                <a:effectLst/>
                <a:ea typeface="宋体" panose="02010600030101010101" pitchFamily="2" charset="-122"/>
                <a:cs typeface="宋体" panose="02010600030101010101" pitchFamily="2" charset="-122"/>
              </a:rPr>
              <a:t>（</a:t>
            </a:r>
            <a:r>
              <a:rPr lang="en-US" altLang="zh-CN" sz="1800" kern="0" dirty="0">
                <a:solidFill>
                  <a:schemeClr val="bg1"/>
                </a:solidFill>
                <a:effectLst/>
                <a:ea typeface="宋体" panose="02010600030101010101" pitchFamily="2" charset="-122"/>
                <a:cs typeface="宋体" panose="02010600030101010101" pitchFamily="2" charset="-122"/>
              </a:rPr>
              <a:t>2</a:t>
            </a:r>
            <a:r>
              <a:rPr lang="zh-CN" altLang="zh-CN" sz="1800" kern="0" dirty="0">
                <a:solidFill>
                  <a:schemeClr val="bg1"/>
                </a:solidFill>
                <a:effectLst/>
                <a:ea typeface="宋体" panose="02010600030101010101" pitchFamily="2" charset="-122"/>
                <a:cs typeface="宋体" panose="02010600030101010101" pitchFamily="2" charset="-122"/>
              </a:rPr>
              <a:t>）固定汇率下的财政扩张</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8380DA0-802D-4ED1-A797-0A99DAF8E8F6}"/>
                  </a:ext>
                </a:extLst>
              </p:cNvPr>
              <p:cNvSpPr>
                <a:spLocks noGrp="1"/>
              </p:cNvSpPr>
              <p:nvPr>
                <p:ph idx="1"/>
              </p:nvPr>
            </p:nvSpPr>
            <p:spPr>
              <a:xfrm>
                <a:off x="838200" y="1465702"/>
                <a:ext cx="10515600" cy="4351338"/>
              </a:xfrm>
            </p:spPr>
            <p:txBody>
              <a:bodyPr/>
              <a:lstStyle/>
              <a:p>
                <a:pPr marL="0" indent="0">
                  <a:buNone/>
                </a:pPr>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政府采取扩张性财政政策使</a:t>
                </a:r>
                <a:r>
                  <a:rPr lang="en-US"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IS</a:t>
                </a:r>
                <a:r>
                  <a:rPr lang="en-US" altLang="zh-CN" sz="24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曲线右移时</a:t>
                </a:r>
                <a14:m>
                  <m:oMath xmlns:m="http://schemas.openxmlformats.org/officeDocument/2006/math">
                    <m:r>
                      <a:rPr lang="en-US" altLang="zh-CN" sz="24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本币有升值的压力即汇率产生了向上的压力。由于中央银行实行固定汇率制，央行会买外币而抛本币</a:t>
                </a:r>
                <a14:m>
                  <m:oMath xmlns:m="http://schemas.openxmlformats.org/officeDocument/2006/math">
                    <m:r>
                      <a:rPr lang="en-US" altLang="zh-CN" sz="24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使本币供给增加。货币供给增加</a:t>
                </a:r>
                <a14:m>
                  <m:oMath xmlns:m="http://schemas.openxmlformats.org/officeDocument/2006/math">
                    <m:r>
                      <a:rPr lang="en-US" altLang="zh-CN" sz="24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使得</a:t>
                </a:r>
                <a:r>
                  <a:rPr lang="en-US"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4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4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右移，因此在固定汇率下，财政扩张增加了总收入。</a:t>
                </a:r>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48380DA0-802D-4ED1-A797-0A99DAF8E8F6}"/>
                  </a:ext>
                </a:extLst>
              </p:cNvPr>
              <p:cNvSpPr>
                <a:spLocks noGrp="1" noRot="1" noChangeAspect="1" noMove="1" noResize="1" noEditPoints="1" noAdjustHandles="1" noChangeArrowheads="1" noChangeShapeType="1" noTextEdit="1"/>
              </p:cNvSpPr>
              <p:nvPr>
                <p:ph idx="1"/>
              </p:nvPr>
            </p:nvSpPr>
            <p:spPr>
              <a:xfrm>
                <a:off x="838200" y="1465702"/>
                <a:ext cx="10515600" cy="4351338"/>
              </a:xfrm>
              <a:blipFill>
                <a:blip r:embed="rId2"/>
                <a:stretch>
                  <a:fillRect l="-928" t="-2381" r="-75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FAEF059-281F-462E-A0D8-5D89985BB78E}"/>
              </a:ext>
            </a:extLst>
          </p:cNvPr>
          <p:cNvPicPr/>
          <p:nvPr/>
        </p:nvPicPr>
        <p:blipFill rotWithShape="1">
          <a:blip r:embed="rId3" cstate="print">
            <a:extLst>
              <a:ext uri="{28A0092B-C50C-407E-A947-70E740481C1C}">
                <a14:useLocalDpi xmlns:a14="http://schemas.microsoft.com/office/drawing/2010/main" val="0"/>
              </a:ext>
            </a:extLst>
          </a:blip>
          <a:srcRect b="15157"/>
          <a:stretch/>
        </p:blipFill>
        <p:spPr bwMode="auto">
          <a:xfrm>
            <a:off x="1494418" y="3257990"/>
            <a:ext cx="3833495" cy="255905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59364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563D6F-97B0-4039-B28D-0EE712CE3B70}"/>
              </a:ext>
            </a:extLst>
          </p:cNvPr>
          <p:cNvSpPr>
            <a:spLocks noGrp="1"/>
          </p:cNvSpPr>
          <p:nvPr>
            <p:ph type="title"/>
          </p:nvPr>
        </p:nvSpPr>
        <p:spPr>
          <a:xfrm>
            <a:off x="838200" y="455999"/>
            <a:ext cx="10515600" cy="1325563"/>
          </a:xfrm>
        </p:spPr>
        <p:txBody>
          <a:bodyPr/>
          <a:lstStyle/>
          <a:p>
            <a:r>
              <a:rPr lang="zh-CN" altLang="zh-CN" sz="1800" b="1" kern="0" dirty="0">
                <a:effectLst/>
                <a:ea typeface="宋体" panose="02010600030101010101" pitchFamily="2" charset="-122"/>
                <a:cs typeface="宋体" panose="02010600030101010101" pitchFamily="2" charset="-122"/>
              </a:rPr>
              <a:t>短期扩张性货币政策在浮动汇率制下和固定汇率制下的政策效果</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96504DA-0481-43C6-AF38-B2A877CA0138}"/>
                  </a:ext>
                </a:extLst>
              </p:cNvPr>
              <p:cNvSpPr>
                <a:spLocks noGrp="1"/>
              </p:cNvSpPr>
              <p:nvPr>
                <p:ph idx="1"/>
              </p:nvPr>
            </p:nvSpPr>
            <p:spPr>
              <a:xfrm>
                <a:off x="838200" y="1387881"/>
                <a:ext cx="6331085" cy="4351338"/>
              </a:xfrm>
            </p:spPr>
            <p:txBody>
              <a:bodyPr>
                <a:normAutofit lnSpcReduction="10000"/>
              </a:bodyPr>
              <a:lstStyle/>
              <a:p>
                <a:pPr marL="0" indent="0">
                  <a:buNone/>
                </a:pPr>
                <a:r>
                  <a:rPr lang="zh-CN" altLang="zh-CN" sz="1800" kern="0" dirty="0">
                    <a:solidFill>
                      <a:schemeClr val="bg1"/>
                    </a:solidFill>
                    <a:effectLst/>
                    <a:ea typeface="宋体" panose="02010600030101010101" pitchFamily="2" charset="-122"/>
                    <a:cs typeface="宋体" panose="02010600030101010101" pitchFamily="2" charset="-122"/>
                  </a:rPr>
                  <a:t>（</a:t>
                </a:r>
                <a:r>
                  <a:rPr lang="en-US" altLang="zh-CN" sz="1800" kern="0" dirty="0">
                    <a:solidFill>
                      <a:schemeClr val="bg1"/>
                    </a:solidFill>
                    <a:effectLst/>
                    <a:ea typeface="宋体" panose="02010600030101010101" pitchFamily="2" charset="-122"/>
                    <a:cs typeface="宋体" panose="02010600030101010101" pitchFamily="2" charset="-122"/>
                  </a:rPr>
                  <a:t>1</a:t>
                </a:r>
                <a:r>
                  <a:rPr lang="zh-CN" altLang="zh-CN" sz="1800" kern="0" dirty="0">
                    <a:solidFill>
                      <a:schemeClr val="bg1"/>
                    </a:solidFill>
                    <a:effectLst/>
                    <a:ea typeface="宋体" panose="02010600030101010101" pitchFamily="2" charset="-122"/>
                    <a:cs typeface="宋体" panose="02010600030101010101" pitchFamily="2" charset="-122"/>
                  </a:rPr>
                  <a:t>）浮动汇率下的货币扩张</a:t>
                </a:r>
                <a:endParaRPr lang="en-US" altLang="zh-CN" sz="1800" kern="0" dirty="0">
                  <a:solidFill>
                    <a:schemeClr val="bg1"/>
                  </a:solidFill>
                  <a:effectLst/>
                  <a:ea typeface="宋体" panose="02010600030101010101" pitchFamily="2" charset="-122"/>
                  <a:cs typeface="宋体" panose="02010600030101010101" pitchFamily="2" charset="-122"/>
                </a:endParaRPr>
              </a:p>
              <a:p>
                <a:pPr marL="0" indent="0">
                  <a:buNone/>
                </a:pP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①图中</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0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右移，即货币供给增加，使得收入提高并且降低了汇率。但是与封闭经济下不同，它并不是因为利率下降，投资增加而增加收入的，因为在这里</a:t>
                </a:r>
                <a14:m>
                  <m:oMath xmlns:m="http://schemas.openxmlformats.org/officeDocument/2006/math">
                    <m:sSub>
                      <m:sSubPr>
                        <m:ctrlPr>
                          <a:rPr lang="zh-CN" altLang="zh-CN" sz="2000" i="1">
                            <a:solidFill>
                              <a:schemeClr val="bg1"/>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𝑟</m:t>
                        </m:r>
                        <m:r>
                          <a:rPr lang="en-US" altLang="zh-CN" sz="2000"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𝑟</m:t>
                        </m:r>
                      </m:e>
                      <m:sub>
                        <m:r>
                          <a:rPr lang="en-US" altLang="zh-CN" sz="2000"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𝑤</m:t>
                        </m:r>
                      </m:sub>
                    </m:sSub>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，利率是不变的。浮动汇率下货币政策之所以能够影响支出是因</a:t>
                </a:r>
              </a:p>
              <a:p>
                <a:pPr marL="0" indent="0">
                  <a:buNone/>
                </a:pP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为利率和汇率这两个</a:t>
                </a:r>
              </a:p>
              <a:p>
                <a:pPr marL="0" indent="0">
                  <a:buNone/>
                </a:pP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关键变量。</a:t>
                </a:r>
              </a:p>
              <a:p>
                <a:pPr marL="0" indent="0" algn="just">
                  <a:buNone/>
                </a:pP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②货币供给增加</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国内利率有向下的压力，资本为寻求更高收益而流出。资本的流出，有两方面作用，一是阻止了国内利率下降到低于</a:t>
                </a:r>
                <a14:m>
                  <m:oMath xmlns:m="http://schemas.openxmlformats.org/officeDocument/2006/math">
                    <m:sSub>
                      <m:sSubPr>
                        <m:ctrlPr>
                          <a:rPr lang="zh-CN" altLang="zh-CN" sz="2000" i="1">
                            <a:solidFill>
                              <a:schemeClr val="bg1"/>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𝑟</m:t>
                        </m:r>
                      </m:e>
                      <m:sub>
                        <m:r>
                          <a:rPr lang="en-US" altLang="zh-CN" sz="2000" i="1">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𝑤</m:t>
                        </m:r>
                      </m:sub>
                    </m:sSub>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水平，二是资本流出增加了外汇市场上，国内通货的供给</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使得本币贬值</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从而国内产品比国外相对便宜</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净出口增加</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y</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增加。因此在一个小型开放经济中，货币政策通过改变汇率，而不是改变利率来影响收入。</a:t>
                </a:r>
              </a:p>
              <a:p>
                <a:pPr marL="0" indent="0">
                  <a:buNone/>
                </a:pPr>
                <a:endParaRPr lang="zh-CN" altLang="en-US" dirty="0">
                  <a:solidFill>
                    <a:schemeClr val="bg1"/>
                  </a:solidFill>
                </a:endParaRPr>
              </a:p>
            </p:txBody>
          </p:sp>
        </mc:Choice>
        <mc:Fallback xmlns="">
          <p:sp>
            <p:nvSpPr>
              <p:cNvPr id="3" name="内容占位符 2">
                <a:extLst>
                  <a:ext uri="{FF2B5EF4-FFF2-40B4-BE49-F238E27FC236}">
                    <a16:creationId xmlns:a16="http://schemas.microsoft.com/office/drawing/2014/main" id="{996504DA-0481-43C6-AF38-B2A877CA0138}"/>
                  </a:ext>
                </a:extLst>
              </p:cNvPr>
              <p:cNvSpPr>
                <a:spLocks noGrp="1" noRot="1" noChangeAspect="1" noMove="1" noResize="1" noEditPoints="1" noAdjustHandles="1" noChangeArrowheads="1" noChangeShapeType="1" noTextEdit="1"/>
              </p:cNvSpPr>
              <p:nvPr>
                <p:ph idx="1"/>
              </p:nvPr>
            </p:nvSpPr>
            <p:spPr>
              <a:xfrm>
                <a:off x="838200" y="1387881"/>
                <a:ext cx="6331085" cy="4351338"/>
              </a:xfrm>
              <a:blipFill>
                <a:blip r:embed="rId2"/>
                <a:stretch>
                  <a:fillRect l="-1060" t="-2525" r="-96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89DCD1F-C97B-4F0E-9DD8-85DA4121B0BD}"/>
              </a:ext>
            </a:extLst>
          </p:cNvPr>
          <p:cNvPicPr/>
          <p:nvPr/>
        </p:nvPicPr>
        <p:blipFill rotWithShape="1">
          <a:blip r:embed="rId3" cstate="print">
            <a:extLst>
              <a:ext uri="{28A0092B-C50C-407E-A947-70E740481C1C}">
                <a14:useLocalDpi xmlns:a14="http://schemas.microsoft.com/office/drawing/2010/main" val="0"/>
              </a:ext>
            </a:extLst>
          </a:blip>
          <a:srcRect l="2988" t="1749" b="13088"/>
          <a:stretch/>
        </p:blipFill>
        <p:spPr bwMode="auto">
          <a:xfrm>
            <a:off x="7708900" y="1781562"/>
            <a:ext cx="3644900" cy="21640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8443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FE971D-75A6-462B-B476-3B6023A26028}"/>
              </a:ext>
            </a:extLst>
          </p:cNvPr>
          <p:cNvSpPr>
            <a:spLocks noGrp="1"/>
          </p:cNvSpPr>
          <p:nvPr>
            <p:ph type="title"/>
          </p:nvPr>
        </p:nvSpPr>
        <p:spPr/>
        <p:txBody>
          <a:bodyPr/>
          <a:lstStyle/>
          <a:p>
            <a:r>
              <a:rPr lang="zh-CN" altLang="zh-CN" sz="1800" kern="0" dirty="0">
                <a:solidFill>
                  <a:schemeClr val="bg1"/>
                </a:solidFill>
                <a:effectLst/>
                <a:ea typeface="宋体" panose="02010600030101010101" pitchFamily="2" charset="-122"/>
                <a:cs typeface="宋体" panose="02010600030101010101" pitchFamily="2" charset="-122"/>
              </a:rPr>
              <a:t>（</a:t>
            </a:r>
            <a:r>
              <a:rPr lang="en-US" altLang="zh-CN" sz="1800" kern="0" dirty="0">
                <a:solidFill>
                  <a:schemeClr val="bg1"/>
                </a:solidFill>
                <a:effectLst/>
                <a:ea typeface="宋体" panose="02010600030101010101" pitchFamily="2" charset="-122"/>
                <a:cs typeface="宋体" panose="02010600030101010101" pitchFamily="2" charset="-122"/>
              </a:rPr>
              <a:t>2</a:t>
            </a:r>
            <a:r>
              <a:rPr lang="zh-CN" altLang="zh-CN" sz="1800" kern="0" dirty="0">
                <a:solidFill>
                  <a:schemeClr val="bg1"/>
                </a:solidFill>
                <a:effectLst/>
                <a:ea typeface="宋体" panose="02010600030101010101" pitchFamily="2" charset="-122"/>
                <a:cs typeface="宋体" panose="02010600030101010101" pitchFamily="2" charset="-122"/>
              </a:rPr>
              <a:t>）固定汇率下的货币扩张</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F5D1FF6-4B90-4905-AAF6-8F5D3D5301A2}"/>
                  </a:ext>
                </a:extLst>
              </p:cNvPr>
              <p:cNvSpPr>
                <a:spLocks noGrp="1"/>
              </p:cNvSpPr>
              <p:nvPr>
                <p:ph idx="1"/>
              </p:nvPr>
            </p:nvSpPr>
            <p:spPr>
              <a:xfrm>
                <a:off x="838200" y="1253330"/>
                <a:ext cx="5338864" cy="5478209"/>
              </a:xfrm>
            </p:spPr>
            <p:txBody>
              <a:bodyPr>
                <a:normAutofit/>
              </a:bodyPr>
              <a:lstStyle/>
              <a:p>
                <a:pPr algn="just"/>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①中央银行增加货币供给开始时，使</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0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右移</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降低了汇率。但由于中央银行实行固定汇率制，在</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0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右移</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使得本币有贬值的压力时，央行会买进本币抛出外币</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使本币的供给减少</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这就使得</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0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又回到其初始位置。因此，固定汇率制下扩张性货币政策是无效的，这是因为中央银行放弃了对</a:t>
                </a:r>
              </a:p>
              <a:p>
                <a:pPr algn="just"/>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货币供给的控制。</a:t>
                </a:r>
              </a:p>
              <a:p>
                <a:pPr algn="just"/>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②然而采取固定汇率制的国家，也可以改变固定汇率水平，使货币的官方价值上升或下降，被称为货币升值、货币贬值。</a:t>
                </a:r>
              </a:p>
              <a:p>
                <a:pPr algn="just"/>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③在蒙代尔</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弗莱明模型中，货币贬值使</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0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右移，相当于浮动汇率制下，增加货币供给的作用。因为货币贬值</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可以扩大净出口</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并增加收入；相反货币升值</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使得</a:t>
                </a:r>
                <a:r>
                  <a:rPr lang="en-US"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LM</a:t>
                </a:r>
                <a:r>
                  <a:rPr lang="en-US" altLang="zh-CN" sz="2000" baseline="30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左移</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使得净出口减少</a:t>
                </a:r>
                <a14:m>
                  <m:oMath xmlns:m="http://schemas.openxmlformats.org/officeDocument/2006/math">
                    <m:r>
                      <a:rPr lang="en-US" altLang="zh-CN" sz="200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0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从而收入减少。</a:t>
                </a:r>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EF5D1FF6-4B90-4905-AAF6-8F5D3D5301A2}"/>
                  </a:ext>
                </a:extLst>
              </p:cNvPr>
              <p:cNvSpPr>
                <a:spLocks noGrp="1" noRot="1" noChangeAspect="1" noMove="1" noResize="1" noEditPoints="1" noAdjustHandles="1" noChangeArrowheads="1" noChangeShapeType="1" noTextEdit="1"/>
              </p:cNvSpPr>
              <p:nvPr>
                <p:ph idx="1"/>
              </p:nvPr>
            </p:nvSpPr>
            <p:spPr>
              <a:xfrm>
                <a:off x="838200" y="1253330"/>
                <a:ext cx="5338864" cy="5478209"/>
              </a:xfrm>
              <a:blipFill>
                <a:blip r:embed="rId2"/>
                <a:stretch>
                  <a:fillRect l="-1029" t="-1225" r="-617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2F1FE16-03E6-4340-81FE-4328CCC1DD71}"/>
              </a:ext>
            </a:extLst>
          </p:cNvPr>
          <p:cNvPicPr/>
          <p:nvPr/>
        </p:nvPicPr>
        <p:blipFill rotWithShape="1">
          <a:blip r:embed="rId3" cstate="print">
            <a:extLst>
              <a:ext uri="{28A0092B-C50C-407E-A947-70E740481C1C}">
                <a14:useLocalDpi xmlns:a14="http://schemas.microsoft.com/office/drawing/2010/main" val="0"/>
              </a:ext>
            </a:extLst>
          </a:blip>
          <a:srcRect b="13710"/>
          <a:stretch/>
        </p:blipFill>
        <p:spPr bwMode="auto">
          <a:xfrm>
            <a:off x="6650469" y="1690688"/>
            <a:ext cx="3787310" cy="225904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46955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C70F3E8-B9CA-4D5B-9F31-313BE16272C7}"/>
              </a:ext>
            </a:extLst>
          </p:cNvPr>
          <p:cNvSpPr>
            <a:spLocks noGrp="1" noChangeArrowheads="1"/>
          </p:cNvSpPr>
          <p:nvPr>
            <p:ph type="title"/>
          </p:nvPr>
        </p:nvSpPr>
        <p:spPr>
          <a:xfrm>
            <a:off x="468313" y="636386"/>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3200" dirty="0"/>
              <a:t>新古典增长理论（索洛模型）</a:t>
            </a:r>
          </a:p>
        </p:txBody>
      </p:sp>
      <p:sp>
        <p:nvSpPr>
          <p:cNvPr id="5" name="Rectangle 4">
            <a:extLst>
              <a:ext uri="{FF2B5EF4-FFF2-40B4-BE49-F238E27FC236}">
                <a16:creationId xmlns:a16="http://schemas.microsoft.com/office/drawing/2014/main" id="{54732B42-E59B-4972-B42A-66F0A8E855FB}"/>
              </a:ext>
            </a:extLst>
          </p:cNvPr>
          <p:cNvSpPr txBox="1">
            <a:spLocks noChangeArrowheads="1"/>
          </p:cNvSpPr>
          <p:nvPr/>
        </p:nvSpPr>
        <p:spPr>
          <a:xfrm>
            <a:off x="468313" y="1573011"/>
            <a:ext cx="8135937" cy="711200"/>
          </a:xfrm>
          <a:prstGeom prst="rect">
            <a:avLst/>
          </a:prstGeom>
          <a:ln>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模型的假设</a:t>
            </a:r>
            <a:endParaRPr lang="zh-CN" altLang="en-US" dirty="0">
              <a:latin typeface="黑体" panose="02010609060101010101" pitchFamily="49" charset="-122"/>
              <a:ea typeface="黑体" panose="02010609060101010101" pitchFamily="49" charset="-122"/>
            </a:endParaRPr>
          </a:p>
        </p:txBody>
      </p:sp>
      <p:sp>
        <p:nvSpPr>
          <p:cNvPr id="6" name="Rectangle 6">
            <a:extLst>
              <a:ext uri="{FF2B5EF4-FFF2-40B4-BE49-F238E27FC236}">
                <a16:creationId xmlns:a16="http://schemas.microsoft.com/office/drawing/2014/main" id="{577DE100-1BED-48CD-BF1F-9CF5BC28C92B}"/>
              </a:ext>
            </a:extLst>
          </p:cNvPr>
          <p:cNvSpPr>
            <a:spLocks noChangeArrowheads="1"/>
          </p:cNvSpPr>
          <p:nvPr/>
        </p:nvSpPr>
        <p:spPr bwMode="auto">
          <a:xfrm>
            <a:off x="468313" y="2436611"/>
            <a:ext cx="8135937" cy="1368425"/>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社会储蓄函数</a:t>
            </a:r>
            <a:r>
              <a:rPr lang="en-US" altLang="zh-CN" dirty="0"/>
              <a:t>S=</a:t>
            </a:r>
            <a:r>
              <a:rPr lang="en-US" altLang="zh-CN" dirty="0" err="1"/>
              <a:t>sY</a:t>
            </a:r>
            <a:r>
              <a:rPr lang="en-US" altLang="zh-CN" dirty="0"/>
              <a:t> </a:t>
            </a:r>
            <a:r>
              <a:rPr lang="zh-CN" altLang="en-US" dirty="0"/>
              <a:t>，</a:t>
            </a:r>
            <a:r>
              <a:rPr lang="en-US" altLang="zh-CN" dirty="0"/>
              <a:t>s</a:t>
            </a:r>
            <a:r>
              <a:rPr lang="zh-CN" altLang="en-US" dirty="0"/>
              <a:t>是储蓄率。</a:t>
            </a:r>
          </a:p>
          <a:p>
            <a:pPr>
              <a:lnSpc>
                <a:spcPct val="90000"/>
              </a:lnSpc>
            </a:pPr>
            <a:r>
              <a:rPr lang="zh-CN" altLang="en-US" dirty="0"/>
              <a:t>规模报酬不变。</a:t>
            </a:r>
          </a:p>
          <a:p>
            <a:pPr>
              <a:lnSpc>
                <a:spcPct val="90000"/>
              </a:lnSpc>
            </a:pPr>
            <a:r>
              <a:rPr lang="zh-CN" altLang="en-US" dirty="0"/>
              <a:t>劳动力按照一个不变的比率</a:t>
            </a:r>
            <a:r>
              <a:rPr lang="en-US" altLang="zh-CN" dirty="0"/>
              <a:t>n</a:t>
            </a:r>
            <a:r>
              <a:rPr lang="zh-CN" altLang="en-US" dirty="0"/>
              <a:t>增长。</a:t>
            </a:r>
          </a:p>
        </p:txBody>
      </p:sp>
    </p:spTree>
    <p:extLst>
      <p:ext uri="{BB962C8B-B14F-4D97-AF65-F5344CB8AC3E}">
        <p14:creationId xmlns:p14="http://schemas.microsoft.com/office/powerpoint/2010/main" val="1017406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984A5AC-9BC1-427C-AE1A-69651120A5B7}"/>
              </a:ext>
            </a:extLst>
          </p:cNvPr>
          <p:cNvSpPr>
            <a:spLocks noGrp="1" noChangeArrowheads="1"/>
          </p:cNvSpPr>
          <p:nvPr>
            <p:ph type="title"/>
          </p:nvPr>
        </p:nvSpPr>
        <p:spPr>
          <a:xfrm>
            <a:off x="838200"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400" dirty="0"/>
              <a:t>人均生产函数曲线</a:t>
            </a:r>
          </a:p>
        </p:txBody>
      </p:sp>
      <p:sp>
        <p:nvSpPr>
          <p:cNvPr id="5" name="Rectangle 13">
            <a:extLst>
              <a:ext uri="{FF2B5EF4-FFF2-40B4-BE49-F238E27FC236}">
                <a16:creationId xmlns:a16="http://schemas.microsoft.com/office/drawing/2014/main" id="{71204E6C-5529-4BA3-89F7-86E866DC3E92}"/>
              </a:ext>
            </a:extLst>
          </p:cNvPr>
          <p:cNvSpPr>
            <a:spLocks noGrp="1" noChangeArrowheads="1"/>
          </p:cNvSpPr>
          <p:nvPr>
            <p:ph idx="1"/>
          </p:nvPr>
        </p:nvSpPr>
        <p:spPr>
          <a:xfrm>
            <a:off x="649897" y="1302048"/>
            <a:ext cx="8135937" cy="503237"/>
          </a:xfrm>
          <a:ln>
            <a:headEnd/>
            <a:tailEnd/>
          </a:ln>
        </p:spPr>
        <p:txBody>
          <a:bodyPr/>
          <a:lstStyle/>
          <a:p>
            <a:pPr>
              <a:lnSpc>
                <a:spcPct val="80000"/>
              </a:lnSpc>
              <a:buClr>
                <a:schemeClr val="hlink"/>
              </a:buClr>
              <a:buFont typeface="Wingdings" panose="05000000000000000000" pitchFamily="2" charset="2"/>
              <a:buChar char="u"/>
            </a:pPr>
            <a:r>
              <a:rPr lang="zh-CN" altLang="en-US" dirty="0"/>
              <a:t>不考虑技术进步：</a:t>
            </a:r>
            <a:r>
              <a:rPr lang="en-US" altLang="zh-CN" dirty="0"/>
              <a:t>Y=F</a:t>
            </a:r>
            <a:r>
              <a:rPr lang="zh-CN" altLang="en-US" dirty="0"/>
              <a:t>（</a:t>
            </a:r>
            <a:r>
              <a:rPr lang="en-US" altLang="zh-CN" dirty="0"/>
              <a:t>N,K</a:t>
            </a:r>
            <a:r>
              <a:rPr lang="zh-CN" altLang="en-US" dirty="0"/>
              <a:t>）</a:t>
            </a:r>
          </a:p>
        </p:txBody>
      </p:sp>
      <p:sp>
        <p:nvSpPr>
          <p:cNvPr id="6" name="Rectangle 14">
            <a:extLst>
              <a:ext uri="{FF2B5EF4-FFF2-40B4-BE49-F238E27FC236}">
                <a16:creationId xmlns:a16="http://schemas.microsoft.com/office/drawing/2014/main" id="{2E207F9B-4FC9-4167-918B-AA4CD6AF250C}"/>
              </a:ext>
            </a:extLst>
          </p:cNvPr>
          <p:cNvSpPr>
            <a:spLocks noChangeArrowheads="1"/>
          </p:cNvSpPr>
          <p:nvPr/>
        </p:nvSpPr>
        <p:spPr bwMode="auto">
          <a:xfrm>
            <a:off x="1272465" y="2006703"/>
            <a:ext cx="3598862" cy="2016125"/>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80000"/>
              </a:lnSpc>
              <a:buClr>
                <a:schemeClr val="hlink"/>
              </a:buClr>
              <a:buFont typeface="Wingdings" panose="05000000000000000000" pitchFamily="2" charset="2"/>
              <a:buChar char="u"/>
            </a:pPr>
            <a:r>
              <a:rPr lang="zh-CN" altLang="en-US" dirty="0"/>
              <a:t>规模报酬不变</a:t>
            </a:r>
          </a:p>
          <a:p>
            <a:pPr>
              <a:lnSpc>
                <a:spcPct val="80000"/>
              </a:lnSpc>
              <a:buClr>
                <a:schemeClr val="hlink"/>
              </a:buClr>
              <a:buFont typeface="Wingdings" panose="05000000000000000000" pitchFamily="2" charset="2"/>
              <a:buChar char="u"/>
            </a:pPr>
            <a:r>
              <a:rPr lang="el-GR" altLang="zh-CN" dirty="0">
                <a:solidFill>
                  <a:srgbClr val="FF0000"/>
                </a:solidFill>
                <a:cs typeface="Times New Roman" panose="02020603050405020304" pitchFamily="18" charset="0"/>
              </a:rPr>
              <a:t>λ</a:t>
            </a:r>
            <a:r>
              <a:rPr lang="en-US" altLang="zh-CN" dirty="0"/>
              <a:t>Y=F</a:t>
            </a:r>
            <a:r>
              <a:rPr lang="zh-CN" altLang="en-US" dirty="0"/>
              <a:t>（</a:t>
            </a:r>
            <a:r>
              <a:rPr lang="el-GR" altLang="zh-CN" dirty="0">
                <a:solidFill>
                  <a:srgbClr val="FF0000"/>
                </a:solidFill>
                <a:cs typeface="Times New Roman" panose="02020603050405020304" pitchFamily="18" charset="0"/>
              </a:rPr>
              <a:t>λ</a:t>
            </a:r>
            <a:r>
              <a:rPr lang="en-US" altLang="zh-CN" dirty="0"/>
              <a:t>N, </a:t>
            </a:r>
            <a:r>
              <a:rPr lang="el-GR" altLang="zh-CN" dirty="0">
                <a:solidFill>
                  <a:srgbClr val="FF0000"/>
                </a:solidFill>
                <a:cs typeface="Times New Roman" panose="02020603050405020304" pitchFamily="18" charset="0"/>
              </a:rPr>
              <a:t>λ</a:t>
            </a:r>
            <a:r>
              <a:rPr lang="en-US" altLang="zh-CN" dirty="0"/>
              <a:t>K</a:t>
            </a:r>
            <a:r>
              <a:rPr lang="zh-CN" altLang="en-US" dirty="0"/>
              <a:t>）</a:t>
            </a:r>
          </a:p>
          <a:p>
            <a:r>
              <a:rPr lang="zh-CN" altLang="en-US" dirty="0"/>
              <a:t>令</a:t>
            </a:r>
            <a:r>
              <a:rPr lang="el-GR" altLang="zh-CN" dirty="0">
                <a:solidFill>
                  <a:srgbClr val="FF0000"/>
                </a:solidFill>
                <a:cs typeface="Times New Roman" panose="02020603050405020304" pitchFamily="18" charset="0"/>
              </a:rPr>
              <a:t>λ</a:t>
            </a:r>
            <a:r>
              <a:rPr lang="zh-CN" altLang="en-US" dirty="0">
                <a:solidFill>
                  <a:srgbClr val="FF0000"/>
                </a:solidFill>
                <a:cs typeface="Times New Roman" panose="02020603050405020304" pitchFamily="18" charset="0"/>
              </a:rPr>
              <a:t>＝</a:t>
            </a:r>
            <a:r>
              <a:rPr lang="en-US" altLang="zh-CN" dirty="0">
                <a:solidFill>
                  <a:srgbClr val="FF0000"/>
                </a:solidFill>
                <a:cs typeface="Times New Roman" panose="02020603050405020304" pitchFamily="18" charset="0"/>
              </a:rPr>
              <a:t>1/N</a:t>
            </a:r>
          </a:p>
          <a:p>
            <a:r>
              <a:rPr lang="en-US" altLang="zh-CN" sz="2000" dirty="0">
                <a:solidFill>
                  <a:schemeClr val="folHlink"/>
                </a:solidFill>
                <a:cs typeface="Times New Roman" panose="02020603050405020304" pitchFamily="18" charset="0"/>
              </a:rPr>
              <a:t>N</a:t>
            </a:r>
            <a:r>
              <a:rPr lang="zh-CN" altLang="en-US" sz="2000" dirty="0">
                <a:solidFill>
                  <a:schemeClr val="folHlink"/>
                </a:solidFill>
                <a:cs typeface="Times New Roman" panose="02020603050405020304" pitchFamily="18" charset="0"/>
              </a:rPr>
              <a:t>＝全部人口，假设所有人口参与生产</a:t>
            </a:r>
          </a:p>
        </p:txBody>
      </p:sp>
      <p:sp>
        <p:nvSpPr>
          <p:cNvPr id="7" name="Rectangle 15">
            <a:extLst>
              <a:ext uri="{FF2B5EF4-FFF2-40B4-BE49-F238E27FC236}">
                <a16:creationId xmlns:a16="http://schemas.microsoft.com/office/drawing/2014/main" id="{971B9EB5-F1E2-4407-B1D9-1B552A58C8A1}"/>
              </a:ext>
            </a:extLst>
          </p:cNvPr>
          <p:cNvSpPr>
            <a:spLocks noChangeArrowheads="1"/>
          </p:cNvSpPr>
          <p:nvPr/>
        </p:nvSpPr>
        <p:spPr bwMode="auto">
          <a:xfrm>
            <a:off x="1272465" y="4670527"/>
            <a:ext cx="3598862" cy="1871662"/>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令人均产出</a:t>
            </a:r>
            <a:r>
              <a:rPr lang="en-US" altLang="zh-CN" dirty="0">
                <a:solidFill>
                  <a:srgbClr val="000099"/>
                </a:solidFill>
              </a:rPr>
              <a:t>y</a:t>
            </a:r>
            <a:r>
              <a:rPr lang="zh-CN" altLang="en-US" dirty="0">
                <a:solidFill>
                  <a:srgbClr val="000099"/>
                </a:solidFill>
              </a:rPr>
              <a:t>＝</a:t>
            </a:r>
            <a:r>
              <a:rPr lang="zh-CN" altLang="en-US" dirty="0"/>
              <a:t> </a:t>
            </a:r>
            <a:r>
              <a:rPr lang="en-US" altLang="zh-CN" dirty="0"/>
              <a:t>Y</a:t>
            </a:r>
            <a:r>
              <a:rPr lang="en-US" altLang="zh-CN" dirty="0">
                <a:solidFill>
                  <a:srgbClr val="FF0000"/>
                </a:solidFill>
                <a:cs typeface="Times New Roman" panose="02020603050405020304" pitchFamily="18" charset="0"/>
              </a:rPr>
              <a:t>/N</a:t>
            </a:r>
            <a:r>
              <a:rPr lang="zh-CN" altLang="en-US" dirty="0">
                <a:solidFill>
                  <a:srgbClr val="FF0000"/>
                </a:solidFill>
                <a:cs typeface="Times New Roman" panose="02020603050405020304" pitchFamily="18" charset="0"/>
              </a:rPr>
              <a:t>，</a:t>
            </a:r>
          </a:p>
          <a:p>
            <a:r>
              <a:rPr lang="zh-CN" altLang="en-US" dirty="0"/>
              <a:t>人均资本</a:t>
            </a:r>
            <a:r>
              <a:rPr lang="en-US" altLang="zh-CN" dirty="0">
                <a:solidFill>
                  <a:srgbClr val="000099"/>
                </a:solidFill>
                <a:cs typeface="Times New Roman" panose="02020603050405020304" pitchFamily="18" charset="0"/>
              </a:rPr>
              <a:t>k</a:t>
            </a:r>
            <a:r>
              <a:rPr lang="zh-CN" altLang="en-US" dirty="0">
                <a:solidFill>
                  <a:srgbClr val="000099"/>
                </a:solidFill>
                <a:cs typeface="Times New Roman" panose="02020603050405020304" pitchFamily="18" charset="0"/>
              </a:rPr>
              <a:t>＝</a:t>
            </a:r>
            <a:r>
              <a:rPr lang="zh-CN" altLang="en-US" dirty="0">
                <a:solidFill>
                  <a:srgbClr val="FF0000"/>
                </a:solidFill>
                <a:cs typeface="Times New Roman" panose="02020603050405020304" pitchFamily="18" charset="0"/>
              </a:rPr>
              <a:t> </a:t>
            </a:r>
            <a:r>
              <a:rPr lang="en-US" altLang="zh-CN" dirty="0"/>
              <a:t>K </a:t>
            </a:r>
            <a:r>
              <a:rPr lang="en-US" altLang="zh-CN" dirty="0">
                <a:solidFill>
                  <a:srgbClr val="FF0000"/>
                </a:solidFill>
                <a:cs typeface="Times New Roman" panose="02020603050405020304" pitchFamily="18" charset="0"/>
              </a:rPr>
              <a:t>/N</a:t>
            </a:r>
            <a:r>
              <a:rPr lang="en-US" altLang="zh-CN" dirty="0"/>
              <a:t> </a:t>
            </a:r>
            <a:r>
              <a:rPr lang="zh-CN" altLang="en-US" dirty="0"/>
              <a:t>，</a:t>
            </a:r>
          </a:p>
          <a:p>
            <a:r>
              <a:rPr lang="zh-CN" altLang="en-US" dirty="0"/>
              <a:t>则</a:t>
            </a:r>
            <a:r>
              <a:rPr lang="en-US" altLang="zh-CN" dirty="0">
                <a:solidFill>
                  <a:srgbClr val="000099"/>
                </a:solidFill>
              </a:rPr>
              <a:t>y</a:t>
            </a:r>
            <a:r>
              <a:rPr lang="zh-CN" altLang="en-US" dirty="0">
                <a:solidFill>
                  <a:srgbClr val="000099"/>
                </a:solidFill>
              </a:rPr>
              <a:t>＝ </a:t>
            </a:r>
            <a:r>
              <a:rPr lang="en-US" altLang="zh-CN" dirty="0">
                <a:solidFill>
                  <a:srgbClr val="000099"/>
                </a:solidFill>
              </a:rPr>
              <a:t>f</a:t>
            </a:r>
            <a:r>
              <a:rPr lang="zh-CN" altLang="en-US" dirty="0">
                <a:solidFill>
                  <a:srgbClr val="000099"/>
                </a:solidFill>
              </a:rPr>
              <a:t>（</a:t>
            </a:r>
            <a:r>
              <a:rPr lang="en-US" altLang="zh-CN" dirty="0">
                <a:solidFill>
                  <a:srgbClr val="000099"/>
                </a:solidFill>
                <a:cs typeface="Times New Roman" panose="02020603050405020304" pitchFamily="18" charset="0"/>
              </a:rPr>
              <a:t>k</a:t>
            </a:r>
            <a:r>
              <a:rPr lang="zh-CN" altLang="en-US" dirty="0">
                <a:solidFill>
                  <a:srgbClr val="000099"/>
                </a:solidFill>
                <a:cs typeface="Times New Roman" panose="02020603050405020304" pitchFamily="18" charset="0"/>
              </a:rPr>
              <a:t>）</a:t>
            </a:r>
          </a:p>
          <a:p>
            <a:pPr>
              <a:buFont typeface="Wingdings" panose="05000000000000000000" pitchFamily="2" charset="2"/>
              <a:buNone/>
            </a:pPr>
            <a:r>
              <a:rPr lang="zh-CN" altLang="en-US" dirty="0">
                <a:solidFill>
                  <a:srgbClr val="000099"/>
                </a:solidFill>
                <a:cs typeface="Times New Roman" panose="02020603050405020304" pitchFamily="18" charset="0"/>
              </a:rPr>
              <a:t>         ＝ </a:t>
            </a:r>
            <a:r>
              <a:rPr lang="en-US" altLang="zh-CN" dirty="0"/>
              <a:t>F</a:t>
            </a:r>
            <a:r>
              <a:rPr lang="zh-CN" altLang="en-US" dirty="0"/>
              <a:t>（</a:t>
            </a:r>
            <a:r>
              <a:rPr lang="en-US" altLang="zh-CN" dirty="0">
                <a:solidFill>
                  <a:srgbClr val="FF0000"/>
                </a:solidFill>
                <a:cs typeface="Times New Roman" panose="02020603050405020304" pitchFamily="18" charset="0"/>
              </a:rPr>
              <a:t>1</a:t>
            </a:r>
            <a:r>
              <a:rPr lang="en-US" altLang="zh-CN" dirty="0"/>
              <a:t>, </a:t>
            </a:r>
            <a:r>
              <a:rPr lang="en-US" altLang="zh-CN" dirty="0">
                <a:solidFill>
                  <a:srgbClr val="000099"/>
                </a:solidFill>
              </a:rPr>
              <a:t>k</a:t>
            </a:r>
            <a:r>
              <a:rPr lang="en-US" altLang="zh-CN" dirty="0"/>
              <a:t> </a:t>
            </a:r>
            <a:r>
              <a:rPr lang="zh-CN" altLang="en-US" dirty="0"/>
              <a:t>）</a:t>
            </a:r>
          </a:p>
        </p:txBody>
      </p:sp>
      <p:sp>
        <p:nvSpPr>
          <p:cNvPr id="8" name="Rectangle 109">
            <a:extLst>
              <a:ext uri="{FF2B5EF4-FFF2-40B4-BE49-F238E27FC236}">
                <a16:creationId xmlns:a16="http://schemas.microsoft.com/office/drawing/2014/main" id="{A86D1B61-644B-4BBB-AF8D-9FA38843AE94}"/>
              </a:ext>
            </a:extLst>
          </p:cNvPr>
          <p:cNvSpPr>
            <a:spLocks noChangeArrowheads="1"/>
          </p:cNvSpPr>
          <p:nvPr/>
        </p:nvSpPr>
        <p:spPr bwMode="auto">
          <a:xfrm>
            <a:off x="1272465" y="4094265"/>
            <a:ext cx="3598862" cy="461665"/>
          </a:xfrm>
          <a:prstGeom prst="rect">
            <a:avLst/>
          </a:prstGeom>
          <a:noFill/>
          <a:ln w="3175" cap="sq" cmpd="dbl">
            <a:solidFill>
              <a:schemeClr val="tx1"/>
            </a:solidFill>
            <a:miter lim="800000"/>
            <a:headEnd type="none" w="sm" len="sm"/>
            <a:tailEnd type="none" w="sm" len="sm"/>
          </a:ln>
          <a:effectLst/>
        </p:spPr>
        <p:txBody>
          <a:bodyPr>
            <a:spAutoFit/>
          </a:bodyPr>
          <a:lstStyle/>
          <a:p>
            <a:pPr>
              <a:spcBef>
                <a:spcPct val="20000"/>
              </a:spcBef>
              <a:buClr>
                <a:srgbClr val="336600"/>
              </a:buClr>
              <a:buSzPct val="95000"/>
              <a:buFont typeface="Wingdings" panose="05000000000000000000" pitchFamily="2" charset="2"/>
              <a:buChar char="p"/>
            </a:pPr>
            <a:r>
              <a:rPr lang="zh-CN" altLang="en-US" b="1" dirty="0"/>
              <a:t>则</a:t>
            </a:r>
            <a:r>
              <a:rPr lang="el-GR" altLang="zh-CN" b="1" dirty="0"/>
              <a:t> </a:t>
            </a:r>
            <a:r>
              <a:rPr lang="en-US" altLang="zh-CN" b="1" dirty="0"/>
              <a:t>Y/N</a:t>
            </a:r>
            <a:r>
              <a:rPr lang="el-GR" altLang="zh-CN" b="1" dirty="0"/>
              <a:t> </a:t>
            </a:r>
            <a:r>
              <a:rPr lang="en-US" altLang="zh-CN" b="1" dirty="0"/>
              <a:t>=F</a:t>
            </a:r>
            <a:r>
              <a:rPr lang="zh-CN" altLang="en-US" b="1" dirty="0"/>
              <a:t>（</a:t>
            </a:r>
            <a:r>
              <a:rPr lang="en-US" altLang="zh-CN" b="1" dirty="0"/>
              <a:t>1, K /N </a:t>
            </a:r>
            <a:r>
              <a:rPr lang="zh-CN" altLang="en-US" b="1" dirty="0"/>
              <a:t>）</a:t>
            </a:r>
          </a:p>
        </p:txBody>
      </p:sp>
      <p:pic>
        <p:nvPicPr>
          <p:cNvPr id="9" name="图片 8">
            <a:extLst>
              <a:ext uri="{FF2B5EF4-FFF2-40B4-BE49-F238E27FC236}">
                <a16:creationId xmlns:a16="http://schemas.microsoft.com/office/drawing/2014/main" id="{754AAA6A-743A-4DB4-B391-8937D1DC89AC}"/>
              </a:ext>
            </a:extLst>
          </p:cNvPr>
          <p:cNvPicPr>
            <a:picLocks noChangeAspect="1"/>
          </p:cNvPicPr>
          <p:nvPr/>
        </p:nvPicPr>
        <p:blipFill>
          <a:blip r:embed="rId4"/>
          <a:stretch>
            <a:fillRect/>
          </a:stretch>
        </p:blipFill>
        <p:spPr>
          <a:xfrm>
            <a:off x="5211744" y="1901057"/>
            <a:ext cx="3574090" cy="3055885"/>
          </a:xfrm>
          <a:prstGeom prst="rect">
            <a:avLst/>
          </a:prstGeom>
        </p:spPr>
      </p:pic>
      <p:sp>
        <p:nvSpPr>
          <p:cNvPr id="11" name="Rectangle 111">
            <a:extLst>
              <a:ext uri="{FF2B5EF4-FFF2-40B4-BE49-F238E27FC236}">
                <a16:creationId xmlns:a16="http://schemas.microsoft.com/office/drawing/2014/main" id="{3239C4A9-7452-4203-9953-2E4CBB0BC681}"/>
              </a:ext>
            </a:extLst>
          </p:cNvPr>
          <p:cNvSpPr>
            <a:spLocks noChangeArrowheads="1"/>
          </p:cNvSpPr>
          <p:nvPr/>
        </p:nvSpPr>
        <p:spPr bwMode="auto">
          <a:xfrm>
            <a:off x="5160881" y="5346397"/>
            <a:ext cx="4319587" cy="707886"/>
          </a:xfrm>
          <a:prstGeom prst="rect">
            <a:avLst/>
          </a:prstGeom>
          <a:noFill/>
          <a:ln w="3175" cap="sq" cmpd="dbl">
            <a:solidFill>
              <a:schemeClr val="tx1"/>
            </a:solidFill>
            <a:miter lim="800000"/>
            <a:headEnd type="none" w="sm" len="sm"/>
            <a:tailEnd type="none" w="sm" len="sm"/>
          </a:ln>
          <a:effectLst/>
        </p:spPr>
        <p:txBody>
          <a:bodyPr>
            <a:spAutoFit/>
          </a:bodyPr>
          <a:lstStyle/>
          <a:p>
            <a:pPr>
              <a:spcBef>
                <a:spcPct val="20000"/>
              </a:spcBef>
              <a:buClr>
                <a:srgbClr val="336600"/>
              </a:buClr>
              <a:buSzPct val="95000"/>
              <a:buFont typeface="Wingdings" panose="05000000000000000000" pitchFamily="2" charset="2"/>
              <a:buChar char="p"/>
            </a:pPr>
            <a:r>
              <a:rPr lang="zh-CN" altLang="en-US" sz="2000" b="1" dirty="0"/>
              <a:t>产出增长率唯一的由资本增长率来解释。</a:t>
            </a:r>
          </a:p>
        </p:txBody>
      </p:sp>
    </p:spTree>
    <p:extLst>
      <p:ext uri="{BB962C8B-B14F-4D97-AF65-F5344CB8AC3E}">
        <p14:creationId xmlns:p14="http://schemas.microsoft.com/office/powerpoint/2010/main" val="669576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7F43048-FBB0-4F98-A418-685591638421}"/>
              </a:ext>
            </a:extLst>
          </p:cNvPr>
          <p:cNvSpPr>
            <a:spLocks noGrp="1" noChangeArrowheads="1"/>
          </p:cNvSpPr>
          <p:nvPr>
            <p:ph type="title"/>
          </p:nvPr>
        </p:nvSpPr>
        <p:spPr>
          <a:xfrm>
            <a:off x="235084" y="245270"/>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3200" dirty="0"/>
              <a:t>新古典增长理论的基本方程</a:t>
            </a:r>
          </a:p>
        </p:txBody>
      </p:sp>
      <p:sp>
        <p:nvSpPr>
          <p:cNvPr id="5" name="Rectangle 5">
            <a:extLst>
              <a:ext uri="{FF2B5EF4-FFF2-40B4-BE49-F238E27FC236}">
                <a16:creationId xmlns:a16="http://schemas.microsoft.com/office/drawing/2014/main" id="{887D822B-D4A2-4C6B-9ED4-F2FFD5903240}"/>
              </a:ext>
            </a:extLst>
          </p:cNvPr>
          <p:cNvSpPr>
            <a:spLocks noGrp="1" noChangeArrowheads="1"/>
          </p:cNvSpPr>
          <p:nvPr>
            <p:ph idx="1"/>
          </p:nvPr>
        </p:nvSpPr>
        <p:spPr>
          <a:xfrm>
            <a:off x="1228623" y="1125539"/>
            <a:ext cx="3097212" cy="2016125"/>
          </a:xfrm>
          <a:ln>
            <a:solidFill>
              <a:schemeClr val="hlink"/>
            </a:solidFill>
          </a:ln>
        </p:spPr>
        <p:txBody>
          <a:bodyPr/>
          <a:lstStyle/>
          <a:p>
            <a:r>
              <a:rPr lang="zh-CN" altLang="en-US" sz="2000" dirty="0"/>
              <a:t>设：</a:t>
            </a:r>
          </a:p>
          <a:p>
            <a:r>
              <a:rPr lang="zh-CN" altLang="en-US" sz="2000" dirty="0"/>
              <a:t>人口增长率</a:t>
            </a:r>
            <a:r>
              <a:rPr lang="en-US" altLang="zh-CN" sz="2000" dirty="0"/>
              <a:t>n=△N/N, </a:t>
            </a:r>
          </a:p>
          <a:p>
            <a:r>
              <a:rPr lang="zh-CN" altLang="en-US" sz="2000" dirty="0"/>
              <a:t>人均产量 </a:t>
            </a:r>
            <a:r>
              <a:rPr lang="en-US" altLang="zh-CN" sz="2000" dirty="0"/>
              <a:t>y</a:t>
            </a:r>
            <a:r>
              <a:rPr lang="zh-CN" altLang="en-US" sz="2000" dirty="0"/>
              <a:t>＝</a:t>
            </a:r>
            <a:r>
              <a:rPr lang="en-US" altLang="zh-CN" sz="2000" dirty="0"/>
              <a:t>Y/N </a:t>
            </a:r>
            <a:r>
              <a:rPr lang="zh-CN" altLang="en-US" sz="2000" dirty="0"/>
              <a:t>，</a:t>
            </a:r>
          </a:p>
          <a:p>
            <a:r>
              <a:rPr lang="zh-CN" altLang="en-US" sz="2000" dirty="0"/>
              <a:t>人均资本 </a:t>
            </a:r>
            <a:r>
              <a:rPr lang="en-US" altLang="zh-CN" sz="2000" dirty="0"/>
              <a:t>k=K/N</a:t>
            </a:r>
            <a:r>
              <a:rPr lang="zh-CN" altLang="en-US" sz="2000" dirty="0"/>
              <a:t>。</a:t>
            </a:r>
          </a:p>
          <a:p>
            <a:r>
              <a:rPr lang="en-US" altLang="zh-CN" sz="2000" dirty="0"/>
              <a:t>s</a:t>
            </a:r>
            <a:r>
              <a:rPr lang="zh-CN" altLang="en-US" sz="2000" dirty="0"/>
              <a:t>是储蓄率，</a:t>
            </a:r>
            <a:r>
              <a:rPr lang="en-US" altLang="zh-CN" sz="2000" dirty="0"/>
              <a:t>S=</a:t>
            </a:r>
            <a:r>
              <a:rPr lang="en-US" altLang="zh-CN" sz="2000" dirty="0" err="1"/>
              <a:t>sY</a:t>
            </a:r>
            <a:r>
              <a:rPr lang="zh-CN" altLang="en-US" sz="2000" dirty="0"/>
              <a:t>。</a:t>
            </a:r>
          </a:p>
        </p:txBody>
      </p:sp>
      <p:sp>
        <p:nvSpPr>
          <p:cNvPr id="6" name="Rectangle 6">
            <a:extLst>
              <a:ext uri="{FF2B5EF4-FFF2-40B4-BE49-F238E27FC236}">
                <a16:creationId xmlns:a16="http://schemas.microsoft.com/office/drawing/2014/main" id="{50482811-72CD-457A-B026-61E28DE01D29}"/>
              </a:ext>
            </a:extLst>
          </p:cNvPr>
          <p:cNvSpPr>
            <a:spLocks noChangeArrowheads="1"/>
          </p:cNvSpPr>
          <p:nvPr/>
        </p:nvSpPr>
        <p:spPr bwMode="auto">
          <a:xfrm>
            <a:off x="1228623" y="3500439"/>
            <a:ext cx="8208962" cy="504825"/>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a:t>同除以劳动数量</a:t>
            </a:r>
            <a:r>
              <a:rPr lang="en-US" altLang="zh-CN" sz="2000"/>
              <a:t>N</a:t>
            </a:r>
            <a:r>
              <a:rPr lang="zh-CN" altLang="en-US" sz="2000"/>
              <a:t>，得到：△</a:t>
            </a:r>
            <a:r>
              <a:rPr lang="en-US" altLang="zh-CN" sz="2000"/>
              <a:t>K/N=sy-δk</a:t>
            </a:r>
          </a:p>
        </p:txBody>
      </p:sp>
      <p:sp>
        <p:nvSpPr>
          <p:cNvPr id="7" name="Rectangle 7">
            <a:extLst>
              <a:ext uri="{FF2B5EF4-FFF2-40B4-BE49-F238E27FC236}">
                <a16:creationId xmlns:a16="http://schemas.microsoft.com/office/drawing/2014/main" id="{4AF2E49C-F16B-4D36-8FA5-EDC4887648AE}"/>
              </a:ext>
            </a:extLst>
          </p:cNvPr>
          <p:cNvSpPr>
            <a:spLocks noChangeArrowheads="1"/>
          </p:cNvSpPr>
          <p:nvPr/>
        </p:nvSpPr>
        <p:spPr bwMode="auto">
          <a:xfrm>
            <a:off x="4397273" y="1125539"/>
            <a:ext cx="5040312" cy="2232025"/>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dirty="0"/>
              <a:t>两部门经济中，</a:t>
            </a:r>
            <a:r>
              <a:rPr lang="en-US" altLang="zh-CN" sz="2000" dirty="0"/>
              <a:t>I=S</a:t>
            </a:r>
            <a:r>
              <a:rPr lang="zh-CN" altLang="en-US" sz="2000" dirty="0"/>
              <a:t>。</a:t>
            </a:r>
          </a:p>
          <a:p>
            <a:r>
              <a:rPr lang="zh-CN" altLang="en-US" sz="2000" dirty="0"/>
              <a:t>假定折旧是资本存量</a:t>
            </a:r>
            <a:r>
              <a:rPr lang="en-US" altLang="zh-CN" sz="2000" dirty="0"/>
              <a:t>K</a:t>
            </a:r>
            <a:r>
              <a:rPr lang="zh-CN" altLang="en-US" sz="2000" dirty="0"/>
              <a:t>的一个固定比率</a:t>
            </a:r>
            <a:r>
              <a:rPr lang="en-US" altLang="zh-CN" sz="2000" dirty="0" err="1"/>
              <a:t>δK</a:t>
            </a:r>
            <a:r>
              <a:rPr lang="en-US" altLang="zh-CN" sz="2000" dirty="0"/>
              <a:t>(0&lt;δ&lt;1)</a:t>
            </a:r>
            <a:r>
              <a:rPr lang="zh-CN" altLang="en-US" sz="2000" dirty="0"/>
              <a:t>。</a:t>
            </a:r>
          </a:p>
          <a:p>
            <a:r>
              <a:rPr lang="zh-CN" altLang="en-US" sz="2000" dirty="0"/>
              <a:t>资本存量的变化＝净投资△</a:t>
            </a:r>
            <a:r>
              <a:rPr lang="en-US" altLang="zh-CN" sz="2000" dirty="0"/>
              <a:t>K =I-</a:t>
            </a:r>
            <a:r>
              <a:rPr lang="en-US" altLang="zh-CN" sz="2000" dirty="0" err="1"/>
              <a:t>δK</a:t>
            </a:r>
            <a:endParaRPr lang="en-US" altLang="zh-CN" sz="2000" dirty="0"/>
          </a:p>
          <a:p>
            <a:r>
              <a:rPr lang="en-US" altLang="zh-CN" sz="2000" dirty="0"/>
              <a:t>△K = </a:t>
            </a:r>
            <a:r>
              <a:rPr lang="en-US" altLang="zh-CN" sz="2000" dirty="0" err="1"/>
              <a:t>sY-δK</a:t>
            </a:r>
            <a:r>
              <a:rPr lang="zh-CN" altLang="en-US" sz="2000" dirty="0"/>
              <a:t>，</a:t>
            </a:r>
          </a:p>
          <a:p>
            <a:r>
              <a:rPr lang="zh-CN" altLang="en-US" sz="2000" dirty="0"/>
              <a:t>即资本存量变化＝储蓄－折旧</a:t>
            </a:r>
          </a:p>
        </p:txBody>
      </p:sp>
      <p:sp>
        <p:nvSpPr>
          <p:cNvPr id="8" name="Rectangle 8">
            <a:extLst>
              <a:ext uri="{FF2B5EF4-FFF2-40B4-BE49-F238E27FC236}">
                <a16:creationId xmlns:a16="http://schemas.microsoft.com/office/drawing/2014/main" id="{D0F6A485-4500-4CB6-B2C1-E2D75B9F22D0}"/>
              </a:ext>
            </a:extLst>
          </p:cNvPr>
          <p:cNvSpPr>
            <a:spLocks noChangeArrowheads="1"/>
          </p:cNvSpPr>
          <p:nvPr/>
        </p:nvSpPr>
        <p:spPr bwMode="auto">
          <a:xfrm>
            <a:off x="1228623" y="4221164"/>
            <a:ext cx="8208962" cy="503237"/>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a:t>资本增量有两个去处：△</a:t>
            </a:r>
            <a:r>
              <a:rPr lang="en-US" altLang="zh-CN" sz="2000"/>
              <a:t>K=N △k+ △Nk,</a:t>
            </a:r>
          </a:p>
        </p:txBody>
      </p:sp>
      <p:sp>
        <p:nvSpPr>
          <p:cNvPr id="9" name="Rectangle 9">
            <a:extLst>
              <a:ext uri="{FF2B5EF4-FFF2-40B4-BE49-F238E27FC236}">
                <a16:creationId xmlns:a16="http://schemas.microsoft.com/office/drawing/2014/main" id="{ECAC44B9-5AD6-4706-8C8A-7EF5E623312E}"/>
              </a:ext>
            </a:extLst>
          </p:cNvPr>
          <p:cNvSpPr>
            <a:spLocks noChangeArrowheads="1"/>
          </p:cNvSpPr>
          <p:nvPr/>
        </p:nvSpPr>
        <p:spPr bwMode="auto">
          <a:xfrm>
            <a:off x="1228624" y="4941888"/>
            <a:ext cx="3455987" cy="107950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a:t>所以△</a:t>
            </a:r>
            <a:r>
              <a:rPr lang="en-US" altLang="zh-CN" sz="2000"/>
              <a:t>k+ △Nk/N=sy-δk, </a:t>
            </a:r>
          </a:p>
          <a:p>
            <a:r>
              <a:rPr lang="en-US" altLang="zh-CN" sz="2000"/>
              <a:t>△k=sy-(n+δ)k</a:t>
            </a:r>
          </a:p>
        </p:txBody>
      </p:sp>
      <p:sp>
        <p:nvSpPr>
          <p:cNvPr id="10" name="Rectangle 10">
            <a:extLst>
              <a:ext uri="{FF2B5EF4-FFF2-40B4-BE49-F238E27FC236}">
                <a16:creationId xmlns:a16="http://schemas.microsoft.com/office/drawing/2014/main" id="{9EFA4D80-5478-404B-983E-16B9AFE27973}"/>
              </a:ext>
            </a:extLst>
          </p:cNvPr>
          <p:cNvSpPr>
            <a:spLocks noChangeArrowheads="1"/>
          </p:cNvSpPr>
          <p:nvPr/>
        </p:nvSpPr>
        <p:spPr bwMode="auto">
          <a:xfrm>
            <a:off x="4684611" y="4941888"/>
            <a:ext cx="4752975" cy="1079500"/>
          </a:xfrm>
          <a:prstGeom prst="rect">
            <a:avLst/>
          </a:prstGeom>
          <a:noFill/>
          <a:ln w="3175" cap="sq">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en-US" altLang="zh-CN"/>
              <a:t>sy =△k+(n+δ)k</a:t>
            </a:r>
          </a:p>
          <a:p>
            <a:pPr>
              <a:buClr>
                <a:schemeClr val="hlink"/>
              </a:buClr>
              <a:buSzPct val="95000"/>
              <a:buFont typeface="Wingdings" panose="05000000000000000000" pitchFamily="2" charset="2"/>
              <a:buChar char="u"/>
            </a:pPr>
            <a:r>
              <a:rPr lang="zh-CN" altLang="en-US"/>
              <a:t>人均储蓄＝资本广化</a:t>
            </a:r>
            <a:r>
              <a:rPr lang="en-US" altLang="zh-CN"/>
              <a:t>+</a:t>
            </a:r>
            <a:r>
              <a:rPr lang="zh-CN" altLang="en-US"/>
              <a:t>资本深化</a:t>
            </a:r>
          </a:p>
        </p:txBody>
      </p:sp>
    </p:spTree>
    <p:extLst>
      <p:ext uri="{BB962C8B-B14F-4D97-AF65-F5344CB8AC3E}">
        <p14:creationId xmlns:p14="http://schemas.microsoft.com/office/powerpoint/2010/main" val="3131033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46A7CC71-EF6E-4EAE-801F-E6C5A0C123CF}"/>
              </a:ext>
            </a:extLst>
          </p:cNvPr>
          <p:cNvSpPr>
            <a:spLocks noChangeArrowheads="1"/>
          </p:cNvSpPr>
          <p:nvPr/>
        </p:nvSpPr>
        <p:spPr bwMode="auto">
          <a:xfrm>
            <a:off x="883358" y="2428775"/>
            <a:ext cx="3240087" cy="273685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稳态中，总产出和资本存量的增长率，均与劳动力的增长率相等，即如果△</a:t>
            </a:r>
            <a:r>
              <a:rPr lang="en-US" altLang="zh-CN" dirty="0"/>
              <a:t>k</a:t>
            </a:r>
            <a:r>
              <a:rPr lang="zh-CN" altLang="en-US" dirty="0"/>
              <a:t>＝</a:t>
            </a:r>
            <a:r>
              <a:rPr lang="en-US" altLang="zh-CN" dirty="0"/>
              <a:t>0</a:t>
            </a:r>
            <a:r>
              <a:rPr lang="zh-CN" altLang="en-US" dirty="0"/>
              <a:t>，人均储蓄必须正好等于资本的广化。</a:t>
            </a:r>
          </a:p>
          <a:p>
            <a:endParaRPr lang="en-US" altLang="zh-CN" dirty="0"/>
          </a:p>
        </p:txBody>
      </p:sp>
      <p:sp>
        <p:nvSpPr>
          <p:cNvPr id="5" name="Rectangle 8">
            <a:extLst>
              <a:ext uri="{FF2B5EF4-FFF2-40B4-BE49-F238E27FC236}">
                <a16:creationId xmlns:a16="http://schemas.microsoft.com/office/drawing/2014/main" id="{3B806E8D-1AC4-438E-AE22-C5131CC8E90F}"/>
              </a:ext>
            </a:extLst>
          </p:cNvPr>
          <p:cNvSpPr>
            <a:spLocks noChangeArrowheads="1"/>
          </p:cNvSpPr>
          <p:nvPr/>
        </p:nvSpPr>
        <p:spPr bwMode="auto">
          <a:xfrm>
            <a:off x="883358" y="5308500"/>
            <a:ext cx="3240087" cy="1179512"/>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稳态条件是：</a:t>
            </a:r>
          </a:p>
          <a:p>
            <a:r>
              <a:rPr lang="en-US" altLang="zh-CN" dirty="0" err="1"/>
              <a:t>sy</a:t>
            </a:r>
            <a:r>
              <a:rPr lang="en-US" altLang="zh-CN" dirty="0"/>
              <a:t> = (</a:t>
            </a:r>
            <a:r>
              <a:rPr lang="en-US" altLang="zh-CN" dirty="0" err="1"/>
              <a:t>n+δ</a:t>
            </a:r>
            <a:r>
              <a:rPr lang="en-US" altLang="zh-CN" dirty="0"/>
              <a:t>)k</a:t>
            </a:r>
          </a:p>
        </p:txBody>
      </p:sp>
      <p:sp>
        <p:nvSpPr>
          <p:cNvPr id="6" name="Rectangle 9">
            <a:extLst>
              <a:ext uri="{FF2B5EF4-FFF2-40B4-BE49-F238E27FC236}">
                <a16:creationId xmlns:a16="http://schemas.microsoft.com/office/drawing/2014/main" id="{4585A89A-A017-405C-9711-8AE329A8CE63}"/>
              </a:ext>
            </a:extLst>
          </p:cNvPr>
          <p:cNvSpPr>
            <a:spLocks noGrp="1" noChangeArrowheads="1"/>
          </p:cNvSpPr>
          <p:nvPr>
            <p:ph type="title"/>
          </p:nvPr>
        </p:nvSpPr>
        <p:spPr>
          <a:xfrm>
            <a:off x="488003" y="365125"/>
            <a:ext cx="10515600" cy="1325563"/>
          </a:xfrm>
        </p:spPr>
        <p:txBody>
          <a:bodyPr>
            <a:normAutofit/>
          </a:bodyPr>
          <a:lstStyle/>
          <a:p>
            <a:r>
              <a:rPr lang="zh-CN" altLang="en-US" sz="2400" dirty="0">
                <a:solidFill>
                  <a:schemeClr val="bg1"/>
                </a:solidFill>
              </a:rPr>
              <a:t>经济增长的稳态图示</a:t>
            </a:r>
            <a:endParaRPr lang="zh-CN" altLang="en-US" sz="2400" b="0" dirty="0">
              <a:solidFill>
                <a:schemeClr val="bg1"/>
              </a:solidFill>
            </a:endParaRPr>
          </a:p>
        </p:txBody>
      </p:sp>
      <p:sp>
        <p:nvSpPr>
          <p:cNvPr id="7" name="Rectangle 10">
            <a:extLst>
              <a:ext uri="{FF2B5EF4-FFF2-40B4-BE49-F238E27FC236}">
                <a16:creationId xmlns:a16="http://schemas.microsoft.com/office/drawing/2014/main" id="{507B4B68-F97C-48C1-9EFC-4448390D0790}"/>
              </a:ext>
            </a:extLst>
          </p:cNvPr>
          <p:cNvSpPr>
            <a:spLocks noGrp="1" noChangeArrowheads="1"/>
          </p:cNvSpPr>
          <p:nvPr>
            <p:ph idx="1"/>
          </p:nvPr>
        </p:nvSpPr>
        <p:spPr>
          <a:xfrm>
            <a:off x="698534" y="1330326"/>
            <a:ext cx="8135937" cy="863600"/>
          </a:xfrm>
          <a:ln>
            <a:headEnd/>
            <a:tailEnd/>
          </a:ln>
        </p:spPr>
        <p:txBody>
          <a:bodyPr/>
          <a:lstStyle/>
          <a:p>
            <a:r>
              <a:rPr lang="zh-CN" altLang="en-US" dirty="0"/>
              <a:t>稳态中，总产出的增长率＝资本存量增长率＝劳动人口增长率。经济增长率</a:t>
            </a:r>
            <a:r>
              <a:rPr lang="en-US" altLang="zh-CN" dirty="0"/>
              <a:t>g</a:t>
            </a:r>
            <a:r>
              <a:rPr lang="zh-CN" altLang="en-US" dirty="0"/>
              <a:t>＝</a:t>
            </a:r>
            <a:r>
              <a:rPr lang="en-US" altLang="zh-CN" dirty="0"/>
              <a:t>n</a:t>
            </a:r>
            <a:r>
              <a:rPr lang="zh-CN" altLang="en-US" dirty="0"/>
              <a:t>。</a:t>
            </a:r>
          </a:p>
        </p:txBody>
      </p:sp>
      <p:pic>
        <p:nvPicPr>
          <p:cNvPr id="8" name="图片 7">
            <a:extLst>
              <a:ext uri="{FF2B5EF4-FFF2-40B4-BE49-F238E27FC236}">
                <a16:creationId xmlns:a16="http://schemas.microsoft.com/office/drawing/2014/main" id="{1153FE3C-6190-4074-8AD8-D42ACBD18406}"/>
              </a:ext>
            </a:extLst>
          </p:cNvPr>
          <p:cNvPicPr>
            <a:picLocks noChangeAspect="1"/>
          </p:cNvPicPr>
          <p:nvPr/>
        </p:nvPicPr>
        <p:blipFill>
          <a:blip r:embed="rId4"/>
          <a:stretch>
            <a:fillRect/>
          </a:stretch>
        </p:blipFill>
        <p:spPr>
          <a:xfrm>
            <a:off x="4631639" y="2655889"/>
            <a:ext cx="3436918" cy="3185436"/>
          </a:xfrm>
          <a:prstGeom prst="rect">
            <a:avLst/>
          </a:prstGeom>
        </p:spPr>
      </p:pic>
    </p:spTree>
    <p:extLst>
      <p:ext uri="{BB962C8B-B14F-4D97-AF65-F5344CB8AC3E}">
        <p14:creationId xmlns:p14="http://schemas.microsoft.com/office/powerpoint/2010/main" val="2523881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54EF2AF3-A197-44F6-AA65-EFA4A69BB1C5}"/>
              </a:ext>
            </a:extLst>
          </p:cNvPr>
          <p:cNvSpPr>
            <a:spLocks noGrp="1" noChangeArrowheads="1"/>
          </p:cNvSpPr>
          <p:nvPr>
            <p:ph type="title"/>
          </p:nvPr>
        </p:nvSpPr>
        <p:spPr>
          <a:xfrm>
            <a:off x="838200"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稳态分析</a:t>
            </a:r>
          </a:p>
        </p:txBody>
      </p:sp>
      <p:sp>
        <p:nvSpPr>
          <p:cNvPr id="5" name="Rectangle 3">
            <a:extLst>
              <a:ext uri="{FF2B5EF4-FFF2-40B4-BE49-F238E27FC236}">
                <a16:creationId xmlns:a16="http://schemas.microsoft.com/office/drawing/2014/main" id="{6F707C55-1415-4E59-80B7-4A524A6CCD79}"/>
              </a:ext>
            </a:extLst>
          </p:cNvPr>
          <p:cNvSpPr>
            <a:spLocks noGrp="1" noChangeArrowheads="1"/>
          </p:cNvSpPr>
          <p:nvPr>
            <p:ph idx="1"/>
          </p:nvPr>
        </p:nvSpPr>
        <p:spPr>
          <a:xfrm>
            <a:off x="562348" y="1341438"/>
            <a:ext cx="8135937" cy="1223962"/>
          </a:xfrm>
          <a:ln>
            <a:headEnd/>
            <a:tailEnd/>
          </a:ln>
        </p:spPr>
        <p:txBody>
          <a:bodyPr>
            <a:normAutofit lnSpcReduction="10000"/>
          </a:bodyPr>
          <a:lstStyle/>
          <a:p>
            <a:r>
              <a:rPr lang="zh-CN" altLang="en-US" dirty="0"/>
              <a:t>稳态：指一种长期的均衡状态，人均资本达到均衡，并维持在均衡水平不变，忽略技术变化，人均产量也达到均衡的稳定状态。</a:t>
            </a:r>
            <a:r>
              <a:rPr lang="en-US" altLang="zh-CN" dirty="0"/>
              <a:t>k</a:t>
            </a:r>
            <a:r>
              <a:rPr lang="zh-CN" altLang="en-US" dirty="0"/>
              <a:t>、</a:t>
            </a:r>
            <a:r>
              <a:rPr lang="en-US" altLang="zh-CN" dirty="0"/>
              <a:t>y</a:t>
            </a:r>
            <a:r>
              <a:rPr lang="zh-CN" altLang="en-US" dirty="0"/>
              <a:t>不变。</a:t>
            </a:r>
          </a:p>
        </p:txBody>
      </p:sp>
      <p:sp>
        <p:nvSpPr>
          <p:cNvPr id="6" name="Rectangle 8">
            <a:extLst>
              <a:ext uri="{FF2B5EF4-FFF2-40B4-BE49-F238E27FC236}">
                <a16:creationId xmlns:a16="http://schemas.microsoft.com/office/drawing/2014/main" id="{78522212-4DDA-444D-AA58-F0A2D28E004F}"/>
              </a:ext>
            </a:extLst>
          </p:cNvPr>
          <p:cNvSpPr>
            <a:spLocks noChangeArrowheads="1"/>
          </p:cNvSpPr>
          <p:nvPr/>
        </p:nvSpPr>
        <p:spPr bwMode="auto">
          <a:xfrm>
            <a:off x="961181" y="2644844"/>
            <a:ext cx="3382962" cy="381635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储蓄率提高，人均储蓄曲线上移。</a:t>
            </a:r>
          </a:p>
          <a:p>
            <a:r>
              <a:rPr lang="zh-CN" altLang="en-US" dirty="0"/>
              <a:t>形成新稳态：人均产出和人均资本增加。</a:t>
            </a:r>
          </a:p>
          <a:p>
            <a:r>
              <a:rPr lang="zh-CN" altLang="en-US" dirty="0"/>
              <a:t>稳态时的产出增长独立于储蓄率；所以增长率在短期提高后，会逐渐降低到劳动人口增长率水平。</a:t>
            </a:r>
          </a:p>
        </p:txBody>
      </p:sp>
      <p:pic>
        <p:nvPicPr>
          <p:cNvPr id="7" name="图片 6">
            <a:extLst>
              <a:ext uri="{FF2B5EF4-FFF2-40B4-BE49-F238E27FC236}">
                <a16:creationId xmlns:a16="http://schemas.microsoft.com/office/drawing/2014/main" id="{071FCC68-21CB-41F4-8903-E05C3B4B9A19}"/>
              </a:ext>
            </a:extLst>
          </p:cNvPr>
          <p:cNvPicPr>
            <a:picLocks noChangeAspect="1"/>
          </p:cNvPicPr>
          <p:nvPr/>
        </p:nvPicPr>
        <p:blipFill>
          <a:blip r:embed="rId4"/>
          <a:stretch>
            <a:fillRect/>
          </a:stretch>
        </p:blipFill>
        <p:spPr>
          <a:xfrm>
            <a:off x="4525967" y="2822989"/>
            <a:ext cx="3490262" cy="3215919"/>
          </a:xfrm>
          <a:prstGeom prst="rect">
            <a:avLst/>
          </a:prstGeom>
        </p:spPr>
      </p:pic>
    </p:spTree>
    <p:extLst>
      <p:ext uri="{BB962C8B-B14F-4D97-AF65-F5344CB8AC3E}">
        <p14:creationId xmlns:p14="http://schemas.microsoft.com/office/powerpoint/2010/main" val="806313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1BDFC6-BB9E-4ABC-A32C-17DAB54ED800}"/>
              </a:ext>
            </a:extLst>
          </p:cNvPr>
          <p:cNvSpPr>
            <a:spLocks noGrp="1" noChangeArrowheads="1"/>
          </p:cNvSpPr>
          <p:nvPr>
            <p:ph type="title"/>
          </p:nvPr>
        </p:nvSpPr>
        <p:spPr>
          <a:xfrm>
            <a:off x="838200"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人口增长</a:t>
            </a:r>
          </a:p>
        </p:txBody>
      </p:sp>
      <p:sp>
        <p:nvSpPr>
          <p:cNvPr id="5" name="Rectangle 3">
            <a:extLst>
              <a:ext uri="{FF2B5EF4-FFF2-40B4-BE49-F238E27FC236}">
                <a16:creationId xmlns:a16="http://schemas.microsoft.com/office/drawing/2014/main" id="{797B49E0-E841-4717-ABDE-6B6EFC23E1C9}"/>
              </a:ext>
            </a:extLst>
          </p:cNvPr>
          <p:cNvSpPr>
            <a:spLocks noGrp="1" noChangeArrowheads="1"/>
          </p:cNvSpPr>
          <p:nvPr>
            <p:ph idx="1"/>
          </p:nvPr>
        </p:nvSpPr>
        <p:spPr>
          <a:xfrm>
            <a:off x="1000093" y="1397912"/>
            <a:ext cx="8135937" cy="1008062"/>
          </a:xfrm>
          <a:ln>
            <a:headEnd/>
            <a:tailEnd/>
          </a:ln>
        </p:spPr>
        <p:txBody>
          <a:bodyPr/>
          <a:lstStyle/>
          <a:p>
            <a:pPr marL="0" indent="0">
              <a:buNone/>
            </a:pPr>
            <a:r>
              <a:rPr lang="zh-CN" altLang="en-US" dirty="0">
                <a:latin typeface="黑体" panose="02010609060101010101" pitchFamily="49" charset="-122"/>
                <a:ea typeface="黑体" panose="02010609060101010101" pitchFamily="49" charset="-122"/>
              </a:rPr>
              <a:t>人口增长率提高后，人口增长率曲线向上移动。与人均储蓄曲线交于一个新的稳态水平。</a:t>
            </a:r>
          </a:p>
        </p:txBody>
      </p:sp>
      <p:sp>
        <p:nvSpPr>
          <p:cNvPr id="7" name="Rectangle 84">
            <a:extLst>
              <a:ext uri="{FF2B5EF4-FFF2-40B4-BE49-F238E27FC236}">
                <a16:creationId xmlns:a16="http://schemas.microsoft.com/office/drawing/2014/main" id="{F1DC18F6-1F66-4CFE-97D4-DE6A2FCE0A78}"/>
              </a:ext>
            </a:extLst>
          </p:cNvPr>
          <p:cNvSpPr>
            <a:spLocks noChangeArrowheads="1"/>
          </p:cNvSpPr>
          <p:nvPr/>
        </p:nvSpPr>
        <p:spPr bwMode="auto">
          <a:xfrm>
            <a:off x="1116824" y="2723475"/>
            <a:ext cx="30051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t>此时：</a:t>
            </a:r>
          </a:p>
          <a:p>
            <a:r>
              <a:rPr lang="en-US" altLang="zh-CN" b="1" dirty="0"/>
              <a:t>1</a:t>
            </a:r>
            <a:r>
              <a:rPr lang="zh-CN" altLang="en-US" b="1" dirty="0"/>
              <a:t>）人均产出减少。</a:t>
            </a:r>
          </a:p>
          <a:p>
            <a:r>
              <a:rPr lang="en-US" altLang="zh-CN" b="1" dirty="0"/>
              <a:t>2</a:t>
            </a:r>
            <a:r>
              <a:rPr lang="zh-CN" altLang="en-US" b="1" dirty="0"/>
              <a:t>）人均资本减少。</a:t>
            </a:r>
          </a:p>
        </p:txBody>
      </p:sp>
      <p:pic>
        <p:nvPicPr>
          <p:cNvPr id="8" name="图片 7">
            <a:extLst>
              <a:ext uri="{FF2B5EF4-FFF2-40B4-BE49-F238E27FC236}">
                <a16:creationId xmlns:a16="http://schemas.microsoft.com/office/drawing/2014/main" id="{8D557F7C-8540-49B9-B958-4997BFEAD72F}"/>
              </a:ext>
            </a:extLst>
          </p:cNvPr>
          <p:cNvPicPr>
            <a:picLocks noChangeAspect="1"/>
          </p:cNvPicPr>
          <p:nvPr/>
        </p:nvPicPr>
        <p:blipFill>
          <a:blip r:embed="rId2"/>
          <a:stretch>
            <a:fillRect/>
          </a:stretch>
        </p:blipFill>
        <p:spPr>
          <a:xfrm>
            <a:off x="3881431" y="2564153"/>
            <a:ext cx="3436918" cy="3208298"/>
          </a:xfrm>
          <a:prstGeom prst="rect">
            <a:avLst/>
          </a:prstGeom>
        </p:spPr>
      </p:pic>
    </p:spTree>
    <p:extLst>
      <p:ext uri="{BB962C8B-B14F-4D97-AF65-F5344CB8AC3E}">
        <p14:creationId xmlns:p14="http://schemas.microsoft.com/office/powerpoint/2010/main" val="3299392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A964F-B768-4B66-9D74-E0F519B4CECD}"/>
              </a:ext>
            </a:extLst>
          </p:cNvPr>
          <p:cNvSpPr>
            <a:spLocks noGrp="1"/>
          </p:cNvSpPr>
          <p:nvPr>
            <p:ph type="title"/>
          </p:nvPr>
        </p:nvSpPr>
        <p:spPr/>
        <p:txBody>
          <a:bodyPr/>
          <a:lstStyle/>
          <a:p>
            <a:r>
              <a:rPr lang="zh-CN" altLang="zh-CN" sz="1800" b="1" kern="0" dirty="0">
                <a:effectLst/>
                <a:ea typeface="宋体" panose="02010600030101010101" pitchFamily="2" charset="-122"/>
                <a:cs typeface="宋体" panose="02010600030101010101" pitchFamily="2" charset="-122"/>
              </a:rPr>
              <a:t>具有技术进步的新古典增长模型</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5C3C9B-207E-4A1C-A726-DF54786C6791}"/>
                  </a:ext>
                </a:extLst>
              </p:cNvPr>
              <p:cNvSpPr>
                <a:spLocks noGrp="1"/>
              </p:cNvSpPr>
              <p:nvPr>
                <p:ph idx="1"/>
              </p:nvPr>
            </p:nvSpPr>
            <p:spPr>
              <a:xfrm>
                <a:off x="838200" y="1253331"/>
                <a:ext cx="10515600" cy="4351338"/>
              </a:xfrm>
            </p:spPr>
            <p:txBody>
              <a:bodyPr/>
              <a:lstStyle/>
              <a:p>
                <a:pPr marL="0" indent="0">
                  <a:buNone/>
                </a:pPr>
                <a14:m>
                  <m:oMathPara xmlns:m="http://schemas.openxmlformats.org/officeDocument/2006/math">
                    <m:oMathParaPr>
                      <m:jc m:val="left"/>
                    </m:oMathParaPr>
                    <m:oMath xmlns:m="http://schemas.openxmlformats.org/officeDocument/2006/math">
                      <m:acc>
                        <m:accPr>
                          <m:chr m:val="̇"/>
                          <m:ctrlPr>
                            <a:rPr lang="zh-CN" altLang="zh-CN" i="1" smtClean="0">
                              <a:solidFill>
                                <a:schemeClr val="bg1"/>
                              </a:solidFill>
                              <a:effectLst/>
                              <a:latin typeface="Cambria Math" panose="02040503050406030204" pitchFamily="18" charset="0"/>
                              <a:ea typeface="Cambria Math" panose="02040503050406030204" pitchFamily="18" charset="0"/>
                            </a:rPr>
                          </m:ctrlPr>
                        </m:accPr>
                        <m:e>
                          <m:acc>
                            <m:accPr>
                              <m:chr m:val="̂"/>
                              <m:ctrlPr>
                                <a:rPr lang="zh-CN" altLang="zh-CN" i="1">
                                  <a:solidFill>
                                    <a:schemeClr val="bg1"/>
                                  </a:solidFill>
                                  <a:effectLst/>
                                  <a:latin typeface="Cambria Math" panose="02040503050406030204" pitchFamily="18" charset="0"/>
                                  <a:ea typeface="Cambria Math" panose="02040503050406030204" pitchFamily="18" charset="0"/>
                                </a:rPr>
                              </m:ctrlPr>
                            </m:accPr>
                            <m:e>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𝑘</m:t>
                              </m:r>
                            </m:e>
                          </m:acc>
                        </m:e>
                      </m:acc>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𝑠𝑓</m:t>
                      </m:r>
                      <m:d>
                        <m:dPr>
                          <m:ctrlPr>
                            <a:rPr lang="zh-CN" altLang="zh-CN" i="1">
                              <a:solidFill>
                                <a:schemeClr val="bg1"/>
                              </a:solidFill>
                              <a:effectLst/>
                              <a:latin typeface="Cambria Math" panose="02040503050406030204" pitchFamily="18" charset="0"/>
                              <a:ea typeface="Cambria Math" panose="02040503050406030204" pitchFamily="18" charset="0"/>
                            </a:rPr>
                          </m:ctrlPr>
                        </m:dPr>
                        <m:e>
                          <m:acc>
                            <m:accPr>
                              <m:chr m:val="̂"/>
                              <m:ctrlPr>
                                <a:rPr lang="zh-CN" altLang="zh-CN" i="1">
                                  <a:solidFill>
                                    <a:schemeClr val="bg1"/>
                                  </a:solidFill>
                                  <a:effectLst/>
                                  <a:latin typeface="Cambria Math" panose="02040503050406030204" pitchFamily="18" charset="0"/>
                                  <a:ea typeface="Cambria Math" panose="02040503050406030204" pitchFamily="18" charset="0"/>
                                </a:rPr>
                              </m:ctrlPr>
                            </m:accPr>
                            <m:e>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𝑘</m:t>
                              </m:r>
                            </m:e>
                          </m:acc>
                        </m:e>
                      </m:d>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𝑛</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𝛿</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𝑎</m:t>
                      </m:r>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m:t>
                      </m:r>
                      <m:acc>
                        <m:accPr>
                          <m:chr m:val="̂"/>
                          <m:ctrlPr>
                            <a:rPr lang="zh-CN" altLang="zh-CN" i="1">
                              <a:solidFill>
                                <a:schemeClr val="bg1"/>
                              </a:solidFill>
                              <a:effectLst/>
                              <a:latin typeface="Cambria Math" panose="02040503050406030204" pitchFamily="18" charset="0"/>
                              <a:ea typeface="Cambria Math" panose="02040503050406030204" pitchFamily="18" charset="0"/>
                            </a:rPr>
                          </m:ctrlPr>
                        </m:accPr>
                        <m:e>
                          <m:r>
                            <a:rPr lang="en-US" altLang="zh-CN" sz="1800" i="1" kern="0">
                              <a:solidFill>
                                <a:schemeClr val="bg1"/>
                              </a:solidFill>
                              <a:effectLst/>
                              <a:latin typeface="Cambria Math" panose="02040503050406030204" pitchFamily="18" charset="0"/>
                              <a:ea typeface="宋体" panose="02010600030101010101" pitchFamily="2" charset="-122"/>
                              <a:cs typeface="宋体" panose="02010600030101010101" pitchFamily="2" charset="-122"/>
                            </a:rPr>
                            <m:t>𝑘</m:t>
                          </m:r>
                        </m:e>
                      </m:acc>
                    </m:oMath>
                  </m:oMathPara>
                </a14:m>
                <a:endParaRPr lang="en-US" altLang="zh-CN" dirty="0">
                  <a:solidFill>
                    <a:schemeClr val="bg1"/>
                  </a:solidFill>
                </a:endParaRPr>
              </a:p>
              <a:p>
                <a:pPr marL="0" indent="0">
                  <a:buNone/>
                </a:pPr>
                <a:r>
                  <a:rPr lang="en-US" altLang="zh-CN" dirty="0">
                    <a:solidFill>
                      <a:schemeClr val="bg1"/>
                    </a:solidFill>
                  </a:rPr>
                  <a:t>a</a:t>
                </a:r>
                <a:r>
                  <a:rPr lang="zh-CN" altLang="en-US" dirty="0">
                    <a:solidFill>
                      <a:schemeClr val="bg1"/>
                    </a:solidFill>
                  </a:rPr>
                  <a:t>为技术</a:t>
                </a:r>
                <a:endParaRPr lang="en-US" altLang="zh-CN" dirty="0">
                  <a:solidFill>
                    <a:schemeClr val="bg1"/>
                  </a:solidFill>
                </a:endParaRPr>
              </a:p>
              <a:p>
                <a:pPr marL="0" indent="0">
                  <a:buNone/>
                </a:pPr>
                <a:r>
                  <a:rPr lang="zh-CN" altLang="zh-CN" sz="2400" kern="0" dirty="0">
                    <a:solidFill>
                      <a:schemeClr val="bg1"/>
                    </a:solidFill>
                    <a:effectLst/>
                    <a:ea typeface="宋体" panose="02010600030101010101" pitchFamily="2" charset="-122"/>
                    <a:cs typeface="宋体" panose="02010600030101010101" pitchFamily="2" charset="-122"/>
                  </a:rPr>
                  <a:t>经济水平的增长，技术进步是会导致人均产出持续增长。一旦经济达到稳态，人均产出的增长只取决于技术进步的速率，根据新古典增长模型，只有技术进步才能解释持续增长和生活水平持续上升。</a:t>
                </a:r>
                <a:endParaRPr lang="zh-CN" altLang="en-US" sz="2400" dirty="0">
                  <a:solidFill>
                    <a:schemeClr val="bg1"/>
                  </a:solidFill>
                </a:endParaRPr>
              </a:p>
            </p:txBody>
          </p:sp>
        </mc:Choice>
        <mc:Fallback xmlns="">
          <p:sp>
            <p:nvSpPr>
              <p:cNvPr id="3" name="内容占位符 2">
                <a:extLst>
                  <a:ext uri="{FF2B5EF4-FFF2-40B4-BE49-F238E27FC236}">
                    <a16:creationId xmlns:a16="http://schemas.microsoft.com/office/drawing/2014/main" id="{9D5C3C9B-207E-4A1C-A726-DF54786C6791}"/>
                  </a:ext>
                </a:extLst>
              </p:cNvPr>
              <p:cNvSpPr>
                <a:spLocks noGrp="1" noRot="1" noChangeAspect="1" noMove="1" noResize="1" noEditPoints="1" noAdjustHandles="1" noChangeArrowheads="1" noChangeShapeType="1" noTextEdit="1"/>
              </p:cNvSpPr>
              <p:nvPr>
                <p:ph idx="1"/>
              </p:nvPr>
            </p:nvSpPr>
            <p:spPr>
              <a:xfrm>
                <a:off x="838200" y="1253331"/>
                <a:ext cx="10515600" cy="4351338"/>
              </a:xfrm>
              <a:blipFill>
                <a:blip r:embed="rId2"/>
                <a:stretch>
                  <a:fillRect l="-1217" r="-1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44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5721CC-9C3F-403E-9628-971E66274B3F}"/>
              </a:ext>
            </a:extLst>
          </p:cNvPr>
          <p:cNvSpPr>
            <a:spLocks noGrp="1"/>
          </p:cNvSpPr>
          <p:nvPr>
            <p:ph type="title"/>
          </p:nvPr>
        </p:nvSpPr>
        <p:spPr/>
        <p:txBody>
          <a:bodyPr/>
          <a:lstStyle/>
          <a:p>
            <a:r>
              <a:rPr lang="zh-CN" altLang="en-US" dirty="0"/>
              <a:t>促进经济增长的政策</a:t>
            </a:r>
          </a:p>
        </p:txBody>
      </p:sp>
      <p:sp>
        <p:nvSpPr>
          <p:cNvPr id="4" name="Rectangle 3">
            <a:extLst>
              <a:ext uri="{FF2B5EF4-FFF2-40B4-BE49-F238E27FC236}">
                <a16:creationId xmlns:a16="http://schemas.microsoft.com/office/drawing/2014/main" id="{3688A1AF-E5A9-432E-9AE2-D033ECE5403A}"/>
              </a:ext>
            </a:extLst>
          </p:cNvPr>
          <p:cNvSpPr txBox="1">
            <a:spLocks noChangeArrowheads="1"/>
          </p:cNvSpPr>
          <p:nvPr/>
        </p:nvSpPr>
        <p:spPr>
          <a:xfrm>
            <a:off x="995464" y="1690688"/>
            <a:ext cx="6078538" cy="2760663"/>
          </a:xfrm>
          <a:prstGeom prst="rect">
            <a:avLst/>
          </a:prstGeom>
          <a:ln>
            <a:headEnd/>
            <a:tailEnd/>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t>鼓励技术进步</a:t>
            </a:r>
          </a:p>
          <a:p>
            <a:endParaRPr lang="zh-CN" altLang="en-US" sz="3200"/>
          </a:p>
          <a:p>
            <a:r>
              <a:rPr lang="zh-CN" altLang="en-US" sz="3200"/>
              <a:t>鼓励资本形成</a:t>
            </a:r>
          </a:p>
          <a:p>
            <a:endParaRPr lang="zh-CN" altLang="en-US" sz="3200"/>
          </a:p>
          <a:p>
            <a:r>
              <a:rPr lang="zh-CN" altLang="en-US" sz="3200"/>
              <a:t>增加劳动供给</a:t>
            </a:r>
            <a:endParaRPr lang="zh-CN" altLang="en-US" sz="3200" dirty="0"/>
          </a:p>
        </p:txBody>
      </p:sp>
    </p:spTree>
    <p:extLst>
      <p:ext uri="{BB962C8B-B14F-4D97-AF65-F5344CB8AC3E}">
        <p14:creationId xmlns:p14="http://schemas.microsoft.com/office/powerpoint/2010/main" val="4202865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A7B5C47-B848-4F05-9B6D-C85D7BB2A52C}"/>
              </a:ext>
            </a:extLst>
          </p:cNvPr>
          <p:cNvSpPr>
            <a:spLocks noGrp="1" noChangeArrowheads="1"/>
          </p:cNvSpPr>
          <p:nvPr>
            <p:ph type="title"/>
          </p:nvPr>
        </p:nvSpPr>
        <p:spPr>
          <a:xfrm>
            <a:off x="838200"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dirty="0"/>
              <a:t> 经济周期概述</a:t>
            </a:r>
          </a:p>
        </p:txBody>
      </p:sp>
      <p:sp>
        <p:nvSpPr>
          <p:cNvPr id="5" name="Rectangle 4">
            <a:extLst>
              <a:ext uri="{FF2B5EF4-FFF2-40B4-BE49-F238E27FC236}">
                <a16:creationId xmlns:a16="http://schemas.microsoft.com/office/drawing/2014/main" id="{3E216FBA-0EF9-4D99-91DC-29EFCDA0D1B1}"/>
              </a:ext>
            </a:extLst>
          </p:cNvPr>
          <p:cNvSpPr>
            <a:spLocks noGrp="1" noChangeArrowheads="1"/>
          </p:cNvSpPr>
          <p:nvPr>
            <p:ph idx="1"/>
          </p:nvPr>
        </p:nvSpPr>
        <p:spPr>
          <a:xfrm>
            <a:off x="1055688" y="1313657"/>
            <a:ext cx="5832475" cy="638175"/>
          </a:xfrm>
          <a:ln>
            <a:headEnd/>
            <a:tailEnd/>
          </a:ln>
        </p:spPr>
        <p:txBody>
          <a:bodyPr/>
          <a:lstStyle/>
          <a:p>
            <a:pPr>
              <a:buFont typeface="Wingdings" panose="05000000000000000000" pitchFamily="2" charset="2"/>
              <a:buNone/>
            </a:pPr>
            <a:r>
              <a:rPr lang="zh-CN" altLang="en-US" sz="2800" dirty="0">
                <a:solidFill>
                  <a:schemeClr val="bg1"/>
                </a:solidFill>
                <a:latin typeface="黑体" panose="02010609060101010101" pitchFamily="49" charset="-122"/>
                <a:ea typeface="黑体" panose="02010609060101010101" pitchFamily="49" charset="-122"/>
              </a:rPr>
              <a:t>经济周期</a:t>
            </a:r>
          </a:p>
        </p:txBody>
      </p:sp>
      <p:sp>
        <p:nvSpPr>
          <p:cNvPr id="6" name="Rectangle 5">
            <a:extLst>
              <a:ext uri="{FF2B5EF4-FFF2-40B4-BE49-F238E27FC236}">
                <a16:creationId xmlns:a16="http://schemas.microsoft.com/office/drawing/2014/main" id="{94752352-DA2D-4FF5-9D89-71FC5AFB8A28}"/>
              </a:ext>
            </a:extLst>
          </p:cNvPr>
          <p:cNvSpPr>
            <a:spLocks noChangeArrowheads="1"/>
          </p:cNvSpPr>
          <p:nvPr/>
        </p:nvSpPr>
        <p:spPr bwMode="auto">
          <a:xfrm>
            <a:off x="1087640" y="1989138"/>
            <a:ext cx="8135937" cy="1223962"/>
          </a:xfrm>
          <a:prstGeom prst="rect">
            <a:avLst/>
          </a:prstGeom>
          <a:solidFill>
            <a:schemeClr val="bg1">
              <a:alpha val="73000"/>
            </a:schemeClr>
          </a:solidFill>
          <a:ln w="76200" cap="sq" cmpd="tri">
            <a:solidFill>
              <a:schemeClr val="hlink"/>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b="0" dirty="0">
                <a:solidFill>
                  <a:srgbClr val="000000"/>
                </a:solidFill>
                <a:latin typeface="黑体" panose="02010609060101010101" pitchFamily="49" charset="-122"/>
                <a:ea typeface="黑体" panose="02010609060101010101" pitchFamily="49" charset="-122"/>
              </a:rPr>
              <a:t> </a:t>
            </a:r>
            <a:r>
              <a:rPr lang="zh-CN" altLang="en-US" b="0" dirty="0">
                <a:solidFill>
                  <a:srgbClr val="000000"/>
                </a:solidFill>
                <a:latin typeface="黑体" panose="02010609060101010101" pitchFamily="49" charset="-122"/>
                <a:ea typeface="黑体" panose="02010609060101010101" pitchFamily="49" charset="-122"/>
              </a:rPr>
              <a:t>经济周期：经济活动沿着经济发展的总体趋势，所经历的扩张与衰退，两者相互交替，使经济总量螺旋式增长的经济现象。</a:t>
            </a:r>
          </a:p>
        </p:txBody>
      </p:sp>
      <p:sp>
        <p:nvSpPr>
          <p:cNvPr id="7" name="Rectangle 8">
            <a:extLst>
              <a:ext uri="{FF2B5EF4-FFF2-40B4-BE49-F238E27FC236}">
                <a16:creationId xmlns:a16="http://schemas.microsoft.com/office/drawing/2014/main" id="{DF5D7C2B-7388-4F86-9EA2-5BCC5809E11A}"/>
              </a:ext>
            </a:extLst>
          </p:cNvPr>
          <p:cNvSpPr>
            <a:spLocks noChangeArrowheads="1"/>
          </p:cNvSpPr>
          <p:nvPr/>
        </p:nvSpPr>
        <p:spPr bwMode="auto">
          <a:xfrm>
            <a:off x="1087640" y="3357564"/>
            <a:ext cx="3959225" cy="2879725"/>
          </a:xfrm>
          <a:prstGeom prst="rect">
            <a:avLst/>
          </a:prstGeom>
          <a:solidFill>
            <a:schemeClr val="bg1">
              <a:alpha val="73000"/>
            </a:schemeClr>
          </a:solidFill>
          <a:ln w="76200" cap="sq" cmpd="tri">
            <a:solidFill>
              <a:schemeClr val="hlink"/>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sz="2000" b="0">
                <a:solidFill>
                  <a:srgbClr val="000000"/>
                </a:solidFill>
                <a:latin typeface="黑体" panose="02010609060101010101" pitchFamily="49" charset="-122"/>
                <a:ea typeface="黑体" panose="02010609060101010101" pitchFamily="49" charset="-122"/>
              </a:rPr>
              <a:t> </a:t>
            </a:r>
            <a:r>
              <a:rPr lang="zh-CN" altLang="en-US" sz="2000" b="0">
                <a:solidFill>
                  <a:srgbClr val="000000"/>
                </a:solidFill>
                <a:latin typeface="黑体" panose="02010609060101010101" pitchFamily="49" charset="-122"/>
                <a:ea typeface="黑体" panose="02010609060101010101" pitchFamily="49" charset="-122"/>
              </a:rPr>
              <a:t>经济周期具有以下特征：</a:t>
            </a:r>
            <a:br>
              <a:rPr lang="zh-CN" altLang="en-US" sz="2000" b="0">
                <a:solidFill>
                  <a:srgbClr val="000000"/>
                </a:solidFill>
                <a:latin typeface="黑体" panose="02010609060101010101" pitchFamily="49" charset="-122"/>
                <a:ea typeface="黑体" panose="02010609060101010101" pitchFamily="49" charset="-122"/>
              </a:rPr>
            </a:br>
            <a:r>
              <a:rPr lang="en-US" altLang="zh-CN" sz="2000" b="0">
                <a:solidFill>
                  <a:srgbClr val="000000"/>
                </a:solidFill>
                <a:latin typeface="黑体" panose="02010609060101010101" pitchFamily="49" charset="-122"/>
                <a:ea typeface="黑体" panose="02010609060101010101" pitchFamily="49" charset="-122"/>
              </a:rPr>
              <a:t>1</a:t>
            </a:r>
            <a:r>
              <a:rPr lang="zh-CN" altLang="en-US" sz="2000" b="0">
                <a:solidFill>
                  <a:srgbClr val="000000"/>
                </a:solidFill>
                <a:latin typeface="黑体" panose="02010609060101010101" pitchFamily="49" charset="-122"/>
                <a:ea typeface="黑体" panose="02010609060101010101" pitchFamily="49" charset="-122"/>
              </a:rPr>
              <a:t>）经济周期不可避免。</a:t>
            </a:r>
            <a:br>
              <a:rPr lang="zh-CN" altLang="en-US" sz="2000" b="0">
                <a:solidFill>
                  <a:srgbClr val="000000"/>
                </a:solidFill>
                <a:latin typeface="黑体" panose="02010609060101010101" pitchFamily="49" charset="-122"/>
                <a:ea typeface="黑体" panose="02010609060101010101" pitchFamily="49" charset="-122"/>
              </a:rPr>
            </a:br>
            <a:r>
              <a:rPr lang="en-US" altLang="zh-CN" sz="2000" b="0">
                <a:solidFill>
                  <a:srgbClr val="000000"/>
                </a:solidFill>
                <a:latin typeface="黑体" panose="02010609060101010101" pitchFamily="49" charset="-122"/>
                <a:ea typeface="黑体" panose="02010609060101010101" pitchFamily="49" charset="-122"/>
              </a:rPr>
              <a:t>2</a:t>
            </a:r>
            <a:r>
              <a:rPr lang="zh-CN" altLang="en-US" sz="2000" b="0">
                <a:solidFill>
                  <a:srgbClr val="000000"/>
                </a:solidFill>
                <a:latin typeface="黑体" panose="02010609060101010101" pitchFamily="49" charset="-122"/>
                <a:ea typeface="黑体" panose="02010609060101010101" pitchFamily="49" charset="-122"/>
              </a:rPr>
              <a:t>）经济周期是经济活动总体性、全局性的波动。</a:t>
            </a:r>
            <a:br>
              <a:rPr lang="zh-CN" altLang="en-US" sz="2000" b="0">
                <a:solidFill>
                  <a:srgbClr val="000000"/>
                </a:solidFill>
                <a:latin typeface="黑体" panose="02010609060101010101" pitchFamily="49" charset="-122"/>
                <a:ea typeface="黑体" panose="02010609060101010101" pitchFamily="49" charset="-122"/>
              </a:rPr>
            </a:br>
            <a:r>
              <a:rPr lang="en-US" altLang="zh-CN" sz="2000" b="0">
                <a:solidFill>
                  <a:srgbClr val="000000"/>
                </a:solidFill>
                <a:latin typeface="黑体" panose="02010609060101010101" pitchFamily="49" charset="-122"/>
                <a:ea typeface="黑体" panose="02010609060101010101" pitchFamily="49" charset="-122"/>
              </a:rPr>
              <a:t>3</a:t>
            </a:r>
            <a:r>
              <a:rPr lang="zh-CN" altLang="en-US" sz="2000" b="0">
                <a:solidFill>
                  <a:srgbClr val="000000"/>
                </a:solidFill>
                <a:latin typeface="黑体" panose="02010609060101010101" pitchFamily="49" charset="-122"/>
                <a:ea typeface="黑体" panose="02010609060101010101" pitchFamily="49" charset="-122"/>
              </a:rPr>
              <a:t>）一个完整的周期由繁荣、衰退、萧条、复苏四个阶段组成。</a:t>
            </a:r>
            <a:br>
              <a:rPr lang="zh-CN" altLang="en-US" sz="2000" b="0">
                <a:solidFill>
                  <a:srgbClr val="000000"/>
                </a:solidFill>
                <a:latin typeface="黑体" panose="02010609060101010101" pitchFamily="49" charset="-122"/>
                <a:ea typeface="黑体" panose="02010609060101010101" pitchFamily="49" charset="-122"/>
              </a:rPr>
            </a:br>
            <a:r>
              <a:rPr lang="en-US" altLang="zh-CN" sz="2000" b="0">
                <a:solidFill>
                  <a:srgbClr val="000000"/>
                </a:solidFill>
                <a:latin typeface="黑体" panose="02010609060101010101" pitchFamily="49" charset="-122"/>
                <a:ea typeface="黑体" panose="02010609060101010101" pitchFamily="49" charset="-122"/>
              </a:rPr>
              <a:t>4</a:t>
            </a:r>
            <a:r>
              <a:rPr lang="zh-CN" altLang="en-US" sz="2000" b="0">
                <a:solidFill>
                  <a:srgbClr val="000000"/>
                </a:solidFill>
                <a:latin typeface="黑体" panose="02010609060101010101" pitchFamily="49" charset="-122"/>
                <a:ea typeface="黑体" panose="02010609060101010101" pitchFamily="49" charset="-122"/>
              </a:rPr>
              <a:t>）周期的长短由周期的具体性质所决定。</a:t>
            </a:r>
          </a:p>
        </p:txBody>
      </p:sp>
      <p:sp>
        <p:nvSpPr>
          <p:cNvPr id="8" name="Rectangle 9">
            <a:extLst>
              <a:ext uri="{FF2B5EF4-FFF2-40B4-BE49-F238E27FC236}">
                <a16:creationId xmlns:a16="http://schemas.microsoft.com/office/drawing/2014/main" id="{43BD7D48-2A47-40B4-9A48-2DCBE5105009}"/>
              </a:ext>
            </a:extLst>
          </p:cNvPr>
          <p:cNvSpPr>
            <a:spLocks noChangeArrowheads="1"/>
          </p:cNvSpPr>
          <p:nvPr/>
        </p:nvSpPr>
        <p:spPr bwMode="auto">
          <a:xfrm>
            <a:off x="5478664" y="2924175"/>
            <a:ext cx="3960812" cy="1150938"/>
          </a:xfrm>
          <a:prstGeom prst="rect">
            <a:avLst/>
          </a:prstGeom>
          <a:solidFill>
            <a:schemeClr val="bg1">
              <a:alpha val="73000"/>
            </a:schemeClr>
          </a:solidFill>
          <a:ln w="76200" cap="sq" cmpd="tri">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sz="2000" dirty="0">
                <a:solidFill>
                  <a:schemeClr val="bg2">
                    <a:lumMod val="25000"/>
                  </a:schemeClr>
                </a:solidFill>
              </a:rPr>
              <a:t>四个阶段       </a:t>
            </a:r>
          </a:p>
          <a:p>
            <a:pPr>
              <a:lnSpc>
                <a:spcPct val="90000"/>
              </a:lnSpc>
            </a:pPr>
            <a:r>
              <a:rPr lang="zh-CN" altLang="en-US" sz="2000" dirty="0">
                <a:solidFill>
                  <a:srgbClr val="990000"/>
                </a:solidFill>
              </a:rPr>
              <a:t>主要阶段－繁荣与萧条</a:t>
            </a:r>
          </a:p>
          <a:p>
            <a:pPr>
              <a:lnSpc>
                <a:spcPct val="90000"/>
              </a:lnSpc>
            </a:pPr>
            <a:r>
              <a:rPr lang="zh-CN" altLang="en-US" sz="2000" dirty="0">
                <a:solidFill>
                  <a:srgbClr val="660066"/>
                </a:solidFill>
              </a:rPr>
              <a:t>过渡阶段－衰退与复苏</a:t>
            </a:r>
          </a:p>
        </p:txBody>
      </p:sp>
      <p:sp>
        <p:nvSpPr>
          <p:cNvPr id="9" name="Rectangle 10">
            <a:extLst>
              <a:ext uri="{FF2B5EF4-FFF2-40B4-BE49-F238E27FC236}">
                <a16:creationId xmlns:a16="http://schemas.microsoft.com/office/drawing/2014/main" id="{3E78ED73-DBF5-4058-B254-8251249D36F6}"/>
              </a:ext>
            </a:extLst>
          </p:cNvPr>
          <p:cNvSpPr>
            <a:spLocks noChangeArrowheads="1"/>
          </p:cNvSpPr>
          <p:nvPr/>
        </p:nvSpPr>
        <p:spPr bwMode="auto">
          <a:xfrm>
            <a:off x="5227840" y="4149725"/>
            <a:ext cx="4535487" cy="2139950"/>
          </a:xfrm>
          <a:prstGeom prst="rect">
            <a:avLst/>
          </a:prstGeom>
          <a:noFill/>
          <a:ln w="3175">
            <a:solidFill>
              <a:schemeClr val="tx1"/>
            </a:solidFill>
            <a:miter lim="800000"/>
            <a:headEnd/>
            <a:tailEnd/>
          </a:ln>
          <a:effectLst/>
        </p:spPr>
        <p:txBody>
          <a:bodyPr anchor="ctr">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zh-CN" altLang="en-US" dirty="0">
                <a:latin typeface="Arial" panose="020B0604020202020204" pitchFamily="34" charset="0"/>
              </a:rPr>
              <a:t>经济周期繁荣阶段的特征：</a:t>
            </a:r>
          </a:p>
          <a:p>
            <a:pPr eaLnBrk="0" hangingPunct="0">
              <a:lnSpc>
                <a:spcPct val="90000"/>
              </a:lnSpc>
              <a:buFont typeface="Wingdings" panose="05000000000000000000" pitchFamily="2" charset="2"/>
              <a:buChar char="n"/>
            </a:pPr>
            <a:r>
              <a:rPr lang="zh-CN" altLang="en-US" dirty="0">
                <a:latin typeface="Arial" panose="020B0604020202020204" pitchFamily="34" charset="0"/>
              </a:rPr>
              <a:t>生产迅速增加</a:t>
            </a:r>
          </a:p>
          <a:p>
            <a:pPr eaLnBrk="0" hangingPunct="0">
              <a:lnSpc>
                <a:spcPct val="90000"/>
              </a:lnSpc>
              <a:buFont typeface="Wingdings" panose="05000000000000000000" pitchFamily="2" charset="2"/>
              <a:buChar char="n"/>
            </a:pPr>
            <a:r>
              <a:rPr lang="zh-CN" altLang="en-US" dirty="0">
                <a:latin typeface="Arial" panose="020B0604020202020204" pitchFamily="34" charset="0"/>
              </a:rPr>
              <a:t>投资增加</a:t>
            </a:r>
          </a:p>
          <a:p>
            <a:pPr eaLnBrk="0" hangingPunct="0">
              <a:lnSpc>
                <a:spcPct val="90000"/>
              </a:lnSpc>
              <a:buFont typeface="Wingdings" panose="05000000000000000000" pitchFamily="2" charset="2"/>
              <a:buChar char="n"/>
            </a:pPr>
            <a:r>
              <a:rPr lang="zh-CN" altLang="en-US" dirty="0">
                <a:latin typeface="Arial" panose="020B0604020202020204" pitchFamily="34" charset="0"/>
              </a:rPr>
              <a:t>信用扩张</a:t>
            </a:r>
          </a:p>
          <a:p>
            <a:pPr eaLnBrk="0" hangingPunct="0">
              <a:lnSpc>
                <a:spcPct val="90000"/>
              </a:lnSpc>
              <a:buFont typeface="Wingdings" panose="05000000000000000000" pitchFamily="2" charset="2"/>
              <a:buChar char="n"/>
            </a:pPr>
            <a:r>
              <a:rPr lang="zh-CN" altLang="en-US" dirty="0">
                <a:latin typeface="Arial" panose="020B0604020202020204" pitchFamily="34" charset="0"/>
              </a:rPr>
              <a:t>价格水平上升</a:t>
            </a:r>
          </a:p>
          <a:p>
            <a:pPr eaLnBrk="0" hangingPunct="0">
              <a:lnSpc>
                <a:spcPct val="90000"/>
              </a:lnSpc>
              <a:buFont typeface="Wingdings" panose="05000000000000000000" pitchFamily="2" charset="2"/>
              <a:buChar char="n"/>
            </a:pPr>
            <a:r>
              <a:rPr lang="zh-CN" altLang="en-US" dirty="0">
                <a:latin typeface="Arial" panose="020B0604020202020204" pitchFamily="34" charset="0"/>
              </a:rPr>
              <a:t>就业增加</a:t>
            </a:r>
          </a:p>
        </p:txBody>
      </p:sp>
    </p:spTree>
    <p:extLst>
      <p:ext uri="{BB962C8B-B14F-4D97-AF65-F5344CB8AC3E}">
        <p14:creationId xmlns:p14="http://schemas.microsoft.com/office/powerpoint/2010/main" val="162541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9A75EA5-01FE-4ED2-B79C-404C63879503}"/>
              </a:ext>
            </a:extLst>
          </p:cNvPr>
          <p:cNvSpPr>
            <a:spLocks noGrp="1" noChangeArrowheads="1"/>
          </p:cNvSpPr>
          <p:nvPr>
            <p:ph type="title"/>
          </p:nvPr>
        </p:nvSpPr>
        <p:spPr>
          <a:xfrm>
            <a:off x="439365"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dirty="0"/>
              <a:t>经济周期的类型</a:t>
            </a:r>
          </a:p>
        </p:txBody>
      </p:sp>
      <p:sp>
        <p:nvSpPr>
          <p:cNvPr id="5" name="Rectangle 5">
            <a:extLst>
              <a:ext uri="{FF2B5EF4-FFF2-40B4-BE49-F238E27FC236}">
                <a16:creationId xmlns:a16="http://schemas.microsoft.com/office/drawing/2014/main" id="{F94757D7-2DA1-45DC-BCEA-1D0132B5C6D5}"/>
              </a:ext>
            </a:extLst>
          </p:cNvPr>
          <p:cNvSpPr>
            <a:spLocks noGrp="1" noChangeArrowheads="1"/>
          </p:cNvSpPr>
          <p:nvPr>
            <p:ph idx="1"/>
          </p:nvPr>
        </p:nvSpPr>
        <p:spPr>
          <a:xfrm>
            <a:off x="439365" y="1825625"/>
            <a:ext cx="10515600" cy="4351338"/>
          </a:xfrm>
          <a:ln>
            <a:solidFill>
              <a:schemeClr val="hlink"/>
            </a:solidFill>
          </a:ln>
        </p:spPr>
        <p:txBody>
          <a:bodyPr>
            <a:normAutofit fontScale="92500"/>
          </a:bodyPr>
          <a:lstStyle/>
          <a:p>
            <a:r>
              <a:rPr lang="en-US" altLang="zh-CN"/>
              <a:t>1</a:t>
            </a:r>
            <a:r>
              <a:rPr lang="zh-CN" altLang="en-US"/>
              <a:t>）基钦（美国，</a:t>
            </a:r>
            <a:r>
              <a:rPr lang="en-US" altLang="zh-CN"/>
              <a:t>1923 </a:t>
            </a:r>
            <a:r>
              <a:rPr lang="zh-CN" altLang="en-US"/>
              <a:t>）短周期，平均长度为</a:t>
            </a:r>
            <a:r>
              <a:rPr lang="en-US" altLang="zh-CN"/>
              <a:t>3.5</a:t>
            </a:r>
            <a:r>
              <a:rPr lang="zh-CN" altLang="en-US"/>
              <a:t>年。</a:t>
            </a:r>
          </a:p>
          <a:p>
            <a:r>
              <a:rPr lang="en-US" altLang="zh-CN"/>
              <a:t>2</a:t>
            </a:r>
            <a:r>
              <a:rPr lang="zh-CN" altLang="en-US"/>
              <a:t>）朱格拉（法国，</a:t>
            </a:r>
            <a:r>
              <a:rPr lang="en-US" altLang="zh-CN"/>
              <a:t>1860</a:t>
            </a:r>
            <a:r>
              <a:rPr lang="zh-CN" altLang="en-US"/>
              <a:t>）中周期，平均长度为</a:t>
            </a:r>
            <a:r>
              <a:rPr lang="en-US" altLang="zh-CN"/>
              <a:t>8~10</a:t>
            </a:r>
            <a:r>
              <a:rPr lang="zh-CN" altLang="en-US"/>
              <a:t>年。</a:t>
            </a:r>
          </a:p>
          <a:p>
            <a:r>
              <a:rPr lang="en-US" altLang="zh-CN"/>
              <a:t>3</a:t>
            </a:r>
            <a:r>
              <a:rPr lang="zh-CN" altLang="en-US"/>
              <a:t>）康德拉季耶夫（俄国，</a:t>
            </a:r>
            <a:r>
              <a:rPr lang="en-US" altLang="zh-CN"/>
              <a:t>1925</a:t>
            </a:r>
            <a:r>
              <a:rPr lang="zh-CN" altLang="en-US"/>
              <a:t>）长周期，平均为</a:t>
            </a:r>
            <a:r>
              <a:rPr lang="en-US" altLang="zh-CN"/>
              <a:t>50</a:t>
            </a:r>
            <a:r>
              <a:rPr lang="zh-CN" altLang="en-US"/>
              <a:t>年。</a:t>
            </a:r>
          </a:p>
          <a:p>
            <a:r>
              <a:rPr lang="en-US" altLang="zh-CN"/>
              <a:t>4</a:t>
            </a:r>
            <a:r>
              <a:rPr lang="zh-CN" altLang="en-US"/>
              <a:t>）库兹涅茨（美国，</a:t>
            </a:r>
            <a:r>
              <a:rPr lang="en-US" altLang="zh-CN"/>
              <a:t>1930</a:t>
            </a:r>
            <a:r>
              <a:rPr lang="zh-CN" altLang="en-US"/>
              <a:t>）中长周期，平均长度为</a:t>
            </a:r>
            <a:r>
              <a:rPr lang="en-US" altLang="zh-CN"/>
              <a:t>20</a:t>
            </a:r>
            <a:r>
              <a:rPr lang="zh-CN" altLang="en-US"/>
              <a:t>年。</a:t>
            </a:r>
          </a:p>
          <a:p>
            <a:r>
              <a:rPr lang="en-US" altLang="zh-CN"/>
              <a:t>5</a:t>
            </a:r>
            <a:r>
              <a:rPr lang="zh-CN" altLang="en-US"/>
              <a:t>）熊彼特（美国，</a:t>
            </a:r>
            <a:r>
              <a:rPr lang="en-US" altLang="zh-CN"/>
              <a:t>1939</a:t>
            </a:r>
            <a:r>
              <a:rPr lang="zh-CN" altLang="en-US"/>
              <a:t>）综合周期：每一个</a:t>
            </a:r>
            <a:r>
              <a:rPr lang="en-US" altLang="zh-CN"/>
              <a:t>50~60</a:t>
            </a:r>
            <a:r>
              <a:rPr lang="zh-CN" altLang="en-US"/>
              <a:t>年的长周期包括</a:t>
            </a:r>
            <a:r>
              <a:rPr lang="en-US" altLang="zh-CN"/>
              <a:t>6</a:t>
            </a:r>
            <a:r>
              <a:rPr lang="zh-CN" altLang="en-US"/>
              <a:t>个</a:t>
            </a:r>
            <a:r>
              <a:rPr lang="en-US" altLang="zh-CN"/>
              <a:t>8~10</a:t>
            </a:r>
            <a:r>
              <a:rPr lang="zh-CN" altLang="en-US"/>
              <a:t>年的中周期，每一个中周期包括三个长度约</a:t>
            </a:r>
            <a:r>
              <a:rPr lang="en-US" altLang="zh-CN"/>
              <a:t>40</a:t>
            </a:r>
            <a:r>
              <a:rPr lang="zh-CN" altLang="en-US"/>
              <a:t>个月的短周期。他在年提出，人类进入工业社会后大约经历了三个长周期：</a:t>
            </a:r>
          </a:p>
          <a:p>
            <a:pPr lvl="1"/>
            <a:r>
              <a:rPr lang="zh-CN" altLang="en-US"/>
              <a:t>第一个长周期：</a:t>
            </a:r>
            <a:r>
              <a:rPr lang="en-US" altLang="zh-CN"/>
              <a:t>18</a:t>
            </a:r>
            <a:r>
              <a:rPr lang="zh-CN" altLang="en-US"/>
              <a:t>世纪</a:t>
            </a:r>
            <a:r>
              <a:rPr lang="en-US" altLang="zh-CN"/>
              <a:t>80</a:t>
            </a:r>
            <a:r>
              <a:rPr lang="zh-CN" altLang="en-US"/>
              <a:t>年代</a:t>
            </a:r>
            <a:r>
              <a:rPr lang="en-US" altLang="zh-CN"/>
              <a:t>~1842</a:t>
            </a:r>
            <a:r>
              <a:rPr lang="zh-CN" altLang="en-US"/>
              <a:t>年，“纺织机时代”</a:t>
            </a:r>
          </a:p>
          <a:p>
            <a:pPr lvl="1"/>
            <a:r>
              <a:rPr lang="zh-CN" altLang="en-US"/>
              <a:t>第二个长周期：</a:t>
            </a:r>
            <a:r>
              <a:rPr lang="en-US" altLang="zh-CN"/>
              <a:t>1842</a:t>
            </a:r>
            <a:r>
              <a:rPr lang="zh-CN" altLang="en-US"/>
              <a:t>年</a:t>
            </a:r>
            <a:r>
              <a:rPr lang="en-US" altLang="zh-CN"/>
              <a:t>~1897</a:t>
            </a:r>
            <a:r>
              <a:rPr lang="zh-CN" altLang="en-US"/>
              <a:t>年，“蒸汽机和钢铁时代”</a:t>
            </a:r>
          </a:p>
          <a:p>
            <a:pPr lvl="1"/>
            <a:r>
              <a:rPr lang="zh-CN" altLang="en-US"/>
              <a:t>第三个长周期：</a:t>
            </a:r>
            <a:r>
              <a:rPr lang="en-US" altLang="zh-CN"/>
              <a:t>1897</a:t>
            </a:r>
            <a:r>
              <a:rPr lang="zh-CN" altLang="en-US"/>
              <a:t>年以后，“电气化和汽车时代”</a:t>
            </a:r>
          </a:p>
        </p:txBody>
      </p:sp>
    </p:spTree>
    <p:extLst>
      <p:ext uri="{BB962C8B-B14F-4D97-AF65-F5344CB8AC3E}">
        <p14:creationId xmlns:p14="http://schemas.microsoft.com/office/powerpoint/2010/main" val="3891497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39EAB28-EA7C-40C9-A47C-762A8DDAD5FA}"/>
              </a:ext>
            </a:extLst>
          </p:cNvPr>
          <p:cNvSpPr>
            <a:spLocks noGrp="1" noChangeArrowheads="1"/>
          </p:cNvSpPr>
          <p:nvPr>
            <p:ph type="title"/>
          </p:nvPr>
        </p:nvSpPr>
        <p:spPr>
          <a:xfrm>
            <a:off x="439365"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dirty="0"/>
              <a:t>经济周期的一般原因</a:t>
            </a:r>
          </a:p>
        </p:txBody>
      </p:sp>
      <p:sp>
        <p:nvSpPr>
          <p:cNvPr id="5" name="Rectangle 7">
            <a:extLst>
              <a:ext uri="{FF2B5EF4-FFF2-40B4-BE49-F238E27FC236}">
                <a16:creationId xmlns:a16="http://schemas.microsoft.com/office/drawing/2014/main" id="{64345789-6B38-4339-8266-CF6F920A72EE}"/>
              </a:ext>
            </a:extLst>
          </p:cNvPr>
          <p:cNvSpPr>
            <a:spLocks noGrp="1" noChangeArrowheads="1"/>
          </p:cNvSpPr>
          <p:nvPr>
            <p:ph idx="1"/>
          </p:nvPr>
        </p:nvSpPr>
        <p:spPr>
          <a:xfrm>
            <a:off x="439365" y="1825625"/>
            <a:ext cx="10515600" cy="4351338"/>
          </a:xfrm>
          <a:ln>
            <a:solidFill>
              <a:schemeClr val="hlink"/>
            </a:solidFill>
          </a:ln>
        </p:spPr>
        <p:txBody>
          <a:bodyPr/>
          <a:lstStyle/>
          <a:p>
            <a:pPr>
              <a:lnSpc>
                <a:spcPct val="110000"/>
              </a:lnSpc>
            </a:pPr>
            <a:r>
              <a:rPr lang="en-US" altLang="zh-CN" sz="2000"/>
              <a:t>1</a:t>
            </a:r>
            <a:r>
              <a:rPr lang="zh-CN" altLang="en-US" sz="2000"/>
              <a:t>）消费不足论：收入中用于储蓄的部分过多，消费不足。这是由于分配不均造成的。富人得到了更多的收入。</a:t>
            </a:r>
          </a:p>
          <a:p>
            <a:pPr>
              <a:lnSpc>
                <a:spcPct val="110000"/>
              </a:lnSpc>
            </a:pPr>
            <a:r>
              <a:rPr lang="en-US" altLang="zh-CN" sz="2000"/>
              <a:t>2</a:t>
            </a:r>
            <a:r>
              <a:rPr lang="zh-CN" altLang="en-US" sz="2000"/>
              <a:t>）投资过度论：投资过多，生产资本品的部门发展超过了生产消费品的部门。资本品投资的波动导致了经济波动。</a:t>
            </a:r>
          </a:p>
          <a:p>
            <a:pPr>
              <a:lnSpc>
                <a:spcPct val="110000"/>
              </a:lnSpc>
            </a:pPr>
            <a:r>
              <a:rPr lang="en-US" altLang="zh-CN" sz="2000"/>
              <a:t>3</a:t>
            </a:r>
            <a:r>
              <a:rPr lang="zh-CN" altLang="en-US" sz="2000"/>
              <a:t>）信用过度论：货币和信用的扩张，导致利率下降，投资增加，繁荣；反之衰退。</a:t>
            </a:r>
          </a:p>
          <a:p>
            <a:pPr>
              <a:lnSpc>
                <a:spcPct val="110000"/>
              </a:lnSpc>
            </a:pPr>
            <a:r>
              <a:rPr lang="en-US" altLang="zh-CN" sz="2000"/>
              <a:t>4</a:t>
            </a:r>
            <a:r>
              <a:rPr lang="zh-CN" altLang="en-US" sz="2000"/>
              <a:t>）创新理论：技术革新和发明不是连续和均匀的。</a:t>
            </a:r>
          </a:p>
          <a:p>
            <a:pPr>
              <a:lnSpc>
                <a:spcPct val="110000"/>
              </a:lnSpc>
            </a:pPr>
            <a:r>
              <a:rPr lang="en-US" altLang="zh-CN" sz="2000"/>
              <a:t>5</a:t>
            </a:r>
            <a:r>
              <a:rPr lang="zh-CN" altLang="en-US" sz="2000"/>
              <a:t>）预期过度论：在心理上的乐观预期和悲观预期，说明了繁荣和衰退的交替。乐观时，投资和消费增加，繁荣。</a:t>
            </a:r>
          </a:p>
          <a:p>
            <a:pPr>
              <a:lnSpc>
                <a:spcPct val="110000"/>
              </a:lnSpc>
            </a:pPr>
            <a:r>
              <a:rPr lang="en-US" altLang="zh-CN" sz="2000"/>
              <a:t>6</a:t>
            </a:r>
            <a:r>
              <a:rPr lang="zh-CN" altLang="en-US" sz="2000"/>
              <a:t>）政治周期论：政府的交替扩张和收缩。经济上受到政治因素的影响。</a:t>
            </a:r>
          </a:p>
          <a:p>
            <a:pPr>
              <a:lnSpc>
                <a:spcPct val="110000"/>
              </a:lnSpc>
            </a:pPr>
            <a:r>
              <a:rPr lang="en-US" altLang="zh-CN" sz="2000"/>
              <a:t>7</a:t>
            </a:r>
            <a:r>
              <a:rPr lang="zh-CN" altLang="en-US" sz="2000"/>
              <a:t>）太阳黑子论：太阳的周期造成农业产出的变化。</a:t>
            </a:r>
          </a:p>
        </p:txBody>
      </p:sp>
    </p:spTree>
    <p:extLst>
      <p:ext uri="{BB962C8B-B14F-4D97-AF65-F5344CB8AC3E}">
        <p14:creationId xmlns:p14="http://schemas.microsoft.com/office/powerpoint/2010/main" val="2902133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D2B3E07-D6D0-42A9-B0D7-490BCFE074F5}"/>
              </a:ext>
            </a:extLst>
          </p:cNvPr>
          <p:cNvSpPr>
            <a:spLocks noGrp="1" noChangeArrowheads="1"/>
          </p:cNvSpPr>
          <p:nvPr>
            <p:ph type="title"/>
          </p:nvPr>
        </p:nvSpPr>
        <p:spPr>
          <a:xfrm>
            <a:off x="390727"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dirty="0"/>
              <a:t>乘数</a:t>
            </a:r>
            <a:r>
              <a:rPr lang="en-US" altLang="zh-CN" dirty="0"/>
              <a:t>-</a:t>
            </a:r>
            <a:r>
              <a:rPr lang="zh-CN" altLang="en-US" dirty="0"/>
              <a:t>加速数模型</a:t>
            </a:r>
          </a:p>
        </p:txBody>
      </p:sp>
      <p:sp>
        <p:nvSpPr>
          <p:cNvPr id="5" name="Rectangle 4">
            <a:extLst>
              <a:ext uri="{FF2B5EF4-FFF2-40B4-BE49-F238E27FC236}">
                <a16:creationId xmlns:a16="http://schemas.microsoft.com/office/drawing/2014/main" id="{448BB5C0-1E13-4E6E-BC25-DBC96A4B6B17}"/>
              </a:ext>
            </a:extLst>
          </p:cNvPr>
          <p:cNvSpPr>
            <a:spLocks noGrp="1" noChangeArrowheads="1"/>
          </p:cNvSpPr>
          <p:nvPr>
            <p:ph idx="1"/>
          </p:nvPr>
        </p:nvSpPr>
        <p:spPr>
          <a:xfrm>
            <a:off x="1165462" y="1201738"/>
            <a:ext cx="5832475" cy="638175"/>
          </a:xfrm>
          <a:ln>
            <a:headEnd/>
            <a:tailEnd/>
          </a:ln>
        </p:spPr>
        <p:txBody>
          <a:bodyPr/>
          <a:lstStyle/>
          <a:p>
            <a:pPr>
              <a:buFont typeface="Wingdings" panose="05000000000000000000" pitchFamily="2" charset="2"/>
              <a:buNone/>
            </a:pPr>
            <a:r>
              <a:rPr lang="zh-CN" altLang="en-US" sz="2800" dirty="0">
                <a:solidFill>
                  <a:schemeClr val="bg1"/>
                </a:solidFill>
                <a:latin typeface="黑体" panose="02010609060101010101" pitchFamily="49" charset="-122"/>
                <a:ea typeface="黑体" panose="02010609060101010101" pitchFamily="49" charset="-122"/>
              </a:rPr>
              <a:t>加速原理</a:t>
            </a:r>
          </a:p>
        </p:txBody>
      </p:sp>
      <p:sp>
        <p:nvSpPr>
          <p:cNvPr id="6" name="Rectangle 5">
            <a:extLst>
              <a:ext uri="{FF2B5EF4-FFF2-40B4-BE49-F238E27FC236}">
                <a16:creationId xmlns:a16="http://schemas.microsoft.com/office/drawing/2014/main" id="{9F2A2CC2-3EDC-4B27-86BE-CB4C3D7A7F0E}"/>
              </a:ext>
            </a:extLst>
          </p:cNvPr>
          <p:cNvSpPr>
            <a:spLocks noChangeArrowheads="1"/>
          </p:cNvSpPr>
          <p:nvPr/>
        </p:nvSpPr>
        <p:spPr bwMode="auto">
          <a:xfrm>
            <a:off x="756901" y="1997986"/>
            <a:ext cx="8135937" cy="719137"/>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加速原理：产出的变动与投资支出之间的数量关系。</a:t>
            </a:r>
          </a:p>
        </p:txBody>
      </p:sp>
      <p:sp>
        <p:nvSpPr>
          <p:cNvPr id="7" name="Rectangle 6">
            <a:extLst>
              <a:ext uri="{FF2B5EF4-FFF2-40B4-BE49-F238E27FC236}">
                <a16:creationId xmlns:a16="http://schemas.microsoft.com/office/drawing/2014/main" id="{C135DB12-AB13-4CA6-B68F-B07B9A80312E}"/>
              </a:ext>
            </a:extLst>
          </p:cNvPr>
          <p:cNvSpPr>
            <a:spLocks noChangeArrowheads="1"/>
          </p:cNvSpPr>
          <p:nvPr/>
        </p:nvSpPr>
        <p:spPr bwMode="auto">
          <a:xfrm>
            <a:off x="756901" y="2856314"/>
            <a:ext cx="8135937" cy="100965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设资本</a:t>
            </a:r>
            <a:r>
              <a:rPr lang="en-US" altLang="zh-CN" dirty="0"/>
              <a:t>-</a:t>
            </a:r>
            <a:r>
              <a:rPr lang="zh-CN" altLang="en-US" dirty="0"/>
              <a:t>产出比率固定不变： </a:t>
            </a:r>
            <a:r>
              <a:rPr lang="en-US" altLang="zh-CN" dirty="0"/>
              <a:t>v =K/Y,</a:t>
            </a:r>
            <a:r>
              <a:rPr lang="zh-CN" altLang="en-US" dirty="0"/>
              <a:t>其中</a:t>
            </a:r>
            <a:r>
              <a:rPr lang="en-US" altLang="zh-CN" dirty="0"/>
              <a:t>K</a:t>
            </a:r>
            <a:r>
              <a:rPr lang="zh-CN" altLang="en-US" dirty="0"/>
              <a:t>是存量</a:t>
            </a:r>
            <a:r>
              <a:rPr lang="en-US" altLang="zh-CN" dirty="0"/>
              <a:t>,Y</a:t>
            </a:r>
            <a:r>
              <a:rPr lang="zh-CN" altLang="en-US" dirty="0"/>
              <a:t>是流量</a:t>
            </a:r>
            <a:r>
              <a:rPr lang="en-US" altLang="zh-CN" dirty="0"/>
              <a:t>,K&gt;Y,</a:t>
            </a:r>
            <a:r>
              <a:rPr lang="zh-CN" altLang="en-US" dirty="0"/>
              <a:t>所以</a:t>
            </a:r>
            <a:r>
              <a:rPr lang="en-US" altLang="zh-CN" dirty="0"/>
              <a:t>v&gt;1</a:t>
            </a:r>
            <a:r>
              <a:rPr lang="zh-CN" altLang="en-US" dirty="0"/>
              <a:t>。</a:t>
            </a:r>
          </a:p>
        </p:txBody>
      </p:sp>
      <p:sp>
        <p:nvSpPr>
          <p:cNvPr id="8" name="Rectangle 7">
            <a:extLst>
              <a:ext uri="{FF2B5EF4-FFF2-40B4-BE49-F238E27FC236}">
                <a16:creationId xmlns:a16="http://schemas.microsoft.com/office/drawing/2014/main" id="{C86828BB-CAB8-41EB-B674-B8616B9D63A4}"/>
              </a:ext>
            </a:extLst>
          </p:cNvPr>
          <p:cNvSpPr>
            <a:spLocks noChangeArrowheads="1"/>
          </p:cNvSpPr>
          <p:nvPr/>
        </p:nvSpPr>
        <p:spPr bwMode="auto">
          <a:xfrm>
            <a:off x="756900" y="4012242"/>
            <a:ext cx="8135937" cy="2087563"/>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因为 </a:t>
            </a:r>
            <a:r>
              <a:rPr lang="en-US" altLang="zh-CN" dirty="0"/>
              <a:t>Kt=</a:t>
            </a:r>
            <a:r>
              <a:rPr lang="en-US" altLang="zh-CN" dirty="0" err="1"/>
              <a:t>vYt</a:t>
            </a:r>
            <a:r>
              <a:rPr lang="zh-CN" altLang="en-US" dirty="0"/>
              <a:t>， </a:t>
            </a:r>
            <a:r>
              <a:rPr lang="en-US" altLang="zh-CN" dirty="0"/>
              <a:t>Kt</a:t>
            </a:r>
            <a:r>
              <a:rPr lang="zh-CN" altLang="en-US" dirty="0"/>
              <a:t>－</a:t>
            </a:r>
            <a:r>
              <a:rPr lang="en-US" altLang="zh-CN" dirty="0"/>
              <a:t>1=vYt-1</a:t>
            </a:r>
          </a:p>
          <a:p>
            <a:r>
              <a:rPr lang="zh-CN" altLang="en-US" dirty="0"/>
              <a:t>所以，</a:t>
            </a:r>
            <a:r>
              <a:rPr lang="en-US" altLang="zh-CN" dirty="0"/>
              <a:t>t</a:t>
            </a:r>
            <a:r>
              <a:rPr lang="zh-CN" altLang="en-US" dirty="0"/>
              <a:t>期的净投资 </a:t>
            </a:r>
            <a:r>
              <a:rPr lang="en-US" altLang="zh-CN" dirty="0"/>
              <a:t>I t </a:t>
            </a:r>
            <a:r>
              <a:rPr lang="zh-CN" altLang="en-US" dirty="0"/>
              <a:t>＝</a:t>
            </a:r>
            <a:r>
              <a:rPr lang="en-US" altLang="zh-CN" dirty="0"/>
              <a:t>Kt</a:t>
            </a:r>
            <a:r>
              <a:rPr lang="zh-CN" altLang="en-US" dirty="0"/>
              <a:t>－</a:t>
            </a:r>
            <a:r>
              <a:rPr lang="en-US" altLang="zh-CN" dirty="0"/>
              <a:t>Kt</a:t>
            </a:r>
            <a:r>
              <a:rPr lang="zh-CN" altLang="en-US" dirty="0"/>
              <a:t>－</a:t>
            </a:r>
            <a:r>
              <a:rPr lang="en-US" altLang="zh-CN" dirty="0"/>
              <a:t>1=vYt-1</a:t>
            </a:r>
            <a:r>
              <a:rPr lang="zh-CN" altLang="en-US" dirty="0"/>
              <a:t>－</a:t>
            </a:r>
            <a:r>
              <a:rPr lang="en-US" altLang="zh-CN" dirty="0" err="1"/>
              <a:t>vYt</a:t>
            </a:r>
            <a:r>
              <a:rPr lang="zh-CN" altLang="en-US" dirty="0"/>
              <a:t>＝</a:t>
            </a:r>
            <a:r>
              <a:rPr lang="en-US" altLang="zh-CN" dirty="0"/>
              <a:t>v</a:t>
            </a:r>
            <a:r>
              <a:rPr lang="zh-CN" altLang="en-US" dirty="0"/>
              <a:t>（</a:t>
            </a:r>
            <a:r>
              <a:rPr lang="en-US" altLang="zh-CN" dirty="0" err="1"/>
              <a:t>Yt</a:t>
            </a:r>
            <a:r>
              <a:rPr lang="zh-CN" altLang="en-US" dirty="0"/>
              <a:t>－</a:t>
            </a:r>
            <a:r>
              <a:rPr lang="en-US" altLang="zh-CN" dirty="0"/>
              <a:t>Yt-1</a:t>
            </a:r>
            <a:r>
              <a:rPr lang="zh-CN" altLang="en-US" dirty="0"/>
              <a:t>）</a:t>
            </a:r>
          </a:p>
          <a:p>
            <a:r>
              <a:rPr lang="zh-CN" altLang="en-US" dirty="0"/>
              <a:t>表明：</a:t>
            </a:r>
            <a:r>
              <a:rPr lang="en-US" altLang="zh-CN" dirty="0"/>
              <a:t>t</a:t>
            </a:r>
            <a:r>
              <a:rPr lang="zh-CN" altLang="en-US" dirty="0"/>
              <a:t>期的投资取决于产出的变化。变动幅度大小取决于</a:t>
            </a:r>
            <a:r>
              <a:rPr lang="en-US" altLang="zh-CN" dirty="0"/>
              <a:t>v</a:t>
            </a:r>
            <a:r>
              <a:rPr lang="zh-CN" altLang="en-US" dirty="0"/>
              <a:t>的数值。</a:t>
            </a:r>
            <a:r>
              <a:rPr lang="en-US" altLang="zh-CN" dirty="0"/>
              <a:t>V</a:t>
            </a:r>
            <a:r>
              <a:rPr lang="zh-CN" altLang="en-US" dirty="0"/>
              <a:t>被称为加速度。 </a:t>
            </a:r>
          </a:p>
        </p:txBody>
      </p:sp>
    </p:spTree>
    <p:extLst>
      <p:ext uri="{BB962C8B-B14F-4D97-AF65-F5344CB8AC3E}">
        <p14:creationId xmlns:p14="http://schemas.microsoft.com/office/powerpoint/2010/main" val="2002168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65FE9A5-A7FA-4C05-B892-544693B69641}"/>
              </a:ext>
            </a:extLst>
          </p:cNvPr>
          <p:cNvSpPr>
            <a:spLocks noGrp="1" noChangeArrowheads="1"/>
          </p:cNvSpPr>
          <p:nvPr>
            <p:ph type="title"/>
          </p:nvPr>
        </p:nvSpPr>
        <p:spPr>
          <a:xfrm>
            <a:off x="390727" y="365125"/>
            <a:ext cx="10515600" cy="1325563"/>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dirty="0"/>
              <a:t>乘数－加速数模型</a:t>
            </a:r>
          </a:p>
        </p:txBody>
      </p:sp>
      <p:sp>
        <p:nvSpPr>
          <p:cNvPr id="5" name="Rectangle 5">
            <a:extLst>
              <a:ext uri="{FF2B5EF4-FFF2-40B4-BE49-F238E27FC236}">
                <a16:creationId xmlns:a16="http://schemas.microsoft.com/office/drawing/2014/main" id="{2D7BE13F-C6B7-4F28-8574-3EDA52980582}"/>
              </a:ext>
            </a:extLst>
          </p:cNvPr>
          <p:cNvSpPr>
            <a:spLocks noGrp="1" noChangeArrowheads="1"/>
          </p:cNvSpPr>
          <p:nvPr>
            <p:ph idx="1"/>
          </p:nvPr>
        </p:nvSpPr>
        <p:spPr>
          <a:xfrm>
            <a:off x="698533" y="1349276"/>
            <a:ext cx="8135937" cy="935037"/>
          </a:xfrm>
          <a:noFill/>
          <a:ln w="3175">
            <a:solidFill>
              <a:schemeClr val="tx1"/>
            </a:solidFill>
          </a:ln>
        </p:spPr>
        <p:txBody>
          <a:bodyPr/>
          <a:lstStyle/>
          <a:p>
            <a:r>
              <a:rPr lang="zh-CN" altLang="en-US" sz="2000"/>
              <a:t>某种因素，如新技术，使投资增加，通过乘数作用，收入增加。</a:t>
            </a:r>
          </a:p>
          <a:p>
            <a:r>
              <a:rPr lang="zh-CN" altLang="en-US" sz="2000"/>
              <a:t>收入增加后，消费增加，有效需求增加，国民收入增加。</a:t>
            </a:r>
          </a:p>
        </p:txBody>
      </p:sp>
      <p:sp>
        <p:nvSpPr>
          <p:cNvPr id="6" name="Rectangle 8">
            <a:extLst>
              <a:ext uri="{FF2B5EF4-FFF2-40B4-BE49-F238E27FC236}">
                <a16:creationId xmlns:a16="http://schemas.microsoft.com/office/drawing/2014/main" id="{0D6F9AE4-F0A4-4C32-91BF-1E19D86792E5}"/>
              </a:ext>
            </a:extLst>
          </p:cNvPr>
          <p:cNvSpPr>
            <a:spLocks noChangeArrowheads="1"/>
          </p:cNvSpPr>
          <p:nvPr/>
        </p:nvSpPr>
        <p:spPr bwMode="auto">
          <a:xfrm>
            <a:off x="698533" y="2500213"/>
            <a:ext cx="8135937" cy="93662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a:t>国民收入增加后，通过加速数的作用，投资增加。</a:t>
            </a:r>
          </a:p>
          <a:p>
            <a:r>
              <a:rPr lang="zh-CN" altLang="en-US" sz="2000"/>
              <a:t>循环往复，社会处于经济周期的扩张阶段。国民收入增加。</a:t>
            </a:r>
          </a:p>
        </p:txBody>
      </p:sp>
      <p:sp>
        <p:nvSpPr>
          <p:cNvPr id="7" name="Rectangle 9">
            <a:extLst>
              <a:ext uri="{FF2B5EF4-FFF2-40B4-BE49-F238E27FC236}">
                <a16:creationId xmlns:a16="http://schemas.microsoft.com/office/drawing/2014/main" id="{32E528F4-0E78-43E5-9426-4B101AFF3AA9}"/>
              </a:ext>
            </a:extLst>
          </p:cNvPr>
          <p:cNvSpPr>
            <a:spLocks noChangeArrowheads="1"/>
          </p:cNvSpPr>
          <p:nvPr/>
        </p:nvSpPr>
        <p:spPr bwMode="auto">
          <a:xfrm>
            <a:off x="698533" y="3940076"/>
            <a:ext cx="8135937" cy="1296987"/>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000"/>
              <a:t>社会资源有限性，在经济达到周期的峰顶时，收入不再增长，投资下降为</a:t>
            </a:r>
            <a:r>
              <a:rPr lang="en-US" altLang="zh-CN" sz="2000"/>
              <a:t>0</a:t>
            </a:r>
            <a:r>
              <a:rPr lang="zh-CN" altLang="en-US" sz="2000"/>
              <a:t>，导致下期的收入下降，在加速数的作用下，投资进一步减少，收入下降，处于衰退时期。</a:t>
            </a:r>
          </a:p>
        </p:txBody>
      </p:sp>
      <p:sp>
        <p:nvSpPr>
          <p:cNvPr id="8" name="Rectangle 10">
            <a:extLst>
              <a:ext uri="{FF2B5EF4-FFF2-40B4-BE49-F238E27FC236}">
                <a16:creationId xmlns:a16="http://schemas.microsoft.com/office/drawing/2014/main" id="{FAE65CC5-F522-436A-801E-CC34C272C2FD}"/>
              </a:ext>
            </a:extLst>
          </p:cNvPr>
          <p:cNvSpPr>
            <a:spLocks noChangeArrowheads="1"/>
          </p:cNvSpPr>
          <p:nvPr/>
        </p:nvSpPr>
        <p:spPr bwMode="auto">
          <a:xfrm>
            <a:off x="698533" y="5524400"/>
            <a:ext cx="8135937" cy="793750"/>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a:t>衰退到谷底后，长期的负投资，而折旧不断，设备要更新，重置投资，投资增加后，进入新一轮乘数－加速数循环。</a:t>
            </a:r>
          </a:p>
        </p:txBody>
      </p:sp>
    </p:spTree>
    <p:extLst>
      <p:ext uri="{BB962C8B-B14F-4D97-AF65-F5344CB8AC3E}">
        <p14:creationId xmlns:p14="http://schemas.microsoft.com/office/powerpoint/2010/main" val="2268909543"/>
      </p:ext>
    </p:extLst>
  </p:cSld>
  <p:clrMapOvr>
    <a:masterClrMapping/>
  </p:clrMapOvr>
</p:sld>
</file>

<file path=ppt/theme/theme1.xml><?xml version="1.0" encoding="utf-8"?>
<a:theme xmlns:a="http://schemas.openxmlformats.org/drawingml/2006/main" name="Office 主题​​">
  <a:themeElements>
    <a:clrScheme name="自定义 1">
      <a:dk1>
        <a:srgbClr val="FFFFFF"/>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8">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2814</Words>
  <Application>Microsoft Office PowerPoint</Application>
  <PresentationFormat>宽屏</PresentationFormat>
  <Paragraphs>152</Paragraphs>
  <Slides>25</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等线</vt:lpstr>
      <vt:lpstr>等线 Light</vt:lpstr>
      <vt:lpstr>黑体</vt:lpstr>
      <vt:lpstr>宋体</vt:lpstr>
      <vt:lpstr>Arial</vt:lpstr>
      <vt:lpstr>Cambria Math</vt:lpstr>
      <vt:lpstr>Times New Roman</vt:lpstr>
      <vt:lpstr>Wingdings</vt:lpstr>
      <vt:lpstr>Office 主题​​</vt:lpstr>
      <vt:lpstr>后续章节期末重点</vt:lpstr>
      <vt:lpstr>开放经济下国民收入的决定</vt:lpstr>
      <vt:lpstr>直接标价法；间接标价法</vt:lpstr>
      <vt:lpstr>名义汇率与实际汇率</vt:lpstr>
      <vt:lpstr>PowerPoint 演示文稿</vt:lpstr>
      <vt:lpstr>汇率制度；固定汇率制度；浮动汇率制度</vt:lpstr>
      <vt:lpstr>PowerPoint 演示文稿</vt:lpstr>
      <vt:lpstr>开放经济的IS曲线</vt:lpstr>
      <vt:lpstr>蒙代尔-弗莱明模型的应用</vt:lpstr>
      <vt:lpstr>（2）固定汇率下的财政扩张</vt:lpstr>
      <vt:lpstr>短期扩张性货币政策在浮动汇率制下和固定汇率制下的政策效果</vt:lpstr>
      <vt:lpstr>（2）固定汇率下的货币扩张</vt:lpstr>
      <vt:lpstr>新古典增长理论（索洛模型）</vt:lpstr>
      <vt:lpstr>人均生产函数曲线</vt:lpstr>
      <vt:lpstr>新古典增长理论的基本方程</vt:lpstr>
      <vt:lpstr>经济增长的稳态图示</vt:lpstr>
      <vt:lpstr>稳态分析</vt:lpstr>
      <vt:lpstr>人口增长</vt:lpstr>
      <vt:lpstr>具有技术进步的新古典增长模型</vt:lpstr>
      <vt:lpstr>促进经济增长的政策</vt:lpstr>
      <vt:lpstr> 经济周期概述</vt:lpstr>
      <vt:lpstr>经济周期的类型</vt:lpstr>
      <vt:lpstr>经济周期的一般原因</vt:lpstr>
      <vt:lpstr>乘数-加速数模型</vt:lpstr>
      <vt:lpstr>乘数－加速数模型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984071643@qq.com</dc:creator>
  <cp:lastModifiedBy> </cp:lastModifiedBy>
  <cp:revision>14</cp:revision>
  <dcterms:created xsi:type="dcterms:W3CDTF">2018-03-18T01:13:23Z</dcterms:created>
  <dcterms:modified xsi:type="dcterms:W3CDTF">2020-11-20T04:16:21Z</dcterms:modified>
</cp:coreProperties>
</file>