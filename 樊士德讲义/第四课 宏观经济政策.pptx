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6"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262" r:id="rId22"/>
    <p:sldId id="326" r:id="rId23"/>
    <p:sldId id="263" r:id="rId24"/>
    <p:sldId id="264" r:id="rId25"/>
    <p:sldId id="265" r:id="rId26"/>
    <p:sldId id="325" r:id="rId27"/>
    <p:sldId id="327" r:id="rId28"/>
    <p:sldId id="347" r:id="rId29"/>
    <p:sldId id="345" r:id="rId30"/>
    <p:sldId id="346"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2768" units="cm"/>
          <inkml:channel name="Y" type="integer" max="32768" units="cm"/>
          <inkml:channel name="F" type="integer" max="2047" units="cm"/>
          <inkml:channel name="T" type="integer" max="2.14748E9" units="dev"/>
        </inkml:traceFormat>
        <inkml:channelProperties>
          <inkml:channelProperty channel="X" name="resolution" value="1612.59839" units="1/cm"/>
          <inkml:channelProperty channel="Y" name="resolution" value="2580.15747" units="1/cm"/>
          <inkml:channelProperty channel="F" name="resolution" value="10E-6" units="1/cm"/>
          <inkml:channelProperty channel="T" name="resolution" value="1" units="1/dev"/>
        </inkml:channelProperties>
      </inkml:inkSource>
      <inkml:timestamp xml:id="ts0" timeString="2018-04-01T01:00:52.877"/>
    </inkml:context>
    <inkml:brush xml:id="br0">
      <inkml:brushProperty name="width" value="0.05292" units="cm"/>
      <inkml:brushProperty name="height" value="0.05292" units="cm"/>
      <inkml:brushProperty name="color" value="#FFFF00"/>
    </inkml:brush>
  </inkml:definitions>
  <inkml:trace contextRef="#ctx0" brushRef="#br0">22824 7866 23 0,'4'2'48'0,"-1"3"-8"0,-3-1-4 0,2 0-4 15,0-1-4-15,-1 0-4 0,1 0-4 0,0 0-4 0,-2 0 0 0,0-1 0 16,1 0 0-16,-1 0-4 0,2 0-4 0,-2-1 0 0,1-1 0 0,-1 1-4 0,0 1 4 16,-1-2-4-16,1 0 0 0,-2 0 0 0,2 0-4 0,0 0 4 15,-1 0 0-15,1 0-4 0,0 1 0 0,0-1 0 0,0 0-4 0,0-1 4 0,0 1-4 16,0 0 0-16,0 0 0 0,0 0 0 0,1 0 0 0,-1 0-4 0,3 1-4 16,-3-1 4-16,0 2-8 0,2-2 0 0,0 0-16 0,-1 1-4 0,-1-1-12 0,0 3-16 15,3-3 4-15,-3 1 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550427-3697-45F0-9D23-75EF4DE76F9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46CC2F5-85D7-4558-AD33-A322BEAC8C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905B974-9B58-4CB5-AB83-EBB03580D2E1}"/>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5" name="页脚占位符 4">
            <a:extLst>
              <a:ext uri="{FF2B5EF4-FFF2-40B4-BE49-F238E27FC236}">
                <a16:creationId xmlns:a16="http://schemas.microsoft.com/office/drawing/2014/main" id="{42AC348C-F09F-4731-8B25-659E1F84D43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E911A01-1854-42EF-99C9-0E065A7177B2}"/>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3022879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1156F2-06DC-4845-8730-C23226C9063C}"/>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10EB1AE2-62E4-460D-9BE9-B35AE37C93C4}"/>
              </a:ext>
            </a:extLst>
          </p:cNvPr>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CCA3D9B-F22A-4FC3-9AC6-E0F6971CF289}"/>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5" name="页脚占位符 4">
            <a:extLst>
              <a:ext uri="{FF2B5EF4-FFF2-40B4-BE49-F238E27FC236}">
                <a16:creationId xmlns:a16="http://schemas.microsoft.com/office/drawing/2014/main" id="{00AE43E4-C395-4C94-B078-F76DF28B0F6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CA9624-A5AE-40CD-9A06-23C816FBFD8E}"/>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1357117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B6DCB5-A835-4D91-9C1D-C48C89668DD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57CA833-FE11-4B7A-8BBA-CA09325805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8126E2E1-2CD2-4070-AFAA-F051F2657482}"/>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5" name="页脚占位符 4">
            <a:extLst>
              <a:ext uri="{FF2B5EF4-FFF2-40B4-BE49-F238E27FC236}">
                <a16:creationId xmlns:a16="http://schemas.microsoft.com/office/drawing/2014/main" id="{EE3CA0C4-82CE-4A50-AC51-AF7A31ED77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812D09-3070-4B16-8EB9-75645BE6716D}"/>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241285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01B6F2-D67E-4152-80FE-5F8315E319F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C09CFA6-CDCB-4DAD-8A28-CEBF07326DC8}"/>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EF7771E0-188C-4A16-B6BC-1861B750C134}"/>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9D62ED7-53A3-43F6-B86E-2CD207AE9AC3}"/>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6" name="页脚占位符 5">
            <a:extLst>
              <a:ext uri="{FF2B5EF4-FFF2-40B4-BE49-F238E27FC236}">
                <a16:creationId xmlns:a16="http://schemas.microsoft.com/office/drawing/2014/main" id="{58667F52-B2E5-470E-BEAD-B39D644ABE3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81FAA4F-4566-4E22-953A-14DA0789CCA9}"/>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259703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BCEC34-1A16-4EC8-BC4E-7D63591466B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E94086E-8097-467F-A0FC-4C0499C058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E954AE9D-DF5F-45E4-9E6B-BA416B7EA24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18F53D7-1DF1-4847-B7A0-2B6CD65C6A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AE09E652-9BD8-4415-AF18-97401C5A55F7}"/>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AF66E34-222D-4C86-BF93-381FBBAAB9A9}"/>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8" name="页脚占位符 7">
            <a:extLst>
              <a:ext uri="{FF2B5EF4-FFF2-40B4-BE49-F238E27FC236}">
                <a16:creationId xmlns:a16="http://schemas.microsoft.com/office/drawing/2014/main" id="{D56F4DC4-F680-4049-AE3D-DA3414C07B4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51A971B-E3C9-438F-A20C-155CA4EE4043}"/>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339340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D9D90-CE01-4B83-B4FA-02D83B906E2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2B6754B-EF9C-4524-979E-2B69D8195A0B}"/>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4" name="页脚占位符 3">
            <a:extLst>
              <a:ext uri="{FF2B5EF4-FFF2-40B4-BE49-F238E27FC236}">
                <a16:creationId xmlns:a16="http://schemas.microsoft.com/office/drawing/2014/main" id="{EFBBDBA0-5CB2-47AF-9C72-717DD853713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75CBC05-BC74-4349-90D1-99D51688E9F6}"/>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28884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91C7FB-AEE0-4727-BF85-5CF363160D5D}"/>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3" name="页脚占位符 2">
            <a:extLst>
              <a:ext uri="{FF2B5EF4-FFF2-40B4-BE49-F238E27FC236}">
                <a16:creationId xmlns:a16="http://schemas.microsoft.com/office/drawing/2014/main" id="{D62CAB2D-FFBB-4649-9933-E8D2109367E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C1F41EC-5164-4215-AA0D-DF2624F201EB}"/>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3237029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B7D1A-348F-4797-A618-9A6EC345ACA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60A431-FF15-40A2-B508-25506218AC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74D4C42A-D622-495B-95CF-55B450F9B1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B05134-110E-4B66-9485-657B9B1525C8}"/>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6" name="页脚占位符 5">
            <a:extLst>
              <a:ext uri="{FF2B5EF4-FFF2-40B4-BE49-F238E27FC236}">
                <a16:creationId xmlns:a16="http://schemas.microsoft.com/office/drawing/2014/main" id="{C8A1D3F4-A525-4D31-9702-6280E326286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FB01BFD-A044-426F-8B2E-D3FBFD86D1CF}"/>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2976027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F23241-CDBB-425B-B0A0-BFB88EC984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75079B8-A82A-4220-AD26-92870564CA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DF38F4E-C9C6-407A-801B-094CDBE47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2534CA6-0F55-40C5-853F-E78834FEA2F9}"/>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6" name="页脚占位符 5">
            <a:extLst>
              <a:ext uri="{FF2B5EF4-FFF2-40B4-BE49-F238E27FC236}">
                <a16:creationId xmlns:a16="http://schemas.microsoft.com/office/drawing/2014/main" id="{F231C1A5-E5C5-448B-BFAF-4CB691A3D95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8C8BDCB-5D6F-477A-9B76-1B4F90883AC3}"/>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3984742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0F6D-E5F4-46AA-BA83-580C5BA1DDA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B2E6978-9631-4B75-AE5E-4521FB9CADC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73FE932-B902-474B-BD0E-A9330D9CBF48}"/>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5" name="页脚占位符 4">
            <a:extLst>
              <a:ext uri="{FF2B5EF4-FFF2-40B4-BE49-F238E27FC236}">
                <a16:creationId xmlns:a16="http://schemas.microsoft.com/office/drawing/2014/main" id="{861E54B7-DDE4-4045-94D5-5C887103E6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0D641B-5947-4AE5-99C0-4ACD045DE00B}"/>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3335208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FB56F8B-623C-4963-9CE9-537B59F2C32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AA13873-FB12-43D2-96B5-321B4503C72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02C962C-F2EB-4D66-8252-79AE4A2C353D}"/>
              </a:ext>
            </a:extLst>
          </p:cNvPr>
          <p:cNvSpPr>
            <a:spLocks noGrp="1"/>
          </p:cNvSpPr>
          <p:nvPr>
            <p:ph type="dt" sz="half" idx="10"/>
          </p:nvPr>
        </p:nvSpPr>
        <p:spPr/>
        <p:txBody>
          <a:bodyPr/>
          <a:lstStyle/>
          <a:p>
            <a:fld id="{BCF91E70-D8A0-450F-A7D9-81CC73AC6114}" type="datetimeFigureOut">
              <a:rPr lang="zh-CN" altLang="en-US" smtClean="0"/>
              <a:t>2021/6/8</a:t>
            </a:fld>
            <a:endParaRPr lang="zh-CN" altLang="en-US"/>
          </a:p>
        </p:txBody>
      </p:sp>
      <p:sp>
        <p:nvSpPr>
          <p:cNvPr id="5" name="页脚占位符 4">
            <a:extLst>
              <a:ext uri="{FF2B5EF4-FFF2-40B4-BE49-F238E27FC236}">
                <a16:creationId xmlns:a16="http://schemas.microsoft.com/office/drawing/2014/main" id="{D0F56117-B0E7-4AE7-8D42-CB1DCC2960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69BD73D-248F-4F23-9FC4-94BB6FC2A68C}"/>
              </a:ext>
            </a:extLst>
          </p:cNvPr>
          <p:cNvSpPr>
            <a:spLocks noGrp="1"/>
          </p:cNvSpPr>
          <p:nvPr>
            <p:ph type="sldNum" sz="quarter" idx="12"/>
          </p:nvPr>
        </p:nvSpPr>
        <p:spPr/>
        <p:txBody>
          <a:body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4227268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B55A19-3B67-4114-9CC4-66EA569116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83D5698-AC06-4E13-875F-40CFD091D4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02B9862-603C-4F95-84AF-5EC7C7A88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F91E70-D8A0-450F-A7D9-81CC73AC6114}" type="datetimeFigureOut">
              <a:rPr lang="zh-CN" altLang="en-US" smtClean="0"/>
              <a:t>2021/6/8</a:t>
            </a:fld>
            <a:endParaRPr lang="zh-CN" altLang="en-US"/>
          </a:p>
        </p:txBody>
      </p:sp>
      <p:sp>
        <p:nvSpPr>
          <p:cNvPr id="5" name="页脚占位符 4">
            <a:extLst>
              <a:ext uri="{FF2B5EF4-FFF2-40B4-BE49-F238E27FC236}">
                <a16:creationId xmlns:a16="http://schemas.microsoft.com/office/drawing/2014/main" id="{507E6C95-8664-4443-8A2C-EEEAD40A40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3153B44-7AF8-46D1-9C1D-76228B3027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964E86-AFA2-4C08-8358-38D1AC09FB3D}" type="slidenum">
              <a:rPr lang="zh-CN" altLang="en-US" smtClean="0"/>
              <a:t>‹#›</a:t>
            </a:fld>
            <a:endParaRPr lang="zh-CN" altLang="en-US"/>
          </a:p>
        </p:txBody>
      </p:sp>
    </p:spTree>
    <p:extLst>
      <p:ext uri="{BB962C8B-B14F-4D97-AF65-F5344CB8AC3E}">
        <p14:creationId xmlns:p14="http://schemas.microsoft.com/office/powerpoint/2010/main" val="3679803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A66053-614B-4D6C-BD0D-D36316F4F7DB}"/>
              </a:ext>
            </a:extLst>
          </p:cNvPr>
          <p:cNvSpPr>
            <a:spLocks noGrp="1"/>
          </p:cNvSpPr>
          <p:nvPr>
            <p:ph type="ctrTitle"/>
          </p:nvPr>
        </p:nvSpPr>
        <p:spPr/>
        <p:txBody>
          <a:bodyPr/>
          <a:lstStyle/>
          <a:p>
            <a:r>
              <a:rPr lang="zh-CN" altLang="zh-CN"/>
              <a:t>宏观经济</a:t>
            </a:r>
            <a:r>
              <a:rPr lang="zh-CN" altLang="zh-CN" dirty="0"/>
              <a:t>政策</a:t>
            </a:r>
            <a:endParaRPr lang="zh-CN" altLang="en-US" dirty="0"/>
          </a:p>
        </p:txBody>
      </p:sp>
      <p:sp>
        <p:nvSpPr>
          <p:cNvPr id="3" name="副标题 2">
            <a:extLst>
              <a:ext uri="{FF2B5EF4-FFF2-40B4-BE49-F238E27FC236}">
                <a16:creationId xmlns:a16="http://schemas.microsoft.com/office/drawing/2014/main" id="{B9DB1BE8-4256-426E-8C9E-447FAC1DA5AE}"/>
              </a:ext>
            </a:extLst>
          </p:cNvPr>
          <p:cNvSpPr>
            <a:spLocks noGrp="1"/>
          </p:cNvSpPr>
          <p:nvPr>
            <p:ph type="subTitle" idx="1"/>
          </p:nvPr>
        </p:nvSpPr>
        <p:spPr/>
        <p:txBody>
          <a:bodyPr/>
          <a:lstStyle/>
          <a:p>
            <a:endParaRPr lang="zh-CN" altLang="en-US"/>
          </a:p>
        </p:txBody>
      </p:sp>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BF2C1343-8947-47DB-8ABE-20E4AAA129C9}"/>
                  </a:ext>
                </a:extLst>
              </p14:cNvPr>
              <p14:cNvContentPartPr/>
              <p14:nvPr/>
            </p14:nvContentPartPr>
            <p14:xfrm>
              <a:off x="8216640" y="2831760"/>
              <a:ext cx="10440" cy="18360"/>
            </p14:xfrm>
          </p:contentPart>
        </mc:Choice>
        <mc:Fallback xmlns="">
          <p:pic>
            <p:nvPicPr>
              <p:cNvPr id="4" name="墨迹 3">
                <a:extLst>
                  <a:ext uri="{FF2B5EF4-FFF2-40B4-BE49-F238E27FC236}">
                    <a16:creationId xmlns:a16="http://schemas.microsoft.com/office/drawing/2014/main" id="{BF2C1343-8947-47DB-8ABE-20E4AAA129C9}"/>
                  </a:ext>
                </a:extLst>
              </p:cNvPr>
              <p:cNvPicPr/>
              <p:nvPr/>
            </p:nvPicPr>
            <p:blipFill>
              <a:blip r:embed="rId3"/>
              <a:stretch>
                <a:fillRect/>
              </a:stretch>
            </p:blipFill>
            <p:spPr>
              <a:xfrm>
                <a:off x="8207280" y="2822400"/>
                <a:ext cx="29160" cy="37080"/>
              </a:xfrm>
              <a:prstGeom prst="rect">
                <a:avLst/>
              </a:prstGeom>
            </p:spPr>
          </p:pic>
        </mc:Fallback>
      </mc:AlternateContent>
    </p:spTree>
    <p:extLst>
      <p:ext uri="{BB962C8B-B14F-4D97-AF65-F5344CB8AC3E}">
        <p14:creationId xmlns:p14="http://schemas.microsoft.com/office/powerpoint/2010/main" val="411507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CEAB89D2-0400-478A-BDFD-38E09AE1488C}"/>
              </a:ext>
            </a:extLst>
          </p:cNvPr>
          <p:cNvSpPr txBox="1">
            <a:spLocks noChangeArrowheads="1"/>
          </p:cNvSpPr>
          <p:nvPr/>
        </p:nvSpPr>
        <p:spPr>
          <a:xfrm>
            <a:off x="468313" y="1683361"/>
            <a:ext cx="8135937" cy="936625"/>
          </a:xfrm>
          <a:prstGeom prst="rect">
            <a:avLst/>
          </a:prstGeom>
          <a:noFill/>
          <a:ln cmpd="sng">
            <a:no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dirty="0">
                <a:solidFill>
                  <a:schemeClr val="bg1"/>
                </a:solidFill>
                <a:latin typeface="黑体" panose="02010609060101010101" pitchFamily="49" charset="-122"/>
                <a:ea typeface="黑体" panose="02010609060101010101" pitchFamily="49" charset="-122"/>
              </a:rPr>
              <a:t>财政政策：政府变动税收和支出，以便影响总需求，进而影响就业和国民收入的政策。</a:t>
            </a:r>
          </a:p>
        </p:txBody>
      </p:sp>
      <p:sp>
        <p:nvSpPr>
          <p:cNvPr id="6" name="Rectangle 4">
            <a:extLst>
              <a:ext uri="{FF2B5EF4-FFF2-40B4-BE49-F238E27FC236}">
                <a16:creationId xmlns:a16="http://schemas.microsoft.com/office/drawing/2014/main" id="{0165819A-9A59-418E-87C1-6E300302782E}"/>
              </a:ext>
            </a:extLst>
          </p:cNvPr>
          <p:cNvSpPr>
            <a:spLocks noGrp="1" noChangeArrowheads="1"/>
          </p:cNvSpPr>
          <p:nvPr>
            <p:ph type="title"/>
          </p:nvPr>
        </p:nvSpPr>
        <p:spPr>
          <a:xfrm>
            <a:off x="468313" y="675299"/>
            <a:ext cx="56165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fontScale="90000"/>
          </a:bodyPr>
          <a:lstStyle/>
          <a:p>
            <a:r>
              <a:rPr lang="zh-CN" altLang="en-US" dirty="0"/>
              <a:t>财政政策与货币政策</a:t>
            </a:r>
          </a:p>
        </p:txBody>
      </p:sp>
      <p:sp>
        <p:nvSpPr>
          <p:cNvPr id="7" name="Rectangle 5">
            <a:extLst>
              <a:ext uri="{FF2B5EF4-FFF2-40B4-BE49-F238E27FC236}">
                <a16:creationId xmlns:a16="http://schemas.microsoft.com/office/drawing/2014/main" id="{43B887BC-69F5-4B7D-8752-94D032B77046}"/>
              </a:ext>
            </a:extLst>
          </p:cNvPr>
          <p:cNvSpPr>
            <a:spLocks noChangeArrowheads="1"/>
          </p:cNvSpPr>
          <p:nvPr/>
        </p:nvSpPr>
        <p:spPr bwMode="auto">
          <a:xfrm>
            <a:off x="468313" y="2762861"/>
            <a:ext cx="8135937" cy="863600"/>
          </a:xfrm>
          <a:prstGeom prst="rect">
            <a:avLst/>
          </a:prstGeom>
          <a:noFill/>
          <a:ln w="76200" cap="sq">
            <a:no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chemeClr val="hlink"/>
              </a:buClr>
              <a:buSzPct val="95000"/>
              <a:buFont typeface="Wingdings" panose="05000000000000000000" pitchFamily="2" charset="2"/>
              <a:buChar char="u"/>
            </a:pPr>
            <a:r>
              <a:rPr lang="zh-CN" altLang="en-US" dirty="0">
                <a:solidFill>
                  <a:schemeClr val="bg1"/>
                </a:solidFill>
                <a:latin typeface="黑体" panose="02010609060101010101" pitchFamily="49" charset="-122"/>
                <a:ea typeface="黑体" panose="02010609060101010101" pitchFamily="49" charset="-122"/>
              </a:rPr>
              <a:t>货币政策：政府货币当局通过银行体系变动货币供给量来调节总需求的政策。</a:t>
            </a:r>
          </a:p>
        </p:txBody>
      </p:sp>
      <p:sp>
        <p:nvSpPr>
          <p:cNvPr id="8" name="Rectangle 6">
            <a:extLst>
              <a:ext uri="{FF2B5EF4-FFF2-40B4-BE49-F238E27FC236}">
                <a16:creationId xmlns:a16="http://schemas.microsoft.com/office/drawing/2014/main" id="{353F10CC-EEC0-420A-BF43-EA19CB43756B}"/>
              </a:ext>
            </a:extLst>
          </p:cNvPr>
          <p:cNvSpPr>
            <a:spLocks noChangeArrowheads="1"/>
          </p:cNvSpPr>
          <p:nvPr/>
        </p:nvSpPr>
        <p:spPr bwMode="auto">
          <a:xfrm>
            <a:off x="468313" y="3770924"/>
            <a:ext cx="8135937" cy="936625"/>
          </a:xfrm>
          <a:prstGeom prst="rect">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chemeClr val="hlink"/>
              </a:buClr>
              <a:buSzPct val="95000"/>
              <a:buFont typeface="Wingdings" panose="05000000000000000000" pitchFamily="2" charset="2"/>
              <a:buChar char="u"/>
            </a:pPr>
            <a:r>
              <a:rPr lang="zh-CN" altLang="en-US" dirty="0">
                <a:solidFill>
                  <a:schemeClr val="bg1"/>
                </a:solidFill>
                <a:latin typeface="黑体" panose="02010609060101010101" pitchFamily="49" charset="-122"/>
                <a:ea typeface="黑体" panose="02010609060101010101" pitchFamily="49" charset="-122"/>
              </a:rPr>
              <a:t>两者实质：通过影响利率、消费和投资，进而影响总需求，使就业和国民收入得到调节。</a:t>
            </a:r>
          </a:p>
        </p:txBody>
      </p:sp>
    </p:spTree>
    <p:extLst>
      <p:ext uri="{BB962C8B-B14F-4D97-AF65-F5344CB8AC3E}">
        <p14:creationId xmlns:p14="http://schemas.microsoft.com/office/powerpoint/2010/main" val="1466344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4">
            <a:extLst>
              <a:ext uri="{FF2B5EF4-FFF2-40B4-BE49-F238E27FC236}">
                <a16:creationId xmlns:a16="http://schemas.microsoft.com/office/drawing/2014/main" id="{03CCAB33-366C-4AC9-9B50-5CC1CC28F774}"/>
              </a:ext>
            </a:extLst>
          </p:cNvPr>
          <p:cNvSpPr>
            <a:spLocks noGrp="1" noChangeArrowheads="1"/>
          </p:cNvSpPr>
          <p:nvPr>
            <p:ph type="title"/>
          </p:nvPr>
        </p:nvSpPr>
        <p:spPr>
          <a:xfrm>
            <a:off x="468313" y="587748"/>
            <a:ext cx="56165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zh-CN" altLang="en-US" sz="2800" dirty="0"/>
              <a:t>财政和货币政策的影响（正面）</a:t>
            </a:r>
          </a:p>
        </p:txBody>
      </p:sp>
      <p:pic>
        <p:nvPicPr>
          <p:cNvPr id="6" name="图片 5">
            <a:extLst>
              <a:ext uri="{FF2B5EF4-FFF2-40B4-BE49-F238E27FC236}">
                <a16:creationId xmlns:a16="http://schemas.microsoft.com/office/drawing/2014/main" id="{CF32793D-0A51-4B08-AC13-6CEDC83F21CA}"/>
              </a:ext>
            </a:extLst>
          </p:cNvPr>
          <p:cNvPicPr>
            <a:picLocks noChangeAspect="1"/>
          </p:cNvPicPr>
          <p:nvPr/>
        </p:nvPicPr>
        <p:blipFill>
          <a:blip r:embed="rId2"/>
          <a:stretch>
            <a:fillRect/>
          </a:stretch>
        </p:blipFill>
        <p:spPr>
          <a:xfrm>
            <a:off x="644964" y="1894204"/>
            <a:ext cx="7011008" cy="4061812"/>
          </a:xfrm>
          <a:prstGeom prst="rect">
            <a:avLst/>
          </a:prstGeom>
        </p:spPr>
      </p:pic>
    </p:spTree>
    <p:extLst>
      <p:ext uri="{BB962C8B-B14F-4D97-AF65-F5344CB8AC3E}">
        <p14:creationId xmlns:p14="http://schemas.microsoft.com/office/powerpoint/2010/main" val="306595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6335E569-9517-4A56-B7F8-9AC426310E9B}"/>
              </a:ext>
            </a:extLst>
          </p:cNvPr>
          <p:cNvSpPr>
            <a:spLocks noGrp="1" noChangeArrowheads="1"/>
          </p:cNvSpPr>
          <p:nvPr>
            <p:ph type="title"/>
          </p:nvPr>
        </p:nvSpPr>
        <p:spPr>
          <a:xfrm>
            <a:off x="468313" y="461290"/>
            <a:ext cx="56165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fontScale="90000"/>
          </a:bodyPr>
          <a:lstStyle/>
          <a:p>
            <a:r>
              <a:rPr lang="zh-CN" altLang="en-US" dirty="0"/>
              <a:t> </a:t>
            </a:r>
            <a:r>
              <a:rPr lang="zh-CN" altLang="en-US" sz="3600" dirty="0"/>
              <a:t>财政政策效果</a:t>
            </a:r>
          </a:p>
        </p:txBody>
      </p:sp>
      <p:sp>
        <p:nvSpPr>
          <p:cNvPr id="5" name="Rectangle 7">
            <a:extLst>
              <a:ext uri="{FF2B5EF4-FFF2-40B4-BE49-F238E27FC236}">
                <a16:creationId xmlns:a16="http://schemas.microsoft.com/office/drawing/2014/main" id="{ED0189F1-6828-49CD-A6FF-7BF65254184E}"/>
              </a:ext>
            </a:extLst>
          </p:cNvPr>
          <p:cNvSpPr txBox="1">
            <a:spLocks noChangeArrowheads="1"/>
          </p:cNvSpPr>
          <p:nvPr/>
        </p:nvSpPr>
        <p:spPr>
          <a:xfrm>
            <a:off x="468313" y="1469352"/>
            <a:ext cx="8135937" cy="576263"/>
          </a:xfrm>
          <a:prstGeom prst="rect">
            <a:avLst/>
          </a:prstGeom>
          <a:noFill/>
          <a:ln w="3175" cmpd="dbl">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336600"/>
              </a:buClr>
              <a:buSzPct val="95000"/>
              <a:buFont typeface="Wingdings" panose="05000000000000000000" pitchFamily="2" charset="2"/>
              <a:buNone/>
            </a:pPr>
            <a:r>
              <a:rPr lang="en-US" altLang="zh-CN"/>
              <a:t>1.</a:t>
            </a:r>
            <a:r>
              <a:rPr lang="zh-CN" altLang="en-US"/>
              <a:t>经济萧条时的感性认识（膨胀性财政政策） </a:t>
            </a:r>
          </a:p>
        </p:txBody>
      </p:sp>
      <p:sp>
        <p:nvSpPr>
          <p:cNvPr id="6" name="Rectangle 8">
            <a:extLst>
              <a:ext uri="{FF2B5EF4-FFF2-40B4-BE49-F238E27FC236}">
                <a16:creationId xmlns:a16="http://schemas.microsoft.com/office/drawing/2014/main" id="{153ED6E0-0771-4619-AC7C-41D3F32C45A9}"/>
              </a:ext>
            </a:extLst>
          </p:cNvPr>
          <p:cNvSpPr>
            <a:spLocks noChangeArrowheads="1"/>
          </p:cNvSpPr>
          <p:nvPr/>
        </p:nvSpPr>
        <p:spPr bwMode="auto">
          <a:xfrm>
            <a:off x="468313" y="2117052"/>
            <a:ext cx="8135937" cy="4321175"/>
          </a:xfrm>
          <a:prstGeom prst="rect">
            <a:avLst/>
          </a:prstGeom>
          <a:noFill/>
          <a:ln w="3175" cap="sq" cmpd="dbl">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zh-CN" altLang="en-US"/>
              <a:t>（</a:t>
            </a:r>
            <a:r>
              <a:rPr lang="en-US" altLang="zh-CN"/>
              <a:t>1</a:t>
            </a:r>
            <a:r>
              <a:rPr lang="zh-CN" altLang="en-US"/>
              <a:t>）减税，给个人和企业留下更多可支配收入，刺激消费需求、增加生产和就业。</a:t>
            </a:r>
          </a:p>
          <a:p>
            <a:pPr>
              <a:buClr>
                <a:srgbClr val="336600"/>
              </a:buClr>
              <a:buSzPct val="95000"/>
              <a:buFont typeface="Wingdings" panose="05000000000000000000" pitchFamily="2" charset="2"/>
              <a:buChar char="p"/>
            </a:pPr>
            <a:r>
              <a:rPr lang="zh-CN" altLang="en-US"/>
              <a:t>但会增加货币需求，导致利率上升，影响到私人投资。</a:t>
            </a:r>
          </a:p>
        </p:txBody>
      </p:sp>
      <p:sp>
        <p:nvSpPr>
          <p:cNvPr id="7" name="Rectangle 9">
            <a:extLst>
              <a:ext uri="{FF2B5EF4-FFF2-40B4-BE49-F238E27FC236}">
                <a16:creationId xmlns:a16="http://schemas.microsoft.com/office/drawing/2014/main" id="{0859A328-534A-4C2E-8A92-96230DB073D2}"/>
              </a:ext>
            </a:extLst>
          </p:cNvPr>
          <p:cNvSpPr>
            <a:spLocks noChangeArrowheads="1"/>
          </p:cNvSpPr>
          <p:nvPr/>
        </p:nvSpPr>
        <p:spPr bwMode="auto">
          <a:xfrm>
            <a:off x="468313" y="3556915"/>
            <a:ext cx="8135937" cy="2881312"/>
          </a:xfrm>
          <a:prstGeom prst="rect">
            <a:avLst/>
          </a:prstGeom>
          <a:noFill/>
          <a:ln w="3175" cap="sq" cmpd="dbl">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zh-CN" altLang="en-US"/>
              <a:t>（</a:t>
            </a:r>
            <a:r>
              <a:rPr lang="en-US" altLang="zh-CN"/>
              <a:t>2</a:t>
            </a:r>
            <a:r>
              <a:rPr lang="zh-CN" altLang="en-US"/>
              <a:t>）改变所得税结构。使高收入者增加税负，低收入者减少负担。可以刺激社会总需求。</a:t>
            </a:r>
          </a:p>
        </p:txBody>
      </p:sp>
      <p:sp>
        <p:nvSpPr>
          <p:cNvPr id="8" name="Rectangle 10">
            <a:extLst>
              <a:ext uri="{FF2B5EF4-FFF2-40B4-BE49-F238E27FC236}">
                <a16:creationId xmlns:a16="http://schemas.microsoft.com/office/drawing/2014/main" id="{063291EE-32F1-464A-B41E-915A2EC000D5}"/>
              </a:ext>
            </a:extLst>
          </p:cNvPr>
          <p:cNvSpPr>
            <a:spLocks noChangeArrowheads="1"/>
          </p:cNvSpPr>
          <p:nvPr/>
        </p:nvSpPr>
        <p:spPr bwMode="auto">
          <a:xfrm>
            <a:off x="468313" y="4422102"/>
            <a:ext cx="8135937" cy="2016125"/>
          </a:xfrm>
          <a:prstGeom prst="rect">
            <a:avLst/>
          </a:prstGeom>
          <a:noFill/>
          <a:ln w="3175" cap="sq" cmpd="dbl">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zh-CN" altLang="en-US"/>
              <a:t>（</a:t>
            </a:r>
            <a:r>
              <a:rPr lang="en-US" altLang="zh-CN"/>
              <a:t>3</a:t>
            </a:r>
            <a:r>
              <a:rPr lang="zh-CN" altLang="en-US"/>
              <a:t>）扩大政府购买，多搞公共建设，扩大产品需求，增加消费，刺激总需求。也会导致货币需求增加。</a:t>
            </a:r>
          </a:p>
        </p:txBody>
      </p:sp>
      <p:sp>
        <p:nvSpPr>
          <p:cNvPr id="9" name="Rectangle 11">
            <a:extLst>
              <a:ext uri="{FF2B5EF4-FFF2-40B4-BE49-F238E27FC236}">
                <a16:creationId xmlns:a16="http://schemas.microsoft.com/office/drawing/2014/main" id="{F44CB9CD-2BC3-4674-9A09-7211FA0D4452}"/>
              </a:ext>
            </a:extLst>
          </p:cNvPr>
          <p:cNvSpPr>
            <a:spLocks noChangeArrowheads="1"/>
          </p:cNvSpPr>
          <p:nvPr/>
        </p:nvSpPr>
        <p:spPr bwMode="auto">
          <a:xfrm>
            <a:off x="468313" y="5501602"/>
            <a:ext cx="8135937" cy="1008063"/>
          </a:xfrm>
          <a:prstGeom prst="rect">
            <a:avLst/>
          </a:prstGeom>
          <a:noFill/>
          <a:ln w="3175" cap="sq" cmpd="dbl">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rgbClr val="336600"/>
              </a:buClr>
              <a:buSzPct val="95000"/>
              <a:buFont typeface="Wingdings" panose="05000000000000000000" pitchFamily="2" charset="2"/>
              <a:buChar char="p"/>
            </a:pPr>
            <a:r>
              <a:rPr lang="zh-CN" altLang="en-US"/>
              <a:t>（</a:t>
            </a:r>
            <a:r>
              <a:rPr lang="en-US" altLang="zh-CN"/>
              <a:t>4</a:t>
            </a:r>
            <a:r>
              <a:rPr lang="zh-CN" altLang="en-US"/>
              <a:t>）给私人企业以津贴，如通过减税和加速折旧等方法，直接刺激私人投资，增加就业好生产。</a:t>
            </a:r>
          </a:p>
        </p:txBody>
      </p:sp>
    </p:spTree>
    <p:extLst>
      <p:ext uri="{BB962C8B-B14F-4D97-AF65-F5344CB8AC3E}">
        <p14:creationId xmlns:p14="http://schemas.microsoft.com/office/powerpoint/2010/main" val="2204237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91BBEE55-4E6E-467B-BECB-1AE587F2F689}"/>
              </a:ext>
            </a:extLst>
          </p:cNvPr>
          <p:cNvSpPr>
            <a:spLocks noGrp="1" noChangeArrowheads="1"/>
          </p:cNvSpPr>
          <p:nvPr>
            <p:ph type="title"/>
          </p:nvPr>
        </p:nvSpPr>
        <p:spPr>
          <a:xfrm>
            <a:off x="468313" y="811484"/>
            <a:ext cx="5616575" cy="647700"/>
          </a:xfrm>
          <a:noFill/>
          <a:ln w="9525" cap="flat" cmpd="sng" algn="ctr">
            <a:noFill/>
            <a:prstDash val="solid"/>
            <a:miter lim="800000"/>
            <a:headEnd/>
            <a:tailEnd/>
          </a:ln>
        </p:spPr>
        <p:txBody>
          <a:bodyPr>
            <a:normAutofit fontScale="90000"/>
          </a:bodyPr>
          <a:lstStyle/>
          <a:p>
            <a:r>
              <a:rPr lang="zh-CN" altLang="en-US" dirty="0"/>
              <a:t>财政政策效果</a:t>
            </a:r>
          </a:p>
        </p:txBody>
      </p:sp>
      <p:sp>
        <p:nvSpPr>
          <p:cNvPr id="5" name="Rectangle 7">
            <a:extLst>
              <a:ext uri="{FF2B5EF4-FFF2-40B4-BE49-F238E27FC236}">
                <a16:creationId xmlns:a16="http://schemas.microsoft.com/office/drawing/2014/main" id="{66649CCD-6B54-4A3F-877E-5670ED465A19}"/>
              </a:ext>
            </a:extLst>
          </p:cNvPr>
          <p:cNvSpPr txBox="1">
            <a:spLocks noChangeArrowheads="1"/>
          </p:cNvSpPr>
          <p:nvPr/>
        </p:nvSpPr>
        <p:spPr>
          <a:xfrm>
            <a:off x="468313" y="1819546"/>
            <a:ext cx="3095625" cy="1727200"/>
          </a:xfrm>
          <a:prstGeom prst="rect">
            <a:avLst/>
          </a:prstGeom>
          <a:noFill/>
          <a:ln w="3175" cmpd="sng">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hlink"/>
              </a:buClr>
              <a:buSzPct val="95000"/>
              <a:buFont typeface="Wingdings" panose="05000000000000000000" pitchFamily="2" charset="2"/>
              <a:buChar char="u"/>
            </a:pPr>
            <a:r>
              <a:rPr lang="zh-CN" altLang="en-US" dirty="0"/>
              <a:t>财政政策效果：变动政府收支，使得</a:t>
            </a:r>
            <a:r>
              <a:rPr lang="en-US" altLang="zh-CN" dirty="0"/>
              <a:t>IS</a:t>
            </a:r>
            <a:r>
              <a:rPr lang="zh-CN" altLang="en-US" dirty="0"/>
              <a:t>变动，对国民收入变动产生的影响。</a:t>
            </a:r>
          </a:p>
        </p:txBody>
      </p:sp>
      <p:pic>
        <p:nvPicPr>
          <p:cNvPr id="6" name="图片 5">
            <a:extLst>
              <a:ext uri="{FF2B5EF4-FFF2-40B4-BE49-F238E27FC236}">
                <a16:creationId xmlns:a16="http://schemas.microsoft.com/office/drawing/2014/main" id="{9E5B3FCF-8E95-444F-A60C-F35A39A01F1E}"/>
              </a:ext>
            </a:extLst>
          </p:cNvPr>
          <p:cNvPicPr>
            <a:picLocks noChangeAspect="1"/>
          </p:cNvPicPr>
          <p:nvPr/>
        </p:nvPicPr>
        <p:blipFill>
          <a:blip r:embed="rId2"/>
          <a:stretch>
            <a:fillRect/>
          </a:stretch>
        </p:blipFill>
        <p:spPr>
          <a:xfrm>
            <a:off x="3829523" y="1459184"/>
            <a:ext cx="4046571" cy="4206605"/>
          </a:xfrm>
          <a:prstGeom prst="rect">
            <a:avLst/>
          </a:prstGeom>
        </p:spPr>
      </p:pic>
    </p:spTree>
    <p:extLst>
      <p:ext uri="{BB962C8B-B14F-4D97-AF65-F5344CB8AC3E}">
        <p14:creationId xmlns:p14="http://schemas.microsoft.com/office/powerpoint/2010/main" val="1616407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C7CE9C64-7ED1-406E-BF8C-F071BCC727FE}"/>
              </a:ext>
            </a:extLst>
          </p:cNvPr>
          <p:cNvSpPr>
            <a:spLocks noGrp="1" noChangeArrowheads="1"/>
          </p:cNvSpPr>
          <p:nvPr>
            <p:ph type="title"/>
          </p:nvPr>
        </p:nvSpPr>
        <p:spPr>
          <a:xfrm>
            <a:off x="479425" y="636386"/>
            <a:ext cx="56165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fontScale="90000"/>
          </a:bodyPr>
          <a:lstStyle/>
          <a:p>
            <a:r>
              <a:rPr lang="zh-CN" altLang="en-US" dirty="0"/>
              <a:t>挤出效应  </a:t>
            </a:r>
            <a:r>
              <a:rPr lang="en-US" altLang="zh-CN" sz="2400" dirty="0">
                <a:solidFill>
                  <a:schemeClr val="tx1"/>
                </a:solidFill>
              </a:rPr>
              <a:t>Crowding out effect</a:t>
            </a:r>
            <a:r>
              <a:rPr lang="en-US" altLang="zh-CN" dirty="0"/>
              <a:t> </a:t>
            </a:r>
          </a:p>
        </p:txBody>
      </p:sp>
      <p:sp>
        <p:nvSpPr>
          <p:cNvPr id="5" name="Rectangle 9">
            <a:extLst>
              <a:ext uri="{FF2B5EF4-FFF2-40B4-BE49-F238E27FC236}">
                <a16:creationId xmlns:a16="http://schemas.microsoft.com/office/drawing/2014/main" id="{148C2E90-6BB1-4965-97E7-07DAD490A64E}"/>
              </a:ext>
            </a:extLst>
          </p:cNvPr>
          <p:cNvSpPr txBox="1">
            <a:spLocks noChangeArrowheads="1"/>
          </p:cNvSpPr>
          <p:nvPr/>
        </p:nvSpPr>
        <p:spPr>
          <a:xfrm>
            <a:off x="479425" y="1644448"/>
            <a:ext cx="8207375" cy="1008063"/>
          </a:xfrm>
          <a:prstGeom prst="rect">
            <a:avLst/>
          </a:prstGeom>
          <a:noFill/>
          <a:ln w="3175" cmpd="sng">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a:t>挤出效应：政府支出的增加引起利率上升，从而抑制私人投资（以及消费）的现象</a:t>
            </a:r>
            <a:r>
              <a:rPr lang="en-US" altLang="zh-CN"/>
              <a:t>｡</a:t>
            </a:r>
          </a:p>
        </p:txBody>
      </p:sp>
      <p:sp>
        <p:nvSpPr>
          <p:cNvPr id="6" name="Rectangle 10">
            <a:extLst>
              <a:ext uri="{FF2B5EF4-FFF2-40B4-BE49-F238E27FC236}">
                <a16:creationId xmlns:a16="http://schemas.microsoft.com/office/drawing/2014/main" id="{A7837E90-C31A-4AB6-A4A5-565614213455}"/>
              </a:ext>
            </a:extLst>
          </p:cNvPr>
          <p:cNvSpPr>
            <a:spLocks noChangeArrowheads="1"/>
          </p:cNvSpPr>
          <p:nvPr/>
        </p:nvSpPr>
        <p:spPr bwMode="auto">
          <a:xfrm>
            <a:off x="479425" y="2796973"/>
            <a:ext cx="3816350" cy="1439863"/>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en-US" altLang="zh-CN"/>
              <a:t>LM</a:t>
            </a:r>
            <a:r>
              <a:rPr lang="zh-CN" altLang="en-US"/>
              <a:t>不变，右移</a:t>
            </a:r>
            <a:r>
              <a:rPr lang="en-US" altLang="zh-CN"/>
              <a:t>IS</a:t>
            </a:r>
            <a:r>
              <a:rPr lang="zh-CN" altLang="en-US"/>
              <a:t>，同时均衡，会引起利率上升和国民收入增加</a:t>
            </a:r>
            <a:r>
              <a:rPr lang="en-US" altLang="zh-CN"/>
              <a:t>｡</a:t>
            </a:r>
          </a:p>
        </p:txBody>
      </p:sp>
      <p:sp>
        <p:nvSpPr>
          <p:cNvPr id="7" name="Rectangle 11">
            <a:extLst>
              <a:ext uri="{FF2B5EF4-FFF2-40B4-BE49-F238E27FC236}">
                <a16:creationId xmlns:a16="http://schemas.microsoft.com/office/drawing/2014/main" id="{01BA6C51-8DB0-459A-81A1-7C33A80905C4}"/>
              </a:ext>
            </a:extLst>
          </p:cNvPr>
          <p:cNvSpPr>
            <a:spLocks noChangeArrowheads="1"/>
          </p:cNvSpPr>
          <p:nvPr/>
        </p:nvSpPr>
        <p:spPr bwMode="auto">
          <a:xfrm>
            <a:off x="479425" y="4381298"/>
            <a:ext cx="3816350" cy="2232025"/>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a:t>但增加的国民收入小于不考虑 </a:t>
            </a:r>
            <a:r>
              <a:rPr lang="en-US" altLang="zh-CN"/>
              <a:t>LM</a:t>
            </a:r>
            <a:r>
              <a:rPr lang="zh-CN" altLang="en-US"/>
              <a:t>的收入增量。</a:t>
            </a:r>
          </a:p>
          <a:p>
            <a:pPr>
              <a:lnSpc>
                <a:spcPct val="90000"/>
              </a:lnSpc>
            </a:pPr>
            <a:r>
              <a:rPr lang="zh-CN" altLang="en-US"/>
              <a:t>这两种情况下的国民收入增量之差，就是利率上升而引起的“挤出效应”数值</a:t>
            </a:r>
            <a:r>
              <a:rPr lang="en-US" altLang="zh-CN"/>
              <a:t>｡</a:t>
            </a:r>
          </a:p>
        </p:txBody>
      </p:sp>
      <p:pic>
        <p:nvPicPr>
          <p:cNvPr id="8" name="图片 7">
            <a:extLst>
              <a:ext uri="{FF2B5EF4-FFF2-40B4-BE49-F238E27FC236}">
                <a16:creationId xmlns:a16="http://schemas.microsoft.com/office/drawing/2014/main" id="{3C324224-50D4-40E8-9B51-E353CEE323D0}"/>
              </a:ext>
            </a:extLst>
          </p:cNvPr>
          <p:cNvPicPr>
            <a:picLocks noChangeAspect="1"/>
          </p:cNvPicPr>
          <p:nvPr/>
        </p:nvPicPr>
        <p:blipFill>
          <a:blip r:embed="rId4"/>
          <a:stretch>
            <a:fillRect/>
          </a:stretch>
        </p:blipFill>
        <p:spPr>
          <a:xfrm>
            <a:off x="4846980" y="3188591"/>
            <a:ext cx="3490262" cy="3033023"/>
          </a:xfrm>
          <a:prstGeom prst="rect">
            <a:avLst/>
          </a:prstGeom>
        </p:spPr>
      </p:pic>
    </p:spTree>
    <p:extLst>
      <p:ext uri="{BB962C8B-B14F-4D97-AF65-F5344CB8AC3E}">
        <p14:creationId xmlns:p14="http://schemas.microsoft.com/office/powerpoint/2010/main" val="3917601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E69D1D7-D307-4F67-A0A9-D9FA96A69237}"/>
              </a:ext>
            </a:extLst>
          </p:cNvPr>
          <p:cNvSpPr txBox="1">
            <a:spLocks noChangeArrowheads="1"/>
          </p:cNvSpPr>
          <p:nvPr/>
        </p:nvSpPr>
        <p:spPr>
          <a:xfrm>
            <a:off x="539750" y="1642998"/>
            <a:ext cx="8064500" cy="1439862"/>
          </a:xfrm>
          <a:prstGeom prst="rect">
            <a:avLst/>
          </a:prstGeom>
          <a:noFill/>
          <a:ln w="3175" cmpd="sng">
            <a:solidFill>
              <a:schemeClr val="tx1"/>
            </a:solidFill>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a:latin typeface="黑体" panose="02010609060101010101" pitchFamily="49" charset="-122"/>
                <a:ea typeface="黑体" panose="02010609060101010101" pitchFamily="49" charset="-122"/>
              </a:rPr>
              <a:t>货币幻觉：</a:t>
            </a:r>
          </a:p>
          <a:p>
            <a:pPr>
              <a:buClr>
                <a:schemeClr val="hlink"/>
              </a:buClr>
              <a:buSzPct val="95000"/>
              <a:buFont typeface="Wingdings" panose="05000000000000000000" pitchFamily="2" charset="2"/>
              <a:buChar char="u"/>
            </a:pPr>
            <a:r>
              <a:rPr lang="zh-CN" altLang="en-US">
                <a:latin typeface="黑体" panose="02010609060101010101" pitchFamily="49" charset="-122"/>
                <a:ea typeface="黑体" panose="02010609060101010101" pitchFamily="49" charset="-122"/>
              </a:rPr>
              <a:t>人们不是对收入的实际价值作出反应，而是对用货币表示的名义收入作出反应。</a:t>
            </a:r>
          </a:p>
        </p:txBody>
      </p:sp>
      <p:sp>
        <p:nvSpPr>
          <p:cNvPr id="5" name="Rectangle 3">
            <a:extLst>
              <a:ext uri="{FF2B5EF4-FFF2-40B4-BE49-F238E27FC236}">
                <a16:creationId xmlns:a16="http://schemas.microsoft.com/office/drawing/2014/main" id="{F79352C4-4D34-4E21-BF1E-0CFCAAE863B0}"/>
              </a:ext>
            </a:extLst>
          </p:cNvPr>
          <p:cNvSpPr>
            <a:spLocks noGrp="1" noChangeArrowheads="1"/>
          </p:cNvSpPr>
          <p:nvPr>
            <p:ph type="title"/>
          </p:nvPr>
        </p:nvSpPr>
        <p:spPr>
          <a:xfrm>
            <a:off x="468313" y="535052"/>
            <a:ext cx="56165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fontScale="90000"/>
          </a:bodyPr>
          <a:lstStyle/>
          <a:p>
            <a:r>
              <a:rPr lang="zh-CN" altLang="en-US" sz="3100" dirty="0"/>
              <a:t>货币幻觉  </a:t>
            </a:r>
            <a:r>
              <a:rPr lang="en-US" altLang="zh-CN" sz="2400" dirty="0">
                <a:solidFill>
                  <a:srgbClr val="003399"/>
                </a:solidFill>
              </a:rPr>
              <a:t>Monetary illusion</a:t>
            </a:r>
            <a:r>
              <a:rPr lang="en-US" altLang="zh-CN" dirty="0"/>
              <a:t> </a:t>
            </a:r>
          </a:p>
        </p:txBody>
      </p:sp>
      <p:sp>
        <p:nvSpPr>
          <p:cNvPr id="6" name="Rectangle 4">
            <a:extLst>
              <a:ext uri="{FF2B5EF4-FFF2-40B4-BE49-F238E27FC236}">
                <a16:creationId xmlns:a16="http://schemas.microsoft.com/office/drawing/2014/main" id="{D4A5196A-0CE0-4E76-ADAC-D90C360FD202}"/>
              </a:ext>
            </a:extLst>
          </p:cNvPr>
          <p:cNvSpPr>
            <a:spLocks noChangeArrowheads="1"/>
          </p:cNvSpPr>
          <p:nvPr/>
        </p:nvSpPr>
        <p:spPr bwMode="auto">
          <a:xfrm>
            <a:off x="468313" y="3514660"/>
            <a:ext cx="8135937" cy="1008063"/>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latin typeface="黑体" panose="02010609060101010101" pitchFamily="49" charset="-122"/>
                <a:ea typeface="黑体" panose="02010609060101010101" pitchFamily="49" charset="-122"/>
              </a:rPr>
              <a:t>幻觉：</a:t>
            </a:r>
            <a:r>
              <a:rPr lang="zh-CN" altLang="en-US" b="0">
                <a:latin typeface="黑体" panose="02010609060101010101" pitchFamily="49" charset="-122"/>
                <a:ea typeface="黑体" panose="02010609060101010101" pitchFamily="49" charset="-122"/>
              </a:rPr>
              <a:t>短期内，</a:t>
            </a:r>
            <a:r>
              <a:rPr lang="zh-CN" altLang="en-US">
                <a:latin typeface="黑体" panose="02010609060101010101" pitchFamily="49" charset="-122"/>
                <a:ea typeface="黑体" panose="02010609060101010101" pitchFamily="49" charset="-122"/>
              </a:rPr>
              <a:t>当名义工资不变、但实际工资下降时，人们感觉不到工资下降。</a:t>
            </a:r>
          </a:p>
        </p:txBody>
      </p:sp>
      <p:sp>
        <p:nvSpPr>
          <p:cNvPr id="7" name="Rectangle 5">
            <a:extLst>
              <a:ext uri="{FF2B5EF4-FFF2-40B4-BE49-F238E27FC236}">
                <a16:creationId xmlns:a16="http://schemas.microsoft.com/office/drawing/2014/main" id="{47665032-55C0-4FBC-AF3E-3E3E63AF4961}"/>
              </a:ext>
            </a:extLst>
          </p:cNvPr>
          <p:cNvSpPr>
            <a:spLocks noChangeArrowheads="1"/>
          </p:cNvSpPr>
          <p:nvPr/>
        </p:nvSpPr>
        <p:spPr bwMode="auto">
          <a:xfrm>
            <a:off x="468313" y="4883085"/>
            <a:ext cx="8135937" cy="1439863"/>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pPr>
            <a:r>
              <a:rPr lang="zh-CN" altLang="en-US">
                <a:latin typeface="黑体" panose="02010609060101010101" pitchFamily="49" charset="-122"/>
                <a:ea typeface="黑体" panose="02010609060101010101" pitchFamily="49" charset="-122"/>
              </a:rPr>
              <a:t>政府支出增加引起价格上涨，</a:t>
            </a:r>
          </a:p>
          <a:p>
            <a:pPr>
              <a:lnSpc>
                <a:spcPct val="110000"/>
              </a:lnSpc>
            </a:pPr>
            <a:r>
              <a:rPr lang="zh-CN" altLang="en-US">
                <a:latin typeface="黑体" panose="02010609060101010101" pitchFamily="49" charset="-122"/>
                <a:ea typeface="黑体" panose="02010609060101010101" pitchFamily="49" charset="-122"/>
              </a:rPr>
              <a:t>短期内，工资水平不会同步调整，实际工资下降，企业对劳动的需求增加，就业和产量增加。</a:t>
            </a:r>
          </a:p>
        </p:txBody>
      </p:sp>
    </p:spTree>
    <p:extLst>
      <p:ext uri="{BB962C8B-B14F-4D97-AF65-F5344CB8AC3E}">
        <p14:creationId xmlns:p14="http://schemas.microsoft.com/office/powerpoint/2010/main" val="2273891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92806CB-B574-40CD-BF4B-8933C6313656}"/>
              </a:ext>
            </a:extLst>
          </p:cNvPr>
          <p:cNvSpPr txBox="1">
            <a:spLocks noChangeArrowheads="1"/>
          </p:cNvSpPr>
          <p:nvPr/>
        </p:nvSpPr>
        <p:spPr>
          <a:xfrm>
            <a:off x="468313" y="1644448"/>
            <a:ext cx="8135937" cy="936625"/>
          </a:xfrm>
          <a:prstGeom prst="rect">
            <a:avLst/>
          </a:prstGeom>
          <a:noFill/>
          <a:ln w="31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LM</a:t>
            </a:r>
            <a:r>
              <a:rPr lang="zh-CN" altLang="en-US"/>
              <a:t>曲线越平坦，</a:t>
            </a:r>
            <a:r>
              <a:rPr lang="en-US" altLang="zh-CN"/>
              <a:t>IS</a:t>
            </a:r>
            <a:r>
              <a:rPr lang="zh-CN" altLang="en-US"/>
              <a:t>越陡峭，则财政政策的效果越大，货币政策效果越小。</a:t>
            </a:r>
          </a:p>
        </p:txBody>
      </p:sp>
      <p:sp>
        <p:nvSpPr>
          <p:cNvPr id="5" name="Rectangle 8">
            <a:extLst>
              <a:ext uri="{FF2B5EF4-FFF2-40B4-BE49-F238E27FC236}">
                <a16:creationId xmlns:a16="http://schemas.microsoft.com/office/drawing/2014/main" id="{8EB0E0EA-5A28-4DE7-94B0-7220511EA541}"/>
              </a:ext>
            </a:extLst>
          </p:cNvPr>
          <p:cNvSpPr>
            <a:spLocks noGrp="1" noChangeArrowheads="1"/>
          </p:cNvSpPr>
          <p:nvPr>
            <p:ph type="title"/>
          </p:nvPr>
        </p:nvSpPr>
        <p:spPr>
          <a:xfrm>
            <a:off x="468313" y="636386"/>
            <a:ext cx="5616575" cy="647700"/>
          </a:xfrm>
        </p:spPr>
        <p:txBody>
          <a:bodyPr>
            <a:normAutofit/>
          </a:bodyPr>
          <a:lstStyle/>
          <a:p>
            <a:r>
              <a:rPr lang="zh-CN" altLang="en-US" sz="2800" dirty="0">
                <a:solidFill>
                  <a:schemeClr val="bg1"/>
                </a:solidFill>
              </a:rPr>
              <a:t>凯恩斯陷阱中的财政政策</a:t>
            </a:r>
          </a:p>
        </p:txBody>
      </p:sp>
      <p:sp>
        <p:nvSpPr>
          <p:cNvPr id="6" name="Rectangle 36">
            <a:extLst>
              <a:ext uri="{FF2B5EF4-FFF2-40B4-BE49-F238E27FC236}">
                <a16:creationId xmlns:a16="http://schemas.microsoft.com/office/drawing/2014/main" id="{D8AA8179-0F9C-4E99-9015-3F34A4DE79C9}"/>
              </a:ext>
            </a:extLst>
          </p:cNvPr>
          <p:cNvSpPr>
            <a:spLocks noChangeArrowheads="1"/>
          </p:cNvSpPr>
          <p:nvPr/>
        </p:nvSpPr>
        <p:spPr bwMode="auto">
          <a:xfrm>
            <a:off x="468313" y="2796973"/>
            <a:ext cx="3095625" cy="1150938"/>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a:t>政府增加支出和减少税收的政策非常有效。</a:t>
            </a:r>
          </a:p>
        </p:txBody>
      </p:sp>
      <p:sp>
        <p:nvSpPr>
          <p:cNvPr id="7" name="Rectangle 37">
            <a:extLst>
              <a:ext uri="{FF2B5EF4-FFF2-40B4-BE49-F238E27FC236}">
                <a16:creationId xmlns:a16="http://schemas.microsoft.com/office/drawing/2014/main" id="{B82D03A7-5EB0-419F-8D07-7E23875D0455}"/>
              </a:ext>
            </a:extLst>
          </p:cNvPr>
          <p:cNvSpPr>
            <a:spLocks noChangeArrowheads="1"/>
          </p:cNvSpPr>
          <p:nvPr/>
        </p:nvSpPr>
        <p:spPr bwMode="auto">
          <a:xfrm>
            <a:off x="468313" y="4092373"/>
            <a:ext cx="3095625" cy="2520950"/>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a:t>扩张性财政政策，通过出售公债，向私人部门借钱。</a:t>
            </a:r>
          </a:p>
          <a:p>
            <a:pPr>
              <a:lnSpc>
                <a:spcPct val="90000"/>
              </a:lnSpc>
            </a:pPr>
            <a:r>
              <a:rPr lang="zh-CN" altLang="en-US"/>
              <a:t>此时私人部门资金充足，不会使利率上升，不产生挤出效应。</a:t>
            </a:r>
          </a:p>
        </p:txBody>
      </p:sp>
      <p:pic>
        <p:nvPicPr>
          <p:cNvPr id="8" name="图片 7">
            <a:extLst>
              <a:ext uri="{FF2B5EF4-FFF2-40B4-BE49-F238E27FC236}">
                <a16:creationId xmlns:a16="http://schemas.microsoft.com/office/drawing/2014/main" id="{56170357-8ABC-4228-90BE-572CF7656467}"/>
              </a:ext>
            </a:extLst>
          </p:cNvPr>
          <p:cNvPicPr>
            <a:picLocks noChangeAspect="1"/>
          </p:cNvPicPr>
          <p:nvPr/>
        </p:nvPicPr>
        <p:blipFill>
          <a:blip r:embed="rId4"/>
          <a:stretch>
            <a:fillRect/>
          </a:stretch>
        </p:blipFill>
        <p:spPr>
          <a:xfrm>
            <a:off x="3979740" y="3074281"/>
            <a:ext cx="3901778" cy="3147333"/>
          </a:xfrm>
          <a:prstGeom prst="rect">
            <a:avLst/>
          </a:prstGeom>
        </p:spPr>
      </p:pic>
    </p:spTree>
    <p:extLst>
      <p:ext uri="{BB962C8B-B14F-4D97-AF65-F5344CB8AC3E}">
        <p14:creationId xmlns:p14="http://schemas.microsoft.com/office/powerpoint/2010/main" val="1713724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0981C46C-EC3A-4C6E-BCD2-2676A88F6714}"/>
              </a:ext>
            </a:extLst>
          </p:cNvPr>
          <p:cNvSpPr>
            <a:spLocks noChangeArrowheads="1"/>
          </p:cNvSpPr>
          <p:nvPr/>
        </p:nvSpPr>
        <p:spPr bwMode="auto">
          <a:xfrm>
            <a:off x="468313" y="1595810"/>
            <a:ext cx="8135937" cy="863600"/>
          </a:xfrm>
          <a:prstGeom prst="rect">
            <a:avLst/>
          </a:prstGeom>
          <a:noFill/>
          <a:ln w="3175" cap="sq">
            <a:solidFill>
              <a:schemeClr val="tx1"/>
            </a:solidFill>
            <a:miter lim="800000"/>
            <a:headEnd type="none" w="sm" len="sm"/>
            <a:tailEnd type="none" w="sm" len="sm"/>
          </a:ln>
          <a:effec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chemeClr val="hlink"/>
              </a:buClr>
              <a:buSzPct val="95000"/>
              <a:buFont typeface="Wingdings" panose="05000000000000000000" pitchFamily="2" charset="2"/>
              <a:buChar char="u"/>
            </a:pPr>
            <a:r>
              <a:rPr lang="zh-CN" altLang="en-US" dirty="0"/>
              <a:t>凯恩斯主义的极端情况：</a:t>
            </a:r>
            <a:r>
              <a:rPr lang="en-US" altLang="zh-CN" dirty="0">
                <a:latin typeface="黑体" panose="02010609060101010101" pitchFamily="49" charset="-122"/>
                <a:ea typeface="黑体" panose="02010609060101010101" pitchFamily="49" charset="-122"/>
              </a:rPr>
              <a:t>LM</a:t>
            </a:r>
            <a:r>
              <a:rPr lang="zh-CN" altLang="en-US" dirty="0">
                <a:latin typeface="黑体" panose="02010609060101010101" pitchFamily="49" charset="-122"/>
                <a:ea typeface="黑体" panose="02010609060101010101" pitchFamily="49" charset="-122"/>
              </a:rPr>
              <a:t>为水平、</a:t>
            </a:r>
            <a:r>
              <a:rPr lang="en-US" altLang="zh-CN" dirty="0">
                <a:latin typeface="黑体" panose="02010609060101010101" pitchFamily="49" charset="-122"/>
                <a:ea typeface="黑体" panose="02010609060101010101" pitchFamily="49" charset="-122"/>
              </a:rPr>
              <a:t>IS</a:t>
            </a:r>
            <a:r>
              <a:rPr lang="zh-CN" altLang="en-US" dirty="0">
                <a:latin typeface="黑体" panose="02010609060101010101" pitchFamily="49" charset="-122"/>
                <a:ea typeface="黑体" panose="02010609060101010101" pitchFamily="49" charset="-122"/>
              </a:rPr>
              <a:t>垂直时，货币政策完全失效，投资政策非常有效。</a:t>
            </a:r>
          </a:p>
        </p:txBody>
      </p:sp>
      <p:sp>
        <p:nvSpPr>
          <p:cNvPr id="7" name="Rectangle 4">
            <a:extLst>
              <a:ext uri="{FF2B5EF4-FFF2-40B4-BE49-F238E27FC236}">
                <a16:creationId xmlns:a16="http://schemas.microsoft.com/office/drawing/2014/main" id="{8FD0BBF9-C1D9-4E2E-B612-ADC604DA572E}"/>
              </a:ext>
            </a:extLst>
          </p:cNvPr>
          <p:cNvSpPr>
            <a:spLocks noChangeArrowheads="1"/>
          </p:cNvSpPr>
          <p:nvPr/>
        </p:nvSpPr>
        <p:spPr bwMode="auto">
          <a:xfrm>
            <a:off x="468313" y="587748"/>
            <a:ext cx="5616575" cy="647700"/>
          </a:xfrm>
          <a:prstGeom prst="rect">
            <a:avLst/>
          </a:prstGeom>
          <a:noFill/>
          <a:ln w="9525" algn="ctr">
            <a:noFill/>
            <a:miter lim="800000"/>
            <a:headEnd/>
            <a:tailEnd/>
          </a:ln>
          <a:effectLst/>
        </p:spPr>
        <p:txBody>
          <a:bodyPr lIns="92075" tIns="46038" rIns="92075" bIns="46038" anchor="ctr"/>
          <a:lstStyle>
            <a:lvl1pPr>
              <a:defRPr kumimoji="1" sz="3200" b="1">
                <a:solidFill>
                  <a:srgbClr val="FF0000"/>
                </a:solidFill>
                <a:latin typeface="Times New Roman" panose="02020603050405020304" pitchFamily="18" charset="0"/>
                <a:ea typeface="宋体" panose="02010600030101010101" pitchFamily="2" charset="-122"/>
              </a:defRPr>
            </a:lvl1pPr>
            <a:lvl2pPr>
              <a:defRPr kumimoji="1" sz="3200" b="1">
                <a:solidFill>
                  <a:srgbClr val="FF0000"/>
                </a:solidFill>
                <a:latin typeface="Times New Roman" panose="02020603050405020304" pitchFamily="18" charset="0"/>
                <a:ea typeface="宋体" panose="02010600030101010101" pitchFamily="2" charset="-122"/>
              </a:defRPr>
            </a:lvl2pPr>
            <a:lvl3pPr>
              <a:defRPr kumimoji="1" sz="3200" b="1">
                <a:solidFill>
                  <a:srgbClr val="FF0000"/>
                </a:solidFill>
                <a:latin typeface="Times New Roman" panose="02020603050405020304" pitchFamily="18" charset="0"/>
                <a:ea typeface="宋体" panose="02010600030101010101" pitchFamily="2" charset="-122"/>
              </a:defRPr>
            </a:lvl3pPr>
            <a:lvl4pPr>
              <a:defRPr kumimoji="1" sz="3200" b="1">
                <a:solidFill>
                  <a:srgbClr val="FF0000"/>
                </a:solidFill>
                <a:latin typeface="Times New Roman" panose="02020603050405020304" pitchFamily="18" charset="0"/>
                <a:ea typeface="宋体" panose="02010600030101010101" pitchFamily="2" charset="-122"/>
              </a:defRPr>
            </a:lvl4pPr>
            <a:lvl5pPr>
              <a:defRPr kumimoji="1" sz="3200" b="1">
                <a:solidFill>
                  <a:srgbClr val="FF0000"/>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3200" b="1">
                <a:solidFill>
                  <a:srgbClr val="FF0000"/>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3200" b="1">
                <a:solidFill>
                  <a:srgbClr val="FF0000"/>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3200" b="1">
                <a:solidFill>
                  <a:srgbClr val="FF0000"/>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3200" b="1">
                <a:solidFill>
                  <a:srgbClr val="FF0000"/>
                </a:solidFill>
                <a:latin typeface="Times New Roman" panose="02020603050405020304" pitchFamily="18" charset="0"/>
                <a:ea typeface="宋体" panose="02010600030101010101" pitchFamily="2" charset="-122"/>
              </a:defRPr>
            </a:lvl9pPr>
          </a:lstStyle>
          <a:p>
            <a:r>
              <a:rPr lang="zh-CN" altLang="en-US" dirty="0">
                <a:solidFill>
                  <a:schemeClr val="bg1"/>
                </a:solidFill>
              </a:rPr>
              <a:t>凯恩斯主义的极端情况</a:t>
            </a:r>
          </a:p>
        </p:txBody>
      </p:sp>
      <p:sp>
        <p:nvSpPr>
          <p:cNvPr id="9" name="Rectangle 44">
            <a:extLst>
              <a:ext uri="{FF2B5EF4-FFF2-40B4-BE49-F238E27FC236}">
                <a16:creationId xmlns:a16="http://schemas.microsoft.com/office/drawing/2014/main" id="{D853DC2D-DC58-4900-B64B-EFA7E844CECB}"/>
              </a:ext>
            </a:extLst>
          </p:cNvPr>
          <p:cNvSpPr>
            <a:spLocks noChangeArrowheads="1"/>
          </p:cNvSpPr>
          <p:nvPr/>
        </p:nvSpPr>
        <p:spPr bwMode="auto">
          <a:xfrm>
            <a:off x="468313" y="2675310"/>
            <a:ext cx="3240087" cy="1152525"/>
          </a:xfrm>
          <a:prstGeom prst="rect">
            <a:avLst/>
          </a:prstGeom>
          <a:noFill/>
          <a:ln w="3175" cap="sq" cmpd="tri">
            <a:solidFill>
              <a:schemeClr val="tx1"/>
            </a:solidFill>
            <a:miter lim="800000"/>
            <a:headEnd type="none" w="sm" len="sm"/>
            <a:tailEnd type="none" w="sm" len="sm"/>
          </a:ln>
          <a:effec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a:latin typeface="黑体" panose="02010609060101010101" pitchFamily="49" charset="-122"/>
                <a:ea typeface="黑体" panose="02010609060101010101" pitchFamily="49" charset="-122"/>
              </a:rPr>
              <a:t>IS</a:t>
            </a:r>
            <a:r>
              <a:rPr lang="zh-CN" altLang="en-US">
                <a:latin typeface="黑体" panose="02010609060101010101" pitchFamily="49" charset="-122"/>
                <a:ea typeface="黑体" panose="02010609060101010101" pitchFamily="49" charset="-122"/>
              </a:rPr>
              <a:t>垂直：</a:t>
            </a:r>
            <a:r>
              <a:rPr lang="zh-CN" altLang="en-US" b="0">
                <a:latin typeface="黑体" panose="02010609060101010101" pitchFamily="49" charset="-122"/>
                <a:ea typeface="黑体" panose="02010609060101010101" pitchFamily="49" charset="-122"/>
              </a:rPr>
              <a:t>投资需求的利率系数为</a:t>
            </a:r>
            <a:r>
              <a:rPr lang="en-US" altLang="zh-CN" b="0">
                <a:latin typeface="黑体" panose="02010609060101010101" pitchFamily="49" charset="-122"/>
                <a:ea typeface="黑体" panose="02010609060101010101" pitchFamily="49" charset="-122"/>
              </a:rPr>
              <a:t>0</a:t>
            </a:r>
            <a:r>
              <a:rPr lang="zh-CN" altLang="en-US" b="0">
                <a:latin typeface="黑体" panose="02010609060101010101" pitchFamily="49" charset="-122"/>
                <a:ea typeface="黑体" panose="02010609060101010101" pitchFamily="49" charset="-122"/>
              </a:rPr>
              <a:t>，投资不随利率变动而变动。</a:t>
            </a:r>
          </a:p>
        </p:txBody>
      </p:sp>
      <p:sp>
        <p:nvSpPr>
          <p:cNvPr id="11" name="Rectangle 45">
            <a:extLst>
              <a:ext uri="{FF2B5EF4-FFF2-40B4-BE49-F238E27FC236}">
                <a16:creationId xmlns:a16="http://schemas.microsoft.com/office/drawing/2014/main" id="{E5E0EC78-7E6D-49E7-82E8-D07ED4B8B492}"/>
              </a:ext>
            </a:extLst>
          </p:cNvPr>
          <p:cNvSpPr>
            <a:spLocks noChangeArrowheads="1"/>
          </p:cNvSpPr>
          <p:nvPr/>
        </p:nvSpPr>
        <p:spPr bwMode="auto">
          <a:xfrm>
            <a:off x="468313" y="3899273"/>
            <a:ext cx="3240087" cy="2778125"/>
          </a:xfrm>
          <a:prstGeom prst="rect">
            <a:avLst/>
          </a:prstGeom>
          <a:noFill/>
          <a:ln w="3175" cap="sq" cmpd="thickThin">
            <a:solidFill>
              <a:schemeClr val="tx1"/>
            </a:solidFill>
            <a:miter lim="800000"/>
            <a:headEnd type="none" w="sm" len="sm"/>
            <a:tailEnd type="none" w="sm" len="sm"/>
          </a:ln>
          <a:effectLst/>
        </p:spPr>
        <p:txBody>
          <a:bodyPr>
            <a:spAutoFit/>
          </a:bodyPr>
          <a:lstStyle/>
          <a:p>
            <a:pPr>
              <a:spcBef>
                <a:spcPct val="20000"/>
              </a:spcBef>
              <a:buClr>
                <a:srgbClr val="FF0000"/>
              </a:buClr>
              <a:buSzPct val="95000"/>
              <a:buFont typeface="Wingdings" panose="05000000000000000000" pitchFamily="2" charset="2"/>
              <a:buChar char="n"/>
            </a:pPr>
            <a:r>
              <a:rPr lang="zh-CN" altLang="en-US" b="1"/>
              <a:t>货币政策无效。</a:t>
            </a:r>
          </a:p>
          <a:p>
            <a:pPr>
              <a:spcBef>
                <a:spcPct val="20000"/>
              </a:spcBef>
              <a:buClr>
                <a:srgbClr val="FF0000"/>
              </a:buClr>
              <a:buSzPct val="95000"/>
              <a:buFont typeface="Wingdings" panose="05000000000000000000" pitchFamily="2" charset="2"/>
              <a:buChar char="n"/>
            </a:pPr>
            <a:r>
              <a:rPr lang="en-US" altLang="zh-CN" b="1"/>
              <a:t>LM</a:t>
            </a:r>
            <a:r>
              <a:rPr lang="zh-CN" altLang="en-US" b="1"/>
              <a:t>水平时，利率降到极低 ，进入凯恩斯陷阱。这时货币供给量增加不会降低利率和促进投资，对于收入没有作用。</a:t>
            </a:r>
          </a:p>
        </p:txBody>
      </p:sp>
      <p:pic>
        <p:nvPicPr>
          <p:cNvPr id="12" name="图片 11">
            <a:extLst>
              <a:ext uri="{FF2B5EF4-FFF2-40B4-BE49-F238E27FC236}">
                <a16:creationId xmlns:a16="http://schemas.microsoft.com/office/drawing/2014/main" id="{440963ED-9ED6-456B-8737-3BBA06BFB810}"/>
              </a:ext>
            </a:extLst>
          </p:cNvPr>
          <p:cNvPicPr>
            <a:picLocks noChangeAspect="1"/>
          </p:cNvPicPr>
          <p:nvPr/>
        </p:nvPicPr>
        <p:blipFill>
          <a:blip r:embed="rId4"/>
          <a:stretch>
            <a:fillRect/>
          </a:stretch>
        </p:blipFill>
        <p:spPr>
          <a:xfrm>
            <a:off x="3911647" y="2802062"/>
            <a:ext cx="3901778" cy="3193057"/>
          </a:xfrm>
          <a:prstGeom prst="rect">
            <a:avLst/>
          </a:prstGeom>
        </p:spPr>
      </p:pic>
    </p:spTree>
    <p:extLst>
      <p:ext uri="{BB962C8B-B14F-4D97-AF65-F5344CB8AC3E}">
        <p14:creationId xmlns:p14="http://schemas.microsoft.com/office/powerpoint/2010/main" val="197056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48">
            <a:extLst>
              <a:ext uri="{FF2B5EF4-FFF2-40B4-BE49-F238E27FC236}">
                <a16:creationId xmlns:a16="http://schemas.microsoft.com/office/drawing/2014/main" id="{45E54AE1-54D3-470C-BDE7-35AD097FD9A0}"/>
              </a:ext>
            </a:extLst>
          </p:cNvPr>
          <p:cNvSpPr>
            <a:spLocks noGrp="1" noChangeArrowheads="1"/>
          </p:cNvSpPr>
          <p:nvPr>
            <p:ph type="title"/>
          </p:nvPr>
        </p:nvSpPr>
        <p:spPr>
          <a:xfrm>
            <a:off x="468313" y="947672"/>
            <a:ext cx="5616575" cy="647700"/>
          </a:xfrm>
        </p:spPr>
        <p:txBody>
          <a:bodyPr>
            <a:normAutofit/>
          </a:bodyPr>
          <a:lstStyle/>
          <a:p>
            <a:r>
              <a:rPr lang="en-US" altLang="zh-CN" sz="2800" dirty="0">
                <a:solidFill>
                  <a:schemeClr val="bg1"/>
                </a:solidFill>
              </a:rPr>
              <a:t>IS</a:t>
            </a:r>
            <a:r>
              <a:rPr lang="zh-CN" altLang="en-US" sz="2800" dirty="0">
                <a:solidFill>
                  <a:schemeClr val="bg1"/>
                </a:solidFill>
              </a:rPr>
              <a:t>垂直时货币政策完全失效</a:t>
            </a:r>
          </a:p>
        </p:txBody>
      </p:sp>
      <p:sp>
        <p:nvSpPr>
          <p:cNvPr id="5" name="Rectangle 150">
            <a:extLst>
              <a:ext uri="{FF2B5EF4-FFF2-40B4-BE49-F238E27FC236}">
                <a16:creationId xmlns:a16="http://schemas.microsoft.com/office/drawing/2014/main" id="{00594041-DC04-4278-99B3-8C118A7FC34C}"/>
              </a:ext>
            </a:extLst>
          </p:cNvPr>
          <p:cNvSpPr txBox="1">
            <a:spLocks noChangeArrowheads="1"/>
          </p:cNvSpPr>
          <p:nvPr/>
        </p:nvSpPr>
        <p:spPr>
          <a:xfrm>
            <a:off x="619024" y="2399153"/>
            <a:ext cx="2519362" cy="1727200"/>
          </a:xfrm>
          <a:prstGeom prst="rect">
            <a:avLst/>
          </a:prstGeom>
          <a:solidFill>
            <a:srgbClr val="C7A3DD"/>
          </a:solidFill>
          <a:ln>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即使货币政策能够改变利率，对收入仍没有作用。</a:t>
            </a:r>
          </a:p>
        </p:txBody>
      </p:sp>
      <p:pic>
        <p:nvPicPr>
          <p:cNvPr id="6" name="图片 5">
            <a:extLst>
              <a:ext uri="{FF2B5EF4-FFF2-40B4-BE49-F238E27FC236}">
                <a16:creationId xmlns:a16="http://schemas.microsoft.com/office/drawing/2014/main" id="{591F06EA-84A1-4191-BF16-EFB40496EE62}"/>
              </a:ext>
            </a:extLst>
          </p:cNvPr>
          <p:cNvPicPr>
            <a:picLocks noChangeAspect="1"/>
          </p:cNvPicPr>
          <p:nvPr/>
        </p:nvPicPr>
        <p:blipFill>
          <a:blip r:embed="rId2"/>
          <a:stretch>
            <a:fillRect/>
          </a:stretch>
        </p:blipFill>
        <p:spPr>
          <a:xfrm>
            <a:off x="3584451" y="1774154"/>
            <a:ext cx="4419983" cy="3932261"/>
          </a:xfrm>
          <a:prstGeom prst="rect">
            <a:avLst/>
          </a:prstGeom>
        </p:spPr>
      </p:pic>
    </p:spTree>
    <p:extLst>
      <p:ext uri="{BB962C8B-B14F-4D97-AF65-F5344CB8AC3E}">
        <p14:creationId xmlns:p14="http://schemas.microsoft.com/office/powerpoint/2010/main" val="967884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5DAB2CAA-870C-492D-AB7E-98D0CE910E22}"/>
              </a:ext>
            </a:extLst>
          </p:cNvPr>
          <p:cNvSpPr>
            <a:spLocks noGrp="1" noChangeArrowheads="1"/>
          </p:cNvSpPr>
          <p:nvPr>
            <p:ph type="title"/>
          </p:nvPr>
        </p:nvSpPr>
        <p:spPr>
          <a:xfrm>
            <a:off x="468313" y="587748"/>
            <a:ext cx="56165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古典主义的极端情况</a:t>
            </a:r>
          </a:p>
        </p:txBody>
      </p:sp>
      <p:sp>
        <p:nvSpPr>
          <p:cNvPr id="5" name="Rectangle 7">
            <a:extLst>
              <a:ext uri="{FF2B5EF4-FFF2-40B4-BE49-F238E27FC236}">
                <a16:creationId xmlns:a16="http://schemas.microsoft.com/office/drawing/2014/main" id="{9158040F-B444-48F6-9BBD-1E7EB9FACE63}"/>
              </a:ext>
            </a:extLst>
          </p:cNvPr>
          <p:cNvSpPr txBox="1">
            <a:spLocks noChangeArrowheads="1"/>
          </p:cNvSpPr>
          <p:nvPr/>
        </p:nvSpPr>
        <p:spPr>
          <a:xfrm>
            <a:off x="468313" y="1595810"/>
            <a:ext cx="8207375" cy="576263"/>
          </a:xfrm>
          <a:prstGeom prst="rect">
            <a:avLst/>
          </a:prstGeom>
          <a:noFill/>
          <a:ln w="3175" cmpd="sng">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dirty="0"/>
              <a:t>水平</a:t>
            </a:r>
            <a:r>
              <a:rPr lang="en-US" altLang="zh-CN" dirty="0"/>
              <a:t>IS</a:t>
            </a:r>
            <a:r>
              <a:rPr lang="zh-CN" altLang="en-US" dirty="0"/>
              <a:t>和垂直</a:t>
            </a:r>
            <a:r>
              <a:rPr lang="en-US" altLang="zh-CN" dirty="0"/>
              <a:t>LM</a:t>
            </a:r>
            <a:r>
              <a:rPr lang="zh-CN" altLang="en-US" dirty="0"/>
              <a:t>相交，是古典主义的极端情况。</a:t>
            </a:r>
          </a:p>
        </p:txBody>
      </p:sp>
      <p:sp>
        <p:nvSpPr>
          <p:cNvPr id="6" name="Rectangle 35">
            <a:extLst>
              <a:ext uri="{FF2B5EF4-FFF2-40B4-BE49-F238E27FC236}">
                <a16:creationId xmlns:a16="http://schemas.microsoft.com/office/drawing/2014/main" id="{B0906254-A17B-49AD-AF18-02FC5794245D}"/>
              </a:ext>
            </a:extLst>
          </p:cNvPr>
          <p:cNvSpPr>
            <a:spLocks noChangeArrowheads="1"/>
          </p:cNvSpPr>
          <p:nvPr/>
        </p:nvSpPr>
        <p:spPr bwMode="auto">
          <a:xfrm>
            <a:off x="468313" y="2314948"/>
            <a:ext cx="2808287" cy="3097212"/>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5125">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zh-CN" altLang="en-US"/>
              <a:t>货币政策十分有效</a:t>
            </a:r>
          </a:p>
          <a:p>
            <a:pPr>
              <a:lnSpc>
                <a:spcPct val="90000"/>
              </a:lnSpc>
            </a:pPr>
            <a:r>
              <a:rPr lang="en-US" altLang="zh-CN"/>
              <a:t>IS</a:t>
            </a:r>
            <a:r>
              <a:rPr lang="zh-CN" altLang="en-US"/>
              <a:t>水平，斜率为</a:t>
            </a:r>
            <a:r>
              <a:rPr lang="en-US" altLang="zh-CN"/>
              <a:t>0</a:t>
            </a:r>
            <a:r>
              <a:rPr lang="zh-CN" altLang="en-US"/>
              <a:t>，投资对利率很敏感；</a:t>
            </a:r>
          </a:p>
          <a:p>
            <a:pPr>
              <a:lnSpc>
                <a:spcPct val="90000"/>
              </a:lnSpc>
            </a:pPr>
            <a:r>
              <a:rPr lang="zh-CN" altLang="en-US"/>
              <a:t>货币供给增加使利率稍微下降，投资极大提高，国民收入增加。</a:t>
            </a:r>
          </a:p>
        </p:txBody>
      </p:sp>
      <p:sp>
        <p:nvSpPr>
          <p:cNvPr id="7" name="Rectangle 36">
            <a:extLst>
              <a:ext uri="{FF2B5EF4-FFF2-40B4-BE49-F238E27FC236}">
                <a16:creationId xmlns:a16="http://schemas.microsoft.com/office/drawing/2014/main" id="{F424C31E-B9FD-4404-8392-4A49CF61550A}"/>
              </a:ext>
            </a:extLst>
          </p:cNvPr>
          <p:cNvSpPr>
            <a:spLocks noChangeArrowheads="1"/>
          </p:cNvSpPr>
          <p:nvPr/>
        </p:nvSpPr>
        <p:spPr bwMode="auto">
          <a:xfrm>
            <a:off x="468313" y="5556623"/>
            <a:ext cx="2808287" cy="1109662"/>
          </a:xfrm>
          <a:prstGeom prst="rect">
            <a:avLst/>
          </a:prstGeom>
          <a:noFill/>
          <a:ln w="12700" cap="sq">
            <a:solidFill>
              <a:schemeClr val="tx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000" b="1"/>
              <a:t>收入增加所需货币正好等于新增货币供给。</a:t>
            </a:r>
          </a:p>
          <a:p>
            <a:pPr>
              <a:lnSpc>
                <a:spcPct val="110000"/>
              </a:lnSpc>
            </a:pPr>
            <a:r>
              <a:rPr lang="zh-CN" altLang="en-US" sz="2000" b="1"/>
              <a:t>利率维持在较高水平。</a:t>
            </a:r>
          </a:p>
        </p:txBody>
      </p:sp>
      <p:pic>
        <p:nvPicPr>
          <p:cNvPr id="8" name="图片 7">
            <a:extLst>
              <a:ext uri="{FF2B5EF4-FFF2-40B4-BE49-F238E27FC236}">
                <a16:creationId xmlns:a16="http://schemas.microsoft.com/office/drawing/2014/main" id="{C67DA7BD-641C-4370-963F-7A5EBC62EFEF}"/>
              </a:ext>
            </a:extLst>
          </p:cNvPr>
          <p:cNvPicPr>
            <a:picLocks noChangeAspect="1"/>
          </p:cNvPicPr>
          <p:nvPr/>
        </p:nvPicPr>
        <p:blipFill>
          <a:blip r:embed="rId4"/>
          <a:stretch>
            <a:fillRect/>
          </a:stretch>
        </p:blipFill>
        <p:spPr>
          <a:xfrm>
            <a:off x="3836563" y="2532435"/>
            <a:ext cx="4343776" cy="3604572"/>
          </a:xfrm>
          <a:prstGeom prst="rect">
            <a:avLst/>
          </a:prstGeom>
        </p:spPr>
      </p:pic>
    </p:spTree>
    <p:extLst>
      <p:ext uri="{BB962C8B-B14F-4D97-AF65-F5344CB8AC3E}">
        <p14:creationId xmlns:p14="http://schemas.microsoft.com/office/powerpoint/2010/main" val="3750660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1">
            <a:extLst>
              <a:ext uri="{FF2B5EF4-FFF2-40B4-BE49-F238E27FC236}">
                <a16:creationId xmlns:a16="http://schemas.microsoft.com/office/drawing/2014/main" id="{59AD56C5-8FCD-48BE-A543-333F2B5187DF}"/>
              </a:ext>
            </a:extLst>
          </p:cNvPr>
          <p:cNvSpPr>
            <a:spLocks noGrp="1" noChangeArrowheads="1"/>
          </p:cNvSpPr>
          <p:nvPr>
            <p:ph type="title"/>
          </p:nvPr>
        </p:nvSpPr>
        <p:spPr>
          <a:xfrm>
            <a:off x="468313" y="587748"/>
            <a:ext cx="5616575" cy="647700"/>
          </a:xfrm>
        </p:spPr>
        <p:txBody>
          <a:bodyPr>
            <a:normAutofit/>
          </a:bodyPr>
          <a:lstStyle/>
          <a:p>
            <a:r>
              <a:rPr lang="zh-CN" altLang="en-US" sz="2800" dirty="0"/>
              <a:t>财政政策完全无效</a:t>
            </a:r>
          </a:p>
        </p:txBody>
      </p:sp>
      <p:sp>
        <p:nvSpPr>
          <p:cNvPr id="5" name="Rectangle 125">
            <a:extLst>
              <a:ext uri="{FF2B5EF4-FFF2-40B4-BE49-F238E27FC236}">
                <a16:creationId xmlns:a16="http://schemas.microsoft.com/office/drawing/2014/main" id="{EFF198CE-40CE-4662-9AF8-9DD1C414A776}"/>
              </a:ext>
            </a:extLst>
          </p:cNvPr>
          <p:cNvSpPr txBox="1">
            <a:spLocks noChangeArrowheads="1"/>
          </p:cNvSpPr>
          <p:nvPr/>
        </p:nvSpPr>
        <p:spPr>
          <a:xfrm>
            <a:off x="468313" y="1667248"/>
            <a:ext cx="2519362" cy="3168650"/>
          </a:xfrm>
          <a:prstGeom prst="rect">
            <a:avLst/>
          </a:prstGeom>
          <a:noFill/>
          <a:ln w="3175">
            <a:solidFill>
              <a:schemeClr val="tx1"/>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zh-CN" dirty="0"/>
              <a:t>IS</a:t>
            </a:r>
            <a:r>
              <a:rPr lang="zh-CN" altLang="en-US" dirty="0"/>
              <a:t>水平，投资的利率系数无限大，利率微变，投资会大幅变化</a:t>
            </a:r>
          </a:p>
          <a:p>
            <a:pPr marL="0" indent="0"/>
            <a:r>
              <a:rPr lang="zh-CN" altLang="en-US" dirty="0"/>
              <a:t>利率上升，私人投资大幅减少，挤出效应完全。</a:t>
            </a:r>
          </a:p>
        </p:txBody>
      </p:sp>
      <p:sp>
        <p:nvSpPr>
          <p:cNvPr id="6" name="Rectangle 126">
            <a:extLst>
              <a:ext uri="{FF2B5EF4-FFF2-40B4-BE49-F238E27FC236}">
                <a16:creationId xmlns:a16="http://schemas.microsoft.com/office/drawing/2014/main" id="{5A9FAA63-801E-42D4-AA90-1F90B529E49F}"/>
              </a:ext>
            </a:extLst>
          </p:cNvPr>
          <p:cNvSpPr>
            <a:spLocks noChangeArrowheads="1"/>
          </p:cNvSpPr>
          <p:nvPr/>
        </p:nvSpPr>
        <p:spPr bwMode="auto">
          <a:xfrm>
            <a:off x="468313" y="5051798"/>
            <a:ext cx="2519362" cy="1655762"/>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dirty="0"/>
              <a:t>增加财政支出，收入增加，反使得利率升高。</a:t>
            </a:r>
          </a:p>
        </p:txBody>
      </p:sp>
      <p:pic>
        <p:nvPicPr>
          <p:cNvPr id="7" name="图片 6">
            <a:extLst>
              <a:ext uri="{FF2B5EF4-FFF2-40B4-BE49-F238E27FC236}">
                <a16:creationId xmlns:a16="http://schemas.microsoft.com/office/drawing/2014/main" id="{F3979515-974C-4E11-838C-13E90AB89B6E}"/>
              </a:ext>
            </a:extLst>
          </p:cNvPr>
          <p:cNvPicPr>
            <a:picLocks noChangeAspect="1"/>
          </p:cNvPicPr>
          <p:nvPr/>
        </p:nvPicPr>
        <p:blipFill>
          <a:blip r:embed="rId4"/>
          <a:stretch>
            <a:fillRect/>
          </a:stretch>
        </p:blipFill>
        <p:spPr>
          <a:xfrm>
            <a:off x="3596689" y="1596231"/>
            <a:ext cx="4473328" cy="3665538"/>
          </a:xfrm>
          <a:prstGeom prst="rect">
            <a:avLst/>
          </a:prstGeom>
        </p:spPr>
      </p:pic>
    </p:spTree>
    <p:extLst>
      <p:ext uri="{BB962C8B-B14F-4D97-AF65-F5344CB8AC3E}">
        <p14:creationId xmlns:p14="http://schemas.microsoft.com/office/powerpoint/2010/main" val="1836802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5846285-2887-4211-89F9-32CCF98263EA}"/>
              </a:ext>
            </a:extLst>
          </p:cNvPr>
          <p:cNvSpPr>
            <a:spLocks noGrp="1" noChangeArrowheads="1"/>
          </p:cNvSpPr>
          <p:nvPr>
            <p:ph type="title"/>
          </p:nvPr>
        </p:nvSpPr>
        <p:spPr>
          <a:xfrm>
            <a:off x="468313" y="480748"/>
            <a:ext cx="5616575" cy="647700"/>
          </a:xfrm>
        </p:spPr>
        <p:txBody>
          <a:bodyPr>
            <a:normAutofit/>
          </a:bodyPr>
          <a:lstStyle/>
          <a:p>
            <a:r>
              <a:rPr lang="zh-CN" altLang="en-US" sz="2800" dirty="0"/>
              <a:t>古典主义的观点</a:t>
            </a:r>
          </a:p>
        </p:txBody>
      </p:sp>
      <p:sp>
        <p:nvSpPr>
          <p:cNvPr id="5" name="Rectangle 4">
            <a:extLst>
              <a:ext uri="{FF2B5EF4-FFF2-40B4-BE49-F238E27FC236}">
                <a16:creationId xmlns:a16="http://schemas.microsoft.com/office/drawing/2014/main" id="{96FF79DA-3E1E-4D1A-856B-5030F765A02E}"/>
              </a:ext>
            </a:extLst>
          </p:cNvPr>
          <p:cNvSpPr txBox="1">
            <a:spLocks noChangeArrowheads="1"/>
          </p:cNvSpPr>
          <p:nvPr/>
        </p:nvSpPr>
        <p:spPr>
          <a:xfrm>
            <a:off x="468313" y="1488810"/>
            <a:ext cx="8135937" cy="1008063"/>
          </a:xfrm>
          <a:prstGeom prst="rect">
            <a:avLst/>
          </a:prstGeom>
          <a:noFill/>
          <a:ln w="3175">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古典主义认为，货币需求仅仅与产出水平有关，与利率没有关系，即货币需求的利率系数几乎为</a:t>
            </a:r>
            <a:r>
              <a:rPr lang="en-US" altLang="zh-CN" dirty="0"/>
              <a:t>0</a:t>
            </a:r>
            <a:r>
              <a:rPr lang="zh-CN" altLang="en-US" dirty="0"/>
              <a:t>，</a:t>
            </a:r>
            <a:r>
              <a:rPr lang="en-US" altLang="zh-CN" dirty="0"/>
              <a:t>LM</a:t>
            </a:r>
            <a:r>
              <a:rPr lang="zh-CN" altLang="en-US" dirty="0"/>
              <a:t>垂直。 </a:t>
            </a:r>
          </a:p>
        </p:txBody>
      </p:sp>
      <p:sp>
        <p:nvSpPr>
          <p:cNvPr id="6" name="Rectangle 37">
            <a:extLst>
              <a:ext uri="{FF2B5EF4-FFF2-40B4-BE49-F238E27FC236}">
                <a16:creationId xmlns:a16="http://schemas.microsoft.com/office/drawing/2014/main" id="{C2262861-5FD3-4091-BEF2-A41B47B67964}"/>
              </a:ext>
            </a:extLst>
          </p:cNvPr>
          <p:cNvSpPr>
            <a:spLocks noChangeArrowheads="1"/>
          </p:cNvSpPr>
          <p:nvPr/>
        </p:nvSpPr>
        <p:spPr bwMode="auto">
          <a:xfrm>
            <a:off x="468313" y="2641335"/>
            <a:ext cx="2663825" cy="3887788"/>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5125">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en-US" altLang="zh-CN"/>
              <a:t>LM</a:t>
            </a:r>
            <a:r>
              <a:rPr lang="zh-CN" altLang="en-US"/>
              <a:t>垂直，货币投机需求的利率系数 </a:t>
            </a:r>
            <a:r>
              <a:rPr lang="en-US" altLang="zh-CN"/>
              <a:t>h</a:t>
            </a:r>
            <a:r>
              <a:rPr lang="zh-CN" altLang="en-US"/>
              <a:t>＝</a:t>
            </a:r>
            <a:r>
              <a:rPr lang="en-US" altLang="zh-CN"/>
              <a:t>0</a:t>
            </a:r>
            <a:r>
              <a:rPr lang="zh-CN" altLang="en-US"/>
              <a:t>。利率高，持币成本高，证券价格低，且不再降。</a:t>
            </a:r>
          </a:p>
          <a:p>
            <a:pPr>
              <a:lnSpc>
                <a:spcPct val="90000"/>
              </a:lnSpc>
            </a:pPr>
            <a:r>
              <a:rPr lang="zh-CN" altLang="en-US"/>
              <a:t>政府通过向社会公众借钱增加支出，导致私人投资等量减少，挤出效应完全。</a:t>
            </a:r>
          </a:p>
        </p:txBody>
      </p:sp>
      <p:pic>
        <p:nvPicPr>
          <p:cNvPr id="7" name="图片 6">
            <a:extLst>
              <a:ext uri="{FF2B5EF4-FFF2-40B4-BE49-F238E27FC236}">
                <a16:creationId xmlns:a16="http://schemas.microsoft.com/office/drawing/2014/main" id="{29DCC8C5-03DC-4FCB-B525-E79E8911EE9F}"/>
              </a:ext>
            </a:extLst>
          </p:cNvPr>
          <p:cNvPicPr>
            <a:picLocks noChangeAspect="1"/>
          </p:cNvPicPr>
          <p:nvPr/>
        </p:nvPicPr>
        <p:blipFill>
          <a:blip r:embed="rId4"/>
          <a:stretch>
            <a:fillRect/>
          </a:stretch>
        </p:blipFill>
        <p:spPr>
          <a:xfrm>
            <a:off x="3423295" y="2734117"/>
            <a:ext cx="4450466" cy="3254022"/>
          </a:xfrm>
          <a:prstGeom prst="rect">
            <a:avLst/>
          </a:prstGeom>
        </p:spPr>
      </p:pic>
    </p:spTree>
    <p:extLst>
      <p:ext uri="{BB962C8B-B14F-4D97-AF65-F5344CB8AC3E}">
        <p14:creationId xmlns:p14="http://schemas.microsoft.com/office/powerpoint/2010/main" val="680775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0756927-A115-4370-9746-609D5AE8208A}"/>
              </a:ext>
            </a:extLst>
          </p:cNvPr>
          <p:cNvSpPr>
            <a:spLocks noGrp="1" noChangeArrowheads="1"/>
          </p:cNvSpPr>
          <p:nvPr>
            <p:ph type="title"/>
          </p:nvPr>
        </p:nvSpPr>
        <p:spPr>
          <a:xfrm>
            <a:off x="468313" y="664286"/>
            <a:ext cx="56165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两种政策的混合使用</a:t>
            </a:r>
          </a:p>
        </p:txBody>
      </p:sp>
      <p:sp>
        <p:nvSpPr>
          <p:cNvPr id="5" name="Rectangle 3">
            <a:extLst>
              <a:ext uri="{FF2B5EF4-FFF2-40B4-BE49-F238E27FC236}">
                <a16:creationId xmlns:a16="http://schemas.microsoft.com/office/drawing/2014/main" id="{DCA3E59C-5D71-40C4-8EF6-E67741171D5C}"/>
              </a:ext>
            </a:extLst>
          </p:cNvPr>
          <p:cNvSpPr txBox="1">
            <a:spLocks noChangeArrowheads="1"/>
          </p:cNvSpPr>
          <p:nvPr/>
        </p:nvSpPr>
        <p:spPr>
          <a:xfrm>
            <a:off x="468313" y="1458036"/>
            <a:ext cx="5688012" cy="647700"/>
          </a:xfrm>
          <a:prstGeom prst="rect">
            <a:avLst/>
          </a:prstGeom>
          <a:ln>
            <a:headEnd/>
            <a:tailEnd/>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n-US" altLang="zh-CN" dirty="0">
                <a:solidFill>
                  <a:schemeClr val="tx2"/>
                </a:solidFill>
                <a:latin typeface="黑体" panose="02010609060101010101" pitchFamily="49" charset="-122"/>
                <a:ea typeface="黑体" panose="02010609060101010101" pitchFamily="49" charset="-122"/>
              </a:rPr>
              <a:t>1</a:t>
            </a:r>
            <a:r>
              <a:rPr lang="zh-CN" altLang="en-US" sz="3200" dirty="0">
                <a:solidFill>
                  <a:schemeClr val="bg1"/>
                </a:solidFill>
              </a:rPr>
              <a:t>两种政策</a:t>
            </a:r>
            <a:r>
              <a:rPr lang="zh-CN" altLang="en-US" dirty="0">
                <a:solidFill>
                  <a:schemeClr val="tx2"/>
                </a:solidFill>
                <a:latin typeface="黑体" panose="02010609060101010101" pitchFamily="49" charset="-122"/>
                <a:ea typeface="黑体" panose="02010609060101010101" pitchFamily="49" charset="-122"/>
              </a:rPr>
              <a:t>混合使用的效果</a:t>
            </a:r>
          </a:p>
        </p:txBody>
      </p:sp>
      <p:sp>
        <p:nvSpPr>
          <p:cNvPr id="6" name="Rectangle 4">
            <a:extLst>
              <a:ext uri="{FF2B5EF4-FFF2-40B4-BE49-F238E27FC236}">
                <a16:creationId xmlns:a16="http://schemas.microsoft.com/office/drawing/2014/main" id="{603E9A78-56FD-4B10-9C4A-2CD9F5D5CFB3}"/>
              </a:ext>
            </a:extLst>
          </p:cNvPr>
          <p:cNvSpPr>
            <a:spLocks noChangeArrowheads="1"/>
          </p:cNvSpPr>
          <p:nvPr/>
        </p:nvSpPr>
        <p:spPr bwMode="auto">
          <a:xfrm>
            <a:off x="468313" y="2321636"/>
            <a:ext cx="3240087" cy="576262"/>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b="0" dirty="0">
                <a:latin typeface="黑体" panose="02010609060101010101" pitchFamily="49" charset="-122"/>
                <a:ea typeface="黑体" panose="02010609060101010101" pitchFamily="49" charset="-122"/>
              </a:rPr>
              <a:t>初始点</a:t>
            </a:r>
            <a:r>
              <a:rPr lang="en-US" altLang="zh-CN" b="0" dirty="0">
                <a:latin typeface="黑体" panose="02010609060101010101" pitchFamily="49" charset="-122"/>
                <a:ea typeface="黑体" panose="02010609060101010101" pitchFamily="49" charset="-122"/>
              </a:rPr>
              <a:t>E</a:t>
            </a:r>
            <a:r>
              <a:rPr lang="en-US" altLang="zh-CN" b="0" baseline="-4000" dirty="0">
                <a:latin typeface="黑体" panose="02010609060101010101" pitchFamily="49" charset="-122"/>
                <a:ea typeface="黑体" panose="02010609060101010101" pitchFamily="49" charset="-122"/>
              </a:rPr>
              <a:t>0</a:t>
            </a:r>
            <a:r>
              <a:rPr lang="en-US" altLang="zh-CN" b="0" dirty="0">
                <a:latin typeface="黑体" panose="02010609060101010101" pitchFamily="49" charset="-122"/>
                <a:ea typeface="黑体" panose="02010609060101010101" pitchFamily="49" charset="-122"/>
              </a:rPr>
              <a:t> </a:t>
            </a:r>
            <a:r>
              <a:rPr lang="zh-CN" altLang="en-US" b="0" dirty="0">
                <a:latin typeface="黑体" panose="02010609060101010101" pitchFamily="49" charset="-122"/>
                <a:ea typeface="黑体" panose="02010609060101010101" pitchFamily="49" charset="-122"/>
              </a:rPr>
              <a:t>，收入低</a:t>
            </a:r>
          </a:p>
        </p:txBody>
      </p:sp>
      <p:sp>
        <p:nvSpPr>
          <p:cNvPr id="7" name="Rectangle 154">
            <a:extLst>
              <a:ext uri="{FF2B5EF4-FFF2-40B4-BE49-F238E27FC236}">
                <a16:creationId xmlns:a16="http://schemas.microsoft.com/office/drawing/2014/main" id="{A4C36E64-E06A-4B15-833E-F9BF70304DEC}"/>
              </a:ext>
            </a:extLst>
          </p:cNvPr>
          <p:cNvSpPr>
            <a:spLocks noChangeArrowheads="1"/>
          </p:cNvSpPr>
          <p:nvPr/>
        </p:nvSpPr>
        <p:spPr bwMode="auto">
          <a:xfrm>
            <a:off x="468313" y="2970923"/>
            <a:ext cx="3240087" cy="1225550"/>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b="0" dirty="0">
                <a:latin typeface="黑体" panose="02010609060101010101" pitchFamily="49" charset="-122"/>
                <a:ea typeface="黑体" panose="02010609060101010101" pitchFamily="49" charset="-122"/>
              </a:rPr>
              <a:t>为克服萧条，达充分就业，实行扩张性财政政策，</a:t>
            </a:r>
            <a:r>
              <a:rPr lang="en-US" altLang="zh-CN" b="0" dirty="0">
                <a:latin typeface="黑体" panose="02010609060101010101" pitchFamily="49" charset="-122"/>
                <a:ea typeface="黑体" panose="02010609060101010101" pitchFamily="49" charset="-122"/>
              </a:rPr>
              <a:t>IS</a:t>
            </a:r>
            <a:r>
              <a:rPr lang="zh-CN" altLang="en-US" b="0" dirty="0">
                <a:latin typeface="黑体" panose="02010609060101010101" pitchFamily="49" charset="-122"/>
                <a:ea typeface="黑体" panose="02010609060101010101" pitchFamily="49" charset="-122"/>
              </a:rPr>
              <a:t>右移；</a:t>
            </a:r>
          </a:p>
        </p:txBody>
      </p:sp>
      <p:sp>
        <p:nvSpPr>
          <p:cNvPr id="8" name="Rectangle 155">
            <a:extLst>
              <a:ext uri="{FF2B5EF4-FFF2-40B4-BE49-F238E27FC236}">
                <a16:creationId xmlns:a16="http://schemas.microsoft.com/office/drawing/2014/main" id="{780401E4-31F6-4C63-AF0E-5CBAD8C88CF1}"/>
              </a:ext>
            </a:extLst>
          </p:cNvPr>
          <p:cNvSpPr>
            <a:spLocks noChangeArrowheads="1"/>
          </p:cNvSpPr>
          <p:nvPr/>
        </p:nvSpPr>
        <p:spPr bwMode="auto">
          <a:xfrm>
            <a:off x="468313" y="5275973"/>
            <a:ext cx="3240087" cy="1295400"/>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b="0">
                <a:latin typeface="黑体" panose="02010609060101010101" pitchFamily="49" charset="-122"/>
                <a:ea typeface="黑体" panose="02010609060101010101" pitchFamily="49" charset="-122"/>
              </a:rPr>
              <a:t>两种办法都可使收入增加。但会使利率大幅度变化。</a:t>
            </a:r>
          </a:p>
        </p:txBody>
      </p:sp>
      <p:sp>
        <p:nvSpPr>
          <p:cNvPr id="9" name="Rectangle 359">
            <a:extLst>
              <a:ext uri="{FF2B5EF4-FFF2-40B4-BE49-F238E27FC236}">
                <a16:creationId xmlns:a16="http://schemas.microsoft.com/office/drawing/2014/main" id="{BF5B2FE1-F0F1-40A0-B2F4-1508B930B1C4}"/>
              </a:ext>
            </a:extLst>
          </p:cNvPr>
          <p:cNvSpPr>
            <a:spLocks noChangeArrowheads="1"/>
          </p:cNvSpPr>
          <p:nvPr/>
        </p:nvSpPr>
        <p:spPr bwMode="auto">
          <a:xfrm>
            <a:off x="468313" y="4196473"/>
            <a:ext cx="3240087" cy="933450"/>
          </a:xfrm>
          <a:prstGeom prst="rect">
            <a:avLst/>
          </a:prstGeom>
          <a:noFill/>
          <a:ln w="3175" cap="sq" cmpd="tri">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b="0">
                <a:latin typeface="黑体" panose="02010609060101010101" pitchFamily="49" charset="-122"/>
                <a:ea typeface="黑体" panose="02010609060101010101" pitchFamily="49" charset="-122"/>
              </a:rPr>
              <a:t>实行扩张性货币政策，</a:t>
            </a:r>
            <a:r>
              <a:rPr lang="en-US" altLang="zh-CN" b="0">
                <a:latin typeface="黑体" panose="02010609060101010101" pitchFamily="49" charset="-122"/>
                <a:ea typeface="黑体" panose="02010609060101010101" pitchFamily="49" charset="-122"/>
              </a:rPr>
              <a:t>LM</a:t>
            </a:r>
            <a:r>
              <a:rPr lang="zh-CN" altLang="en-US" b="0">
                <a:latin typeface="黑体" panose="02010609060101010101" pitchFamily="49" charset="-122"/>
                <a:ea typeface="黑体" panose="02010609060101010101" pitchFamily="49" charset="-122"/>
              </a:rPr>
              <a:t>右移。</a:t>
            </a:r>
          </a:p>
        </p:txBody>
      </p:sp>
      <p:pic>
        <p:nvPicPr>
          <p:cNvPr id="10" name="图片 9">
            <a:extLst>
              <a:ext uri="{FF2B5EF4-FFF2-40B4-BE49-F238E27FC236}">
                <a16:creationId xmlns:a16="http://schemas.microsoft.com/office/drawing/2014/main" id="{17D12728-1895-4AB1-920F-8B9CD5AAB042}"/>
              </a:ext>
            </a:extLst>
          </p:cNvPr>
          <p:cNvPicPr>
            <a:picLocks noChangeAspect="1"/>
          </p:cNvPicPr>
          <p:nvPr/>
        </p:nvPicPr>
        <p:blipFill>
          <a:blip r:embed="rId4"/>
          <a:stretch>
            <a:fillRect/>
          </a:stretch>
        </p:blipFill>
        <p:spPr>
          <a:xfrm>
            <a:off x="3954771" y="2251786"/>
            <a:ext cx="3932261" cy="3353091"/>
          </a:xfrm>
          <a:prstGeom prst="rect">
            <a:avLst/>
          </a:prstGeom>
        </p:spPr>
      </p:pic>
    </p:spTree>
    <p:extLst>
      <p:ext uri="{BB962C8B-B14F-4D97-AF65-F5344CB8AC3E}">
        <p14:creationId xmlns:p14="http://schemas.microsoft.com/office/powerpoint/2010/main" val="4018082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76F6DF-8301-4102-84C3-F99B5B08AF28}"/>
              </a:ext>
            </a:extLst>
          </p:cNvPr>
          <p:cNvSpPr>
            <a:spLocks noChangeArrowheads="1"/>
          </p:cNvSpPr>
          <p:nvPr/>
        </p:nvSpPr>
        <p:spPr bwMode="auto">
          <a:xfrm>
            <a:off x="468313" y="5350451"/>
            <a:ext cx="3382962" cy="1295400"/>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en-US" altLang="zh-CN" b="0">
                <a:latin typeface="黑体" panose="02010609060101010101" pitchFamily="49" charset="-122"/>
                <a:ea typeface="黑体" panose="02010609060101010101" pitchFamily="49" charset="-122"/>
              </a:rPr>
              <a:t>IS</a:t>
            </a:r>
            <a:r>
              <a:rPr lang="zh-CN" altLang="en-US" b="0">
                <a:latin typeface="黑体" panose="02010609060101010101" pitchFamily="49" charset="-122"/>
                <a:ea typeface="黑体" panose="02010609060101010101" pitchFamily="49" charset="-122"/>
              </a:rPr>
              <a:t>和</a:t>
            </a:r>
            <a:r>
              <a:rPr lang="en-US" altLang="zh-CN" b="0">
                <a:latin typeface="黑体" panose="02010609060101010101" pitchFamily="49" charset="-122"/>
                <a:ea typeface="黑体" panose="02010609060101010101" pitchFamily="49" charset="-122"/>
              </a:rPr>
              <a:t>LM</a:t>
            </a:r>
            <a:r>
              <a:rPr lang="zh-CN" altLang="en-US" b="0">
                <a:latin typeface="黑体" panose="02010609060101010101" pitchFamily="49" charset="-122"/>
                <a:ea typeface="黑体" panose="02010609060101010101" pitchFamily="49" charset="-122"/>
              </a:rPr>
              <a:t>移动的幅度相同，产出增加时，利率不变。</a:t>
            </a:r>
          </a:p>
        </p:txBody>
      </p:sp>
      <p:sp>
        <p:nvSpPr>
          <p:cNvPr id="5" name="Rectangle 176">
            <a:extLst>
              <a:ext uri="{FF2B5EF4-FFF2-40B4-BE49-F238E27FC236}">
                <a16:creationId xmlns:a16="http://schemas.microsoft.com/office/drawing/2014/main" id="{C36C29A0-17AE-4E96-B3B2-62A269FC3EA1}"/>
              </a:ext>
            </a:extLst>
          </p:cNvPr>
          <p:cNvSpPr>
            <a:spLocks noGrp="1" noChangeArrowheads="1"/>
          </p:cNvSpPr>
          <p:nvPr>
            <p:ph type="title"/>
          </p:nvPr>
        </p:nvSpPr>
        <p:spPr>
          <a:xfrm>
            <a:off x="468313" y="597476"/>
            <a:ext cx="5616575" cy="647700"/>
          </a:xfrm>
        </p:spPr>
        <p:txBody>
          <a:bodyPr>
            <a:normAutofit/>
          </a:bodyPr>
          <a:lstStyle/>
          <a:p>
            <a:r>
              <a:rPr lang="zh-CN" altLang="en-US" sz="2800" dirty="0"/>
              <a:t>稳定利率的同时，增加收入</a:t>
            </a:r>
          </a:p>
        </p:txBody>
      </p:sp>
      <p:sp>
        <p:nvSpPr>
          <p:cNvPr id="6" name="Rectangle 178">
            <a:extLst>
              <a:ext uri="{FF2B5EF4-FFF2-40B4-BE49-F238E27FC236}">
                <a16:creationId xmlns:a16="http://schemas.microsoft.com/office/drawing/2014/main" id="{D8335463-0B0A-4145-B904-1AF7A8E7D5C1}"/>
              </a:ext>
            </a:extLst>
          </p:cNvPr>
          <p:cNvSpPr txBox="1">
            <a:spLocks noChangeArrowheads="1"/>
          </p:cNvSpPr>
          <p:nvPr/>
        </p:nvSpPr>
        <p:spPr>
          <a:xfrm>
            <a:off x="468313" y="1605538"/>
            <a:ext cx="8424862" cy="936625"/>
          </a:xfrm>
          <a:prstGeom prst="rect">
            <a:avLst/>
          </a:prstGeom>
          <a:noFill/>
          <a:ln w="3175" algn="ctr">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如果既想增加收入，又不使利率变动，可采用扩张性财政和货币政策相混合的办法。</a:t>
            </a:r>
          </a:p>
        </p:txBody>
      </p:sp>
      <p:sp>
        <p:nvSpPr>
          <p:cNvPr id="7" name="Rectangle 179">
            <a:extLst>
              <a:ext uri="{FF2B5EF4-FFF2-40B4-BE49-F238E27FC236}">
                <a16:creationId xmlns:a16="http://schemas.microsoft.com/office/drawing/2014/main" id="{3D250E62-6E2A-4A80-A61C-1F4FC700D144}"/>
              </a:ext>
            </a:extLst>
          </p:cNvPr>
          <p:cNvSpPr>
            <a:spLocks noChangeArrowheads="1"/>
          </p:cNvSpPr>
          <p:nvPr/>
        </p:nvSpPr>
        <p:spPr bwMode="auto">
          <a:xfrm>
            <a:off x="468313" y="2900938"/>
            <a:ext cx="3382962" cy="2016125"/>
          </a:xfrm>
          <a:prstGeom prst="rect">
            <a:avLst/>
          </a:prstGeom>
          <a:noFill/>
          <a:ln w="3175" cap="sq" cmpd="tri" algn="ctr">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a:t>扩张性财政政策，使利率上升，同时扩张性货币政策，使得利率保持原有水平，投资不被挤出。</a:t>
            </a:r>
          </a:p>
        </p:txBody>
      </p:sp>
      <p:pic>
        <p:nvPicPr>
          <p:cNvPr id="8" name="图片 7">
            <a:extLst>
              <a:ext uri="{FF2B5EF4-FFF2-40B4-BE49-F238E27FC236}">
                <a16:creationId xmlns:a16="http://schemas.microsoft.com/office/drawing/2014/main" id="{2962531B-729C-4F1D-BAF5-FA99952BFA47}"/>
              </a:ext>
            </a:extLst>
          </p:cNvPr>
          <p:cNvPicPr>
            <a:picLocks noChangeAspect="1"/>
          </p:cNvPicPr>
          <p:nvPr/>
        </p:nvPicPr>
        <p:blipFill>
          <a:blip r:embed="rId4"/>
          <a:stretch>
            <a:fillRect/>
          </a:stretch>
        </p:blipFill>
        <p:spPr>
          <a:xfrm>
            <a:off x="4099706" y="2737458"/>
            <a:ext cx="3970364" cy="3406435"/>
          </a:xfrm>
          <a:prstGeom prst="rect">
            <a:avLst/>
          </a:prstGeom>
        </p:spPr>
      </p:pic>
    </p:spTree>
    <p:extLst>
      <p:ext uri="{BB962C8B-B14F-4D97-AF65-F5344CB8AC3E}">
        <p14:creationId xmlns:p14="http://schemas.microsoft.com/office/powerpoint/2010/main" val="134879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blinds(horizontal)">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build="p"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D42A58DD-E160-4369-B5B0-7BC95975C1E5}"/>
              </a:ext>
            </a:extLst>
          </p:cNvPr>
          <p:cNvSpPr>
            <a:spLocks noChangeArrowheads="1"/>
          </p:cNvSpPr>
          <p:nvPr/>
        </p:nvSpPr>
        <p:spPr bwMode="auto">
          <a:xfrm>
            <a:off x="468313" y="2349500"/>
            <a:ext cx="8351837" cy="936625"/>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zh-CN" altLang="en-US"/>
              <a:t>试求：</a:t>
            </a:r>
          </a:p>
          <a:p>
            <a:pPr>
              <a:buFont typeface="Wingdings" panose="05000000000000000000" pitchFamily="2" charset="2"/>
              <a:buNone/>
            </a:pPr>
            <a:r>
              <a:rPr lang="zh-CN" altLang="en-US"/>
              <a:t>（</a:t>
            </a:r>
            <a:r>
              <a:rPr lang="en-US" altLang="zh-CN"/>
              <a:t>1</a:t>
            </a:r>
            <a:r>
              <a:rPr lang="zh-CN" altLang="en-US"/>
              <a:t>）</a:t>
            </a:r>
            <a:r>
              <a:rPr lang="en-US" altLang="zh-CN"/>
              <a:t>IS-LM</a:t>
            </a:r>
            <a:r>
              <a:rPr lang="zh-CN" altLang="en-US"/>
              <a:t>模型和均衡产出及利率，并作图进行分析。</a:t>
            </a:r>
          </a:p>
        </p:txBody>
      </p:sp>
      <p:sp>
        <p:nvSpPr>
          <p:cNvPr id="5" name="Rectangle 14">
            <a:extLst>
              <a:ext uri="{FF2B5EF4-FFF2-40B4-BE49-F238E27FC236}">
                <a16:creationId xmlns:a16="http://schemas.microsoft.com/office/drawing/2014/main" id="{C7428138-A555-4B26-BCE8-5D378CE7AFA2}"/>
              </a:ext>
            </a:extLst>
          </p:cNvPr>
          <p:cNvSpPr txBox="1">
            <a:spLocks noChangeArrowheads="1"/>
          </p:cNvSpPr>
          <p:nvPr/>
        </p:nvSpPr>
        <p:spPr>
          <a:xfrm>
            <a:off x="468313" y="1196975"/>
            <a:ext cx="8351837" cy="1008063"/>
          </a:xfrm>
          <a:prstGeom prst="rect">
            <a:avLst/>
          </a:prstGeom>
          <a:noFill/>
          <a:ln w="3175" cmpd="thickThin">
            <a:solidFill>
              <a:schemeClr val="tx1"/>
            </a:solidFill>
          </a:ln>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某宏观经济模型</a:t>
            </a:r>
            <a:r>
              <a:rPr lang="en-US" altLang="zh-CN"/>
              <a:t>( </a:t>
            </a:r>
            <a:r>
              <a:rPr lang="zh-CN" altLang="en-US"/>
              <a:t>单位：亿元 </a:t>
            </a:r>
            <a:r>
              <a:rPr lang="en-US" altLang="zh-CN"/>
              <a:t>) </a:t>
            </a:r>
            <a:r>
              <a:rPr lang="zh-CN" altLang="en-US"/>
              <a:t>：</a:t>
            </a:r>
          </a:p>
          <a:p>
            <a:r>
              <a:rPr lang="en-US" altLang="zh-CN"/>
              <a:t>c = 200 + 0.8y      i= 300 - 5r      L = 0.2y - 5r     m = 300</a:t>
            </a:r>
          </a:p>
        </p:txBody>
      </p:sp>
      <p:sp>
        <p:nvSpPr>
          <p:cNvPr id="7" name="Rectangle 10">
            <a:extLst>
              <a:ext uri="{FF2B5EF4-FFF2-40B4-BE49-F238E27FC236}">
                <a16:creationId xmlns:a16="http://schemas.microsoft.com/office/drawing/2014/main" id="{0302C4A7-7541-4DA1-9742-E6809701C213}"/>
              </a:ext>
            </a:extLst>
          </p:cNvPr>
          <p:cNvSpPr>
            <a:spLocks noChangeArrowheads="1"/>
          </p:cNvSpPr>
          <p:nvPr/>
        </p:nvSpPr>
        <p:spPr bwMode="auto">
          <a:xfrm>
            <a:off x="468313" y="3429000"/>
            <a:ext cx="8351837" cy="1295400"/>
          </a:xfrm>
          <a:prstGeom prst="rect">
            <a:avLst/>
          </a:prstGeom>
          <a:noFill/>
          <a:ln w="3175" cap="sq" cmpd="thickThin">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en-US" altLang="zh-CN"/>
              <a:t> </a:t>
            </a:r>
            <a:r>
              <a:rPr lang="zh-CN" altLang="en-US"/>
              <a:t>（</a:t>
            </a:r>
            <a:r>
              <a:rPr lang="en-US" altLang="zh-CN"/>
              <a:t>2</a:t>
            </a:r>
            <a:r>
              <a:rPr lang="zh-CN" altLang="en-US"/>
              <a:t>）若充分就业的收入水平为</a:t>
            </a:r>
            <a:r>
              <a:rPr lang="en-US" altLang="zh-CN"/>
              <a:t>2020</a:t>
            </a:r>
            <a:r>
              <a:rPr lang="zh-CN" altLang="en-US"/>
              <a:t>亿元，为实现充分就业，运用扩张的财政政策或货币政策，追加投资或货币供应分别为多少？</a:t>
            </a:r>
          </a:p>
        </p:txBody>
      </p:sp>
    </p:spTree>
    <p:extLst>
      <p:ext uri="{BB962C8B-B14F-4D97-AF65-F5344CB8AC3E}">
        <p14:creationId xmlns:p14="http://schemas.microsoft.com/office/powerpoint/2010/main" val="202858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blinds(horizontal)">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blinds(horizontal)">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4" fill="hold" grpId="1" nodeType="clickEffect">
                                  <p:stCondLst>
                                    <p:cond delay="0"/>
                                  </p:stCondLst>
                                  <p:childTnLst>
                                    <p:anim calcmode="lin" valueType="num">
                                      <p:cBhvr additive="base">
                                        <p:cTn id="26" dur="500"/>
                                        <p:tgtEl>
                                          <p:spTgt spid="4"/>
                                        </p:tgtEl>
                                        <p:attrNameLst>
                                          <p:attrName>ppt_x</p:attrName>
                                        </p:attrNameLst>
                                      </p:cBhvr>
                                      <p:tavLst>
                                        <p:tav tm="0">
                                          <p:val>
                                            <p:strVal val="ppt_x"/>
                                          </p:val>
                                        </p:tav>
                                        <p:tav tm="100000">
                                          <p:val>
                                            <p:strVal val="ppt_x"/>
                                          </p:val>
                                        </p:tav>
                                      </p:tavLst>
                                    </p:anim>
                                    <p:anim calcmode="lin" valueType="num">
                                      <p:cBhvr additive="base">
                                        <p:cTn id="27" dur="500"/>
                                        <p:tgtEl>
                                          <p:spTgt spid="4"/>
                                        </p:tgtEl>
                                        <p:attrNameLst>
                                          <p:attrName>ppt_y</p:attrName>
                                        </p:attrNameLst>
                                      </p:cBhvr>
                                      <p:tavLst>
                                        <p:tav tm="0">
                                          <p:val>
                                            <p:strVal val="ppt_y"/>
                                          </p:val>
                                        </p:tav>
                                        <p:tav tm="100000">
                                          <p:val>
                                            <p:strVal val="1+ppt_h/2"/>
                                          </p:val>
                                        </p:tav>
                                      </p:tavLst>
                                    </p:anim>
                                    <p:set>
                                      <p:cBhvr>
                                        <p:cTn id="28" dur="1" fill="hold">
                                          <p:stCondLst>
                                            <p:cond delay="499"/>
                                          </p:stCondLst>
                                        </p:cTn>
                                        <p:tgtEl>
                                          <p:spTgt spid="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linds(horizontal)">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6638B075-DF09-433F-8E18-C80B0A6D0FD3}"/>
              </a:ext>
            </a:extLst>
          </p:cNvPr>
          <p:cNvSpPr>
            <a:spLocks noChangeArrowheads="1"/>
          </p:cNvSpPr>
          <p:nvPr/>
        </p:nvSpPr>
        <p:spPr bwMode="auto">
          <a:xfrm>
            <a:off x="1265743" y="1302017"/>
            <a:ext cx="7777162" cy="2016125"/>
          </a:xfrm>
          <a:prstGeom prst="rect">
            <a:avLst/>
          </a:prstGeom>
          <a:solidFill>
            <a:srgbClr val="CCCC00"/>
          </a:solidFill>
          <a:ln w="57150" cap="sq" cmpd="thickThin">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Font typeface="Wingdings" panose="05000000000000000000" pitchFamily="2" charset="2"/>
              <a:buNone/>
            </a:pPr>
            <a:r>
              <a:rPr lang="zh-CN" altLang="en-US" b="0" dirty="0">
                <a:solidFill>
                  <a:srgbClr val="000000"/>
                </a:solidFill>
                <a:latin typeface="黑体" panose="02010609060101010101" pitchFamily="49" charset="-122"/>
                <a:ea typeface="黑体" panose="02010609060101010101" pitchFamily="49" charset="-122"/>
              </a:rPr>
              <a:t>（</a:t>
            </a:r>
            <a:r>
              <a:rPr lang="en-US" altLang="zh-CN" b="0" dirty="0">
                <a:solidFill>
                  <a:srgbClr val="000000"/>
                </a:solidFill>
                <a:latin typeface="黑体" panose="02010609060101010101" pitchFamily="49" charset="-122"/>
                <a:ea typeface="黑体" panose="02010609060101010101" pitchFamily="49" charset="-122"/>
              </a:rPr>
              <a:t>2</a:t>
            </a:r>
            <a:r>
              <a:rPr lang="zh-CN" altLang="en-US" b="0" dirty="0">
                <a:solidFill>
                  <a:srgbClr val="000000"/>
                </a:solidFill>
                <a:latin typeface="黑体" panose="02010609060101010101" pitchFamily="49" charset="-122"/>
                <a:ea typeface="黑体" panose="02010609060101010101" pitchFamily="49" charset="-122"/>
              </a:rPr>
              <a:t>）设扩张财政政策，政府追加投资为</a:t>
            </a:r>
            <a:r>
              <a:rPr lang="en-US" altLang="zh-CN" b="0" dirty="0">
                <a:solidFill>
                  <a:srgbClr val="000000"/>
                </a:solidFill>
                <a:latin typeface="黑体" panose="02010609060101010101" pitchFamily="49" charset="-122"/>
                <a:ea typeface="黑体" panose="02010609060101010101" pitchFamily="49" charset="-122"/>
              </a:rPr>
              <a:t>g</a:t>
            </a:r>
            <a:r>
              <a:rPr lang="zh-CN" altLang="en-US" b="0" dirty="0">
                <a:solidFill>
                  <a:srgbClr val="000000"/>
                </a:solidFill>
                <a:latin typeface="黑体" panose="02010609060101010101" pitchFamily="49" charset="-122"/>
                <a:ea typeface="黑体" panose="02010609060101010101" pitchFamily="49" charset="-122"/>
              </a:rPr>
              <a:t>，</a:t>
            </a:r>
          </a:p>
          <a:p>
            <a:pPr>
              <a:lnSpc>
                <a:spcPct val="90000"/>
              </a:lnSpc>
            </a:pPr>
            <a:r>
              <a:rPr lang="zh-CN" altLang="en-US" b="0" dirty="0">
                <a:solidFill>
                  <a:srgbClr val="000000"/>
                </a:solidFill>
                <a:latin typeface="黑体" panose="02010609060101010101" pitchFamily="49" charset="-122"/>
                <a:ea typeface="黑体" panose="02010609060101010101" pitchFamily="49" charset="-122"/>
              </a:rPr>
              <a:t>则</a:t>
            </a:r>
            <a:r>
              <a:rPr lang="en-US" altLang="zh-CN" b="0" dirty="0" err="1"/>
              <a:t>i</a:t>
            </a:r>
            <a:r>
              <a:rPr lang="en-US" altLang="zh-CN" b="0" dirty="0"/>
              <a:t>= 300 - 5r +g</a:t>
            </a:r>
            <a:r>
              <a:rPr lang="zh-CN" altLang="en-US" b="0" dirty="0">
                <a:solidFill>
                  <a:srgbClr val="000000"/>
                </a:solidFill>
                <a:latin typeface="黑体" panose="02010609060101010101" pitchFamily="49" charset="-122"/>
                <a:ea typeface="黑体" panose="02010609060101010101" pitchFamily="49" charset="-122"/>
              </a:rPr>
              <a:t>，</a:t>
            </a:r>
          </a:p>
          <a:p>
            <a:pPr>
              <a:lnSpc>
                <a:spcPct val="90000"/>
              </a:lnSpc>
            </a:pPr>
            <a:r>
              <a:rPr lang="zh-CN" altLang="en-US" b="0" dirty="0">
                <a:solidFill>
                  <a:srgbClr val="000000"/>
                </a:solidFill>
                <a:latin typeface="黑体" panose="02010609060101010101" pitchFamily="49" charset="-122"/>
                <a:ea typeface="黑体" panose="02010609060101010101" pitchFamily="49" charset="-122"/>
              </a:rPr>
              <a:t>新</a:t>
            </a:r>
            <a:r>
              <a:rPr lang="en-US" altLang="zh-CN" b="0" dirty="0">
                <a:solidFill>
                  <a:srgbClr val="000000"/>
                </a:solidFill>
                <a:latin typeface="黑体" panose="02010609060101010101" pitchFamily="49" charset="-122"/>
                <a:ea typeface="黑体" panose="02010609060101010101" pitchFamily="49" charset="-122"/>
              </a:rPr>
              <a:t>IS</a:t>
            </a:r>
            <a:r>
              <a:rPr lang="zh-CN" altLang="en-US" b="0" dirty="0">
                <a:solidFill>
                  <a:srgbClr val="000000"/>
                </a:solidFill>
                <a:latin typeface="黑体" panose="02010609060101010101" pitchFamily="49" charset="-122"/>
                <a:ea typeface="黑体" panose="02010609060101010101" pitchFamily="49" charset="-122"/>
              </a:rPr>
              <a:t>方程为 </a:t>
            </a:r>
            <a:r>
              <a:rPr lang="en-US" altLang="zh-CN" b="0" dirty="0">
                <a:solidFill>
                  <a:srgbClr val="000000"/>
                </a:solidFill>
                <a:latin typeface="黑体" panose="02010609060101010101" pitchFamily="49" charset="-122"/>
                <a:ea typeface="黑体" panose="02010609060101010101" pitchFamily="49" charset="-122"/>
              </a:rPr>
              <a:t>r = 100 + 0.2g - 0.04y</a:t>
            </a:r>
          </a:p>
          <a:p>
            <a:pPr>
              <a:lnSpc>
                <a:spcPct val="90000"/>
              </a:lnSpc>
            </a:pPr>
            <a:r>
              <a:rPr lang="zh-CN" altLang="en-US" b="0" dirty="0">
                <a:solidFill>
                  <a:srgbClr val="000000"/>
                </a:solidFill>
                <a:latin typeface="黑体" panose="02010609060101010101" pitchFamily="49" charset="-122"/>
                <a:ea typeface="黑体" panose="02010609060101010101" pitchFamily="49" charset="-122"/>
              </a:rPr>
              <a:t>联立方程 </a:t>
            </a:r>
            <a:r>
              <a:rPr lang="en-US" altLang="zh-CN" b="0" dirty="0">
                <a:solidFill>
                  <a:srgbClr val="000000"/>
                </a:solidFill>
                <a:latin typeface="黑体" panose="02010609060101010101" pitchFamily="49" charset="-122"/>
                <a:ea typeface="黑体" panose="02010609060101010101" pitchFamily="49" charset="-122"/>
              </a:rPr>
              <a:t>r</a:t>
            </a:r>
            <a:r>
              <a:rPr lang="zh-CN" altLang="en-US" b="0" dirty="0">
                <a:solidFill>
                  <a:srgbClr val="000000"/>
                </a:solidFill>
                <a:latin typeface="黑体" panose="02010609060101010101" pitchFamily="49" charset="-122"/>
                <a:ea typeface="黑体" panose="02010609060101010101" pitchFamily="49" charset="-122"/>
              </a:rPr>
              <a:t>＝</a:t>
            </a:r>
            <a:r>
              <a:rPr lang="en-US" altLang="zh-CN" b="0" dirty="0">
                <a:solidFill>
                  <a:srgbClr val="000000"/>
                </a:solidFill>
                <a:latin typeface="黑体" panose="02010609060101010101" pitchFamily="49" charset="-122"/>
                <a:ea typeface="黑体" panose="02010609060101010101" pitchFamily="49" charset="-122"/>
              </a:rPr>
              <a:t>100 + 0.2G - 0.04y, r</a:t>
            </a:r>
            <a:r>
              <a:rPr lang="zh-CN" altLang="en-US" b="0" dirty="0">
                <a:solidFill>
                  <a:srgbClr val="000000"/>
                </a:solidFill>
                <a:latin typeface="黑体" panose="02010609060101010101" pitchFamily="49" charset="-122"/>
                <a:ea typeface="黑体" panose="02010609060101010101" pitchFamily="49" charset="-122"/>
              </a:rPr>
              <a:t>＝</a:t>
            </a:r>
            <a:r>
              <a:rPr lang="en-US" altLang="zh-CN" b="0" dirty="0">
                <a:solidFill>
                  <a:srgbClr val="000000"/>
                </a:solidFill>
                <a:latin typeface="黑体" panose="02010609060101010101" pitchFamily="49" charset="-122"/>
                <a:ea typeface="黑体" panose="02010609060101010101" pitchFamily="49" charset="-122"/>
              </a:rPr>
              <a:t>- 60 + 0.04y</a:t>
            </a:r>
          </a:p>
          <a:p>
            <a:pPr>
              <a:lnSpc>
                <a:spcPct val="90000"/>
              </a:lnSpc>
            </a:pPr>
            <a:r>
              <a:rPr lang="zh-CN" altLang="en-US" b="0" dirty="0">
                <a:solidFill>
                  <a:srgbClr val="000000"/>
                </a:solidFill>
                <a:latin typeface="黑体" panose="02010609060101010101" pitchFamily="49" charset="-122"/>
                <a:ea typeface="黑体" panose="02010609060101010101" pitchFamily="49" charset="-122"/>
              </a:rPr>
              <a:t>求得</a:t>
            </a:r>
            <a:r>
              <a:rPr lang="en-US" altLang="zh-CN" b="0" dirty="0">
                <a:solidFill>
                  <a:srgbClr val="000000"/>
                </a:solidFill>
                <a:latin typeface="黑体" panose="02010609060101010101" pitchFamily="49" charset="-122"/>
                <a:ea typeface="黑体" panose="02010609060101010101" pitchFamily="49" charset="-122"/>
              </a:rPr>
              <a:t>y</a:t>
            </a:r>
            <a:r>
              <a:rPr lang="zh-CN" altLang="en-US" b="0" dirty="0">
                <a:solidFill>
                  <a:srgbClr val="000000"/>
                </a:solidFill>
                <a:latin typeface="黑体" panose="02010609060101010101" pitchFamily="49" charset="-122"/>
                <a:ea typeface="黑体" panose="02010609060101010101" pitchFamily="49" charset="-122"/>
              </a:rPr>
              <a:t>＝</a:t>
            </a:r>
            <a:r>
              <a:rPr lang="en-US" altLang="zh-CN" b="0" dirty="0">
                <a:solidFill>
                  <a:srgbClr val="000000"/>
                </a:solidFill>
                <a:latin typeface="黑体" panose="02010609060101010101" pitchFamily="49" charset="-122"/>
                <a:ea typeface="黑体" panose="02010609060101010101" pitchFamily="49" charset="-122"/>
              </a:rPr>
              <a:t>2000 + 2.5g</a:t>
            </a:r>
            <a:r>
              <a:rPr lang="zh-CN" altLang="en-US" b="0" dirty="0">
                <a:solidFill>
                  <a:srgbClr val="000000"/>
                </a:solidFill>
                <a:latin typeface="黑体" panose="02010609060101010101" pitchFamily="49" charset="-122"/>
                <a:ea typeface="黑体" panose="02010609060101010101" pitchFamily="49" charset="-122"/>
              </a:rPr>
              <a:t>。当</a:t>
            </a:r>
            <a:r>
              <a:rPr lang="en-US" altLang="zh-CN" b="0" dirty="0">
                <a:solidFill>
                  <a:srgbClr val="000000"/>
                </a:solidFill>
                <a:latin typeface="黑体" panose="02010609060101010101" pitchFamily="49" charset="-122"/>
                <a:ea typeface="黑体" panose="02010609060101010101" pitchFamily="49" charset="-122"/>
              </a:rPr>
              <a:t>y</a:t>
            </a:r>
            <a:r>
              <a:rPr lang="zh-CN" altLang="en-US" b="0" dirty="0">
                <a:solidFill>
                  <a:srgbClr val="000000"/>
                </a:solidFill>
                <a:latin typeface="黑体" panose="02010609060101010101" pitchFamily="49" charset="-122"/>
                <a:ea typeface="黑体" panose="02010609060101010101" pitchFamily="49" charset="-122"/>
              </a:rPr>
              <a:t>＝</a:t>
            </a:r>
            <a:r>
              <a:rPr lang="en-US" altLang="zh-CN" b="0" dirty="0">
                <a:solidFill>
                  <a:srgbClr val="000000"/>
                </a:solidFill>
                <a:latin typeface="黑体" panose="02010609060101010101" pitchFamily="49" charset="-122"/>
                <a:ea typeface="黑体" panose="02010609060101010101" pitchFamily="49" charset="-122"/>
              </a:rPr>
              <a:t>2020</a:t>
            </a:r>
            <a:r>
              <a:rPr lang="zh-CN" altLang="en-US" b="0" dirty="0">
                <a:solidFill>
                  <a:srgbClr val="000000"/>
                </a:solidFill>
                <a:latin typeface="黑体" panose="02010609060101010101" pitchFamily="49" charset="-122"/>
                <a:ea typeface="黑体" panose="02010609060101010101" pitchFamily="49" charset="-122"/>
              </a:rPr>
              <a:t>时，</a:t>
            </a:r>
            <a:r>
              <a:rPr lang="en-US" altLang="zh-CN" b="0" dirty="0">
                <a:solidFill>
                  <a:srgbClr val="000000"/>
                </a:solidFill>
                <a:latin typeface="黑体" panose="02010609060101010101" pitchFamily="49" charset="-122"/>
                <a:ea typeface="黑体" panose="02010609060101010101" pitchFamily="49" charset="-122"/>
              </a:rPr>
              <a:t>g</a:t>
            </a:r>
            <a:r>
              <a:rPr lang="zh-CN" altLang="en-US" b="0" dirty="0">
                <a:solidFill>
                  <a:srgbClr val="000000"/>
                </a:solidFill>
                <a:latin typeface="黑体" panose="02010609060101010101" pitchFamily="49" charset="-122"/>
                <a:ea typeface="黑体" panose="02010609060101010101" pitchFamily="49" charset="-122"/>
              </a:rPr>
              <a:t>＝</a:t>
            </a:r>
            <a:r>
              <a:rPr lang="en-US" altLang="zh-CN" b="0" dirty="0">
                <a:solidFill>
                  <a:srgbClr val="000000"/>
                </a:solidFill>
                <a:latin typeface="黑体" panose="02010609060101010101" pitchFamily="49" charset="-122"/>
                <a:ea typeface="黑体" panose="02010609060101010101" pitchFamily="49" charset="-122"/>
              </a:rPr>
              <a:t>8</a:t>
            </a:r>
            <a:r>
              <a:rPr lang="zh-CN" altLang="en-US" b="0" dirty="0">
                <a:solidFill>
                  <a:srgbClr val="000000"/>
                </a:solidFill>
                <a:latin typeface="黑体" panose="02010609060101010101" pitchFamily="49" charset="-122"/>
                <a:ea typeface="黑体" panose="02010609060101010101" pitchFamily="49" charset="-122"/>
              </a:rPr>
              <a:t>。</a:t>
            </a:r>
          </a:p>
        </p:txBody>
      </p:sp>
      <p:sp>
        <p:nvSpPr>
          <p:cNvPr id="5" name="Rectangle 16">
            <a:extLst>
              <a:ext uri="{FF2B5EF4-FFF2-40B4-BE49-F238E27FC236}">
                <a16:creationId xmlns:a16="http://schemas.microsoft.com/office/drawing/2014/main" id="{274F7A5F-0D7B-47EB-B7A0-AA1D3D57583F}"/>
              </a:ext>
            </a:extLst>
          </p:cNvPr>
          <p:cNvSpPr>
            <a:spLocks noChangeArrowheads="1"/>
          </p:cNvSpPr>
          <p:nvPr/>
        </p:nvSpPr>
        <p:spPr bwMode="auto">
          <a:xfrm>
            <a:off x="1265743" y="3539859"/>
            <a:ext cx="7777162" cy="1728787"/>
          </a:xfrm>
          <a:prstGeom prst="rect">
            <a:avLst/>
          </a:prstGeom>
          <a:solidFill>
            <a:srgbClr val="CCCC00"/>
          </a:solidFill>
          <a:ln w="57150" cap="sq" cmpd="thickThin">
            <a:solidFill>
              <a:schemeClr val="tx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b="0" dirty="0">
                <a:solidFill>
                  <a:srgbClr val="000000"/>
                </a:solidFill>
                <a:latin typeface="黑体" panose="02010609060101010101" pitchFamily="49" charset="-122"/>
                <a:ea typeface="黑体" panose="02010609060101010101" pitchFamily="49" charset="-122"/>
              </a:rPr>
              <a:t>设扩张货币政策，政府追加货币供应为</a:t>
            </a:r>
            <a:r>
              <a:rPr lang="en-US" altLang="zh-CN" b="0" dirty="0">
                <a:solidFill>
                  <a:srgbClr val="000000"/>
                </a:solidFill>
                <a:latin typeface="黑体" panose="02010609060101010101" pitchFamily="49" charset="-122"/>
                <a:ea typeface="黑体" panose="02010609060101010101" pitchFamily="49" charset="-122"/>
              </a:rPr>
              <a:t>M</a:t>
            </a:r>
            <a:r>
              <a:rPr lang="zh-CN" altLang="en-US" b="0" dirty="0">
                <a:solidFill>
                  <a:srgbClr val="000000"/>
                </a:solidFill>
                <a:latin typeface="黑体" panose="02010609060101010101" pitchFamily="49" charset="-122"/>
                <a:ea typeface="黑体" panose="02010609060101010101" pitchFamily="49" charset="-122"/>
              </a:rPr>
              <a:t>，</a:t>
            </a:r>
          </a:p>
          <a:p>
            <a:pPr>
              <a:lnSpc>
                <a:spcPct val="90000"/>
              </a:lnSpc>
            </a:pPr>
            <a:r>
              <a:rPr lang="zh-CN" altLang="en-US" b="0" dirty="0">
                <a:solidFill>
                  <a:srgbClr val="000000"/>
                </a:solidFill>
                <a:latin typeface="黑体" panose="02010609060101010101" pitchFamily="49" charset="-122"/>
                <a:ea typeface="黑体" panose="02010609060101010101" pitchFamily="49" charset="-122"/>
              </a:rPr>
              <a:t>则</a:t>
            </a:r>
            <a:r>
              <a:rPr lang="en-US" altLang="zh-CN" b="0" dirty="0">
                <a:solidFill>
                  <a:srgbClr val="000000"/>
                </a:solidFill>
                <a:latin typeface="黑体" panose="02010609060101010101" pitchFamily="49" charset="-122"/>
                <a:ea typeface="黑体" panose="02010609060101010101" pitchFamily="49" charset="-122"/>
              </a:rPr>
              <a:t>m</a:t>
            </a:r>
            <a:r>
              <a:rPr lang="zh-CN" altLang="en-US" b="0" dirty="0">
                <a:solidFill>
                  <a:srgbClr val="000000"/>
                </a:solidFill>
                <a:latin typeface="黑体" panose="02010609060101010101" pitchFamily="49" charset="-122"/>
                <a:ea typeface="黑体" panose="02010609060101010101" pitchFamily="49" charset="-122"/>
              </a:rPr>
              <a:t>＝</a:t>
            </a:r>
            <a:r>
              <a:rPr lang="en-US" altLang="zh-CN" b="0" dirty="0">
                <a:solidFill>
                  <a:srgbClr val="000000"/>
                </a:solidFill>
                <a:latin typeface="黑体" panose="02010609060101010101" pitchFamily="49" charset="-122"/>
                <a:ea typeface="黑体" panose="02010609060101010101" pitchFamily="49" charset="-122"/>
              </a:rPr>
              <a:t>300 + M</a:t>
            </a:r>
            <a:r>
              <a:rPr lang="zh-CN" altLang="en-US" b="0" dirty="0">
                <a:solidFill>
                  <a:srgbClr val="000000"/>
                </a:solidFill>
                <a:latin typeface="黑体" panose="02010609060101010101" pitchFamily="49" charset="-122"/>
                <a:ea typeface="黑体" panose="02010609060101010101" pitchFamily="49" charset="-122"/>
              </a:rPr>
              <a:t>，新</a:t>
            </a:r>
            <a:r>
              <a:rPr lang="en-US" altLang="zh-CN" b="0" dirty="0">
                <a:solidFill>
                  <a:srgbClr val="000000"/>
                </a:solidFill>
                <a:latin typeface="黑体" panose="02010609060101010101" pitchFamily="49" charset="-122"/>
                <a:ea typeface="黑体" panose="02010609060101010101" pitchFamily="49" charset="-122"/>
              </a:rPr>
              <a:t>LM</a:t>
            </a:r>
            <a:r>
              <a:rPr lang="zh-CN" altLang="en-US" b="0" dirty="0">
                <a:solidFill>
                  <a:srgbClr val="000000"/>
                </a:solidFill>
                <a:latin typeface="黑体" panose="02010609060101010101" pitchFamily="49" charset="-122"/>
                <a:ea typeface="黑体" panose="02010609060101010101" pitchFamily="49" charset="-122"/>
              </a:rPr>
              <a:t>方程为 </a:t>
            </a:r>
            <a:r>
              <a:rPr lang="en-US" altLang="zh-CN" b="0" dirty="0">
                <a:solidFill>
                  <a:srgbClr val="000000"/>
                </a:solidFill>
                <a:latin typeface="黑体" panose="02010609060101010101" pitchFamily="49" charset="-122"/>
                <a:ea typeface="黑体" panose="02010609060101010101" pitchFamily="49" charset="-122"/>
              </a:rPr>
              <a:t>r = -60 - 0.2M + 0.04y. </a:t>
            </a:r>
          </a:p>
          <a:p>
            <a:pPr>
              <a:lnSpc>
                <a:spcPct val="90000"/>
              </a:lnSpc>
            </a:pPr>
            <a:r>
              <a:rPr lang="zh-CN" altLang="en-US" b="0" dirty="0">
                <a:solidFill>
                  <a:srgbClr val="000000"/>
                </a:solidFill>
                <a:latin typeface="黑体" panose="02010609060101010101" pitchFamily="49" charset="-122"/>
                <a:ea typeface="黑体" panose="02010609060101010101" pitchFamily="49" charset="-122"/>
              </a:rPr>
              <a:t>联立方程</a:t>
            </a:r>
            <a:r>
              <a:rPr lang="en-US" altLang="zh-CN" b="0" dirty="0">
                <a:solidFill>
                  <a:srgbClr val="000000"/>
                </a:solidFill>
                <a:latin typeface="黑体" panose="02010609060101010101" pitchFamily="49" charset="-122"/>
                <a:ea typeface="黑体" panose="02010609060101010101" pitchFamily="49" charset="-122"/>
              </a:rPr>
              <a:t>r = 100 - 0.04y,r = - 60 - M + 0.04y</a:t>
            </a:r>
          </a:p>
          <a:p>
            <a:pPr>
              <a:lnSpc>
                <a:spcPct val="90000"/>
              </a:lnSpc>
            </a:pPr>
            <a:r>
              <a:rPr lang="zh-CN" altLang="en-US" b="0" dirty="0">
                <a:solidFill>
                  <a:srgbClr val="000000"/>
                </a:solidFill>
                <a:latin typeface="黑体" panose="02010609060101010101" pitchFamily="49" charset="-122"/>
                <a:ea typeface="黑体" panose="02010609060101010101" pitchFamily="49" charset="-122"/>
              </a:rPr>
              <a:t>求得</a:t>
            </a:r>
            <a:r>
              <a:rPr lang="en-US" altLang="zh-CN" b="0" dirty="0">
                <a:solidFill>
                  <a:srgbClr val="000000"/>
                </a:solidFill>
                <a:latin typeface="黑体" panose="02010609060101010101" pitchFamily="49" charset="-122"/>
                <a:ea typeface="黑体" panose="02010609060101010101" pitchFamily="49" charset="-122"/>
              </a:rPr>
              <a:t>y = 2000 + 2.5M</a:t>
            </a:r>
            <a:r>
              <a:rPr lang="zh-CN" altLang="en-US" b="0" dirty="0">
                <a:solidFill>
                  <a:srgbClr val="000000"/>
                </a:solidFill>
                <a:latin typeface="黑体" panose="02010609060101010101" pitchFamily="49" charset="-122"/>
                <a:ea typeface="黑体" panose="02010609060101010101" pitchFamily="49" charset="-122"/>
              </a:rPr>
              <a:t>。当</a:t>
            </a:r>
            <a:r>
              <a:rPr lang="en-US" altLang="zh-CN" b="0" dirty="0">
                <a:solidFill>
                  <a:srgbClr val="000000"/>
                </a:solidFill>
                <a:latin typeface="黑体" panose="02010609060101010101" pitchFamily="49" charset="-122"/>
                <a:ea typeface="黑体" panose="02010609060101010101" pitchFamily="49" charset="-122"/>
              </a:rPr>
              <a:t>y = 2020</a:t>
            </a:r>
            <a:r>
              <a:rPr lang="zh-CN" altLang="en-US" b="0" dirty="0">
                <a:solidFill>
                  <a:srgbClr val="000000"/>
                </a:solidFill>
                <a:latin typeface="黑体" panose="02010609060101010101" pitchFamily="49" charset="-122"/>
                <a:ea typeface="黑体" panose="02010609060101010101" pitchFamily="49" charset="-122"/>
              </a:rPr>
              <a:t>时，</a:t>
            </a:r>
            <a:r>
              <a:rPr lang="en-US" altLang="zh-CN" b="0" dirty="0">
                <a:solidFill>
                  <a:srgbClr val="000000"/>
                </a:solidFill>
                <a:latin typeface="黑体" panose="02010609060101010101" pitchFamily="49" charset="-122"/>
                <a:ea typeface="黑体" panose="02010609060101010101" pitchFamily="49" charset="-122"/>
              </a:rPr>
              <a:t>M = 8</a:t>
            </a:r>
            <a:r>
              <a:rPr lang="zh-CN" altLang="en-US" b="0" dirty="0">
                <a:solidFill>
                  <a:srgbClr val="000000"/>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90127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6">
            <a:extLst>
              <a:ext uri="{FF2B5EF4-FFF2-40B4-BE49-F238E27FC236}">
                <a16:creationId xmlns:a16="http://schemas.microsoft.com/office/drawing/2014/main" id="{C5FE0A3D-69E4-4C54-B97D-454DB2B99C5B}"/>
              </a:ext>
            </a:extLst>
          </p:cNvPr>
          <p:cNvSpPr>
            <a:spLocks noGrp="1" noChangeArrowheads="1"/>
          </p:cNvSpPr>
          <p:nvPr>
            <p:ph type="title"/>
          </p:nvPr>
        </p:nvSpPr>
        <p:spPr>
          <a:xfrm>
            <a:off x="409947" y="620713"/>
            <a:ext cx="5616575" cy="647700"/>
          </a:xfrm>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ormAutofit/>
          </a:bodyPr>
          <a:lstStyle/>
          <a:p>
            <a:r>
              <a:rPr lang="zh-CN" altLang="en-US" sz="2800" dirty="0"/>
              <a:t>混合使用的政策效应</a:t>
            </a:r>
          </a:p>
        </p:txBody>
      </p:sp>
      <p:sp>
        <p:nvSpPr>
          <p:cNvPr id="6" name="Rectangle 63">
            <a:extLst>
              <a:ext uri="{FF2B5EF4-FFF2-40B4-BE49-F238E27FC236}">
                <a16:creationId xmlns:a16="http://schemas.microsoft.com/office/drawing/2014/main" id="{9BA99BE8-A0D4-4DDA-9947-2A77203405F4}"/>
              </a:ext>
            </a:extLst>
          </p:cNvPr>
          <p:cNvSpPr txBox="1">
            <a:spLocks noChangeArrowheads="1"/>
          </p:cNvSpPr>
          <p:nvPr/>
        </p:nvSpPr>
        <p:spPr>
          <a:xfrm>
            <a:off x="4356100" y="1341438"/>
            <a:ext cx="4248150" cy="1223962"/>
          </a:xfrm>
          <a:prstGeom prst="rect">
            <a:avLst/>
          </a:prstGeom>
          <a:noFill/>
          <a:ln w="31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000" dirty="0">
                <a:latin typeface="宋体" panose="02010600030101010101" pitchFamily="2" charset="-122"/>
              </a:rPr>
              <a:t>Ⅰ</a:t>
            </a:r>
            <a:r>
              <a:rPr lang="zh-CN" altLang="en-US" sz="2000" dirty="0"/>
              <a:t>：经济萧条不太严重，扩张性财政政策刺激总需求，紧缩性货币政策控制通货膨胀。</a:t>
            </a:r>
          </a:p>
        </p:txBody>
      </p:sp>
      <p:sp>
        <p:nvSpPr>
          <p:cNvPr id="7" name="Rectangle 76">
            <a:extLst>
              <a:ext uri="{FF2B5EF4-FFF2-40B4-BE49-F238E27FC236}">
                <a16:creationId xmlns:a16="http://schemas.microsoft.com/office/drawing/2014/main" id="{40240019-CD99-44F1-922E-ACA4C6CD2ECA}"/>
              </a:ext>
            </a:extLst>
          </p:cNvPr>
          <p:cNvSpPr>
            <a:spLocks noChangeArrowheads="1"/>
          </p:cNvSpPr>
          <p:nvPr/>
        </p:nvSpPr>
        <p:spPr bwMode="auto">
          <a:xfrm>
            <a:off x="4356100" y="2636838"/>
            <a:ext cx="4248150" cy="1223962"/>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pPr>
            <a:r>
              <a:rPr lang="en-US" altLang="zh-CN" sz="2000">
                <a:latin typeface="宋体" panose="02010600030101010101" pitchFamily="2" charset="-122"/>
              </a:rPr>
              <a:t>Ⅱ</a:t>
            </a:r>
            <a:r>
              <a:rPr lang="zh-CN" altLang="en-US" sz="2000"/>
              <a:t>：严重通货膨胀，紧缩性货币提高利率，降低总需求。紧缩财政，以防止利率过高。</a:t>
            </a:r>
          </a:p>
        </p:txBody>
      </p:sp>
      <p:sp>
        <p:nvSpPr>
          <p:cNvPr id="8" name="Rectangle 77">
            <a:extLst>
              <a:ext uri="{FF2B5EF4-FFF2-40B4-BE49-F238E27FC236}">
                <a16:creationId xmlns:a16="http://schemas.microsoft.com/office/drawing/2014/main" id="{90D82F35-EA61-463D-ADBA-6C581E85F5BB}"/>
              </a:ext>
            </a:extLst>
          </p:cNvPr>
          <p:cNvSpPr>
            <a:spLocks noChangeArrowheads="1"/>
          </p:cNvSpPr>
          <p:nvPr/>
        </p:nvSpPr>
        <p:spPr bwMode="auto">
          <a:xfrm>
            <a:off x="4356100" y="3933825"/>
            <a:ext cx="4248150" cy="1223963"/>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pPr>
            <a:r>
              <a:rPr lang="en-US" altLang="zh-CN" sz="2000">
                <a:latin typeface="宋体" panose="02010600030101010101" pitchFamily="2" charset="-122"/>
              </a:rPr>
              <a:t>Ⅲ</a:t>
            </a:r>
            <a:r>
              <a:rPr lang="zh-CN" altLang="en-US" sz="2000"/>
              <a:t>：不严重的通货膨胀，紧缩性财政压缩总需求，扩张性货币降低利率，以免财政过度而衰退。</a:t>
            </a:r>
          </a:p>
        </p:txBody>
      </p:sp>
      <p:sp>
        <p:nvSpPr>
          <p:cNvPr id="9" name="Rectangle 78">
            <a:extLst>
              <a:ext uri="{FF2B5EF4-FFF2-40B4-BE49-F238E27FC236}">
                <a16:creationId xmlns:a16="http://schemas.microsoft.com/office/drawing/2014/main" id="{8015367E-5D05-4A30-B7C9-B7FA47F79DAE}"/>
              </a:ext>
            </a:extLst>
          </p:cNvPr>
          <p:cNvSpPr>
            <a:spLocks noChangeArrowheads="1"/>
          </p:cNvSpPr>
          <p:nvPr/>
        </p:nvSpPr>
        <p:spPr bwMode="auto">
          <a:xfrm>
            <a:off x="4356100" y="5229225"/>
            <a:ext cx="4248150" cy="1150938"/>
          </a:xfrm>
          <a:prstGeom prst="rect">
            <a:avLst/>
          </a:prstGeom>
          <a:noFill/>
          <a:ln w="3175" cap="sq" cmpd="tri">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10000"/>
              </a:lnSpc>
            </a:pPr>
            <a:r>
              <a:rPr lang="en-US" altLang="zh-CN" sz="2000">
                <a:latin typeface="宋体" panose="02010600030101010101" pitchFamily="2" charset="-122"/>
              </a:rPr>
              <a:t>Ⅳ</a:t>
            </a:r>
            <a:r>
              <a:rPr lang="zh-CN" altLang="en-US" sz="2000"/>
              <a:t>：经济严重萧条，膨胀性财政增加总需求，扩张性货币降低利率。</a:t>
            </a:r>
          </a:p>
        </p:txBody>
      </p:sp>
      <p:pic>
        <p:nvPicPr>
          <p:cNvPr id="10" name="图片 9">
            <a:extLst>
              <a:ext uri="{FF2B5EF4-FFF2-40B4-BE49-F238E27FC236}">
                <a16:creationId xmlns:a16="http://schemas.microsoft.com/office/drawing/2014/main" id="{EAC103E8-4850-4ECA-8655-D54E7B8135F2}"/>
              </a:ext>
            </a:extLst>
          </p:cNvPr>
          <p:cNvPicPr>
            <a:picLocks noChangeAspect="1"/>
          </p:cNvPicPr>
          <p:nvPr/>
        </p:nvPicPr>
        <p:blipFill>
          <a:blip r:embed="rId4"/>
          <a:stretch>
            <a:fillRect/>
          </a:stretch>
        </p:blipFill>
        <p:spPr>
          <a:xfrm>
            <a:off x="330740" y="1341438"/>
            <a:ext cx="3685943" cy="5209587"/>
          </a:xfrm>
          <a:prstGeom prst="rect">
            <a:avLst/>
          </a:prstGeom>
        </p:spPr>
      </p:pic>
    </p:spTree>
    <p:extLst>
      <p:ext uri="{BB962C8B-B14F-4D97-AF65-F5344CB8AC3E}">
        <p14:creationId xmlns:p14="http://schemas.microsoft.com/office/powerpoint/2010/main" val="2747617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43735248-B157-41E2-BD0D-31790D5633CE}"/>
              </a:ext>
            </a:extLst>
          </p:cNvPr>
          <p:cNvSpPr>
            <a:spLocks noGrp="1" noChangeArrowheads="1"/>
          </p:cNvSpPr>
          <p:nvPr>
            <p:ph type="title"/>
          </p:nvPr>
        </p:nvSpPr>
        <p:spPr>
          <a:xfrm>
            <a:off x="468313" y="504489"/>
            <a:ext cx="5832475" cy="647700"/>
          </a:xfrm>
          <a:noFill/>
          <a:ln w="3175">
            <a:noFill/>
          </a:ln>
        </p:spPr>
        <p:txBody>
          <a:bodyPr>
            <a:normAutofit fontScale="90000"/>
          </a:bodyPr>
          <a:lstStyle/>
          <a:p>
            <a:r>
              <a:rPr lang="zh-CN" altLang="en-US" sz="3600" b="0" dirty="0"/>
              <a:t>自动</a:t>
            </a:r>
            <a:r>
              <a:rPr lang="zh-CN" altLang="en-US" b="0" dirty="0">
                <a:solidFill>
                  <a:schemeClr val="tx1"/>
                </a:solidFill>
              </a:rPr>
              <a:t>（内在）</a:t>
            </a:r>
            <a:r>
              <a:rPr lang="zh-CN" altLang="en-US" sz="3600" b="0" dirty="0"/>
              <a:t>稳定器  </a:t>
            </a:r>
            <a:r>
              <a:rPr lang="zh-CN" altLang="en-US" sz="2800" b="0" dirty="0">
                <a:solidFill>
                  <a:schemeClr val="tx1"/>
                </a:solidFill>
              </a:rPr>
              <a:t> </a:t>
            </a:r>
          </a:p>
        </p:txBody>
      </p:sp>
      <p:sp>
        <p:nvSpPr>
          <p:cNvPr id="5" name="Rectangle 9">
            <a:extLst>
              <a:ext uri="{FF2B5EF4-FFF2-40B4-BE49-F238E27FC236}">
                <a16:creationId xmlns:a16="http://schemas.microsoft.com/office/drawing/2014/main" id="{2588A7B2-A8F3-428F-BBBF-C843A9F63B54}"/>
              </a:ext>
            </a:extLst>
          </p:cNvPr>
          <p:cNvSpPr txBox="1">
            <a:spLocks noChangeArrowheads="1"/>
          </p:cNvSpPr>
          <p:nvPr/>
        </p:nvSpPr>
        <p:spPr>
          <a:xfrm>
            <a:off x="468313" y="1404601"/>
            <a:ext cx="6048375" cy="1584325"/>
          </a:xfrm>
          <a:prstGeom prst="rect">
            <a:avLst/>
          </a:prstGeom>
          <a:noFill/>
          <a:ln w="3175" cmpd="sng">
            <a:solidFill>
              <a:schemeClr val="tx1"/>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dirty="0"/>
              <a:t>自动稳定器  </a:t>
            </a:r>
            <a:r>
              <a:rPr lang="en-US" altLang="zh-CN" dirty="0">
                <a:solidFill>
                  <a:schemeClr val="bg1"/>
                </a:solidFill>
              </a:rPr>
              <a:t>Automatic stabilizers</a:t>
            </a:r>
            <a:r>
              <a:rPr lang="zh-CN" altLang="en-US" dirty="0">
                <a:solidFill>
                  <a:schemeClr val="bg1"/>
                </a:solidFill>
              </a:rPr>
              <a:t>：</a:t>
            </a:r>
          </a:p>
          <a:p>
            <a:pPr>
              <a:buClr>
                <a:schemeClr val="hlink"/>
              </a:buClr>
              <a:buSzPct val="95000"/>
              <a:buFont typeface="Wingdings" panose="05000000000000000000" pitchFamily="2" charset="2"/>
              <a:buChar char="u"/>
            </a:pPr>
            <a:r>
              <a:rPr lang="zh-CN" altLang="en-US" dirty="0"/>
              <a:t>财政政策本身具有一种自动调节经济、减少经济波动的机制，在繁荣时自动抑制通胀，萧条时自动增加需求。</a:t>
            </a:r>
          </a:p>
        </p:txBody>
      </p:sp>
      <p:sp>
        <p:nvSpPr>
          <p:cNvPr id="6" name="Rectangle 10">
            <a:extLst>
              <a:ext uri="{FF2B5EF4-FFF2-40B4-BE49-F238E27FC236}">
                <a16:creationId xmlns:a16="http://schemas.microsoft.com/office/drawing/2014/main" id="{0B9ABE7C-26DF-4B6C-8DAE-D67E76547A93}"/>
              </a:ext>
            </a:extLst>
          </p:cNvPr>
          <p:cNvSpPr>
            <a:spLocks noChangeArrowheads="1"/>
          </p:cNvSpPr>
          <p:nvPr/>
        </p:nvSpPr>
        <p:spPr bwMode="auto">
          <a:xfrm>
            <a:off x="468313" y="3133388"/>
            <a:ext cx="1727200" cy="863600"/>
          </a:xfrm>
          <a:prstGeom prst="rect">
            <a:avLst/>
          </a:prstGeom>
          <a:noFill/>
          <a:ln w="3175" cap="sq" cmpd="thinThick">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Font typeface="Wingdings" panose="05000000000000000000" pitchFamily="2" charset="2"/>
              <a:buNone/>
            </a:pPr>
            <a:r>
              <a:rPr lang="zh-CN" altLang="en-US"/>
              <a:t>（</a:t>
            </a:r>
            <a:r>
              <a:rPr lang="en-US" altLang="zh-CN"/>
              <a:t>1</a:t>
            </a:r>
            <a:r>
              <a:rPr lang="zh-CN" altLang="en-US"/>
              <a:t>）税收自动变化</a:t>
            </a:r>
          </a:p>
        </p:txBody>
      </p:sp>
      <p:sp>
        <p:nvSpPr>
          <p:cNvPr id="7" name="Rectangle 11">
            <a:extLst>
              <a:ext uri="{FF2B5EF4-FFF2-40B4-BE49-F238E27FC236}">
                <a16:creationId xmlns:a16="http://schemas.microsoft.com/office/drawing/2014/main" id="{EEF4A2C0-2AAB-47BC-BC62-F1868528967A}"/>
              </a:ext>
            </a:extLst>
          </p:cNvPr>
          <p:cNvSpPr>
            <a:spLocks noChangeArrowheads="1"/>
          </p:cNvSpPr>
          <p:nvPr/>
        </p:nvSpPr>
        <p:spPr bwMode="auto">
          <a:xfrm>
            <a:off x="468313" y="4501813"/>
            <a:ext cx="1727200" cy="1223963"/>
          </a:xfrm>
          <a:prstGeom prst="rect">
            <a:avLst/>
          </a:prstGeom>
          <a:noFill/>
          <a:ln w="3175" cap="sq" cmpd="thinThick">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zh-CN" altLang="en-US" dirty="0">
                <a:solidFill>
                  <a:schemeClr val="bg1"/>
                </a:solidFill>
                <a:latin typeface="黑体" panose="02010609060101010101" pitchFamily="49" charset="-122"/>
                <a:ea typeface="黑体" panose="02010609060101010101" pitchFamily="49" charset="-122"/>
              </a:rPr>
              <a:t>（</a:t>
            </a:r>
            <a:r>
              <a:rPr lang="en-US" altLang="zh-CN" dirty="0">
                <a:solidFill>
                  <a:schemeClr val="bg1"/>
                </a:solidFill>
                <a:latin typeface="黑体" panose="02010609060101010101" pitchFamily="49" charset="-122"/>
                <a:ea typeface="黑体" panose="02010609060101010101" pitchFamily="49" charset="-122"/>
              </a:rPr>
              <a:t>2</a:t>
            </a:r>
            <a:r>
              <a:rPr lang="zh-CN" altLang="en-US" dirty="0">
                <a:solidFill>
                  <a:schemeClr val="bg1"/>
                </a:solidFill>
                <a:latin typeface="黑体" panose="02010609060101010101" pitchFamily="49" charset="-122"/>
                <a:ea typeface="黑体" panose="02010609060101010101" pitchFamily="49" charset="-122"/>
              </a:rPr>
              <a:t>）转移支付自动变化</a:t>
            </a:r>
          </a:p>
        </p:txBody>
      </p:sp>
      <p:sp>
        <p:nvSpPr>
          <p:cNvPr id="8" name="Rectangle 12">
            <a:extLst>
              <a:ext uri="{FF2B5EF4-FFF2-40B4-BE49-F238E27FC236}">
                <a16:creationId xmlns:a16="http://schemas.microsoft.com/office/drawing/2014/main" id="{6E044E5A-1A37-44AE-84E0-221B4D5579EC}"/>
              </a:ext>
            </a:extLst>
          </p:cNvPr>
          <p:cNvSpPr>
            <a:spLocks noChangeArrowheads="1"/>
          </p:cNvSpPr>
          <p:nvPr/>
        </p:nvSpPr>
        <p:spPr bwMode="auto">
          <a:xfrm>
            <a:off x="468313" y="5870238"/>
            <a:ext cx="8351837" cy="576263"/>
          </a:xfrm>
          <a:prstGeom prst="rect">
            <a:avLst/>
          </a:prstGeom>
          <a:noFill/>
          <a:ln w="3175" cap="sq" cmpd="thinThick">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）农产品价格维持制度。</a:t>
            </a:r>
            <a:r>
              <a:rPr lang="zh-CN" altLang="en-US" sz="2000" b="0" dirty="0">
                <a:solidFill>
                  <a:schemeClr val="bg1"/>
                </a:solidFill>
                <a:latin typeface="黑体" panose="02010609060101010101" pitchFamily="49" charset="-122"/>
                <a:ea typeface="黑体" panose="02010609060101010101" pitchFamily="49" charset="-122"/>
              </a:rPr>
              <a:t>农产品价格保护支出的自动变化。</a:t>
            </a:r>
          </a:p>
        </p:txBody>
      </p:sp>
      <p:sp>
        <p:nvSpPr>
          <p:cNvPr id="9" name="AutoShape 13">
            <a:extLst>
              <a:ext uri="{FF2B5EF4-FFF2-40B4-BE49-F238E27FC236}">
                <a16:creationId xmlns:a16="http://schemas.microsoft.com/office/drawing/2014/main" id="{D22DFB85-A65E-4A06-9506-AE4957C0A80E}"/>
              </a:ext>
            </a:extLst>
          </p:cNvPr>
          <p:cNvSpPr>
            <a:spLocks noChangeArrowheads="1"/>
          </p:cNvSpPr>
          <p:nvPr/>
        </p:nvSpPr>
        <p:spPr bwMode="auto">
          <a:xfrm>
            <a:off x="6659563" y="1404601"/>
            <a:ext cx="2160587" cy="1296987"/>
          </a:xfrm>
          <a:prstGeom prst="wedgeRoundRectCallout">
            <a:avLst>
              <a:gd name="adj1" fmla="val -56833"/>
              <a:gd name="adj2" fmla="val 2264"/>
              <a:gd name="adj3" fmla="val 16667"/>
            </a:avLst>
          </a:prstGeom>
          <a:noFill/>
          <a:ln w="3175"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90000"/>
              </a:lnSpc>
              <a:spcBef>
                <a:spcPct val="20000"/>
              </a:spcBef>
              <a:buClr>
                <a:schemeClr val="tx2"/>
              </a:buClr>
              <a:buFont typeface="Wingdings" panose="05000000000000000000" pitchFamily="2" charset="2"/>
              <a:buBlip>
                <a:blip r:embed="rId2"/>
              </a:buBlip>
            </a:pPr>
            <a:r>
              <a:rPr lang="zh-CN" altLang="en-US" sz="2000"/>
              <a:t>调节经济波动的第一道防线，适用于轻微经济波动。</a:t>
            </a:r>
          </a:p>
        </p:txBody>
      </p:sp>
      <p:sp>
        <p:nvSpPr>
          <p:cNvPr id="10" name="Rectangle 14">
            <a:extLst>
              <a:ext uri="{FF2B5EF4-FFF2-40B4-BE49-F238E27FC236}">
                <a16:creationId xmlns:a16="http://schemas.microsoft.com/office/drawing/2014/main" id="{D89647CF-747E-48DF-9FB2-4F36A4D59B1A}"/>
              </a:ext>
            </a:extLst>
          </p:cNvPr>
          <p:cNvSpPr>
            <a:spLocks noChangeArrowheads="1"/>
          </p:cNvSpPr>
          <p:nvPr/>
        </p:nvSpPr>
        <p:spPr bwMode="auto">
          <a:xfrm>
            <a:off x="2339975" y="3133388"/>
            <a:ext cx="6480175" cy="1655763"/>
          </a:xfrm>
          <a:prstGeom prst="rect">
            <a:avLst/>
          </a:prstGeom>
          <a:noFill/>
          <a:ln w="3175" cap="sq" cmpd="thinThick">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sz="2000"/>
              <a:t>衰退时，产出下降，个人收入下降，税率不变，税收会自动减少，可支配收入会自动少减少一些，使得消费和需求下降的少些。</a:t>
            </a:r>
          </a:p>
          <a:p>
            <a:pPr>
              <a:lnSpc>
                <a:spcPct val="90000"/>
              </a:lnSpc>
            </a:pPr>
            <a:r>
              <a:rPr lang="zh-CN" altLang="en-US" sz="2000"/>
              <a:t>累进所得税，衰退使得收入自动进入较低纳税档次，税收下降幅度超过收入下降幅度。反之，如此。</a:t>
            </a:r>
          </a:p>
        </p:txBody>
      </p:sp>
      <p:sp>
        <p:nvSpPr>
          <p:cNvPr id="11" name="Rectangle 15">
            <a:extLst>
              <a:ext uri="{FF2B5EF4-FFF2-40B4-BE49-F238E27FC236}">
                <a16:creationId xmlns:a16="http://schemas.microsoft.com/office/drawing/2014/main" id="{4EB968F4-C61F-48A8-BD3E-5C1E05235914}"/>
              </a:ext>
            </a:extLst>
          </p:cNvPr>
          <p:cNvSpPr>
            <a:spLocks noChangeArrowheads="1"/>
          </p:cNvSpPr>
          <p:nvPr/>
        </p:nvSpPr>
        <p:spPr bwMode="auto">
          <a:xfrm>
            <a:off x="2339975" y="4860588"/>
            <a:ext cx="6480175" cy="865188"/>
          </a:xfrm>
          <a:prstGeom prst="rect">
            <a:avLst/>
          </a:prstGeom>
          <a:noFill/>
          <a:ln w="3175" cap="sq" cmpd="thinThick">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000">
                <a:latin typeface="黑体" panose="02010609060101010101" pitchFamily="49" charset="-122"/>
                <a:ea typeface="黑体" panose="02010609060101010101" pitchFamily="49" charset="-122"/>
              </a:rPr>
              <a:t>衰退时，失业增加，符合救济条件的人增加，社会转移支付增加，抑制可支配收入下降，抑制需求下降。</a:t>
            </a:r>
          </a:p>
        </p:txBody>
      </p:sp>
    </p:spTree>
    <p:extLst>
      <p:ext uri="{BB962C8B-B14F-4D97-AF65-F5344CB8AC3E}">
        <p14:creationId xmlns:p14="http://schemas.microsoft.com/office/powerpoint/2010/main" val="654246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B0E05A8B-4B8F-4C80-A1B4-64FB38605476}"/>
              </a:ext>
            </a:extLst>
          </p:cNvPr>
          <p:cNvSpPr txBox="1">
            <a:spLocks noChangeArrowheads="1"/>
          </p:cNvSpPr>
          <p:nvPr/>
        </p:nvSpPr>
        <p:spPr>
          <a:xfrm>
            <a:off x="439131" y="1745069"/>
            <a:ext cx="8135937" cy="1223962"/>
          </a:xfrm>
          <a:prstGeom prst="rect">
            <a:avLst/>
          </a:prstGeom>
          <a:ln cmpd="sng">
            <a:solidFill>
              <a:srgbClr val="336600"/>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hlink"/>
              </a:buClr>
              <a:buSzPct val="95000"/>
              <a:buFont typeface="Wingdings" panose="05000000000000000000" pitchFamily="2" charset="2"/>
              <a:buChar char="u"/>
            </a:pPr>
            <a:r>
              <a:rPr lang="zh-CN" altLang="en-US" dirty="0"/>
              <a:t>斟酌使用的财政政策：</a:t>
            </a:r>
          </a:p>
          <a:p>
            <a:pPr>
              <a:lnSpc>
                <a:spcPct val="80000"/>
              </a:lnSpc>
              <a:buClr>
                <a:schemeClr val="hlink"/>
              </a:buClr>
              <a:buSzPct val="95000"/>
              <a:buFont typeface="Wingdings" panose="05000000000000000000" pitchFamily="2" charset="2"/>
              <a:buChar char="u"/>
            </a:pPr>
            <a:r>
              <a:rPr lang="zh-CN" altLang="en-US" dirty="0"/>
              <a:t>政府审时度势，斟酌使用，变动支出水平或税收，以稳定总需求水平，使之接近物价稳定的充分就业水平。</a:t>
            </a:r>
          </a:p>
        </p:txBody>
      </p:sp>
      <p:sp>
        <p:nvSpPr>
          <p:cNvPr id="5" name="Rectangle 11">
            <a:extLst>
              <a:ext uri="{FF2B5EF4-FFF2-40B4-BE49-F238E27FC236}">
                <a16:creationId xmlns:a16="http://schemas.microsoft.com/office/drawing/2014/main" id="{52E4E8BE-B722-47B3-B0D1-32A6DC75C350}"/>
              </a:ext>
            </a:extLst>
          </p:cNvPr>
          <p:cNvSpPr>
            <a:spLocks noGrp="1" noChangeArrowheads="1"/>
          </p:cNvSpPr>
          <p:nvPr>
            <p:ph type="title"/>
          </p:nvPr>
        </p:nvSpPr>
        <p:spPr>
          <a:xfrm>
            <a:off x="439131" y="665569"/>
            <a:ext cx="5832475" cy="647700"/>
          </a:xfrm>
          <a:noFill/>
          <a:ln/>
        </p:spPr>
        <p:txBody>
          <a:bodyPr>
            <a:normAutofit/>
          </a:bodyPr>
          <a:lstStyle/>
          <a:p>
            <a:r>
              <a:rPr lang="zh-CN" altLang="en-US" sz="2800" b="0" dirty="0"/>
              <a:t>斟酌使用的财政政策</a:t>
            </a:r>
          </a:p>
        </p:txBody>
      </p:sp>
      <p:sp>
        <p:nvSpPr>
          <p:cNvPr id="6" name="Rectangle 12">
            <a:extLst>
              <a:ext uri="{FF2B5EF4-FFF2-40B4-BE49-F238E27FC236}">
                <a16:creationId xmlns:a16="http://schemas.microsoft.com/office/drawing/2014/main" id="{E26629C8-4141-42FD-9718-AD331C3124BA}"/>
              </a:ext>
            </a:extLst>
          </p:cNvPr>
          <p:cNvSpPr>
            <a:spLocks noChangeArrowheads="1"/>
          </p:cNvSpPr>
          <p:nvPr/>
        </p:nvSpPr>
        <p:spPr bwMode="auto">
          <a:xfrm>
            <a:off x="870931" y="4194580"/>
            <a:ext cx="4824412" cy="576263"/>
          </a:xfrm>
          <a:prstGeom prst="rect">
            <a:avLst/>
          </a:prstGeom>
          <a:noFill/>
          <a:ln w="3175" cap="sq" cmpd="thinThick">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b="0" dirty="0"/>
              <a:t>具体应用：逆经济风向而行。</a:t>
            </a:r>
          </a:p>
        </p:txBody>
      </p:sp>
      <p:sp>
        <p:nvSpPr>
          <p:cNvPr id="7" name="Rectangle 13">
            <a:extLst>
              <a:ext uri="{FF2B5EF4-FFF2-40B4-BE49-F238E27FC236}">
                <a16:creationId xmlns:a16="http://schemas.microsoft.com/office/drawing/2014/main" id="{8A65F3B8-7F14-47B9-A6BB-8A5A9D263D99}"/>
              </a:ext>
            </a:extLst>
          </p:cNvPr>
          <p:cNvSpPr>
            <a:spLocks noChangeArrowheads="1"/>
          </p:cNvSpPr>
          <p:nvPr/>
        </p:nvSpPr>
        <p:spPr bwMode="auto">
          <a:xfrm>
            <a:off x="870931" y="3126228"/>
            <a:ext cx="7694612" cy="898525"/>
          </a:xfrm>
          <a:prstGeom prst="rect">
            <a:avLst/>
          </a:prstGeom>
          <a:noFill/>
          <a:ln w="3175" cap="sq">
            <a:solidFill>
              <a:schemeClr val="tx1"/>
            </a:solidFill>
            <a:miter lim="800000"/>
            <a:headEnd type="none" w="sm" len="sm"/>
            <a:tailEnd type="none" w="sm" len="sm"/>
          </a:ln>
          <a:effectLst/>
        </p:spPr>
        <p:txBody>
          <a:bodyPr>
            <a:spAutoFit/>
          </a:bodyPr>
          <a:lstStyle/>
          <a:p>
            <a:pPr>
              <a:spcBef>
                <a:spcPct val="20000"/>
              </a:spcBef>
              <a:buClr>
                <a:schemeClr val="hlink"/>
              </a:buClr>
              <a:buSzPct val="95000"/>
              <a:buFont typeface="Wingdings" panose="05000000000000000000" pitchFamily="2" charset="2"/>
              <a:buChar char="u"/>
            </a:pPr>
            <a:r>
              <a:rPr lang="zh-CN" altLang="en-US" b="1" dirty="0"/>
              <a:t>补偿性财政政策：交替使用扩张性和紧缩性财政政策。或扩张或紧缩，斟酌使用，权衡使用。</a:t>
            </a:r>
          </a:p>
        </p:txBody>
      </p:sp>
      <p:sp>
        <p:nvSpPr>
          <p:cNvPr id="8" name="Rectangle 14">
            <a:extLst>
              <a:ext uri="{FF2B5EF4-FFF2-40B4-BE49-F238E27FC236}">
                <a16:creationId xmlns:a16="http://schemas.microsoft.com/office/drawing/2014/main" id="{218973D1-2A8F-4042-B7A7-68630DAE97E5}"/>
              </a:ext>
            </a:extLst>
          </p:cNvPr>
          <p:cNvSpPr>
            <a:spLocks noChangeArrowheads="1"/>
          </p:cNvSpPr>
          <p:nvPr/>
        </p:nvSpPr>
        <p:spPr bwMode="auto">
          <a:xfrm>
            <a:off x="870931" y="4842281"/>
            <a:ext cx="7704137" cy="792163"/>
          </a:xfrm>
          <a:prstGeom prst="rect">
            <a:avLst/>
          </a:prstGeom>
          <a:noFill/>
          <a:ln w="3175" cap="sq">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Clr>
                <a:schemeClr val="hlink"/>
              </a:buClr>
              <a:buSzPct val="95000"/>
              <a:buFont typeface="Wingdings" panose="05000000000000000000" pitchFamily="2" charset="2"/>
              <a:buChar char="u"/>
            </a:pPr>
            <a:r>
              <a:rPr lang="zh-CN" altLang="en-US" sz="2000"/>
              <a:t>扩张性财政政策：萧条时，总需求</a:t>
            </a:r>
            <a:r>
              <a:rPr lang="en-US" altLang="zh-CN" sz="2000"/>
              <a:t>&lt;</a:t>
            </a:r>
            <a:r>
              <a:rPr lang="zh-CN" altLang="en-US" sz="2000"/>
              <a:t>总供给，存在失业。政府采取增加支出、减税、降低税率等措施，来刺激需求的政策。</a:t>
            </a:r>
          </a:p>
        </p:txBody>
      </p:sp>
      <p:sp>
        <p:nvSpPr>
          <p:cNvPr id="9" name="Rectangle 15">
            <a:extLst>
              <a:ext uri="{FF2B5EF4-FFF2-40B4-BE49-F238E27FC236}">
                <a16:creationId xmlns:a16="http://schemas.microsoft.com/office/drawing/2014/main" id="{98EB350B-FF9E-4C76-862C-B47A574CCA1C}"/>
              </a:ext>
            </a:extLst>
          </p:cNvPr>
          <p:cNvSpPr>
            <a:spLocks noChangeArrowheads="1"/>
          </p:cNvSpPr>
          <p:nvPr/>
        </p:nvSpPr>
        <p:spPr bwMode="auto">
          <a:xfrm>
            <a:off x="870931" y="5777319"/>
            <a:ext cx="7704137" cy="792162"/>
          </a:xfrm>
          <a:prstGeom prst="rect">
            <a:avLst/>
          </a:prstGeom>
          <a:noFill/>
          <a:ln w="3175" cap="sq">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buClr>
                <a:schemeClr val="hlink"/>
              </a:buClr>
              <a:buSzPct val="95000"/>
              <a:buFont typeface="Wingdings" panose="05000000000000000000" pitchFamily="2" charset="2"/>
              <a:buChar char="u"/>
            </a:pPr>
            <a:r>
              <a:rPr lang="zh-CN" altLang="en-US" sz="2000"/>
              <a:t>紧缩性财政政策：繁荣时，总需求</a:t>
            </a:r>
            <a:r>
              <a:rPr lang="en-US" altLang="zh-CN" sz="2000"/>
              <a:t>&gt;</a:t>
            </a:r>
            <a:r>
              <a:rPr lang="zh-CN" altLang="en-US" sz="2000"/>
              <a:t>总供给，存在通货膨胀。政府采取减少开支、增税等措施，以刺激供给、抑制需求的政策。</a:t>
            </a:r>
          </a:p>
        </p:txBody>
      </p:sp>
    </p:spTree>
    <p:extLst>
      <p:ext uri="{BB962C8B-B14F-4D97-AF65-F5344CB8AC3E}">
        <p14:creationId xmlns:p14="http://schemas.microsoft.com/office/powerpoint/2010/main" val="2241527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C8E0EC-6A29-4703-8BBB-975D333026DA}"/>
              </a:ext>
            </a:extLst>
          </p:cNvPr>
          <p:cNvSpPr>
            <a:spLocks noGrp="1"/>
          </p:cNvSpPr>
          <p:nvPr>
            <p:ph type="title"/>
          </p:nvPr>
        </p:nvSpPr>
        <p:spPr/>
        <p:txBody>
          <a:bodyPr>
            <a:normAutofit/>
          </a:bodyPr>
          <a:lstStyle/>
          <a:p>
            <a:r>
              <a:rPr lang="zh-CN" altLang="zh-CN" sz="2800" b="1" dirty="0"/>
              <a:t>货币</a:t>
            </a:r>
            <a:endParaRPr lang="zh-CN" altLang="en-US" sz="2800" dirty="0"/>
          </a:p>
        </p:txBody>
      </p:sp>
      <p:sp>
        <p:nvSpPr>
          <p:cNvPr id="3" name="内容占位符 2">
            <a:extLst>
              <a:ext uri="{FF2B5EF4-FFF2-40B4-BE49-F238E27FC236}">
                <a16:creationId xmlns:a16="http://schemas.microsoft.com/office/drawing/2014/main" id="{1E4FFF3D-D0B9-4FBB-A5B9-C217179195E8}"/>
              </a:ext>
            </a:extLst>
          </p:cNvPr>
          <p:cNvSpPr>
            <a:spLocks noGrp="1"/>
          </p:cNvSpPr>
          <p:nvPr>
            <p:ph idx="1"/>
          </p:nvPr>
        </p:nvSpPr>
        <p:spPr>
          <a:xfrm>
            <a:off x="838200" y="1407335"/>
            <a:ext cx="10515600" cy="5085539"/>
          </a:xfrm>
        </p:spPr>
        <p:txBody>
          <a:bodyPr>
            <a:normAutofit/>
          </a:bodyPr>
          <a:lstStyle/>
          <a:p>
            <a:pPr marL="0" indent="0">
              <a:buNone/>
            </a:pPr>
            <a:r>
              <a:rPr lang="zh-CN" altLang="zh-CN" dirty="0"/>
              <a:t>货币并不仅仅指现金</a:t>
            </a:r>
            <a:r>
              <a:rPr lang="en-US" altLang="zh-CN" dirty="0"/>
              <a:t>,</a:t>
            </a:r>
            <a:r>
              <a:rPr lang="zh-CN" altLang="zh-CN" dirty="0"/>
              <a:t>而是现金加上一部分形式的资产。</a:t>
            </a:r>
          </a:p>
          <a:p>
            <a:pPr marL="0" indent="0">
              <a:buNone/>
            </a:pPr>
            <a:r>
              <a:rPr lang="zh-CN" altLang="zh-CN" dirty="0"/>
              <a:t>第一种是最狭义的货币衡量指标，它包括了我们可以随身携带的现金，这部分货币用</a:t>
            </a:r>
            <a:r>
              <a:rPr lang="en-US" altLang="zh-CN" dirty="0"/>
              <a:t>M</a:t>
            </a:r>
            <a:r>
              <a:rPr lang="en-US" altLang="zh-CN" baseline="-25000" dirty="0"/>
              <a:t>0</a:t>
            </a:r>
            <a:r>
              <a:rPr lang="zh-CN" altLang="zh-CN" dirty="0"/>
              <a:t>表示。现金可直接用于支付，因而是最具有流动性的资产。</a:t>
            </a:r>
          </a:p>
          <a:p>
            <a:pPr marL="0" indent="0">
              <a:buNone/>
            </a:pPr>
            <a:r>
              <a:rPr lang="zh-CN" altLang="zh-CN" dirty="0"/>
              <a:t>第二种货币衡量指标Ｍ</a:t>
            </a:r>
            <a:r>
              <a:rPr lang="zh-CN" altLang="zh-CN" baseline="-25000" dirty="0"/>
              <a:t>１</a:t>
            </a:r>
            <a:r>
              <a:rPr lang="zh-CN" altLang="zh-CN" dirty="0"/>
              <a:t>是Ｍ</a:t>
            </a:r>
            <a:r>
              <a:rPr lang="zh-CN" altLang="zh-CN" baseline="-25000" dirty="0"/>
              <a:t>０</a:t>
            </a:r>
            <a:r>
              <a:rPr lang="zh-CN" altLang="zh-CN" dirty="0"/>
              <a:t>加上活期存款。银行活期存款的流动性仅次于现金，因为只要通知银行就可以从账户中提取现金，无需等待或缴纳罚金。对活期存款开出的支票在很多国家也是普遍接受的支付方式。</a:t>
            </a:r>
            <a:endParaRPr lang="en-US" altLang="zh-CN" dirty="0"/>
          </a:p>
          <a:p>
            <a:pPr marL="0" indent="0">
              <a:buNone/>
            </a:pPr>
            <a:endParaRPr lang="zh-CN" altLang="en-US" dirty="0"/>
          </a:p>
        </p:txBody>
      </p:sp>
    </p:spTree>
    <p:extLst>
      <p:ext uri="{BB962C8B-B14F-4D97-AF65-F5344CB8AC3E}">
        <p14:creationId xmlns:p14="http://schemas.microsoft.com/office/powerpoint/2010/main" val="963570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624E1D-551C-4F4D-A4D2-FBE5E9A1589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33BAAF3-9CD0-4E51-A41B-16B6BC8787A0}"/>
              </a:ext>
            </a:extLst>
          </p:cNvPr>
          <p:cNvSpPr>
            <a:spLocks noGrp="1"/>
          </p:cNvSpPr>
          <p:nvPr>
            <p:ph idx="1"/>
          </p:nvPr>
        </p:nvSpPr>
        <p:spPr/>
        <p:txBody>
          <a:bodyPr/>
          <a:lstStyle/>
          <a:p>
            <a:pPr marL="0" indent="0" algn="just">
              <a:buNone/>
            </a:pPr>
            <a:r>
              <a:rPr lang="zh-CN" altLang="zh-CN" sz="2400" kern="100" dirty="0">
                <a:effectLst/>
                <a:latin typeface="Times New Roman" panose="02020603050405020304" pitchFamily="18" charset="0"/>
                <a:ea typeface="宋体" panose="02010600030101010101" pitchFamily="2" charset="-122"/>
              </a:rPr>
              <a:t>第三种货币衡量指标Ｍ</a:t>
            </a:r>
            <a:r>
              <a:rPr lang="zh-CN" altLang="zh-CN" sz="2400" kern="100" baseline="-25000" dirty="0">
                <a:effectLst/>
                <a:latin typeface="Times New Roman" panose="02020603050405020304" pitchFamily="18" charset="0"/>
                <a:ea typeface="宋体" panose="02010600030101010101" pitchFamily="2" charset="-122"/>
              </a:rPr>
              <a:t>２</a:t>
            </a:r>
            <a:r>
              <a:rPr lang="zh-CN" altLang="zh-CN" sz="2400" kern="100" dirty="0">
                <a:effectLst/>
                <a:latin typeface="Times New Roman" panose="02020603050405020304" pitchFamily="18" charset="0"/>
                <a:ea typeface="宋体" panose="02010600030101010101" pitchFamily="2" charset="-122"/>
              </a:rPr>
              <a:t>是Ｍ</a:t>
            </a:r>
            <a:r>
              <a:rPr lang="zh-CN" altLang="zh-CN" sz="2400" kern="100" baseline="-25000" dirty="0">
                <a:effectLst/>
                <a:latin typeface="Times New Roman" panose="02020603050405020304" pitchFamily="18" charset="0"/>
                <a:ea typeface="宋体" panose="02010600030101010101" pitchFamily="2" charset="-122"/>
              </a:rPr>
              <a:t>１</a:t>
            </a:r>
            <a:r>
              <a:rPr lang="zh-CN" altLang="zh-CN" sz="2400" kern="100" dirty="0">
                <a:effectLst/>
                <a:latin typeface="Times New Roman" panose="02020603050405020304" pitchFamily="18" charset="0"/>
                <a:ea typeface="宋体" panose="02010600030101010101" pitchFamily="2" charset="-122"/>
              </a:rPr>
              <a:t>加上小额定期存款。Ｍ</a:t>
            </a:r>
            <a:r>
              <a:rPr lang="zh-CN" altLang="zh-CN" sz="2400" kern="100" baseline="-25000" dirty="0">
                <a:effectLst/>
                <a:latin typeface="Times New Roman" panose="02020603050405020304" pitchFamily="18" charset="0"/>
                <a:ea typeface="宋体" panose="02010600030101010101" pitchFamily="2" charset="-122"/>
              </a:rPr>
              <a:t>２</a:t>
            </a:r>
            <a:r>
              <a:rPr lang="zh-CN" altLang="zh-CN" sz="2400" kern="100" dirty="0">
                <a:effectLst/>
                <a:latin typeface="Times New Roman" panose="02020603050405020304" pitchFamily="18" charset="0"/>
                <a:ea typeface="宋体" panose="02010600030101010101" pitchFamily="2" charset="-122"/>
              </a:rPr>
              <a:t>中的资产的共同特点是具有高度流动性，或者很容易转换为Ｍ</a:t>
            </a:r>
            <a:r>
              <a:rPr lang="zh-CN" altLang="zh-CN" sz="2400" kern="100" baseline="-25000" dirty="0">
                <a:effectLst/>
                <a:latin typeface="Times New Roman" panose="02020603050405020304" pitchFamily="18" charset="0"/>
                <a:ea typeface="宋体" panose="02010600030101010101" pitchFamily="2" charset="-122"/>
              </a:rPr>
              <a:t>１</a:t>
            </a:r>
            <a:r>
              <a:rPr lang="zh-CN" altLang="zh-CN" sz="2400" kern="100" dirty="0">
                <a:effectLst/>
                <a:latin typeface="Times New Roman" panose="02020603050405020304" pitchFamily="18" charset="0"/>
                <a:ea typeface="宋体" panose="02010600030101010101" pitchFamily="2" charset="-122"/>
              </a:rPr>
              <a:t>。</a:t>
            </a:r>
          </a:p>
          <a:p>
            <a:pPr marL="0" indent="0" algn="just">
              <a:buNone/>
            </a:pPr>
            <a:r>
              <a:rPr lang="zh-CN" altLang="zh-CN" sz="2400" kern="100" dirty="0">
                <a:effectLst/>
                <a:latin typeface="Times New Roman" panose="02020603050405020304" pitchFamily="18" charset="0"/>
                <a:ea typeface="宋体" panose="02010600030101010101" pitchFamily="2" charset="-122"/>
              </a:rPr>
              <a:t>第四种货币衡量指标</a:t>
            </a:r>
            <a:r>
              <a:rPr lang="en-US" altLang="zh-CN" sz="2400" kern="100" dirty="0">
                <a:effectLst/>
                <a:latin typeface="Times New Roman" panose="02020603050405020304" pitchFamily="18" charset="0"/>
                <a:ea typeface="宋体" panose="02010600030101010101" pitchFamily="2" charset="-122"/>
              </a:rPr>
              <a:t>M</a:t>
            </a:r>
            <a:r>
              <a:rPr lang="en-US" altLang="zh-CN" sz="2400" kern="100" baseline="-25000" dirty="0">
                <a:effectLst/>
                <a:latin typeface="Times New Roman" panose="02020603050405020304" pitchFamily="18" charset="0"/>
                <a:ea typeface="宋体" panose="02010600030101010101" pitchFamily="2" charset="-122"/>
              </a:rPr>
              <a:t>3</a:t>
            </a:r>
            <a:r>
              <a:rPr lang="zh-CN" altLang="zh-CN" sz="2400" kern="100" dirty="0">
                <a:effectLst/>
                <a:latin typeface="Times New Roman" panose="02020603050405020304" pitchFamily="18" charset="0"/>
                <a:ea typeface="宋体" panose="02010600030101010101" pitchFamily="2" charset="-122"/>
              </a:rPr>
              <a:t>包括</a:t>
            </a:r>
            <a:r>
              <a:rPr lang="en-US" altLang="zh-CN" sz="2400" kern="100" dirty="0">
                <a:effectLst/>
                <a:latin typeface="Times New Roman" panose="02020603050405020304" pitchFamily="18" charset="0"/>
                <a:ea typeface="宋体" panose="02010600030101010101" pitchFamily="2" charset="-122"/>
              </a:rPr>
              <a:t>M</a:t>
            </a:r>
            <a:r>
              <a:rPr lang="en-US" altLang="zh-CN" sz="2400" kern="100" baseline="-25000" dirty="0">
                <a:effectLst/>
                <a:latin typeface="Times New Roman" panose="02020603050405020304" pitchFamily="18" charset="0"/>
                <a:ea typeface="宋体" panose="02010600030101010101" pitchFamily="2" charset="-122"/>
              </a:rPr>
              <a:t>2</a:t>
            </a:r>
            <a:r>
              <a:rPr lang="zh-CN" altLang="zh-CN" sz="2400" kern="100" dirty="0">
                <a:effectLst/>
                <a:latin typeface="Times New Roman" panose="02020603050405020304" pitchFamily="18" charset="0"/>
                <a:ea typeface="宋体" panose="02010600030101010101" pitchFamily="2" charset="-122"/>
              </a:rPr>
              <a:t>中的一切，再加上大额储蓄账户。</a:t>
            </a:r>
            <a:r>
              <a:rPr lang="en-US" altLang="zh-CN" sz="2400" kern="100" dirty="0">
                <a:effectLst/>
                <a:latin typeface="Times New Roman" panose="02020603050405020304" pitchFamily="18" charset="0"/>
                <a:ea typeface="宋体" panose="02010600030101010101" pitchFamily="2" charset="-122"/>
              </a:rPr>
              <a:t>M3</a:t>
            </a:r>
            <a:r>
              <a:rPr lang="zh-CN" altLang="zh-CN" sz="2400" kern="100" dirty="0">
                <a:effectLst/>
                <a:latin typeface="Times New Roman" panose="02020603050405020304" pitchFamily="18" charset="0"/>
                <a:ea typeface="宋体" panose="02010600030101010101" pitchFamily="2" charset="-122"/>
              </a:rPr>
              <a:t>的流动性比</a:t>
            </a:r>
            <a:r>
              <a:rPr lang="en-US" altLang="zh-CN" sz="2400" kern="100" dirty="0">
                <a:effectLst/>
                <a:latin typeface="Times New Roman" panose="02020603050405020304" pitchFamily="18" charset="0"/>
                <a:ea typeface="宋体" panose="02010600030101010101" pitchFamily="2" charset="-122"/>
              </a:rPr>
              <a:t>M</a:t>
            </a:r>
            <a:r>
              <a:rPr lang="en-US" altLang="zh-CN" sz="2400" kern="100" baseline="-25000" dirty="0">
                <a:effectLst/>
                <a:latin typeface="Times New Roman" panose="02020603050405020304" pitchFamily="18" charset="0"/>
                <a:ea typeface="宋体" panose="02010600030101010101" pitchFamily="2" charset="-122"/>
              </a:rPr>
              <a:t>2</a:t>
            </a:r>
            <a:r>
              <a:rPr lang="zh-CN" altLang="zh-CN" sz="2400" kern="100" dirty="0">
                <a:effectLst/>
                <a:latin typeface="Times New Roman" panose="02020603050405020304" pitchFamily="18" charset="0"/>
                <a:ea typeface="宋体" panose="02010600030101010101" pitchFamily="2" charset="-122"/>
              </a:rPr>
              <a:t>略差一些。</a:t>
            </a:r>
          </a:p>
          <a:p>
            <a:pPr marL="0" indent="0" algn="just">
              <a:buNone/>
            </a:pPr>
            <a:r>
              <a:rPr lang="zh-CN" altLang="zh-CN" sz="2400" kern="100" dirty="0">
                <a:effectLst/>
                <a:latin typeface="Times New Roman" panose="02020603050405020304" pitchFamily="18" charset="0"/>
                <a:ea typeface="宋体" panose="02010600030101010101" pitchFamily="2" charset="-122"/>
              </a:rPr>
              <a:t>研究货币对经济影响时最常用的衡量指标是风和</a:t>
            </a:r>
            <a:r>
              <a:rPr lang="en-US" altLang="zh-CN" sz="2400" kern="100" dirty="0">
                <a:effectLst/>
                <a:latin typeface="Times New Roman" panose="02020603050405020304" pitchFamily="18" charset="0"/>
                <a:ea typeface="宋体" panose="02010600030101010101" pitchFamily="2" charset="-122"/>
              </a:rPr>
              <a:t>M2</a:t>
            </a:r>
            <a:r>
              <a:rPr lang="zh-CN" altLang="zh-CN" sz="2400" kern="100" dirty="0">
                <a:effectLst/>
                <a:latin typeface="Times New Roman" panose="02020603050405020304" pitchFamily="18" charset="0"/>
                <a:ea typeface="宋体" panose="02010600030101010101" pitchFamily="2" charset="-122"/>
              </a:rPr>
              <a:t>。因此假设</a:t>
            </a:r>
            <a:r>
              <a:rPr lang="en-US" altLang="zh-CN" sz="2400" kern="100" dirty="0">
                <a:effectLst/>
                <a:latin typeface="Times New Roman" panose="02020603050405020304" pitchFamily="18" charset="0"/>
                <a:ea typeface="宋体" panose="02010600030101010101" pitchFamily="2" charset="-122"/>
              </a:rPr>
              <a:t>M</a:t>
            </a:r>
            <a:r>
              <a:rPr lang="zh-CN" altLang="zh-CN" sz="2400" kern="100" dirty="0">
                <a:effectLst/>
                <a:latin typeface="Times New Roman" panose="02020603050405020304" pitchFamily="18" charset="0"/>
                <a:ea typeface="宋体" panose="02010600030101010101" pitchFamily="2" charset="-122"/>
              </a:rPr>
              <a:t>代表货币供给，</a:t>
            </a:r>
            <a:r>
              <a:rPr lang="en-US" altLang="zh-CN" sz="2400" kern="100" dirty="0">
                <a:effectLst/>
                <a:latin typeface="Times New Roman" panose="02020603050405020304" pitchFamily="18" charset="0"/>
                <a:ea typeface="宋体" panose="02010600030101010101" pitchFamily="2" charset="-122"/>
              </a:rPr>
              <a:t>C</a:t>
            </a:r>
            <a:r>
              <a:rPr lang="zh-CN" altLang="zh-CN" sz="2400" kern="100" dirty="0">
                <a:effectLst/>
                <a:latin typeface="Times New Roman" panose="02020603050405020304" pitchFamily="18" charset="0"/>
                <a:ea typeface="宋体" panose="02010600030101010101" pitchFamily="2" charset="-122"/>
              </a:rPr>
              <a:t>代表现金，</a:t>
            </a:r>
            <a:r>
              <a:rPr lang="en-US" altLang="zh-CN" sz="2400" kern="100" dirty="0">
                <a:effectLst/>
                <a:latin typeface="Times New Roman" panose="02020603050405020304" pitchFamily="18" charset="0"/>
                <a:ea typeface="宋体" panose="02010600030101010101" pitchFamily="2" charset="-122"/>
              </a:rPr>
              <a:t>D</a:t>
            </a:r>
            <a:r>
              <a:rPr lang="zh-CN" altLang="zh-CN" sz="2400" kern="100" dirty="0">
                <a:effectLst/>
                <a:latin typeface="Times New Roman" panose="02020603050405020304" pitchFamily="18" charset="0"/>
                <a:ea typeface="宋体" panose="02010600030101010101" pitchFamily="2" charset="-122"/>
              </a:rPr>
              <a:t>代表活期存款，我们可以写出：</a:t>
            </a:r>
          </a:p>
          <a:p>
            <a:pPr algn="just"/>
            <a:r>
              <a:rPr lang="en-US" altLang="zh-CN" sz="2400" kern="100" dirty="0">
                <a:effectLst/>
                <a:latin typeface="宋体" panose="02010600030101010101" pitchFamily="2" charset="-122"/>
                <a:ea typeface="宋体" panose="02010600030101010101" pitchFamily="2" charset="-122"/>
              </a:rPr>
              <a:t>M=C+D</a:t>
            </a:r>
            <a:endParaRPr lang="zh-CN" altLang="zh-CN" sz="2400" kern="100" dirty="0">
              <a:effectLst/>
              <a:latin typeface="Times New Roman" panose="02020603050405020304" pitchFamily="18" charset="0"/>
              <a:ea typeface="宋体" panose="02010600030101010101" pitchFamily="2" charset="-122"/>
            </a:endParaRPr>
          </a:p>
          <a:p>
            <a:pPr marL="0" indent="0">
              <a:buNone/>
            </a:pPr>
            <a:endParaRPr lang="zh-CN" altLang="en-US" dirty="0"/>
          </a:p>
        </p:txBody>
      </p:sp>
    </p:spTree>
    <p:extLst>
      <p:ext uri="{BB962C8B-B14F-4D97-AF65-F5344CB8AC3E}">
        <p14:creationId xmlns:p14="http://schemas.microsoft.com/office/powerpoint/2010/main" val="2588419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5430F7-2D00-466C-A41F-DE61C98BBB75}"/>
              </a:ext>
            </a:extLst>
          </p:cNvPr>
          <p:cNvSpPr>
            <a:spLocks noGrp="1"/>
          </p:cNvSpPr>
          <p:nvPr>
            <p:ph type="title"/>
          </p:nvPr>
        </p:nvSpPr>
        <p:spPr/>
        <p:txBody>
          <a:bodyPr>
            <a:normAutofit/>
          </a:bodyPr>
          <a:lstStyle/>
          <a:p>
            <a:r>
              <a:rPr lang="zh-CN" altLang="zh-CN" sz="2800" b="1" dirty="0"/>
              <a:t>商业银行与货币创造过程</a:t>
            </a:r>
            <a:endParaRPr lang="zh-CN" altLang="en-US" sz="2800" dirty="0"/>
          </a:p>
        </p:txBody>
      </p:sp>
      <p:sp>
        <p:nvSpPr>
          <p:cNvPr id="3" name="内容占位符 2">
            <a:extLst>
              <a:ext uri="{FF2B5EF4-FFF2-40B4-BE49-F238E27FC236}">
                <a16:creationId xmlns:a16="http://schemas.microsoft.com/office/drawing/2014/main" id="{5FE865B8-F4C2-4FAF-A89C-4BF4A3FAD606}"/>
              </a:ext>
            </a:extLst>
          </p:cNvPr>
          <p:cNvSpPr>
            <a:spLocks noGrp="1"/>
          </p:cNvSpPr>
          <p:nvPr>
            <p:ph idx="1"/>
          </p:nvPr>
        </p:nvSpPr>
        <p:spPr>
          <a:xfrm>
            <a:off x="838200" y="1397608"/>
            <a:ext cx="10515600" cy="4351338"/>
          </a:xfrm>
        </p:spPr>
        <p:txBody>
          <a:bodyPr/>
          <a:lstStyle/>
          <a:p>
            <a:pPr marL="0" indent="0">
              <a:buNone/>
            </a:pPr>
            <a:r>
              <a:rPr lang="zh-CN" altLang="zh-CN" dirty="0"/>
              <a:t>当一笔钱存入商业银行时，商业银行会将其中的一部分贷放出去，以赚得存贷的利息差收入。其次，商业银行不可能将这笔钱全部贷放出去，否则当大量储户到银行取款时，就容易发生挤兑现象，甚至导致银行破产。为维持金融系统的稳定性，各国政府都会规定一个法定准备金率一一规定银行必须将所吸收存款的一定比率作为准备金交到中央银行，以备不时之需。</a:t>
            </a:r>
          </a:p>
          <a:p>
            <a:pPr marL="0" indent="0">
              <a:buNone/>
            </a:pPr>
            <a:r>
              <a:rPr lang="zh-CN" altLang="zh-CN" dirty="0"/>
              <a:t>一笔原始存款会引出新的存款，而新的存款又将引起再一轮新的贷款，新的贷款又将变成又一轮新的存款，如此反复不断。</a:t>
            </a:r>
          </a:p>
          <a:p>
            <a:endParaRPr lang="zh-CN" altLang="en-US" dirty="0"/>
          </a:p>
        </p:txBody>
      </p:sp>
    </p:spTree>
    <p:extLst>
      <p:ext uri="{BB962C8B-B14F-4D97-AF65-F5344CB8AC3E}">
        <p14:creationId xmlns:p14="http://schemas.microsoft.com/office/powerpoint/2010/main" val="1284298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5908A1-F1D1-4E53-B4EC-7BD761676CB5}"/>
              </a:ext>
            </a:extLst>
          </p:cNvPr>
          <p:cNvSpPr>
            <a:spLocks noGrp="1"/>
          </p:cNvSpPr>
          <p:nvPr>
            <p:ph type="title"/>
          </p:nvPr>
        </p:nvSpPr>
        <p:spPr/>
        <p:txBody>
          <a:bodyPr>
            <a:normAutofit/>
          </a:bodyPr>
          <a:lstStyle/>
          <a:p>
            <a:r>
              <a:rPr lang="zh-CN" altLang="zh-CN" sz="2800" b="1" dirty="0"/>
              <a:t>商业银行与货币创造过程</a:t>
            </a:r>
            <a:endParaRPr lang="zh-CN" altLang="en-US" sz="28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A3747C-A3CB-4E76-A342-661E4CEAD39E}"/>
                  </a:ext>
                </a:extLst>
              </p:cNvPr>
              <p:cNvSpPr>
                <a:spLocks noGrp="1"/>
              </p:cNvSpPr>
              <p:nvPr>
                <p:ph idx="1"/>
              </p:nvPr>
            </p:nvSpPr>
            <p:spPr/>
            <p:txBody>
              <a:bodyPr/>
              <a:lstStyle/>
              <a:p>
                <a:pPr marL="0" indent="0">
                  <a:buNone/>
                </a:pPr>
                <a:r>
                  <a:rPr lang="zh-CN" altLang="en-US" dirty="0"/>
                  <a:t>存款创造乘数为</a:t>
                </a:r>
                <a:r>
                  <a:rPr lang="en-US" altLang="zh-CN" dirty="0"/>
                  <a:t>1/r</a:t>
                </a:r>
              </a:p>
              <a:p>
                <a:pPr marL="0" indent="0">
                  <a:buNone/>
                </a:pPr>
                <a:r>
                  <a:rPr lang="zh-CN" altLang="en-US" dirty="0"/>
                  <a:t>如果考虑超额准备金，公众持有的现金，则乘数为：</a:t>
                </a:r>
                <a:endParaRPr lang="en-US" altLang="zh-CN" dirty="0"/>
              </a:p>
              <a:p>
                <a:endParaRPr lang="en-US" altLang="zh-CN" dirty="0"/>
              </a:p>
              <a:p>
                <a:pPr marL="0" indent="0">
                  <a:buNone/>
                </a:pPr>
                <a:r>
                  <a:rPr lang="en-US" altLang="zh-CN" dirty="0"/>
                  <a:t>k=</a:t>
                </a:r>
                <a14:m>
                  <m:oMath xmlns:m="http://schemas.openxmlformats.org/officeDocument/2006/math">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𝑐</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𝑒</m:t>
                            </m:r>
                          </m:sub>
                        </m:sSub>
                      </m:den>
                    </m:f>
                  </m:oMath>
                </a14:m>
                <a:endParaRPr lang="zh-CN" altLang="en-US" dirty="0"/>
              </a:p>
            </p:txBody>
          </p:sp>
        </mc:Choice>
        <mc:Fallback xmlns="">
          <p:sp>
            <p:nvSpPr>
              <p:cNvPr id="3" name="内容占位符 2">
                <a:extLst>
                  <a:ext uri="{FF2B5EF4-FFF2-40B4-BE49-F238E27FC236}">
                    <a16:creationId xmlns:a16="http://schemas.microsoft.com/office/drawing/2014/main" id="{B5A3747C-A3CB-4E76-A342-661E4CEAD39E}"/>
                  </a:ext>
                </a:extLst>
              </p:cNvPr>
              <p:cNvSpPr>
                <a:spLocks noGrp="1" noRot="1" noChangeAspect="1" noMove="1" noResize="1" noEditPoints="1" noAdjustHandles="1" noChangeArrowheads="1" noChangeShapeType="1" noTextEdit="1"/>
              </p:cNvSpPr>
              <p:nvPr>
                <p:ph idx="1"/>
              </p:nvPr>
            </p:nvSpPr>
            <p:spPr>
              <a:blipFill>
                <a:blip r:embed="rId2"/>
                <a:stretch>
                  <a:fillRect l="-1217"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50049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0D4DC7-9682-4BC3-81ED-AC9E7C9A9863}"/>
              </a:ext>
            </a:extLst>
          </p:cNvPr>
          <p:cNvSpPr>
            <a:spLocks noGrp="1"/>
          </p:cNvSpPr>
          <p:nvPr>
            <p:ph type="title"/>
          </p:nvPr>
        </p:nvSpPr>
        <p:spPr/>
        <p:txBody>
          <a:bodyPr>
            <a:normAutofit/>
          </a:bodyPr>
          <a:lstStyle/>
          <a:p>
            <a:r>
              <a:rPr lang="zh-CN" altLang="zh-CN" sz="2800" b="1" dirty="0"/>
              <a:t>基础货币</a:t>
            </a:r>
            <a:endParaRPr lang="zh-CN" altLang="en-US" sz="2800"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E6DFA4B-C3E4-4107-884B-2CF9E88D04BC}"/>
                  </a:ext>
                </a:extLst>
              </p:cNvPr>
              <p:cNvSpPr>
                <a:spLocks noGrp="1"/>
              </p:cNvSpPr>
              <p:nvPr>
                <p:ph idx="1"/>
              </p:nvPr>
            </p:nvSpPr>
            <p:spPr>
              <a:xfrm>
                <a:off x="838200" y="1387880"/>
                <a:ext cx="10515600" cy="4351338"/>
              </a:xfrm>
            </p:spPr>
            <p:txBody>
              <a:bodyPr/>
              <a:lstStyle/>
              <a:p>
                <a:pPr marL="0" indent="0">
                  <a:buNone/>
                </a:pPr>
                <a:r>
                  <a:rPr lang="zh-CN" altLang="zh-CN" b="1" dirty="0">
                    <a:solidFill>
                      <a:srgbClr val="FFFF00"/>
                    </a:solidFill>
                  </a:rPr>
                  <a:t>指商业银行持有的准备金与公众持有的现金之和。基础货币是银行体系乘数扩张，货币创造的基础。</a:t>
                </a:r>
                <a:r>
                  <a:rPr lang="zh-CN" altLang="zh-CN" dirty="0"/>
                  <a:t>当中央银行向商业银行提供或收缩基础货币时，可使市场的货币供给成倍扩张或收缩。因此又被称为高能货币。如果用</a:t>
                </a:r>
                <a:r>
                  <a:rPr lang="en-US" altLang="zh-CN" dirty="0"/>
                  <a:t>C</a:t>
                </a:r>
                <a:r>
                  <a:rPr lang="zh-CN" altLang="zh-CN" dirty="0"/>
                  <a:t>表示公众持有的现金，用</a:t>
                </a:r>
                <a:r>
                  <a:rPr lang="en-US" altLang="zh-CN" dirty="0"/>
                  <a:t>R</a:t>
                </a:r>
                <a:r>
                  <a:rPr lang="zh-CN" altLang="zh-CN" dirty="0"/>
                  <a:t>表示银行持有的准备金，用</a:t>
                </a:r>
                <a:r>
                  <a:rPr lang="en-US" altLang="zh-CN" dirty="0"/>
                  <a:t>H</a:t>
                </a:r>
                <a:r>
                  <a:rPr lang="zh-CN" altLang="zh-CN" dirty="0"/>
                  <a:t>表示基础货币，则有</a:t>
                </a:r>
                <a:r>
                  <a:rPr lang="en-US" altLang="zh-CN" dirty="0"/>
                  <a:t>H=C+R</a:t>
                </a:r>
                <a:r>
                  <a:rPr lang="zh-CN" altLang="zh-CN" dirty="0"/>
                  <a:t>。这是商业银行借以扩张货币供给的基础。</a:t>
                </a:r>
                <a:endParaRPr lang="en-US" altLang="zh-CN" dirty="0"/>
              </a:p>
              <a:p>
                <a:pPr marL="0" indent="0">
                  <a:buNone/>
                </a:pPr>
                <a:r>
                  <a:rPr lang="zh-CN" altLang="en-US" dirty="0"/>
                  <a:t>基础货币的乘数为：</a:t>
                </a:r>
                <a:endParaRPr lang="zh-CN" altLang="zh-CN" dirty="0"/>
              </a:p>
              <a:p>
                <a:pPr marL="0" indent="0">
                  <a:buNone/>
                </a:pPr>
                <a14:m>
                  <m:oMathPara xmlns:m="http://schemas.openxmlformats.org/officeDocument/2006/math">
                    <m:oMathParaPr>
                      <m:jc m:val="centerGroup"/>
                    </m:oMathParaPr>
                    <m:oMath xmlns:m="http://schemas.openxmlformats.org/officeDocument/2006/math">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𝑐</m:t>
                              </m:r>
                            </m:sub>
                          </m:sSub>
                          <m:r>
                            <a:rPr lang="en-US" altLang="zh-CN" i="1">
                              <a:latin typeface="Cambria Math" panose="02040503050406030204" pitchFamily="18" charset="0"/>
                            </a:rPr>
                            <m:t>+1</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𝑐</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𝑑</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𝑒</m:t>
                              </m:r>
                            </m:sub>
                          </m:sSub>
                        </m:den>
                      </m:f>
                    </m:oMath>
                  </m:oMathPara>
                </a14:m>
                <a:endParaRPr lang="zh-CN" altLang="en-US" dirty="0"/>
              </a:p>
            </p:txBody>
          </p:sp>
        </mc:Choice>
        <mc:Fallback xmlns="">
          <p:sp>
            <p:nvSpPr>
              <p:cNvPr id="3" name="内容占位符 2">
                <a:extLst>
                  <a:ext uri="{FF2B5EF4-FFF2-40B4-BE49-F238E27FC236}">
                    <a16:creationId xmlns:a16="http://schemas.microsoft.com/office/drawing/2014/main" id="{BE6DFA4B-C3E4-4107-884B-2CF9E88D04BC}"/>
                  </a:ext>
                </a:extLst>
              </p:cNvPr>
              <p:cNvSpPr>
                <a:spLocks noGrp="1" noRot="1" noChangeAspect="1" noMove="1" noResize="1" noEditPoints="1" noAdjustHandles="1" noChangeArrowheads="1" noChangeShapeType="1" noTextEdit="1"/>
              </p:cNvSpPr>
              <p:nvPr>
                <p:ph idx="1"/>
              </p:nvPr>
            </p:nvSpPr>
            <p:spPr>
              <a:xfrm>
                <a:off x="838200" y="1387880"/>
                <a:ext cx="10515600" cy="4351338"/>
              </a:xfrm>
              <a:blipFill>
                <a:blip r:embed="rId2"/>
                <a:stretch>
                  <a:fillRect l="-1217" t="-2525" r="-6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64178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96C05BCF-2344-41A2-B3A6-1FC2A8202DA7}"/>
              </a:ext>
            </a:extLst>
          </p:cNvPr>
          <p:cNvSpPr>
            <a:spLocks noChangeArrowheads="1"/>
          </p:cNvSpPr>
          <p:nvPr/>
        </p:nvSpPr>
        <p:spPr bwMode="auto">
          <a:xfrm>
            <a:off x="468313" y="1667248"/>
            <a:ext cx="6911975" cy="1008062"/>
          </a:xfrm>
          <a:prstGeom prst="rect">
            <a:avLst/>
          </a:prstGeom>
          <a:noFill/>
          <a:ln w="3175" cap="sq" cmpd="thinThick">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r>
              <a:rPr lang="zh-CN" altLang="en-US" b="0" dirty="0">
                <a:solidFill>
                  <a:srgbClr val="FFFF00"/>
                </a:solidFill>
                <a:latin typeface="黑体" panose="02010609060101010101" pitchFamily="49" charset="-122"/>
                <a:ea typeface="黑体" panose="02010609060101010101" pitchFamily="49" charset="-122"/>
              </a:rPr>
              <a:t>公开市场业务</a:t>
            </a:r>
            <a:r>
              <a:rPr lang="zh-CN" altLang="en-US" b="0" dirty="0">
                <a:solidFill>
                  <a:schemeClr val="bg1"/>
                </a:solidFill>
                <a:latin typeface="黑体" panose="02010609060101010101" pitchFamily="49" charset="-122"/>
                <a:ea typeface="黑体" panose="02010609060101010101" pitchFamily="49" charset="-122"/>
              </a:rPr>
              <a:t>。在金融市场上买进或卖出证券。</a:t>
            </a:r>
          </a:p>
          <a:p>
            <a:pPr algn="just"/>
            <a:r>
              <a:rPr lang="zh-CN" altLang="en-US" b="0" dirty="0">
                <a:solidFill>
                  <a:schemeClr val="bg1"/>
                </a:solidFill>
                <a:latin typeface="黑体" panose="02010609060101010101" pitchFamily="49" charset="-122"/>
                <a:ea typeface="黑体" panose="02010609060101010101" pitchFamily="49" charset="-122"/>
              </a:rPr>
              <a:t>主要是国库券。</a:t>
            </a:r>
          </a:p>
        </p:txBody>
      </p:sp>
      <p:sp>
        <p:nvSpPr>
          <p:cNvPr id="5" name="Rectangle 5">
            <a:extLst>
              <a:ext uri="{FF2B5EF4-FFF2-40B4-BE49-F238E27FC236}">
                <a16:creationId xmlns:a16="http://schemas.microsoft.com/office/drawing/2014/main" id="{22116A61-4861-4EB4-A6F4-7E9839D8E38D}"/>
              </a:ext>
            </a:extLst>
          </p:cNvPr>
          <p:cNvSpPr>
            <a:spLocks noChangeArrowheads="1"/>
          </p:cNvSpPr>
          <p:nvPr/>
        </p:nvSpPr>
        <p:spPr bwMode="auto">
          <a:xfrm>
            <a:off x="468313" y="3900860"/>
            <a:ext cx="6911975" cy="1079500"/>
          </a:xfrm>
          <a:prstGeom prst="rect">
            <a:avLst/>
          </a:prstGeom>
          <a:noFill/>
          <a:ln w="3175" cap="sq" cmpd="thinThick">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r>
              <a:rPr lang="zh-CN" altLang="en-US" b="0" dirty="0">
                <a:solidFill>
                  <a:srgbClr val="FFFF00"/>
                </a:solidFill>
                <a:latin typeface="黑体" panose="02010609060101010101" pitchFamily="49" charset="-122"/>
                <a:ea typeface="黑体" panose="02010609060101010101" pitchFamily="49" charset="-122"/>
              </a:rPr>
              <a:t>贴现政策。</a:t>
            </a:r>
            <a:r>
              <a:rPr lang="zh-CN" altLang="en-US" b="0" dirty="0">
                <a:solidFill>
                  <a:schemeClr val="bg1"/>
                </a:solidFill>
                <a:latin typeface="黑体" panose="02010609060101010101" pitchFamily="49" charset="-122"/>
                <a:ea typeface="黑体" panose="02010609060101010101" pitchFamily="49" charset="-122"/>
              </a:rPr>
              <a:t>通过增减贴现贷款数量和利率，来影响货币供给量。</a:t>
            </a:r>
          </a:p>
        </p:txBody>
      </p:sp>
      <p:sp>
        <p:nvSpPr>
          <p:cNvPr id="6" name="Rectangle 6">
            <a:extLst>
              <a:ext uri="{FF2B5EF4-FFF2-40B4-BE49-F238E27FC236}">
                <a16:creationId xmlns:a16="http://schemas.microsoft.com/office/drawing/2014/main" id="{9F3E6DFC-1F60-49D0-9929-1E715383EAD9}"/>
              </a:ext>
            </a:extLst>
          </p:cNvPr>
          <p:cNvSpPr>
            <a:spLocks noChangeArrowheads="1"/>
          </p:cNvSpPr>
          <p:nvPr/>
        </p:nvSpPr>
        <p:spPr bwMode="auto">
          <a:xfrm>
            <a:off x="468313" y="5483598"/>
            <a:ext cx="5399087" cy="963612"/>
          </a:xfrm>
          <a:prstGeom prst="rect">
            <a:avLst/>
          </a:prstGeom>
          <a:noFill/>
          <a:ln w="3175" cap="sq" cmpd="thinThick">
            <a:solidFill>
              <a:schemeClr val="tx1"/>
            </a:solidFill>
            <a:miter lim="800000"/>
            <a:headEnd type="none" w="sm" len="sm"/>
            <a:tailEnd type="none" w="sm" len="sm"/>
          </a:ln>
          <a:effectLst/>
        </p:spPr>
        <p:txBody>
          <a:bodyPr/>
          <a:lstStyle>
            <a:lvl1pPr marL="174625" indent="-174625">
              <a:spcBef>
                <a:spcPct val="20000"/>
              </a:spcBef>
              <a:buClr>
                <a:schemeClr val="tx2"/>
              </a:buClr>
              <a:buFont typeface="Wingdings" panose="05000000000000000000" pitchFamily="2" charset="2"/>
              <a:buBlip>
                <a:blip r:embed="rId2"/>
              </a:buBlip>
              <a:defRPr kumimoji="1" sz="2400" b="1">
                <a:solidFill>
                  <a:schemeClr val="tx1"/>
                </a:solidFill>
                <a:latin typeface="Times New Roman" panose="02020603050405020304" pitchFamily="18" charset="0"/>
                <a:ea typeface="宋体" panose="02010600030101010101" pitchFamily="2" charset="-122"/>
              </a:defRPr>
            </a:lvl1pPr>
            <a:lvl2pPr marL="363538">
              <a:spcBef>
                <a:spcPct val="20000"/>
              </a:spcBef>
              <a:buFont typeface="Wingdings" panose="05000000000000000000" pitchFamily="2" charset="2"/>
              <a:buBlip>
                <a:blip r:embed="rId3"/>
              </a:buBlip>
              <a:defRPr kumimoji="1" sz="24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r>
              <a:rPr lang="zh-CN" altLang="en-US" b="0" dirty="0">
                <a:solidFill>
                  <a:srgbClr val="FFFF00"/>
                </a:solidFill>
                <a:latin typeface="黑体" panose="02010609060101010101" pitchFamily="49" charset="-122"/>
                <a:ea typeface="黑体" panose="02010609060101010101" pitchFamily="49" charset="-122"/>
              </a:rPr>
              <a:t>法定准备金。</a:t>
            </a:r>
            <a:r>
              <a:rPr lang="zh-CN" altLang="en-US" b="0" dirty="0">
                <a:solidFill>
                  <a:schemeClr val="bg1"/>
                </a:solidFill>
                <a:latin typeface="黑体" panose="02010609060101010101" pitchFamily="49" charset="-122"/>
                <a:ea typeface="黑体" panose="02010609060101010101" pitchFamily="49" charset="-122"/>
              </a:rPr>
              <a:t>通过提高和降低准备金率来控制贷款量，增减货币供给量。</a:t>
            </a:r>
          </a:p>
        </p:txBody>
      </p:sp>
      <p:sp>
        <p:nvSpPr>
          <p:cNvPr id="7" name="Rectangle 8">
            <a:extLst>
              <a:ext uri="{FF2B5EF4-FFF2-40B4-BE49-F238E27FC236}">
                <a16:creationId xmlns:a16="http://schemas.microsoft.com/office/drawing/2014/main" id="{94F5D97E-3553-4D14-B31B-A2C8C4FC5F74}"/>
              </a:ext>
            </a:extLst>
          </p:cNvPr>
          <p:cNvSpPr>
            <a:spLocks noGrp="1" noChangeArrowheads="1"/>
          </p:cNvSpPr>
          <p:nvPr>
            <p:ph type="title"/>
          </p:nvPr>
        </p:nvSpPr>
        <p:spPr>
          <a:xfrm>
            <a:off x="468313" y="587748"/>
            <a:ext cx="5832475" cy="647700"/>
          </a:xfrm>
          <a:noFill/>
          <a:ln/>
        </p:spPr>
        <p:txBody>
          <a:bodyPr>
            <a:normAutofit fontScale="90000"/>
          </a:bodyPr>
          <a:lstStyle/>
          <a:p>
            <a:r>
              <a:rPr lang="zh-CN" altLang="en-US" sz="3100" b="0" dirty="0"/>
              <a:t>货币政策基本工具</a:t>
            </a:r>
            <a:r>
              <a:rPr lang="zh-CN" altLang="en-US" sz="2000" b="0" dirty="0"/>
              <a:t>（</a:t>
            </a: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中央银行的货币政策工具</a:t>
            </a:r>
            <a:r>
              <a:rPr lang="zh-CN" altLang="en-US" sz="2000" b="1"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000" b="0" dirty="0"/>
          </a:p>
        </p:txBody>
      </p:sp>
      <p:sp>
        <p:nvSpPr>
          <p:cNvPr id="8" name="Rectangle 9">
            <a:extLst>
              <a:ext uri="{FF2B5EF4-FFF2-40B4-BE49-F238E27FC236}">
                <a16:creationId xmlns:a16="http://schemas.microsoft.com/office/drawing/2014/main" id="{E8239221-0C93-4F42-8DC9-26A4A47C9987}"/>
              </a:ext>
            </a:extLst>
          </p:cNvPr>
          <p:cNvSpPr>
            <a:spLocks noChangeArrowheads="1"/>
          </p:cNvSpPr>
          <p:nvPr/>
        </p:nvSpPr>
        <p:spPr bwMode="auto">
          <a:xfrm>
            <a:off x="755650" y="2819773"/>
            <a:ext cx="6624638" cy="646331"/>
          </a:xfrm>
          <a:prstGeom prst="rect">
            <a:avLst/>
          </a:prstGeom>
          <a:noFill/>
          <a:ln w="3175" cap="sq">
            <a:solidFill>
              <a:schemeClr val="tx1"/>
            </a:solidFill>
            <a:miter lim="800000"/>
            <a:headEnd type="none" w="sm" len="sm"/>
            <a:tailEnd type="none" w="sm" len="sm"/>
          </a:ln>
          <a:effectLst/>
        </p:spPr>
        <p:txBody>
          <a:bodyPr>
            <a:spAutoFit/>
          </a:bodyPr>
          <a:lstStyle/>
          <a:p>
            <a:pPr>
              <a:spcBef>
                <a:spcPct val="20000"/>
              </a:spcBef>
              <a:buClr>
                <a:schemeClr val="hlink"/>
              </a:buClr>
              <a:buSzPct val="95000"/>
              <a:buFont typeface="Wingdings" panose="05000000000000000000" pitchFamily="2" charset="2"/>
              <a:buChar char="u"/>
            </a:pPr>
            <a:r>
              <a:rPr lang="zh-CN" altLang="en-US" b="1" dirty="0">
                <a:solidFill>
                  <a:schemeClr val="bg1"/>
                </a:solidFill>
              </a:rPr>
              <a:t>决定是否发行国债是属于财政政策，而发行后的一级、二级市场上的买卖属于货币政策。</a:t>
            </a:r>
          </a:p>
        </p:txBody>
      </p:sp>
      <p:sp>
        <p:nvSpPr>
          <p:cNvPr id="9" name="AutoShape 10">
            <a:extLst>
              <a:ext uri="{FF2B5EF4-FFF2-40B4-BE49-F238E27FC236}">
                <a16:creationId xmlns:a16="http://schemas.microsoft.com/office/drawing/2014/main" id="{3347C4C0-685B-4F7B-82CB-0E8CE0B0317A}"/>
              </a:ext>
            </a:extLst>
          </p:cNvPr>
          <p:cNvSpPr>
            <a:spLocks noChangeArrowheads="1"/>
          </p:cNvSpPr>
          <p:nvPr/>
        </p:nvSpPr>
        <p:spPr bwMode="auto">
          <a:xfrm>
            <a:off x="7740650" y="1595810"/>
            <a:ext cx="1042988" cy="3311525"/>
          </a:xfrm>
          <a:prstGeom prst="verticalScroll">
            <a:avLst>
              <a:gd name="adj" fmla="val 12500"/>
            </a:avLst>
          </a:prstGeom>
          <a:noFill/>
          <a:ln w="3175" cap="sq">
            <a:solidFill>
              <a:schemeClr val="tx1"/>
            </a:solidFill>
            <a:miter lim="800000"/>
            <a:headEnd type="none" w="sm" len="sm"/>
            <a:tailEnd type="none" w="sm" len="sm"/>
          </a:ln>
          <a:effectLst/>
        </p:spPr>
        <p:txBody>
          <a:bodyPr vert="eaVert" anchor="ctr"/>
          <a:lstStyle/>
          <a:p>
            <a:pPr algn="ctr"/>
            <a:r>
              <a:rPr lang="zh-CN" altLang="en-US" dirty="0">
                <a:solidFill>
                  <a:schemeClr val="bg1"/>
                </a:solidFill>
              </a:rPr>
              <a:t>属于间接货币政策</a:t>
            </a:r>
          </a:p>
        </p:txBody>
      </p:sp>
      <p:sp>
        <p:nvSpPr>
          <p:cNvPr id="10" name="AutoShape 12">
            <a:extLst>
              <a:ext uri="{FF2B5EF4-FFF2-40B4-BE49-F238E27FC236}">
                <a16:creationId xmlns:a16="http://schemas.microsoft.com/office/drawing/2014/main" id="{73A146C0-23D4-4E21-AFF7-E26DB0C47CE1}"/>
              </a:ext>
            </a:extLst>
          </p:cNvPr>
          <p:cNvSpPr>
            <a:spLocks noChangeArrowheads="1"/>
          </p:cNvSpPr>
          <p:nvPr/>
        </p:nvSpPr>
        <p:spPr bwMode="auto">
          <a:xfrm>
            <a:off x="6156325" y="5267698"/>
            <a:ext cx="2736850" cy="1296987"/>
          </a:xfrm>
          <a:prstGeom prst="verticalScroll">
            <a:avLst>
              <a:gd name="adj" fmla="val 12500"/>
            </a:avLst>
          </a:prstGeom>
          <a:noFill/>
          <a:ln w="3175" cap="sq">
            <a:solidFill>
              <a:schemeClr val="tx1"/>
            </a:solidFill>
            <a:miter lim="800000"/>
            <a:headEnd type="none" w="sm" len="sm"/>
            <a:tailEnd type="none" w="sm" len="sm"/>
          </a:ln>
          <a:effectLst/>
        </p:spPr>
        <p:txBody>
          <a:bodyPr anchor="ctr"/>
          <a:lstStyle/>
          <a:p>
            <a:pPr algn="just">
              <a:lnSpc>
                <a:spcPct val="90000"/>
              </a:lnSpc>
              <a:spcBef>
                <a:spcPct val="20000"/>
              </a:spcBef>
              <a:buClr>
                <a:schemeClr val="tx2"/>
              </a:buClr>
              <a:buFont typeface="Wingdings" panose="05000000000000000000" pitchFamily="2" charset="2"/>
              <a:buNone/>
            </a:pPr>
            <a:r>
              <a:rPr lang="zh-CN" altLang="en-US" dirty="0">
                <a:solidFill>
                  <a:schemeClr val="bg1"/>
                </a:solidFill>
              </a:rPr>
              <a:t>属于直接货币政策，力度强、见效快</a:t>
            </a:r>
          </a:p>
        </p:txBody>
      </p:sp>
      <p:sp>
        <p:nvSpPr>
          <p:cNvPr id="11" name="AutoShape 13">
            <a:extLst>
              <a:ext uri="{FF2B5EF4-FFF2-40B4-BE49-F238E27FC236}">
                <a16:creationId xmlns:a16="http://schemas.microsoft.com/office/drawing/2014/main" id="{2FCB8D1B-B396-4961-A346-32A9A2729511}"/>
              </a:ext>
            </a:extLst>
          </p:cNvPr>
          <p:cNvSpPr>
            <a:spLocks/>
          </p:cNvSpPr>
          <p:nvPr/>
        </p:nvSpPr>
        <p:spPr bwMode="auto">
          <a:xfrm>
            <a:off x="7451725" y="1667248"/>
            <a:ext cx="215900" cy="3240087"/>
          </a:xfrm>
          <a:prstGeom prst="rightBrace">
            <a:avLst>
              <a:gd name="adj1" fmla="val 125061"/>
              <a:gd name="adj2"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AutoShape 14">
            <a:extLst>
              <a:ext uri="{FF2B5EF4-FFF2-40B4-BE49-F238E27FC236}">
                <a16:creationId xmlns:a16="http://schemas.microsoft.com/office/drawing/2014/main" id="{F637A5FA-A4BD-4D39-8AE9-0064722D7DA5}"/>
              </a:ext>
            </a:extLst>
          </p:cNvPr>
          <p:cNvSpPr>
            <a:spLocks noChangeArrowheads="1"/>
          </p:cNvSpPr>
          <p:nvPr/>
        </p:nvSpPr>
        <p:spPr bwMode="auto">
          <a:xfrm>
            <a:off x="5867400" y="5772523"/>
            <a:ext cx="360363" cy="360362"/>
          </a:xfrm>
          <a:prstGeom prst="rightArrow">
            <a:avLst>
              <a:gd name="adj1" fmla="val 50000"/>
              <a:gd name="adj2" fmla="val 25000"/>
            </a:avLst>
          </a:prstGeom>
          <a:solidFill>
            <a:schemeClr val="accent1"/>
          </a:solidFill>
          <a:ln w="12700" cap="sq">
            <a:solidFill>
              <a:srgbClr val="3399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3596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linds(horizontal)">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blinds(horizontal)">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4E953B2-124B-46A7-B4FF-12E389BB43BA}"/>
                  </a:ext>
                </a:extLst>
              </p:cNvPr>
              <p:cNvSpPr>
                <a:spLocks noGrp="1"/>
              </p:cNvSpPr>
              <p:nvPr>
                <p:ph idx="1"/>
              </p:nvPr>
            </p:nvSpPr>
            <p:spPr>
              <a:xfrm>
                <a:off x="574249" y="1043201"/>
                <a:ext cx="9125932" cy="4351338"/>
              </a:xfrm>
            </p:spPr>
            <p:txBody>
              <a:bodyPr>
                <a:normAutofit/>
              </a:bodyPr>
              <a:lstStyle/>
              <a:p>
                <a:pPr marL="0" indent="0" algn="just">
                  <a:buNone/>
                </a:pP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假定一个经济体货币需求函数为</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L=0.2y-5r</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，实际货币供给</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m=100</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；消费函数为</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c=40+0.8</a:t>
                </a:r>
                <a14:m>
                  <m:oMath xmlns:m="http://schemas.openxmlformats.org/officeDocument/2006/math">
                    <m:sSub>
                      <m:sSubPr>
                        <m:ctrlPr>
                          <a:rPr lang="zh-CN" altLang="zh-CN" sz="1800" b="1"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𝒚</m:t>
                        </m:r>
                      </m:e>
                      <m:sub>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，政府购买</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g=50</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，税收</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t=50</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，投资函数为</a:t>
                </a:r>
                <a:r>
                  <a:rPr lang="en-US" altLang="zh-CN" sz="1800" b="1" kern="100" dirty="0" err="1">
                    <a:effectLst/>
                    <a:latin typeface="等线" panose="02010600030101010101" pitchFamily="2" charset="-122"/>
                    <a:ea typeface="宋体" panose="02010600030101010101" pitchFamily="2" charset="-122"/>
                    <a:cs typeface="Times New Roman" panose="02020603050405020304" pitchFamily="18" charset="0"/>
                  </a:rPr>
                  <a:t>i</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=140-10r</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。求：</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1</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）产品市场和货币市场同时均衡时的国民收入和利率各是多少？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2</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）当政府支出从</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50</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增加到</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80</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时，国民收入和利率各是多少？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3</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）政府支出增加到</a:t>
                </a:r>
                <a:r>
                  <a:rPr lang="en-US" altLang="zh-CN" sz="1800" b="1" kern="100" dirty="0">
                    <a:effectLst/>
                    <a:latin typeface="等线" panose="02010600030101010101" pitchFamily="2" charset="-122"/>
                    <a:ea typeface="宋体" panose="02010600030101010101" pitchFamily="2" charset="-122"/>
                    <a:cs typeface="Times New Roman" panose="02020603050405020304" pitchFamily="18" charset="0"/>
                  </a:rPr>
                  <a:t>80</a:t>
                </a:r>
                <a:r>
                  <a:rPr lang="zh-CN" altLang="zh-CN" sz="1800" b="1" kern="100" dirty="0">
                    <a:effectLst/>
                    <a:latin typeface="等线" panose="02010600030101010101" pitchFamily="2" charset="-122"/>
                    <a:ea typeface="宋体" panose="02010600030101010101" pitchFamily="2" charset="-122"/>
                    <a:cs typeface="Times New Roman" panose="02020603050405020304" pitchFamily="18" charset="0"/>
                  </a:rPr>
                  <a:t>后，挤出私人投资是多少？</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LM</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方程可由</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m=L</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得</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100=0.2y-5r</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，整理得</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y=500+25r</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     IS</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方程：</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y=</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c+i+g</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=40+0.8(y-50)+ 140-10r+50</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，整理得</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y=950-50r</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联立</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IS</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LM</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方程得产品市场和货币市场同时均衡时的国民收入</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y=650</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；利率</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r=6</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zh-CN" altLang="en-US" dirty="0"/>
              </a:p>
            </p:txBody>
          </p:sp>
        </mc:Choice>
        <mc:Fallback xmlns="">
          <p:sp>
            <p:nvSpPr>
              <p:cNvPr id="3" name="内容占位符 2">
                <a:extLst>
                  <a:ext uri="{FF2B5EF4-FFF2-40B4-BE49-F238E27FC236}">
                    <a16:creationId xmlns:a16="http://schemas.microsoft.com/office/drawing/2014/main" id="{14E953B2-124B-46A7-B4FF-12E389BB43BA}"/>
                  </a:ext>
                </a:extLst>
              </p:cNvPr>
              <p:cNvSpPr>
                <a:spLocks noGrp="1" noRot="1" noChangeAspect="1" noMove="1" noResize="1" noEditPoints="1" noAdjustHandles="1" noChangeArrowheads="1" noChangeShapeType="1" noTextEdit="1"/>
              </p:cNvSpPr>
              <p:nvPr>
                <p:ph idx="1"/>
              </p:nvPr>
            </p:nvSpPr>
            <p:spPr>
              <a:xfrm>
                <a:off x="574249" y="1043201"/>
                <a:ext cx="9125932" cy="4351338"/>
              </a:xfrm>
              <a:blipFill>
                <a:blip r:embed="rId2"/>
                <a:stretch>
                  <a:fillRect l="-534" t="-1821" r="-6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44551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FADA07D-44E5-4FE8-9F8E-69D991DE0D08}"/>
                  </a:ext>
                </a:extLst>
              </p:cNvPr>
              <p:cNvSpPr>
                <a:spLocks noGrp="1"/>
              </p:cNvSpPr>
              <p:nvPr>
                <p:ph idx="1"/>
              </p:nvPr>
            </p:nvSpPr>
            <p:spPr>
              <a:xfrm>
                <a:off x="725078" y="1769064"/>
                <a:ext cx="8786567" cy="4351338"/>
              </a:xfrm>
            </p:spPr>
            <p:txBody>
              <a:bodyPr/>
              <a:lstStyle/>
              <a:p>
                <a:pPr marL="0" indent="0" algn="just">
                  <a:buNone/>
                </a:pP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2</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）当政府支出</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g=80</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时，联立</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IS</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LM</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方程</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=500+25</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𝑟</m:t>
                            </m:r>
                          </m:e>
                          <m:e>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=1100−50</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𝑟</m:t>
                            </m:r>
                          </m:e>
                        </m:eqAr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e>
                    </m:d>
                  </m:oMath>
                </a14:m>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均衡利率</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r=8</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此时均衡国民收入</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y=700</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3</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）由于</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r=6</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时代入</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y=1100-50r</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得</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y=800</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，因此</a:t>
                </a:r>
                <a14:m>
                  <m:oMath xmlns:m="http://schemas.openxmlformats.org/officeDocument/2006/math">
                    <m: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=800</m:t>
                    </m:r>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700=100</m:t>
                    </m:r>
                  </m:oMath>
                </a14:m>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i</m:t>
                    </m:r>
                    <m: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sz="2800" kern="100">
                            <a:effectLst/>
                            <a:latin typeface="Cambria Math" panose="02040503050406030204" pitchFamily="18" charset="0"/>
                            <a:ea typeface="宋体" panose="02010600030101010101" pitchFamily="2" charset="-122"/>
                            <a:cs typeface="Times New Roman" panose="02020603050405020304" pitchFamily="18" charset="0"/>
                          </a:rPr>
                          <m:t>y</m:t>
                        </m:r>
                      </m:num>
                      <m:den>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𝑘</m:t>
                        </m:r>
                      </m:den>
                    </m:f>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100</m:t>
                        </m:r>
                      </m:num>
                      <m:den>
                        <m:f>
                          <m:fPr>
                            <m:ctrlPr>
                              <a:rPr lang="zh-CN" altLang="zh-CN" sz="2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1−0.8</m:t>
                            </m:r>
                          </m:den>
                        </m:f>
                      </m:den>
                    </m:f>
                  </m:oMath>
                </a14:m>
                <a:r>
                  <a:rPr lang="en-US" altLang="zh-CN" sz="2800" kern="100" dirty="0">
                    <a:effectLst/>
                    <a:latin typeface="宋体" panose="02010600030101010101" pitchFamily="2" charset="-122"/>
                    <a:ea typeface="等线" panose="02010600030101010101" pitchFamily="2" charset="-122"/>
                    <a:cs typeface="Times New Roman" panose="02020603050405020304" pitchFamily="18" charset="0"/>
                  </a:rPr>
                  <a:t>=20</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，因此挤出私人投资是</a:t>
                </a:r>
                <a:r>
                  <a:rPr lang="en-US" altLang="zh-CN" sz="2800" kern="100" dirty="0">
                    <a:effectLst/>
                    <a:latin typeface="等线" panose="02010600030101010101" pitchFamily="2" charset="-122"/>
                    <a:ea typeface="宋体" panose="02010600030101010101" pitchFamily="2" charset="-122"/>
                    <a:cs typeface="Times New Roman" panose="02020603050405020304" pitchFamily="18" charset="0"/>
                  </a:rPr>
                  <a:t>20</a:t>
                </a:r>
                <a:r>
                  <a:rPr lang="zh-CN" altLang="zh-CN" sz="28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zh-CN" altLang="en-US" dirty="0"/>
              </a:p>
            </p:txBody>
          </p:sp>
        </mc:Choice>
        <mc:Fallback xmlns="">
          <p:sp>
            <p:nvSpPr>
              <p:cNvPr id="3" name="内容占位符 2">
                <a:extLst>
                  <a:ext uri="{FF2B5EF4-FFF2-40B4-BE49-F238E27FC236}">
                    <a16:creationId xmlns:a16="http://schemas.microsoft.com/office/drawing/2014/main" id="{6FADA07D-44E5-4FE8-9F8E-69D991DE0D08}"/>
                  </a:ext>
                </a:extLst>
              </p:cNvPr>
              <p:cNvSpPr>
                <a:spLocks noGrp="1" noRot="1" noChangeAspect="1" noMove="1" noResize="1" noEditPoints="1" noAdjustHandles="1" noChangeArrowheads="1" noChangeShapeType="1" noTextEdit="1"/>
              </p:cNvSpPr>
              <p:nvPr>
                <p:ph idx="1"/>
              </p:nvPr>
            </p:nvSpPr>
            <p:spPr>
              <a:xfrm>
                <a:off x="725078" y="1769064"/>
                <a:ext cx="8786567" cy="4351338"/>
              </a:xfrm>
              <a:blipFill>
                <a:blip r:embed="rId2"/>
                <a:stretch>
                  <a:fillRect l="-1457" t="-2941" r="-13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7160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0">
            <a:extLst>
              <a:ext uri="{FF2B5EF4-FFF2-40B4-BE49-F238E27FC236}">
                <a16:creationId xmlns:a16="http://schemas.microsoft.com/office/drawing/2014/main" id="{B43130CF-4F1E-4739-A330-0C95D8211F05}"/>
              </a:ext>
            </a:extLst>
          </p:cNvPr>
          <p:cNvSpPr>
            <a:spLocks noGrp="1" noChangeArrowheads="1"/>
          </p:cNvSpPr>
          <p:nvPr>
            <p:ph idx="1"/>
          </p:nvPr>
        </p:nvSpPr>
        <p:spPr>
          <a:xfrm>
            <a:off x="741228" y="840156"/>
            <a:ext cx="8424862" cy="3024188"/>
          </a:xfrm>
          <a:noFill/>
          <a:ln w="3175" cmpd="tri">
            <a:solidFill>
              <a:schemeClr val="tx1"/>
            </a:solidFill>
          </a:ln>
        </p:spPr>
        <p:txBody>
          <a:bodyPr/>
          <a:lstStyle/>
          <a:p>
            <a:pPr marL="0" indent="0">
              <a:buNone/>
            </a:pPr>
            <a:r>
              <a:rPr lang="zh-CN" altLang="en-US" b="1" dirty="0"/>
              <a:t>假设消费函数</a:t>
            </a:r>
            <a:r>
              <a:rPr lang="en-US" altLang="zh-CN" b="1" dirty="0"/>
              <a:t>c=100+0.8y</a:t>
            </a:r>
            <a:r>
              <a:rPr lang="zh-CN" altLang="en-US" b="1" dirty="0"/>
              <a:t>，投资</a:t>
            </a:r>
            <a:r>
              <a:rPr lang="en-US" altLang="zh-CN" b="1" dirty="0" err="1"/>
              <a:t>i</a:t>
            </a:r>
            <a:r>
              <a:rPr lang="en-US" altLang="zh-CN" b="1" dirty="0"/>
              <a:t>=50</a:t>
            </a:r>
          </a:p>
          <a:p>
            <a:pPr marL="0" indent="0">
              <a:buNone/>
            </a:pPr>
            <a:r>
              <a:rPr lang="zh-CN" altLang="en-US" sz="2000" b="1" dirty="0"/>
              <a:t>政府购买支出</a:t>
            </a:r>
            <a:r>
              <a:rPr lang="en-US" altLang="zh-CN" sz="2000" b="1" dirty="0"/>
              <a:t>g</a:t>
            </a:r>
            <a:r>
              <a:rPr lang="zh-CN" altLang="en-US" sz="2000" b="1" dirty="0"/>
              <a:t>＝</a:t>
            </a:r>
            <a:r>
              <a:rPr lang="en-US" altLang="zh-CN" sz="2000" b="1" dirty="0"/>
              <a:t>200</a:t>
            </a:r>
            <a:r>
              <a:rPr lang="zh-CN" altLang="en-US" sz="2000" b="1" dirty="0"/>
              <a:t>，政府转移支付</a:t>
            </a:r>
            <a:r>
              <a:rPr lang="en-US" altLang="zh-CN" sz="2000" b="1" dirty="0"/>
              <a:t>tr</a:t>
            </a:r>
            <a:r>
              <a:rPr lang="zh-CN" altLang="en-US" sz="2000" b="1" dirty="0"/>
              <a:t>＝</a:t>
            </a:r>
            <a:r>
              <a:rPr lang="en-US" altLang="zh-CN" sz="2000" b="1" dirty="0"/>
              <a:t>62.5</a:t>
            </a:r>
            <a:r>
              <a:rPr lang="zh-CN" altLang="en-US" sz="2000" b="1" dirty="0"/>
              <a:t>，直接税</a:t>
            </a:r>
            <a:r>
              <a:rPr lang="en-US" altLang="zh-CN" sz="2000" b="1" dirty="0"/>
              <a:t>T</a:t>
            </a:r>
            <a:r>
              <a:rPr lang="zh-CN" altLang="en-US" sz="2000" b="1" dirty="0"/>
              <a:t>＝</a:t>
            </a:r>
            <a:r>
              <a:rPr lang="en-US" altLang="zh-CN" sz="2000" b="1" dirty="0"/>
              <a:t>250</a:t>
            </a:r>
          </a:p>
          <a:p>
            <a:pPr marL="0" indent="0">
              <a:buNone/>
            </a:pPr>
            <a:r>
              <a:rPr lang="zh-CN" altLang="en-US" sz="2000" b="1" dirty="0">
                <a:sym typeface="Wingdings" panose="05000000000000000000" pitchFamily="2" charset="2"/>
              </a:rPr>
              <a:t>（</a:t>
            </a:r>
            <a:r>
              <a:rPr lang="en-US" altLang="zh-CN" sz="2000" b="1" dirty="0">
                <a:sym typeface="Wingdings" panose="05000000000000000000" pitchFamily="2" charset="2"/>
              </a:rPr>
              <a:t>1</a:t>
            </a:r>
            <a:r>
              <a:rPr lang="zh-CN" altLang="en-US" sz="2000" b="1" dirty="0">
                <a:sym typeface="Wingdings" panose="05000000000000000000" pitchFamily="2" charset="2"/>
              </a:rPr>
              <a:t>）求均衡收入。</a:t>
            </a:r>
          </a:p>
          <a:p>
            <a:pPr marL="0" indent="0">
              <a:buNone/>
            </a:pPr>
            <a:r>
              <a:rPr lang="zh-CN" altLang="en-US" sz="2000" b="1" dirty="0">
                <a:sym typeface="Wingdings" panose="05000000000000000000" pitchFamily="2" charset="2"/>
              </a:rPr>
              <a:t>（</a:t>
            </a:r>
            <a:r>
              <a:rPr lang="en-US" altLang="zh-CN" sz="2000" b="1" dirty="0">
                <a:sym typeface="Wingdings" panose="05000000000000000000" pitchFamily="2" charset="2"/>
              </a:rPr>
              <a:t>2</a:t>
            </a:r>
            <a:r>
              <a:rPr lang="zh-CN" altLang="en-US" sz="2000" b="1" dirty="0">
                <a:sym typeface="Wingdings" panose="05000000000000000000" pitchFamily="2" charset="2"/>
              </a:rPr>
              <a:t>）求投资乘数、政府支出乘数、税收乘数、转移支付乘数、平衡预算乘数。</a:t>
            </a:r>
          </a:p>
          <a:p>
            <a:pPr marL="0" indent="0">
              <a:buNone/>
            </a:pPr>
            <a:r>
              <a:rPr lang="zh-CN" altLang="en-US" sz="2000" b="1" dirty="0">
                <a:sym typeface="Wingdings" panose="05000000000000000000" pitchFamily="2" charset="2"/>
              </a:rPr>
              <a:t>（</a:t>
            </a:r>
            <a:r>
              <a:rPr lang="en-US" altLang="zh-CN" sz="2000" b="1" dirty="0">
                <a:sym typeface="Wingdings" panose="05000000000000000000" pitchFamily="2" charset="2"/>
              </a:rPr>
              <a:t>3</a:t>
            </a:r>
            <a:r>
              <a:rPr lang="zh-CN" altLang="en-US" sz="2000" b="1" dirty="0">
                <a:sym typeface="Wingdings" panose="05000000000000000000" pitchFamily="2" charset="2"/>
              </a:rPr>
              <a:t>）假定达到充分就业所需要的国民收入为</a:t>
            </a:r>
            <a:r>
              <a:rPr lang="en-US" altLang="zh-CN" sz="2000" b="1" dirty="0">
                <a:sym typeface="Wingdings" panose="05000000000000000000" pitchFamily="2" charset="2"/>
              </a:rPr>
              <a:t>1200</a:t>
            </a:r>
            <a:r>
              <a:rPr lang="zh-CN" altLang="en-US" sz="2000" b="1" dirty="0">
                <a:sym typeface="Wingdings" panose="05000000000000000000" pitchFamily="2" charset="2"/>
              </a:rPr>
              <a:t>，试问：</a:t>
            </a:r>
            <a:r>
              <a:rPr lang="en-US" altLang="zh-CN" sz="2000" b="1" dirty="0">
                <a:sym typeface="Wingdings" panose="05000000000000000000" pitchFamily="2" charset="2"/>
              </a:rPr>
              <a:t>1</a:t>
            </a:r>
            <a:r>
              <a:rPr lang="zh-CN" altLang="en-US" sz="2000" b="1" dirty="0">
                <a:sym typeface="Wingdings" panose="05000000000000000000" pitchFamily="2" charset="2"/>
              </a:rPr>
              <a:t>）增加政府购买；</a:t>
            </a:r>
            <a:r>
              <a:rPr lang="en-US" altLang="zh-CN" sz="2000" b="1" dirty="0">
                <a:sym typeface="Wingdings" panose="05000000000000000000" pitchFamily="2" charset="2"/>
              </a:rPr>
              <a:t>2</a:t>
            </a:r>
            <a:r>
              <a:rPr lang="zh-CN" altLang="en-US" sz="2000" b="1" dirty="0">
                <a:sym typeface="Wingdings" panose="05000000000000000000" pitchFamily="2" charset="2"/>
              </a:rPr>
              <a:t>）减少税收各需要多少数额？</a:t>
            </a:r>
          </a:p>
        </p:txBody>
      </p:sp>
      <p:sp>
        <p:nvSpPr>
          <p:cNvPr id="5" name="Rectangle 17">
            <a:extLst>
              <a:ext uri="{FF2B5EF4-FFF2-40B4-BE49-F238E27FC236}">
                <a16:creationId xmlns:a16="http://schemas.microsoft.com/office/drawing/2014/main" id="{7D2E0200-FF9C-461C-A5AE-96E12D4C34BA}"/>
              </a:ext>
            </a:extLst>
          </p:cNvPr>
          <p:cNvSpPr>
            <a:spLocks noChangeArrowheads="1"/>
          </p:cNvSpPr>
          <p:nvPr/>
        </p:nvSpPr>
        <p:spPr bwMode="auto">
          <a:xfrm>
            <a:off x="741228" y="3897040"/>
            <a:ext cx="7993062" cy="1368425"/>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marL="0" indent="0">
              <a:spcBef>
                <a:spcPct val="0"/>
              </a:spcBef>
              <a:buClr>
                <a:srgbClr val="FF0000"/>
              </a:buClr>
              <a:buSzPct val="95000"/>
              <a:buNone/>
            </a:pPr>
            <a:r>
              <a:rPr lang="zh-CN" altLang="en-US" b="1" dirty="0"/>
              <a:t>（</a:t>
            </a:r>
            <a:r>
              <a:rPr lang="en-US" altLang="zh-CN" b="1" dirty="0"/>
              <a:t>1</a:t>
            </a:r>
            <a:r>
              <a:rPr lang="zh-CN" altLang="en-US" b="1" dirty="0"/>
              <a:t>） 均衡收入</a:t>
            </a:r>
          </a:p>
          <a:p>
            <a:pPr marL="0" indent="0">
              <a:spcBef>
                <a:spcPct val="0"/>
              </a:spcBef>
              <a:buClr>
                <a:srgbClr val="FF0000"/>
              </a:buClr>
              <a:buSzPct val="95000"/>
              <a:buNone/>
            </a:pPr>
            <a:r>
              <a:rPr lang="en-US" altLang="zh-CN" b="1" dirty="0"/>
              <a:t>y</a:t>
            </a:r>
            <a:r>
              <a:rPr lang="zh-CN" altLang="en-US" b="1" dirty="0"/>
              <a:t>＝</a:t>
            </a:r>
            <a:r>
              <a:rPr lang="en-US" altLang="zh-CN" b="1" dirty="0"/>
              <a:t>(100</a:t>
            </a:r>
            <a:r>
              <a:rPr lang="zh-CN" altLang="en-US" b="1" dirty="0"/>
              <a:t>＋</a:t>
            </a:r>
            <a:r>
              <a:rPr lang="en-US" altLang="zh-CN" b="1" dirty="0"/>
              <a:t>50</a:t>
            </a:r>
            <a:r>
              <a:rPr lang="zh-CN" altLang="en-US" b="1" dirty="0"/>
              <a:t>＋</a:t>
            </a:r>
            <a:r>
              <a:rPr lang="en-US" altLang="zh-CN" b="1" dirty="0"/>
              <a:t>200</a:t>
            </a:r>
            <a:r>
              <a:rPr lang="zh-CN" altLang="en-US" b="1" dirty="0"/>
              <a:t>＋</a:t>
            </a:r>
            <a:r>
              <a:rPr lang="en-US" altLang="zh-CN" b="1" dirty="0"/>
              <a:t>0.8×62.5</a:t>
            </a:r>
            <a:r>
              <a:rPr lang="zh-CN" altLang="en-US" b="1" dirty="0"/>
              <a:t>－</a:t>
            </a:r>
            <a:r>
              <a:rPr lang="en-US" altLang="zh-CN" b="1" dirty="0"/>
              <a:t>0.8×250)/(1</a:t>
            </a:r>
            <a:r>
              <a:rPr lang="zh-CN" altLang="en-US" b="1" dirty="0"/>
              <a:t>－</a:t>
            </a:r>
            <a:r>
              <a:rPr lang="en-US" altLang="zh-CN" b="1" dirty="0"/>
              <a:t>0.8)</a:t>
            </a:r>
          </a:p>
          <a:p>
            <a:pPr marL="0" indent="0">
              <a:spcBef>
                <a:spcPct val="0"/>
              </a:spcBef>
              <a:buClr>
                <a:srgbClr val="FF0000"/>
              </a:buClr>
              <a:buSzPct val="95000"/>
              <a:buNone/>
            </a:pPr>
            <a:r>
              <a:rPr lang="en-US" altLang="zh-CN" b="1" dirty="0"/>
              <a:t>  </a:t>
            </a:r>
            <a:r>
              <a:rPr lang="zh-CN" altLang="en-US" b="1" dirty="0"/>
              <a:t>＝</a:t>
            </a:r>
            <a:r>
              <a:rPr lang="en-US" altLang="zh-CN" b="1" dirty="0"/>
              <a:t>1000</a:t>
            </a:r>
          </a:p>
        </p:txBody>
      </p:sp>
      <p:sp>
        <p:nvSpPr>
          <p:cNvPr id="6" name="Rectangle 18">
            <a:extLst>
              <a:ext uri="{FF2B5EF4-FFF2-40B4-BE49-F238E27FC236}">
                <a16:creationId xmlns:a16="http://schemas.microsoft.com/office/drawing/2014/main" id="{6D0D0A61-B3A7-46B0-A693-962D4389641D}"/>
              </a:ext>
            </a:extLst>
          </p:cNvPr>
          <p:cNvSpPr>
            <a:spLocks noChangeArrowheads="1"/>
          </p:cNvSpPr>
          <p:nvPr/>
        </p:nvSpPr>
        <p:spPr bwMode="auto">
          <a:xfrm>
            <a:off x="845394" y="5330858"/>
            <a:ext cx="7991475" cy="1296987"/>
          </a:xfrm>
          <a:prstGeom prst="rect">
            <a:avLst/>
          </a:prstGeom>
          <a:noFill/>
          <a:ln w="3175" cmpd="thickThin">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marL="0" indent="0">
              <a:spcBef>
                <a:spcPct val="0"/>
              </a:spcBef>
              <a:buClr>
                <a:srgbClr val="FF0000"/>
              </a:buClr>
              <a:buSzPct val="95000"/>
              <a:buNone/>
            </a:pPr>
            <a:r>
              <a:rPr lang="zh-CN" altLang="en-US" b="1" dirty="0"/>
              <a:t>（</a:t>
            </a:r>
            <a:r>
              <a:rPr lang="en-US" altLang="zh-CN" b="1" dirty="0"/>
              <a:t>2</a:t>
            </a:r>
            <a:r>
              <a:rPr lang="zh-CN" altLang="en-US" b="1" dirty="0"/>
              <a:t>）</a:t>
            </a:r>
            <a:r>
              <a:rPr lang="en-US" altLang="zh-CN" b="1" dirty="0"/>
              <a:t>b</a:t>
            </a:r>
            <a:r>
              <a:rPr lang="zh-CN" altLang="en-US" b="1" dirty="0"/>
              <a:t>＝</a:t>
            </a:r>
            <a:r>
              <a:rPr lang="en-US" altLang="zh-CN" b="1" dirty="0"/>
              <a:t>0.8</a:t>
            </a:r>
          </a:p>
          <a:p>
            <a:pPr marL="0" indent="0">
              <a:spcBef>
                <a:spcPct val="0"/>
              </a:spcBef>
              <a:buClr>
                <a:srgbClr val="FF0000"/>
              </a:buClr>
              <a:buSzPct val="95000"/>
              <a:buNone/>
            </a:pPr>
            <a:r>
              <a:rPr lang="zh-CN" altLang="en-US" b="1" dirty="0">
                <a:sym typeface="Wingdings" panose="05000000000000000000" pitchFamily="2" charset="2"/>
              </a:rPr>
              <a:t>投资乘数＝</a:t>
            </a:r>
            <a:r>
              <a:rPr lang="en-US" altLang="zh-CN" b="1" dirty="0">
                <a:sym typeface="Wingdings" panose="05000000000000000000" pitchFamily="2" charset="2"/>
              </a:rPr>
              <a:t>1/</a:t>
            </a:r>
            <a:r>
              <a:rPr lang="zh-CN" altLang="en-US" b="1" dirty="0">
                <a:sym typeface="Wingdings" panose="05000000000000000000" pitchFamily="2" charset="2"/>
              </a:rPr>
              <a:t>（</a:t>
            </a:r>
            <a:r>
              <a:rPr lang="en-US" altLang="zh-CN" b="1" dirty="0">
                <a:sym typeface="Wingdings" panose="05000000000000000000" pitchFamily="2" charset="2"/>
              </a:rPr>
              <a:t>1</a:t>
            </a:r>
            <a:r>
              <a:rPr lang="zh-CN" altLang="en-US" b="1" dirty="0">
                <a:sym typeface="Wingdings" panose="05000000000000000000" pitchFamily="2" charset="2"/>
              </a:rPr>
              <a:t>－</a:t>
            </a:r>
            <a:r>
              <a:rPr lang="en-US" altLang="zh-CN" b="1" dirty="0">
                <a:sym typeface="Wingdings" panose="05000000000000000000" pitchFamily="2" charset="2"/>
              </a:rPr>
              <a:t>b</a:t>
            </a:r>
            <a:r>
              <a:rPr lang="zh-CN" altLang="en-US" b="1" dirty="0">
                <a:sym typeface="Wingdings" panose="05000000000000000000" pitchFamily="2" charset="2"/>
              </a:rPr>
              <a:t>）＝</a:t>
            </a:r>
            <a:r>
              <a:rPr lang="en-US" altLang="zh-CN" b="1" dirty="0">
                <a:sym typeface="Wingdings" panose="05000000000000000000" pitchFamily="2" charset="2"/>
              </a:rPr>
              <a:t>5  ,</a:t>
            </a:r>
            <a:r>
              <a:rPr lang="zh-CN" altLang="en-US" b="1" dirty="0">
                <a:sym typeface="Wingdings" panose="05000000000000000000" pitchFamily="2" charset="2"/>
              </a:rPr>
              <a:t>政府支出乘数</a:t>
            </a:r>
            <a:r>
              <a:rPr lang="en-US" altLang="zh-CN" b="1" dirty="0">
                <a:sym typeface="Wingdings" panose="05000000000000000000" pitchFamily="2" charset="2"/>
              </a:rPr>
              <a:t>=5  </a:t>
            </a:r>
          </a:p>
          <a:p>
            <a:pPr marL="0" indent="0">
              <a:spcBef>
                <a:spcPct val="0"/>
              </a:spcBef>
              <a:buClr>
                <a:srgbClr val="FF0000"/>
              </a:buClr>
              <a:buSzPct val="95000"/>
              <a:buNone/>
            </a:pPr>
            <a:r>
              <a:rPr lang="zh-CN" altLang="en-US" b="1" dirty="0">
                <a:sym typeface="Wingdings" panose="05000000000000000000" pitchFamily="2" charset="2"/>
              </a:rPr>
              <a:t>税收乘数＝－</a:t>
            </a:r>
            <a:r>
              <a:rPr lang="en-US" altLang="zh-CN" b="1" dirty="0">
                <a:sym typeface="Wingdings" panose="05000000000000000000" pitchFamily="2" charset="2"/>
              </a:rPr>
              <a:t>4  ,</a:t>
            </a:r>
            <a:r>
              <a:rPr lang="zh-CN" altLang="en-US" b="1" dirty="0">
                <a:sym typeface="Wingdings" panose="05000000000000000000" pitchFamily="2" charset="2"/>
              </a:rPr>
              <a:t>转移支付乘数＝</a:t>
            </a:r>
            <a:r>
              <a:rPr lang="en-US" altLang="zh-CN" b="1" dirty="0">
                <a:sym typeface="Wingdings" panose="05000000000000000000" pitchFamily="2" charset="2"/>
              </a:rPr>
              <a:t>4 ,</a:t>
            </a:r>
            <a:r>
              <a:rPr lang="zh-CN" altLang="en-US" b="1" dirty="0">
                <a:sym typeface="Wingdings" panose="05000000000000000000" pitchFamily="2" charset="2"/>
              </a:rPr>
              <a:t>平衡预算乘数＝</a:t>
            </a:r>
            <a:r>
              <a:rPr lang="en-US" altLang="zh-CN" b="1" dirty="0">
                <a:sym typeface="Wingdings" panose="05000000000000000000" pitchFamily="2" charset="2"/>
              </a:rPr>
              <a:t>1</a:t>
            </a:r>
          </a:p>
        </p:txBody>
      </p:sp>
      <p:graphicFrame>
        <p:nvGraphicFramePr>
          <p:cNvPr id="8" name="Object 22">
            <a:extLst>
              <a:ext uri="{FF2B5EF4-FFF2-40B4-BE49-F238E27FC236}">
                <a16:creationId xmlns:a16="http://schemas.microsoft.com/office/drawing/2014/main" id="{963F3C76-AD93-4A28-96DC-EAB3B113CC22}"/>
              </a:ext>
            </a:extLst>
          </p:cNvPr>
          <p:cNvGraphicFramePr>
            <a:graphicFrameLocks noChangeAspect="1"/>
          </p:cNvGraphicFramePr>
          <p:nvPr/>
        </p:nvGraphicFramePr>
        <p:xfrm>
          <a:off x="7922362" y="355022"/>
          <a:ext cx="3887787" cy="904875"/>
        </p:xfrm>
        <a:graphic>
          <a:graphicData uri="http://schemas.openxmlformats.org/presentationml/2006/ole">
            <mc:AlternateContent xmlns:mc="http://schemas.openxmlformats.org/markup-compatibility/2006">
              <mc:Choice xmlns:v="urn:schemas-microsoft-com:vml" Requires="v">
                <p:oleObj name="Equation" r:id="rId2" imgW="1434960" imgH="393480" progId="Equation.3">
                  <p:embed/>
                </p:oleObj>
              </mc:Choice>
              <mc:Fallback>
                <p:oleObj name="Equation" r:id="rId2" imgW="1434960" imgH="393480" progId="Equation.3">
                  <p:embed/>
                  <p:pic>
                    <p:nvPicPr>
                      <p:cNvPr id="8" name="Object 22">
                        <a:extLst>
                          <a:ext uri="{FF2B5EF4-FFF2-40B4-BE49-F238E27FC236}">
                            <a16:creationId xmlns:a16="http://schemas.microsoft.com/office/drawing/2014/main" id="{963F3C76-AD93-4A28-96DC-EAB3B113C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2362" y="355022"/>
                        <a:ext cx="3887787" cy="904875"/>
                      </a:xfrm>
                      <a:prstGeom prst="rect">
                        <a:avLst/>
                      </a:prstGeom>
                      <a:noFill/>
                      <a:ln w="3175" algn="ctr">
                        <a:solidFill>
                          <a:schemeClr val="bg1"/>
                        </a:solidFill>
                        <a:miter lim="800000"/>
                        <a:headEnd/>
                        <a:tailEnd/>
                      </a:ln>
                      <a:effectLst/>
                    </p:spPr>
                  </p:pic>
                </p:oleObj>
              </mc:Fallback>
            </mc:AlternateContent>
          </a:graphicData>
        </a:graphic>
      </p:graphicFrame>
    </p:spTree>
    <p:extLst>
      <p:ext uri="{BB962C8B-B14F-4D97-AF65-F5344CB8AC3E}">
        <p14:creationId xmlns:p14="http://schemas.microsoft.com/office/powerpoint/2010/main" val="427149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blinds(horizontal)">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blinds(horizontal)">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blinds(horizontal)">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blinds(horizontal)">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blinds(horizontal)">
                                      <p:cBhvr>
                                        <p:cTn id="32" dur="500"/>
                                        <p:tgtEl>
                                          <p:spTgt spid="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26D02163-9CB3-4A28-A4E8-BD24D14F8267}"/>
              </a:ext>
            </a:extLst>
          </p:cNvPr>
          <p:cNvSpPr>
            <a:spLocks noChangeArrowheads="1"/>
          </p:cNvSpPr>
          <p:nvPr/>
        </p:nvSpPr>
        <p:spPr bwMode="auto">
          <a:xfrm>
            <a:off x="973415" y="975675"/>
            <a:ext cx="7991475" cy="1296988"/>
          </a:xfrm>
          <a:prstGeom prst="rect">
            <a:avLst/>
          </a:prstGeom>
          <a:noFill/>
          <a:ln w="3175" cmpd="thickThin">
            <a:solidFill>
              <a:schemeClr val="bg1"/>
            </a:solidFill>
            <a:miter lim="800000"/>
            <a:headEnd/>
            <a:tailEnd/>
          </a:ln>
          <a:effectLst/>
        </p:spPr>
        <p:txBody>
          <a:bodyPr/>
          <a:lstStyle>
            <a:lvl1pPr marL="342900" indent="-342900">
              <a:spcBef>
                <a:spcPct val="20000"/>
              </a:spcBef>
              <a:buClr>
                <a:srgbClr val="422D8D"/>
              </a:buClr>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p"/>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SzPct val="6500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SzPct val="65000"/>
              <a:buChar char="•"/>
              <a:defRPr kumimoji="1" sz="2000">
                <a:solidFill>
                  <a:schemeClr val="tx1"/>
                </a:solidFill>
                <a:latin typeface="Times New Roman" panose="02020603050405020304" pitchFamily="18" charset="0"/>
                <a:ea typeface="宋体" panose="02010600030101010101" pitchFamily="2" charset="-122"/>
              </a:defRPr>
            </a:lvl9pPr>
          </a:lstStyle>
          <a:p>
            <a:pPr marL="0" indent="0">
              <a:spcBef>
                <a:spcPct val="0"/>
              </a:spcBef>
              <a:buClr>
                <a:srgbClr val="FF0000"/>
              </a:buClr>
              <a:buSzPct val="95000"/>
              <a:buNone/>
            </a:pPr>
            <a:r>
              <a:rPr lang="zh-CN" altLang="en-US" b="1" dirty="0"/>
              <a:t>（</a:t>
            </a:r>
            <a:r>
              <a:rPr lang="en-US" altLang="zh-CN" b="1" dirty="0"/>
              <a:t>3</a:t>
            </a:r>
            <a:r>
              <a:rPr lang="zh-CN" altLang="en-US" b="1" dirty="0"/>
              <a:t>）</a:t>
            </a:r>
            <a:r>
              <a:rPr lang="en-US" altLang="zh-CN" b="1" dirty="0"/>
              <a:t>y’</a:t>
            </a:r>
            <a:r>
              <a:rPr lang="zh-CN" altLang="en-US" b="1" dirty="0"/>
              <a:t>＝</a:t>
            </a:r>
            <a:r>
              <a:rPr lang="en-US" altLang="zh-CN" b="1" dirty="0"/>
              <a:t>1200</a:t>
            </a:r>
            <a:r>
              <a:rPr lang="zh-CN" altLang="en-US" b="1" dirty="0"/>
              <a:t>， △</a:t>
            </a:r>
            <a:r>
              <a:rPr lang="en-US" altLang="zh-CN" b="1" dirty="0"/>
              <a:t>y</a:t>
            </a:r>
            <a:r>
              <a:rPr lang="zh-CN" altLang="en-US" b="1" dirty="0"/>
              <a:t>＝ </a:t>
            </a:r>
            <a:r>
              <a:rPr lang="en-US" altLang="zh-CN" b="1" dirty="0"/>
              <a:t>1200</a:t>
            </a:r>
            <a:r>
              <a:rPr lang="zh-CN" altLang="en-US" b="1" dirty="0"/>
              <a:t>－</a:t>
            </a:r>
            <a:r>
              <a:rPr lang="en-US" altLang="zh-CN" b="1" dirty="0"/>
              <a:t>1000</a:t>
            </a:r>
            <a:r>
              <a:rPr lang="zh-CN" altLang="en-US" b="1" dirty="0"/>
              <a:t>＝</a:t>
            </a:r>
            <a:r>
              <a:rPr lang="en-US" altLang="zh-CN" b="1" dirty="0"/>
              <a:t>200</a:t>
            </a:r>
          </a:p>
          <a:p>
            <a:pPr marL="0" indent="0">
              <a:spcBef>
                <a:spcPct val="0"/>
              </a:spcBef>
              <a:buClr>
                <a:srgbClr val="FF0000"/>
              </a:buClr>
              <a:buSzPct val="95000"/>
              <a:buNone/>
            </a:pPr>
            <a:r>
              <a:rPr lang="en-US" altLang="zh-CN" b="1" dirty="0"/>
              <a:t>1</a:t>
            </a:r>
            <a:r>
              <a:rPr lang="zh-CN" altLang="en-US" b="1" dirty="0"/>
              <a:t>）△</a:t>
            </a:r>
            <a:r>
              <a:rPr lang="en-US" altLang="zh-CN" b="1" dirty="0"/>
              <a:t>g</a:t>
            </a:r>
            <a:r>
              <a:rPr lang="zh-CN" altLang="en-US" b="1" dirty="0"/>
              <a:t>＝ △</a:t>
            </a:r>
            <a:r>
              <a:rPr lang="en-US" altLang="zh-CN" b="1" dirty="0"/>
              <a:t>y /k</a:t>
            </a:r>
            <a:r>
              <a:rPr lang="zh-CN" altLang="en-US" b="1" dirty="0"/>
              <a:t>＝</a:t>
            </a:r>
            <a:r>
              <a:rPr lang="en-US" altLang="zh-CN" b="1" dirty="0"/>
              <a:t>200/5</a:t>
            </a:r>
            <a:r>
              <a:rPr lang="zh-CN" altLang="en-US" b="1" dirty="0"/>
              <a:t>＝</a:t>
            </a:r>
            <a:r>
              <a:rPr lang="en-US" altLang="zh-CN" b="1" dirty="0"/>
              <a:t>40</a:t>
            </a:r>
            <a:r>
              <a:rPr lang="zh-CN" altLang="en-US" b="1" dirty="0"/>
              <a:t>， </a:t>
            </a:r>
          </a:p>
          <a:p>
            <a:pPr marL="0" indent="0">
              <a:spcBef>
                <a:spcPct val="0"/>
              </a:spcBef>
              <a:buClr>
                <a:srgbClr val="FF0000"/>
              </a:buClr>
              <a:buSzPct val="95000"/>
              <a:buNone/>
            </a:pPr>
            <a:r>
              <a:rPr lang="en-US" altLang="zh-CN" b="1" dirty="0"/>
              <a:t>2</a:t>
            </a:r>
            <a:r>
              <a:rPr lang="zh-CN" altLang="en-US" b="1" dirty="0"/>
              <a:t>）△</a:t>
            </a:r>
            <a:r>
              <a:rPr lang="en-US" altLang="zh-CN" b="1" dirty="0"/>
              <a:t>T</a:t>
            </a:r>
            <a:r>
              <a:rPr lang="zh-CN" altLang="en-US" b="1" dirty="0"/>
              <a:t>＝ </a:t>
            </a:r>
            <a:r>
              <a:rPr lang="en-US" altLang="zh-CN" b="1" dirty="0"/>
              <a:t>200/</a:t>
            </a:r>
            <a:r>
              <a:rPr lang="zh-CN" altLang="en-US" b="1" dirty="0"/>
              <a:t>（－</a:t>
            </a:r>
            <a:r>
              <a:rPr lang="en-US" altLang="zh-CN" b="1" dirty="0"/>
              <a:t>4</a:t>
            </a:r>
            <a:r>
              <a:rPr lang="zh-CN" altLang="en-US" b="1" dirty="0"/>
              <a:t>）＝－</a:t>
            </a:r>
            <a:r>
              <a:rPr lang="en-US" altLang="zh-CN" b="1" dirty="0"/>
              <a:t>50</a:t>
            </a:r>
          </a:p>
        </p:txBody>
      </p:sp>
    </p:spTree>
    <p:extLst>
      <p:ext uri="{BB962C8B-B14F-4D97-AF65-F5344CB8AC3E}">
        <p14:creationId xmlns:p14="http://schemas.microsoft.com/office/powerpoint/2010/main" val="209386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Office 主题​​">
  <a:themeElements>
    <a:clrScheme name="自定义 1">
      <a:dk1>
        <a:srgbClr val="FFFFFF"/>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9">
      <a:majorFont>
        <a:latin typeface="等线 Light"/>
        <a:ea typeface="微软雅黑"/>
        <a:cs typeface=""/>
      </a:majorFont>
      <a:minorFont>
        <a:latin typeface="等线"/>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3452</TotalTime>
  <Words>2518</Words>
  <Application>Microsoft Office PowerPoint</Application>
  <PresentationFormat>宽屏</PresentationFormat>
  <Paragraphs>150</Paragraphs>
  <Slides>30</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0" baseType="lpstr">
      <vt:lpstr>等线</vt:lpstr>
      <vt:lpstr>等线 Light</vt:lpstr>
      <vt:lpstr>黑体</vt:lpstr>
      <vt:lpstr>宋体</vt:lpstr>
      <vt:lpstr>Arial</vt:lpstr>
      <vt:lpstr>Cambria Math</vt:lpstr>
      <vt:lpstr>Times New Roman</vt:lpstr>
      <vt:lpstr>Wingdings</vt:lpstr>
      <vt:lpstr>Office 主题​​</vt:lpstr>
      <vt:lpstr>Equation</vt:lpstr>
      <vt:lpstr>宏观经济政策</vt:lpstr>
      <vt:lpstr>财政政策与货币政策</vt:lpstr>
      <vt:lpstr>财政和货币政策的影响（正面）</vt:lpstr>
      <vt:lpstr> 财政政策效果</vt:lpstr>
      <vt:lpstr>财政政策效果</vt:lpstr>
      <vt:lpstr>挤出效应  Crowding out effect </vt:lpstr>
      <vt:lpstr>货币幻觉  Monetary illusion </vt:lpstr>
      <vt:lpstr>凯恩斯陷阱中的财政政策</vt:lpstr>
      <vt:lpstr>PowerPoint 演示文稿</vt:lpstr>
      <vt:lpstr>IS垂直时货币政策完全失效</vt:lpstr>
      <vt:lpstr>古典主义的极端情况</vt:lpstr>
      <vt:lpstr>财政政策完全无效</vt:lpstr>
      <vt:lpstr>古典主义的观点</vt:lpstr>
      <vt:lpstr>两种政策的混合使用</vt:lpstr>
      <vt:lpstr>稳定利率的同时，增加收入</vt:lpstr>
      <vt:lpstr>PowerPoint 演示文稿</vt:lpstr>
      <vt:lpstr>PowerPoint 演示文稿</vt:lpstr>
      <vt:lpstr>混合使用的政策效应</vt:lpstr>
      <vt:lpstr>自动（内在）稳定器   </vt:lpstr>
      <vt:lpstr>斟酌使用的财政政策</vt:lpstr>
      <vt:lpstr>货币</vt:lpstr>
      <vt:lpstr>PowerPoint 演示文稿</vt:lpstr>
      <vt:lpstr>商业银行与货币创造过程</vt:lpstr>
      <vt:lpstr>商业银行与货币创造过程</vt:lpstr>
      <vt:lpstr>基础货币</vt:lpstr>
      <vt:lpstr>货币政策基本工具（中央银行的货币政策工具）</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984071643@qq.com</dc:creator>
  <cp:lastModifiedBy> </cp:lastModifiedBy>
  <cp:revision>42</cp:revision>
  <dcterms:created xsi:type="dcterms:W3CDTF">2018-03-18T07:05:20Z</dcterms:created>
  <dcterms:modified xsi:type="dcterms:W3CDTF">2021-06-08T15:19:38Z</dcterms:modified>
</cp:coreProperties>
</file>