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2" r:id="rId3"/>
    <p:sldId id="274" r:id="rId4"/>
    <p:sldId id="275" r:id="rId5"/>
    <p:sldId id="256" r:id="rId6"/>
    <p:sldId id="257" r:id="rId7"/>
    <p:sldId id="258" r:id="rId8"/>
    <p:sldId id="278" r:id="rId9"/>
    <p:sldId id="259" r:id="rId10"/>
    <p:sldId id="289" r:id="rId11"/>
    <p:sldId id="260" r:id="rId12"/>
    <p:sldId id="268" r:id="rId13"/>
    <p:sldId id="277" r:id="rId14"/>
    <p:sldId id="263" r:id="rId15"/>
    <p:sldId id="264" r:id="rId16"/>
    <p:sldId id="279" r:id="rId17"/>
    <p:sldId id="280" r:id="rId18"/>
    <p:sldId id="281" r:id="rId19"/>
    <p:sldId id="282" r:id="rId20"/>
    <p:sldId id="283" r:id="rId21"/>
    <p:sldId id="284" r:id="rId22"/>
    <p:sldId id="269" r:id="rId23"/>
    <p:sldId id="270" r:id="rId24"/>
    <p:sldId id="290" r:id="rId25"/>
    <p:sldId id="291" r:id="rId26"/>
    <p:sldId id="292" r:id="rId27"/>
    <p:sldId id="293"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94660"/>
  </p:normalViewPr>
  <p:slideViewPr>
    <p:cSldViewPr snapToGrid="0">
      <p:cViewPr varScale="1">
        <p:scale>
          <a:sx n="81" d="100"/>
          <a:sy n="81" d="100"/>
        </p:scale>
        <p:origin x="77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BD3891-A03E-428B-B434-533B0CEDCBC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75C9EB9-318A-4EF6-90E2-E566BA62F9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BECB62C-703E-4D9E-BFE2-6BA69035675B}"/>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0B35C0CC-09B9-4F94-92C8-EBEA9F1463E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7CC6B8-91F8-4190-9680-9F20119C3F48}"/>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693010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428638-71E5-4E5D-B2DF-D656C551AB6E}"/>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AA49AA82-CE82-4E15-A13C-69FF93EF9B86}"/>
              </a:ext>
            </a:extLst>
          </p:cNvPr>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95F7D4AB-EB79-4D5C-AE3B-94805BE75B8F}"/>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3D4A6351-E3CD-47FB-B08A-D2CC0D80E6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BDE6A9-0055-4E64-8F9F-4397025E7C0E}"/>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846439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AD526C-86BC-4D5B-B9DD-00037117333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35ADA01-02B1-4EA0-B886-8E54053D1B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72A9AE-8979-4902-970E-CAF5C57CE0F9}"/>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699E587B-8326-4333-92E1-F0947AA4B0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889DF9-4BA5-474B-896A-708C75D13680}"/>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418216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8218F3-19A8-489F-A5F0-DEBC171B2FD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675A558-63F1-4477-977B-8475446648B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30E5AF8C-FBDF-4E0E-B2D3-226CCE288B3D}"/>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EC84678-50C7-4705-981A-B9F1829B25BC}"/>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836777A5-E089-494D-8BFE-2785A17A826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B7EFF5-0AC5-4A98-B561-D17E84BEE356}"/>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17726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1F9559-BD45-43E0-A35A-1340DAEC729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AFF75F-7AAD-47AC-8193-39CB5C0B93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E4A55D20-1D43-4D75-ADE3-96E52464F5F8}"/>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9E35B87E-C25B-4F0D-A3C3-DE745EBA0F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149A50A2-17CA-44BC-BB60-BAA178CB43E2}"/>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5DEEA1-4FD1-4DC1-AC17-140CC0BDC075}"/>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8" name="页脚占位符 7">
            <a:extLst>
              <a:ext uri="{FF2B5EF4-FFF2-40B4-BE49-F238E27FC236}">
                <a16:creationId xmlns:a16="http://schemas.microsoft.com/office/drawing/2014/main" id="{4E68960E-3CA5-4FF9-8BC3-A3EBB704156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3E377DE-75DA-45ED-B984-66F25A3F50CA}"/>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667966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3FA4B-59EA-48D5-8B57-0C8918C9C7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8AC9F56-5798-4D10-A5C4-3422C75E85BA}"/>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4" name="页脚占位符 3">
            <a:extLst>
              <a:ext uri="{FF2B5EF4-FFF2-40B4-BE49-F238E27FC236}">
                <a16:creationId xmlns:a16="http://schemas.microsoft.com/office/drawing/2014/main" id="{1A653891-2163-4AAF-8870-2DBE14C0087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3CB77C6-5ADB-43C3-819B-5FDBC221F74F}"/>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086914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4E9A7E4-73F5-4D6C-8885-9965E93F40D1}"/>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3" name="页脚占位符 2">
            <a:extLst>
              <a:ext uri="{FF2B5EF4-FFF2-40B4-BE49-F238E27FC236}">
                <a16:creationId xmlns:a16="http://schemas.microsoft.com/office/drawing/2014/main" id="{D31EFCD8-83F6-4BA6-859E-6D53C58A183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C1157FE-EC67-41AC-9BE1-6E7701CA778B}"/>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375773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13E86-7151-42C2-A7D3-4E45889980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622B982-BC3A-4B19-8E6B-098EEF725D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F1521F4D-C59F-42B2-B15C-995BE9C04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F1959368-FBB9-4FF1-A323-FCA0CE0B2E5B}"/>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100EB29A-E66D-4DDD-80ED-AF1AE8143B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5F5664-31A0-4CDC-8764-95E47955D3CA}"/>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3353033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34665-389E-4D13-AA95-373FEC146B8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70CA16A-82D4-4F21-94E2-49A105EE5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B0F0121-4F8B-4436-A2C9-B2F42688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29AD991-ABFA-4FB8-8188-7DF366E9E610}"/>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99C8738F-AB78-4BDE-AC41-BAFFD00EF1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317BFB-D622-42B5-964B-5366E5413DEC}"/>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26614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B69C7C-0D3E-4ACA-80A1-15C8A0E96B3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3CF2F87-859B-4A8C-826C-EBC5EDA83C80}"/>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DCEF0CB-150D-457F-89D4-EBEF9D09CD41}"/>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DAC22A12-95D7-42B4-B61B-9759925D69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4A0FD4-D28A-4FD6-9537-E58F9540C609}"/>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3688926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D63F4AA-052D-4F04-9AD5-4DEA14E87B5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6EE64FF-218A-460C-AB82-DC2BFA88BCC1}"/>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61DC46D-ADCB-480D-8BA8-944F96E3C401}"/>
              </a:ext>
            </a:extLst>
          </p:cNvPr>
          <p:cNvSpPr>
            <a:spLocks noGrp="1"/>
          </p:cNvSpPr>
          <p:nvPr>
            <p:ph type="dt" sz="half" idx="10"/>
          </p:nvPr>
        </p:nvSpPr>
        <p:spPr/>
        <p:txBody>
          <a:bodyPr/>
          <a:lstStyle/>
          <a:p>
            <a:fld id="{289E6603-C2BA-4A44-B9D8-B1629159FEFC}"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0356D461-0FFD-410C-BFB5-FAEF248965A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6200FD-7795-4C12-AF24-3FFB3399CED7}"/>
              </a:ext>
            </a:extLst>
          </p:cNvPr>
          <p:cNvSpPr>
            <a:spLocks noGrp="1"/>
          </p:cNvSpPr>
          <p:nvPr>
            <p:ph type="sldNum" sz="quarter" idx="12"/>
          </p:nvPr>
        </p:nvSpPr>
        <p:spPr/>
        <p:txBody>
          <a:body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495858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73B47F9-8C13-4681-93C2-7F91C1DDB7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52CD99-730B-4311-8663-508560E370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221257A-EE70-47ED-9F47-801F4AC1C7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E6603-C2BA-4A44-B9D8-B1629159FEFC}"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B7BEA549-765A-4AB6-ACE8-52007E2E8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C48BB08-6147-452B-A7D4-4F75BCF603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FDE26-C533-43CD-9B21-1A85269C71FF}" type="slidenum">
              <a:rPr lang="zh-CN" altLang="en-US" smtClean="0"/>
              <a:t>‹#›</a:t>
            </a:fld>
            <a:endParaRPr lang="zh-CN" altLang="en-US"/>
          </a:p>
        </p:txBody>
      </p:sp>
    </p:spTree>
    <p:extLst>
      <p:ext uri="{BB962C8B-B14F-4D97-AF65-F5344CB8AC3E}">
        <p14:creationId xmlns:p14="http://schemas.microsoft.com/office/powerpoint/2010/main" val="111211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baike.baidu.com/item/%E5%8D%97%E4%BA%AC%E5%A4%A7%E5%AD%A6%E5%95%86%E5%AD%A6%E9%99%A2/485503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14A05-E384-4A3E-83E7-A4C091F5E019}"/>
              </a:ext>
            </a:extLst>
          </p:cNvPr>
          <p:cNvSpPr>
            <a:spLocks noGrp="1"/>
          </p:cNvSpPr>
          <p:nvPr>
            <p:ph type="ctrTitle"/>
          </p:nvPr>
        </p:nvSpPr>
        <p:spPr>
          <a:xfrm>
            <a:off x="979854" y="852107"/>
            <a:ext cx="9523378" cy="2447873"/>
          </a:xfrm>
        </p:spPr>
        <p:txBody>
          <a:bodyPr/>
          <a:lstStyle/>
          <a:p>
            <a:r>
              <a:rPr lang="zh-CN" altLang="en-US" dirty="0"/>
              <a:t>西方经济学大学期末</a:t>
            </a:r>
            <a:br>
              <a:rPr lang="en-US" altLang="zh-CN" dirty="0"/>
            </a:br>
            <a:r>
              <a:rPr lang="zh-CN" altLang="en-US" dirty="0"/>
              <a:t>考前冲刺课</a:t>
            </a:r>
            <a:br>
              <a:rPr lang="en-US" altLang="zh-CN" dirty="0"/>
            </a:br>
            <a:r>
              <a:rPr lang="zh-CN" altLang="en-US" sz="3200" dirty="0"/>
              <a:t>宏观部分（宏观经济学）</a:t>
            </a:r>
          </a:p>
        </p:txBody>
      </p:sp>
      <p:sp>
        <p:nvSpPr>
          <p:cNvPr id="3" name="副标题 2">
            <a:extLst>
              <a:ext uri="{FF2B5EF4-FFF2-40B4-BE49-F238E27FC236}">
                <a16:creationId xmlns:a16="http://schemas.microsoft.com/office/drawing/2014/main" id="{24EB0504-BAF6-47BF-9307-EB6B8BC676E5}"/>
              </a:ext>
            </a:extLst>
          </p:cNvPr>
          <p:cNvSpPr>
            <a:spLocks noGrp="1"/>
          </p:cNvSpPr>
          <p:nvPr>
            <p:ph type="subTitle" idx="1"/>
          </p:nvPr>
        </p:nvSpPr>
        <p:spPr>
          <a:xfrm>
            <a:off x="1524000" y="4129939"/>
            <a:ext cx="9144000" cy="1655762"/>
          </a:xfrm>
        </p:spPr>
        <p:txBody>
          <a:bodyPr/>
          <a:lstStyle/>
          <a:p>
            <a:pPr>
              <a:lnSpc>
                <a:spcPct val="110000"/>
              </a:lnSpc>
              <a:buClr>
                <a:srgbClr val="336600"/>
              </a:buClr>
              <a:buSzPct val="95000"/>
            </a:pPr>
            <a:r>
              <a:rPr lang="en-US" altLang="zh-CN" sz="2400" b="1" dirty="0">
                <a:solidFill>
                  <a:schemeClr val="tx1"/>
                </a:solidFill>
                <a:ea typeface="楷体_GB2312" pitchFamily="49" charset="-122"/>
              </a:rPr>
              <a:t> </a:t>
            </a:r>
            <a:r>
              <a:rPr lang="zh-CN" altLang="en-US" sz="2400" b="1" dirty="0">
                <a:solidFill>
                  <a:schemeClr val="tx1"/>
                </a:solidFill>
                <a:ea typeface="楷体_GB2312" pitchFamily="49" charset="-122"/>
              </a:rPr>
              <a:t>主讲人：</a:t>
            </a:r>
            <a:r>
              <a:rPr lang="zh-CN" altLang="en-US" sz="2400" b="1" dirty="0">
                <a:solidFill>
                  <a:srgbClr val="FFFF00"/>
                </a:solidFill>
                <a:ea typeface="楷体_GB2312" pitchFamily="49" charset="-122"/>
              </a:rPr>
              <a:t>樊士德</a:t>
            </a:r>
          </a:p>
          <a:p>
            <a:pPr>
              <a:lnSpc>
                <a:spcPct val="110000"/>
              </a:lnSpc>
              <a:buClr>
                <a:srgbClr val="336600"/>
              </a:buClr>
              <a:buSzPct val="95000"/>
            </a:pPr>
            <a:r>
              <a:rPr lang="zh-CN" altLang="en-US" sz="2400" b="1" dirty="0">
                <a:solidFill>
                  <a:schemeClr val="bg1"/>
                </a:solidFill>
                <a:ea typeface="楷体_GB2312" pitchFamily="49" charset="-122"/>
              </a:rPr>
              <a:t>             </a:t>
            </a:r>
            <a:r>
              <a:rPr lang="en-US" altLang="zh-CN" sz="2800" dirty="0">
                <a:solidFill>
                  <a:schemeClr val="bg1"/>
                </a:solidFill>
              </a:rPr>
              <a:t>Welcome to my course !</a:t>
            </a:r>
            <a:endParaRPr lang="zh-CN" altLang="en-US" dirty="0">
              <a:solidFill>
                <a:schemeClr val="bg1"/>
              </a:solidFill>
            </a:endParaRPr>
          </a:p>
        </p:txBody>
      </p:sp>
      <p:sp>
        <p:nvSpPr>
          <p:cNvPr id="5" name="矩形 4">
            <a:extLst>
              <a:ext uri="{FF2B5EF4-FFF2-40B4-BE49-F238E27FC236}">
                <a16:creationId xmlns:a16="http://schemas.microsoft.com/office/drawing/2014/main" id="{9A3A98BF-58D3-46BC-AFEE-EA72591B8C34}"/>
              </a:ext>
            </a:extLst>
          </p:cNvPr>
          <p:cNvSpPr/>
          <p:nvPr/>
        </p:nvSpPr>
        <p:spPr>
          <a:xfrm>
            <a:off x="3977701" y="3362850"/>
            <a:ext cx="3816350" cy="641350"/>
          </a:xfrm>
          <a:prstGeom prst="rect">
            <a:avLst/>
          </a:prstGeom>
          <a:noFill/>
          <a:ln w="9525">
            <a:noFill/>
          </a:ln>
        </p:spPr>
        <p:txBody>
          <a:bodyPr>
            <a:spAutoFit/>
          </a:bodyPr>
          <a:lstStyle/>
          <a:p>
            <a:r>
              <a:rPr lang="en-US" altLang="zh-CN" sz="3600" b="1" noProof="1">
                <a:solidFill>
                  <a:srgbClr val="FFFF00"/>
                </a:solidFill>
                <a:effectLst>
                  <a:outerShdw blurRad="38100" dist="38100" dir="2700000">
                    <a:srgbClr val="000000"/>
                  </a:outerShdw>
                </a:effectLst>
                <a:latin typeface="Times New Roman" panose="02020603050405020304" pitchFamily="18" charset="0"/>
              </a:rPr>
              <a:t>Macro-Economics</a:t>
            </a:r>
          </a:p>
        </p:txBody>
      </p:sp>
    </p:spTree>
    <p:extLst>
      <p:ext uri="{BB962C8B-B14F-4D97-AF65-F5344CB8AC3E}">
        <p14:creationId xmlns:p14="http://schemas.microsoft.com/office/powerpoint/2010/main" val="1184082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5E4320-A95F-4E18-899C-BE6DE356060E}"/>
              </a:ext>
            </a:extLst>
          </p:cNvPr>
          <p:cNvSpPr>
            <a:spLocks noGrp="1"/>
          </p:cNvSpPr>
          <p:nvPr>
            <p:ph type="title"/>
          </p:nvPr>
        </p:nvSpPr>
        <p:spPr/>
        <p:txBody>
          <a:bodyPr/>
          <a:lstStyle/>
          <a:p>
            <a:pPr algn="ctr"/>
            <a:r>
              <a:rPr lang="zh-CN" altLang="en-US" dirty="0"/>
              <a:t>老师简介</a:t>
            </a:r>
          </a:p>
        </p:txBody>
      </p:sp>
      <p:sp>
        <p:nvSpPr>
          <p:cNvPr id="3" name="内容占位符 2">
            <a:extLst>
              <a:ext uri="{FF2B5EF4-FFF2-40B4-BE49-F238E27FC236}">
                <a16:creationId xmlns:a16="http://schemas.microsoft.com/office/drawing/2014/main" id="{5B01B295-237B-4559-816A-D7A4017C49D8}"/>
              </a:ext>
            </a:extLst>
          </p:cNvPr>
          <p:cNvSpPr>
            <a:spLocks noGrp="1"/>
          </p:cNvSpPr>
          <p:nvPr>
            <p:ph idx="1"/>
          </p:nvPr>
        </p:nvSpPr>
        <p:spPr>
          <a:xfrm>
            <a:off x="838200" y="1533394"/>
            <a:ext cx="10515600" cy="4351338"/>
          </a:xfrm>
        </p:spPr>
        <p:txBody>
          <a:bodyPr/>
          <a:lstStyle/>
          <a:p>
            <a:pPr marL="0" indent="0" algn="l">
              <a:buNone/>
            </a:pPr>
            <a:r>
              <a:rPr lang="zh-CN" altLang="zh-CN" sz="2400" kern="100" dirty="0">
                <a:solidFill>
                  <a:schemeClr val="bg1"/>
                </a:solidFill>
                <a:effectLst/>
                <a:latin typeface="Arial" panose="020B0604020202020204" pitchFamily="34" charset="0"/>
                <a:ea typeface="等线" panose="02010600030101010101" pitchFamily="2" charset="-122"/>
                <a:cs typeface="Arial" panose="020B0604020202020204" pitchFamily="34" charset="0"/>
              </a:rPr>
              <a:t>樊士德，男，</a:t>
            </a:r>
            <a:r>
              <a:rPr lang="zh-CN" altLang="zh-CN" sz="2400" kern="100" dirty="0">
                <a:solidFill>
                  <a:schemeClr val="bg1"/>
                </a:solidFill>
                <a:effectLst/>
                <a:latin typeface="等线" panose="02010600030101010101" pitchFamily="2" charset="-122"/>
                <a:ea typeface="仿宋_gb2312"/>
                <a:cs typeface="Tahoma" panose="020B0604030504040204" pitchFamily="34" charset="0"/>
              </a:rPr>
              <a:t>教授、</a:t>
            </a:r>
            <a:r>
              <a:rPr lang="zh-CN" altLang="zh-CN" sz="2400" kern="100" dirty="0">
                <a:solidFill>
                  <a:schemeClr val="bg1"/>
                </a:solidFill>
                <a:effectLst/>
                <a:latin typeface="Arial" panose="020B0604020202020204" pitchFamily="34" charset="0"/>
                <a:ea typeface="等线" panose="02010600030101010101" pitchFamily="2" charset="-122"/>
                <a:cs typeface="Arial" panose="020B0604020202020204" pitchFamily="34" charset="0"/>
              </a:rPr>
              <a:t>中国社会科学院经济学博士，</a:t>
            </a:r>
            <a:r>
              <a:rPr lang="en-US" altLang="zh-CN" sz="2400" u="sng" kern="100" dirty="0" err="1">
                <a:solidFill>
                  <a:schemeClr val="bg1"/>
                </a:solidFill>
                <a:effectLst/>
                <a:latin typeface="Arial" panose="020B0604020202020204" pitchFamily="34" charset="0"/>
                <a:ea typeface="等线" panose="02010600030101010101" pitchFamily="2" charset="-122"/>
                <a:cs typeface="Arial" panose="020B0604020202020204" pitchFamily="34" charset="0"/>
                <a:hlinkClick r:id="rId2">
                  <a:extLst>
                    <a:ext uri="{A12FA001-AC4F-418D-AE19-62706E023703}">
                      <ahyp:hlinkClr xmlns:ahyp="http://schemas.microsoft.com/office/drawing/2018/hyperlinkcolor" val="tx"/>
                    </a:ext>
                  </a:extLst>
                </a:hlinkClick>
              </a:rPr>
              <a:t>南京大学商学院</a:t>
            </a:r>
            <a:r>
              <a:rPr lang="zh-CN" altLang="zh-CN" sz="2400" kern="100" dirty="0">
                <a:solidFill>
                  <a:schemeClr val="bg1"/>
                </a:solidFill>
                <a:effectLst/>
                <a:latin typeface="Arial" panose="020B0604020202020204" pitchFamily="34" charset="0"/>
                <a:ea typeface="等线" panose="02010600030101010101" pitchFamily="2" charset="-122"/>
                <a:cs typeface="Arial" panose="020B0604020202020204" pitchFamily="34" charset="0"/>
              </a:rPr>
              <a:t>博士后。</a:t>
            </a:r>
            <a:r>
              <a:rPr lang="zh-CN" altLang="zh-CN" sz="2400" kern="100" dirty="0">
                <a:solidFill>
                  <a:schemeClr val="bg1"/>
                </a:solidFill>
                <a:effectLst/>
                <a:latin typeface="Verdana" panose="020B0604030504040204" pitchFamily="34" charset="0"/>
                <a:ea typeface="等线" panose="02010600030101010101" pitchFamily="2" charset="-122"/>
                <a:cs typeface="Times New Roman" panose="02020603050405020304" pitchFamily="18" charset="0"/>
              </a:rPr>
              <a:t>现任全国博弈论与实验经济学研究会常务理事、江苏省经济和信息化委员会特约研究员、江苏省华信战略研究院特聘研究员、江苏省城市学会理事、南京社科联委员会委员。</a:t>
            </a:r>
            <a:endParaRPr lang="zh-CN" altLang="zh-CN" sz="2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l">
              <a:buNone/>
            </a:pPr>
            <a:r>
              <a:rPr lang="zh-CN" altLang="zh-CN" sz="2400" kern="0" dirty="0">
                <a:solidFill>
                  <a:schemeClr val="bg1"/>
                </a:solidFill>
                <a:effectLst/>
                <a:latin typeface="等线" panose="02010600030101010101" pitchFamily="2" charset="-122"/>
                <a:ea typeface="仿宋_gb2312"/>
                <a:cs typeface="Tahoma" panose="020B0604030504040204" pitchFamily="34" charset="0"/>
              </a:rPr>
              <a:t>研究领域：西方经济学</a:t>
            </a:r>
            <a:endParaRPr lang="zh-CN" altLang="zh-CN" sz="2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l">
              <a:buNone/>
            </a:pPr>
            <a:r>
              <a:rPr lang="zh-CN" altLang="zh-CN" sz="2400" kern="0" dirty="0">
                <a:solidFill>
                  <a:schemeClr val="bg1"/>
                </a:solidFill>
                <a:effectLst/>
                <a:latin typeface="等线" panose="02010600030101010101" pitchFamily="2" charset="-122"/>
                <a:ea typeface="仿宋_gb2312"/>
                <a:cs typeface="Tahoma" panose="020B0604030504040204" pitchFamily="34" charset="0"/>
              </a:rPr>
              <a:t>教学课程：高级宏观经济学、中级微观经济学、微观经济学、宏观经济学、实验经济学、生活中的博弈</a:t>
            </a:r>
            <a:endParaRPr lang="zh-CN" altLang="zh-CN" sz="2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l">
              <a:buNone/>
            </a:pPr>
            <a:r>
              <a:rPr lang="en-US" altLang="zh-CN" sz="2400" kern="100" dirty="0">
                <a:solidFill>
                  <a:schemeClr val="bg1"/>
                </a:solidFill>
                <a:effectLst/>
                <a:latin typeface="宋体" panose="02010600030101010101" pitchFamily="2" charset="-122"/>
                <a:ea typeface="等线" panose="02010600030101010101" pitchFamily="2" charset="-122"/>
                <a:cs typeface="Tahoma" panose="020B0604030504040204" pitchFamily="34" charset="0"/>
              </a:rPr>
              <a:t>2005.06-</a:t>
            </a:r>
            <a:r>
              <a:rPr lang="zh-CN" altLang="zh-CN" sz="2400" kern="100" dirty="0">
                <a:solidFill>
                  <a:schemeClr val="bg1"/>
                </a:solidFill>
                <a:effectLst/>
                <a:latin typeface="等线" panose="02010600030101010101" pitchFamily="2" charset="-122"/>
                <a:ea typeface="宋体" panose="02010600030101010101" pitchFamily="2" charset="-122"/>
                <a:cs typeface="Tahoma" panose="020B0604030504040204" pitchFamily="34" charset="0"/>
              </a:rPr>
              <a:t>至今 南京审计大学教授，先后担任泽园书院副院长、科研部副部长、研究生院副院长、党委副书记、研工部副部长、经济学院副院长，现任澄园书院院长，担任校重点学科西方经济学学科带头人。</a:t>
            </a:r>
            <a:r>
              <a:rPr lang="en-US" altLang="zh-CN" sz="2400" kern="100" dirty="0">
                <a:solidFill>
                  <a:schemeClr val="bg1"/>
                </a:solidFill>
                <a:effectLst/>
                <a:latin typeface="等线" panose="02010600030101010101" pitchFamily="2" charset="-122"/>
                <a:ea typeface="宋体" panose="02010600030101010101" pitchFamily="2" charset="-122"/>
                <a:cs typeface="Tahoma" panose="020B0604030504040204" pitchFamily="34" charset="0"/>
              </a:rPr>
              <a:t> </a:t>
            </a:r>
            <a:endParaRPr lang="zh-CN" altLang="zh-CN" sz="2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4063944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08545">
            <a:extLst>
              <a:ext uri="{FF2B5EF4-FFF2-40B4-BE49-F238E27FC236}">
                <a16:creationId xmlns:a16="http://schemas.microsoft.com/office/drawing/2014/main" id="{FCCAB41B-A796-4F5C-A21D-23693F85A257}"/>
              </a:ext>
            </a:extLst>
          </p:cNvPr>
          <p:cNvSpPr txBox="1">
            <a:spLocks noChangeArrowheads="1"/>
          </p:cNvSpPr>
          <p:nvPr/>
        </p:nvSpPr>
        <p:spPr>
          <a:xfrm>
            <a:off x="495300" y="687388"/>
            <a:ext cx="7010400" cy="685800"/>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a:solidFill>
                  <a:srgbClr val="FFFF00"/>
                </a:solidFill>
              </a:rPr>
              <a:t>宏观经济学的产生背景</a:t>
            </a:r>
            <a:br>
              <a:rPr lang="zh-CN" altLang="en-US" sz="3600" dirty="0"/>
            </a:br>
            <a:endParaRPr lang="zh-CN" altLang="en-US" sz="3600" dirty="0"/>
          </a:p>
        </p:txBody>
      </p:sp>
      <p:sp>
        <p:nvSpPr>
          <p:cNvPr id="5" name="文本占位符 108546" descr="蓝色面巾纸">
            <a:extLst>
              <a:ext uri="{FF2B5EF4-FFF2-40B4-BE49-F238E27FC236}">
                <a16:creationId xmlns:a16="http://schemas.microsoft.com/office/drawing/2014/main" id="{E1148C80-F9D8-4FA5-B892-7BBFD8F2125E}"/>
              </a:ext>
            </a:extLst>
          </p:cNvPr>
          <p:cNvSpPr txBox="1">
            <a:spLocks noChangeArrowheads="1"/>
          </p:cNvSpPr>
          <p:nvPr/>
        </p:nvSpPr>
        <p:spPr>
          <a:xfrm>
            <a:off x="381000" y="1524000"/>
            <a:ext cx="8229600" cy="1219200"/>
          </a:xfrm>
          <a:prstGeom prst="rect">
            <a:avLst/>
          </a:prstGeom>
          <a:noFill/>
          <a:ln w="38100" cmpd="dbl">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36600"/>
              </a:buClr>
              <a:buSzPct val="95000"/>
              <a:buFont typeface="Wingdings" panose="05000000000000000000" pitchFamily="2" charset="2"/>
              <a:buChar char="p"/>
            </a:pPr>
            <a:r>
              <a:rPr lang="zh-CN" altLang="en-US" sz="3200" dirty="0">
                <a:solidFill>
                  <a:schemeClr val="bg1"/>
                </a:solidFill>
              </a:rPr>
              <a:t>新古典微观经济理论</a:t>
            </a:r>
            <a:r>
              <a:rPr lang="zh-CN" altLang="en-US" sz="3200" dirty="0">
                <a:solidFill>
                  <a:schemeClr val="accent1"/>
                </a:solidFill>
              </a:rPr>
              <a:t>：</a:t>
            </a:r>
          </a:p>
        </p:txBody>
      </p:sp>
      <p:sp>
        <p:nvSpPr>
          <p:cNvPr id="6" name="矩形 108548" descr="蓝色面巾纸">
            <a:extLst>
              <a:ext uri="{FF2B5EF4-FFF2-40B4-BE49-F238E27FC236}">
                <a16:creationId xmlns:a16="http://schemas.microsoft.com/office/drawing/2014/main" id="{A186C559-FD45-42AA-A68F-5C962BB064DA}"/>
              </a:ext>
            </a:extLst>
          </p:cNvPr>
          <p:cNvSpPr>
            <a:spLocks noChangeArrowheads="1"/>
          </p:cNvSpPr>
          <p:nvPr/>
        </p:nvSpPr>
        <p:spPr bwMode="auto">
          <a:xfrm>
            <a:off x="381000" y="5181600"/>
            <a:ext cx="8229600" cy="1295400"/>
          </a:xfrm>
          <a:prstGeom prst="rect">
            <a:avLst/>
          </a:prstGeom>
          <a:noFill/>
          <a:ln w="38100" cmpd="dbl">
            <a:no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rgbClr val="336600"/>
              </a:buClr>
              <a:buSzPct val="95000"/>
              <a:buFont typeface="Wingdings" panose="05000000000000000000" pitchFamily="2" charset="2"/>
              <a:buChar char="p"/>
            </a:pPr>
            <a:r>
              <a:rPr lang="zh-CN" altLang="en-US" sz="3200" dirty="0">
                <a:solidFill>
                  <a:schemeClr val="bg1"/>
                </a:solidFill>
              </a:rPr>
              <a:t>凯恩斯经济学的登场：</a:t>
            </a:r>
          </a:p>
          <a:p>
            <a:pPr>
              <a:lnSpc>
                <a:spcPct val="90000"/>
              </a:lnSpc>
              <a:spcBef>
                <a:spcPct val="20000"/>
              </a:spcBef>
              <a:buClr>
                <a:srgbClr val="336600"/>
              </a:buClr>
              <a:buSzPct val="95000"/>
            </a:pPr>
            <a:r>
              <a:rPr lang="zh-CN" altLang="en-US" sz="2400" dirty="0">
                <a:solidFill>
                  <a:srgbClr val="000080"/>
                </a:solidFill>
                <a:latin typeface="" charset="0"/>
              </a:rPr>
              <a:t>     </a:t>
            </a:r>
          </a:p>
        </p:txBody>
      </p:sp>
      <p:sp>
        <p:nvSpPr>
          <p:cNvPr id="7" name="矩形 108550" descr="蓝色面巾纸">
            <a:extLst>
              <a:ext uri="{FF2B5EF4-FFF2-40B4-BE49-F238E27FC236}">
                <a16:creationId xmlns:a16="http://schemas.microsoft.com/office/drawing/2014/main" id="{0A3762D6-0C1A-4B35-911B-550BAD0F2804}"/>
              </a:ext>
            </a:extLst>
          </p:cNvPr>
          <p:cNvSpPr>
            <a:spLocks noChangeArrowheads="1"/>
          </p:cNvSpPr>
          <p:nvPr/>
        </p:nvSpPr>
        <p:spPr bwMode="auto">
          <a:xfrm>
            <a:off x="381000" y="3276600"/>
            <a:ext cx="8229600" cy="1219200"/>
          </a:xfrm>
          <a:prstGeom prst="rect">
            <a:avLst/>
          </a:prstGeom>
          <a:noFill/>
          <a:ln w="38100" cmpd="dbl">
            <a:no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rgbClr val="336600"/>
              </a:buClr>
              <a:buSzPct val="95000"/>
              <a:buFont typeface="Wingdings" panose="05000000000000000000" pitchFamily="2" charset="2"/>
              <a:buChar char="p"/>
            </a:pPr>
            <a:r>
              <a:rPr lang="zh-CN" altLang="en-US" sz="3200" dirty="0">
                <a:solidFill>
                  <a:schemeClr val="bg1"/>
                </a:solidFill>
              </a:rPr>
              <a:t>新古典学派观点：</a:t>
            </a:r>
          </a:p>
        </p:txBody>
      </p:sp>
    </p:spTree>
    <p:extLst>
      <p:ext uri="{BB962C8B-B14F-4D97-AF65-F5344CB8AC3E}">
        <p14:creationId xmlns:p14="http://schemas.microsoft.com/office/powerpoint/2010/main" val="342183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10593">
            <a:extLst>
              <a:ext uri="{FF2B5EF4-FFF2-40B4-BE49-F238E27FC236}">
                <a16:creationId xmlns:a16="http://schemas.microsoft.com/office/drawing/2014/main" id="{EFC59602-AE39-41CA-B0A2-677353DBB6B3}"/>
              </a:ext>
            </a:extLst>
          </p:cNvPr>
          <p:cNvSpPr>
            <a:spLocks noGrp="1" noChangeArrowheads="1"/>
          </p:cNvSpPr>
          <p:nvPr>
            <p:ph type="title"/>
          </p:nvPr>
        </p:nvSpPr>
        <p:spPr>
          <a:xfrm>
            <a:off x="298450" y="581025"/>
            <a:ext cx="8367713" cy="647700"/>
          </a:xfrm>
        </p:spPr>
        <p:txBody>
          <a:bodyPr/>
          <a:lstStyle/>
          <a:p>
            <a:r>
              <a:rPr lang="zh-CN" altLang="en-US" sz="3600" dirty="0">
                <a:solidFill>
                  <a:srgbClr val="FFFF00"/>
                </a:solidFill>
              </a:rPr>
              <a:t>宏观经济学的研究对象及研究方法</a:t>
            </a:r>
          </a:p>
        </p:txBody>
      </p:sp>
      <p:sp>
        <p:nvSpPr>
          <p:cNvPr id="5" name="文本占位符 110594" descr="花束">
            <a:extLst>
              <a:ext uri="{FF2B5EF4-FFF2-40B4-BE49-F238E27FC236}">
                <a16:creationId xmlns:a16="http://schemas.microsoft.com/office/drawing/2014/main" id="{3F286DB4-9D17-4096-8041-0798DE8BFF0E}"/>
              </a:ext>
            </a:extLst>
          </p:cNvPr>
          <p:cNvSpPr txBox="1">
            <a:spLocks noChangeArrowheads="1"/>
          </p:cNvSpPr>
          <p:nvPr/>
        </p:nvSpPr>
        <p:spPr>
          <a:xfrm>
            <a:off x="457200" y="1447800"/>
            <a:ext cx="8208963" cy="2743200"/>
          </a:xfrm>
          <a:prstGeom prst="rect">
            <a:avLst/>
          </a:prstGeom>
          <a:blipFill dpi="0" rotWithShape="1">
            <a:blip r:embed="rId2">
              <a:alphaModFix amt="73000"/>
            </a:blip>
            <a:srcRect/>
            <a:tile tx="0" ty="0" sx="100000" sy="100000" flip="none" algn="tl"/>
          </a:blip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dirty="0">
                <a:solidFill>
                  <a:schemeClr val="bg2">
                    <a:lumMod val="10000"/>
                  </a:schemeClr>
                </a:solidFill>
              </a:rPr>
              <a:t>1.</a:t>
            </a:r>
            <a:r>
              <a:rPr lang="zh-CN" altLang="en-US" dirty="0">
                <a:solidFill>
                  <a:schemeClr val="bg2">
                    <a:lumMod val="10000"/>
                  </a:schemeClr>
                </a:solidFill>
              </a:rPr>
              <a:t>研究对象：</a:t>
            </a:r>
          </a:p>
          <a:p>
            <a:r>
              <a:rPr lang="zh-CN" altLang="en-US" dirty="0">
                <a:solidFill>
                  <a:schemeClr val="bg2">
                    <a:lumMod val="10000"/>
                  </a:schemeClr>
                </a:solidFill>
              </a:rPr>
              <a:t>宏观经济学：研究一国的整体经济运行及政府运用经济政策来影响经济运行等宏观经济问题的社会科学。</a:t>
            </a:r>
          </a:p>
          <a:p>
            <a:pPr algn="just">
              <a:spcBef>
                <a:spcPts val="600"/>
              </a:spcBef>
            </a:pPr>
            <a:r>
              <a:rPr lang="zh-CN" altLang="en-US" dirty="0">
                <a:solidFill>
                  <a:schemeClr val="bg2">
                    <a:lumMod val="10000"/>
                  </a:schemeClr>
                </a:solidFill>
              </a:rPr>
              <a:t>“宏观（</a:t>
            </a:r>
            <a:r>
              <a:rPr lang="en-US" altLang="zh-CN" dirty="0">
                <a:solidFill>
                  <a:schemeClr val="bg2">
                    <a:lumMod val="10000"/>
                  </a:schemeClr>
                </a:solidFill>
              </a:rPr>
              <a:t>Macro-</a:t>
            </a:r>
            <a:r>
              <a:rPr lang="zh-CN" altLang="en-US" dirty="0">
                <a:solidFill>
                  <a:schemeClr val="bg2">
                    <a:lumMod val="10000"/>
                  </a:schemeClr>
                </a:solidFill>
              </a:rPr>
              <a:t>）” 希腊文表示“大”的含义。</a:t>
            </a:r>
          </a:p>
          <a:p>
            <a:pPr algn="just">
              <a:spcBef>
                <a:spcPts val="600"/>
              </a:spcBef>
            </a:pPr>
            <a:r>
              <a:rPr lang="zh-CN" altLang="en-US" dirty="0">
                <a:solidFill>
                  <a:schemeClr val="bg2">
                    <a:lumMod val="10000"/>
                  </a:schemeClr>
                </a:solidFill>
              </a:rPr>
              <a:t>“</a:t>
            </a:r>
            <a:r>
              <a:rPr lang="zh-CN" altLang="en-US" dirty="0">
                <a:solidFill>
                  <a:schemeClr val="bg2">
                    <a:lumMod val="10000"/>
                  </a:schemeClr>
                </a:solidFill>
                <a:latin typeface="" charset="0"/>
              </a:rPr>
              <a:t>宏观经济学</a:t>
            </a:r>
            <a:r>
              <a:rPr lang="zh-CN" altLang="en-US" dirty="0">
                <a:solidFill>
                  <a:schemeClr val="bg2">
                    <a:lumMod val="10000"/>
                  </a:schemeClr>
                </a:solidFill>
              </a:rPr>
              <a:t>”</a:t>
            </a:r>
            <a:r>
              <a:rPr lang="zh-CN" altLang="en-US" dirty="0">
                <a:solidFill>
                  <a:schemeClr val="bg2">
                    <a:lumMod val="10000"/>
                  </a:schemeClr>
                </a:solidFill>
                <a:latin typeface="" charset="0"/>
              </a:rPr>
              <a:t>一词，最早是挪威经济学家弗里希</a:t>
            </a:r>
            <a:r>
              <a:rPr lang="en-US" altLang="zh-CN" dirty="0">
                <a:solidFill>
                  <a:schemeClr val="bg2">
                    <a:lumMod val="10000"/>
                  </a:schemeClr>
                </a:solidFill>
              </a:rPr>
              <a:t>1933</a:t>
            </a:r>
            <a:r>
              <a:rPr lang="zh-CN" altLang="en-US" dirty="0">
                <a:solidFill>
                  <a:schemeClr val="bg2">
                    <a:lumMod val="10000"/>
                  </a:schemeClr>
                </a:solidFill>
                <a:latin typeface="" charset="0"/>
              </a:rPr>
              <a:t>年提出。而凯恩斯</a:t>
            </a:r>
            <a:r>
              <a:rPr lang="en-US" altLang="zh-CN" dirty="0">
                <a:solidFill>
                  <a:schemeClr val="bg2">
                    <a:lumMod val="10000"/>
                  </a:schemeClr>
                </a:solidFill>
              </a:rPr>
              <a:t>1936</a:t>
            </a:r>
            <a:r>
              <a:rPr lang="zh-CN" altLang="en-US" dirty="0">
                <a:solidFill>
                  <a:schemeClr val="bg2">
                    <a:lumMod val="10000"/>
                  </a:schemeClr>
                </a:solidFill>
              </a:rPr>
              <a:t>年发表</a:t>
            </a:r>
            <a:r>
              <a:rPr lang="en-US" altLang="zh-CN" dirty="0">
                <a:solidFill>
                  <a:schemeClr val="bg2">
                    <a:lumMod val="10000"/>
                  </a:schemeClr>
                </a:solidFill>
              </a:rPr>
              <a:t>《</a:t>
            </a:r>
            <a:r>
              <a:rPr lang="zh-CN" altLang="en-US" dirty="0">
                <a:solidFill>
                  <a:schemeClr val="bg2">
                    <a:lumMod val="10000"/>
                  </a:schemeClr>
                </a:solidFill>
              </a:rPr>
              <a:t>就业、利息和货币通论</a:t>
            </a:r>
            <a:r>
              <a:rPr lang="en-US" altLang="zh-CN" dirty="0">
                <a:solidFill>
                  <a:schemeClr val="bg2">
                    <a:lumMod val="10000"/>
                  </a:schemeClr>
                </a:solidFill>
              </a:rPr>
              <a:t>》</a:t>
            </a:r>
            <a:r>
              <a:rPr lang="zh-CN" altLang="en-US" dirty="0">
                <a:solidFill>
                  <a:schemeClr val="bg2">
                    <a:lumMod val="10000"/>
                  </a:schemeClr>
                </a:solidFill>
                <a:latin typeface="" charset="0"/>
              </a:rPr>
              <a:t>被称为宏观经济之父。</a:t>
            </a:r>
          </a:p>
        </p:txBody>
      </p:sp>
      <p:sp>
        <p:nvSpPr>
          <p:cNvPr id="6" name="矩形 110595" descr="粉色面巾纸">
            <a:extLst>
              <a:ext uri="{FF2B5EF4-FFF2-40B4-BE49-F238E27FC236}">
                <a16:creationId xmlns:a16="http://schemas.microsoft.com/office/drawing/2014/main" id="{5CA2C851-624E-4151-8EF4-4E0A87F271E0}"/>
              </a:ext>
            </a:extLst>
          </p:cNvPr>
          <p:cNvSpPr>
            <a:spLocks noChangeArrowheads="1"/>
          </p:cNvSpPr>
          <p:nvPr/>
        </p:nvSpPr>
        <p:spPr bwMode="auto">
          <a:xfrm>
            <a:off x="436563" y="4267200"/>
            <a:ext cx="8229600" cy="2447925"/>
          </a:xfrm>
          <a:prstGeom prst="rect">
            <a:avLst/>
          </a:prstGeom>
          <a:blipFill dpi="0" rotWithShape="0">
            <a:blip r:embed="rId3"/>
            <a:srcRect/>
            <a:tile tx="0" ty="0" sx="100000" sy="100000" flip="none" algn="tl"/>
          </a:blipFill>
          <a:ln w="76200" cmpd="tri">
            <a:solidFill>
              <a:srgbClr val="FF0000"/>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rgbClr val="336600"/>
              </a:buClr>
              <a:buSzPct val="95000"/>
              <a:buFont typeface="Wingdings" panose="05000000000000000000" pitchFamily="2" charset="2"/>
              <a:buChar char="l"/>
            </a:pPr>
            <a:r>
              <a:rPr lang="zh-CN" altLang="en-US" sz="2400" dirty="0">
                <a:solidFill>
                  <a:srgbClr val="101016"/>
                </a:solidFill>
              </a:rPr>
              <a:t>宏观与部门或某个地区的局部性整体不是一个概念。</a:t>
            </a:r>
          </a:p>
          <a:p>
            <a:pPr>
              <a:spcBef>
                <a:spcPct val="20000"/>
              </a:spcBef>
              <a:buClr>
                <a:srgbClr val="336600"/>
              </a:buClr>
              <a:buSzPct val="95000"/>
              <a:buFont typeface="Wingdings" panose="05000000000000000000" pitchFamily="2" charset="2"/>
              <a:buChar char="l"/>
            </a:pPr>
            <a:r>
              <a:rPr lang="zh-CN" altLang="en-US" sz="2400" dirty="0">
                <a:solidFill>
                  <a:srgbClr val="101016"/>
                </a:solidFill>
              </a:rPr>
              <a:t>经常提到部门性或地区性的所谓“宏观调控”问题。不仅政府行政职能部门经常以宏观调控的名义进行经济干预，地方政府把它们的管理和干预活动看作宏观调控，甚至有的基层干部也要“搞一点宏观调控”。增加了对市场干预的随意性，带来不必要的效率损失。</a:t>
            </a:r>
          </a:p>
        </p:txBody>
      </p:sp>
    </p:spTree>
    <p:extLst>
      <p:ext uri="{BB962C8B-B14F-4D97-AF65-F5344CB8AC3E}">
        <p14:creationId xmlns:p14="http://schemas.microsoft.com/office/powerpoint/2010/main" val="108108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848E96-F087-436F-9EA8-7AD2C23A3E7B}"/>
              </a:ext>
            </a:extLst>
          </p:cNvPr>
          <p:cNvSpPr>
            <a:spLocks noGrp="1"/>
          </p:cNvSpPr>
          <p:nvPr>
            <p:ph type="ctrTitle"/>
          </p:nvPr>
        </p:nvSpPr>
        <p:spPr>
          <a:xfrm>
            <a:off x="1524000" y="1423921"/>
            <a:ext cx="9144000" cy="2387600"/>
          </a:xfrm>
        </p:spPr>
        <p:txBody>
          <a:bodyPr/>
          <a:lstStyle/>
          <a:p>
            <a:r>
              <a:rPr lang="zh-CN" altLang="zh-CN" dirty="0"/>
              <a:t>宏观经济的基本指标及其衡量</a:t>
            </a:r>
            <a:endParaRPr lang="zh-CN" altLang="en-US" dirty="0"/>
          </a:p>
        </p:txBody>
      </p:sp>
    </p:spTree>
    <p:extLst>
      <p:ext uri="{BB962C8B-B14F-4D97-AF65-F5344CB8AC3E}">
        <p14:creationId xmlns:p14="http://schemas.microsoft.com/office/powerpoint/2010/main" val="644057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CF1535-DC1F-4211-BFCE-2C6435A0F579}"/>
              </a:ext>
            </a:extLst>
          </p:cNvPr>
          <p:cNvSpPr>
            <a:spLocks noGrp="1"/>
          </p:cNvSpPr>
          <p:nvPr>
            <p:ph type="title"/>
          </p:nvPr>
        </p:nvSpPr>
        <p:spPr>
          <a:xfrm>
            <a:off x="838200" y="534808"/>
            <a:ext cx="10515600" cy="1325563"/>
          </a:xfrm>
        </p:spPr>
        <p:txBody>
          <a:bodyPr>
            <a:normAutofit/>
          </a:bodyPr>
          <a:lstStyle/>
          <a:p>
            <a:r>
              <a:rPr lang="zh-CN" altLang="zh-CN" sz="2800" b="1" dirty="0"/>
              <a:t>国内生产总值（</a:t>
            </a:r>
            <a:r>
              <a:rPr lang="en-US" altLang="zh-CN" sz="2800" b="1" dirty="0"/>
              <a:t>GDP</a:t>
            </a:r>
            <a:r>
              <a:rPr lang="zh-CN" altLang="zh-CN" sz="2800" b="1" dirty="0"/>
              <a:t>）</a:t>
            </a:r>
            <a:endParaRPr lang="zh-CN" altLang="en-US" sz="2800" dirty="0"/>
          </a:p>
        </p:txBody>
      </p:sp>
      <p:sp>
        <p:nvSpPr>
          <p:cNvPr id="3" name="内容占位符 2">
            <a:extLst>
              <a:ext uri="{FF2B5EF4-FFF2-40B4-BE49-F238E27FC236}">
                <a16:creationId xmlns:a16="http://schemas.microsoft.com/office/drawing/2014/main" id="{D9938F84-CCD2-4644-A3B0-402E6C0DB611}"/>
              </a:ext>
            </a:extLst>
          </p:cNvPr>
          <p:cNvSpPr>
            <a:spLocks noGrp="1"/>
          </p:cNvSpPr>
          <p:nvPr>
            <p:ph idx="1"/>
          </p:nvPr>
        </p:nvSpPr>
        <p:spPr>
          <a:xfrm>
            <a:off x="838200" y="1436519"/>
            <a:ext cx="10515600" cy="4351338"/>
          </a:xfrm>
        </p:spPr>
        <p:txBody>
          <a:bodyPr/>
          <a:lstStyle/>
          <a:p>
            <a:pPr marL="0" indent="0">
              <a:buNone/>
            </a:pPr>
            <a:r>
              <a:rPr lang="zh-CN" altLang="zh-CN" b="1" dirty="0">
                <a:solidFill>
                  <a:srgbClr val="FFFF00"/>
                </a:solidFill>
              </a:rPr>
              <a:t>国内生产总值是指一个国家或地区在一定时期内所生产的全部最终产品和服务的市场价值之和。</a:t>
            </a:r>
            <a:endParaRPr lang="zh-CN" altLang="zh-CN" dirty="0">
              <a:solidFill>
                <a:srgbClr val="FFFF00"/>
              </a:solidFill>
            </a:endParaRPr>
          </a:p>
          <a:p>
            <a:pPr marL="0" indent="0">
              <a:buNone/>
            </a:pPr>
            <a:r>
              <a:rPr lang="zh-CN" altLang="zh-CN" dirty="0"/>
              <a:t>在</a:t>
            </a:r>
            <a:r>
              <a:rPr lang="en-US" altLang="zh-CN" dirty="0"/>
              <a:t>GDP</a:t>
            </a:r>
            <a:r>
              <a:rPr lang="zh-CN" altLang="zh-CN" dirty="0"/>
              <a:t>核算中，我们应该区分开</a:t>
            </a:r>
            <a:r>
              <a:rPr lang="zh-CN" altLang="zh-CN" b="1" dirty="0">
                <a:solidFill>
                  <a:srgbClr val="FFFF00"/>
                </a:solidFill>
              </a:rPr>
              <a:t>最终产品</a:t>
            </a:r>
            <a:r>
              <a:rPr lang="zh-CN" altLang="zh-CN" dirty="0"/>
              <a:t>与</a:t>
            </a:r>
            <a:r>
              <a:rPr lang="zh-CN" altLang="zh-CN" b="1" dirty="0">
                <a:solidFill>
                  <a:srgbClr val="FFFF00"/>
                </a:solidFill>
              </a:rPr>
              <a:t>中间产品</a:t>
            </a:r>
            <a:r>
              <a:rPr lang="zh-CN" altLang="zh-CN" dirty="0"/>
              <a:t>，</a:t>
            </a:r>
            <a:r>
              <a:rPr lang="en-US" altLang="zh-CN" dirty="0"/>
              <a:t>GDP</a:t>
            </a:r>
            <a:r>
              <a:rPr lang="zh-CN" altLang="zh-CN" b="1" dirty="0">
                <a:solidFill>
                  <a:srgbClr val="FFFF00"/>
                </a:solidFill>
              </a:rPr>
              <a:t>只计算最终产品的市场价值</a:t>
            </a:r>
            <a:r>
              <a:rPr lang="zh-CN" altLang="zh-CN" dirty="0"/>
              <a:t>，而</a:t>
            </a:r>
            <a:r>
              <a:rPr lang="zh-CN" altLang="zh-CN" b="1" dirty="0">
                <a:solidFill>
                  <a:srgbClr val="FFFF00"/>
                </a:solidFill>
              </a:rPr>
              <a:t>剔除了对中间产品价值</a:t>
            </a:r>
            <a:r>
              <a:rPr lang="zh-CN" altLang="zh-CN" dirty="0"/>
              <a:t>的重复计算。</a:t>
            </a:r>
          </a:p>
          <a:p>
            <a:pPr marL="0" indent="0">
              <a:buNone/>
            </a:pPr>
            <a:endParaRPr lang="zh-CN" altLang="en-US" dirty="0"/>
          </a:p>
        </p:txBody>
      </p:sp>
    </p:spTree>
    <p:extLst>
      <p:ext uri="{BB962C8B-B14F-4D97-AF65-F5344CB8AC3E}">
        <p14:creationId xmlns:p14="http://schemas.microsoft.com/office/powerpoint/2010/main" val="120518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F6F453-50E5-4A8C-9D2D-212DAA44D4A6}"/>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980EDFB9-4BEE-4097-8C48-E82A75874A55}"/>
              </a:ext>
            </a:extLst>
          </p:cNvPr>
          <p:cNvSpPr>
            <a:spLocks noGrp="1"/>
          </p:cNvSpPr>
          <p:nvPr>
            <p:ph idx="1"/>
          </p:nvPr>
        </p:nvSpPr>
        <p:spPr/>
        <p:txBody>
          <a:bodyPr/>
          <a:lstStyle/>
          <a:p>
            <a:pPr marL="0" indent="0">
              <a:buNone/>
            </a:pPr>
            <a:r>
              <a:rPr lang="zh-CN" altLang="zh-CN" dirty="0"/>
              <a:t>我们以“</a:t>
            </a:r>
            <a:r>
              <a:rPr lang="zh-CN" altLang="zh-CN" b="1" dirty="0"/>
              <a:t>当年的市场价格</a:t>
            </a:r>
            <a:r>
              <a:rPr lang="zh-CN" altLang="zh-CN" dirty="0"/>
              <a:t>”作为尺度来计算</a:t>
            </a:r>
            <a:r>
              <a:rPr lang="en-US" altLang="zh-CN" dirty="0"/>
              <a:t>GDP</a:t>
            </a:r>
            <a:r>
              <a:rPr lang="zh-CN" altLang="zh-CN" dirty="0"/>
              <a:t>的，这种以当年的市场价格作为尺度计算出来的社会总产出称为名义国内生产总值（</a:t>
            </a:r>
            <a:r>
              <a:rPr lang="zh-CN" altLang="zh-CN" b="1" dirty="0"/>
              <a:t>名义</a:t>
            </a:r>
            <a:r>
              <a:rPr lang="en-US" altLang="zh-CN" b="1" dirty="0"/>
              <a:t>GDP</a:t>
            </a:r>
            <a:r>
              <a:rPr lang="zh-CN" altLang="zh-CN" dirty="0"/>
              <a:t>）。名义</a:t>
            </a:r>
            <a:r>
              <a:rPr lang="en-US" altLang="zh-CN" dirty="0"/>
              <a:t>GDP</a:t>
            </a:r>
            <a:r>
              <a:rPr lang="zh-CN" altLang="zh-CN" dirty="0"/>
              <a:t>由于受价格变动的影响，在比较不同年份间实际产出量的大小时存在着严重的缺陷。为解决这个问题，经济学中引入实际国内生产总值（</a:t>
            </a:r>
            <a:r>
              <a:rPr lang="zh-CN" altLang="zh-CN" b="1" dirty="0"/>
              <a:t>实际</a:t>
            </a:r>
            <a:r>
              <a:rPr lang="en-US" altLang="zh-CN" b="1" dirty="0"/>
              <a:t>GDP</a:t>
            </a:r>
            <a:r>
              <a:rPr lang="zh-CN" altLang="zh-CN" dirty="0"/>
              <a:t>）的概念。</a:t>
            </a:r>
            <a:r>
              <a:rPr lang="zh-CN" altLang="zh-CN" b="1" dirty="0"/>
              <a:t>实际</a:t>
            </a:r>
            <a:r>
              <a:rPr lang="en-US" altLang="zh-CN" b="1" dirty="0"/>
              <a:t>GDP</a:t>
            </a:r>
            <a:r>
              <a:rPr lang="zh-CN" altLang="zh-CN" b="1" dirty="0"/>
              <a:t>规定某一年的价格作为基年价格</a:t>
            </a:r>
            <a:r>
              <a:rPr lang="zh-CN" altLang="zh-CN" dirty="0"/>
              <a:t>，以此作为尺度来计算其余各年的</a:t>
            </a:r>
            <a:r>
              <a:rPr lang="en-US" altLang="zh-CN" dirty="0"/>
              <a:t>GDP</a:t>
            </a:r>
            <a:r>
              <a:rPr lang="zh-CN" altLang="zh-CN" dirty="0"/>
              <a:t>。</a:t>
            </a:r>
          </a:p>
          <a:p>
            <a:pPr marL="0" indent="0">
              <a:buNone/>
            </a:pPr>
            <a:endParaRPr lang="zh-CN" altLang="en-US" dirty="0"/>
          </a:p>
        </p:txBody>
      </p:sp>
    </p:spTree>
    <p:extLst>
      <p:ext uri="{BB962C8B-B14F-4D97-AF65-F5344CB8AC3E}">
        <p14:creationId xmlns:p14="http://schemas.microsoft.com/office/powerpoint/2010/main" val="33527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92516" descr="花束">
            <a:extLst>
              <a:ext uri="{FF2B5EF4-FFF2-40B4-BE49-F238E27FC236}">
                <a16:creationId xmlns:a16="http://schemas.microsoft.com/office/drawing/2014/main" id="{F312F7C6-9740-49B5-B16D-41BAAD1C8E2C}"/>
              </a:ext>
            </a:extLst>
          </p:cNvPr>
          <p:cNvSpPr>
            <a:spLocks noChangeArrowheads="1"/>
          </p:cNvSpPr>
          <p:nvPr/>
        </p:nvSpPr>
        <p:spPr bwMode="auto">
          <a:xfrm>
            <a:off x="395288" y="2732088"/>
            <a:ext cx="8208962" cy="719137"/>
          </a:xfrm>
          <a:prstGeom prst="rect">
            <a:avLst/>
          </a:prstGeom>
          <a:blipFill dpi="0" rotWithShape="0">
            <a:blip r:embed="rId2"/>
            <a:srcRect/>
            <a:tile tx="0" ty="0" sx="100000" sy="100000" flip="none" algn="tl"/>
          </a:blipFill>
          <a:ln w="76200">
            <a:solidFill>
              <a:srgbClr val="336600"/>
            </a:solidFill>
            <a:miter lim="800000"/>
            <a:headEnd/>
            <a:tailEnd/>
          </a:ln>
        </p:spPr>
        <p:txBody>
          <a:bodyPr/>
          <a:lstStyle/>
          <a:p>
            <a:pPr>
              <a:lnSpc>
                <a:spcPct val="120000"/>
              </a:lnSpc>
              <a:buClr>
                <a:schemeClr val="hlink"/>
              </a:buClr>
              <a:buFont typeface="Wingdings" panose="05000000000000000000" pitchFamily="2" charset="2"/>
              <a:buChar char="u"/>
            </a:pPr>
            <a:r>
              <a:rPr lang="zh-CN" altLang="en-US" sz="2400">
                <a:solidFill>
                  <a:srgbClr val="0000CC"/>
                </a:solidFill>
              </a:rPr>
              <a:t>（</a:t>
            </a:r>
            <a:r>
              <a:rPr lang="en-US" altLang="zh-CN" sz="2400">
                <a:solidFill>
                  <a:srgbClr val="0000CC"/>
                </a:solidFill>
              </a:rPr>
              <a:t>1</a:t>
            </a:r>
            <a:r>
              <a:rPr lang="zh-CN" altLang="en-US" sz="2400">
                <a:solidFill>
                  <a:srgbClr val="0000CC"/>
                </a:solidFill>
              </a:rPr>
              <a:t>）</a:t>
            </a:r>
            <a:r>
              <a:rPr lang="zh-CN" altLang="en-US" sz="2400">
                <a:solidFill>
                  <a:srgbClr val="006600"/>
                </a:solidFill>
              </a:rPr>
              <a:t>包括有形和无形产品</a:t>
            </a:r>
            <a:r>
              <a:rPr lang="en-US" altLang="zh-CN" sz="2400">
                <a:solidFill>
                  <a:srgbClr val="006600"/>
                </a:solidFill>
              </a:rPr>
              <a:t>——</a:t>
            </a:r>
            <a:r>
              <a:rPr lang="zh-CN" altLang="en-US" sz="2400">
                <a:solidFill>
                  <a:srgbClr val="006600"/>
                </a:solidFill>
              </a:rPr>
              <a:t>劳务。</a:t>
            </a:r>
          </a:p>
        </p:txBody>
      </p:sp>
      <p:sp>
        <p:nvSpPr>
          <p:cNvPr id="5" name="矩形 192517" descr="花束">
            <a:extLst>
              <a:ext uri="{FF2B5EF4-FFF2-40B4-BE49-F238E27FC236}">
                <a16:creationId xmlns:a16="http://schemas.microsoft.com/office/drawing/2014/main" id="{6D74C9BB-5132-431D-8A3C-EE5322A3AAF8}"/>
              </a:ext>
            </a:extLst>
          </p:cNvPr>
          <p:cNvSpPr>
            <a:spLocks noChangeArrowheads="1"/>
          </p:cNvSpPr>
          <p:nvPr/>
        </p:nvSpPr>
        <p:spPr bwMode="auto">
          <a:xfrm>
            <a:off x="395288" y="3595688"/>
            <a:ext cx="8208962" cy="1008062"/>
          </a:xfrm>
          <a:prstGeom prst="rect">
            <a:avLst/>
          </a:prstGeom>
          <a:blipFill dpi="0" rotWithShape="0">
            <a:blip r:embed="rId2"/>
            <a:srcRect/>
            <a:tile tx="0" ty="0" sx="100000" sy="100000" flip="none" algn="tl"/>
          </a:blipFill>
          <a:ln w="76200">
            <a:solidFill>
              <a:srgbClr val="336600"/>
            </a:solidFill>
            <a:miter lim="800000"/>
            <a:headEnd/>
            <a:tailEnd/>
          </a:ln>
        </p:spPr>
        <p:txBody>
          <a:bodyPr/>
          <a:lstStyle/>
          <a:p>
            <a:pPr>
              <a:lnSpc>
                <a:spcPct val="110000"/>
              </a:lnSpc>
              <a:buClr>
                <a:schemeClr val="hlink"/>
              </a:buClr>
              <a:buFont typeface="Wingdings" panose="05000000000000000000" pitchFamily="2" charset="2"/>
              <a:buChar char="u"/>
            </a:pPr>
            <a:r>
              <a:rPr lang="zh-CN" altLang="en-US" sz="2400">
                <a:solidFill>
                  <a:srgbClr val="101016"/>
                </a:solidFill>
              </a:rPr>
              <a:t>（</a:t>
            </a:r>
            <a:r>
              <a:rPr lang="en-US" altLang="zh-CN" sz="2400">
                <a:solidFill>
                  <a:srgbClr val="101016"/>
                </a:solidFill>
              </a:rPr>
              <a:t>2</a:t>
            </a:r>
            <a:r>
              <a:rPr lang="zh-CN" altLang="en-US" sz="2400">
                <a:solidFill>
                  <a:srgbClr val="101016"/>
                </a:solidFill>
              </a:rPr>
              <a:t>）按照市场价格计算，不包括自产自用。</a:t>
            </a:r>
          </a:p>
          <a:p>
            <a:pPr>
              <a:lnSpc>
                <a:spcPct val="110000"/>
              </a:lnSpc>
              <a:buClr>
                <a:schemeClr val="hlink"/>
              </a:buClr>
              <a:buFont typeface="Wingdings" panose="05000000000000000000" pitchFamily="2" charset="2"/>
              <a:buChar char="u"/>
            </a:pPr>
            <a:r>
              <a:rPr lang="en-US" altLang="zh-CN" sz="2400">
                <a:solidFill>
                  <a:srgbClr val="FF0000"/>
                </a:solidFill>
              </a:rPr>
              <a:t>GNP</a:t>
            </a:r>
            <a:r>
              <a:rPr lang="zh-CN" altLang="en-US" sz="2400">
                <a:solidFill>
                  <a:srgbClr val="FF0000"/>
                </a:solidFill>
              </a:rPr>
              <a:t>的计算受市场价格波动的影响。</a:t>
            </a:r>
          </a:p>
        </p:txBody>
      </p:sp>
      <p:sp>
        <p:nvSpPr>
          <p:cNvPr id="6" name="矩形 192519" descr="花束">
            <a:extLst>
              <a:ext uri="{FF2B5EF4-FFF2-40B4-BE49-F238E27FC236}">
                <a16:creationId xmlns:a16="http://schemas.microsoft.com/office/drawing/2014/main" id="{50020ADD-F04C-4F2E-B985-058BA4E38334}"/>
              </a:ext>
            </a:extLst>
          </p:cNvPr>
          <p:cNvSpPr>
            <a:spLocks noChangeArrowheads="1"/>
          </p:cNvSpPr>
          <p:nvPr/>
        </p:nvSpPr>
        <p:spPr bwMode="auto">
          <a:xfrm>
            <a:off x="395288" y="4748213"/>
            <a:ext cx="8208962" cy="1008062"/>
          </a:xfrm>
          <a:prstGeom prst="rect">
            <a:avLst/>
          </a:prstGeom>
          <a:blipFill dpi="0" rotWithShape="0">
            <a:blip r:embed="rId2"/>
            <a:srcRect/>
            <a:tile tx="0" ty="0" sx="100000" sy="100000" flip="none" algn="tl"/>
          </a:blipFill>
          <a:ln w="76200">
            <a:solidFill>
              <a:srgbClr val="336600"/>
            </a:solidFill>
            <a:miter lim="800000"/>
            <a:headEnd/>
            <a:tailEnd/>
          </a:ln>
        </p:spPr>
        <p:txBody>
          <a:bodyPr/>
          <a:lstStyle/>
          <a:p>
            <a:pPr>
              <a:buClr>
                <a:schemeClr val="hlink"/>
              </a:buClr>
              <a:buSzPct val="95000"/>
              <a:buFont typeface="Wingdings" panose="05000000000000000000" pitchFamily="2" charset="2"/>
              <a:buChar char="u"/>
            </a:pPr>
            <a:r>
              <a:rPr lang="zh-CN" altLang="en-US" sz="2400">
                <a:solidFill>
                  <a:srgbClr val="006600"/>
                </a:solidFill>
              </a:rPr>
              <a:t>（</a:t>
            </a:r>
            <a:r>
              <a:rPr lang="en-US" altLang="zh-CN" sz="2400">
                <a:solidFill>
                  <a:srgbClr val="006600"/>
                </a:solidFill>
              </a:rPr>
              <a:t>3</a:t>
            </a:r>
            <a:r>
              <a:rPr lang="zh-CN" altLang="en-US" sz="2400">
                <a:solidFill>
                  <a:srgbClr val="006600"/>
                </a:solidFill>
              </a:rPr>
              <a:t>）仅计算本年产品价格总和，不包括以前产出。</a:t>
            </a:r>
            <a:br>
              <a:rPr lang="zh-CN" altLang="en-US" sz="2400">
                <a:solidFill>
                  <a:srgbClr val="006600"/>
                </a:solidFill>
              </a:rPr>
            </a:br>
            <a:r>
              <a:rPr lang="zh-CN" altLang="en-US" sz="2400">
                <a:solidFill>
                  <a:srgbClr val="230D75"/>
                </a:solidFill>
                <a:latin typeface="" charset="0"/>
              </a:rPr>
              <a:t>是流量而非存量。</a:t>
            </a:r>
          </a:p>
        </p:txBody>
      </p:sp>
      <p:sp>
        <p:nvSpPr>
          <p:cNvPr id="7" name="矩形 192520" descr="花束">
            <a:extLst>
              <a:ext uri="{FF2B5EF4-FFF2-40B4-BE49-F238E27FC236}">
                <a16:creationId xmlns:a16="http://schemas.microsoft.com/office/drawing/2014/main" id="{855F871F-681F-4BB0-945E-BA2620A0C7D1}"/>
              </a:ext>
            </a:extLst>
          </p:cNvPr>
          <p:cNvSpPr>
            <a:spLocks noChangeArrowheads="1"/>
          </p:cNvSpPr>
          <p:nvPr/>
        </p:nvSpPr>
        <p:spPr bwMode="auto">
          <a:xfrm>
            <a:off x="395288" y="5900738"/>
            <a:ext cx="8208962" cy="576262"/>
          </a:xfrm>
          <a:prstGeom prst="rect">
            <a:avLst/>
          </a:prstGeom>
          <a:blipFill dpi="0" rotWithShape="0">
            <a:blip r:embed="rId2"/>
            <a:srcRect/>
            <a:tile tx="0" ty="0" sx="100000" sy="100000" flip="none" algn="tl"/>
          </a:blipFill>
          <a:ln w="76200">
            <a:solidFill>
              <a:srgbClr val="336600"/>
            </a:solidFill>
            <a:miter lim="800000"/>
            <a:headEnd/>
            <a:tailEnd/>
          </a:ln>
        </p:spPr>
        <p:txBody>
          <a:bodyPr/>
          <a:lstStyle/>
          <a:p>
            <a:pPr>
              <a:buClr>
                <a:schemeClr val="hlink"/>
              </a:buClr>
              <a:buSzPct val="95000"/>
              <a:buFont typeface="Wingdings" panose="05000000000000000000" pitchFamily="2" charset="2"/>
              <a:buChar char="u"/>
            </a:pPr>
            <a:r>
              <a:rPr lang="zh-CN" altLang="en-US" sz="2400">
                <a:solidFill>
                  <a:srgbClr val="006600"/>
                </a:solidFill>
              </a:rPr>
              <a:t>（</a:t>
            </a:r>
            <a:r>
              <a:rPr lang="en-US" altLang="zh-CN" sz="2400">
                <a:solidFill>
                  <a:srgbClr val="006600"/>
                </a:solidFill>
              </a:rPr>
              <a:t>4</a:t>
            </a:r>
            <a:r>
              <a:rPr lang="zh-CN" altLang="en-US" sz="2400">
                <a:solidFill>
                  <a:srgbClr val="006600"/>
                </a:solidFill>
              </a:rPr>
              <a:t>）是最终产品，而不包括中间产品。</a:t>
            </a:r>
            <a:r>
              <a:rPr lang="zh-CN" altLang="en-US" sz="2400">
                <a:solidFill>
                  <a:srgbClr val="230D75"/>
                </a:solidFill>
              </a:rPr>
              <a:t>以免重复计算。</a:t>
            </a:r>
          </a:p>
        </p:txBody>
      </p:sp>
      <p:sp>
        <p:nvSpPr>
          <p:cNvPr id="8" name="标题 192522">
            <a:extLst>
              <a:ext uri="{FF2B5EF4-FFF2-40B4-BE49-F238E27FC236}">
                <a16:creationId xmlns:a16="http://schemas.microsoft.com/office/drawing/2014/main" id="{221C1836-6588-4279-B4DF-FED90D208A5A}"/>
              </a:ext>
            </a:extLst>
          </p:cNvPr>
          <p:cNvSpPr>
            <a:spLocks noGrp="1" noChangeArrowheads="1"/>
          </p:cNvSpPr>
          <p:nvPr>
            <p:ph type="title"/>
          </p:nvPr>
        </p:nvSpPr>
        <p:spPr>
          <a:xfrm>
            <a:off x="461963" y="644525"/>
            <a:ext cx="5256212" cy="647700"/>
          </a:xfrm>
        </p:spPr>
        <p:txBody>
          <a:bodyPr>
            <a:normAutofit/>
          </a:bodyPr>
          <a:lstStyle/>
          <a:p>
            <a:r>
              <a:rPr lang="zh-CN" altLang="en-US" sz="3200" dirty="0"/>
              <a:t>国内生产总值的特点</a:t>
            </a:r>
          </a:p>
        </p:txBody>
      </p:sp>
      <p:sp>
        <p:nvSpPr>
          <p:cNvPr id="9" name="横卷形 192523" descr="花束">
            <a:extLst>
              <a:ext uri="{FF2B5EF4-FFF2-40B4-BE49-F238E27FC236}">
                <a16:creationId xmlns:a16="http://schemas.microsoft.com/office/drawing/2014/main" id="{2739F5A5-B731-42CC-8606-56192AAD45AB}"/>
              </a:ext>
            </a:extLst>
          </p:cNvPr>
          <p:cNvSpPr>
            <a:spLocks noChangeArrowheads="1"/>
          </p:cNvSpPr>
          <p:nvPr/>
        </p:nvSpPr>
        <p:spPr bwMode="auto">
          <a:xfrm>
            <a:off x="395288" y="1363663"/>
            <a:ext cx="8208962" cy="1296987"/>
          </a:xfrm>
          <a:prstGeom prst="horizontalScroll">
            <a:avLst>
              <a:gd name="adj" fmla="val 12500"/>
            </a:avLst>
          </a:prstGeom>
          <a:blipFill dpi="0" rotWithShape="0">
            <a:blip r:embed="rId2"/>
            <a:srcRect/>
            <a:tile tx="0" ty="0" sx="100000" sy="100000" flip="none" algn="tl"/>
          </a:blipFill>
          <a:ln w="76200">
            <a:solidFill>
              <a:srgbClr val="336600"/>
            </a:solidFill>
            <a:miter lim="800000"/>
            <a:headEnd/>
            <a:tailEnd/>
          </a:ln>
        </p:spPr>
        <p:txBody>
          <a:bodyPr anchor="ctr"/>
          <a:lstStyle/>
          <a:p>
            <a:r>
              <a:rPr lang="zh-CN" altLang="en-US" sz="2400">
                <a:solidFill>
                  <a:srgbClr val="230D75"/>
                </a:solidFill>
              </a:rPr>
              <a:t>是国民收入核算中最重要的核算，是基本总量。</a:t>
            </a:r>
          </a:p>
        </p:txBody>
      </p:sp>
    </p:spTree>
    <p:extLst>
      <p:ext uri="{BB962C8B-B14F-4D97-AF65-F5344CB8AC3E}">
        <p14:creationId xmlns:p14="http://schemas.microsoft.com/office/powerpoint/2010/main" val="98600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343075-0931-4CE3-B67E-37A127BA43C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D35B363-05DD-44A7-A2CD-0185D7DED7A7}"/>
              </a:ext>
            </a:extLst>
          </p:cNvPr>
          <p:cNvSpPr>
            <a:spLocks noGrp="1"/>
          </p:cNvSpPr>
          <p:nvPr>
            <p:ph idx="1"/>
          </p:nvPr>
        </p:nvSpPr>
        <p:spPr/>
        <p:txBody>
          <a:bodyPr/>
          <a:lstStyle/>
          <a:p>
            <a:pPr marL="0" indent="0">
              <a:buNone/>
            </a:pPr>
            <a:r>
              <a:rPr lang="zh-CN" altLang="zh-CN" dirty="0"/>
              <a:t>利用市场价格作为尺度计算</a:t>
            </a:r>
            <a:r>
              <a:rPr lang="en-US" altLang="zh-CN" dirty="0"/>
              <a:t>GDP</a:t>
            </a:r>
            <a:r>
              <a:rPr lang="zh-CN" altLang="zh-CN" dirty="0"/>
              <a:t>可能存在问题：</a:t>
            </a:r>
            <a:r>
              <a:rPr lang="zh-CN" altLang="zh-CN" b="1" dirty="0">
                <a:solidFill>
                  <a:srgbClr val="FFFF00"/>
                </a:solidFill>
              </a:rPr>
              <a:t>我们仅能够获得那些市场中存在的产品和服务的价格，但在现实生活中有许多经济活动并未通过市场来开展，这就使这些活动所创造出来的价值被</a:t>
            </a:r>
            <a:r>
              <a:rPr lang="en-US" altLang="zh-CN" b="1" dirty="0">
                <a:solidFill>
                  <a:srgbClr val="FFFF00"/>
                </a:solidFill>
              </a:rPr>
              <a:t>GDP</a:t>
            </a:r>
            <a:r>
              <a:rPr lang="zh-CN" altLang="zh-CN" b="1" dirty="0">
                <a:solidFill>
                  <a:srgbClr val="FFFF00"/>
                </a:solidFill>
              </a:rPr>
              <a:t>统计所忽略。</a:t>
            </a:r>
            <a:endParaRPr lang="zh-CN" altLang="zh-CN" dirty="0">
              <a:solidFill>
                <a:srgbClr val="FFFF00"/>
              </a:solidFill>
            </a:endParaRPr>
          </a:p>
          <a:p>
            <a:pPr marL="0" indent="0">
              <a:buNone/>
            </a:pPr>
            <a:r>
              <a:rPr lang="en-US" altLang="zh-CN" b="1" dirty="0">
                <a:solidFill>
                  <a:srgbClr val="FFFF00"/>
                </a:solidFill>
              </a:rPr>
              <a:t>GDP</a:t>
            </a:r>
            <a:r>
              <a:rPr lang="zh-CN" altLang="zh-CN" b="1" dirty="0">
                <a:solidFill>
                  <a:srgbClr val="FFFF00"/>
                </a:solidFill>
              </a:rPr>
              <a:t>可能反映了一个国家总体的产出水平，但是它与这个国家居民的富裕程度没有必然的联系。</a:t>
            </a:r>
            <a:r>
              <a:rPr lang="en-US" altLang="zh-CN" b="1" dirty="0">
                <a:solidFill>
                  <a:srgbClr val="FFFF00"/>
                </a:solidFill>
              </a:rPr>
              <a:t>GDP</a:t>
            </a:r>
            <a:r>
              <a:rPr lang="zh-CN" altLang="zh-CN" b="1" dirty="0">
                <a:solidFill>
                  <a:srgbClr val="FFFF00"/>
                </a:solidFill>
              </a:rPr>
              <a:t>不能反映收入分配结构，贫富差距。</a:t>
            </a:r>
            <a:endParaRPr lang="zh-CN" altLang="zh-CN" dirty="0">
              <a:solidFill>
                <a:srgbClr val="FFFF00"/>
              </a:solidFill>
            </a:endParaRPr>
          </a:p>
          <a:p>
            <a:pPr marL="0" indent="0">
              <a:buNone/>
            </a:pPr>
            <a:endParaRPr lang="zh-CN" altLang="en-US" dirty="0"/>
          </a:p>
        </p:txBody>
      </p:sp>
    </p:spTree>
    <p:extLst>
      <p:ext uri="{BB962C8B-B14F-4D97-AF65-F5344CB8AC3E}">
        <p14:creationId xmlns:p14="http://schemas.microsoft.com/office/powerpoint/2010/main" val="3832301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22209">
            <a:extLst>
              <a:ext uri="{FF2B5EF4-FFF2-40B4-BE49-F238E27FC236}">
                <a16:creationId xmlns:a16="http://schemas.microsoft.com/office/drawing/2014/main" id="{ABEC3DA0-52E0-4A71-958B-E5B802A72516}"/>
              </a:ext>
            </a:extLst>
          </p:cNvPr>
          <p:cNvSpPr>
            <a:spLocks noGrp="1" noChangeArrowheads="1"/>
          </p:cNvSpPr>
          <p:nvPr>
            <p:ph type="title"/>
          </p:nvPr>
        </p:nvSpPr>
        <p:spPr>
          <a:xfrm>
            <a:off x="838200" y="365125"/>
            <a:ext cx="10515600" cy="1325563"/>
          </a:xfrm>
        </p:spPr>
        <p:txBody>
          <a:bodyPr/>
          <a:lstStyle/>
          <a:p>
            <a:r>
              <a:rPr lang="en-US" altLang="zh-CN" dirty="0"/>
              <a:t> </a:t>
            </a:r>
            <a:r>
              <a:rPr lang="zh-CN" altLang="en-US" sz="2800" dirty="0"/>
              <a:t>潜在产出</a:t>
            </a:r>
          </a:p>
        </p:txBody>
      </p:sp>
      <p:sp>
        <p:nvSpPr>
          <p:cNvPr id="5" name="文本占位符 222210">
            <a:extLst>
              <a:ext uri="{FF2B5EF4-FFF2-40B4-BE49-F238E27FC236}">
                <a16:creationId xmlns:a16="http://schemas.microsoft.com/office/drawing/2014/main" id="{352EF3F9-A1A1-4C99-909B-3DA243B89BEF}"/>
              </a:ext>
            </a:extLst>
          </p:cNvPr>
          <p:cNvSpPr>
            <a:spLocks noGrp="1" noChangeArrowheads="1"/>
          </p:cNvSpPr>
          <p:nvPr>
            <p:ph idx="1"/>
          </p:nvPr>
        </p:nvSpPr>
        <p:spPr>
          <a:xfrm>
            <a:off x="623888" y="1412875"/>
            <a:ext cx="8229600" cy="1873250"/>
          </a:xfrm>
        </p:spPr>
        <p:txBody>
          <a:bodyPr>
            <a:normAutofit fontScale="92500" lnSpcReduction="10000"/>
          </a:bodyPr>
          <a:lstStyle/>
          <a:p>
            <a:pPr>
              <a:lnSpc>
                <a:spcPct val="110000"/>
              </a:lnSpc>
            </a:pPr>
            <a:r>
              <a:rPr lang="zh-CN" altLang="en-US" dirty="0">
                <a:solidFill>
                  <a:schemeClr val="bg1"/>
                </a:solidFill>
                <a:latin typeface="黑体" panose="02010609060101010101" pitchFamily="49" charset="-122"/>
                <a:ea typeface="黑体" panose="02010609060101010101" pitchFamily="49" charset="-122"/>
              </a:rPr>
              <a:t>现实</a:t>
            </a:r>
            <a:r>
              <a:rPr lang="en-US" altLang="zh-CN" dirty="0">
                <a:solidFill>
                  <a:schemeClr val="bg1"/>
                </a:solidFill>
                <a:latin typeface="黑体" panose="02010609060101010101" pitchFamily="49" charset="-122"/>
                <a:ea typeface="黑体" panose="02010609060101010101" pitchFamily="49" charset="-122"/>
              </a:rPr>
              <a:t>GDP</a:t>
            </a:r>
            <a:r>
              <a:rPr lang="zh-CN" altLang="en-US" dirty="0">
                <a:solidFill>
                  <a:schemeClr val="bg1"/>
                </a:solidFill>
                <a:latin typeface="黑体" panose="02010609060101010101" pitchFamily="49" charset="-122"/>
                <a:ea typeface="黑体" panose="02010609060101010101" pitchFamily="49" charset="-122"/>
              </a:rPr>
              <a:t>：指一个国家或地区一定时期内已经生产出来的最终产品和劳务。</a:t>
            </a:r>
          </a:p>
          <a:p>
            <a:pPr>
              <a:lnSpc>
                <a:spcPct val="110000"/>
              </a:lnSpc>
            </a:pPr>
            <a:r>
              <a:rPr lang="zh-CN" altLang="en-US" dirty="0">
                <a:solidFill>
                  <a:schemeClr val="bg1"/>
                </a:solidFill>
                <a:latin typeface="黑体" panose="02010609060101010101" pitchFamily="49" charset="-122"/>
                <a:ea typeface="黑体" panose="02010609060101010101" pitchFamily="49" charset="-122"/>
              </a:rPr>
              <a:t>潜在</a:t>
            </a:r>
            <a:r>
              <a:rPr lang="en-US" altLang="zh-CN" dirty="0">
                <a:solidFill>
                  <a:schemeClr val="bg1"/>
                </a:solidFill>
                <a:latin typeface="黑体" panose="02010609060101010101" pitchFamily="49" charset="-122"/>
                <a:ea typeface="黑体" panose="02010609060101010101" pitchFamily="49" charset="-122"/>
              </a:rPr>
              <a:t>GDP</a:t>
            </a:r>
            <a:r>
              <a:rPr lang="zh-CN" altLang="en-US" dirty="0">
                <a:solidFill>
                  <a:schemeClr val="bg1"/>
                </a:solidFill>
                <a:latin typeface="黑体" panose="02010609060101010101" pitchFamily="49" charset="-122"/>
                <a:ea typeface="黑体" panose="02010609060101010101" pitchFamily="49" charset="-122"/>
              </a:rPr>
              <a:t>：指一个国家或地区调动所有社会资源，在一定时期内能够生产的最大限度的最终产品和劳务。</a:t>
            </a:r>
            <a:endParaRPr lang="zh-CN" altLang="en-US" dirty="0">
              <a:solidFill>
                <a:schemeClr val="bg1"/>
              </a:solidFill>
            </a:endParaRPr>
          </a:p>
        </p:txBody>
      </p:sp>
      <p:sp>
        <p:nvSpPr>
          <p:cNvPr id="6" name="矩形 222214" descr="水滴">
            <a:extLst>
              <a:ext uri="{FF2B5EF4-FFF2-40B4-BE49-F238E27FC236}">
                <a16:creationId xmlns:a16="http://schemas.microsoft.com/office/drawing/2014/main" id="{DA66FECC-DA5F-4C29-992B-7FC949B5EEDD}"/>
              </a:ext>
            </a:extLst>
          </p:cNvPr>
          <p:cNvSpPr>
            <a:spLocks noChangeArrowheads="1"/>
          </p:cNvSpPr>
          <p:nvPr/>
        </p:nvSpPr>
        <p:spPr bwMode="auto">
          <a:xfrm>
            <a:off x="623888" y="3644900"/>
            <a:ext cx="8208962" cy="647700"/>
          </a:xfrm>
          <a:prstGeom prst="rect">
            <a:avLst/>
          </a:prstGeom>
          <a:blipFill dpi="0" rotWithShape="0">
            <a:blip r:embed="rId2"/>
            <a:srcRect/>
            <a:tile tx="0" ty="0" sx="100000" sy="100000" flip="none" algn="tl"/>
          </a:blipFill>
          <a:ln w="57150" cmpd="thickThin">
            <a:solidFill>
              <a:srgbClr val="000099"/>
            </a:solidFill>
            <a:miter lim="800000"/>
            <a:headEnd/>
            <a:tailEnd/>
          </a:ln>
        </p:spPr>
        <p:txBody>
          <a:bodyPr/>
          <a:lstStyle/>
          <a:p>
            <a:pPr eaLnBrk="0" hangingPunct="0">
              <a:buClr>
                <a:srgbClr val="FF0000"/>
              </a:buClr>
              <a:buSzPct val="95000"/>
              <a:buFont typeface="Wingdings" panose="05000000000000000000" pitchFamily="2" charset="2"/>
              <a:buChar char="n"/>
            </a:pPr>
            <a:r>
              <a:rPr lang="zh-CN" altLang="en-US" sz="2400">
                <a:solidFill>
                  <a:srgbClr val="230D75"/>
                </a:solidFill>
              </a:rPr>
              <a:t>潜在</a:t>
            </a:r>
            <a:r>
              <a:rPr lang="en-US" altLang="zh-CN" sz="2400">
                <a:solidFill>
                  <a:srgbClr val="230D75"/>
                </a:solidFill>
              </a:rPr>
              <a:t>GDP</a:t>
            </a:r>
            <a:r>
              <a:rPr lang="zh-CN" altLang="en-US" sz="2400">
                <a:solidFill>
                  <a:srgbClr val="230D75"/>
                </a:solidFill>
              </a:rPr>
              <a:t>是充分就业时的</a:t>
            </a:r>
            <a:r>
              <a:rPr lang="en-US" altLang="zh-CN" sz="2400">
                <a:solidFill>
                  <a:srgbClr val="230D75"/>
                </a:solidFill>
              </a:rPr>
              <a:t>GDP </a:t>
            </a:r>
            <a:r>
              <a:rPr lang="zh-CN" altLang="en-US" sz="2400">
                <a:solidFill>
                  <a:srgbClr val="230D75"/>
                </a:solidFill>
              </a:rPr>
              <a:t>，也称充分就业</a:t>
            </a:r>
            <a:r>
              <a:rPr lang="en-US" altLang="zh-CN" sz="2400">
                <a:solidFill>
                  <a:srgbClr val="230D75"/>
                </a:solidFill>
              </a:rPr>
              <a:t>GDP </a:t>
            </a:r>
            <a:r>
              <a:rPr lang="zh-CN" altLang="en-US" sz="2400">
                <a:solidFill>
                  <a:srgbClr val="230D75"/>
                </a:solidFill>
              </a:rPr>
              <a:t>。</a:t>
            </a:r>
          </a:p>
        </p:txBody>
      </p:sp>
    </p:spTree>
    <p:extLst>
      <p:ext uri="{BB962C8B-B14F-4D97-AF65-F5344CB8AC3E}">
        <p14:creationId xmlns:p14="http://schemas.microsoft.com/office/powerpoint/2010/main" val="3700200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EAEBC7A-31D3-4FCF-8363-25207FB57EB3}"/>
              </a:ext>
            </a:extLst>
          </p:cNvPr>
          <p:cNvSpPr>
            <a:spLocks noGrp="1"/>
          </p:cNvSpPr>
          <p:nvPr>
            <p:ph idx="1"/>
          </p:nvPr>
        </p:nvSpPr>
        <p:spPr/>
        <p:txBody>
          <a:bodyPr/>
          <a:lstStyle/>
          <a:p>
            <a:pPr marL="0" indent="0">
              <a:buNone/>
            </a:pPr>
            <a:r>
              <a:rPr lang="en-US" altLang="zh-CN" dirty="0"/>
              <a:t>GDP</a:t>
            </a:r>
            <a:r>
              <a:rPr lang="zh-CN" altLang="zh-CN" dirty="0"/>
              <a:t>没有能够考虑生产</a:t>
            </a:r>
            <a:r>
              <a:rPr lang="en-US" altLang="zh-CN" dirty="0"/>
              <a:t>GDP</a:t>
            </a:r>
            <a:r>
              <a:rPr lang="zh-CN" altLang="zh-CN" dirty="0"/>
              <a:t>时所造成的自然环境的污染带来的成本。中国在２００３年左右计划使用“</a:t>
            </a:r>
            <a:r>
              <a:rPr lang="zh-CN" altLang="zh-CN" b="1" dirty="0">
                <a:solidFill>
                  <a:srgbClr val="FFFF00"/>
                </a:solidFill>
              </a:rPr>
              <a:t>绿色</a:t>
            </a:r>
            <a:r>
              <a:rPr lang="en-US" altLang="zh-CN" b="1" dirty="0">
                <a:solidFill>
                  <a:srgbClr val="FFFF00"/>
                </a:solidFill>
              </a:rPr>
              <a:t>GDP</a:t>
            </a:r>
            <a:r>
              <a:rPr lang="zh-CN" altLang="zh-CN" dirty="0"/>
              <a:t>”，即就全部资源耗减成本和环境损失代价计算出完整的“绿色</a:t>
            </a:r>
            <a:r>
              <a:rPr lang="en-US" altLang="zh-CN" dirty="0"/>
              <a:t>GDP</a:t>
            </a:r>
            <a:r>
              <a:rPr lang="zh-CN" altLang="zh-CN" dirty="0"/>
              <a:t>”，与</a:t>
            </a:r>
            <a:r>
              <a:rPr lang="en-US" altLang="zh-CN" dirty="0"/>
              <a:t>GDP</a:t>
            </a:r>
            <a:r>
              <a:rPr lang="zh-CN" altLang="zh-CN" dirty="0"/>
              <a:t>相比，绿色</a:t>
            </a:r>
            <a:r>
              <a:rPr lang="en-US" altLang="zh-CN" dirty="0"/>
              <a:t>GDP</a:t>
            </a:r>
            <a:r>
              <a:rPr lang="zh-CN" altLang="zh-CN" dirty="0"/>
              <a:t>衡量了一国的可持续发展的能力，它因此显得更科学。</a:t>
            </a:r>
          </a:p>
          <a:p>
            <a:pPr marL="0" indent="0">
              <a:buNone/>
            </a:pPr>
            <a:endParaRPr lang="zh-CN" altLang="en-US" dirty="0"/>
          </a:p>
        </p:txBody>
      </p:sp>
    </p:spTree>
    <p:extLst>
      <p:ext uri="{BB962C8B-B14F-4D97-AF65-F5344CB8AC3E}">
        <p14:creationId xmlns:p14="http://schemas.microsoft.com/office/powerpoint/2010/main" val="1748825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18AE6-EEBD-4B05-BBBC-E94F7CBA8386}"/>
              </a:ext>
            </a:extLst>
          </p:cNvPr>
          <p:cNvSpPr>
            <a:spLocks noGrp="1"/>
          </p:cNvSpPr>
          <p:nvPr>
            <p:ph type="title"/>
          </p:nvPr>
        </p:nvSpPr>
        <p:spPr/>
        <p:txBody>
          <a:bodyPr>
            <a:normAutofit/>
          </a:bodyPr>
          <a:lstStyle/>
          <a:p>
            <a:r>
              <a:rPr lang="zh-CN" altLang="zh-CN" sz="2800" b="1" dirty="0"/>
              <a:t>国民生产总值</a:t>
            </a:r>
            <a:r>
              <a:rPr lang="en-US" altLang="zh-CN" sz="2800" b="1" dirty="0"/>
              <a:t>GNP</a:t>
            </a:r>
            <a:endParaRPr lang="zh-CN" altLang="en-US" sz="2800" dirty="0"/>
          </a:p>
        </p:txBody>
      </p:sp>
      <p:sp>
        <p:nvSpPr>
          <p:cNvPr id="3" name="内容占位符 2">
            <a:extLst>
              <a:ext uri="{FF2B5EF4-FFF2-40B4-BE49-F238E27FC236}">
                <a16:creationId xmlns:a16="http://schemas.microsoft.com/office/drawing/2014/main" id="{583C1F84-5709-44BB-A35D-4EFAE0B339D0}"/>
              </a:ext>
            </a:extLst>
          </p:cNvPr>
          <p:cNvSpPr>
            <a:spLocks noGrp="1"/>
          </p:cNvSpPr>
          <p:nvPr>
            <p:ph idx="1"/>
          </p:nvPr>
        </p:nvSpPr>
        <p:spPr>
          <a:xfrm>
            <a:off x="838200" y="1504612"/>
            <a:ext cx="10515600" cy="4351338"/>
          </a:xfrm>
        </p:spPr>
        <p:txBody>
          <a:bodyPr/>
          <a:lstStyle/>
          <a:p>
            <a:pPr marL="0" indent="0">
              <a:buNone/>
            </a:pPr>
            <a:r>
              <a:rPr lang="zh-CN" altLang="zh-CN" b="1" dirty="0">
                <a:solidFill>
                  <a:srgbClr val="FFFF00"/>
                </a:solidFill>
              </a:rPr>
              <a:t>国民生产总值，是一个国家或地区的国民在一定时期内所生产的全部最终产品和服务的市场价值的总和，</a:t>
            </a:r>
            <a:r>
              <a:rPr lang="zh-CN" altLang="zh-CN" dirty="0"/>
              <a:t>等于</a:t>
            </a:r>
            <a:r>
              <a:rPr lang="en-US" altLang="zh-CN" dirty="0"/>
              <a:t>GDP</a:t>
            </a:r>
            <a:r>
              <a:rPr lang="zh-CN" altLang="zh-CN" dirty="0"/>
              <a:t>加上来自国外的要素收入再扣除向国外的要素支付。由此看出，</a:t>
            </a:r>
            <a:r>
              <a:rPr lang="en-US" altLang="zh-CN" dirty="0"/>
              <a:t>GDP</a:t>
            </a:r>
            <a:r>
              <a:rPr lang="zh-CN" altLang="zh-CN" dirty="0"/>
              <a:t>衡量了国内生产的总收入，而</a:t>
            </a:r>
            <a:r>
              <a:rPr lang="en-US" altLang="zh-CN" dirty="0"/>
              <a:t>GNP</a:t>
            </a:r>
            <a:r>
              <a:rPr lang="zh-CN" altLang="zh-CN" dirty="0"/>
              <a:t>衡量了国民所获得的总收入。比如，一个中国公民在美国拥有一套住房，他依靠这套住房出租所获得的收入构成了中国</a:t>
            </a:r>
            <a:r>
              <a:rPr lang="en-US" altLang="zh-CN" dirty="0"/>
              <a:t>GNP</a:t>
            </a:r>
            <a:r>
              <a:rPr lang="zh-CN" altLang="zh-CN" dirty="0"/>
              <a:t>的一部分，因为这部分的收入属于中国公民在国外所获得的要素收入。但部分收入却不计入中国的</a:t>
            </a:r>
            <a:r>
              <a:rPr lang="en-US" altLang="zh-CN" dirty="0"/>
              <a:t>GDP</a:t>
            </a:r>
            <a:r>
              <a:rPr lang="zh-CN" altLang="zh-CN" dirty="0"/>
              <a:t>，因为它代表在美国生产的价值一部分，而不是在中国生产的价值的一部分。</a:t>
            </a:r>
          </a:p>
          <a:p>
            <a:pPr marL="0" indent="0">
              <a:buNone/>
            </a:pPr>
            <a:endParaRPr lang="zh-CN" altLang="en-US" dirty="0"/>
          </a:p>
        </p:txBody>
      </p:sp>
    </p:spTree>
    <p:extLst>
      <p:ext uri="{BB962C8B-B14F-4D97-AF65-F5344CB8AC3E}">
        <p14:creationId xmlns:p14="http://schemas.microsoft.com/office/powerpoint/2010/main" val="132468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98657">
            <a:extLst>
              <a:ext uri="{FF2B5EF4-FFF2-40B4-BE49-F238E27FC236}">
                <a16:creationId xmlns:a16="http://schemas.microsoft.com/office/drawing/2014/main" id="{23A2B370-3183-47B1-B730-6DC26908A795}"/>
              </a:ext>
            </a:extLst>
          </p:cNvPr>
          <p:cNvSpPr txBox="1">
            <a:spLocks noChangeArrowheads="1"/>
          </p:cNvSpPr>
          <p:nvPr/>
        </p:nvSpPr>
        <p:spPr>
          <a:xfrm>
            <a:off x="395288" y="620712"/>
            <a:ext cx="4329112" cy="5429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a:t>GNP</a:t>
            </a:r>
            <a:r>
              <a:rPr lang="zh-CN" altLang="en-US" sz="3200" dirty="0"/>
              <a:t>与</a:t>
            </a:r>
            <a:r>
              <a:rPr lang="en-US" altLang="zh-CN" sz="3200" dirty="0"/>
              <a:t>GDP</a:t>
            </a:r>
            <a:r>
              <a:rPr lang="zh-CN" altLang="en-US" sz="3200" dirty="0"/>
              <a:t>的比较</a:t>
            </a:r>
          </a:p>
        </p:txBody>
      </p:sp>
      <p:sp>
        <p:nvSpPr>
          <p:cNvPr id="5" name="文本占位符 198659">
            <a:extLst>
              <a:ext uri="{FF2B5EF4-FFF2-40B4-BE49-F238E27FC236}">
                <a16:creationId xmlns:a16="http://schemas.microsoft.com/office/drawing/2014/main" id="{E1B23A7B-9248-4781-8FE9-B051A4E7408C}"/>
              </a:ext>
            </a:extLst>
          </p:cNvPr>
          <p:cNvSpPr txBox="1">
            <a:spLocks noChangeArrowheads="1"/>
          </p:cNvSpPr>
          <p:nvPr/>
        </p:nvSpPr>
        <p:spPr>
          <a:xfrm>
            <a:off x="4140200" y="1268413"/>
            <a:ext cx="4484688" cy="1800225"/>
          </a:xfrm>
          <a:prstGeom prst="rect">
            <a:avLst/>
          </a:prstGeom>
          <a:ln w="38100" cmpd="dbl">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a:t>封闭条件下，</a:t>
            </a:r>
            <a:r>
              <a:rPr lang="en-US" altLang="zh-CN" sz="2000"/>
              <a:t>GNP</a:t>
            </a:r>
            <a:r>
              <a:rPr lang="zh-CN" altLang="en-US" sz="2000"/>
              <a:t>＝</a:t>
            </a:r>
            <a:r>
              <a:rPr lang="en-US" altLang="zh-CN" sz="2000"/>
              <a:t>GDP</a:t>
            </a:r>
            <a:r>
              <a:rPr lang="zh-CN" altLang="en-US" sz="2000"/>
              <a:t>。</a:t>
            </a:r>
          </a:p>
          <a:p>
            <a:r>
              <a:rPr lang="zh-CN" altLang="en-US" sz="2000"/>
              <a:t>如果</a:t>
            </a:r>
            <a:r>
              <a:rPr lang="en-US" altLang="zh-CN" sz="2000"/>
              <a:t>GNP</a:t>
            </a:r>
            <a:r>
              <a:rPr lang="zh-CN" altLang="en-US" sz="2000"/>
              <a:t>＞</a:t>
            </a:r>
            <a:r>
              <a:rPr lang="en-US" altLang="zh-CN" sz="2000"/>
              <a:t>GDP</a:t>
            </a:r>
            <a:r>
              <a:rPr lang="zh-CN" altLang="en-US" sz="2000"/>
              <a:t>，说明本国公民在国外生产的最终产品的市场价值＞外国公民在本国生产的最终产品的市场价值。</a:t>
            </a:r>
          </a:p>
        </p:txBody>
      </p:sp>
      <p:sp>
        <p:nvSpPr>
          <p:cNvPr id="6" name="矩形 198661" descr="纸莎草纸">
            <a:extLst>
              <a:ext uri="{FF2B5EF4-FFF2-40B4-BE49-F238E27FC236}">
                <a16:creationId xmlns:a16="http://schemas.microsoft.com/office/drawing/2014/main" id="{F8571859-E14D-466A-A85E-3D4D83E727E7}"/>
              </a:ext>
            </a:extLst>
          </p:cNvPr>
          <p:cNvSpPr>
            <a:spLocks noChangeArrowheads="1"/>
          </p:cNvSpPr>
          <p:nvPr/>
        </p:nvSpPr>
        <p:spPr bwMode="auto">
          <a:xfrm>
            <a:off x="395288" y="1341438"/>
            <a:ext cx="3455987" cy="2663825"/>
          </a:xfrm>
          <a:prstGeom prst="rect">
            <a:avLst/>
          </a:prstGeom>
          <a:blipFill dpi="0" rotWithShape="0">
            <a:blip r:embed="rId2"/>
            <a:srcRect/>
            <a:tile tx="0" ty="0" sx="100000" sy="100000" flip="none" algn="tl"/>
          </a:blipFill>
          <a:ln w="57150" cmpd="thickThin">
            <a:solidFill>
              <a:srgbClr val="CCCC00"/>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just">
              <a:lnSpc>
                <a:spcPct val="90000"/>
              </a:lnSpc>
              <a:spcBef>
                <a:spcPct val="20000"/>
              </a:spcBef>
              <a:buClr>
                <a:schemeClr val="hlink"/>
              </a:buClr>
              <a:buFont typeface="Wingdings" panose="05000000000000000000" pitchFamily="2" charset="2"/>
              <a:buChar char="u"/>
            </a:pPr>
            <a:r>
              <a:rPr lang="en-US" altLang="zh-CN" sz="2000" i="1" dirty="0">
                <a:solidFill>
                  <a:srgbClr val="101016"/>
                </a:solidFill>
                <a:latin typeface="宋体" panose="02010600030101010101" pitchFamily="2" charset="-122"/>
              </a:rPr>
              <a:t>GNP</a:t>
            </a:r>
            <a:r>
              <a:rPr lang="zh-CN" altLang="en-US" sz="2000" i="1" dirty="0">
                <a:solidFill>
                  <a:srgbClr val="101016"/>
                </a:solidFill>
                <a:latin typeface="宋体" panose="02010600030101010101" pitchFamily="2" charset="-122"/>
              </a:rPr>
              <a:t>按照国民原则。</a:t>
            </a:r>
            <a:r>
              <a:rPr lang="zh-CN" altLang="en-US" sz="2000" dirty="0">
                <a:solidFill>
                  <a:srgbClr val="101016"/>
                </a:solidFill>
                <a:latin typeface="宋体" panose="02010600030101010101" pitchFamily="2" charset="-122"/>
              </a:rPr>
              <a:t>以本国公民为统计标准。包括居住在本国的本国公民、暂居外国的本国公民。</a:t>
            </a:r>
          </a:p>
          <a:p>
            <a:pPr algn="just">
              <a:lnSpc>
                <a:spcPct val="90000"/>
              </a:lnSpc>
              <a:spcBef>
                <a:spcPct val="20000"/>
              </a:spcBef>
              <a:buClr>
                <a:schemeClr val="hlink"/>
              </a:buClr>
              <a:buFont typeface="Wingdings" panose="05000000000000000000" pitchFamily="2" charset="2"/>
              <a:buChar char="u"/>
            </a:pPr>
            <a:r>
              <a:rPr lang="en-US" altLang="zh-CN" sz="2000" i="1" dirty="0">
                <a:solidFill>
                  <a:srgbClr val="19692C"/>
                </a:solidFill>
                <a:latin typeface="宋体" panose="02010600030101010101" pitchFamily="2" charset="-122"/>
              </a:rPr>
              <a:t>GDP</a:t>
            </a:r>
            <a:r>
              <a:rPr lang="zh-CN" altLang="en-US" sz="2000" i="1" dirty="0">
                <a:solidFill>
                  <a:srgbClr val="19692C"/>
                </a:solidFill>
                <a:latin typeface="宋体" panose="02010600030101010101" pitchFamily="2" charset="-122"/>
              </a:rPr>
              <a:t>按照国土原则。</a:t>
            </a:r>
            <a:r>
              <a:rPr lang="zh-CN" altLang="en-US" sz="2000" dirty="0">
                <a:solidFill>
                  <a:srgbClr val="19692C"/>
                </a:solidFill>
                <a:latin typeface="宋体" panose="02010600030101010101" pitchFamily="2" charset="-122"/>
              </a:rPr>
              <a:t>以地理上的国境为统计标准，其人口包括居住在本国的本国公民，居住在本国的外国公民。</a:t>
            </a:r>
          </a:p>
        </p:txBody>
      </p:sp>
      <p:sp>
        <p:nvSpPr>
          <p:cNvPr id="7" name="矩形 198662" descr="花束">
            <a:extLst>
              <a:ext uri="{FF2B5EF4-FFF2-40B4-BE49-F238E27FC236}">
                <a16:creationId xmlns:a16="http://schemas.microsoft.com/office/drawing/2014/main" id="{6CCBC520-BDF7-458C-B162-D3C6F9698626}"/>
              </a:ext>
            </a:extLst>
          </p:cNvPr>
          <p:cNvSpPr>
            <a:spLocks noChangeArrowheads="1"/>
          </p:cNvSpPr>
          <p:nvPr/>
        </p:nvSpPr>
        <p:spPr bwMode="auto">
          <a:xfrm>
            <a:off x="395288" y="4221163"/>
            <a:ext cx="3455987" cy="1993900"/>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lnSpc>
                <a:spcPct val="120000"/>
              </a:lnSpc>
              <a:buClr>
                <a:schemeClr val="hlink"/>
              </a:buClr>
              <a:buSzPct val="95000"/>
              <a:buFont typeface="Wingdings" panose="05000000000000000000" pitchFamily="2" charset="2"/>
              <a:buChar char="u"/>
            </a:pPr>
            <a:r>
              <a:rPr lang="en-US" altLang="zh-CN" sz="2000">
                <a:solidFill>
                  <a:srgbClr val="000000"/>
                </a:solidFill>
                <a:latin typeface="Times New Roman" panose="02020603050405020304" pitchFamily="18" charset="0"/>
              </a:rPr>
              <a:t>GNP</a:t>
            </a:r>
            <a:r>
              <a:rPr lang="zh-CN" altLang="en-US" sz="2000">
                <a:solidFill>
                  <a:srgbClr val="000000"/>
                </a:solidFill>
                <a:latin typeface="Times New Roman" panose="02020603050405020304" pitchFamily="18" charset="0"/>
              </a:rPr>
              <a:t>＋</a:t>
            </a:r>
            <a:r>
              <a:rPr lang="zh-CN" altLang="en-US" sz="2000">
                <a:solidFill>
                  <a:srgbClr val="230D75"/>
                </a:solidFill>
                <a:latin typeface="Times New Roman" panose="02020603050405020304" pitchFamily="18" charset="0"/>
              </a:rPr>
              <a:t>外国公民在本国生产的最终产品的市场价值</a:t>
            </a:r>
          </a:p>
          <a:p>
            <a:pPr>
              <a:lnSpc>
                <a:spcPct val="120000"/>
              </a:lnSpc>
              <a:buClr>
                <a:schemeClr val="hlink"/>
              </a:buClr>
              <a:buSzPct val="95000"/>
              <a:buFont typeface="Wingdings" panose="05000000000000000000" pitchFamily="2" charset="2"/>
              <a:buChar char="u"/>
            </a:pPr>
            <a:r>
              <a:rPr lang="zh-CN" altLang="en-US" sz="2000">
                <a:solidFill>
                  <a:srgbClr val="FF0000"/>
                </a:solidFill>
                <a:latin typeface="Times New Roman" panose="02020603050405020304" pitchFamily="18" charset="0"/>
              </a:rPr>
              <a:t>＝</a:t>
            </a:r>
            <a:r>
              <a:rPr lang="en-US" altLang="zh-CN" sz="2000">
                <a:solidFill>
                  <a:srgbClr val="000000"/>
                </a:solidFill>
                <a:latin typeface="Times New Roman" panose="02020603050405020304" pitchFamily="18" charset="0"/>
              </a:rPr>
              <a:t>GDP</a:t>
            </a:r>
            <a:r>
              <a:rPr lang="zh-CN" altLang="en-US" sz="2000">
                <a:solidFill>
                  <a:srgbClr val="000000"/>
                </a:solidFill>
                <a:latin typeface="Times New Roman" panose="02020603050405020304" pitchFamily="18" charset="0"/>
              </a:rPr>
              <a:t>＋</a:t>
            </a:r>
            <a:r>
              <a:rPr lang="zh-CN" altLang="en-US" sz="2000">
                <a:solidFill>
                  <a:srgbClr val="FF0000"/>
                </a:solidFill>
                <a:latin typeface="Times New Roman" panose="02020603050405020304" pitchFamily="18" charset="0"/>
              </a:rPr>
              <a:t>本国公民在国外生产的最终产品的市场价值。</a:t>
            </a:r>
          </a:p>
        </p:txBody>
      </p:sp>
      <p:sp>
        <p:nvSpPr>
          <p:cNvPr id="8" name="矩形 198663">
            <a:extLst>
              <a:ext uri="{FF2B5EF4-FFF2-40B4-BE49-F238E27FC236}">
                <a16:creationId xmlns:a16="http://schemas.microsoft.com/office/drawing/2014/main" id="{118AEE0D-DDCD-4E7A-8E1E-79DF2A480D1B}"/>
              </a:ext>
            </a:extLst>
          </p:cNvPr>
          <p:cNvSpPr>
            <a:spLocks noChangeArrowheads="1"/>
          </p:cNvSpPr>
          <p:nvPr/>
        </p:nvSpPr>
        <p:spPr bwMode="auto">
          <a:xfrm>
            <a:off x="4140200" y="3213100"/>
            <a:ext cx="4535488" cy="3024188"/>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Wingdings" panose="05000000000000000000" pitchFamily="2" charset="2"/>
              <a:buChar char="l"/>
            </a:pPr>
            <a:r>
              <a:rPr lang="zh-CN" altLang="en-US" sz="2000" dirty="0">
                <a:solidFill>
                  <a:schemeClr val="bg1"/>
                </a:solidFill>
                <a:latin typeface="黑体" panose="02010609060101010101" pitchFamily="49" charset="-122"/>
                <a:ea typeface="黑体" panose="02010609060101010101" pitchFamily="49" charset="-122"/>
              </a:rPr>
              <a:t>中国诺基亚公司归芬兰人所有，所以该公司在中国经营得到的利润，虽是中国</a:t>
            </a:r>
            <a:r>
              <a:rPr lang="en-US" altLang="zh-CN" sz="2000" dirty="0">
                <a:solidFill>
                  <a:schemeClr val="bg1"/>
                </a:solidFill>
                <a:latin typeface="黑体" panose="02010609060101010101" pitchFamily="49" charset="-122"/>
                <a:ea typeface="黑体" panose="02010609060101010101" pitchFamily="49" charset="-122"/>
              </a:rPr>
              <a:t>GDP</a:t>
            </a:r>
            <a:r>
              <a:rPr lang="zh-CN" altLang="en-US" sz="2000" dirty="0">
                <a:solidFill>
                  <a:schemeClr val="bg1"/>
                </a:solidFill>
                <a:latin typeface="黑体" panose="02010609060101010101" pitchFamily="49" charset="-122"/>
                <a:ea typeface="黑体" panose="02010609060101010101" pitchFamily="49" charset="-122"/>
              </a:rPr>
              <a:t>一部分，但不被统计为中国</a:t>
            </a:r>
            <a:r>
              <a:rPr lang="en-US" altLang="zh-CN" sz="2000" dirty="0">
                <a:solidFill>
                  <a:schemeClr val="bg1"/>
                </a:solidFill>
                <a:latin typeface="黑体" panose="02010609060101010101" pitchFamily="49" charset="-122"/>
                <a:ea typeface="黑体" panose="02010609060101010101" pitchFamily="49" charset="-122"/>
              </a:rPr>
              <a:t>GNP</a:t>
            </a:r>
            <a:r>
              <a:rPr lang="zh-CN" altLang="en-US" sz="2000" dirty="0">
                <a:solidFill>
                  <a:schemeClr val="bg1"/>
                </a:solidFill>
                <a:latin typeface="黑体" panose="02010609060101010101" pitchFamily="49" charset="-122"/>
                <a:ea typeface="黑体" panose="02010609060101010101" pitchFamily="49" charset="-122"/>
              </a:rPr>
              <a:t>，而应归入芬兰</a:t>
            </a:r>
            <a:r>
              <a:rPr lang="en-US" altLang="zh-CN" sz="2000" dirty="0">
                <a:solidFill>
                  <a:schemeClr val="bg1"/>
                </a:solidFill>
                <a:latin typeface="黑体" panose="02010609060101010101" pitchFamily="49" charset="-122"/>
                <a:ea typeface="黑体" panose="02010609060101010101" pitchFamily="49" charset="-122"/>
              </a:rPr>
              <a:t>GNP</a:t>
            </a:r>
            <a:r>
              <a:rPr lang="zh-CN" altLang="en-US" sz="2000" dirty="0">
                <a:solidFill>
                  <a:schemeClr val="bg1"/>
                </a:solidFill>
                <a:latin typeface="黑体" panose="02010609060101010101" pitchFamily="49" charset="-122"/>
                <a:ea typeface="黑体" panose="02010609060101010101" pitchFamily="49" charset="-122"/>
              </a:rPr>
              <a:t>。</a:t>
            </a:r>
          </a:p>
          <a:p>
            <a:pPr>
              <a:spcBef>
                <a:spcPct val="20000"/>
              </a:spcBef>
              <a:buClr>
                <a:schemeClr val="hlink"/>
              </a:buClr>
              <a:buFont typeface="Wingdings" panose="05000000000000000000" pitchFamily="2" charset="2"/>
              <a:buChar char="l"/>
            </a:pPr>
            <a:r>
              <a:rPr lang="zh-CN" altLang="en-US" sz="2000" dirty="0">
                <a:solidFill>
                  <a:schemeClr val="bg1"/>
                </a:solidFill>
                <a:latin typeface="黑体" panose="02010609060101010101" pitchFamily="49" charset="-122"/>
                <a:ea typeface="黑体" panose="02010609060101010101" pitchFamily="49" charset="-122"/>
              </a:rPr>
              <a:t>中国海尔在美国工厂的利润，应作为美国</a:t>
            </a:r>
            <a:r>
              <a:rPr lang="en-US" altLang="zh-CN" sz="2000" dirty="0">
                <a:solidFill>
                  <a:schemeClr val="bg1"/>
                </a:solidFill>
                <a:latin typeface="黑体" panose="02010609060101010101" pitchFamily="49" charset="-122"/>
                <a:ea typeface="黑体" panose="02010609060101010101" pitchFamily="49" charset="-122"/>
              </a:rPr>
              <a:t>GDP</a:t>
            </a:r>
            <a:r>
              <a:rPr lang="zh-CN" altLang="en-US" sz="2000" dirty="0">
                <a:solidFill>
                  <a:schemeClr val="bg1"/>
                </a:solidFill>
                <a:latin typeface="黑体" panose="02010609060101010101" pitchFamily="49" charset="-122"/>
                <a:ea typeface="黑体" panose="02010609060101010101" pitchFamily="49" charset="-122"/>
              </a:rPr>
              <a:t>一部分，但应被统计为中国的</a:t>
            </a:r>
            <a:r>
              <a:rPr lang="en-US" altLang="zh-CN" sz="2000" dirty="0">
                <a:solidFill>
                  <a:schemeClr val="bg1"/>
                </a:solidFill>
                <a:latin typeface="黑体" panose="02010609060101010101" pitchFamily="49" charset="-122"/>
                <a:ea typeface="黑体" panose="02010609060101010101" pitchFamily="49" charset="-122"/>
              </a:rPr>
              <a:t>GNP</a:t>
            </a:r>
            <a:r>
              <a:rPr lang="zh-CN" altLang="en-US" sz="2000" dirty="0">
                <a:solidFill>
                  <a:schemeClr val="bg1"/>
                </a:solidFill>
                <a:latin typeface="黑体" panose="02010609060101010101" pitchFamily="49" charset="-122"/>
                <a:ea typeface="黑体" panose="02010609060101010101" pitchFamily="49" charset="-122"/>
              </a:rPr>
              <a:t>。</a:t>
            </a:r>
          </a:p>
          <a:p>
            <a:pPr>
              <a:spcBef>
                <a:spcPct val="20000"/>
              </a:spcBef>
              <a:buClr>
                <a:schemeClr val="hlink"/>
              </a:buClr>
              <a:buFont typeface="Wingdings" panose="05000000000000000000" pitchFamily="2" charset="2"/>
              <a:buChar char="l"/>
            </a:pPr>
            <a:r>
              <a:rPr lang="zh-CN" altLang="en-US" sz="2000" dirty="0">
                <a:solidFill>
                  <a:schemeClr val="bg1"/>
                </a:solidFill>
                <a:latin typeface="黑体" panose="02010609060101010101" pitchFamily="49" charset="-122"/>
                <a:ea typeface="黑体" panose="02010609060101010101" pitchFamily="49" charset="-122"/>
              </a:rPr>
              <a:t>随着国际经济联系加强，重视地域范围的</a:t>
            </a:r>
            <a:r>
              <a:rPr lang="en-US" altLang="zh-CN" sz="2000" dirty="0">
                <a:solidFill>
                  <a:schemeClr val="bg1"/>
                </a:solidFill>
                <a:latin typeface="黑体" panose="02010609060101010101" pitchFamily="49" charset="-122"/>
                <a:ea typeface="黑体" panose="02010609060101010101" pitchFamily="49" charset="-122"/>
              </a:rPr>
              <a:t>GDP</a:t>
            </a:r>
            <a:r>
              <a:rPr lang="zh-CN" altLang="en-US" sz="2000" dirty="0">
                <a:solidFill>
                  <a:schemeClr val="bg1"/>
                </a:solidFill>
                <a:latin typeface="黑体" panose="02010609060101010101" pitchFamily="49" charset="-122"/>
                <a:ea typeface="黑体" panose="02010609060101010101" pitchFamily="49" charset="-122"/>
              </a:rPr>
              <a:t>相对重要性上升。</a:t>
            </a:r>
          </a:p>
        </p:txBody>
      </p:sp>
    </p:spTree>
    <p:extLst>
      <p:ext uri="{BB962C8B-B14F-4D97-AF65-F5344CB8AC3E}">
        <p14:creationId xmlns:p14="http://schemas.microsoft.com/office/powerpoint/2010/main" val="1613935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525B19-F9D4-4D08-87DB-E8262E5A4E0E}"/>
              </a:ext>
            </a:extLst>
          </p:cNvPr>
          <p:cNvSpPr>
            <a:spLocks noGrp="1"/>
          </p:cNvSpPr>
          <p:nvPr>
            <p:ph type="title"/>
          </p:nvPr>
        </p:nvSpPr>
        <p:spPr/>
        <p:txBody>
          <a:bodyPr>
            <a:normAutofit/>
          </a:bodyPr>
          <a:lstStyle/>
          <a:p>
            <a:r>
              <a:rPr lang="en-US" altLang="zh-CN" sz="2800" b="1" dirty="0"/>
              <a:t>GDP</a:t>
            </a:r>
            <a:r>
              <a:rPr lang="zh-CN" altLang="zh-CN" sz="2800" b="1" dirty="0"/>
              <a:t>折算指数</a:t>
            </a:r>
            <a:endParaRPr lang="zh-CN" altLang="en-US" sz="2800" dirty="0"/>
          </a:p>
        </p:txBody>
      </p:sp>
      <p:sp>
        <p:nvSpPr>
          <p:cNvPr id="3" name="内容占位符 2">
            <a:extLst>
              <a:ext uri="{FF2B5EF4-FFF2-40B4-BE49-F238E27FC236}">
                <a16:creationId xmlns:a16="http://schemas.microsoft.com/office/drawing/2014/main" id="{FEDB81A6-528F-4AEF-B350-8DFDB9801740}"/>
              </a:ext>
            </a:extLst>
          </p:cNvPr>
          <p:cNvSpPr>
            <a:spLocks noGrp="1"/>
          </p:cNvSpPr>
          <p:nvPr>
            <p:ph idx="1"/>
          </p:nvPr>
        </p:nvSpPr>
        <p:spPr>
          <a:xfrm>
            <a:off x="838200" y="1514340"/>
            <a:ext cx="10515600" cy="4351338"/>
          </a:xfrm>
        </p:spPr>
        <p:txBody>
          <a:bodyPr/>
          <a:lstStyle/>
          <a:p>
            <a:pPr marL="0" indent="0">
              <a:buNone/>
            </a:pPr>
            <a:r>
              <a:rPr lang="zh-CN" altLang="zh-CN" dirty="0"/>
              <a:t>总产出的价格</a:t>
            </a:r>
            <a:r>
              <a:rPr lang="en-US" altLang="zh-CN" dirty="0"/>
              <a:t>=</a:t>
            </a:r>
            <a:r>
              <a:rPr lang="zh-CN" altLang="zh-CN" dirty="0"/>
              <a:t>总产出的价值</a:t>
            </a:r>
            <a:r>
              <a:rPr lang="en-US" altLang="zh-CN" dirty="0"/>
              <a:t>/</a:t>
            </a:r>
            <a:r>
              <a:rPr lang="zh-CN" altLang="zh-CN" dirty="0"/>
              <a:t>总产出的实物量</a:t>
            </a:r>
            <a:r>
              <a:rPr lang="en-US" altLang="zh-CN" dirty="0"/>
              <a:t>=</a:t>
            </a:r>
            <a:r>
              <a:rPr lang="zh-CN" altLang="zh-CN" b="1" dirty="0">
                <a:solidFill>
                  <a:srgbClr val="FFFF00"/>
                </a:solidFill>
              </a:rPr>
              <a:t>名义</a:t>
            </a:r>
            <a:r>
              <a:rPr lang="en-US" altLang="zh-CN" b="1" dirty="0">
                <a:solidFill>
                  <a:srgbClr val="FFFF00"/>
                </a:solidFill>
              </a:rPr>
              <a:t>GDP/</a:t>
            </a:r>
            <a:r>
              <a:rPr lang="zh-CN" altLang="zh-CN" b="1" dirty="0">
                <a:solidFill>
                  <a:srgbClr val="FFFF00"/>
                </a:solidFill>
              </a:rPr>
              <a:t>实际</a:t>
            </a:r>
            <a:r>
              <a:rPr lang="en-US" altLang="zh-CN" b="1" dirty="0">
                <a:solidFill>
                  <a:srgbClr val="FFFF00"/>
                </a:solidFill>
              </a:rPr>
              <a:t>GDP</a:t>
            </a:r>
            <a:r>
              <a:rPr lang="zh-CN" altLang="zh-CN" dirty="0"/>
              <a:t>。</a:t>
            </a:r>
          </a:p>
          <a:p>
            <a:pPr marL="0" indent="0">
              <a:buNone/>
            </a:pPr>
            <a:r>
              <a:rPr lang="zh-CN" altLang="zh-CN" dirty="0"/>
              <a:t>以这种方式计算出来的“总产出的价格”从较为抽象的意义上衡量了经济体的一般价格水平。它所包含的商品种类更为广泛，囊括了经济体中的所有产品和服务。由于这个一般价格是通过名义</a:t>
            </a:r>
            <a:r>
              <a:rPr lang="en-US" altLang="zh-CN" dirty="0"/>
              <a:t>GDP</a:t>
            </a:r>
            <a:r>
              <a:rPr lang="zh-CN" altLang="zh-CN" dirty="0"/>
              <a:t>与实际</a:t>
            </a:r>
            <a:r>
              <a:rPr lang="en-US" altLang="zh-CN" dirty="0"/>
              <a:t>GDP</a:t>
            </a:r>
            <a:r>
              <a:rPr lang="zh-CN" altLang="zh-CN" dirty="0"/>
              <a:t>之间的折算关系所推导出来的，所以我们称之为</a:t>
            </a:r>
            <a:r>
              <a:rPr lang="en-US" altLang="zh-CN" dirty="0"/>
              <a:t>GDP</a:t>
            </a:r>
            <a:r>
              <a:rPr lang="zh-CN" altLang="zh-CN" dirty="0"/>
              <a:t>折算指数。</a:t>
            </a:r>
            <a:r>
              <a:rPr lang="zh-CN" altLang="zh-CN" b="1" dirty="0">
                <a:solidFill>
                  <a:srgbClr val="FFFF00"/>
                </a:solidFill>
              </a:rPr>
              <a:t>由于</a:t>
            </a:r>
            <a:r>
              <a:rPr lang="en-US" altLang="zh-CN" b="1" dirty="0">
                <a:solidFill>
                  <a:srgbClr val="FFFF00"/>
                </a:solidFill>
              </a:rPr>
              <a:t>GDP</a:t>
            </a:r>
            <a:r>
              <a:rPr lang="zh-CN" altLang="zh-CN" b="1" dirty="0">
                <a:solidFill>
                  <a:srgbClr val="FFFF00"/>
                </a:solidFill>
              </a:rPr>
              <a:t>折算指数代表了所有产品和服务的一般价格水平，在反映整体价格水平时比较全面</a:t>
            </a:r>
            <a:r>
              <a:rPr lang="zh-CN" altLang="zh-CN" dirty="0">
                <a:solidFill>
                  <a:srgbClr val="FFFF00"/>
                </a:solidFill>
              </a:rPr>
              <a:t>。</a:t>
            </a:r>
          </a:p>
          <a:p>
            <a:pPr marL="0" indent="0">
              <a:buNone/>
            </a:pPr>
            <a:endParaRPr lang="zh-CN" altLang="en-US" dirty="0"/>
          </a:p>
        </p:txBody>
      </p:sp>
    </p:spTree>
    <p:extLst>
      <p:ext uri="{BB962C8B-B14F-4D97-AF65-F5344CB8AC3E}">
        <p14:creationId xmlns:p14="http://schemas.microsoft.com/office/powerpoint/2010/main" val="885472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21A8C6-CB06-4B41-B996-1B1C6A27F57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1755D9E-13A5-4F0A-989C-B8AFEE257A19}"/>
              </a:ext>
            </a:extLst>
          </p:cNvPr>
          <p:cNvSpPr>
            <a:spLocks noGrp="1"/>
          </p:cNvSpPr>
          <p:nvPr>
            <p:ph idx="1"/>
          </p:nvPr>
        </p:nvSpPr>
        <p:spPr/>
        <p:txBody>
          <a:bodyPr/>
          <a:lstStyle/>
          <a:p>
            <a:pPr marL="0" indent="0">
              <a:buNone/>
            </a:pPr>
            <a:r>
              <a:rPr lang="zh-CN" altLang="zh-CN" b="1" dirty="0">
                <a:solidFill>
                  <a:srgbClr val="FFFF00"/>
                </a:solidFill>
              </a:rPr>
              <a:t>一般来说，</a:t>
            </a:r>
            <a:r>
              <a:rPr lang="en-US" altLang="zh-CN" b="1" dirty="0">
                <a:solidFill>
                  <a:srgbClr val="FFFF00"/>
                </a:solidFill>
              </a:rPr>
              <a:t>GDP</a:t>
            </a:r>
            <a:r>
              <a:rPr lang="zh-CN" altLang="zh-CN" b="1" dirty="0">
                <a:solidFill>
                  <a:srgbClr val="FFFF00"/>
                </a:solidFill>
              </a:rPr>
              <a:t>折算指数等于</a:t>
            </a:r>
            <a:r>
              <a:rPr lang="en-US" altLang="zh-CN" b="1" dirty="0">
                <a:solidFill>
                  <a:srgbClr val="FFFF00"/>
                </a:solidFill>
              </a:rPr>
              <a:t>1</a:t>
            </a:r>
            <a:r>
              <a:rPr lang="zh-CN" altLang="zh-CN" b="1" dirty="0">
                <a:solidFill>
                  <a:srgbClr val="FFFF00"/>
                </a:solidFill>
              </a:rPr>
              <a:t>，表示价格水平不变；</a:t>
            </a:r>
            <a:r>
              <a:rPr lang="en-US" altLang="zh-CN" b="1" dirty="0">
                <a:solidFill>
                  <a:srgbClr val="FFFF00"/>
                </a:solidFill>
              </a:rPr>
              <a:t>GDP</a:t>
            </a:r>
            <a:r>
              <a:rPr lang="zh-CN" altLang="zh-CN" b="1" dirty="0">
                <a:solidFill>
                  <a:srgbClr val="FFFF00"/>
                </a:solidFill>
              </a:rPr>
              <a:t>折算指数大于</a:t>
            </a:r>
            <a:r>
              <a:rPr lang="en-US" altLang="zh-CN" b="1" dirty="0">
                <a:solidFill>
                  <a:srgbClr val="FFFF00"/>
                </a:solidFill>
              </a:rPr>
              <a:t>1</a:t>
            </a:r>
            <a:r>
              <a:rPr lang="zh-CN" altLang="zh-CN" b="1" dirty="0">
                <a:solidFill>
                  <a:srgbClr val="FFFF00"/>
                </a:solidFill>
              </a:rPr>
              <a:t>，表示价格水平上涨；</a:t>
            </a:r>
            <a:r>
              <a:rPr lang="en-US" altLang="zh-CN" b="1" dirty="0">
                <a:solidFill>
                  <a:srgbClr val="FFFF00"/>
                </a:solidFill>
              </a:rPr>
              <a:t>GDP</a:t>
            </a:r>
            <a:r>
              <a:rPr lang="zh-CN" altLang="zh-CN" b="1" dirty="0">
                <a:solidFill>
                  <a:srgbClr val="FFFF00"/>
                </a:solidFill>
              </a:rPr>
              <a:t>折算指数小于</a:t>
            </a:r>
            <a:r>
              <a:rPr lang="en-US" altLang="zh-CN" b="1" dirty="0">
                <a:solidFill>
                  <a:srgbClr val="FFFF00"/>
                </a:solidFill>
              </a:rPr>
              <a:t>1</a:t>
            </a:r>
            <a:r>
              <a:rPr lang="zh-CN" altLang="zh-CN" b="1" dirty="0">
                <a:solidFill>
                  <a:srgbClr val="FFFF00"/>
                </a:solidFill>
              </a:rPr>
              <a:t>，表示价格水平下降。</a:t>
            </a:r>
            <a:endParaRPr lang="zh-CN" altLang="zh-CN" dirty="0">
              <a:solidFill>
                <a:srgbClr val="FFFF00"/>
              </a:solidFill>
            </a:endParaRPr>
          </a:p>
          <a:p>
            <a:pPr marL="0" indent="0">
              <a:buNone/>
            </a:pPr>
            <a:endParaRPr lang="zh-CN" altLang="en-US" dirty="0"/>
          </a:p>
        </p:txBody>
      </p:sp>
    </p:spTree>
    <p:extLst>
      <p:ext uri="{BB962C8B-B14F-4D97-AF65-F5344CB8AC3E}">
        <p14:creationId xmlns:p14="http://schemas.microsoft.com/office/powerpoint/2010/main" val="921925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31073">
            <a:extLst>
              <a:ext uri="{FF2B5EF4-FFF2-40B4-BE49-F238E27FC236}">
                <a16:creationId xmlns:a16="http://schemas.microsoft.com/office/drawing/2014/main" id="{24BC1905-4142-4DD8-B721-2A1605FD3BB9}"/>
              </a:ext>
            </a:extLst>
          </p:cNvPr>
          <p:cNvSpPr txBox="1">
            <a:spLocks noChangeArrowheads="1"/>
          </p:cNvSpPr>
          <p:nvPr/>
        </p:nvSpPr>
        <p:spPr>
          <a:xfrm>
            <a:off x="395288" y="620713"/>
            <a:ext cx="5256212"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t>国内生产总值的计算</a:t>
            </a:r>
          </a:p>
        </p:txBody>
      </p:sp>
      <p:sp>
        <p:nvSpPr>
          <p:cNvPr id="5" name="文本占位符 131074" descr="花束">
            <a:extLst>
              <a:ext uri="{FF2B5EF4-FFF2-40B4-BE49-F238E27FC236}">
                <a16:creationId xmlns:a16="http://schemas.microsoft.com/office/drawing/2014/main" id="{A76821B9-28F8-4A30-AB35-5B0BAC31168F}"/>
              </a:ext>
            </a:extLst>
          </p:cNvPr>
          <p:cNvSpPr txBox="1">
            <a:spLocks noChangeArrowheads="1"/>
          </p:cNvSpPr>
          <p:nvPr/>
        </p:nvSpPr>
        <p:spPr>
          <a:xfrm>
            <a:off x="395288" y="2133600"/>
            <a:ext cx="8229600" cy="1944688"/>
          </a:xfrm>
          <a:prstGeom prst="rect">
            <a:avLst/>
          </a:prstGeom>
          <a:noFill/>
          <a:ln w="3175" cmpd="sng">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dirty="0">
                <a:solidFill>
                  <a:schemeClr val="bg1"/>
                </a:solidFill>
                <a:latin typeface="黑体" panose="02010609060101010101" pitchFamily="49" charset="-122"/>
                <a:ea typeface="黑体" panose="02010609060101010101" pitchFamily="49" charset="-122"/>
              </a:rPr>
              <a:t>1.</a:t>
            </a:r>
            <a:r>
              <a:rPr lang="zh-CN" altLang="en-US" dirty="0">
                <a:solidFill>
                  <a:schemeClr val="bg1"/>
                </a:solidFill>
                <a:latin typeface="黑体" panose="02010609060101010101" pitchFamily="49" charset="-122"/>
                <a:ea typeface="黑体" panose="02010609060101010101" pitchFamily="49" charset="-122"/>
              </a:rPr>
              <a:t>支出法 </a:t>
            </a:r>
            <a:r>
              <a:rPr lang="en-US" altLang="zh-CN" dirty="0">
                <a:solidFill>
                  <a:schemeClr val="bg1"/>
                </a:solidFill>
                <a:latin typeface="黑体" panose="02010609060101010101" pitchFamily="49" charset="-122"/>
                <a:ea typeface="黑体" panose="02010609060101010101" pitchFamily="49" charset="-122"/>
              </a:rPr>
              <a:t>expenditure approach</a:t>
            </a:r>
            <a:r>
              <a:rPr lang="zh-CN" altLang="en-US" dirty="0">
                <a:solidFill>
                  <a:schemeClr val="folHlink"/>
                </a:solidFill>
                <a:latin typeface="黑体" panose="02010609060101010101" pitchFamily="49" charset="-122"/>
                <a:ea typeface="黑体" panose="02010609060101010101" pitchFamily="49" charset="-122"/>
              </a:rPr>
              <a:t>）</a:t>
            </a:r>
          </a:p>
          <a:p>
            <a:pPr algn="just"/>
            <a:r>
              <a:rPr lang="zh-CN" altLang="en-US" dirty="0">
                <a:latin typeface="黑体" panose="02010609060101010101" pitchFamily="49" charset="-122"/>
                <a:ea typeface="黑体" panose="02010609060101010101" pitchFamily="49" charset="-122"/>
              </a:rPr>
              <a:t>又称最终产品法 </a:t>
            </a:r>
            <a:r>
              <a:rPr lang="en-US" altLang="zh-CN" dirty="0">
                <a:latin typeface="黑体" panose="02010609060101010101" pitchFamily="49" charset="-122"/>
                <a:ea typeface="黑体" panose="02010609060101010101" pitchFamily="49" charset="-122"/>
              </a:rPr>
              <a:t>final product approach </a:t>
            </a:r>
            <a:r>
              <a:rPr lang="zh-CN" altLang="en-US" dirty="0">
                <a:latin typeface="黑体" panose="02010609060101010101" pitchFamily="49" charset="-122"/>
                <a:ea typeface="黑体" panose="02010609060101010101" pitchFamily="49" charset="-122"/>
              </a:rPr>
              <a:t>。</a:t>
            </a:r>
          </a:p>
          <a:p>
            <a:pPr algn="just"/>
            <a:r>
              <a:rPr lang="zh-CN" altLang="en-US" dirty="0">
                <a:latin typeface="黑体" panose="02010609060101010101" pitchFamily="49" charset="-122"/>
                <a:ea typeface="黑体" panose="02010609060101010101" pitchFamily="49" charset="-122"/>
              </a:rPr>
              <a:t>从最终产品的使用出发，把一年内购买的各项最终产品支出加总，计算该年内生产的产品和劳务的市场价值。</a:t>
            </a:r>
          </a:p>
        </p:txBody>
      </p:sp>
      <p:sp>
        <p:nvSpPr>
          <p:cNvPr id="6" name="矩形 131076" descr="花束">
            <a:extLst>
              <a:ext uri="{FF2B5EF4-FFF2-40B4-BE49-F238E27FC236}">
                <a16:creationId xmlns:a16="http://schemas.microsoft.com/office/drawing/2014/main" id="{51F58C47-6C15-4047-9C05-7FF2BE005891}"/>
              </a:ext>
            </a:extLst>
          </p:cNvPr>
          <p:cNvSpPr>
            <a:spLocks noChangeArrowheads="1"/>
          </p:cNvSpPr>
          <p:nvPr/>
        </p:nvSpPr>
        <p:spPr bwMode="auto">
          <a:xfrm>
            <a:off x="395288" y="5083175"/>
            <a:ext cx="8280400" cy="1152525"/>
          </a:xfrm>
          <a:prstGeom prst="rect">
            <a:avLst/>
          </a:prstGeom>
          <a:noFill/>
          <a:ln w="3175">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ts val="600"/>
              </a:spcBef>
              <a:buClr>
                <a:schemeClr val="hlink"/>
              </a:buClr>
              <a:buFont typeface="Wingdings" panose="05000000000000000000" pitchFamily="2" charset="2"/>
              <a:buChar char="u"/>
            </a:pPr>
            <a:r>
              <a:rPr lang="zh-CN" altLang="en-US" sz="2400" dirty="0">
                <a:solidFill>
                  <a:schemeClr val="bg1"/>
                </a:solidFill>
              </a:rPr>
              <a:t>【</a:t>
            </a:r>
            <a:r>
              <a:rPr lang="en-US" altLang="zh-CN" sz="2400" dirty="0">
                <a:solidFill>
                  <a:schemeClr val="bg1"/>
                </a:solidFill>
              </a:rPr>
              <a:t>C</a:t>
            </a:r>
            <a:r>
              <a:rPr lang="zh-CN" altLang="en-US" sz="2400" dirty="0">
                <a:solidFill>
                  <a:schemeClr val="bg1"/>
                </a:solidFill>
              </a:rPr>
              <a:t>】消费 </a:t>
            </a:r>
            <a:r>
              <a:rPr lang="en-US" altLang="zh-CN" sz="2400" dirty="0">
                <a:solidFill>
                  <a:schemeClr val="bg1"/>
                </a:solidFill>
                <a:latin typeface="黑体" panose="02010609060101010101" pitchFamily="49" charset="-122"/>
                <a:ea typeface="黑体" panose="02010609060101010101" pitchFamily="49" charset="-122"/>
              </a:rPr>
              <a:t>consumption</a:t>
            </a:r>
            <a:r>
              <a:rPr lang="zh-CN" altLang="en-US" sz="2400" dirty="0">
                <a:solidFill>
                  <a:schemeClr val="bg1"/>
                </a:solidFill>
                <a:latin typeface="黑体" panose="02010609060101010101" pitchFamily="49" charset="-122"/>
                <a:ea typeface="黑体" panose="02010609060101010101" pitchFamily="49" charset="-122"/>
              </a:rPr>
              <a:t>：居民支出，占</a:t>
            </a:r>
            <a:r>
              <a:rPr lang="en-US" altLang="zh-CN" sz="2400" dirty="0">
                <a:solidFill>
                  <a:schemeClr val="bg1"/>
                </a:solidFill>
                <a:latin typeface="黑体" panose="02010609060101010101" pitchFamily="49" charset="-122"/>
                <a:ea typeface="黑体" panose="02010609060101010101" pitchFamily="49" charset="-122"/>
              </a:rPr>
              <a:t>GDP</a:t>
            </a:r>
            <a:r>
              <a:rPr lang="zh-CN" altLang="en-US" sz="2400" dirty="0">
                <a:solidFill>
                  <a:schemeClr val="bg1"/>
                </a:solidFill>
                <a:latin typeface="黑体" panose="02010609060101010101" pitchFamily="49" charset="-122"/>
                <a:ea typeface="黑体" panose="02010609060101010101" pitchFamily="49" charset="-122"/>
              </a:rPr>
              <a:t>一半以上。</a:t>
            </a:r>
          </a:p>
          <a:p>
            <a:pPr>
              <a:spcBef>
                <a:spcPts val="600"/>
              </a:spcBef>
              <a:buClr>
                <a:schemeClr val="hlink"/>
              </a:buClr>
              <a:buFont typeface="Wingdings" panose="05000000000000000000" pitchFamily="2" charset="2"/>
              <a:buChar char="u"/>
            </a:pPr>
            <a:r>
              <a:rPr lang="zh-CN" altLang="en-US" sz="2400" dirty="0">
                <a:solidFill>
                  <a:schemeClr val="bg1"/>
                </a:solidFill>
                <a:latin typeface="黑体" panose="02010609060101010101" pitchFamily="49" charset="-122"/>
                <a:ea typeface="黑体" panose="02010609060101010101" pitchFamily="49" charset="-122"/>
              </a:rPr>
              <a:t>购买消费品和劳务支出，不包括建造住宅</a:t>
            </a:r>
            <a:r>
              <a:rPr lang="zh-CN" altLang="en-US" sz="2400" dirty="0">
                <a:solidFill>
                  <a:srgbClr val="A50021"/>
                </a:solidFill>
                <a:latin typeface="黑体" panose="02010609060101010101" pitchFamily="49" charset="-122"/>
                <a:ea typeface="黑体" panose="02010609060101010101" pitchFamily="49" charset="-122"/>
              </a:rPr>
              <a:t>。</a:t>
            </a:r>
          </a:p>
        </p:txBody>
      </p:sp>
      <p:sp>
        <p:nvSpPr>
          <p:cNvPr id="7" name="矩形 131078" descr="花束">
            <a:extLst>
              <a:ext uri="{FF2B5EF4-FFF2-40B4-BE49-F238E27FC236}">
                <a16:creationId xmlns:a16="http://schemas.microsoft.com/office/drawing/2014/main" id="{EDF7740F-228F-4B36-B75F-3240AC0487C8}"/>
              </a:ext>
            </a:extLst>
          </p:cNvPr>
          <p:cNvSpPr>
            <a:spLocks noChangeArrowheads="1"/>
          </p:cNvSpPr>
          <p:nvPr/>
        </p:nvSpPr>
        <p:spPr bwMode="auto">
          <a:xfrm>
            <a:off x="395288" y="4221163"/>
            <a:ext cx="8229600" cy="720725"/>
          </a:xfrm>
          <a:prstGeom prst="rect">
            <a:avLst/>
          </a:prstGeom>
          <a:noFill/>
          <a:ln w="3175">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hlink"/>
              </a:buClr>
            </a:pPr>
            <a:r>
              <a:rPr lang="en-US" altLang="zh-CN" sz="3600" i="1" dirty="0">
                <a:solidFill>
                  <a:schemeClr val="bg1"/>
                </a:solidFill>
                <a:latin typeface="黑体" panose="02010609060101010101" pitchFamily="49" charset="-122"/>
                <a:ea typeface="黑体" panose="02010609060101010101" pitchFamily="49" charset="-122"/>
              </a:rPr>
              <a:t>GDP</a:t>
            </a:r>
            <a:r>
              <a:rPr lang="zh-CN" altLang="en-US" sz="3600" dirty="0">
                <a:solidFill>
                  <a:schemeClr val="bg1"/>
                </a:solidFill>
                <a:latin typeface="黑体" panose="02010609060101010101" pitchFamily="49" charset="-122"/>
                <a:ea typeface="黑体" panose="02010609060101010101" pitchFamily="49" charset="-122"/>
              </a:rPr>
              <a:t>＝</a:t>
            </a:r>
            <a:r>
              <a:rPr lang="en-US" altLang="zh-CN" sz="3600" i="1" dirty="0">
                <a:solidFill>
                  <a:schemeClr val="bg1"/>
                </a:solidFill>
                <a:latin typeface="黑体" panose="02010609060101010101" pitchFamily="49" charset="-122"/>
                <a:ea typeface="黑体" panose="02010609060101010101" pitchFamily="49" charset="-122"/>
              </a:rPr>
              <a:t>C</a:t>
            </a:r>
            <a:r>
              <a:rPr lang="zh-CN" altLang="en-US" sz="3600" dirty="0">
                <a:solidFill>
                  <a:schemeClr val="bg1"/>
                </a:solidFill>
                <a:latin typeface="黑体" panose="02010609060101010101" pitchFamily="49" charset="-122"/>
                <a:ea typeface="黑体" panose="02010609060101010101" pitchFamily="49" charset="-122"/>
              </a:rPr>
              <a:t>＋</a:t>
            </a:r>
            <a:r>
              <a:rPr lang="en-US" altLang="zh-CN" sz="3600" i="1" dirty="0">
                <a:solidFill>
                  <a:schemeClr val="bg1"/>
                </a:solidFill>
                <a:latin typeface="黑体" panose="02010609060101010101" pitchFamily="49" charset="-122"/>
                <a:ea typeface="黑体" panose="02010609060101010101" pitchFamily="49" charset="-122"/>
              </a:rPr>
              <a:t>I</a:t>
            </a:r>
            <a:r>
              <a:rPr lang="zh-CN" altLang="en-US" sz="3600" dirty="0">
                <a:solidFill>
                  <a:schemeClr val="bg1"/>
                </a:solidFill>
                <a:latin typeface="黑体" panose="02010609060101010101" pitchFamily="49" charset="-122"/>
                <a:ea typeface="黑体" panose="02010609060101010101" pitchFamily="49" charset="-122"/>
              </a:rPr>
              <a:t>＋</a:t>
            </a:r>
            <a:r>
              <a:rPr lang="en-US" altLang="zh-CN" sz="3600" i="1" dirty="0">
                <a:solidFill>
                  <a:schemeClr val="bg1"/>
                </a:solidFill>
                <a:latin typeface="黑体" panose="02010609060101010101" pitchFamily="49" charset="-122"/>
                <a:ea typeface="黑体" panose="02010609060101010101" pitchFamily="49" charset="-122"/>
              </a:rPr>
              <a:t>G</a:t>
            </a:r>
            <a:r>
              <a:rPr lang="zh-CN" altLang="en-US" sz="3600" dirty="0">
                <a:solidFill>
                  <a:schemeClr val="bg1"/>
                </a:solidFill>
                <a:latin typeface="黑体" panose="02010609060101010101" pitchFamily="49" charset="-122"/>
                <a:ea typeface="黑体" panose="02010609060101010101" pitchFamily="49" charset="-122"/>
              </a:rPr>
              <a:t>＋</a:t>
            </a:r>
            <a:r>
              <a:rPr lang="en-US" altLang="zh-CN" sz="3600" i="1" dirty="0">
                <a:solidFill>
                  <a:schemeClr val="bg1"/>
                </a:solidFill>
                <a:latin typeface="黑体" panose="02010609060101010101" pitchFamily="49" charset="-122"/>
                <a:ea typeface="黑体" panose="02010609060101010101" pitchFamily="49" charset="-122"/>
              </a:rPr>
              <a:t>X</a:t>
            </a:r>
            <a:r>
              <a:rPr lang="zh-CN" altLang="en-US" sz="3600" dirty="0">
                <a:solidFill>
                  <a:schemeClr val="bg1"/>
                </a:solidFill>
                <a:latin typeface="黑体" panose="02010609060101010101" pitchFamily="49" charset="-122"/>
                <a:ea typeface="黑体" panose="02010609060101010101" pitchFamily="49" charset="-122"/>
              </a:rPr>
              <a:t>－</a:t>
            </a:r>
            <a:r>
              <a:rPr lang="en-US" altLang="zh-CN" sz="3600" i="1" dirty="0">
                <a:solidFill>
                  <a:schemeClr val="bg1"/>
                </a:solidFill>
                <a:latin typeface="黑体" panose="02010609060101010101" pitchFamily="49" charset="-122"/>
                <a:ea typeface="黑体" panose="02010609060101010101" pitchFamily="49" charset="-122"/>
              </a:rPr>
              <a:t>M</a:t>
            </a:r>
            <a:endParaRPr lang="en-US" altLang="zh-CN" sz="3600" dirty="0">
              <a:solidFill>
                <a:schemeClr val="bg1"/>
              </a:solidFill>
              <a:latin typeface="黑体" panose="02010609060101010101" pitchFamily="49" charset="-122"/>
              <a:ea typeface="黑体" panose="02010609060101010101" pitchFamily="49" charset="-122"/>
            </a:endParaRPr>
          </a:p>
        </p:txBody>
      </p:sp>
      <p:sp>
        <p:nvSpPr>
          <p:cNvPr id="8" name="横卷形 131080" descr="花束">
            <a:extLst>
              <a:ext uri="{FF2B5EF4-FFF2-40B4-BE49-F238E27FC236}">
                <a16:creationId xmlns:a16="http://schemas.microsoft.com/office/drawing/2014/main" id="{0B2F6005-329C-41A4-8037-D494938ED5A0}"/>
              </a:ext>
            </a:extLst>
          </p:cNvPr>
          <p:cNvSpPr>
            <a:spLocks noChangeArrowheads="1"/>
          </p:cNvSpPr>
          <p:nvPr/>
        </p:nvSpPr>
        <p:spPr bwMode="auto">
          <a:xfrm>
            <a:off x="395288" y="1268413"/>
            <a:ext cx="8208962" cy="720725"/>
          </a:xfrm>
          <a:prstGeom prst="horizontalScroll">
            <a:avLst>
              <a:gd name="adj" fmla="val 12500"/>
            </a:avLst>
          </a:prstGeom>
          <a:blipFill dpi="0" rotWithShape="0">
            <a:blip r:embed="rId2"/>
            <a:srcRect/>
            <a:tile tx="0" ty="0" sx="100000" sy="100000" flip="none" algn="tl"/>
          </a:blipFill>
          <a:ln w="76200">
            <a:solidFill>
              <a:srgbClr val="336600"/>
            </a:solidFill>
            <a:miter lim="800000"/>
            <a:headEnd/>
            <a:tailEnd/>
          </a:ln>
        </p:spPr>
        <p:txBody>
          <a:bodyPr wrap="none" anchor="ctr"/>
          <a:lstStyle/>
          <a:p>
            <a:pPr algn="dist">
              <a:buClr>
                <a:schemeClr val="hlink"/>
              </a:buClr>
              <a:buSzPct val="95000"/>
              <a:buFont typeface="Wingdings" panose="05000000000000000000" pitchFamily="2" charset="2"/>
              <a:buNone/>
            </a:pPr>
            <a:r>
              <a:rPr lang="zh-CN" altLang="en-US" sz="2400" dirty="0">
                <a:solidFill>
                  <a:srgbClr val="660033"/>
                </a:solidFill>
              </a:rPr>
              <a:t>收入法        支出法</a:t>
            </a:r>
            <a:r>
              <a:rPr lang="zh-CN" altLang="en-US" sz="2400" dirty="0">
                <a:solidFill>
                  <a:srgbClr val="0000CC"/>
                </a:solidFill>
              </a:rPr>
              <a:t>（最终产品法 ）</a:t>
            </a:r>
          </a:p>
        </p:txBody>
      </p:sp>
    </p:spTree>
    <p:extLst>
      <p:ext uri="{BB962C8B-B14F-4D97-AF65-F5344CB8AC3E}">
        <p14:creationId xmlns:p14="http://schemas.microsoft.com/office/powerpoint/2010/main" val="1001681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01729">
            <a:extLst>
              <a:ext uri="{FF2B5EF4-FFF2-40B4-BE49-F238E27FC236}">
                <a16:creationId xmlns:a16="http://schemas.microsoft.com/office/drawing/2014/main" id="{9611A6F3-BD5A-4415-BD35-55C467CE55F6}"/>
              </a:ext>
            </a:extLst>
          </p:cNvPr>
          <p:cNvSpPr>
            <a:spLocks noGrp="1" noChangeArrowheads="1"/>
          </p:cNvSpPr>
          <p:nvPr>
            <p:ph type="title"/>
          </p:nvPr>
        </p:nvSpPr>
        <p:spPr>
          <a:xfrm>
            <a:off x="395288" y="603250"/>
            <a:ext cx="5256212" cy="647700"/>
          </a:xfrm>
        </p:spPr>
        <p:txBody>
          <a:bodyPr>
            <a:normAutofit/>
          </a:bodyPr>
          <a:lstStyle/>
          <a:p>
            <a:r>
              <a:rPr lang="zh-CN" altLang="en-US" sz="2800" dirty="0"/>
              <a:t>投资</a:t>
            </a:r>
            <a:r>
              <a:rPr lang="en-US" altLang="zh-CN" sz="2800" dirty="0">
                <a:solidFill>
                  <a:schemeClr val="bg1"/>
                </a:solidFill>
              </a:rPr>
              <a:t>investment</a:t>
            </a:r>
          </a:p>
        </p:txBody>
      </p:sp>
      <p:sp>
        <p:nvSpPr>
          <p:cNvPr id="5" name="矩形 201734" descr="花束">
            <a:extLst>
              <a:ext uri="{FF2B5EF4-FFF2-40B4-BE49-F238E27FC236}">
                <a16:creationId xmlns:a16="http://schemas.microsoft.com/office/drawing/2014/main" id="{C0279DE8-5E28-4C81-89A1-5CDC370AC614}"/>
              </a:ext>
            </a:extLst>
          </p:cNvPr>
          <p:cNvSpPr>
            <a:spLocks noChangeArrowheads="1"/>
          </p:cNvSpPr>
          <p:nvPr/>
        </p:nvSpPr>
        <p:spPr bwMode="auto">
          <a:xfrm>
            <a:off x="395288" y="1268413"/>
            <a:ext cx="8280400" cy="97155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spcBef>
                <a:spcPct val="20000"/>
              </a:spcBef>
              <a:buClr>
                <a:schemeClr val="hlink"/>
              </a:buClr>
              <a:buSzPct val="95000"/>
              <a:buFont typeface="Wingdings" panose="05000000000000000000" pitchFamily="2" charset="2"/>
              <a:buChar char="u"/>
            </a:pPr>
            <a:r>
              <a:rPr lang="zh-CN" altLang="en-US" sz="2400">
                <a:solidFill>
                  <a:srgbClr val="101016"/>
                </a:solidFill>
              </a:rPr>
              <a:t>投资：</a:t>
            </a:r>
          </a:p>
          <a:p>
            <a:pPr>
              <a:spcBef>
                <a:spcPct val="20000"/>
              </a:spcBef>
              <a:buClr>
                <a:schemeClr val="hlink"/>
              </a:buClr>
              <a:buSzPct val="95000"/>
              <a:buFont typeface="Wingdings" panose="05000000000000000000" pitchFamily="2" charset="2"/>
              <a:buChar char="u"/>
            </a:pPr>
            <a:r>
              <a:rPr lang="zh-CN" altLang="en-US" sz="2400">
                <a:solidFill>
                  <a:srgbClr val="101016"/>
                </a:solidFill>
              </a:rPr>
              <a:t>一个国家或地区一定时期内社会资本的形成和增加。</a:t>
            </a:r>
          </a:p>
        </p:txBody>
      </p:sp>
      <p:sp>
        <p:nvSpPr>
          <p:cNvPr id="6" name="竖卷形 201736">
            <a:extLst>
              <a:ext uri="{FF2B5EF4-FFF2-40B4-BE49-F238E27FC236}">
                <a16:creationId xmlns:a16="http://schemas.microsoft.com/office/drawing/2014/main" id="{5298D782-F70C-4841-8E09-4B38425A227E}"/>
              </a:ext>
            </a:extLst>
          </p:cNvPr>
          <p:cNvSpPr>
            <a:spLocks noChangeArrowheads="1"/>
          </p:cNvSpPr>
          <p:nvPr/>
        </p:nvSpPr>
        <p:spPr bwMode="auto">
          <a:xfrm>
            <a:off x="395288" y="3357563"/>
            <a:ext cx="863600" cy="2016125"/>
          </a:xfrm>
          <a:prstGeom prst="verticalScroll">
            <a:avLst>
              <a:gd name="adj" fmla="val 12500"/>
            </a:avLst>
          </a:prstGeom>
          <a:solidFill>
            <a:schemeClr val="accent1"/>
          </a:solidFill>
          <a:ln w="9525">
            <a:solidFill>
              <a:schemeClr val="tx1"/>
            </a:solidFill>
            <a:miter lim="800000"/>
            <a:headEnd/>
            <a:tailEnd/>
          </a:ln>
        </p:spPr>
        <p:txBody>
          <a:bodyPr anchor="ctr"/>
          <a:lstStyle/>
          <a:p>
            <a:pPr algn="ctr"/>
            <a:r>
              <a:rPr lang="zh-CN" altLang="en-US" sz="3600" b="0">
                <a:solidFill>
                  <a:srgbClr val="101016"/>
                </a:solidFill>
              </a:rPr>
              <a:t>投资</a:t>
            </a:r>
          </a:p>
        </p:txBody>
      </p:sp>
      <p:sp>
        <p:nvSpPr>
          <p:cNvPr id="7" name="矩形 201737" descr="花束">
            <a:extLst>
              <a:ext uri="{FF2B5EF4-FFF2-40B4-BE49-F238E27FC236}">
                <a16:creationId xmlns:a16="http://schemas.microsoft.com/office/drawing/2014/main" id="{00485BAA-E82A-41F9-A4B3-867FFE0B1AE1}"/>
              </a:ext>
            </a:extLst>
          </p:cNvPr>
          <p:cNvSpPr>
            <a:spLocks noChangeArrowheads="1"/>
          </p:cNvSpPr>
          <p:nvPr/>
        </p:nvSpPr>
        <p:spPr bwMode="auto">
          <a:xfrm>
            <a:off x="1979613" y="2852738"/>
            <a:ext cx="1511300"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buClr>
                <a:schemeClr val="hlink"/>
              </a:buClr>
              <a:buSzPct val="95000"/>
              <a:buFont typeface="Wingdings" panose="05000000000000000000" pitchFamily="2" charset="2"/>
              <a:buNone/>
            </a:pPr>
            <a:r>
              <a:rPr lang="zh-CN" altLang="en-US" sz="2400">
                <a:solidFill>
                  <a:srgbClr val="101016"/>
                </a:solidFill>
              </a:rPr>
              <a:t>固定投资</a:t>
            </a:r>
          </a:p>
          <a:p>
            <a:pPr>
              <a:buClr>
                <a:schemeClr val="hlink"/>
              </a:buClr>
              <a:buSzPct val="95000"/>
              <a:buFont typeface="Wingdings" panose="05000000000000000000" pitchFamily="2" charset="2"/>
              <a:buNone/>
            </a:pPr>
            <a:r>
              <a:rPr lang="en-US" altLang="zh-CN" sz="2400">
                <a:solidFill>
                  <a:srgbClr val="101016"/>
                </a:solidFill>
              </a:rPr>
              <a:t>fixed</a:t>
            </a:r>
          </a:p>
        </p:txBody>
      </p:sp>
      <p:sp>
        <p:nvSpPr>
          <p:cNvPr id="8" name="矩形 201738" descr="花束">
            <a:extLst>
              <a:ext uri="{FF2B5EF4-FFF2-40B4-BE49-F238E27FC236}">
                <a16:creationId xmlns:a16="http://schemas.microsoft.com/office/drawing/2014/main" id="{B2756F51-4513-4D2E-A327-1AFF3D8045FA}"/>
              </a:ext>
            </a:extLst>
          </p:cNvPr>
          <p:cNvSpPr>
            <a:spLocks noChangeArrowheads="1"/>
          </p:cNvSpPr>
          <p:nvPr/>
        </p:nvSpPr>
        <p:spPr bwMode="auto">
          <a:xfrm>
            <a:off x="4067175" y="2709863"/>
            <a:ext cx="2386013" cy="533400"/>
          </a:xfrm>
          <a:prstGeom prst="rect">
            <a:avLst/>
          </a:prstGeom>
          <a:blipFill dpi="0" rotWithShape="0">
            <a:blip r:embed="rId2"/>
            <a:srcRect/>
            <a:tile tx="0" ty="0" sx="100000" sy="100000" flip="none" algn="tl"/>
          </a:blipFill>
          <a:ln w="76200">
            <a:solidFill>
              <a:srgbClr val="336600"/>
            </a:solidFill>
            <a:miter lim="800000"/>
            <a:headEnd/>
            <a:tailEnd/>
          </a:ln>
        </p:spPr>
        <p:txBody>
          <a:bodyPr wrap="none">
            <a:spAutoFit/>
          </a:bodyPr>
          <a:lstStyle/>
          <a:p>
            <a:pPr>
              <a:buClr>
                <a:schemeClr val="hlink"/>
              </a:buClr>
              <a:buSzPct val="95000"/>
              <a:buFont typeface="Wingdings" panose="05000000000000000000" pitchFamily="2" charset="2"/>
              <a:buChar char="u"/>
            </a:pPr>
            <a:r>
              <a:rPr lang="zh-CN" altLang="en-US" sz="2400">
                <a:solidFill>
                  <a:srgbClr val="101016"/>
                </a:solidFill>
              </a:rPr>
              <a:t>居民住房投资</a:t>
            </a:r>
          </a:p>
        </p:txBody>
      </p:sp>
      <p:sp>
        <p:nvSpPr>
          <p:cNvPr id="9" name="矩形 201739" descr="花束">
            <a:extLst>
              <a:ext uri="{FF2B5EF4-FFF2-40B4-BE49-F238E27FC236}">
                <a16:creationId xmlns:a16="http://schemas.microsoft.com/office/drawing/2014/main" id="{3B32D904-1C53-464A-ACB1-2C8EDBCD279C}"/>
              </a:ext>
            </a:extLst>
          </p:cNvPr>
          <p:cNvSpPr>
            <a:spLocks noChangeArrowheads="1"/>
          </p:cNvSpPr>
          <p:nvPr/>
        </p:nvSpPr>
        <p:spPr bwMode="auto">
          <a:xfrm>
            <a:off x="4067175" y="3500438"/>
            <a:ext cx="2386013" cy="533400"/>
          </a:xfrm>
          <a:prstGeom prst="rect">
            <a:avLst/>
          </a:prstGeom>
          <a:blipFill dpi="0" rotWithShape="0">
            <a:blip r:embed="rId2"/>
            <a:srcRect/>
            <a:tile tx="0" ty="0" sx="100000" sy="100000" flip="none" algn="tl"/>
          </a:blipFill>
          <a:ln w="76200">
            <a:solidFill>
              <a:srgbClr val="336600"/>
            </a:solidFill>
            <a:miter lim="800000"/>
            <a:headEnd/>
            <a:tailEnd/>
          </a:ln>
        </p:spPr>
        <p:txBody>
          <a:bodyPr wrap="none">
            <a:spAutoFit/>
          </a:bodyPr>
          <a:lstStyle/>
          <a:p>
            <a:pPr>
              <a:buClr>
                <a:schemeClr val="hlink"/>
              </a:buClr>
              <a:buSzPct val="95000"/>
              <a:buFont typeface="Wingdings" panose="05000000000000000000" pitchFamily="2" charset="2"/>
              <a:buChar char="u"/>
            </a:pPr>
            <a:r>
              <a:rPr lang="zh-CN" altLang="en-US" sz="2400">
                <a:solidFill>
                  <a:srgbClr val="101016"/>
                </a:solidFill>
              </a:rPr>
              <a:t>企业固定投资</a:t>
            </a:r>
          </a:p>
        </p:txBody>
      </p:sp>
      <p:sp>
        <p:nvSpPr>
          <p:cNvPr id="10" name="左大括号 201740">
            <a:extLst>
              <a:ext uri="{FF2B5EF4-FFF2-40B4-BE49-F238E27FC236}">
                <a16:creationId xmlns:a16="http://schemas.microsoft.com/office/drawing/2014/main" id="{7CBCE62E-D0FC-4D15-A54D-C3C9ABF047A4}"/>
              </a:ext>
            </a:extLst>
          </p:cNvPr>
          <p:cNvSpPr>
            <a:spLocks/>
          </p:cNvSpPr>
          <p:nvPr/>
        </p:nvSpPr>
        <p:spPr bwMode="auto">
          <a:xfrm>
            <a:off x="3562350" y="2781300"/>
            <a:ext cx="504825" cy="1152525"/>
          </a:xfrm>
          <a:prstGeom prst="leftBrace">
            <a:avLst>
              <a:gd name="adj1" fmla="val 19015"/>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 name="矩形 201741" descr="花束">
            <a:extLst>
              <a:ext uri="{FF2B5EF4-FFF2-40B4-BE49-F238E27FC236}">
                <a16:creationId xmlns:a16="http://schemas.microsoft.com/office/drawing/2014/main" id="{4265CBFB-69E3-433A-AE07-0F52A163B9B5}"/>
              </a:ext>
            </a:extLst>
          </p:cNvPr>
          <p:cNvSpPr>
            <a:spLocks noChangeArrowheads="1"/>
          </p:cNvSpPr>
          <p:nvPr/>
        </p:nvSpPr>
        <p:spPr bwMode="auto">
          <a:xfrm>
            <a:off x="6948488" y="2636838"/>
            <a:ext cx="1725612" cy="162877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buClr>
                <a:schemeClr val="hlink"/>
              </a:buClr>
              <a:buSzPct val="95000"/>
              <a:buFont typeface="Wingdings" panose="05000000000000000000" pitchFamily="2" charset="2"/>
              <a:buChar char="u"/>
            </a:pPr>
            <a:r>
              <a:rPr lang="zh-CN" altLang="en-US" sz="2400">
                <a:solidFill>
                  <a:srgbClr val="101016"/>
                </a:solidFill>
              </a:rPr>
              <a:t>固定：可以长期存在和使用。</a:t>
            </a:r>
          </a:p>
        </p:txBody>
      </p:sp>
      <p:sp>
        <p:nvSpPr>
          <p:cNvPr id="12" name="右大括号 201742">
            <a:extLst>
              <a:ext uri="{FF2B5EF4-FFF2-40B4-BE49-F238E27FC236}">
                <a16:creationId xmlns:a16="http://schemas.microsoft.com/office/drawing/2014/main" id="{57D71A2A-A7FA-43D1-B2F7-F08081A102AF}"/>
              </a:ext>
            </a:extLst>
          </p:cNvPr>
          <p:cNvSpPr>
            <a:spLocks/>
          </p:cNvSpPr>
          <p:nvPr/>
        </p:nvSpPr>
        <p:spPr bwMode="auto">
          <a:xfrm>
            <a:off x="6515100" y="2708275"/>
            <a:ext cx="360363" cy="1296988"/>
          </a:xfrm>
          <a:prstGeom prst="rightBrace">
            <a:avLst>
              <a:gd name="adj1" fmla="val 29976"/>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 name="矩形 201743" descr="花束">
            <a:extLst>
              <a:ext uri="{FF2B5EF4-FFF2-40B4-BE49-F238E27FC236}">
                <a16:creationId xmlns:a16="http://schemas.microsoft.com/office/drawing/2014/main" id="{6B8D4988-3932-4109-8C75-81887512BB2E}"/>
              </a:ext>
            </a:extLst>
          </p:cNvPr>
          <p:cNvSpPr>
            <a:spLocks noChangeArrowheads="1"/>
          </p:cNvSpPr>
          <p:nvPr/>
        </p:nvSpPr>
        <p:spPr bwMode="auto">
          <a:xfrm>
            <a:off x="1979613" y="4652963"/>
            <a:ext cx="6696075" cy="162877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buClr>
                <a:schemeClr val="hlink"/>
              </a:buClr>
              <a:buSzPct val="95000"/>
              <a:buFont typeface="Wingdings" panose="05000000000000000000" pitchFamily="2" charset="2"/>
              <a:buChar char="u"/>
            </a:pPr>
            <a:r>
              <a:rPr lang="zh-CN" altLang="en-US" sz="2400">
                <a:solidFill>
                  <a:srgbClr val="101016"/>
                </a:solidFill>
              </a:rPr>
              <a:t>存货投资</a:t>
            </a:r>
            <a:r>
              <a:rPr lang="en-US" altLang="zh-CN" sz="2400">
                <a:solidFill>
                  <a:srgbClr val="101016"/>
                </a:solidFill>
              </a:rPr>
              <a:t>inventory </a:t>
            </a:r>
          </a:p>
          <a:p>
            <a:pPr>
              <a:buClr>
                <a:schemeClr val="hlink"/>
              </a:buClr>
              <a:buSzPct val="95000"/>
              <a:buFont typeface="Wingdings" panose="05000000000000000000" pitchFamily="2" charset="2"/>
              <a:buChar char="u"/>
            </a:pPr>
            <a:r>
              <a:rPr lang="zh-CN" altLang="en-US" sz="2400">
                <a:solidFill>
                  <a:srgbClr val="101016"/>
                </a:solidFill>
              </a:rPr>
              <a:t>＝企业持有存货的变化，即产量超过销量的存货。</a:t>
            </a:r>
          </a:p>
          <a:p>
            <a:pPr>
              <a:buClr>
                <a:schemeClr val="hlink"/>
              </a:buClr>
              <a:buSzPct val="95000"/>
              <a:buFont typeface="Wingdings" panose="05000000000000000000" pitchFamily="2" charset="2"/>
              <a:buChar char="u"/>
            </a:pPr>
            <a:r>
              <a:rPr lang="zh-CN" altLang="en-US" sz="2400">
                <a:solidFill>
                  <a:srgbClr val="101016"/>
                </a:solidFill>
              </a:rPr>
              <a:t>是净存货（即年初存货与年底存货的差额。）</a:t>
            </a:r>
          </a:p>
        </p:txBody>
      </p:sp>
      <p:sp>
        <p:nvSpPr>
          <p:cNvPr id="14" name="左大括号 201745">
            <a:extLst>
              <a:ext uri="{FF2B5EF4-FFF2-40B4-BE49-F238E27FC236}">
                <a16:creationId xmlns:a16="http://schemas.microsoft.com/office/drawing/2014/main" id="{6B5AC7CE-9A62-4C51-A263-9772E8DAE552}"/>
              </a:ext>
            </a:extLst>
          </p:cNvPr>
          <p:cNvSpPr>
            <a:spLocks/>
          </p:cNvSpPr>
          <p:nvPr/>
        </p:nvSpPr>
        <p:spPr bwMode="auto">
          <a:xfrm>
            <a:off x="1403350" y="2997200"/>
            <a:ext cx="503238" cy="3024188"/>
          </a:xfrm>
          <a:prstGeom prst="leftBrace">
            <a:avLst>
              <a:gd name="adj1" fmla="val 50051"/>
              <a:gd name="adj2" fmla="val 51023"/>
            </a:avLst>
          </a:prstGeom>
          <a:noFill/>
          <a:ln w="76200">
            <a:solidFill>
              <a:srgbClr val="101016"/>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extLst>
      <p:ext uri="{BB962C8B-B14F-4D97-AF65-F5344CB8AC3E}">
        <p14:creationId xmlns:p14="http://schemas.microsoft.com/office/powerpoint/2010/main" val="3574763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204801">
            <a:extLst>
              <a:ext uri="{FF2B5EF4-FFF2-40B4-BE49-F238E27FC236}">
                <a16:creationId xmlns:a16="http://schemas.microsoft.com/office/drawing/2014/main" id="{1191FCC8-D52B-4451-AA60-6FE98B0E8F18}"/>
              </a:ext>
            </a:extLst>
          </p:cNvPr>
          <p:cNvSpPr txBox="1">
            <a:spLocks noChangeArrowheads="1"/>
          </p:cNvSpPr>
          <p:nvPr/>
        </p:nvSpPr>
        <p:spPr>
          <a:xfrm>
            <a:off x="395288" y="595313"/>
            <a:ext cx="5256212"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t>净投资</a:t>
            </a:r>
          </a:p>
        </p:txBody>
      </p:sp>
      <p:sp>
        <p:nvSpPr>
          <p:cNvPr id="14" name="矩形 204804" descr="新闻纸">
            <a:extLst>
              <a:ext uri="{FF2B5EF4-FFF2-40B4-BE49-F238E27FC236}">
                <a16:creationId xmlns:a16="http://schemas.microsoft.com/office/drawing/2014/main" id="{B8391602-3D88-4814-AC8E-52FD5C03567B}"/>
              </a:ext>
            </a:extLst>
          </p:cNvPr>
          <p:cNvSpPr>
            <a:spLocks noChangeArrowheads="1"/>
          </p:cNvSpPr>
          <p:nvPr/>
        </p:nvSpPr>
        <p:spPr bwMode="auto">
          <a:xfrm>
            <a:off x="395288" y="4221163"/>
            <a:ext cx="8229600" cy="2089150"/>
          </a:xfrm>
          <a:prstGeom prst="rect">
            <a:avLst/>
          </a:prstGeom>
          <a:blipFill dpi="0" rotWithShape="0">
            <a:blip r:embed="rId2"/>
            <a:srcRect/>
            <a:tile tx="0" ty="0" sx="100000" sy="100000" flip="none" algn="tl"/>
          </a:blipFill>
          <a:ln w="76200" cmpd="tri">
            <a:solidFill>
              <a:schemeClr val="bg2"/>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80000"/>
              </a:lnSpc>
              <a:spcBef>
                <a:spcPct val="50000"/>
              </a:spcBef>
              <a:buClr>
                <a:srgbClr val="FF0000"/>
              </a:buClr>
              <a:buSzPct val="95000"/>
              <a:buFont typeface="Wingdings" panose="05000000000000000000" pitchFamily="2" charset="2"/>
              <a:buChar char="p"/>
            </a:pPr>
            <a:r>
              <a:rPr lang="zh-CN" altLang="en-US" sz="2400" b="0">
                <a:solidFill>
                  <a:srgbClr val="101016"/>
                </a:solidFill>
                <a:latin typeface="黑体" panose="02010609060101010101" pitchFamily="49" charset="-122"/>
                <a:ea typeface="黑体" panose="02010609060101010101" pitchFamily="49" charset="-122"/>
              </a:rPr>
              <a:t>宏观经济学，严格区分投资和净投资的意义不大。</a:t>
            </a:r>
          </a:p>
          <a:p>
            <a:pPr>
              <a:lnSpc>
                <a:spcPct val="80000"/>
              </a:lnSpc>
              <a:spcBef>
                <a:spcPct val="50000"/>
              </a:spcBef>
              <a:buClr>
                <a:srgbClr val="FF0000"/>
              </a:buClr>
              <a:buSzPct val="95000"/>
              <a:buFont typeface="Wingdings" panose="05000000000000000000" pitchFamily="2" charset="2"/>
              <a:buChar char="p"/>
            </a:pPr>
            <a:r>
              <a:rPr lang="zh-CN" altLang="en-US" sz="2400" b="0">
                <a:solidFill>
                  <a:srgbClr val="101016"/>
                </a:solidFill>
                <a:latin typeface="黑体" panose="02010609060101010101" pitchFamily="49" charset="-122"/>
                <a:ea typeface="黑体" panose="02010609060101010101" pitchFamily="49" charset="-122"/>
              </a:rPr>
              <a:t>净投资、折旧（重置投资），都是当年的投资支出，都构成对当年资本品市场的社会需求。</a:t>
            </a:r>
          </a:p>
          <a:p>
            <a:pPr>
              <a:lnSpc>
                <a:spcPct val="80000"/>
              </a:lnSpc>
              <a:spcBef>
                <a:spcPct val="50000"/>
              </a:spcBef>
              <a:buClr>
                <a:schemeClr val="hlink"/>
              </a:buClr>
              <a:buFont typeface="Wingdings" panose="05000000000000000000" pitchFamily="2" charset="2"/>
              <a:buChar char="l"/>
            </a:pPr>
            <a:r>
              <a:rPr lang="zh-CN" altLang="en-US" sz="2400" b="0">
                <a:solidFill>
                  <a:srgbClr val="101016"/>
                </a:solidFill>
                <a:latin typeface="黑体" panose="02010609060101010101" pitchFamily="49" charset="-122"/>
                <a:ea typeface="黑体" panose="02010609060101010101" pitchFamily="49" charset="-122"/>
              </a:rPr>
              <a:t>为使问题简单化，除非特别说明，都假定折旧为零，投资和净投资是同一个量。</a:t>
            </a:r>
          </a:p>
        </p:txBody>
      </p:sp>
      <p:sp>
        <p:nvSpPr>
          <p:cNvPr id="15" name="矩形 204807" descr="花束">
            <a:extLst>
              <a:ext uri="{FF2B5EF4-FFF2-40B4-BE49-F238E27FC236}">
                <a16:creationId xmlns:a16="http://schemas.microsoft.com/office/drawing/2014/main" id="{0778F551-6C5A-4312-94B9-F5AD917E2E98}"/>
              </a:ext>
            </a:extLst>
          </p:cNvPr>
          <p:cNvSpPr>
            <a:spLocks noChangeArrowheads="1"/>
          </p:cNvSpPr>
          <p:nvPr/>
        </p:nvSpPr>
        <p:spPr bwMode="auto">
          <a:xfrm>
            <a:off x="546100" y="2022475"/>
            <a:ext cx="974725" cy="595313"/>
          </a:xfrm>
          <a:prstGeom prst="rect">
            <a:avLst/>
          </a:prstGeom>
          <a:blipFill dpi="0" rotWithShape="0">
            <a:blip r:embed="rId3"/>
            <a:srcRect/>
            <a:tile tx="0" ty="0" sx="100000" sy="100000" flip="none" algn="tl"/>
          </a:blipFill>
          <a:ln w="76200">
            <a:solidFill>
              <a:srgbClr val="336600"/>
            </a:solidFill>
            <a:miter lim="800000"/>
            <a:headEnd/>
            <a:tailEnd/>
          </a:ln>
        </p:spPr>
        <p:txBody>
          <a:bodyPr wrap="none">
            <a:spAutoFit/>
          </a:bodyPr>
          <a:lstStyle/>
          <a:p>
            <a:pPr>
              <a:buClr>
                <a:schemeClr val="hlink"/>
              </a:buClr>
              <a:buSzPct val="95000"/>
              <a:buFont typeface="Wingdings" panose="05000000000000000000" pitchFamily="2" charset="2"/>
              <a:buNone/>
            </a:pPr>
            <a:r>
              <a:rPr lang="zh-CN" altLang="en-US" sz="2800">
                <a:solidFill>
                  <a:srgbClr val="101016"/>
                </a:solidFill>
              </a:rPr>
              <a:t>投资</a:t>
            </a:r>
          </a:p>
        </p:txBody>
      </p:sp>
      <p:sp>
        <p:nvSpPr>
          <p:cNvPr id="16" name="矩形 204808" descr="花束">
            <a:extLst>
              <a:ext uri="{FF2B5EF4-FFF2-40B4-BE49-F238E27FC236}">
                <a16:creationId xmlns:a16="http://schemas.microsoft.com/office/drawing/2014/main" id="{AEDA881D-6532-49FA-BAC4-4B023342559B}"/>
              </a:ext>
            </a:extLst>
          </p:cNvPr>
          <p:cNvSpPr>
            <a:spLocks noChangeArrowheads="1"/>
          </p:cNvSpPr>
          <p:nvPr/>
        </p:nvSpPr>
        <p:spPr bwMode="auto">
          <a:xfrm>
            <a:off x="1908175" y="1404938"/>
            <a:ext cx="6696075" cy="533400"/>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buClr>
                <a:schemeClr val="hlink"/>
              </a:buClr>
              <a:buSzPct val="95000"/>
              <a:buFont typeface="Wingdings" panose="05000000000000000000" pitchFamily="2" charset="2"/>
              <a:buChar char="u"/>
            </a:pPr>
            <a:r>
              <a:rPr lang="zh-CN" altLang="en-US" sz="2400">
                <a:solidFill>
                  <a:srgbClr val="101016"/>
                </a:solidFill>
              </a:rPr>
              <a:t>重置投资</a:t>
            </a:r>
            <a:r>
              <a:rPr lang="en-US" altLang="zh-CN" sz="2000">
                <a:solidFill>
                  <a:srgbClr val="FF0000"/>
                </a:solidFill>
              </a:rPr>
              <a:t>replacement </a:t>
            </a:r>
            <a:r>
              <a:rPr lang="zh-CN" altLang="en-US" sz="2400">
                <a:solidFill>
                  <a:srgbClr val="101016"/>
                </a:solidFill>
              </a:rPr>
              <a:t>＝对磨损的补偿＝折旧</a:t>
            </a:r>
          </a:p>
        </p:txBody>
      </p:sp>
      <p:sp>
        <p:nvSpPr>
          <p:cNvPr id="17" name="矩形 204809" descr="花束">
            <a:extLst>
              <a:ext uri="{FF2B5EF4-FFF2-40B4-BE49-F238E27FC236}">
                <a16:creationId xmlns:a16="http://schemas.microsoft.com/office/drawing/2014/main" id="{9AAD1208-1AA5-4472-B9E7-881831C226D5}"/>
              </a:ext>
            </a:extLst>
          </p:cNvPr>
          <p:cNvSpPr>
            <a:spLocks noChangeArrowheads="1"/>
          </p:cNvSpPr>
          <p:nvPr/>
        </p:nvSpPr>
        <p:spPr bwMode="auto">
          <a:xfrm>
            <a:off x="1908175" y="2420938"/>
            <a:ext cx="2808288" cy="898525"/>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buClr>
                <a:schemeClr val="hlink"/>
              </a:buClr>
              <a:buSzPct val="95000"/>
              <a:buFont typeface="Wingdings" panose="05000000000000000000" pitchFamily="2" charset="2"/>
              <a:buChar char="u"/>
            </a:pPr>
            <a:r>
              <a:rPr lang="zh-CN" altLang="en-US" sz="2400">
                <a:solidFill>
                  <a:srgbClr val="101016"/>
                </a:solidFill>
              </a:rPr>
              <a:t>净投资</a:t>
            </a:r>
          </a:p>
          <a:p>
            <a:pPr>
              <a:buClr>
                <a:schemeClr val="hlink"/>
              </a:buClr>
              <a:buSzPct val="95000"/>
              <a:buFont typeface="Wingdings" panose="05000000000000000000" pitchFamily="2" charset="2"/>
              <a:buChar char="u"/>
            </a:pPr>
            <a:r>
              <a:rPr lang="zh-CN" altLang="en-US" sz="2400">
                <a:solidFill>
                  <a:srgbClr val="101016"/>
                </a:solidFill>
              </a:rPr>
              <a:t>＝每年新增资本</a:t>
            </a:r>
          </a:p>
        </p:txBody>
      </p:sp>
      <p:sp>
        <p:nvSpPr>
          <p:cNvPr id="18" name="矩形 204810" descr="花束">
            <a:extLst>
              <a:ext uri="{FF2B5EF4-FFF2-40B4-BE49-F238E27FC236}">
                <a16:creationId xmlns:a16="http://schemas.microsoft.com/office/drawing/2014/main" id="{4172CEF5-4326-464A-936D-DA2CA5316251}"/>
              </a:ext>
            </a:extLst>
          </p:cNvPr>
          <p:cNvSpPr>
            <a:spLocks noChangeArrowheads="1"/>
          </p:cNvSpPr>
          <p:nvPr/>
        </p:nvSpPr>
        <p:spPr bwMode="auto">
          <a:xfrm>
            <a:off x="5003800" y="2133600"/>
            <a:ext cx="3603625" cy="898525"/>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buClr>
                <a:schemeClr val="hlink"/>
              </a:buClr>
              <a:buSzPct val="95000"/>
              <a:buFont typeface="Wingdings" panose="05000000000000000000" pitchFamily="2" charset="2"/>
              <a:buChar char="u"/>
            </a:pPr>
            <a:r>
              <a:rPr lang="en-US" altLang="zh-CN" sz="2400">
                <a:solidFill>
                  <a:srgbClr val="101016"/>
                </a:solidFill>
              </a:rPr>
              <a:t>= </a:t>
            </a:r>
            <a:r>
              <a:rPr lang="zh-CN" altLang="en-US" sz="2400">
                <a:solidFill>
                  <a:srgbClr val="101016"/>
                </a:solidFill>
              </a:rPr>
              <a:t>投资 </a:t>
            </a:r>
            <a:r>
              <a:rPr lang="en-US" altLang="zh-CN" sz="2400">
                <a:solidFill>
                  <a:srgbClr val="101016"/>
                </a:solidFill>
              </a:rPr>
              <a:t>– </a:t>
            </a:r>
          </a:p>
          <a:p>
            <a:pPr>
              <a:buClr>
                <a:schemeClr val="hlink"/>
              </a:buClr>
              <a:buSzPct val="95000"/>
              <a:buFont typeface="Wingdings" panose="05000000000000000000" pitchFamily="2" charset="2"/>
              <a:buChar char="u"/>
            </a:pPr>
            <a:r>
              <a:rPr lang="zh-CN" altLang="en-US" sz="2400">
                <a:solidFill>
                  <a:srgbClr val="101016"/>
                </a:solidFill>
              </a:rPr>
              <a:t>折旧（重置投资）</a:t>
            </a:r>
          </a:p>
        </p:txBody>
      </p:sp>
      <p:sp>
        <p:nvSpPr>
          <p:cNvPr id="19" name="矩形 204811" descr="花束">
            <a:extLst>
              <a:ext uri="{FF2B5EF4-FFF2-40B4-BE49-F238E27FC236}">
                <a16:creationId xmlns:a16="http://schemas.microsoft.com/office/drawing/2014/main" id="{37A0FE6F-A483-4FDD-8000-4A8249B5C27B}"/>
              </a:ext>
            </a:extLst>
          </p:cNvPr>
          <p:cNvSpPr>
            <a:spLocks noChangeArrowheads="1"/>
          </p:cNvSpPr>
          <p:nvPr/>
        </p:nvSpPr>
        <p:spPr bwMode="auto">
          <a:xfrm>
            <a:off x="5003800" y="3213100"/>
            <a:ext cx="3600450" cy="898525"/>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spcBef>
                <a:spcPct val="20000"/>
              </a:spcBef>
              <a:buClr>
                <a:schemeClr val="hlink"/>
              </a:buClr>
              <a:buSzPct val="95000"/>
              <a:buFont typeface="Wingdings" panose="05000000000000000000" pitchFamily="2" charset="2"/>
              <a:buChar char="u"/>
            </a:pPr>
            <a:r>
              <a:rPr lang="en-US" altLang="zh-CN" sz="2400">
                <a:solidFill>
                  <a:srgbClr val="101016"/>
                </a:solidFill>
              </a:rPr>
              <a:t>= </a:t>
            </a:r>
            <a:r>
              <a:rPr lang="zh-CN" altLang="en-US" sz="2400">
                <a:solidFill>
                  <a:srgbClr val="101016"/>
                </a:solidFill>
              </a:rPr>
              <a:t>期末的资本存量 </a:t>
            </a:r>
            <a:r>
              <a:rPr lang="en-US" altLang="zh-CN" sz="2400">
                <a:solidFill>
                  <a:srgbClr val="101016"/>
                </a:solidFill>
              </a:rPr>
              <a:t>- </a:t>
            </a:r>
            <a:r>
              <a:rPr lang="zh-CN" altLang="en-US" sz="2400">
                <a:solidFill>
                  <a:srgbClr val="101016"/>
                </a:solidFill>
              </a:rPr>
              <a:t>期初的资本存量</a:t>
            </a:r>
          </a:p>
        </p:txBody>
      </p:sp>
      <p:sp>
        <p:nvSpPr>
          <p:cNvPr id="20" name="左大括号 204813">
            <a:extLst>
              <a:ext uri="{FF2B5EF4-FFF2-40B4-BE49-F238E27FC236}">
                <a16:creationId xmlns:a16="http://schemas.microsoft.com/office/drawing/2014/main" id="{5CC37B46-B309-4270-B413-F47FD1413672}"/>
              </a:ext>
            </a:extLst>
          </p:cNvPr>
          <p:cNvSpPr>
            <a:spLocks/>
          </p:cNvSpPr>
          <p:nvPr/>
        </p:nvSpPr>
        <p:spPr bwMode="auto">
          <a:xfrm>
            <a:off x="1547813" y="1484313"/>
            <a:ext cx="360362" cy="1728787"/>
          </a:xfrm>
          <a:prstGeom prst="leftBrace">
            <a:avLst>
              <a:gd name="adj1" fmla="val 39956"/>
              <a:gd name="adj2" fmla="val 50000"/>
            </a:avLst>
          </a:prstGeom>
          <a:noFill/>
          <a:ln w="76200">
            <a:solidFill>
              <a:srgbClr val="101016"/>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左大括号 204814">
            <a:extLst>
              <a:ext uri="{FF2B5EF4-FFF2-40B4-BE49-F238E27FC236}">
                <a16:creationId xmlns:a16="http://schemas.microsoft.com/office/drawing/2014/main" id="{99471197-4FAC-4F31-89B3-E6B8C98FAA61}"/>
              </a:ext>
            </a:extLst>
          </p:cNvPr>
          <p:cNvSpPr>
            <a:spLocks/>
          </p:cNvSpPr>
          <p:nvPr/>
        </p:nvSpPr>
        <p:spPr bwMode="auto">
          <a:xfrm>
            <a:off x="4787900" y="2133600"/>
            <a:ext cx="144463" cy="1871663"/>
          </a:xfrm>
          <a:prstGeom prst="leftBrace">
            <a:avLst>
              <a:gd name="adj1" fmla="val 107907"/>
              <a:gd name="adj2" fmla="val 50000"/>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extLst>
      <p:ext uri="{BB962C8B-B14F-4D97-AF65-F5344CB8AC3E}">
        <p14:creationId xmlns:p14="http://schemas.microsoft.com/office/powerpoint/2010/main" val="2034283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02764">
            <a:extLst>
              <a:ext uri="{FF2B5EF4-FFF2-40B4-BE49-F238E27FC236}">
                <a16:creationId xmlns:a16="http://schemas.microsoft.com/office/drawing/2014/main" id="{3773098F-C4DA-412A-98F2-C2183F8D06E0}"/>
              </a:ext>
            </a:extLst>
          </p:cNvPr>
          <p:cNvSpPr txBox="1">
            <a:spLocks noChangeArrowheads="1"/>
          </p:cNvSpPr>
          <p:nvPr/>
        </p:nvSpPr>
        <p:spPr>
          <a:xfrm>
            <a:off x="35121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solidFill>
                  <a:schemeClr val="bg1"/>
                </a:solidFill>
              </a:rPr>
              <a:t>【</a:t>
            </a:r>
            <a:r>
              <a:rPr lang="en-US" altLang="zh-CN" sz="2800" dirty="0">
                <a:solidFill>
                  <a:schemeClr val="bg1"/>
                </a:solidFill>
              </a:rPr>
              <a:t>G</a:t>
            </a:r>
            <a:r>
              <a:rPr lang="zh-CN" altLang="en-US" sz="2800" dirty="0">
                <a:solidFill>
                  <a:schemeClr val="bg1"/>
                </a:solidFill>
              </a:rPr>
              <a:t>】政府购买</a:t>
            </a:r>
          </a:p>
        </p:txBody>
      </p:sp>
      <p:sp>
        <p:nvSpPr>
          <p:cNvPr id="5" name="文本占位符 202756" descr="花束">
            <a:extLst>
              <a:ext uri="{FF2B5EF4-FFF2-40B4-BE49-F238E27FC236}">
                <a16:creationId xmlns:a16="http://schemas.microsoft.com/office/drawing/2014/main" id="{3A2420FD-440A-4CDC-B371-1437F2DEA7AB}"/>
              </a:ext>
            </a:extLst>
          </p:cNvPr>
          <p:cNvSpPr txBox="1">
            <a:spLocks noChangeArrowheads="1"/>
          </p:cNvSpPr>
          <p:nvPr/>
        </p:nvSpPr>
        <p:spPr>
          <a:xfrm>
            <a:off x="809727" y="1268414"/>
            <a:ext cx="4038600" cy="1368425"/>
          </a:xfrm>
          <a:prstGeom prst="rect">
            <a:avLst/>
          </a:prstGeom>
          <a:noFill/>
          <a:ln w="3175" cmpd="sng">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600"/>
              </a:spcBef>
              <a:buFont typeface="Arial" panose="020B0604020202020204" pitchFamily="34" charset="0"/>
              <a:buNone/>
            </a:pPr>
            <a:r>
              <a:rPr lang="en-US" altLang="zh-CN">
                <a:latin typeface="黑体" panose="02010609060101010101" pitchFamily="49" charset="-122"/>
                <a:ea typeface="黑体" panose="02010609060101010101" pitchFamily="49" charset="-122"/>
              </a:rPr>
              <a:t>Government purchase</a:t>
            </a:r>
          </a:p>
          <a:p>
            <a:pPr>
              <a:buFont typeface="Wingdings" panose="05000000000000000000" pitchFamily="2" charset="2"/>
              <a:buChar char="u"/>
            </a:pPr>
            <a:r>
              <a:rPr lang="zh-CN" altLang="en-US">
                <a:latin typeface="黑体" panose="02010609060101010101" pitchFamily="49" charset="-122"/>
                <a:ea typeface="黑体" panose="02010609060101010101" pitchFamily="49" charset="-122"/>
              </a:rPr>
              <a:t>政府购买的产品与劳务总和。</a:t>
            </a:r>
          </a:p>
        </p:txBody>
      </p:sp>
      <p:sp>
        <p:nvSpPr>
          <p:cNvPr id="6" name="文本占位符 202765">
            <a:extLst>
              <a:ext uri="{FF2B5EF4-FFF2-40B4-BE49-F238E27FC236}">
                <a16:creationId xmlns:a16="http://schemas.microsoft.com/office/drawing/2014/main" id="{72FE9294-9EDD-4A03-84CD-74E842459FEE}"/>
              </a:ext>
            </a:extLst>
          </p:cNvPr>
          <p:cNvSpPr txBox="1">
            <a:spLocks noChangeArrowheads="1"/>
          </p:cNvSpPr>
          <p:nvPr/>
        </p:nvSpPr>
        <p:spPr>
          <a:xfrm>
            <a:off x="4986439" y="1484314"/>
            <a:ext cx="4038600" cy="237648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转移性支出：政府单方面的价值让渡，不是等价交换，如社会保障支出，财政补贴，体现的是再分配职能救济金，失业保障金。 </a:t>
            </a:r>
          </a:p>
        </p:txBody>
      </p:sp>
      <p:sp>
        <p:nvSpPr>
          <p:cNvPr id="7" name="矩形 202760" descr="粉色面巾纸">
            <a:extLst>
              <a:ext uri="{FF2B5EF4-FFF2-40B4-BE49-F238E27FC236}">
                <a16:creationId xmlns:a16="http://schemas.microsoft.com/office/drawing/2014/main" id="{90B45FA3-7B4D-49D4-8D1D-855514A15BD9}"/>
              </a:ext>
            </a:extLst>
          </p:cNvPr>
          <p:cNvSpPr>
            <a:spLocks noChangeArrowheads="1"/>
          </p:cNvSpPr>
          <p:nvPr/>
        </p:nvSpPr>
        <p:spPr bwMode="auto">
          <a:xfrm>
            <a:off x="809727" y="2852739"/>
            <a:ext cx="3960812" cy="935037"/>
          </a:xfrm>
          <a:prstGeom prst="rect">
            <a:avLst/>
          </a:prstGeom>
          <a:blipFill dpi="0" rotWithShape="0">
            <a:blip r:embed="rId2"/>
            <a:srcRect/>
            <a:tile tx="0" ty="0" sx="100000" sy="100000" flip="none" algn="tl"/>
          </a:blipFill>
          <a:ln w="76200" cmpd="tri">
            <a:solidFill>
              <a:srgbClr val="FF0000"/>
            </a:solidFill>
            <a:miter lim="800000"/>
            <a:headEnd/>
            <a:tailEnd/>
          </a:ln>
        </p:spPr>
        <p:txBody>
          <a:bodyPr/>
          <a:lstStyle/>
          <a:p>
            <a:pPr>
              <a:buClr>
                <a:srgbClr val="336600"/>
              </a:buClr>
              <a:buSzPct val="95000"/>
              <a:buFont typeface="Wingdings" panose="05000000000000000000" pitchFamily="2" charset="2"/>
              <a:buChar char="l"/>
            </a:pPr>
            <a:r>
              <a:rPr lang="zh-CN" altLang="en-US" sz="2400">
                <a:solidFill>
                  <a:srgbClr val="101016"/>
                </a:solidFill>
              </a:rPr>
              <a:t>不包括政府的转移支付、公债利息等。</a:t>
            </a:r>
          </a:p>
        </p:txBody>
      </p:sp>
      <p:sp>
        <p:nvSpPr>
          <p:cNvPr id="8" name="矩形 202766" descr="粉色面巾纸">
            <a:extLst>
              <a:ext uri="{FF2B5EF4-FFF2-40B4-BE49-F238E27FC236}">
                <a16:creationId xmlns:a16="http://schemas.microsoft.com/office/drawing/2014/main" id="{72B1D58E-F32D-4615-AC85-0EAC5CF6D983}"/>
              </a:ext>
            </a:extLst>
          </p:cNvPr>
          <p:cNvSpPr>
            <a:spLocks noChangeArrowheads="1"/>
          </p:cNvSpPr>
          <p:nvPr/>
        </p:nvSpPr>
        <p:spPr bwMode="auto">
          <a:xfrm>
            <a:off x="809727" y="4149726"/>
            <a:ext cx="8208962" cy="1800225"/>
          </a:xfrm>
          <a:prstGeom prst="rect">
            <a:avLst/>
          </a:prstGeom>
          <a:blipFill dpi="0" rotWithShape="0">
            <a:blip r:embed="rId2"/>
            <a:srcRect/>
            <a:tile tx="0" ty="0" sx="100000" sy="100000" flip="none" algn="tl"/>
          </a:blipFill>
          <a:ln w="76200" cmpd="tri">
            <a:solidFill>
              <a:srgbClr val="FF0000"/>
            </a:solidFill>
            <a:miter lim="800000"/>
            <a:headEnd/>
            <a:tailEnd/>
          </a:ln>
        </p:spPr>
        <p:txBody>
          <a:bodyPr/>
          <a:lstStyle/>
          <a:p>
            <a:pPr>
              <a:buClr>
                <a:srgbClr val="336600"/>
              </a:buClr>
              <a:buSzPct val="95000"/>
              <a:buFont typeface="Wingdings" panose="05000000000000000000" pitchFamily="2" charset="2"/>
              <a:buChar char="l"/>
            </a:pPr>
            <a:r>
              <a:rPr lang="zh-CN" altLang="en-US" sz="2400">
                <a:solidFill>
                  <a:srgbClr val="101016"/>
                </a:solidFill>
              </a:rPr>
              <a:t>以避免重复计算。</a:t>
            </a:r>
          </a:p>
          <a:p>
            <a:pPr>
              <a:buClr>
                <a:srgbClr val="336600"/>
              </a:buClr>
              <a:buSzPct val="95000"/>
              <a:buFont typeface="Wingdings" panose="05000000000000000000" pitchFamily="2" charset="2"/>
              <a:buChar char="l"/>
            </a:pPr>
            <a:r>
              <a:rPr lang="zh-CN" altLang="en-US" sz="2400">
                <a:solidFill>
                  <a:srgbClr val="101016"/>
                </a:solidFill>
              </a:rPr>
              <a:t>因为转移支付仅仅把收入转移，没有交换的产生。</a:t>
            </a:r>
          </a:p>
          <a:p>
            <a:pPr>
              <a:buClr>
                <a:srgbClr val="336600"/>
              </a:buClr>
              <a:buSzPct val="95000"/>
              <a:buFont typeface="Wingdings" panose="05000000000000000000" pitchFamily="2" charset="2"/>
              <a:buChar char="l"/>
            </a:pPr>
            <a:r>
              <a:rPr lang="zh-CN" altLang="en-US" sz="2400">
                <a:solidFill>
                  <a:srgbClr val="19692C"/>
                </a:solidFill>
              </a:rPr>
              <a:t>政府的转移支付给予后，无非是归入个人消费和投资（主要是消费）。</a:t>
            </a:r>
            <a:endParaRPr lang="zh-CN" altLang="en-US" sz="2400">
              <a:solidFill>
                <a:srgbClr val="101016"/>
              </a:solidFill>
            </a:endParaRPr>
          </a:p>
        </p:txBody>
      </p:sp>
    </p:spTree>
    <p:extLst>
      <p:ext uri="{BB962C8B-B14F-4D97-AF65-F5344CB8AC3E}">
        <p14:creationId xmlns:p14="http://schemas.microsoft.com/office/powerpoint/2010/main" val="4009010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37569">
            <a:extLst>
              <a:ext uri="{FF2B5EF4-FFF2-40B4-BE49-F238E27FC236}">
                <a16:creationId xmlns:a16="http://schemas.microsoft.com/office/drawing/2014/main" id="{1EF5D0BC-0D42-446B-972B-64676C765BE1}"/>
              </a:ext>
            </a:extLst>
          </p:cNvPr>
          <p:cNvSpPr>
            <a:spLocks noGrp="1" noChangeArrowheads="1"/>
          </p:cNvSpPr>
          <p:nvPr>
            <p:ph type="title"/>
          </p:nvPr>
        </p:nvSpPr>
        <p:spPr>
          <a:xfrm>
            <a:off x="429638" y="252413"/>
            <a:ext cx="10515600" cy="1325563"/>
          </a:xfrm>
        </p:spPr>
        <p:txBody>
          <a:bodyPr>
            <a:normAutofit/>
          </a:bodyPr>
          <a:lstStyle/>
          <a:p>
            <a:r>
              <a:rPr lang="zh-CN" altLang="en-US" sz="2800" dirty="0"/>
              <a:t>【</a:t>
            </a:r>
            <a:r>
              <a:rPr lang="en-US" altLang="zh-CN" sz="2800" dirty="0"/>
              <a:t>X</a:t>
            </a:r>
            <a:r>
              <a:rPr lang="zh-CN" altLang="en-US" sz="2800" dirty="0"/>
              <a:t>－</a:t>
            </a:r>
            <a:r>
              <a:rPr lang="en-US" altLang="zh-CN" sz="2800" dirty="0"/>
              <a:t>M</a:t>
            </a:r>
            <a:r>
              <a:rPr lang="zh-CN" altLang="en-US" sz="2800" dirty="0"/>
              <a:t>】净出口</a:t>
            </a:r>
          </a:p>
        </p:txBody>
      </p:sp>
      <p:sp>
        <p:nvSpPr>
          <p:cNvPr id="5" name="文本占位符 237579" descr="花束">
            <a:extLst>
              <a:ext uri="{FF2B5EF4-FFF2-40B4-BE49-F238E27FC236}">
                <a16:creationId xmlns:a16="http://schemas.microsoft.com/office/drawing/2014/main" id="{56ABBE66-C482-402F-8B01-E00209A372CB}"/>
              </a:ext>
            </a:extLst>
          </p:cNvPr>
          <p:cNvSpPr>
            <a:spLocks noGrp="1" noChangeArrowheads="1"/>
          </p:cNvSpPr>
          <p:nvPr>
            <p:ph idx="1"/>
          </p:nvPr>
        </p:nvSpPr>
        <p:spPr>
          <a:xfrm>
            <a:off x="1054099" y="1388951"/>
            <a:ext cx="4321175" cy="936625"/>
          </a:xfrm>
          <a:noFill/>
          <a:ln w="3175" cmpd="sng">
            <a:solidFill>
              <a:schemeClr val="tx1"/>
            </a:solidFill>
          </a:ln>
        </p:spPr>
        <p:txBody>
          <a:bodyPr>
            <a:normAutofit fontScale="92500"/>
          </a:bodyPr>
          <a:lstStyle/>
          <a:p>
            <a:pPr>
              <a:lnSpc>
                <a:spcPct val="90000"/>
              </a:lnSpc>
            </a:pPr>
            <a:r>
              <a:rPr lang="en-US" altLang="zh-CN" dirty="0"/>
              <a:t>net exports</a:t>
            </a:r>
          </a:p>
          <a:p>
            <a:pPr>
              <a:lnSpc>
                <a:spcPct val="90000"/>
              </a:lnSpc>
            </a:pPr>
            <a:r>
              <a:rPr lang="zh-CN" altLang="en-US" dirty="0"/>
              <a:t>出口减去进口得到的差额。</a:t>
            </a:r>
          </a:p>
        </p:txBody>
      </p:sp>
      <p:sp>
        <p:nvSpPr>
          <p:cNvPr id="6" name="矩形 237574" descr="粉色面巾纸">
            <a:extLst>
              <a:ext uri="{FF2B5EF4-FFF2-40B4-BE49-F238E27FC236}">
                <a16:creationId xmlns:a16="http://schemas.microsoft.com/office/drawing/2014/main" id="{D72900F4-2FD3-4B1F-B55E-AE43B2A600EE}"/>
              </a:ext>
            </a:extLst>
          </p:cNvPr>
          <p:cNvSpPr>
            <a:spLocks noChangeArrowheads="1"/>
          </p:cNvSpPr>
          <p:nvPr/>
        </p:nvSpPr>
        <p:spPr bwMode="auto">
          <a:xfrm>
            <a:off x="1054100" y="2469892"/>
            <a:ext cx="4321175" cy="1628775"/>
          </a:xfrm>
          <a:prstGeom prst="rect">
            <a:avLst/>
          </a:prstGeom>
          <a:blipFill dpi="0" rotWithShape="0">
            <a:blip r:embed="rId2"/>
            <a:srcRect/>
            <a:tile tx="0" ty="0" sx="100000" sy="100000" flip="none" algn="tl"/>
          </a:blipFill>
          <a:ln w="76200" cmpd="tri">
            <a:solidFill>
              <a:srgbClr val="FF0000"/>
            </a:solidFill>
            <a:miter lim="800000"/>
            <a:headEnd/>
            <a:tailEnd/>
          </a:ln>
        </p:spPr>
        <p:txBody>
          <a:bodyPr>
            <a:spAutoFit/>
          </a:bodyPr>
          <a:lstStyle/>
          <a:p>
            <a:pPr>
              <a:buClr>
                <a:srgbClr val="336600"/>
              </a:buClr>
              <a:buSzPct val="95000"/>
              <a:buFont typeface="Wingdings" panose="05000000000000000000" pitchFamily="2" charset="2"/>
              <a:buChar char="l"/>
            </a:pPr>
            <a:r>
              <a:rPr lang="zh-CN" altLang="en-US" sz="2400" dirty="0">
                <a:solidFill>
                  <a:srgbClr val="101016"/>
                </a:solidFill>
              </a:rPr>
              <a:t>表示本国的最终产品有多少通过外国人支出而实现。</a:t>
            </a:r>
          </a:p>
          <a:p>
            <a:pPr>
              <a:buClr>
                <a:srgbClr val="336600"/>
              </a:buClr>
              <a:buSzPct val="95000"/>
              <a:buFont typeface="Wingdings" panose="05000000000000000000" pitchFamily="2" charset="2"/>
              <a:buChar char="l"/>
            </a:pPr>
            <a:r>
              <a:rPr lang="zh-CN" altLang="en-US" sz="2400" dirty="0">
                <a:solidFill>
                  <a:srgbClr val="101016"/>
                </a:solidFill>
              </a:rPr>
              <a:t>是国外对本国产品与劳务消费和使用的净支出。</a:t>
            </a:r>
          </a:p>
        </p:txBody>
      </p:sp>
      <p:sp>
        <p:nvSpPr>
          <p:cNvPr id="7" name="文本框 237580" descr="粉色面巾纸">
            <a:extLst>
              <a:ext uri="{FF2B5EF4-FFF2-40B4-BE49-F238E27FC236}">
                <a16:creationId xmlns:a16="http://schemas.microsoft.com/office/drawing/2014/main" id="{B3111573-5C72-4E8B-B2A5-95D886F6A7D3}"/>
              </a:ext>
            </a:extLst>
          </p:cNvPr>
          <p:cNvSpPr txBox="1">
            <a:spLocks noChangeArrowheads="1"/>
          </p:cNvSpPr>
          <p:nvPr/>
        </p:nvSpPr>
        <p:spPr bwMode="auto">
          <a:xfrm>
            <a:off x="5947854" y="1362381"/>
            <a:ext cx="2016125" cy="814647"/>
          </a:xfrm>
          <a:prstGeom prst="rect">
            <a:avLst/>
          </a:prstGeom>
          <a:blipFill dpi="0" rotWithShape="0">
            <a:blip r:embed="rId2"/>
            <a:srcRect/>
            <a:tile tx="0" ty="0" sx="100000" sy="100000" flip="none" algn="tl"/>
          </a:blipFill>
          <a:ln w="76200" cmpd="tri">
            <a:solidFill>
              <a:srgbClr val="FF0000"/>
            </a:solidFill>
            <a:miter lim="800000"/>
            <a:headEnd/>
            <a:tailEnd/>
          </a:ln>
        </p:spPr>
        <p:txBody>
          <a:bodyPr>
            <a:spAutoFit/>
          </a:bodyPr>
          <a:lstStyle/>
          <a:p>
            <a:pPr>
              <a:lnSpc>
                <a:spcPct val="90000"/>
              </a:lnSpc>
              <a:spcBef>
                <a:spcPct val="50000"/>
              </a:spcBef>
              <a:buClr>
                <a:srgbClr val="336600"/>
              </a:buClr>
              <a:buSzPct val="95000"/>
              <a:buFont typeface="Wingdings" panose="05000000000000000000" pitchFamily="2" charset="2"/>
              <a:buChar char="l"/>
            </a:pPr>
            <a:r>
              <a:rPr lang="en-US" altLang="zh-CN" sz="2400" dirty="0">
                <a:solidFill>
                  <a:srgbClr val="19692C"/>
                </a:solidFill>
              </a:rPr>
              <a:t>X</a:t>
            </a:r>
            <a:r>
              <a:rPr lang="zh-CN" altLang="en-US" sz="2400" dirty="0">
                <a:solidFill>
                  <a:srgbClr val="19692C"/>
                </a:solidFill>
              </a:rPr>
              <a:t>＝出口</a:t>
            </a:r>
          </a:p>
          <a:p>
            <a:pPr>
              <a:lnSpc>
                <a:spcPct val="50000"/>
              </a:lnSpc>
              <a:spcBef>
                <a:spcPct val="50000"/>
              </a:spcBef>
              <a:buClr>
                <a:srgbClr val="336600"/>
              </a:buClr>
              <a:buSzPct val="95000"/>
              <a:buFont typeface="Wingdings" panose="05000000000000000000" pitchFamily="2" charset="2"/>
              <a:buChar char="l"/>
            </a:pPr>
            <a:r>
              <a:rPr lang="en-US" altLang="zh-CN" sz="2400" dirty="0">
                <a:solidFill>
                  <a:srgbClr val="19692C"/>
                </a:solidFill>
              </a:rPr>
              <a:t>M</a:t>
            </a:r>
            <a:r>
              <a:rPr lang="zh-CN" altLang="en-US" sz="2400" dirty="0">
                <a:solidFill>
                  <a:srgbClr val="19692C"/>
                </a:solidFill>
              </a:rPr>
              <a:t>＝进口</a:t>
            </a:r>
          </a:p>
        </p:txBody>
      </p:sp>
      <p:sp>
        <p:nvSpPr>
          <p:cNvPr id="8" name="矩形 237581" descr="新闻纸">
            <a:extLst>
              <a:ext uri="{FF2B5EF4-FFF2-40B4-BE49-F238E27FC236}">
                <a16:creationId xmlns:a16="http://schemas.microsoft.com/office/drawing/2014/main" id="{23A4FBD9-7582-46CD-9B3E-7DA7614D3B01}"/>
              </a:ext>
            </a:extLst>
          </p:cNvPr>
          <p:cNvSpPr>
            <a:spLocks noChangeArrowheads="1"/>
          </p:cNvSpPr>
          <p:nvPr/>
        </p:nvSpPr>
        <p:spPr bwMode="auto">
          <a:xfrm>
            <a:off x="1054101" y="4222007"/>
            <a:ext cx="4321175" cy="2362200"/>
          </a:xfrm>
          <a:prstGeom prst="rect">
            <a:avLst/>
          </a:prstGeom>
          <a:blipFill dpi="0" rotWithShape="0">
            <a:blip r:embed="rId3"/>
            <a:srcRect/>
            <a:tile tx="0" ty="0" sx="100000" sy="100000" flip="none" algn="tl"/>
          </a:blipFill>
          <a:ln w="76200" cmpd="tri">
            <a:solidFill>
              <a:schemeClr val="bg2"/>
            </a:solidFill>
            <a:miter lim="800000"/>
            <a:headEnd/>
            <a:tailEnd/>
          </a:ln>
        </p:spPr>
        <p:txBody>
          <a:bodyPr anchor="ctr">
            <a:spAutoFit/>
          </a:bodyPr>
          <a:lstStyle/>
          <a:p>
            <a:pPr>
              <a:buClr>
                <a:srgbClr val="FF0000"/>
              </a:buClr>
              <a:buFont typeface="Wingdings" panose="05000000000000000000" pitchFamily="2" charset="2"/>
              <a:buChar char="p"/>
            </a:pPr>
            <a:r>
              <a:rPr lang="zh-CN" altLang="en-US" sz="2400" dirty="0">
                <a:solidFill>
                  <a:srgbClr val="19692C"/>
                </a:solidFill>
              </a:rPr>
              <a:t>贸易顺差屡创新高。</a:t>
            </a:r>
          </a:p>
          <a:p>
            <a:pPr>
              <a:buClr>
                <a:srgbClr val="FF0000"/>
              </a:buClr>
              <a:buFont typeface="Wingdings" panose="05000000000000000000" pitchFamily="2" charset="2"/>
              <a:buChar char="p"/>
            </a:pPr>
            <a:r>
              <a:rPr lang="zh-CN" altLang="en-US" sz="2000" dirty="0">
                <a:solidFill>
                  <a:srgbClr val="19692C"/>
                </a:solidFill>
              </a:rPr>
              <a:t>一方面，顺差过大不利于改善国际收支状况，人民币有升值压力，国际贸易磨擦增大。</a:t>
            </a:r>
          </a:p>
          <a:p>
            <a:pPr>
              <a:buClr>
                <a:srgbClr val="FF0000"/>
              </a:buClr>
              <a:buFont typeface="Wingdings" panose="05000000000000000000" pitchFamily="2" charset="2"/>
              <a:buChar char="p"/>
            </a:pPr>
            <a:r>
              <a:rPr lang="zh-CN" altLang="en-US" sz="2000" dirty="0">
                <a:solidFill>
                  <a:srgbClr val="19692C"/>
                </a:solidFill>
              </a:rPr>
              <a:t>另一方面，净出口增大使ＧＤＰ增速居高不下。但外需波动容易造成经济大起大落。</a:t>
            </a:r>
          </a:p>
        </p:txBody>
      </p:sp>
    </p:spTree>
    <p:extLst>
      <p:ext uri="{BB962C8B-B14F-4D97-AF65-F5344CB8AC3E}">
        <p14:creationId xmlns:p14="http://schemas.microsoft.com/office/powerpoint/2010/main" val="1266043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99681">
            <a:extLst>
              <a:ext uri="{FF2B5EF4-FFF2-40B4-BE49-F238E27FC236}">
                <a16:creationId xmlns:a16="http://schemas.microsoft.com/office/drawing/2014/main" id="{70365B6D-968B-4E12-B8B2-6F9CE7B5A3A9}"/>
              </a:ext>
            </a:extLst>
          </p:cNvPr>
          <p:cNvSpPr>
            <a:spLocks noGrp="1" noChangeArrowheads="1"/>
          </p:cNvSpPr>
          <p:nvPr>
            <p:ph type="title"/>
          </p:nvPr>
        </p:nvSpPr>
        <p:spPr>
          <a:xfrm>
            <a:off x="779833" y="365125"/>
            <a:ext cx="10515600" cy="1325563"/>
          </a:xfrm>
        </p:spPr>
        <p:txBody>
          <a:bodyPr>
            <a:normAutofit/>
          </a:bodyPr>
          <a:lstStyle/>
          <a:p>
            <a:r>
              <a:rPr lang="zh-CN" altLang="en-US" sz="2400" dirty="0"/>
              <a:t>收入法 </a:t>
            </a:r>
            <a:r>
              <a:rPr lang="en-US" altLang="zh-CN" sz="2400" dirty="0">
                <a:solidFill>
                  <a:srgbClr val="FFFF00"/>
                </a:solidFill>
              </a:rPr>
              <a:t>income approach </a:t>
            </a:r>
          </a:p>
        </p:txBody>
      </p:sp>
      <p:sp>
        <p:nvSpPr>
          <p:cNvPr id="5" name="文本占位符 199682" descr="花束">
            <a:extLst>
              <a:ext uri="{FF2B5EF4-FFF2-40B4-BE49-F238E27FC236}">
                <a16:creationId xmlns:a16="http://schemas.microsoft.com/office/drawing/2014/main" id="{CC74B217-A743-4B65-B47A-A52697D0F4A2}"/>
              </a:ext>
            </a:extLst>
          </p:cNvPr>
          <p:cNvSpPr>
            <a:spLocks noGrp="1" noChangeArrowheads="1"/>
          </p:cNvSpPr>
          <p:nvPr>
            <p:ph idx="1"/>
          </p:nvPr>
        </p:nvSpPr>
        <p:spPr>
          <a:xfrm>
            <a:off x="713056" y="1268414"/>
            <a:ext cx="8208962" cy="1081087"/>
          </a:xfrm>
          <a:noFill/>
          <a:ln w="3175" cmpd="sng">
            <a:solidFill>
              <a:schemeClr val="tx1"/>
            </a:solidFill>
          </a:ln>
        </p:spPr>
        <p:txBody>
          <a:bodyPr>
            <a:normAutofit/>
          </a:bodyPr>
          <a:lstStyle/>
          <a:p>
            <a:pPr>
              <a:lnSpc>
                <a:spcPct val="120000"/>
              </a:lnSpc>
              <a:buSzPct val="95000"/>
              <a:buFont typeface="Wingdings" panose="05000000000000000000" pitchFamily="2" charset="2"/>
              <a:buChar char="u"/>
            </a:pPr>
            <a:r>
              <a:rPr lang="zh-CN" altLang="en-US" dirty="0"/>
              <a:t>把生产要素所得到的各种收入加总起来；</a:t>
            </a:r>
          </a:p>
          <a:p>
            <a:pPr algn="ctr">
              <a:lnSpc>
                <a:spcPct val="70000"/>
              </a:lnSpc>
              <a:buSzPct val="95000"/>
              <a:buFont typeface="Wingdings" panose="05000000000000000000" pitchFamily="2" charset="2"/>
              <a:buNone/>
            </a:pPr>
            <a:r>
              <a:rPr lang="en-US" altLang="zh-CN" sz="3200" dirty="0" err="1">
                <a:solidFill>
                  <a:srgbClr val="FFFF00"/>
                </a:solidFill>
              </a:rPr>
              <a:t>W+i+R+E</a:t>
            </a:r>
            <a:endParaRPr lang="en-US" altLang="zh-CN" sz="3200" dirty="0">
              <a:solidFill>
                <a:srgbClr val="FFFF00"/>
              </a:solidFill>
            </a:endParaRPr>
          </a:p>
        </p:txBody>
      </p:sp>
      <p:sp>
        <p:nvSpPr>
          <p:cNvPr id="6" name="矩形 199683" descr="蓝色面巾纸">
            <a:extLst>
              <a:ext uri="{FF2B5EF4-FFF2-40B4-BE49-F238E27FC236}">
                <a16:creationId xmlns:a16="http://schemas.microsoft.com/office/drawing/2014/main" id="{A82A335A-63C5-4A29-A91B-EC6B5E1953E6}"/>
              </a:ext>
            </a:extLst>
          </p:cNvPr>
          <p:cNvSpPr>
            <a:spLocks noChangeArrowheads="1"/>
          </p:cNvSpPr>
          <p:nvPr/>
        </p:nvSpPr>
        <p:spPr bwMode="auto">
          <a:xfrm>
            <a:off x="839514" y="2492376"/>
            <a:ext cx="8208962" cy="860425"/>
          </a:xfrm>
          <a:prstGeom prst="rect">
            <a:avLst/>
          </a:prstGeom>
          <a:blipFill dpi="0" rotWithShape="0">
            <a:blip r:embed="rId2"/>
            <a:srcRect/>
            <a:tile tx="0" ty="0" sx="100000" sy="100000" flip="none" algn="tl"/>
          </a:blipFill>
          <a:ln w="38100" cmpd="dbl">
            <a:solidFill>
              <a:srgbClr val="000099"/>
            </a:solidFill>
            <a:miter lim="800000"/>
            <a:headEnd/>
            <a:tailEnd/>
          </a:ln>
        </p:spPr>
        <p:txBody>
          <a:bodyPr>
            <a:spAutoFit/>
          </a:bodyPr>
          <a:lstStyle/>
          <a:p>
            <a:pPr>
              <a:buClr>
                <a:srgbClr val="336600"/>
              </a:buClr>
              <a:buSzPct val="95000"/>
              <a:buFont typeface="Wingdings" panose="05000000000000000000" pitchFamily="2" charset="2"/>
              <a:buChar char="p"/>
            </a:pPr>
            <a:r>
              <a:rPr lang="zh-CN" altLang="en-US" sz="2400" dirty="0">
                <a:solidFill>
                  <a:srgbClr val="101016"/>
                </a:solidFill>
              </a:rPr>
              <a:t>收入代表供给，收入法也就是供给法，又称要素支付法（</a:t>
            </a:r>
            <a:r>
              <a:rPr lang="en-US" altLang="zh-CN" sz="2400" dirty="0">
                <a:solidFill>
                  <a:srgbClr val="101016"/>
                </a:solidFill>
              </a:rPr>
              <a:t>factor payment approach</a:t>
            </a:r>
            <a:r>
              <a:rPr lang="zh-CN" altLang="en-US" sz="2400" dirty="0">
                <a:solidFill>
                  <a:srgbClr val="101016"/>
                </a:solidFill>
              </a:rPr>
              <a:t>）。</a:t>
            </a:r>
          </a:p>
        </p:txBody>
      </p:sp>
      <p:sp>
        <p:nvSpPr>
          <p:cNvPr id="7" name="矩形 199685" descr="花束">
            <a:extLst>
              <a:ext uri="{FF2B5EF4-FFF2-40B4-BE49-F238E27FC236}">
                <a16:creationId xmlns:a16="http://schemas.microsoft.com/office/drawing/2014/main" id="{F80EE1F1-87D8-475E-803B-3FBDB5155229}"/>
              </a:ext>
            </a:extLst>
          </p:cNvPr>
          <p:cNvSpPr>
            <a:spLocks noChangeArrowheads="1"/>
          </p:cNvSpPr>
          <p:nvPr/>
        </p:nvSpPr>
        <p:spPr bwMode="auto">
          <a:xfrm>
            <a:off x="839515" y="3500438"/>
            <a:ext cx="4968875" cy="2089150"/>
          </a:xfrm>
          <a:prstGeom prst="rect">
            <a:avLst/>
          </a:prstGeom>
          <a:blipFill dpi="0" rotWithShape="0">
            <a:blip r:embed="rId3"/>
            <a:srcRect/>
            <a:tile tx="0" ty="0" sx="100000" sy="100000" flip="none" algn="tl"/>
          </a:blipFill>
          <a:ln w="76200">
            <a:solidFill>
              <a:srgbClr val="336600"/>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hlink"/>
              </a:buClr>
              <a:buSzPct val="95000"/>
            </a:pPr>
            <a:r>
              <a:rPr lang="zh-CN" altLang="en-US" sz="2400" dirty="0">
                <a:solidFill>
                  <a:srgbClr val="101016"/>
                </a:solidFill>
              </a:rPr>
              <a:t>收入法计算公式  </a:t>
            </a:r>
            <a:r>
              <a:rPr lang="en-US" altLang="zh-CN" sz="2400" dirty="0">
                <a:solidFill>
                  <a:srgbClr val="101016"/>
                </a:solidFill>
                <a:latin typeface="黑体" panose="02010609060101010101" pitchFamily="49" charset="-122"/>
                <a:ea typeface="黑体" panose="02010609060101010101" pitchFamily="49" charset="-122"/>
              </a:rPr>
              <a:t>GDP</a:t>
            </a:r>
          </a:p>
          <a:p>
            <a:pPr>
              <a:lnSpc>
                <a:spcPct val="90000"/>
              </a:lnSpc>
              <a:spcBef>
                <a:spcPct val="20000"/>
              </a:spcBef>
              <a:buClr>
                <a:schemeClr val="hlink"/>
              </a:buClr>
              <a:buSzPct val="95000"/>
              <a:buFont typeface="Wingdings" panose="05000000000000000000" pitchFamily="2" charset="2"/>
              <a:buChar char="u"/>
            </a:pPr>
            <a:r>
              <a:rPr lang="zh-CN" altLang="en-US" sz="2400" dirty="0">
                <a:solidFill>
                  <a:srgbClr val="101016"/>
                </a:solidFill>
                <a:latin typeface="黑体" panose="02010609060101010101" pitchFamily="49" charset="-122"/>
                <a:ea typeface="黑体" panose="02010609060101010101" pitchFamily="49" charset="-122"/>
              </a:rPr>
              <a:t>＝工资＋利息＋租金</a:t>
            </a:r>
            <a:r>
              <a:rPr lang="en-US" altLang="zh-CN" sz="2400" dirty="0">
                <a:solidFill>
                  <a:srgbClr val="101016"/>
                </a:solidFill>
                <a:latin typeface="黑体" panose="02010609060101010101" pitchFamily="49" charset="-122"/>
                <a:ea typeface="黑体" panose="02010609060101010101" pitchFamily="49" charset="-122"/>
              </a:rPr>
              <a:t>+</a:t>
            </a:r>
            <a:r>
              <a:rPr lang="zh-CN" altLang="en-US" sz="2400" dirty="0">
                <a:solidFill>
                  <a:srgbClr val="101016"/>
                </a:solidFill>
                <a:latin typeface="黑体" panose="02010609060101010101" pitchFamily="49" charset="-122"/>
                <a:ea typeface="黑体" panose="02010609060101010101" pitchFamily="49" charset="-122"/>
              </a:rPr>
              <a:t>税前利润</a:t>
            </a:r>
          </a:p>
          <a:p>
            <a:pPr>
              <a:lnSpc>
                <a:spcPct val="90000"/>
              </a:lnSpc>
              <a:spcBef>
                <a:spcPct val="20000"/>
              </a:spcBef>
              <a:buClr>
                <a:schemeClr val="hlink"/>
              </a:buClr>
              <a:buSzPct val="95000"/>
              <a:buFont typeface="Wingdings" panose="05000000000000000000" pitchFamily="2" charset="2"/>
              <a:buChar char="u"/>
            </a:pPr>
            <a:r>
              <a:rPr lang="zh-CN" altLang="en-US" sz="2400" dirty="0">
                <a:solidFill>
                  <a:srgbClr val="101016"/>
                </a:solidFill>
                <a:latin typeface="黑体" panose="02010609060101010101" pitchFamily="49" charset="-122"/>
                <a:ea typeface="黑体" panose="02010609060101010101" pitchFamily="49" charset="-122"/>
              </a:rPr>
              <a:t>  ＋折旧</a:t>
            </a:r>
          </a:p>
          <a:p>
            <a:pPr>
              <a:lnSpc>
                <a:spcPct val="90000"/>
              </a:lnSpc>
              <a:spcBef>
                <a:spcPct val="20000"/>
              </a:spcBef>
              <a:buClr>
                <a:schemeClr val="hlink"/>
              </a:buClr>
              <a:buSzPct val="95000"/>
              <a:buFont typeface="Wingdings" panose="05000000000000000000" pitchFamily="2" charset="2"/>
              <a:buChar char="u"/>
            </a:pPr>
            <a:r>
              <a:rPr lang="zh-CN" altLang="en-US" sz="2400" dirty="0">
                <a:solidFill>
                  <a:srgbClr val="101016"/>
                </a:solidFill>
                <a:latin typeface="黑体" panose="02010609060101010101" pitchFamily="49" charset="-122"/>
                <a:ea typeface="黑体" panose="02010609060101010101" pitchFamily="49" charset="-122"/>
              </a:rPr>
              <a:t>  ＋间接税</a:t>
            </a:r>
          </a:p>
          <a:p>
            <a:pPr>
              <a:lnSpc>
                <a:spcPct val="90000"/>
              </a:lnSpc>
              <a:spcBef>
                <a:spcPct val="20000"/>
              </a:spcBef>
              <a:buClr>
                <a:schemeClr val="hlink"/>
              </a:buClr>
              <a:buSzPct val="95000"/>
              <a:buFont typeface="Wingdings" panose="05000000000000000000" pitchFamily="2" charset="2"/>
              <a:buChar char="u"/>
            </a:pPr>
            <a:r>
              <a:rPr lang="zh-CN" altLang="en-US" sz="2400" dirty="0">
                <a:solidFill>
                  <a:srgbClr val="101016"/>
                </a:solidFill>
                <a:latin typeface="黑体" panose="02010609060101010101" pitchFamily="49" charset="-122"/>
                <a:ea typeface="黑体" panose="02010609060101010101" pitchFamily="49" charset="-122"/>
              </a:rPr>
              <a:t>  ＋企业转移支付</a:t>
            </a:r>
          </a:p>
        </p:txBody>
      </p:sp>
      <p:sp>
        <p:nvSpPr>
          <p:cNvPr id="8" name="矩形 199688" descr="水滴">
            <a:extLst>
              <a:ext uri="{FF2B5EF4-FFF2-40B4-BE49-F238E27FC236}">
                <a16:creationId xmlns:a16="http://schemas.microsoft.com/office/drawing/2014/main" id="{1D634E4A-9A98-487C-97A8-CF7B492532BC}"/>
              </a:ext>
            </a:extLst>
          </p:cNvPr>
          <p:cNvSpPr>
            <a:spLocks noChangeArrowheads="1"/>
          </p:cNvSpPr>
          <p:nvPr/>
        </p:nvSpPr>
        <p:spPr bwMode="auto">
          <a:xfrm>
            <a:off x="839514" y="5734050"/>
            <a:ext cx="8208962" cy="647700"/>
          </a:xfrm>
          <a:prstGeom prst="rect">
            <a:avLst/>
          </a:prstGeom>
          <a:blipFill dpi="0" rotWithShape="0">
            <a:blip r:embed="rId4"/>
            <a:srcRect/>
            <a:tile tx="0" ty="0" sx="100000" sy="100000" flip="none" algn="tl"/>
          </a:blipFill>
          <a:ln w="57150" cmpd="thickThin">
            <a:solidFill>
              <a:srgbClr val="000099"/>
            </a:solidFill>
            <a:miter lim="800000"/>
            <a:headEnd/>
            <a:tailEnd/>
          </a:ln>
        </p:spPr>
        <p:txBody>
          <a:bodyPr/>
          <a:lstStyle/>
          <a:p>
            <a:pPr>
              <a:lnSpc>
                <a:spcPct val="110000"/>
              </a:lnSpc>
              <a:buClr>
                <a:srgbClr val="FF0000"/>
              </a:buClr>
              <a:buSzPct val="95000"/>
              <a:buFont typeface="Wingdings" panose="05000000000000000000" pitchFamily="2" charset="2"/>
              <a:buChar char="n"/>
            </a:pPr>
            <a:r>
              <a:rPr lang="en-US" altLang="zh-CN" sz="2400" dirty="0">
                <a:solidFill>
                  <a:srgbClr val="230D75"/>
                </a:solidFill>
              </a:rPr>
              <a:t>3</a:t>
            </a:r>
            <a:r>
              <a:rPr lang="zh-CN" altLang="en-US" sz="2400" dirty="0">
                <a:solidFill>
                  <a:srgbClr val="230D75"/>
                </a:solidFill>
              </a:rPr>
              <a:t>块：（</a:t>
            </a:r>
            <a:r>
              <a:rPr lang="en-US" altLang="zh-CN" sz="2000" dirty="0">
                <a:solidFill>
                  <a:srgbClr val="230D75"/>
                </a:solidFill>
              </a:rPr>
              <a:t>1</a:t>
            </a:r>
            <a:r>
              <a:rPr lang="zh-CN" altLang="en-US" sz="2000" dirty="0">
                <a:solidFill>
                  <a:srgbClr val="230D75"/>
                </a:solidFill>
              </a:rPr>
              <a:t>）要素报酬收入 （</a:t>
            </a:r>
            <a:r>
              <a:rPr lang="en-US" altLang="zh-CN" sz="2000" dirty="0">
                <a:solidFill>
                  <a:srgbClr val="230D75"/>
                </a:solidFill>
              </a:rPr>
              <a:t>2</a:t>
            </a:r>
            <a:r>
              <a:rPr lang="zh-CN" altLang="en-US" sz="2000" dirty="0">
                <a:solidFill>
                  <a:srgbClr val="230D75"/>
                </a:solidFill>
              </a:rPr>
              <a:t>）非公司企业主收入 （</a:t>
            </a:r>
            <a:r>
              <a:rPr lang="en-US" altLang="zh-CN" sz="2000" dirty="0">
                <a:solidFill>
                  <a:srgbClr val="230D75"/>
                </a:solidFill>
              </a:rPr>
              <a:t>3</a:t>
            </a:r>
            <a:r>
              <a:rPr lang="zh-CN" altLang="en-US" sz="2000" dirty="0">
                <a:solidFill>
                  <a:srgbClr val="230D75"/>
                </a:solidFill>
              </a:rPr>
              <a:t>）厂商收入</a:t>
            </a:r>
          </a:p>
        </p:txBody>
      </p:sp>
      <p:sp>
        <p:nvSpPr>
          <p:cNvPr id="9" name="圆角矩形标注 199689">
            <a:extLst>
              <a:ext uri="{FF2B5EF4-FFF2-40B4-BE49-F238E27FC236}">
                <a16:creationId xmlns:a16="http://schemas.microsoft.com/office/drawing/2014/main" id="{4DC94C3C-2010-481F-BE81-B95EC2AAF1B0}"/>
              </a:ext>
            </a:extLst>
          </p:cNvPr>
          <p:cNvSpPr>
            <a:spLocks noChangeArrowheads="1"/>
          </p:cNvSpPr>
          <p:nvPr/>
        </p:nvSpPr>
        <p:spPr bwMode="auto">
          <a:xfrm>
            <a:off x="6168752" y="3500439"/>
            <a:ext cx="2879725" cy="1800225"/>
          </a:xfrm>
          <a:prstGeom prst="wedgeRoundRectCallout">
            <a:avLst>
              <a:gd name="adj1" fmla="val -64940"/>
              <a:gd name="adj2" fmla="val -9083"/>
              <a:gd name="adj3" fmla="val 16667"/>
            </a:avLst>
          </a:prstGeom>
          <a:solidFill>
            <a:schemeClr val="accent1"/>
          </a:solidFill>
          <a:ln w="9525">
            <a:solidFill>
              <a:schemeClr val="tx1"/>
            </a:solidFill>
            <a:miter lim="800000"/>
            <a:headEnd/>
            <a:tailEnd/>
          </a:ln>
        </p:spPr>
        <p:txBody>
          <a:bodyPr/>
          <a:lstStyle/>
          <a:p>
            <a:pPr>
              <a:lnSpc>
                <a:spcPct val="110000"/>
              </a:lnSpc>
            </a:pPr>
            <a:r>
              <a:rPr lang="zh-CN" altLang="en-US" sz="2000" dirty="0">
                <a:solidFill>
                  <a:schemeClr val="bg1"/>
                </a:solidFill>
              </a:rPr>
              <a:t>产品最终价值：除要素收入外，还有折旧、间接税、公司未分配利润等收入</a:t>
            </a:r>
          </a:p>
        </p:txBody>
      </p:sp>
    </p:spTree>
    <p:extLst>
      <p:ext uri="{BB962C8B-B14F-4D97-AF65-F5344CB8AC3E}">
        <p14:creationId xmlns:p14="http://schemas.microsoft.com/office/powerpoint/2010/main" val="1734149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B60505-552F-40A3-BAB1-CEEA80CE7B59}"/>
              </a:ext>
            </a:extLst>
          </p:cNvPr>
          <p:cNvSpPr>
            <a:spLocks noGrp="1"/>
          </p:cNvSpPr>
          <p:nvPr>
            <p:ph type="title"/>
          </p:nvPr>
        </p:nvSpPr>
        <p:spPr/>
        <p:txBody>
          <a:bodyPr>
            <a:normAutofit/>
          </a:bodyPr>
          <a:lstStyle/>
          <a:p>
            <a:r>
              <a:rPr lang="zh-CN" altLang="zh-CN" sz="2800" b="1" dirty="0"/>
              <a:t>五个经济总量之间的数量关系</a:t>
            </a:r>
            <a:endParaRPr lang="zh-CN" altLang="en-US" sz="2800" dirty="0"/>
          </a:p>
        </p:txBody>
      </p:sp>
      <p:sp>
        <p:nvSpPr>
          <p:cNvPr id="3" name="内容占位符 2">
            <a:extLst>
              <a:ext uri="{FF2B5EF4-FFF2-40B4-BE49-F238E27FC236}">
                <a16:creationId xmlns:a16="http://schemas.microsoft.com/office/drawing/2014/main" id="{509392A0-14FD-4407-A1CD-A2C497C08C84}"/>
              </a:ext>
            </a:extLst>
          </p:cNvPr>
          <p:cNvSpPr>
            <a:spLocks noGrp="1"/>
          </p:cNvSpPr>
          <p:nvPr>
            <p:ph idx="1"/>
          </p:nvPr>
        </p:nvSpPr>
        <p:spPr>
          <a:xfrm>
            <a:off x="838200" y="1455974"/>
            <a:ext cx="10515600" cy="4351338"/>
          </a:xfrm>
        </p:spPr>
        <p:txBody>
          <a:bodyPr/>
          <a:lstStyle/>
          <a:p>
            <a:pPr marL="0" indent="0">
              <a:buNone/>
            </a:pPr>
            <a:r>
              <a:rPr lang="en-US" altLang="zh-CN" b="1" dirty="0">
                <a:solidFill>
                  <a:srgbClr val="FFFF00"/>
                </a:solidFill>
              </a:rPr>
              <a:t>GDP</a:t>
            </a:r>
            <a:r>
              <a:rPr lang="zh-CN" altLang="zh-CN" b="1" dirty="0">
                <a:solidFill>
                  <a:srgbClr val="FFFF00"/>
                </a:solidFill>
              </a:rPr>
              <a:t>（国内生产总值），</a:t>
            </a:r>
            <a:r>
              <a:rPr lang="en-US" altLang="zh-CN" b="1" dirty="0">
                <a:solidFill>
                  <a:srgbClr val="FFFF00"/>
                </a:solidFill>
              </a:rPr>
              <a:t>NDP</a:t>
            </a:r>
            <a:r>
              <a:rPr lang="zh-CN" altLang="zh-CN" b="1" dirty="0">
                <a:solidFill>
                  <a:srgbClr val="FFFF00"/>
                </a:solidFill>
              </a:rPr>
              <a:t>（国内生产净值），</a:t>
            </a:r>
            <a:r>
              <a:rPr lang="en-US" altLang="zh-CN" b="1" dirty="0">
                <a:solidFill>
                  <a:srgbClr val="FFFF00"/>
                </a:solidFill>
              </a:rPr>
              <a:t>NI</a:t>
            </a:r>
            <a:r>
              <a:rPr lang="zh-CN" altLang="zh-CN" b="1" dirty="0">
                <a:solidFill>
                  <a:srgbClr val="FFFF00"/>
                </a:solidFill>
              </a:rPr>
              <a:t>（国民收入），个人收入（</a:t>
            </a:r>
            <a:r>
              <a:rPr lang="en-US" altLang="zh-CN" b="1" dirty="0">
                <a:solidFill>
                  <a:srgbClr val="FFFF00"/>
                </a:solidFill>
              </a:rPr>
              <a:t>PI</a:t>
            </a:r>
            <a:r>
              <a:rPr lang="zh-CN" altLang="zh-CN" b="1" dirty="0">
                <a:solidFill>
                  <a:srgbClr val="FFFF00"/>
                </a:solidFill>
              </a:rPr>
              <a:t>），个人可支配收入（</a:t>
            </a:r>
            <a:r>
              <a:rPr lang="en-US" altLang="zh-CN" b="1" dirty="0">
                <a:solidFill>
                  <a:srgbClr val="FFFF00"/>
                </a:solidFill>
              </a:rPr>
              <a:t>DPI</a:t>
            </a:r>
            <a:r>
              <a:rPr lang="zh-CN" altLang="zh-CN" b="1" dirty="0">
                <a:solidFill>
                  <a:srgbClr val="FFFF00"/>
                </a:solidFill>
              </a:rPr>
              <a:t>）</a:t>
            </a:r>
            <a:endParaRPr lang="zh-CN" altLang="zh-CN" dirty="0">
              <a:solidFill>
                <a:srgbClr val="FFFF00"/>
              </a:solidFill>
            </a:endParaRPr>
          </a:p>
          <a:p>
            <a:pPr marL="0" indent="0">
              <a:buNone/>
            </a:pPr>
            <a:r>
              <a:rPr lang="en-US" altLang="zh-CN" dirty="0"/>
              <a:t>GDP</a:t>
            </a:r>
            <a:r>
              <a:rPr lang="zh-CN" altLang="zh-CN" dirty="0"/>
              <a:t>：一定时期内一国最终产品和劳务的市场价格总额。</a:t>
            </a:r>
          </a:p>
          <a:p>
            <a:pPr marL="0" indent="0">
              <a:buNone/>
            </a:pPr>
            <a:r>
              <a:rPr lang="en-US" altLang="zh-CN" dirty="0"/>
              <a:t>NDP</a:t>
            </a:r>
            <a:r>
              <a:rPr lang="zh-CN" altLang="zh-CN" dirty="0"/>
              <a:t>：等于</a:t>
            </a:r>
            <a:r>
              <a:rPr lang="en-US" altLang="zh-CN" dirty="0"/>
              <a:t>GDP</a:t>
            </a:r>
            <a:r>
              <a:rPr lang="zh-CN" altLang="zh-CN" dirty="0"/>
              <a:t>减去折旧。它衡量了经济活动的净结果。</a:t>
            </a:r>
          </a:p>
          <a:p>
            <a:pPr marL="0" indent="0">
              <a:buNone/>
            </a:pPr>
            <a:r>
              <a:rPr lang="en-US" altLang="zh-CN" dirty="0"/>
              <a:t>NDP=GDP-</a:t>
            </a:r>
            <a:r>
              <a:rPr lang="zh-CN" altLang="zh-CN" dirty="0"/>
              <a:t>折旧</a:t>
            </a:r>
          </a:p>
          <a:p>
            <a:pPr marL="0" indent="0">
              <a:buNone/>
            </a:pPr>
            <a:r>
              <a:rPr lang="en-US" altLang="zh-CN" dirty="0"/>
              <a:t>NI</a:t>
            </a:r>
            <a:r>
              <a:rPr lang="zh-CN" altLang="zh-CN" dirty="0"/>
              <a:t>：代表了狭义的国民收入，它衡量了一国的生产要素所有者在一定时期内从生产中所获得的全部收入。在上述国民生产净值中，间接税不构成企业的收入，所以不包括在国民收入年之内。</a:t>
            </a:r>
          </a:p>
          <a:p>
            <a:endParaRPr lang="zh-CN" altLang="en-US" dirty="0"/>
          </a:p>
        </p:txBody>
      </p:sp>
    </p:spTree>
    <p:extLst>
      <p:ext uri="{BB962C8B-B14F-4D97-AF65-F5344CB8AC3E}">
        <p14:creationId xmlns:p14="http://schemas.microsoft.com/office/powerpoint/2010/main" val="327650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90B9A9E-50FD-41B9-804F-5FBF3D1F9DD1}"/>
              </a:ext>
            </a:extLst>
          </p:cNvPr>
          <p:cNvSpPr>
            <a:spLocks noGrp="1"/>
          </p:cNvSpPr>
          <p:nvPr>
            <p:ph idx="1"/>
          </p:nvPr>
        </p:nvSpPr>
        <p:spPr>
          <a:xfrm>
            <a:off x="838200" y="1485157"/>
            <a:ext cx="10515600" cy="4351338"/>
          </a:xfrm>
        </p:spPr>
        <p:txBody>
          <a:bodyPr/>
          <a:lstStyle/>
          <a:p>
            <a:pPr marL="0" indent="0">
              <a:buNone/>
            </a:pPr>
            <a:r>
              <a:rPr lang="en-US" altLang="zh-CN" dirty="0"/>
              <a:t>NI=NDP-</a:t>
            </a:r>
            <a:r>
              <a:rPr lang="zh-CN" altLang="zh-CN" dirty="0"/>
              <a:t>间接税</a:t>
            </a:r>
          </a:p>
          <a:p>
            <a:pPr marL="0" indent="0">
              <a:buNone/>
            </a:pPr>
            <a:r>
              <a:rPr lang="en-US" altLang="zh-CN" dirty="0"/>
              <a:t>PI</a:t>
            </a:r>
            <a:r>
              <a:rPr lang="zh-CN" altLang="zh-CN" dirty="0"/>
              <a:t>：宏观经济学中通常利用个人收入（</a:t>
            </a:r>
            <a:r>
              <a:rPr lang="en-US" altLang="zh-CN" dirty="0"/>
              <a:t>PI</a:t>
            </a:r>
            <a:r>
              <a:rPr lang="zh-CN" altLang="zh-CN" dirty="0"/>
              <a:t>）来衡量个人实际得到的收入，简单地说，个人收入是国民收入经过再分配后形成的，它等于国民收入（</a:t>
            </a:r>
            <a:r>
              <a:rPr lang="en-US" altLang="zh-CN" dirty="0"/>
              <a:t>NI</a:t>
            </a:r>
            <a:r>
              <a:rPr lang="zh-CN" altLang="zh-CN" dirty="0"/>
              <a:t>）减去转移支出（如公司未分配利润，社会保障金等）再加上转移收入（如政府对个人支付的退休金及社会救济金）。</a:t>
            </a:r>
          </a:p>
          <a:p>
            <a:pPr marL="0" indent="0">
              <a:buNone/>
            </a:pPr>
            <a:r>
              <a:rPr lang="en-US" altLang="zh-CN" dirty="0"/>
              <a:t>DPI</a:t>
            </a:r>
            <a:r>
              <a:rPr lang="zh-CN" altLang="zh-CN" dirty="0"/>
              <a:t>：个人收入扣除个人所得税及其他非税收性支付即为个人可支配收入（</a:t>
            </a:r>
            <a:r>
              <a:rPr lang="en-US" altLang="zh-CN" dirty="0"/>
              <a:t>DPI</a:t>
            </a:r>
            <a:r>
              <a:rPr lang="zh-CN" altLang="zh-CN" dirty="0"/>
              <a:t>）。</a:t>
            </a:r>
          </a:p>
          <a:p>
            <a:pPr marL="0" indent="0">
              <a:buNone/>
            </a:pPr>
            <a:endParaRPr lang="zh-CN" altLang="en-US" dirty="0"/>
          </a:p>
        </p:txBody>
      </p:sp>
    </p:spTree>
    <p:extLst>
      <p:ext uri="{BB962C8B-B14F-4D97-AF65-F5344CB8AC3E}">
        <p14:creationId xmlns:p14="http://schemas.microsoft.com/office/powerpoint/2010/main" val="42966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71009">
            <a:extLst>
              <a:ext uri="{FF2B5EF4-FFF2-40B4-BE49-F238E27FC236}">
                <a16:creationId xmlns:a16="http://schemas.microsoft.com/office/drawing/2014/main" id="{E0BA01C1-F265-4D37-9EFB-86D6004F7F2E}"/>
              </a:ext>
            </a:extLst>
          </p:cNvPr>
          <p:cNvSpPr>
            <a:spLocks noGrp="1" noChangeArrowheads="1"/>
          </p:cNvSpPr>
          <p:nvPr>
            <p:ph type="title"/>
          </p:nvPr>
        </p:nvSpPr>
        <p:spPr>
          <a:xfrm>
            <a:off x="838200" y="365125"/>
            <a:ext cx="10515600" cy="1325563"/>
          </a:xfrm>
        </p:spPr>
        <p:txBody>
          <a:bodyPr>
            <a:normAutofit/>
          </a:bodyPr>
          <a:lstStyle/>
          <a:p>
            <a:r>
              <a:rPr lang="zh-CN" altLang="en-US" sz="3600" dirty="0"/>
              <a:t>国民收入的基本公式</a:t>
            </a:r>
          </a:p>
        </p:txBody>
      </p:sp>
      <p:sp>
        <p:nvSpPr>
          <p:cNvPr id="7" name="文本占位符 171010" descr="粉色面巾纸">
            <a:extLst>
              <a:ext uri="{FF2B5EF4-FFF2-40B4-BE49-F238E27FC236}">
                <a16:creationId xmlns:a16="http://schemas.microsoft.com/office/drawing/2014/main" id="{C80CF68A-0B53-4A2F-A194-691A168BC004}"/>
              </a:ext>
            </a:extLst>
          </p:cNvPr>
          <p:cNvSpPr>
            <a:spLocks noGrp="1"/>
          </p:cNvSpPr>
          <p:nvPr>
            <p:ph idx="1"/>
          </p:nvPr>
        </p:nvSpPr>
        <p:spPr>
          <a:xfrm>
            <a:off x="728663" y="1268414"/>
            <a:ext cx="5256212" cy="720725"/>
          </a:xfrm>
          <a:noFill/>
          <a:ln w="76200" cmpd="tri">
            <a:noFill/>
          </a:ln>
        </p:spPr>
        <p:txBody>
          <a:bodyPr/>
          <a:lstStyle/>
          <a:p>
            <a:pPr>
              <a:buClr>
                <a:srgbClr val="336600"/>
              </a:buClr>
              <a:buSzPct val="95000"/>
              <a:buFont typeface="Wingdings" panose="05000000000000000000" pitchFamily="2" charset="2"/>
              <a:buNone/>
            </a:pPr>
            <a:r>
              <a:rPr lang="en-US" altLang="zh-CN" sz="2800" noProof="1">
                <a:effectLst>
                  <a:outerShdw blurRad="38100" dist="38100" dir="2700000">
                    <a:srgbClr val="000000"/>
                  </a:outerShdw>
                </a:effectLst>
                <a:latin typeface="黑体" panose="02010609060101010101" pitchFamily="2" charset="-122"/>
                <a:ea typeface="黑体" panose="02010609060101010101" pitchFamily="2" charset="-122"/>
              </a:rPr>
              <a:t>1.</a:t>
            </a:r>
            <a:r>
              <a:rPr lang="zh-CN" altLang="en-US" sz="2800" noProof="1">
                <a:effectLst>
                  <a:outerShdw blurRad="38100" dist="38100" dir="2700000">
                    <a:srgbClr val="000000"/>
                  </a:outerShdw>
                </a:effectLst>
                <a:latin typeface="黑体" panose="02010609060101010101" pitchFamily="2" charset="-122"/>
                <a:ea typeface="黑体" panose="02010609060101010101" pitchFamily="2" charset="-122"/>
              </a:rPr>
              <a:t>两部门的收入构成</a:t>
            </a:r>
          </a:p>
        </p:txBody>
      </p:sp>
      <p:sp>
        <p:nvSpPr>
          <p:cNvPr id="8" name="矩形 171012">
            <a:extLst>
              <a:ext uri="{FF2B5EF4-FFF2-40B4-BE49-F238E27FC236}">
                <a16:creationId xmlns:a16="http://schemas.microsoft.com/office/drawing/2014/main" id="{EC69141C-C554-441C-89A9-F2A994561D96}"/>
              </a:ext>
            </a:extLst>
          </p:cNvPr>
          <p:cNvSpPr>
            <a:spLocks noChangeArrowheads="1"/>
          </p:cNvSpPr>
          <p:nvPr/>
        </p:nvSpPr>
        <p:spPr bwMode="auto">
          <a:xfrm>
            <a:off x="728663" y="2133600"/>
            <a:ext cx="8280400" cy="1079500"/>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Wingdings" panose="05000000000000000000" pitchFamily="2" charset="2"/>
              <a:buChar char="l"/>
            </a:pPr>
            <a:r>
              <a:rPr lang="zh-CN" altLang="en-US" sz="2400" dirty="0">
                <a:solidFill>
                  <a:schemeClr val="bg1"/>
                </a:solidFill>
                <a:latin typeface="黑体" panose="02010609060101010101" pitchFamily="49" charset="-122"/>
                <a:ea typeface="黑体" panose="02010609060101010101" pitchFamily="49" charset="-122"/>
              </a:rPr>
              <a:t>简化：假设全社会只有两部门：消费者和企业，不存在税收和进出口。假定没有折旧。</a:t>
            </a:r>
          </a:p>
        </p:txBody>
      </p:sp>
      <p:sp>
        <p:nvSpPr>
          <p:cNvPr id="9" name="矩形 171015" descr="花束">
            <a:extLst>
              <a:ext uri="{FF2B5EF4-FFF2-40B4-BE49-F238E27FC236}">
                <a16:creationId xmlns:a16="http://schemas.microsoft.com/office/drawing/2014/main" id="{2E77D231-5E06-40A4-9923-3041F5B98CD9}"/>
              </a:ext>
            </a:extLst>
          </p:cNvPr>
          <p:cNvSpPr>
            <a:spLocks noChangeArrowheads="1"/>
          </p:cNvSpPr>
          <p:nvPr/>
        </p:nvSpPr>
        <p:spPr bwMode="auto">
          <a:xfrm>
            <a:off x="728663" y="3500438"/>
            <a:ext cx="2736850" cy="1008062"/>
          </a:xfrm>
          <a:prstGeom prst="rect">
            <a:avLst/>
          </a:prstGeom>
          <a:blipFill dpi="0" rotWithShape="0">
            <a:blip r:embed="rId2"/>
            <a:srcRect/>
            <a:tile tx="0" ty="0" sx="100000" sy="100000" flip="none" algn="tl"/>
          </a:blipFill>
          <a:ln w="76200">
            <a:solidFill>
              <a:srgbClr val="336600"/>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95000"/>
              <a:buFont typeface="Wingdings" panose="05000000000000000000" pitchFamily="2" charset="2"/>
              <a:buChar char="u"/>
            </a:pPr>
            <a:r>
              <a:rPr lang="zh-CN" altLang="en-US" sz="2400">
                <a:solidFill>
                  <a:srgbClr val="101016"/>
                </a:solidFill>
                <a:latin typeface="黑体" panose="02010609060101010101" pitchFamily="49" charset="-122"/>
                <a:ea typeface="黑体" panose="02010609060101010101" pitchFamily="49" charset="-122"/>
              </a:rPr>
              <a:t>即 </a:t>
            </a:r>
          </a:p>
          <a:p>
            <a:pPr>
              <a:spcBef>
                <a:spcPct val="20000"/>
              </a:spcBef>
              <a:buClr>
                <a:schemeClr val="hlink"/>
              </a:buClr>
              <a:buSzPct val="95000"/>
            </a:pPr>
            <a:r>
              <a:rPr lang="en-US" altLang="zh-CN" sz="2400">
                <a:solidFill>
                  <a:srgbClr val="101016"/>
                </a:solidFill>
                <a:latin typeface="黑体" panose="02010609060101010101" pitchFamily="49" charset="-122"/>
                <a:ea typeface="黑体" panose="02010609060101010101" pitchFamily="49" charset="-122"/>
              </a:rPr>
              <a:t>GDP=NDP</a:t>
            </a:r>
            <a:r>
              <a:rPr lang="zh-CN" altLang="en-US" sz="2400">
                <a:solidFill>
                  <a:srgbClr val="101016"/>
                </a:solidFill>
                <a:latin typeface="黑体" panose="02010609060101010101" pitchFamily="49" charset="-122"/>
                <a:ea typeface="黑体" panose="02010609060101010101" pitchFamily="49" charset="-122"/>
              </a:rPr>
              <a:t>＝</a:t>
            </a:r>
            <a:r>
              <a:rPr lang="en-US" altLang="zh-CN" sz="2400">
                <a:solidFill>
                  <a:srgbClr val="101016"/>
                </a:solidFill>
                <a:latin typeface="黑体" panose="02010609060101010101" pitchFamily="49" charset="-122"/>
                <a:ea typeface="黑体" panose="02010609060101010101" pitchFamily="49" charset="-122"/>
              </a:rPr>
              <a:t>NI</a:t>
            </a:r>
            <a:r>
              <a:rPr lang="zh-CN" altLang="en-US" sz="2400">
                <a:solidFill>
                  <a:srgbClr val="101016"/>
                </a:solidFill>
                <a:latin typeface="黑体" panose="02010609060101010101" pitchFamily="49" charset="-122"/>
                <a:ea typeface="黑体" panose="02010609060101010101" pitchFamily="49" charset="-122"/>
              </a:rPr>
              <a:t>＝</a:t>
            </a:r>
            <a:r>
              <a:rPr lang="en-US" altLang="zh-CN" sz="2400">
                <a:solidFill>
                  <a:srgbClr val="101016"/>
                </a:solidFill>
                <a:latin typeface="黑体" panose="02010609060101010101" pitchFamily="49" charset="-122"/>
                <a:ea typeface="黑体" panose="02010609060101010101" pitchFamily="49" charset="-122"/>
              </a:rPr>
              <a:t>Y</a:t>
            </a:r>
          </a:p>
        </p:txBody>
      </p:sp>
      <p:sp>
        <p:nvSpPr>
          <p:cNvPr id="10" name="矩形 171017" descr="蓝色面巾纸">
            <a:extLst>
              <a:ext uri="{FF2B5EF4-FFF2-40B4-BE49-F238E27FC236}">
                <a16:creationId xmlns:a16="http://schemas.microsoft.com/office/drawing/2014/main" id="{3D5C35CF-B991-4C0D-94A1-589010C7C0A2}"/>
              </a:ext>
            </a:extLst>
          </p:cNvPr>
          <p:cNvSpPr>
            <a:spLocks noChangeArrowheads="1"/>
          </p:cNvSpPr>
          <p:nvPr/>
        </p:nvSpPr>
        <p:spPr bwMode="auto">
          <a:xfrm>
            <a:off x="728663" y="4724401"/>
            <a:ext cx="2736850" cy="1368425"/>
          </a:xfrm>
          <a:prstGeom prst="rect">
            <a:avLst/>
          </a:prstGeom>
          <a:blipFill dpi="0" rotWithShape="0">
            <a:blip r:embed="rId3"/>
            <a:srcRect/>
            <a:tile tx="0" ty="0" sx="100000" sy="100000" flip="none" algn="tl"/>
          </a:blipFill>
          <a:ln w="38100" cmpd="dbl">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rgbClr val="336600"/>
              </a:buClr>
              <a:buSzPct val="95000"/>
            </a:pPr>
            <a:r>
              <a:rPr lang="zh-CN" altLang="en-US" sz="2400">
                <a:solidFill>
                  <a:srgbClr val="230D75"/>
                </a:solidFill>
              </a:rPr>
              <a:t>若</a:t>
            </a:r>
          </a:p>
          <a:p>
            <a:pPr>
              <a:spcBef>
                <a:spcPct val="20000"/>
              </a:spcBef>
              <a:buClr>
                <a:srgbClr val="336600"/>
              </a:buClr>
              <a:buSzPct val="95000"/>
            </a:pPr>
            <a:r>
              <a:rPr lang="zh-CN" altLang="en-US" sz="2400">
                <a:solidFill>
                  <a:srgbClr val="230D75"/>
                </a:solidFill>
              </a:rPr>
              <a:t>生产与消费均衡：</a:t>
            </a:r>
          </a:p>
          <a:p>
            <a:pPr>
              <a:spcBef>
                <a:spcPct val="20000"/>
              </a:spcBef>
              <a:buClr>
                <a:srgbClr val="336600"/>
              </a:buClr>
              <a:buSzPct val="95000"/>
            </a:pPr>
            <a:r>
              <a:rPr lang="zh-CN" altLang="en-US" sz="2400">
                <a:solidFill>
                  <a:srgbClr val="230D75"/>
                </a:solidFill>
              </a:rPr>
              <a:t>生产</a:t>
            </a:r>
            <a:r>
              <a:rPr lang="en-US" altLang="zh-CN" sz="2400">
                <a:solidFill>
                  <a:srgbClr val="230D75"/>
                </a:solidFill>
              </a:rPr>
              <a:t>=</a:t>
            </a:r>
            <a:r>
              <a:rPr lang="zh-CN" altLang="en-US" sz="2400">
                <a:solidFill>
                  <a:srgbClr val="230D75"/>
                </a:solidFill>
              </a:rPr>
              <a:t>消费</a:t>
            </a:r>
            <a:endParaRPr lang="zh-CN" altLang="en-US" sz="2400">
              <a:solidFill>
                <a:srgbClr val="230D75"/>
              </a:solidFill>
              <a:sym typeface="Monotype Sorts" pitchFamily="2" charset="2"/>
            </a:endParaRPr>
          </a:p>
        </p:txBody>
      </p:sp>
      <p:pic>
        <p:nvPicPr>
          <p:cNvPr id="11" name="图片 171018">
            <a:extLst>
              <a:ext uri="{FF2B5EF4-FFF2-40B4-BE49-F238E27FC236}">
                <a16:creationId xmlns:a16="http://schemas.microsoft.com/office/drawing/2014/main" id="{9380F3FE-96FF-4785-AAC9-7261BB5DAF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51" y="3429000"/>
            <a:ext cx="5472113"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0164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36545">
            <a:extLst>
              <a:ext uri="{FF2B5EF4-FFF2-40B4-BE49-F238E27FC236}">
                <a16:creationId xmlns:a16="http://schemas.microsoft.com/office/drawing/2014/main" id="{E2302FA3-CE0D-4430-B525-9B798E7A9223}"/>
              </a:ext>
            </a:extLst>
          </p:cNvPr>
          <p:cNvSpPr>
            <a:spLocks noGrp="1" noChangeArrowheads="1"/>
          </p:cNvSpPr>
          <p:nvPr>
            <p:ph type="title"/>
          </p:nvPr>
        </p:nvSpPr>
        <p:spPr>
          <a:xfrm>
            <a:off x="838200" y="365125"/>
            <a:ext cx="10515600" cy="1325563"/>
          </a:xfrm>
        </p:spPr>
        <p:txBody>
          <a:bodyPr/>
          <a:lstStyle/>
          <a:p>
            <a:r>
              <a:rPr lang="zh-CN" altLang="en-US" sz="2400" dirty="0"/>
              <a:t>从</a:t>
            </a:r>
            <a:r>
              <a:rPr lang="en-US" altLang="zh-CN" sz="2400" dirty="0"/>
              <a:t>GDP</a:t>
            </a:r>
            <a:r>
              <a:rPr lang="zh-CN" altLang="en-US" sz="2400" dirty="0"/>
              <a:t>的计算得出国民收入公式</a:t>
            </a:r>
          </a:p>
        </p:txBody>
      </p:sp>
      <p:sp>
        <p:nvSpPr>
          <p:cNvPr id="5" name="文本占位符 236546" descr="蓝色面巾纸">
            <a:extLst>
              <a:ext uri="{FF2B5EF4-FFF2-40B4-BE49-F238E27FC236}">
                <a16:creationId xmlns:a16="http://schemas.microsoft.com/office/drawing/2014/main" id="{1BA126CA-2956-45A7-AC96-4EE067BA9CCB}"/>
              </a:ext>
            </a:extLst>
          </p:cNvPr>
          <p:cNvSpPr>
            <a:spLocks noGrp="1" noChangeArrowheads="1"/>
          </p:cNvSpPr>
          <p:nvPr>
            <p:ph idx="1"/>
          </p:nvPr>
        </p:nvSpPr>
        <p:spPr>
          <a:xfrm>
            <a:off x="642938" y="1268413"/>
            <a:ext cx="8229600" cy="576262"/>
          </a:xfrm>
          <a:blipFill dpi="0" rotWithShape="0">
            <a:blip r:embed="rId2">
              <a:alphaModFix amt="73000"/>
            </a:blip>
            <a:srcRect/>
            <a:tile tx="0" ty="0" sx="100000" sy="100000" flip="none" algn="tl"/>
          </a:blipFill>
          <a:ln w="38100" cmpd="dbl">
            <a:solidFill>
              <a:schemeClr val="tx1"/>
            </a:solidFill>
          </a:ln>
        </p:spPr>
        <p:txBody>
          <a:bodyPr>
            <a:normAutofit fontScale="92500"/>
          </a:bodyPr>
          <a:lstStyle/>
          <a:p>
            <a:pPr>
              <a:buClr>
                <a:srgbClr val="336600"/>
              </a:buClr>
              <a:buSzPct val="95000"/>
              <a:buFont typeface="Wingdings" panose="05000000000000000000" pitchFamily="2" charset="2"/>
              <a:buNone/>
            </a:pPr>
            <a:r>
              <a:rPr lang="zh-CN" altLang="en-US">
                <a:solidFill>
                  <a:srgbClr val="230D75"/>
                </a:solidFill>
              </a:rPr>
              <a:t>假设：一国内所有收入都用以支出。即总支出＝总收入</a:t>
            </a:r>
            <a:endParaRPr lang="zh-CN" altLang="en-US">
              <a:solidFill>
                <a:srgbClr val="230D75"/>
              </a:solidFill>
              <a:sym typeface="Monotype Sorts" pitchFamily="2" charset="2"/>
            </a:endParaRPr>
          </a:p>
        </p:txBody>
      </p:sp>
      <p:sp>
        <p:nvSpPr>
          <p:cNvPr id="6" name="矩形 236548" descr="纸莎草纸">
            <a:extLst>
              <a:ext uri="{FF2B5EF4-FFF2-40B4-BE49-F238E27FC236}">
                <a16:creationId xmlns:a16="http://schemas.microsoft.com/office/drawing/2014/main" id="{DF598037-B1C9-4F77-99B0-A59642E5CCF0}"/>
              </a:ext>
            </a:extLst>
          </p:cNvPr>
          <p:cNvSpPr>
            <a:spLocks noChangeArrowheads="1"/>
          </p:cNvSpPr>
          <p:nvPr/>
        </p:nvSpPr>
        <p:spPr bwMode="auto">
          <a:xfrm>
            <a:off x="642938" y="3068638"/>
            <a:ext cx="5256212" cy="792162"/>
          </a:xfrm>
          <a:prstGeom prst="rect">
            <a:avLst/>
          </a:prstGeom>
          <a:blipFill dpi="0" rotWithShape="0">
            <a:blip r:embed="rId3"/>
            <a:srcRect/>
            <a:tile tx="0" ty="0" sx="100000" sy="100000" flip="none" algn="tl"/>
          </a:blipFill>
          <a:ln w="57150" cmpd="thickThin">
            <a:solidFill>
              <a:srgbClr val="CCCC00"/>
            </a:solidFill>
            <a:miter lim="800000"/>
            <a:headEnd/>
            <a:tailEnd/>
          </a:ln>
        </p:spPr>
        <p:txBody>
          <a:bodyPr/>
          <a:lstStyle/>
          <a:p>
            <a:pPr>
              <a:lnSpc>
                <a:spcPct val="90000"/>
              </a:lnSpc>
              <a:buClr>
                <a:schemeClr val="hlink"/>
              </a:buClr>
              <a:buFont typeface="Wingdings" panose="05000000000000000000" pitchFamily="2" charset="2"/>
              <a:buChar char="u"/>
            </a:pPr>
            <a:r>
              <a:rPr lang="en-US" altLang="zh-CN" sz="2400">
                <a:solidFill>
                  <a:srgbClr val="230D75"/>
                </a:solidFill>
                <a:sym typeface="Monotype Sorts" pitchFamily="2" charset="2"/>
              </a:rPr>
              <a:t>GDP</a:t>
            </a:r>
            <a:r>
              <a:rPr lang="zh-CN" altLang="en-US" sz="2400">
                <a:solidFill>
                  <a:srgbClr val="230D75"/>
                </a:solidFill>
                <a:sym typeface="Monotype Sorts" pitchFamily="2" charset="2"/>
              </a:rPr>
              <a:t>＝</a:t>
            </a:r>
            <a:r>
              <a:rPr lang="zh-CN" altLang="en-US" sz="2400">
                <a:solidFill>
                  <a:srgbClr val="101016"/>
                </a:solidFill>
              </a:rPr>
              <a:t>总支出＝总需求 </a:t>
            </a:r>
            <a:r>
              <a:rPr lang="en-US" altLang="zh-CN" sz="2400">
                <a:solidFill>
                  <a:srgbClr val="101016"/>
                </a:solidFill>
              </a:rPr>
              <a:t>= C + I</a:t>
            </a:r>
          </a:p>
          <a:p>
            <a:pPr>
              <a:lnSpc>
                <a:spcPct val="90000"/>
              </a:lnSpc>
              <a:buClr>
                <a:schemeClr val="hlink"/>
              </a:buClr>
              <a:buFont typeface="Wingdings" panose="05000000000000000000" pitchFamily="2" charset="2"/>
              <a:buChar char="u"/>
            </a:pPr>
            <a:r>
              <a:rPr lang="en-US" altLang="zh-CN" sz="2400">
                <a:solidFill>
                  <a:srgbClr val="FF0000"/>
                </a:solidFill>
              </a:rPr>
              <a:t>GDP</a:t>
            </a:r>
            <a:r>
              <a:rPr lang="zh-CN" altLang="en-US" sz="2400">
                <a:solidFill>
                  <a:srgbClr val="FF0000"/>
                </a:solidFill>
              </a:rPr>
              <a:t>＝</a:t>
            </a:r>
            <a:r>
              <a:rPr lang="zh-CN" altLang="en-US" sz="2400">
                <a:solidFill>
                  <a:srgbClr val="101016"/>
                </a:solidFill>
              </a:rPr>
              <a:t>总收入＝总供给 </a:t>
            </a:r>
            <a:r>
              <a:rPr lang="en-US" altLang="zh-CN" sz="2400">
                <a:solidFill>
                  <a:srgbClr val="101016"/>
                </a:solidFill>
              </a:rPr>
              <a:t>= C + S</a:t>
            </a:r>
          </a:p>
        </p:txBody>
      </p:sp>
      <p:sp>
        <p:nvSpPr>
          <p:cNvPr id="7" name="矩形 236549" descr="蓝色面巾纸">
            <a:extLst>
              <a:ext uri="{FF2B5EF4-FFF2-40B4-BE49-F238E27FC236}">
                <a16:creationId xmlns:a16="http://schemas.microsoft.com/office/drawing/2014/main" id="{3361451C-8294-47C4-8356-87B46B31CBDF}"/>
              </a:ext>
            </a:extLst>
          </p:cNvPr>
          <p:cNvSpPr>
            <a:spLocks noChangeArrowheads="1"/>
          </p:cNvSpPr>
          <p:nvPr/>
        </p:nvSpPr>
        <p:spPr bwMode="auto">
          <a:xfrm>
            <a:off x="642938" y="4005264"/>
            <a:ext cx="8280400" cy="1368425"/>
          </a:xfrm>
          <a:prstGeom prst="rect">
            <a:avLst/>
          </a:prstGeom>
          <a:blipFill dpi="0" rotWithShape="0">
            <a:blip r:embed="rId2"/>
            <a:srcRect/>
            <a:tile tx="0" ty="0" sx="100000" sy="100000" flip="none" algn="tl"/>
          </a:blipFill>
          <a:ln w="38100" cmpd="dbl">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rgbClr val="336600"/>
              </a:buClr>
              <a:buSzPct val="95000"/>
              <a:buFont typeface="Wingdings" panose="05000000000000000000" pitchFamily="2" charset="2"/>
              <a:buChar char="p"/>
            </a:pPr>
            <a:r>
              <a:rPr lang="zh-CN" altLang="en-US" sz="2400">
                <a:solidFill>
                  <a:srgbClr val="230D75"/>
                </a:solidFill>
                <a:sym typeface="Monotype Sorts" pitchFamily="2" charset="2"/>
              </a:rPr>
              <a:t>假设企业：全部是实物资产投资＝固定投资＋存货投资</a:t>
            </a:r>
          </a:p>
          <a:p>
            <a:pPr>
              <a:spcBef>
                <a:spcPct val="20000"/>
              </a:spcBef>
              <a:buClr>
                <a:srgbClr val="336600"/>
              </a:buClr>
              <a:buSzPct val="95000"/>
              <a:buFont typeface="Wingdings" panose="05000000000000000000" pitchFamily="2" charset="2"/>
              <a:buChar char="p"/>
            </a:pPr>
            <a:r>
              <a:rPr lang="zh-CN" altLang="en-US" sz="2400">
                <a:solidFill>
                  <a:srgbClr val="230D75"/>
                </a:solidFill>
                <a:sym typeface="Monotype Sorts" pitchFamily="2" charset="2"/>
              </a:rPr>
              <a:t>由于把企业没有售出的产品计入存货投资，所以</a:t>
            </a:r>
          </a:p>
          <a:p>
            <a:pPr>
              <a:spcBef>
                <a:spcPct val="20000"/>
              </a:spcBef>
              <a:buClr>
                <a:srgbClr val="336600"/>
              </a:buClr>
              <a:buSzPct val="95000"/>
              <a:buFont typeface="Wingdings" panose="05000000000000000000" pitchFamily="2" charset="2"/>
              <a:buChar char="p"/>
            </a:pPr>
            <a:r>
              <a:rPr lang="zh-CN" altLang="en-US" sz="2400">
                <a:solidFill>
                  <a:srgbClr val="230D75"/>
                </a:solidFill>
                <a:sym typeface="Monotype Sorts" pitchFamily="2" charset="2"/>
              </a:rPr>
              <a:t>从事后和名义上看，存在恒等式：</a:t>
            </a:r>
            <a:r>
              <a:rPr lang="zh-CN" altLang="en-US" sz="2400">
                <a:solidFill>
                  <a:srgbClr val="FF0000"/>
                </a:solidFill>
              </a:rPr>
              <a:t>总需求＝总供给</a:t>
            </a:r>
            <a:endParaRPr lang="zh-CN" altLang="en-US" sz="2400">
              <a:solidFill>
                <a:srgbClr val="230D75"/>
              </a:solidFill>
              <a:sym typeface="Monotype Sorts" pitchFamily="2" charset="2"/>
            </a:endParaRPr>
          </a:p>
        </p:txBody>
      </p:sp>
      <p:sp>
        <p:nvSpPr>
          <p:cNvPr id="8" name="矩形 236550" descr="花束">
            <a:extLst>
              <a:ext uri="{FF2B5EF4-FFF2-40B4-BE49-F238E27FC236}">
                <a16:creationId xmlns:a16="http://schemas.microsoft.com/office/drawing/2014/main" id="{1201C006-9CB6-4B1F-AD65-41C7B029C112}"/>
              </a:ext>
            </a:extLst>
          </p:cNvPr>
          <p:cNvSpPr>
            <a:spLocks noChangeArrowheads="1"/>
          </p:cNvSpPr>
          <p:nvPr/>
        </p:nvSpPr>
        <p:spPr bwMode="auto">
          <a:xfrm>
            <a:off x="642938" y="1989139"/>
            <a:ext cx="8280400" cy="935037"/>
          </a:xfrm>
          <a:prstGeom prst="rect">
            <a:avLst/>
          </a:prstGeom>
          <a:blipFill dpi="0" rotWithShape="0">
            <a:blip r:embed="rId4"/>
            <a:srcRect/>
            <a:tile tx="0" ty="0" sx="100000" sy="100000" flip="none" algn="tl"/>
          </a:blipFill>
          <a:ln w="76200">
            <a:solidFill>
              <a:srgbClr val="336600"/>
            </a:solidFill>
            <a:miter lim="800000"/>
            <a:headEnd/>
            <a:tailEnd/>
          </a:ln>
        </p:spPr>
        <p:txBody>
          <a:bodyPr/>
          <a:lstStyle/>
          <a:p>
            <a:pPr>
              <a:lnSpc>
                <a:spcPct val="110000"/>
              </a:lnSpc>
              <a:buClr>
                <a:schemeClr val="hlink"/>
              </a:buClr>
              <a:buSzPct val="95000"/>
              <a:buFont typeface="Wingdings" panose="05000000000000000000" pitchFamily="2" charset="2"/>
              <a:buChar char="u"/>
            </a:pPr>
            <a:r>
              <a:rPr lang="zh-CN" altLang="en-US" sz="2400">
                <a:solidFill>
                  <a:srgbClr val="230D75"/>
                </a:solidFill>
                <a:sym typeface="Monotype Sorts" pitchFamily="2" charset="2"/>
              </a:rPr>
              <a:t>从总支出的需求角度看，</a:t>
            </a:r>
            <a:r>
              <a:rPr lang="en-US" altLang="zh-CN" sz="2400">
                <a:solidFill>
                  <a:srgbClr val="230D75"/>
                </a:solidFill>
                <a:sym typeface="Monotype Sorts" pitchFamily="2" charset="2"/>
              </a:rPr>
              <a:t>GDP = </a:t>
            </a:r>
            <a:r>
              <a:rPr lang="zh-CN" altLang="en-US" sz="2400">
                <a:solidFill>
                  <a:srgbClr val="230D75"/>
                </a:solidFill>
                <a:sym typeface="Monotype Sorts" pitchFamily="2" charset="2"/>
              </a:rPr>
              <a:t>消费支出</a:t>
            </a:r>
            <a:r>
              <a:rPr lang="en-US" altLang="zh-CN" sz="2400">
                <a:solidFill>
                  <a:srgbClr val="230D75"/>
                </a:solidFill>
                <a:sym typeface="Monotype Sorts" pitchFamily="2" charset="2"/>
              </a:rPr>
              <a:t>C</a:t>
            </a:r>
            <a:r>
              <a:rPr lang="zh-CN" altLang="en-US" sz="2400">
                <a:solidFill>
                  <a:srgbClr val="230D75"/>
                </a:solidFill>
                <a:sym typeface="Monotype Sorts" pitchFamily="2" charset="2"/>
              </a:rPr>
              <a:t>＋投资支出</a:t>
            </a:r>
            <a:r>
              <a:rPr lang="en-US" altLang="zh-CN" sz="2400">
                <a:solidFill>
                  <a:srgbClr val="230D75"/>
                </a:solidFill>
                <a:sym typeface="Monotype Sorts" pitchFamily="2" charset="2"/>
              </a:rPr>
              <a:t>I</a:t>
            </a:r>
          </a:p>
          <a:p>
            <a:pPr>
              <a:lnSpc>
                <a:spcPct val="110000"/>
              </a:lnSpc>
              <a:buClr>
                <a:schemeClr val="hlink"/>
              </a:buClr>
              <a:buSzPct val="95000"/>
              <a:buFont typeface="Wingdings" panose="05000000000000000000" pitchFamily="2" charset="2"/>
              <a:buChar char="u"/>
            </a:pPr>
            <a:r>
              <a:rPr lang="zh-CN" altLang="en-US" sz="2400">
                <a:solidFill>
                  <a:srgbClr val="FF0000"/>
                </a:solidFill>
                <a:sym typeface="Monotype Sorts" pitchFamily="2" charset="2"/>
              </a:rPr>
              <a:t>从总收入的去向角度看，</a:t>
            </a:r>
            <a:r>
              <a:rPr lang="en-US" altLang="zh-CN" sz="2400">
                <a:solidFill>
                  <a:srgbClr val="FF0000"/>
                </a:solidFill>
                <a:sym typeface="Monotype Sorts" pitchFamily="2" charset="2"/>
              </a:rPr>
              <a:t>GDP = </a:t>
            </a:r>
            <a:r>
              <a:rPr lang="zh-CN" altLang="en-US" sz="2400">
                <a:solidFill>
                  <a:srgbClr val="FF0000"/>
                </a:solidFill>
                <a:sym typeface="Monotype Sorts" pitchFamily="2" charset="2"/>
              </a:rPr>
              <a:t>消费用途</a:t>
            </a:r>
            <a:r>
              <a:rPr lang="en-US" altLang="zh-CN" sz="2400">
                <a:solidFill>
                  <a:srgbClr val="FF0000"/>
                </a:solidFill>
                <a:sym typeface="Monotype Sorts" pitchFamily="2" charset="2"/>
              </a:rPr>
              <a:t>C</a:t>
            </a:r>
            <a:r>
              <a:rPr lang="zh-CN" altLang="en-US" sz="2400">
                <a:solidFill>
                  <a:srgbClr val="FF0000"/>
                </a:solidFill>
                <a:sym typeface="Monotype Sorts" pitchFamily="2" charset="2"/>
              </a:rPr>
              <a:t>＋储蓄用途</a:t>
            </a:r>
            <a:r>
              <a:rPr lang="en-US" altLang="zh-CN" sz="2400">
                <a:solidFill>
                  <a:srgbClr val="FF0000"/>
                </a:solidFill>
                <a:sym typeface="Monotype Sorts" pitchFamily="2" charset="2"/>
              </a:rPr>
              <a:t>S</a:t>
            </a:r>
            <a:r>
              <a:rPr lang="en-US" altLang="zh-CN" sz="2400">
                <a:solidFill>
                  <a:srgbClr val="230D75"/>
                </a:solidFill>
                <a:sym typeface="Monotype Sorts" pitchFamily="2" charset="2"/>
              </a:rPr>
              <a:t> </a:t>
            </a:r>
          </a:p>
        </p:txBody>
      </p:sp>
      <p:sp>
        <p:nvSpPr>
          <p:cNvPr id="9" name="矩形 236551" descr="花束">
            <a:extLst>
              <a:ext uri="{FF2B5EF4-FFF2-40B4-BE49-F238E27FC236}">
                <a16:creationId xmlns:a16="http://schemas.microsoft.com/office/drawing/2014/main" id="{F0C21761-06E5-4564-B39E-1468E9DD9919}"/>
              </a:ext>
            </a:extLst>
          </p:cNvPr>
          <p:cNvSpPr>
            <a:spLocks noChangeArrowheads="1"/>
          </p:cNvSpPr>
          <p:nvPr/>
        </p:nvSpPr>
        <p:spPr bwMode="auto">
          <a:xfrm>
            <a:off x="642939" y="5589589"/>
            <a:ext cx="8353425" cy="491481"/>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chemeClr val="hlink"/>
              </a:buClr>
              <a:buSzPct val="95000"/>
              <a:buFont typeface="Wingdings" panose="05000000000000000000" pitchFamily="2" charset="2"/>
              <a:buChar char="u"/>
            </a:pPr>
            <a:r>
              <a:rPr lang="en-US" altLang="zh-CN" sz="2400">
                <a:solidFill>
                  <a:srgbClr val="230D75"/>
                </a:solidFill>
                <a:sym typeface="Monotype Sorts" pitchFamily="2" charset="2"/>
              </a:rPr>
              <a:t>C+I=GDP=C+S   </a:t>
            </a:r>
            <a:r>
              <a:rPr lang="zh-CN" altLang="en-US" sz="2400">
                <a:solidFill>
                  <a:srgbClr val="230D75"/>
                </a:solidFill>
                <a:sym typeface="Monotype Sorts" pitchFamily="2" charset="2"/>
              </a:rPr>
              <a:t>即： </a:t>
            </a:r>
            <a:r>
              <a:rPr lang="en-US" altLang="zh-CN" sz="2400">
                <a:solidFill>
                  <a:srgbClr val="230D75"/>
                </a:solidFill>
                <a:sym typeface="Monotype Sorts" pitchFamily="2" charset="2"/>
              </a:rPr>
              <a:t>I=S   </a:t>
            </a:r>
            <a:r>
              <a:rPr lang="zh-CN" altLang="en-US" sz="2400">
                <a:solidFill>
                  <a:srgbClr val="230D75"/>
                </a:solidFill>
                <a:sym typeface="Monotype Sorts" pitchFamily="2" charset="2"/>
              </a:rPr>
              <a:t>这就是投资－储蓄恒等式。</a:t>
            </a:r>
          </a:p>
        </p:txBody>
      </p:sp>
      <p:sp>
        <p:nvSpPr>
          <p:cNvPr id="10" name="文本框 236553" descr="蓝色面巾纸">
            <a:extLst>
              <a:ext uri="{FF2B5EF4-FFF2-40B4-BE49-F238E27FC236}">
                <a16:creationId xmlns:a16="http://schemas.microsoft.com/office/drawing/2014/main" id="{E6320A3E-22E0-4EA3-9F1C-31424C164462}"/>
              </a:ext>
            </a:extLst>
          </p:cNvPr>
          <p:cNvSpPr txBox="1">
            <a:spLocks noChangeArrowheads="1"/>
          </p:cNvSpPr>
          <p:nvPr/>
        </p:nvSpPr>
        <p:spPr bwMode="auto">
          <a:xfrm>
            <a:off x="6115050" y="3284539"/>
            <a:ext cx="2808288" cy="461665"/>
          </a:xfrm>
          <a:prstGeom prst="rect">
            <a:avLst/>
          </a:prstGeom>
          <a:blipFill dpi="0" rotWithShape="0">
            <a:blip r:embed="rId2"/>
            <a:srcRect/>
            <a:tile tx="0" ty="0" sx="100000" sy="100000" flip="none" algn="tl"/>
          </a:blipFill>
          <a:ln w="38100" cmpd="dbl">
            <a:solidFill>
              <a:schemeClr val="tx1"/>
            </a:solidFill>
            <a:miter lim="800000"/>
            <a:headEnd/>
            <a:tailEnd/>
          </a:ln>
        </p:spPr>
        <p:txBody>
          <a:bodyPr>
            <a:spAutoFit/>
          </a:bodyPr>
          <a:lstStyle/>
          <a:p>
            <a:pPr>
              <a:spcBef>
                <a:spcPct val="50000"/>
              </a:spcBef>
              <a:buClr>
                <a:srgbClr val="336600"/>
              </a:buClr>
              <a:buSzPct val="95000"/>
              <a:buFont typeface="Wingdings" panose="05000000000000000000" pitchFamily="2" charset="2"/>
              <a:buChar char="p"/>
            </a:pPr>
            <a:r>
              <a:rPr lang="zh-CN" altLang="en-US" sz="2400">
                <a:solidFill>
                  <a:srgbClr val="19692C"/>
                </a:solidFill>
              </a:rPr>
              <a:t>都＝国民收入</a:t>
            </a:r>
            <a:r>
              <a:rPr lang="en-US" altLang="zh-CN" sz="2400">
                <a:solidFill>
                  <a:srgbClr val="19692C"/>
                </a:solidFill>
              </a:rPr>
              <a:t>Y</a:t>
            </a:r>
          </a:p>
        </p:txBody>
      </p:sp>
    </p:spTree>
    <p:extLst>
      <p:ext uri="{BB962C8B-B14F-4D97-AF65-F5344CB8AC3E}">
        <p14:creationId xmlns:p14="http://schemas.microsoft.com/office/powerpoint/2010/main" val="199406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28353">
            <a:extLst>
              <a:ext uri="{FF2B5EF4-FFF2-40B4-BE49-F238E27FC236}">
                <a16:creationId xmlns:a16="http://schemas.microsoft.com/office/drawing/2014/main" id="{DE8BD4F4-F5FF-4FEF-ABA7-7A2771BF85CD}"/>
              </a:ext>
            </a:extLst>
          </p:cNvPr>
          <p:cNvSpPr>
            <a:spLocks noGrp="1" noChangeArrowheads="1"/>
          </p:cNvSpPr>
          <p:nvPr>
            <p:ph type="title"/>
          </p:nvPr>
        </p:nvSpPr>
        <p:spPr>
          <a:xfrm>
            <a:off x="838200" y="365125"/>
            <a:ext cx="10515600" cy="1325563"/>
          </a:xfrm>
        </p:spPr>
        <p:txBody>
          <a:bodyPr>
            <a:normAutofit/>
          </a:bodyPr>
          <a:lstStyle/>
          <a:p>
            <a:r>
              <a:rPr lang="en-US" altLang="zh-CN" sz="2800" dirty="0">
                <a:solidFill>
                  <a:schemeClr val="bg1"/>
                </a:solidFill>
              </a:rPr>
              <a:t>I = S</a:t>
            </a:r>
            <a:r>
              <a:rPr lang="zh-CN" altLang="en-US" sz="2800" dirty="0">
                <a:solidFill>
                  <a:schemeClr val="bg1"/>
                </a:solidFill>
              </a:rPr>
              <a:t>恒等式的解释</a:t>
            </a:r>
          </a:p>
        </p:txBody>
      </p:sp>
      <p:sp>
        <p:nvSpPr>
          <p:cNvPr id="5" name="文本占位符 228355" descr="蓝色面巾纸">
            <a:extLst>
              <a:ext uri="{FF2B5EF4-FFF2-40B4-BE49-F238E27FC236}">
                <a16:creationId xmlns:a16="http://schemas.microsoft.com/office/drawing/2014/main" id="{12DA0CB7-32B2-4F0C-9494-30B31B2EC008}"/>
              </a:ext>
            </a:extLst>
          </p:cNvPr>
          <p:cNvSpPr>
            <a:spLocks noGrp="1" noChangeArrowheads="1"/>
          </p:cNvSpPr>
          <p:nvPr>
            <p:ph idx="1"/>
          </p:nvPr>
        </p:nvSpPr>
        <p:spPr>
          <a:xfrm>
            <a:off x="500063" y="1268414"/>
            <a:ext cx="8229600" cy="1152525"/>
          </a:xfrm>
          <a:noFill/>
          <a:ln w="38100" cmpd="dbl">
            <a:noFill/>
          </a:ln>
        </p:spPr>
        <p:txBody>
          <a:bodyPr>
            <a:normAutofit lnSpcReduction="10000"/>
          </a:bodyPr>
          <a:lstStyle/>
          <a:p>
            <a:pPr>
              <a:lnSpc>
                <a:spcPct val="90000"/>
              </a:lnSpc>
              <a:buFont typeface="Wingdings" panose="05000000000000000000" pitchFamily="2" charset="2"/>
              <a:buNone/>
            </a:pPr>
            <a:r>
              <a:rPr lang="zh-CN" altLang="en-US" sz="2000" dirty="0"/>
              <a:t>大写的</a:t>
            </a:r>
            <a:r>
              <a:rPr lang="en-US" altLang="zh-CN" sz="2000" dirty="0">
                <a:solidFill>
                  <a:schemeClr val="bg1"/>
                </a:solidFill>
              </a:rPr>
              <a:t>I = S  </a:t>
            </a:r>
            <a:r>
              <a:rPr lang="zh-CN" altLang="en-US" sz="2800" dirty="0">
                <a:solidFill>
                  <a:schemeClr val="bg1"/>
                </a:solidFill>
              </a:rPr>
              <a:t>会计方面</a:t>
            </a:r>
            <a:r>
              <a:rPr lang="zh-CN" altLang="en-US" sz="1800" dirty="0">
                <a:solidFill>
                  <a:schemeClr val="bg1"/>
                </a:solidFill>
              </a:rPr>
              <a:t>  </a:t>
            </a:r>
            <a:r>
              <a:rPr lang="zh-CN" altLang="en-US" sz="2000" dirty="0"/>
              <a:t>不论经济状况如何，储蓄和投资都相等。</a:t>
            </a:r>
            <a:endParaRPr lang="zh-CN" altLang="en-US" sz="2000" dirty="0">
              <a:solidFill>
                <a:srgbClr val="19692C"/>
              </a:solidFill>
            </a:endParaRPr>
          </a:p>
          <a:p>
            <a:pPr>
              <a:lnSpc>
                <a:spcPct val="90000"/>
              </a:lnSpc>
            </a:pPr>
            <a:r>
              <a:rPr lang="zh-CN" altLang="en-US" sz="1800" dirty="0"/>
              <a:t>是事后的实际发生的国民收入均衡；</a:t>
            </a:r>
          </a:p>
          <a:p>
            <a:pPr>
              <a:lnSpc>
                <a:spcPct val="90000"/>
              </a:lnSpc>
            </a:pPr>
            <a:r>
              <a:rPr lang="zh-CN" altLang="en-US" sz="1800" dirty="0"/>
              <a:t>也是名义上的，按照当年市场价格计算的。</a:t>
            </a:r>
          </a:p>
        </p:txBody>
      </p:sp>
      <p:sp>
        <p:nvSpPr>
          <p:cNvPr id="6" name="矩形 228356" descr="水滴">
            <a:extLst>
              <a:ext uri="{FF2B5EF4-FFF2-40B4-BE49-F238E27FC236}">
                <a16:creationId xmlns:a16="http://schemas.microsoft.com/office/drawing/2014/main" id="{E9E1EEC6-1839-447B-95DE-8D6F9AFCC918}"/>
              </a:ext>
            </a:extLst>
          </p:cNvPr>
          <p:cNvSpPr>
            <a:spLocks noChangeArrowheads="1"/>
          </p:cNvSpPr>
          <p:nvPr/>
        </p:nvSpPr>
        <p:spPr bwMode="auto">
          <a:xfrm>
            <a:off x="500063" y="2492376"/>
            <a:ext cx="6121400" cy="1223963"/>
          </a:xfrm>
          <a:prstGeom prst="rect">
            <a:avLst/>
          </a:prstGeom>
          <a:blipFill dpi="0" rotWithShape="0">
            <a:blip r:embed="rId2"/>
            <a:srcRect/>
            <a:tile tx="0" ty="0" sx="100000" sy="100000" flip="none" algn="tl"/>
          </a:blipFill>
          <a:ln w="57150" cmpd="thickThin">
            <a:solidFill>
              <a:srgbClr val="000099"/>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20000"/>
              </a:spcBef>
              <a:buClr>
                <a:srgbClr val="FF0000"/>
              </a:buClr>
              <a:buSzPct val="95000"/>
            </a:pPr>
            <a:r>
              <a:rPr lang="zh-CN" altLang="en-US" sz="2400" dirty="0">
                <a:solidFill>
                  <a:srgbClr val="230D75"/>
                </a:solidFill>
              </a:rPr>
              <a:t>小写的</a:t>
            </a:r>
            <a:r>
              <a:rPr lang="en-US" altLang="zh-CN" sz="2400" dirty="0" err="1">
                <a:solidFill>
                  <a:srgbClr val="230D75"/>
                </a:solidFill>
              </a:rPr>
              <a:t>i</a:t>
            </a:r>
            <a:r>
              <a:rPr lang="en-US" altLang="zh-CN" sz="2400" dirty="0">
                <a:solidFill>
                  <a:srgbClr val="230D75"/>
                </a:solidFill>
              </a:rPr>
              <a:t> = s </a:t>
            </a:r>
            <a:r>
              <a:rPr lang="zh-CN" altLang="en-US" sz="2800" dirty="0">
                <a:solidFill>
                  <a:srgbClr val="FF0000"/>
                </a:solidFill>
              </a:rPr>
              <a:t>经济方面</a:t>
            </a:r>
            <a:r>
              <a:rPr lang="zh-CN" altLang="en-US" sz="2400" dirty="0">
                <a:solidFill>
                  <a:srgbClr val="230D75"/>
                </a:solidFill>
              </a:rPr>
              <a:t> </a:t>
            </a:r>
            <a:r>
              <a:rPr lang="zh-CN" altLang="en-US" sz="2000" dirty="0">
                <a:solidFill>
                  <a:srgbClr val="230D75"/>
                </a:solidFill>
              </a:rPr>
              <a:t>却不一定存在</a:t>
            </a:r>
          </a:p>
          <a:p>
            <a:pPr>
              <a:lnSpc>
                <a:spcPct val="80000"/>
              </a:lnSpc>
              <a:spcBef>
                <a:spcPct val="20000"/>
              </a:spcBef>
              <a:buClr>
                <a:srgbClr val="FF0000"/>
              </a:buClr>
              <a:buSzPct val="95000"/>
              <a:buFont typeface="Wingdings" panose="05000000000000000000" pitchFamily="2" charset="2"/>
              <a:buChar char="n"/>
            </a:pPr>
            <a:r>
              <a:rPr lang="zh-CN" altLang="en-US" sz="2000" dirty="0">
                <a:solidFill>
                  <a:srgbClr val="230D75"/>
                </a:solidFill>
              </a:rPr>
              <a:t>是事前均衡问题，指意愿、计划的储蓄和投资。</a:t>
            </a:r>
          </a:p>
          <a:p>
            <a:pPr>
              <a:lnSpc>
                <a:spcPct val="80000"/>
              </a:lnSpc>
              <a:spcBef>
                <a:spcPct val="20000"/>
              </a:spcBef>
              <a:buClr>
                <a:srgbClr val="FF0000"/>
              </a:buClr>
              <a:buSzPct val="95000"/>
              <a:buFont typeface="Wingdings" panose="05000000000000000000" pitchFamily="2" charset="2"/>
              <a:buChar char="n"/>
            </a:pPr>
            <a:r>
              <a:rPr lang="zh-CN" altLang="en-US" sz="2000" dirty="0">
                <a:solidFill>
                  <a:srgbClr val="230D75"/>
                </a:solidFill>
              </a:rPr>
              <a:t>也是剔除了价格变动、根据实际价格计算的。</a:t>
            </a:r>
          </a:p>
        </p:txBody>
      </p:sp>
      <p:sp>
        <p:nvSpPr>
          <p:cNvPr id="7" name="矩形 228357" descr="蓝色面巾纸">
            <a:extLst>
              <a:ext uri="{FF2B5EF4-FFF2-40B4-BE49-F238E27FC236}">
                <a16:creationId xmlns:a16="http://schemas.microsoft.com/office/drawing/2014/main" id="{0A0F1C22-79F4-4C1B-808A-84604F2F7EDD}"/>
              </a:ext>
            </a:extLst>
          </p:cNvPr>
          <p:cNvSpPr>
            <a:spLocks noChangeArrowheads="1"/>
          </p:cNvSpPr>
          <p:nvPr/>
        </p:nvSpPr>
        <p:spPr bwMode="auto">
          <a:xfrm>
            <a:off x="500063" y="5229225"/>
            <a:ext cx="8208962" cy="1150938"/>
          </a:xfrm>
          <a:prstGeom prst="rect">
            <a:avLst/>
          </a:prstGeom>
          <a:blipFill dpi="0" rotWithShape="0">
            <a:blip r:embed="rId3"/>
            <a:srcRect/>
            <a:tile tx="0" ty="0" sx="100000" sy="100000" flip="none" algn="tl"/>
          </a:blipFill>
          <a:ln w="38100" cmpd="dbl">
            <a:solidFill>
              <a:srgbClr val="101016"/>
            </a:solidFill>
            <a:miter lim="800000"/>
            <a:headEnd/>
            <a:tailEnd/>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lvl="1">
              <a:lnSpc>
                <a:spcPct val="80000"/>
              </a:lnSpc>
              <a:spcBef>
                <a:spcPct val="20000"/>
              </a:spcBef>
              <a:buClr>
                <a:schemeClr val="folHlink"/>
              </a:buClr>
              <a:buSzPct val="85000"/>
              <a:buFont typeface="Wingdings" panose="05000000000000000000" pitchFamily="2" charset="2"/>
              <a:buBlip>
                <a:blip r:embed="rId4"/>
              </a:buBlip>
            </a:pPr>
            <a:r>
              <a:rPr lang="en-US" altLang="zh-CN" sz="2400">
                <a:solidFill>
                  <a:srgbClr val="230D75"/>
                </a:solidFill>
              </a:rPr>
              <a:t>i = s</a:t>
            </a:r>
            <a:r>
              <a:rPr lang="zh-CN" altLang="en-US" sz="2400">
                <a:solidFill>
                  <a:srgbClr val="230D75"/>
                </a:solidFill>
              </a:rPr>
              <a:t>（总需求 </a:t>
            </a:r>
            <a:r>
              <a:rPr lang="en-US" altLang="zh-CN" sz="2400">
                <a:solidFill>
                  <a:srgbClr val="230D75"/>
                </a:solidFill>
              </a:rPr>
              <a:t>= </a:t>
            </a:r>
            <a:r>
              <a:rPr lang="zh-CN" altLang="en-US" sz="2400">
                <a:solidFill>
                  <a:srgbClr val="230D75"/>
                </a:solidFill>
              </a:rPr>
              <a:t>总供给）经济增长均衡</a:t>
            </a:r>
          </a:p>
          <a:p>
            <a:pPr lvl="1">
              <a:lnSpc>
                <a:spcPct val="80000"/>
              </a:lnSpc>
              <a:spcBef>
                <a:spcPct val="20000"/>
              </a:spcBef>
              <a:buClr>
                <a:schemeClr val="folHlink"/>
              </a:buClr>
              <a:buSzPct val="85000"/>
              <a:buFont typeface="Wingdings" panose="05000000000000000000" pitchFamily="2" charset="2"/>
              <a:buBlip>
                <a:blip r:embed="rId4"/>
              </a:buBlip>
            </a:pPr>
            <a:r>
              <a:rPr lang="en-US" altLang="zh-CN" sz="2400">
                <a:solidFill>
                  <a:srgbClr val="230D75"/>
                </a:solidFill>
              </a:rPr>
              <a:t>i &lt; s</a:t>
            </a:r>
            <a:r>
              <a:rPr lang="zh-CN" altLang="en-US" sz="2400">
                <a:solidFill>
                  <a:srgbClr val="230D75"/>
                </a:solidFill>
              </a:rPr>
              <a:t>（总需求 </a:t>
            </a:r>
            <a:r>
              <a:rPr lang="en-US" altLang="zh-CN" sz="2400">
                <a:solidFill>
                  <a:srgbClr val="230D75"/>
                </a:solidFill>
              </a:rPr>
              <a:t>&lt; </a:t>
            </a:r>
            <a:r>
              <a:rPr lang="zh-CN" altLang="en-US" sz="2400">
                <a:solidFill>
                  <a:srgbClr val="230D75"/>
                </a:solidFill>
              </a:rPr>
              <a:t>总供给）经济增长收缩</a:t>
            </a:r>
          </a:p>
          <a:p>
            <a:pPr lvl="1">
              <a:lnSpc>
                <a:spcPct val="80000"/>
              </a:lnSpc>
              <a:spcBef>
                <a:spcPct val="20000"/>
              </a:spcBef>
              <a:buClr>
                <a:schemeClr val="folHlink"/>
              </a:buClr>
              <a:buSzPct val="85000"/>
              <a:buFont typeface="Wingdings" panose="05000000000000000000" pitchFamily="2" charset="2"/>
              <a:buBlip>
                <a:blip r:embed="rId4"/>
              </a:buBlip>
            </a:pPr>
            <a:r>
              <a:rPr lang="en-US" altLang="zh-CN" sz="2400">
                <a:solidFill>
                  <a:srgbClr val="230D75"/>
                </a:solidFill>
              </a:rPr>
              <a:t>i &gt; s</a:t>
            </a:r>
            <a:r>
              <a:rPr lang="zh-CN" altLang="en-US" sz="2400">
                <a:solidFill>
                  <a:srgbClr val="230D75"/>
                </a:solidFill>
              </a:rPr>
              <a:t>（总需求 </a:t>
            </a:r>
            <a:r>
              <a:rPr lang="en-US" altLang="zh-CN" sz="2400">
                <a:solidFill>
                  <a:srgbClr val="230D75"/>
                </a:solidFill>
              </a:rPr>
              <a:t>&gt; </a:t>
            </a:r>
            <a:r>
              <a:rPr lang="zh-CN" altLang="en-US" sz="2400">
                <a:solidFill>
                  <a:srgbClr val="230D75"/>
                </a:solidFill>
              </a:rPr>
              <a:t>总供给）经济增长扩张</a:t>
            </a:r>
          </a:p>
        </p:txBody>
      </p:sp>
      <p:sp>
        <p:nvSpPr>
          <p:cNvPr id="8" name="矩形 228358" descr="水滴">
            <a:extLst>
              <a:ext uri="{FF2B5EF4-FFF2-40B4-BE49-F238E27FC236}">
                <a16:creationId xmlns:a16="http://schemas.microsoft.com/office/drawing/2014/main" id="{9DC94981-A32F-4B68-8249-8FA7BEC2C891}"/>
              </a:ext>
            </a:extLst>
          </p:cNvPr>
          <p:cNvSpPr>
            <a:spLocks noChangeArrowheads="1"/>
          </p:cNvSpPr>
          <p:nvPr/>
        </p:nvSpPr>
        <p:spPr bwMode="auto">
          <a:xfrm>
            <a:off x="500063" y="3860801"/>
            <a:ext cx="5905500" cy="1223963"/>
          </a:xfrm>
          <a:prstGeom prst="rect">
            <a:avLst/>
          </a:prstGeom>
          <a:blipFill dpi="0" rotWithShape="0">
            <a:blip r:embed="rId2"/>
            <a:srcRect/>
            <a:tile tx="0" ty="0" sx="100000" sy="100000" flip="none" algn="tl"/>
          </a:blipFill>
          <a:ln w="57150" cmpd="thickThin">
            <a:solidFill>
              <a:srgbClr val="000099"/>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rgbClr val="FF0000"/>
              </a:buClr>
              <a:buSzPct val="95000"/>
              <a:buFont typeface="Wingdings" panose="05000000000000000000" pitchFamily="2" charset="2"/>
              <a:buChar char="n"/>
            </a:pPr>
            <a:r>
              <a:rPr lang="zh-CN" altLang="en-US" sz="2400" dirty="0">
                <a:solidFill>
                  <a:srgbClr val="230D75"/>
                </a:solidFill>
              </a:rPr>
              <a:t>储蓄由消费者提供；投资由企业进行。</a:t>
            </a:r>
          </a:p>
          <a:p>
            <a:pPr>
              <a:lnSpc>
                <a:spcPct val="90000"/>
              </a:lnSpc>
              <a:spcBef>
                <a:spcPct val="20000"/>
              </a:spcBef>
              <a:buClr>
                <a:srgbClr val="FF0000"/>
              </a:buClr>
              <a:buSzPct val="95000"/>
              <a:buFont typeface="Wingdings" panose="05000000000000000000" pitchFamily="2" charset="2"/>
              <a:buChar char="n"/>
            </a:pPr>
            <a:r>
              <a:rPr lang="zh-CN" altLang="en-US" sz="2400" dirty="0">
                <a:solidFill>
                  <a:srgbClr val="230D75"/>
                </a:solidFill>
              </a:rPr>
              <a:t>个人的储蓄动机和企业投资动机不同，一般来说储蓄与投资不可能一致。</a:t>
            </a:r>
            <a:endParaRPr lang="zh-CN" altLang="en-US" sz="2400" dirty="0">
              <a:solidFill>
                <a:srgbClr val="FF0000"/>
              </a:solidFill>
            </a:endParaRPr>
          </a:p>
        </p:txBody>
      </p:sp>
      <p:sp>
        <p:nvSpPr>
          <p:cNvPr id="9" name="圆角矩形标注 228359">
            <a:extLst>
              <a:ext uri="{FF2B5EF4-FFF2-40B4-BE49-F238E27FC236}">
                <a16:creationId xmlns:a16="http://schemas.microsoft.com/office/drawing/2014/main" id="{DB409899-BD3A-4614-86A2-310B98A0239C}"/>
              </a:ext>
            </a:extLst>
          </p:cNvPr>
          <p:cNvSpPr>
            <a:spLocks noChangeArrowheads="1"/>
          </p:cNvSpPr>
          <p:nvPr/>
        </p:nvSpPr>
        <p:spPr bwMode="auto">
          <a:xfrm>
            <a:off x="6837364" y="2997200"/>
            <a:ext cx="1800225" cy="1944688"/>
          </a:xfrm>
          <a:prstGeom prst="wedgeRoundRectCallout">
            <a:avLst>
              <a:gd name="adj1" fmla="val -72222"/>
              <a:gd name="adj2" fmla="val 32940"/>
              <a:gd name="adj3" fmla="val 16667"/>
            </a:avLst>
          </a:prstGeom>
          <a:solidFill>
            <a:srgbClr val="FF7C80"/>
          </a:solidFill>
          <a:ln w="9525">
            <a:solidFill>
              <a:schemeClr val="tx1"/>
            </a:solidFill>
            <a:miter lim="800000"/>
            <a:headEnd/>
            <a:tailEnd/>
          </a:ln>
        </p:spPr>
        <p:txBody>
          <a:bodyPr/>
          <a:lstStyle/>
          <a:p>
            <a:pPr>
              <a:lnSpc>
                <a:spcPct val="90000"/>
              </a:lnSpc>
              <a:spcBef>
                <a:spcPct val="20000"/>
              </a:spcBef>
              <a:buClr>
                <a:srgbClr val="FF0000"/>
              </a:buClr>
              <a:buSzPct val="95000"/>
              <a:buFont typeface="Wingdings" panose="05000000000000000000" pitchFamily="2" charset="2"/>
              <a:buChar char="n"/>
            </a:pPr>
            <a:r>
              <a:rPr lang="zh-CN" altLang="en-US" sz="2400">
                <a:solidFill>
                  <a:srgbClr val="230D75"/>
                </a:solidFill>
              </a:rPr>
              <a:t>比如：</a:t>
            </a:r>
          </a:p>
          <a:p>
            <a:pPr>
              <a:lnSpc>
                <a:spcPct val="90000"/>
              </a:lnSpc>
              <a:spcBef>
                <a:spcPct val="20000"/>
              </a:spcBef>
              <a:buClr>
                <a:srgbClr val="FF0000"/>
              </a:buClr>
              <a:buSzPct val="95000"/>
              <a:buFont typeface="Wingdings" panose="05000000000000000000" pitchFamily="2" charset="2"/>
              <a:buChar char="n"/>
            </a:pPr>
            <a:r>
              <a:rPr lang="zh-CN" altLang="en-US" sz="2400">
                <a:solidFill>
                  <a:srgbClr val="230D75"/>
                </a:solidFill>
              </a:rPr>
              <a:t>个人肯定不愿为存货投资提供储蓄。</a:t>
            </a:r>
            <a:endParaRPr lang="zh-CN" altLang="en-US" sz="2400" b="0">
              <a:solidFill>
                <a:srgbClr val="230D75"/>
              </a:solidFill>
            </a:endParaRPr>
          </a:p>
        </p:txBody>
      </p:sp>
    </p:spTree>
    <p:extLst>
      <p:ext uri="{BB962C8B-B14F-4D97-AF65-F5344CB8AC3E}">
        <p14:creationId xmlns:p14="http://schemas.microsoft.com/office/powerpoint/2010/main" val="4156649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26305">
            <a:extLst>
              <a:ext uri="{FF2B5EF4-FFF2-40B4-BE49-F238E27FC236}">
                <a16:creationId xmlns:a16="http://schemas.microsoft.com/office/drawing/2014/main" id="{CAC03D5E-DE4F-4597-8D28-1EF09E4A8557}"/>
              </a:ext>
            </a:extLst>
          </p:cNvPr>
          <p:cNvSpPr>
            <a:spLocks noGrp="1" noChangeArrowheads="1"/>
          </p:cNvSpPr>
          <p:nvPr>
            <p:ph type="title"/>
          </p:nvPr>
        </p:nvSpPr>
        <p:spPr>
          <a:xfrm>
            <a:off x="838200" y="365125"/>
            <a:ext cx="10515600" cy="1325563"/>
          </a:xfrm>
        </p:spPr>
        <p:txBody>
          <a:bodyPr>
            <a:normAutofit/>
          </a:bodyPr>
          <a:lstStyle/>
          <a:p>
            <a:r>
              <a:rPr lang="zh-CN" altLang="en-US" sz="2800" dirty="0"/>
              <a:t>三部门的收入构成</a:t>
            </a:r>
          </a:p>
        </p:txBody>
      </p:sp>
      <p:sp>
        <p:nvSpPr>
          <p:cNvPr id="5" name="文本占位符 226306">
            <a:extLst>
              <a:ext uri="{FF2B5EF4-FFF2-40B4-BE49-F238E27FC236}">
                <a16:creationId xmlns:a16="http://schemas.microsoft.com/office/drawing/2014/main" id="{6DFD3270-4EEA-46DC-A378-A9200C5F6959}"/>
              </a:ext>
            </a:extLst>
          </p:cNvPr>
          <p:cNvSpPr>
            <a:spLocks noGrp="1" noChangeArrowheads="1"/>
          </p:cNvSpPr>
          <p:nvPr>
            <p:ph idx="1"/>
          </p:nvPr>
        </p:nvSpPr>
        <p:spPr>
          <a:xfrm>
            <a:off x="957263" y="1268413"/>
            <a:ext cx="5256212" cy="576262"/>
          </a:xfrm>
        </p:spPr>
        <p:txBody>
          <a:bodyPr>
            <a:normAutofit fontScale="92500"/>
          </a:bodyPr>
          <a:lstStyle/>
          <a:p>
            <a:pPr marL="0" indent="0">
              <a:buNone/>
            </a:pPr>
            <a:r>
              <a:rPr lang="zh-CN" altLang="en-US" b="0" dirty="0">
                <a:latin typeface="黑体" panose="02010609060101010101" pitchFamily="49" charset="-122"/>
                <a:ea typeface="黑体" panose="02010609060101010101" pitchFamily="49" charset="-122"/>
              </a:rPr>
              <a:t>三部门中，包括政府部门。</a:t>
            </a:r>
            <a:r>
              <a:rPr lang="en-US" altLang="zh-CN" b="0" dirty="0">
                <a:latin typeface="黑体" panose="02010609060101010101" pitchFamily="49" charset="-122"/>
                <a:ea typeface="黑体" panose="02010609060101010101" pitchFamily="49" charset="-122"/>
              </a:rPr>
              <a:t>Y</a:t>
            </a: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GDP</a:t>
            </a:r>
          </a:p>
        </p:txBody>
      </p:sp>
      <p:sp>
        <p:nvSpPr>
          <p:cNvPr id="6" name="矩形 226307">
            <a:extLst>
              <a:ext uri="{FF2B5EF4-FFF2-40B4-BE49-F238E27FC236}">
                <a16:creationId xmlns:a16="http://schemas.microsoft.com/office/drawing/2014/main" id="{CF5D2532-489E-45F7-8BCC-88BB5287AC55}"/>
              </a:ext>
            </a:extLst>
          </p:cNvPr>
          <p:cNvSpPr>
            <a:spLocks noChangeArrowheads="1"/>
          </p:cNvSpPr>
          <p:nvPr/>
        </p:nvSpPr>
        <p:spPr bwMode="auto">
          <a:xfrm>
            <a:off x="795338" y="1916114"/>
            <a:ext cx="8229600" cy="1152525"/>
          </a:xfrm>
          <a:prstGeom prst="rect">
            <a:avLst/>
          </a:prstGeom>
          <a:noFill/>
          <a:ln w="3175" cmpd="dbl">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hlink"/>
              </a:buClr>
              <a:buFont typeface="Wingdings" panose="05000000000000000000" pitchFamily="2" charset="2"/>
              <a:buChar char="l"/>
            </a:pPr>
            <a:r>
              <a:rPr lang="zh-CN" altLang="en-US" sz="2400" dirty="0">
                <a:solidFill>
                  <a:schemeClr val="bg1"/>
                </a:solidFill>
                <a:latin typeface="黑体" panose="02010609060101010101" pitchFamily="49" charset="-122"/>
                <a:ea typeface="黑体" panose="02010609060101010101" pitchFamily="49" charset="-122"/>
              </a:rPr>
              <a:t>支出方面：</a:t>
            </a:r>
            <a:r>
              <a:rPr lang="en-US" altLang="zh-CN" sz="2400" dirty="0">
                <a:solidFill>
                  <a:schemeClr val="bg1"/>
                </a:solidFill>
                <a:latin typeface="黑体" panose="02010609060101010101" pitchFamily="49" charset="-122"/>
                <a:ea typeface="黑体" panose="02010609060101010101" pitchFamily="49" charset="-122"/>
              </a:rPr>
              <a:t>Y=C+I+G</a:t>
            </a:r>
            <a:r>
              <a:rPr lang="zh-CN" altLang="en-US" sz="2400" dirty="0">
                <a:solidFill>
                  <a:schemeClr val="bg1"/>
                </a:solidFill>
                <a:latin typeface="黑体" panose="02010609060101010101" pitchFamily="49" charset="-122"/>
                <a:ea typeface="黑体" panose="02010609060101010101" pitchFamily="49" charset="-122"/>
              </a:rPr>
              <a:t>＝消费＋投资＋政府购买</a:t>
            </a:r>
          </a:p>
          <a:p>
            <a:pPr lvl="1">
              <a:lnSpc>
                <a:spcPct val="90000"/>
              </a:lnSpc>
              <a:spcBef>
                <a:spcPct val="20000"/>
              </a:spcBef>
              <a:buClr>
                <a:schemeClr val="folHlink"/>
              </a:buClr>
              <a:buSzPct val="85000"/>
              <a:buFont typeface="Wingdings" panose="05000000000000000000" pitchFamily="2" charset="2"/>
              <a:buBlip>
                <a:blip r:embed="rId2"/>
              </a:buBlip>
            </a:pPr>
            <a:r>
              <a:rPr lang="zh-CN" altLang="en-US" sz="2000" dirty="0">
                <a:solidFill>
                  <a:schemeClr val="bg1"/>
                </a:solidFill>
                <a:latin typeface="黑体" panose="02010609060101010101" pitchFamily="49" charset="-122"/>
                <a:ea typeface="黑体" panose="02010609060101010101" pitchFamily="49" charset="-122"/>
              </a:rPr>
              <a:t>政府转移支付不在内，因为：政府的转移支付给予后，无非是归入个人消费和投资（主要是消费）。</a:t>
            </a:r>
          </a:p>
        </p:txBody>
      </p:sp>
      <p:sp>
        <p:nvSpPr>
          <p:cNvPr id="7" name="矩形 226308">
            <a:extLst>
              <a:ext uri="{FF2B5EF4-FFF2-40B4-BE49-F238E27FC236}">
                <a16:creationId xmlns:a16="http://schemas.microsoft.com/office/drawing/2014/main" id="{83298107-FF17-4466-9E92-9574BF836794}"/>
              </a:ext>
            </a:extLst>
          </p:cNvPr>
          <p:cNvSpPr>
            <a:spLocks noChangeArrowheads="1"/>
          </p:cNvSpPr>
          <p:nvPr/>
        </p:nvSpPr>
        <p:spPr bwMode="auto">
          <a:xfrm>
            <a:off x="795338" y="4724400"/>
            <a:ext cx="8229600" cy="1657350"/>
          </a:xfrm>
          <a:prstGeom prst="rect">
            <a:avLst/>
          </a:prstGeom>
          <a:noFill/>
          <a:ln w="3175" cmpd="dbl">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80000"/>
              </a:lnSpc>
              <a:spcBef>
                <a:spcPct val="20000"/>
              </a:spcBef>
              <a:buClr>
                <a:schemeClr val="hlink"/>
              </a:buClr>
              <a:buFont typeface="Wingdings" panose="05000000000000000000" pitchFamily="2" charset="2"/>
              <a:buChar char="l"/>
            </a:pPr>
            <a:r>
              <a:rPr lang="zh-CN" altLang="en-US" sz="2400" b="0" dirty="0">
                <a:solidFill>
                  <a:schemeClr val="bg1"/>
                </a:solidFill>
                <a:latin typeface="黑体" panose="02010609060101010101" pitchFamily="49" charset="-122"/>
                <a:ea typeface="黑体" panose="02010609060101010101" pitchFamily="49" charset="-122"/>
              </a:rPr>
              <a:t>所以： </a:t>
            </a:r>
            <a:r>
              <a:rPr lang="en-US" altLang="zh-CN" sz="2400" b="0" dirty="0">
                <a:solidFill>
                  <a:schemeClr val="bg1"/>
                </a:solidFill>
                <a:latin typeface="黑体" panose="02010609060101010101" pitchFamily="49" charset="-122"/>
                <a:ea typeface="黑体" panose="02010609060101010101" pitchFamily="49" charset="-122"/>
              </a:rPr>
              <a:t>C+I+G = Y = C+S+T</a:t>
            </a:r>
            <a:r>
              <a:rPr lang="zh-CN" altLang="en-US" sz="2400" b="0" dirty="0">
                <a:solidFill>
                  <a:schemeClr val="bg1"/>
                </a:solidFill>
                <a:latin typeface="黑体" panose="02010609060101010101" pitchFamily="49" charset="-122"/>
                <a:ea typeface="黑体" panose="02010609060101010101" pitchFamily="49" charset="-122"/>
              </a:rPr>
              <a:t>，</a:t>
            </a:r>
          </a:p>
          <a:p>
            <a:pPr>
              <a:lnSpc>
                <a:spcPct val="80000"/>
              </a:lnSpc>
              <a:spcBef>
                <a:spcPct val="20000"/>
              </a:spcBef>
              <a:buClr>
                <a:schemeClr val="hlink"/>
              </a:buClr>
              <a:buFont typeface="Wingdings" panose="05000000000000000000" pitchFamily="2" charset="2"/>
              <a:buChar char="l"/>
            </a:pPr>
            <a:r>
              <a:rPr lang="zh-CN" altLang="en-US" sz="2400" b="0" dirty="0">
                <a:solidFill>
                  <a:schemeClr val="bg1"/>
                </a:solidFill>
                <a:latin typeface="黑体" panose="02010609060101010101" pitchFamily="49" charset="-122"/>
                <a:ea typeface="黑体" panose="02010609060101010101" pitchFamily="49" charset="-122"/>
              </a:rPr>
              <a:t>即 </a:t>
            </a:r>
            <a:r>
              <a:rPr lang="en-US" altLang="zh-CN" sz="2400" b="0" dirty="0">
                <a:solidFill>
                  <a:schemeClr val="bg1"/>
                </a:solidFill>
                <a:latin typeface="黑体" panose="02010609060101010101" pitchFamily="49" charset="-122"/>
                <a:ea typeface="黑体" panose="02010609060101010101" pitchFamily="49" charset="-122"/>
              </a:rPr>
              <a:t>I+G = S+T </a:t>
            </a:r>
            <a:r>
              <a:rPr lang="zh-CN" altLang="en-US" sz="2400" b="0" dirty="0">
                <a:solidFill>
                  <a:schemeClr val="bg1"/>
                </a:solidFill>
                <a:latin typeface="黑体" panose="02010609060101010101" pitchFamily="49" charset="-122"/>
                <a:ea typeface="黑体" panose="02010609060101010101" pitchFamily="49" charset="-122"/>
              </a:rPr>
              <a:t>， </a:t>
            </a:r>
            <a:r>
              <a:rPr lang="en-US" altLang="zh-CN" sz="2400" b="0" dirty="0">
                <a:solidFill>
                  <a:schemeClr val="bg1"/>
                </a:solidFill>
                <a:latin typeface="黑体" panose="02010609060101010101" pitchFamily="49" charset="-122"/>
                <a:ea typeface="黑体" panose="02010609060101010101" pitchFamily="49" charset="-122"/>
              </a:rPr>
              <a:t>I=  S+</a:t>
            </a:r>
            <a:r>
              <a:rPr lang="zh-CN" altLang="en-US" sz="2400" b="0" dirty="0">
                <a:solidFill>
                  <a:schemeClr val="bg1"/>
                </a:solidFill>
                <a:latin typeface="黑体" panose="02010609060101010101" pitchFamily="49" charset="-122"/>
                <a:ea typeface="黑体" panose="02010609060101010101" pitchFamily="49" charset="-122"/>
              </a:rPr>
              <a:t>（</a:t>
            </a:r>
            <a:r>
              <a:rPr lang="en-US" altLang="zh-CN" sz="2400" b="0" dirty="0">
                <a:solidFill>
                  <a:schemeClr val="bg1"/>
                </a:solidFill>
                <a:latin typeface="黑体" panose="02010609060101010101" pitchFamily="49" charset="-122"/>
                <a:ea typeface="黑体" panose="02010609060101010101" pitchFamily="49" charset="-122"/>
              </a:rPr>
              <a:t>T</a:t>
            </a:r>
            <a:r>
              <a:rPr lang="zh-CN" altLang="en-US" sz="2400" b="0" dirty="0">
                <a:solidFill>
                  <a:schemeClr val="bg1"/>
                </a:solidFill>
                <a:latin typeface="黑体" panose="02010609060101010101" pitchFamily="49" charset="-122"/>
                <a:ea typeface="黑体" panose="02010609060101010101" pitchFamily="49" charset="-122"/>
              </a:rPr>
              <a:t>－ </a:t>
            </a:r>
            <a:r>
              <a:rPr lang="en-US" altLang="zh-CN" sz="2400" b="0" dirty="0">
                <a:solidFill>
                  <a:schemeClr val="bg1"/>
                </a:solidFill>
                <a:latin typeface="黑体" panose="02010609060101010101" pitchFamily="49" charset="-122"/>
                <a:ea typeface="黑体" panose="02010609060101010101" pitchFamily="49" charset="-122"/>
              </a:rPr>
              <a:t>G</a:t>
            </a:r>
            <a:r>
              <a:rPr lang="zh-CN" altLang="en-US" sz="2400" b="0" dirty="0">
                <a:solidFill>
                  <a:schemeClr val="bg1"/>
                </a:solidFill>
                <a:latin typeface="黑体" panose="02010609060101010101" pitchFamily="49" charset="-122"/>
                <a:ea typeface="黑体" panose="02010609060101010101" pitchFamily="49" charset="-122"/>
              </a:rPr>
              <a:t>）</a:t>
            </a:r>
          </a:p>
          <a:p>
            <a:pPr>
              <a:lnSpc>
                <a:spcPct val="80000"/>
              </a:lnSpc>
              <a:spcBef>
                <a:spcPct val="20000"/>
              </a:spcBef>
              <a:buClr>
                <a:schemeClr val="hlink"/>
              </a:buClr>
              <a:buFont typeface="Wingdings" panose="05000000000000000000" pitchFamily="2" charset="2"/>
              <a:buChar char="l"/>
            </a:pPr>
            <a:r>
              <a:rPr lang="zh-CN" altLang="en-US" sz="2400" b="0" dirty="0">
                <a:solidFill>
                  <a:schemeClr val="bg1"/>
                </a:solidFill>
                <a:latin typeface="黑体" panose="02010609060101010101" pitchFamily="49" charset="-122"/>
                <a:ea typeface="黑体" panose="02010609060101010101" pitchFamily="49" charset="-122"/>
              </a:rPr>
              <a:t>（</a:t>
            </a:r>
            <a:r>
              <a:rPr lang="en-US" altLang="zh-CN" sz="2400" b="0" dirty="0">
                <a:solidFill>
                  <a:schemeClr val="bg1"/>
                </a:solidFill>
                <a:latin typeface="黑体" panose="02010609060101010101" pitchFamily="49" charset="-122"/>
                <a:ea typeface="黑体" panose="02010609060101010101" pitchFamily="49" charset="-122"/>
              </a:rPr>
              <a:t>T</a:t>
            </a:r>
            <a:r>
              <a:rPr lang="zh-CN" altLang="en-US" sz="2400" b="0" dirty="0">
                <a:solidFill>
                  <a:schemeClr val="bg1"/>
                </a:solidFill>
                <a:latin typeface="黑体" panose="02010609060101010101" pitchFamily="49" charset="-122"/>
                <a:ea typeface="黑体" panose="02010609060101010101" pitchFamily="49" charset="-122"/>
              </a:rPr>
              <a:t>－ </a:t>
            </a:r>
            <a:r>
              <a:rPr lang="en-US" altLang="zh-CN" sz="2400" b="0" dirty="0">
                <a:solidFill>
                  <a:schemeClr val="bg1"/>
                </a:solidFill>
                <a:latin typeface="黑体" panose="02010609060101010101" pitchFamily="49" charset="-122"/>
                <a:ea typeface="黑体" panose="02010609060101010101" pitchFamily="49" charset="-122"/>
              </a:rPr>
              <a:t>G</a:t>
            </a:r>
            <a:r>
              <a:rPr lang="zh-CN" altLang="en-US" sz="2400" b="0" dirty="0">
                <a:solidFill>
                  <a:schemeClr val="bg1"/>
                </a:solidFill>
                <a:latin typeface="黑体" panose="02010609060101010101" pitchFamily="49" charset="-122"/>
                <a:ea typeface="黑体" panose="02010609060101010101" pitchFamily="49" charset="-122"/>
              </a:rPr>
              <a:t>）为政府储蓄</a:t>
            </a:r>
          </a:p>
          <a:p>
            <a:pPr>
              <a:lnSpc>
                <a:spcPct val="80000"/>
              </a:lnSpc>
              <a:spcBef>
                <a:spcPct val="20000"/>
              </a:spcBef>
              <a:buClr>
                <a:schemeClr val="hlink"/>
              </a:buClr>
              <a:buFont typeface="Wingdings" panose="05000000000000000000" pitchFamily="2" charset="2"/>
              <a:buChar char="l"/>
            </a:pPr>
            <a:r>
              <a:rPr lang="zh-CN" altLang="en-US" sz="2400" b="0" dirty="0">
                <a:solidFill>
                  <a:schemeClr val="bg1"/>
                </a:solidFill>
                <a:latin typeface="黑体" panose="02010609060101010101" pitchFamily="49" charset="-122"/>
                <a:ea typeface="黑体" panose="02010609060101010101" pitchFamily="49" charset="-122"/>
              </a:rPr>
              <a:t>投资＝储蓄的恒等式仍然存在。</a:t>
            </a:r>
          </a:p>
        </p:txBody>
      </p:sp>
      <p:sp>
        <p:nvSpPr>
          <p:cNvPr id="8" name="矩形 226309">
            <a:extLst>
              <a:ext uri="{FF2B5EF4-FFF2-40B4-BE49-F238E27FC236}">
                <a16:creationId xmlns:a16="http://schemas.microsoft.com/office/drawing/2014/main" id="{5BE3D274-B68A-4C1F-A7A4-C9730E957648}"/>
              </a:ext>
            </a:extLst>
          </p:cNvPr>
          <p:cNvSpPr>
            <a:spLocks noChangeArrowheads="1"/>
          </p:cNvSpPr>
          <p:nvPr/>
        </p:nvSpPr>
        <p:spPr bwMode="auto">
          <a:xfrm>
            <a:off x="795338" y="3213101"/>
            <a:ext cx="8229600" cy="1439863"/>
          </a:xfrm>
          <a:prstGeom prst="rect">
            <a:avLst/>
          </a:prstGeom>
          <a:noFill/>
          <a:ln w="3175" cmpd="dbl">
            <a:solidFill>
              <a:schemeClr val="tx1"/>
            </a:solidFill>
            <a:miter lim="800000"/>
            <a:headEnd/>
            <a:tailEnd/>
          </a:ln>
        </p:spPr>
        <p:txBody>
          <a:bodyPr/>
          <a:lstStyle>
            <a:lvl1pPr marL="342900" indent="-342900">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a:defRPr b="1">
                <a:solidFill>
                  <a:schemeClr val="tx1"/>
                </a:solidFill>
                <a:latin typeface="Arial" panose="020B0604020202020204" pitchFamily="34" charset="0"/>
                <a:ea typeface="宋体" panose="02010600030101010101" pitchFamily="2" charset="-122"/>
              </a:defRPr>
            </a:lvl3pPr>
            <a:lvl4pPr>
              <a:defRPr b="1">
                <a:solidFill>
                  <a:schemeClr val="tx1"/>
                </a:solidFill>
                <a:latin typeface="Arial" panose="020B0604020202020204" pitchFamily="34" charset="0"/>
                <a:ea typeface="宋体" panose="02010600030101010101" pitchFamily="2" charset="-122"/>
              </a:defRPr>
            </a:lvl4pPr>
            <a:lvl5pPr>
              <a:defRPr b="1">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b="1">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b="1">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b="1">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hlink"/>
              </a:buClr>
              <a:buFont typeface="Wingdings" panose="05000000000000000000" pitchFamily="2" charset="2"/>
              <a:buChar char="l"/>
            </a:pPr>
            <a:r>
              <a:rPr lang="zh-CN" altLang="en-US" sz="2400" dirty="0">
                <a:solidFill>
                  <a:schemeClr val="bg1"/>
                </a:solidFill>
                <a:latin typeface="黑体" panose="02010609060101010101" pitchFamily="49" charset="-122"/>
                <a:ea typeface="黑体" panose="02010609060101010101" pitchFamily="49" charset="-122"/>
              </a:rPr>
              <a:t>收入方面：</a:t>
            </a:r>
            <a:r>
              <a:rPr lang="en-US" altLang="zh-CN" sz="2400" dirty="0">
                <a:solidFill>
                  <a:schemeClr val="bg1"/>
                </a:solidFill>
                <a:latin typeface="黑体" panose="02010609060101010101" pitchFamily="49" charset="-122"/>
                <a:ea typeface="黑体" panose="02010609060101010101" pitchFamily="49" charset="-122"/>
              </a:rPr>
              <a:t>Y=C+S+T</a:t>
            </a:r>
            <a:r>
              <a:rPr lang="zh-CN" altLang="en-US" sz="2400" dirty="0">
                <a:solidFill>
                  <a:schemeClr val="bg1"/>
                </a:solidFill>
                <a:latin typeface="黑体" panose="02010609060101010101" pitchFamily="49" charset="-122"/>
                <a:ea typeface="黑体" panose="02010609060101010101" pitchFamily="49" charset="-122"/>
              </a:rPr>
              <a:t>，</a:t>
            </a:r>
          </a:p>
          <a:p>
            <a:pPr lvl="1">
              <a:lnSpc>
                <a:spcPct val="90000"/>
              </a:lnSpc>
              <a:spcBef>
                <a:spcPct val="20000"/>
              </a:spcBef>
              <a:buClr>
                <a:schemeClr val="folHlink"/>
              </a:buClr>
              <a:buSzPct val="85000"/>
              <a:buFont typeface="Wingdings" panose="05000000000000000000" pitchFamily="2" charset="2"/>
              <a:buBlip>
                <a:blip r:embed="rId2"/>
              </a:buBlip>
            </a:pPr>
            <a:r>
              <a:rPr lang="en-US" altLang="zh-CN" sz="2000" dirty="0">
                <a:solidFill>
                  <a:schemeClr val="bg1"/>
                </a:solidFill>
                <a:latin typeface="黑体" panose="02010609060101010101" pitchFamily="49" charset="-122"/>
                <a:ea typeface="黑体" panose="02010609060101010101" pitchFamily="49" charset="-122"/>
              </a:rPr>
              <a:t>T</a:t>
            </a:r>
            <a:r>
              <a:rPr lang="zh-CN" altLang="en-US" sz="2000" dirty="0">
                <a:solidFill>
                  <a:schemeClr val="bg1"/>
                </a:solidFill>
                <a:latin typeface="黑体" panose="02010609060101010101" pitchFamily="49" charset="-122"/>
                <a:ea typeface="黑体" panose="02010609060101010101" pitchFamily="49" charset="-122"/>
              </a:rPr>
              <a:t>是政府净收入（净税金）</a:t>
            </a:r>
            <a:r>
              <a:rPr lang="en-US" altLang="zh-CN" sz="2000" dirty="0">
                <a:solidFill>
                  <a:schemeClr val="bg1"/>
                </a:solidFill>
                <a:latin typeface="黑体" panose="02010609060101010101" pitchFamily="49" charset="-122"/>
                <a:ea typeface="黑体" panose="02010609060101010101" pitchFamily="49" charset="-122"/>
              </a:rPr>
              <a:t>=T</a:t>
            </a:r>
            <a:r>
              <a:rPr lang="en-US" altLang="zh-CN" sz="2000" baseline="-25000" dirty="0">
                <a:solidFill>
                  <a:schemeClr val="bg1"/>
                </a:solidFill>
                <a:latin typeface="黑体" panose="02010609060101010101" pitchFamily="49" charset="-122"/>
                <a:ea typeface="黑体" panose="02010609060101010101" pitchFamily="49" charset="-122"/>
              </a:rPr>
              <a:t>0</a:t>
            </a:r>
            <a:r>
              <a:rPr lang="en-US" altLang="zh-CN" sz="2000" dirty="0">
                <a:solidFill>
                  <a:schemeClr val="bg1"/>
                </a:solidFill>
                <a:latin typeface="黑体" panose="02010609060101010101" pitchFamily="49" charset="-122"/>
                <a:ea typeface="黑体" panose="02010609060101010101" pitchFamily="49" charset="-122"/>
              </a:rPr>
              <a:t>-T</a:t>
            </a:r>
            <a:r>
              <a:rPr lang="en-US" altLang="zh-CN" sz="2000" baseline="-25000" dirty="0">
                <a:solidFill>
                  <a:schemeClr val="bg1"/>
                </a:solidFill>
                <a:latin typeface="黑体" panose="02010609060101010101" pitchFamily="49" charset="-122"/>
                <a:ea typeface="黑体" panose="02010609060101010101" pitchFamily="49" charset="-122"/>
              </a:rPr>
              <a:t>r </a:t>
            </a:r>
            <a:r>
              <a:rPr lang="zh-CN" altLang="en-US" sz="2000" dirty="0">
                <a:solidFill>
                  <a:schemeClr val="bg1"/>
                </a:solidFill>
                <a:latin typeface="黑体" panose="02010609060101010101" pitchFamily="49" charset="-122"/>
                <a:ea typeface="黑体" panose="02010609060101010101" pitchFamily="49" charset="-122"/>
              </a:rPr>
              <a:t>＝全部税金－转移支付。</a:t>
            </a:r>
          </a:p>
          <a:p>
            <a:pPr lvl="1">
              <a:lnSpc>
                <a:spcPct val="90000"/>
              </a:lnSpc>
              <a:spcBef>
                <a:spcPct val="20000"/>
              </a:spcBef>
              <a:buClr>
                <a:schemeClr val="folHlink"/>
              </a:buClr>
              <a:buSzPct val="85000"/>
              <a:buFont typeface="Wingdings" panose="05000000000000000000" pitchFamily="2" charset="2"/>
              <a:buBlip>
                <a:blip r:embed="rId2"/>
              </a:buBlip>
            </a:pPr>
            <a:r>
              <a:rPr lang="zh-CN" altLang="en-US" sz="2000" b="0" dirty="0">
                <a:solidFill>
                  <a:schemeClr val="bg1"/>
                </a:solidFill>
                <a:latin typeface="黑体" panose="02010609060101010101" pitchFamily="49" charset="-122"/>
                <a:ea typeface="黑体" panose="02010609060101010101" pitchFamily="49" charset="-122"/>
              </a:rPr>
              <a:t>居民要交纳税收，又要得到政府的转移支付（忽略掉转移支付也</a:t>
            </a:r>
            <a:r>
              <a:rPr lang="zh-CN" altLang="en-US" sz="2000" b="0" dirty="0">
                <a:solidFill>
                  <a:srgbClr val="19692C"/>
                </a:solidFill>
                <a:latin typeface="黑体" panose="02010609060101010101" pitchFamily="49" charset="-122"/>
                <a:ea typeface="黑体" panose="02010609060101010101" pitchFamily="49" charset="-122"/>
              </a:rPr>
              <a:t>可以）</a:t>
            </a:r>
            <a:r>
              <a:rPr lang="zh-CN" altLang="en-US" sz="2000" b="0" dirty="0">
                <a:solidFill>
                  <a:srgbClr val="000099"/>
                </a:solidFill>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2754858624"/>
      </p:ext>
    </p:extLst>
  </p:cSld>
  <p:clrMapOvr>
    <a:masterClrMapping/>
  </p:clrMapOvr>
</p:sld>
</file>

<file path=ppt/theme/theme1.xml><?xml version="1.0" encoding="utf-8"?>
<a:theme xmlns:a="http://schemas.openxmlformats.org/drawingml/2006/main" name="Office 主题​​">
  <a:themeElements>
    <a:clrScheme name="自定义 1">
      <a:dk1>
        <a:srgbClr val="FFFFFF"/>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TotalTime>
  <Words>2594</Words>
  <Application>Microsoft Office PowerPoint</Application>
  <PresentationFormat>宽屏</PresentationFormat>
  <Paragraphs>169</Paragraphs>
  <Slides>27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等线</vt:lpstr>
      <vt:lpstr>黑体</vt:lpstr>
      <vt:lpstr>宋体</vt:lpstr>
      <vt:lpstr>Arial</vt:lpstr>
      <vt:lpstr>Arial Black</vt:lpstr>
      <vt:lpstr>Times New Roman</vt:lpstr>
      <vt:lpstr>Verdana</vt:lpstr>
      <vt:lpstr>Wingdings</vt:lpstr>
      <vt:lpstr>Office 主题​​</vt:lpstr>
      <vt:lpstr>西方经济学大学期末 考前冲刺课 宏观部分（宏观经济学）</vt:lpstr>
      <vt:lpstr>老师简介</vt:lpstr>
      <vt:lpstr>PowerPoint 演示文稿</vt:lpstr>
      <vt:lpstr>宏观经济学的研究对象及研究方法</vt:lpstr>
      <vt:lpstr>宏观经济的基本指标及其衡量</vt:lpstr>
      <vt:lpstr>国内生产总值（GDP）</vt:lpstr>
      <vt:lpstr>PowerPoint 演示文稿</vt:lpstr>
      <vt:lpstr>国内生产总值的特点</vt:lpstr>
      <vt:lpstr>PowerPoint 演示文稿</vt:lpstr>
      <vt:lpstr> 潜在产出</vt:lpstr>
      <vt:lpstr>PowerPoint 演示文稿</vt:lpstr>
      <vt:lpstr>国民生产总值GNP</vt:lpstr>
      <vt:lpstr>PowerPoint 演示文稿</vt:lpstr>
      <vt:lpstr>GDP折算指数</vt:lpstr>
      <vt:lpstr>PowerPoint 演示文稿</vt:lpstr>
      <vt:lpstr>PowerPoint 演示文稿</vt:lpstr>
      <vt:lpstr>投资investment</vt:lpstr>
      <vt:lpstr>PowerPoint 演示文稿</vt:lpstr>
      <vt:lpstr>PowerPoint 演示文稿</vt:lpstr>
      <vt:lpstr>【X－M】净出口</vt:lpstr>
      <vt:lpstr>收入法 income approach </vt:lpstr>
      <vt:lpstr>五个经济总量之间的数量关系</vt:lpstr>
      <vt:lpstr>PowerPoint 演示文稿</vt:lpstr>
      <vt:lpstr>国民收入的基本公式</vt:lpstr>
      <vt:lpstr>从GDP的计算得出国民收入公式</vt:lpstr>
      <vt:lpstr>I = S恒等式的解释</vt:lpstr>
      <vt:lpstr>三部门的收入构成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宏观经济的基本指标及其衡量</dc:title>
  <dc:creator>984071643@qq.com</dc:creator>
  <cp:lastModifiedBy> </cp:lastModifiedBy>
  <cp:revision>25</cp:revision>
  <dcterms:created xsi:type="dcterms:W3CDTF">2018-03-12T06:10:48Z</dcterms:created>
  <dcterms:modified xsi:type="dcterms:W3CDTF">2020-11-11T13:02:01Z</dcterms:modified>
</cp:coreProperties>
</file>