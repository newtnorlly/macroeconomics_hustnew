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7" r:id="rId3"/>
    <p:sldId id="288" r:id="rId4"/>
    <p:sldId id="289" r:id="rId5"/>
    <p:sldId id="29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17" r:id="rId33"/>
    <p:sldId id="318" r:id="rId34"/>
    <p:sldId id="319" r:id="rId35"/>
    <p:sldId id="320" r:id="rId36"/>
    <p:sldId id="321" r:id="rId37"/>
    <p:sldId id="322" r:id="rId38"/>
    <p:sldId id="323" r:id="rId39"/>
    <p:sldId id="324"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1.jpeg"/><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0.wmf"/><Relationship Id="rId1" Type="http://schemas.openxmlformats.org/officeDocument/2006/relationships/image" Target="../media/image26.wmf"/><Relationship Id="rId5" Type="http://schemas.openxmlformats.org/officeDocument/2006/relationships/image" Target="../media/image27.wmf"/><Relationship Id="rId4"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1.jpeg"/><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93D8A3-AA1C-46C5-95A0-B40A54C3E59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D8D2B64-C20B-40B2-9721-AC8B85769E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2A2386C-AF18-47B1-81C0-F26F40665E2C}"/>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8F6927F0-C783-45AB-96E1-1D0771748D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6C9767-A6CE-49A0-9BED-F7623FF1E7B0}"/>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2109881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86F943-900E-47E9-AD56-C7168C81DABA}"/>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69631F37-407D-4316-998F-0809EFE0F968}"/>
              </a:ext>
            </a:extLst>
          </p:cNvPr>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D804517C-5CA6-4B7B-8B3F-077FD2403AFB}"/>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D23080AA-5E9B-4E93-8990-E4810924CA1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13CFCD-12EA-400C-946E-A86BCF9F1B8E}"/>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726986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AF3D6A-E1B8-4058-B8BE-3FD924F0911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3982C73-C197-4DCB-B52C-6C44F3A750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B06CB394-89E4-4172-B40F-020246038E50}"/>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D544ACCE-A7F5-4987-91B1-EA485B1390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E69520-4CE9-46F8-AF29-A10B52E60F9A}"/>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2383871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87885-28AA-46EB-8149-7420CFEB0F7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1BF8C1F-9682-4CE8-8FC0-4419575DDDCE}"/>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C4BE4E04-0BB7-4877-81A8-FFA8C077914A}"/>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93CF379-E528-4114-98F2-86D01747D315}"/>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7FADDA7F-1628-4A15-92C4-BBB70AC5550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0AA2765-9123-41E7-9F6E-0ABAF9AA5471}"/>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2502773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22768B-2E9F-4171-BF91-C2E337979D6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1AB52A4-D5E0-40C1-BD0D-8A6AC2ED31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9642B541-F080-4353-9818-A6926265472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A5C45F20-6763-4FD5-8DF3-5CCE260AD8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8C061FD3-5E76-4DCA-AF67-0D75A00B2D43}"/>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690F716-E833-43FC-9E16-701A541F2EDA}"/>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8" name="页脚占位符 7">
            <a:extLst>
              <a:ext uri="{FF2B5EF4-FFF2-40B4-BE49-F238E27FC236}">
                <a16:creationId xmlns:a16="http://schemas.microsoft.com/office/drawing/2014/main" id="{C32D327C-23D5-454F-8AE1-8E846A4C23B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EAE3365-F884-4B27-9140-39D9DF5AC2B8}"/>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1951907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C44343-874C-49DF-A38B-40B8C73759C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A5A8BF5-5C1D-4A86-9D0B-D4B81AC0CBB1}"/>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4" name="页脚占位符 3">
            <a:extLst>
              <a:ext uri="{FF2B5EF4-FFF2-40B4-BE49-F238E27FC236}">
                <a16:creationId xmlns:a16="http://schemas.microsoft.com/office/drawing/2014/main" id="{DAB7F91A-AD4C-4F72-B2AA-997BC72981D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1F108D-3099-407B-AE6B-1400E0EFA68F}"/>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2913771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F8EB86-35DB-423E-849E-8B0550A71A70}"/>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3" name="页脚占位符 2">
            <a:extLst>
              <a:ext uri="{FF2B5EF4-FFF2-40B4-BE49-F238E27FC236}">
                <a16:creationId xmlns:a16="http://schemas.microsoft.com/office/drawing/2014/main" id="{272A55FA-811F-435F-86A6-350FB5173EF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6912FEB-133C-4294-968D-46B399B25638}"/>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57988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516B1C-AF80-4CC2-A94E-164D2113242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8BD5351-9FBB-4DB0-BB4D-16B2278722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C54832DF-043A-4DA7-AD88-AAB6381BCB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663B8E3-E8F4-46E5-A575-96D59D64F9DE}"/>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CA285EE3-4DA1-497E-B38D-FEF6926EAEA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4475A6A-7C46-46F5-AD52-AC3D6507B7DB}"/>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91803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AAE4C0-3686-4DBE-BE2D-B8487FFBC3D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BC9CA47-A9A4-4F60-B473-685B51F2E1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3A38BF8-DDDD-4E43-AD43-B84EA77A3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69EBB70-54BD-43CC-B1B5-2F5E304111F5}"/>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6" name="页脚占位符 5">
            <a:extLst>
              <a:ext uri="{FF2B5EF4-FFF2-40B4-BE49-F238E27FC236}">
                <a16:creationId xmlns:a16="http://schemas.microsoft.com/office/drawing/2014/main" id="{27DC42F4-010F-4117-A979-2D886AE6421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514E64D-40A4-4415-A1C8-0E6959E5CA0B}"/>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2105070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805872-27A6-46A7-A660-DE72483A5D5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CB7C364-34E0-47CC-8B20-8F594EB40FD0}"/>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ADB3DBB-CE8F-41FA-9D14-692A78FD2888}"/>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AB5C23D6-F550-4DB7-84C0-A9A89D1AAC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33C5E3F-F772-447F-8BF5-576758397774}"/>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3237283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38F8BEA-4763-4226-9650-5252CD08811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35402C4-A11F-44E3-8B95-E1F1D03497F5}"/>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91177C2-5464-4F89-BA4F-EF4038336887}"/>
              </a:ext>
            </a:extLst>
          </p:cNvPr>
          <p:cNvSpPr>
            <a:spLocks noGrp="1"/>
          </p:cNvSpPr>
          <p:nvPr>
            <p:ph type="dt" sz="half" idx="10"/>
          </p:nvPr>
        </p:nvSpPr>
        <p:spPr/>
        <p:txBody>
          <a:bodyPr/>
          <a:lstStyle/>
          <a:p>
            <a:fld id="{A04BEBE4-77D5-4C8A-A5A2-167D486817EB}"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0B71EFE2-4606-4CBD-9982-6C7B93DF8F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126F36-6F35-48AF-AFD3-83EA200EB81E}"/>
              </a:ext>
            </a:extLst>
          </p:cNvPr>
          <p:cNvSpPr>
            <a:spLocks noGrp="1"/>
          </p:cNvSpPr>
          <p:nvPr>
            <p:ph type="sldNum" sz="quarter" idx="12"/>
          </p:nvPr>
        </p:nvSpPr>
        <p:spPr/>
        <p:txBody>
          <a:body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3873125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F950F6D-F6FD-49FB-94CE-8C54B2A8D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49973A4-7E14-4E1F-9A1A-CDC2F69686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5343A55-D4ED-4482-9792-28774AC8A6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4BEBE4-77D5-4C8A-A5A2-167D486817EB}" type="datetimeFigureOut">
              <a:rPr lang="zh-CN" altLang="en-US" smtClean="0"/>
              <a:t>2020/11/11</a:t>
            </a:fld>
            <a:endParaRPr lang="zh-CN" altLang="en-US"/>
          </a:p>
        </p:txBody>
      </p:sp>
      <p:sp>
        <p:nvSpPr>
          <p:cNvPr id="5" name="页脚占位符 4">
            <a:extLst>
              <a:ext uri="{FF2B5EF4-FFF2-40B4-BE49-F238E27FC236}">
                <a16:creationId xmlns:a16="http://schemas.microsoft.com/office/drawing/2014/main" id="{87004195-1D8E-4234-87DD-89F02C8198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EC87B47-9B74-4B94-9D14-9E69EB58CC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1D9898-F6AD-46DC-B365-8FE31354883A}" type="slidenum">
              <a:rPr lang="zh-CN" altLang="en-US" smtClean="0"/>
              <a:t>‹#›</a:t>
            </a:fld>
            <a:endParaRPr lang="zh-CN" altLang="en-US"/>
          </a:p>
        </p:txBody>
      </p:sp>
    </p:spTree>
    <p:extLst>
      <p:ext uri="{BB962C8B-B14F-4D97-AF65-F5344CB8AC3E}">
        <p14:creationId xmlns:p14="http://schemas.microsoft.com/office/powerpoint/2010/main" val="4017905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1.bin"/><Relationship Id="rId7"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2.gif"/><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3.png"/><Relationship Id="rId9"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2.gif"/><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1.jpeg"/><Relationship Id="rId7"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20.wmf"/><Relationship Id="rId4"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image" Target="../media/image2.gi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7.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0.wmf"/><Relationship Id="rId11" Type="http://schemas.openxmlformats.org/officeDocument/2006/relationships/oleObject" Target="../embeddings/oleObject12.bin"/><Relationship Id="rId5" Type="http://schemas.openxmlformats.org/officeDocument/2006/relationships/oleObject" Target="../embeddings/oleObject10.bin"/><Relationship Id="rId10" Type="http://schemas.openxmlformats.org/officeDocument/2006/relationships/image" Target="../media/image28.jpeg"/><Relationship Id="rId4" Type="http://schemas.openxmlformats.org/officeDocument/2006/relationships/image" Target="../media/image26.wmf"/><Relationship Id="rId9" Type="http://schemas.openxmlformats.org/officeDocument/2006/relationships/image" Target="../media/image11.jpeg"/><Relationship Id="rId14"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2.gif"/><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0.wmf"/><Relationship Id="rId5" Type="http://schemas.openxmlformats.org/officeDocument/2006/relationships/oleObject" Target="../embeddings/oleObject13.bin"/><Relationship Id="rId10"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11.jpeg"/></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image" Target="../media/image2.gif"/><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1.wmf"/><Relationship Id="rId5" Type="http://schemas.openxmlformats.org/officeDocument/2006/relationships/oleObject" Target="../embeddings/oleObject15.bin"/><Relationship Id="rId4" Type="http://schemas.openxmlformats.org/officeDocument/2006/relationships/image" Target="../media/image3.png"/><Relationship Id="rId9"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7AA16F-4056-4DB8-B437-733D31826A11}"/>
              </a:ext>
            </a:extLst>
          </p:cNvPr>
          <p:cNvSpPr>
            <a:spLocks noGrp="1"/>
          </p:cNvSpPr>
          <p:nvPr>
            <p:ph type="ctrTitle"/>
          </p:nvPr>
        </p:nvSpPr>
        <p:spPr/>
        <p:txBody>
          <a:bodyPr>
            <a:normAutofit/>
          </a:bodyPr>
          <a:lstStyle/>
          <a:p>
            <a:r>
              <a:rPr lang="zh-CN" altLang="zh-CN" sz="4000" b="1" kern="0" dirty="0">
                <a:effectLst/>
                <a:ea typeface="宋体" panose="02010600030101010101" pitchFamily="2" charset="-122"/>
                <a:cs typeface="宋体" panose="02010600030101010101" pitchFamily="2" charset="-122"/>
              </a:rPr>
              <a:t>国民收入的决定：</a:t>
            </a:r>
            <a:r>
              <a:rPr lang="en-US" altLang="zh-CN" sz="4000" b="1" kern="0" dirty="0">
                <a:effectLst/>
                <a:ea typeface="宋体" panose="02010600030101010101" pitchFamily="2" charset="-122"/>
                <a:cs typeface="宋体" panose="02010600030101010101" pitchFamily="2" charset="-122"/>
              </a:rPr>
              <a:t>IS-LM</a:t>
            </a:r>
            <a:r>
              <a:rPr lang="zh-CN" altLang="zh-CN" sz="4000" b="1" kern="0" dirty="0">
                <a:effectLst/>
                <a:ea typeface="宋体" panose="02010600030101010101" pitchFamily="2" charset="-122"/>
                <a:cs typeface="宋体" panose="02010600030101010101" pitchFamily="2" charset="-122"/>
              </a:rPr>
              <a:t>模型</a:t>
            </a:r>
            <a:endParaRPr lang="zh-CN" altLang="en-US" sz="4000" dirty="0"/>
          </a:p>
        </p:txBody>
      </p:sp>
      <p:sp>
        <p:nvSpPr>
          <p:cNvPr id="3" name="副标题 2">
            <a:extLst>
              <a:ext uri="{FF2B5EF4-FFF2-40B4-BE49-F238E27FC236}">
                <a16:creationId xmlns:a16="http://schemas.microsoft.com/office/drawing/2014/main" id="{5D5885E0-981E-4EC3-BF96-3151060F00C2}"/>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886481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a:extLst>
              <a:ext uri="{FF2B5EF4-FFF2-40B4-BE49-F238E27FC236}">
                <a16:creationId xmlns:a16="http://schemas.microsoft.com/office/drawing/2014/main" id="{852B1500-18E0-4A1F-A38C-713829E5C55D}"/>
              </a:ext>
            </a:extLst>
          </p:cNvPr>
          <p:cNvSpPr txBox="1">
            <a:spLocks noChangeArrowheads="1"/>
          </p:cNvSpPr>
          <p:nvPr/>
        </p:nvSpPr>
        <p:spPr>
          <a:xfrm>
            <a:off x="356376" y="1702814"/>
            <a:ext cx="5761037" cy="647700"/>
          </a:xfrm>
          <a:prstGeom prst="rect">
            <a:avLst/>
          </a:prstGeom>
          <a:ln>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投资</a:t>
            </a:r>
          </a:p>
        </p:txBody>
      </p:sp>
      <p:sp>
        <p:nvSpPr>
          <p:cNvPr id="13" name="Rectangle 4">
            <a:extLst>
              <a:ext uri="{FF2B5EF4-FFF2-40B4-BE49-F238E27FC236}">
                <a16:creationId xmlns:a16="http://schemas.microsoft.com/office/drawing/2014/main" id="{D5CE95DE-25F1-4B54-982E-287F6781FBFB}"/>
              </a:ext>
            </a:extLst>
          </p:cNvPr>
          <p:cNvSpPr>
            <a:spLocks noChangeArrowheads="1"/>
          </p:cNvSpPr>
          <p:nvPr/>
        </p:nvSpPr>
        <p:spPr bwMode="auto">
          <a:xfrm>
            <a:off x="356376" y="2566414"/>
            <a:ext cx="8353425" cy="1368425"/>
          </a:xfrm>
          <a:prstGeom prst="rect">
            <a:avLst/>
          </a:prstGeom>
          <a:solidFill>
            <a:schemeClr val="accent1">
              <a:alpha val="53999"/>
            </a:schemeClr>
          </a:solidFill>
          <a:ln w="57150" cap="sq" cmpd="thickThin">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r>
              <a:rPr lang="zh-CN" altLang="en-US" dirty="0">
                <a:latin typeface="黑体" panose="02010609060101010101" pitchFamily="49" charset="-122"/>
                <a:ea typeface="黑体" panose="02010609060101010101" pitchFamily="49" charset="-122"/>
              </a:rPr>
              <a:t>投资，</a:t>
            </a:r>
            <a:r>
              <a:rPr lang="zh-CN" altLang="en-US" dirty="0">
                <a:solidFill>
                  <a:schemeClr val="bg1"/>
                </a:solidFill>
                <a:latin typeface="黑体" panose="02010609060101010101" pitchFamily="49" charset="-122"/>
                <a:ea typeface="黑体" panose="02010609060101010101" pitchFamily="49" charset="-122"/>
              </a:rPr>
              <a:t>是建设新企业、购买设备、厂房等各种生产要素的支出以及存货的增加，其中主要指厂房和设备。</a:t>
            </a:r>
          </a:p>
          <a:p>
            <a:pPr algn="just"/>
            <a:r>
              <a:rPr lang="zh-CN" altLang="en-US" dirty="0">
                <a:solidFill>
                  <a:schemeClr val="bg1"/>
                </a:solidFill>
                <a:latin typeface="黑体" panose="02010609060101010101" pitchFamily="49" charset="-122"/>
                <a:ea typeface="黑体" panose="02010609060101010101" pitchFamily="49" charset="-122"/>
              </a:rPr>
              <a:t>投资就是资本的形成。</a:t>
            </a:r>
          </a:p>
        </p:txBody>
      </p:sp>
      <p:sp>
        <p:nvSpPr>
          <p:cNvPr id="14" name="Rectangle 5">
            <a:extLst>
              <a:ext uri="{FF2B5EF4-FFF2-40B4-BE49-F238E27FC236}">
                <a16:creationId xmlns:a16="http://schemas.microsoft.com/office/drawing/2014/main" id="{3675E308-AF46-4F53-AED3-FCC621E23602}"/>
              </a:ext>
            </a:extLst>
          </p:cNvPr>
          <p:cNvSpPr>
            <a:spLocks noChangeArrowheads="1"/>
          </p:cNvSpPr>
          <p:nvPr/>
        </p:nvSpPr>
        <p:spPr bwMode="auto">
          <a:xfrm>
            <a:off x="356376" y="4079302"/>
            <a:ext cx="8353425" cy="576262"/>
          </a:xfrm>
          <a:prstGeom prst="rect">
            <a:avLst/>
          </a:prstGeom>
          <a:blipFill dpi="0" rotWithShape="0">
            <a:blip r:embed="rId4">
              <a:alphaModFix amt="64000"/>
            </a:blip>
            <a:srcRect/>
            <a:tile tx="0" ty="0" sx="100000" sy="100000" flip="none" algn="tl"/>
          </a:blipFill>
          <a:ln w="57150" cap="sq" cmpd="thickThin">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latin typeface="黑体" panose="02010609060101010101" pitchFamily="49" charset="-122"/>
                <a:ea typeface="黑体" panose="02010609060101010101" pitchFamily="49" charset="-122"/>
              </a:rPr>
              <a:t>投资类型</a:t>
            </a:r>
          </a:p>
        </p:txBody>
      </p:sp>
      <p:sp>
        <p:nvSpPr>
          <p:cNvPr id="15" name="Rectangle 7">
            <a:extLst>
              <a:ext uri="{FF2B5EF4-FFF2-40B4-BE49-F238E27FC236}">
                <a16:creationId xmlns:a16="http://schemas.microsoft.com/office/drawing/2014/main" id="{032196E9-3C72-4665-9298-1F8CF6CB01C3}"/>
              </a:ext>
            </a:extLst>
          </p:cNvPr>
          <p:cNvSpPr>
            <a:spLocks noGrp="1" noChangeArrowheads="1"/>
          </p:cNvSpPr>
          <p:nvPr>
            <p:ph type="title"/>
          </p:nvPr>
        </p:nvSpPr>
        <p:spPr>
          <a:xfrm>
            <a:off x="284938" y="694752"/>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投资的决定</a:t>
            </a:r>
          </a:p>
        </p:txBody>
      </p:sp>
      <p:sp>
        <p:nvSpPr>
          <p:cNvPr id="16" name="Rectangle 10">
            <a:extLst>
              <a:ext uri="{FF2B5EF4-FFF2-40B4-BE49-F238E27FC236}">
                <a16:creationId xmlns:a16="http://schemas.microsoft.com/office/drawing/2014/main" id="{A730E3A6-EDA2-478E-8101-93F086032FA1}"/>
              </a:ext>
            </a:extLst>
          </p:cNvPr>
          <p:cNvSpPr>
            <a:spLocks noChangeArrowheads="1"/>
          </p:cNvSpPr>
          <p:nvPr/>
        </p:nvSpPr>
        <p:spPr bwMode="auto">
          <a:xfrm>
            <a:off x="1796238" y="4727002"/>
            <a:ext cx="6913563" cy="503237"/>
          </a:xfrm>
          <a:prstGeom prst="rect">
            <a:avLst/>
          </a:prstGeom>
          <a:blipFill dpi="0" rotWithShape="0">
            <a:blip r:embed="rId4">
              <a:alphaModFix amt="64000"/>
            </a:blip>
            <a:srcRect/>
            <a:tile tx="0" ty="0" sx="100000" sy="100000" flip="none" algn="tl"/>
          </a:blipFill>
          <a:ln w="57150" cap="sq" cmpd="thickThin">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bg1"/>
                </a:solidFill>
                <a:latin typeface="黑体" panose="02010609060101010101" pitchFamily="49" charset="-122"/>
                <a:ea typeface="黑体" panose="02010609060101010101" pitchFamily="49" charset="-122"/>
              </a:rPr>
              <a:t>投资主体：国内私人投资和政府投资。</a:t>
            </a:r>
          </a:p>
        </p:txBody>
      </p:sp>
      <p:sp>
        <p:nvSpPr>
          <p:cNvPr id="17" name="Rectangle 11">
            <a:extLst>
              <a:ext uri="{FF2B5EF4-FFF2-40B4-BE49-F238E27FC236}">
                <a16:creationId xmlns:a16="http://schemas.microsoft.com/office/drawing/2014/main" id="{DFB72CA5-80F2-45A0-A4D2-63E4D8E103EB}"/>
              </a:ext>
            </a:extLst>
          </p:cNvPr>
          <p:cNvSpPr>
            <a:spLocks noChangeArrowheads="1"/>
          </p:cNvSpPr>
          <p:nvPr/>
        </p:nvSpPr>
        <p:spPr bwMode="auto">
          <a:xfrm>
            <a:off x="1796238" y="5374702"/>
            <a:ext cx="6913563" cy="576262"/>
          </a:xfrm>
          <a:prstGeom prst="rect">
            <a:avLst/>
          </a:prstGeom>
          <a:blipFill dpi="0" rotWithShape="0">
            <a:blip r:embed="rId4">
              <a:alphaModFix amt="64000"/>
            </a:blip>
            <a:srcRect/>
            <a:tile tx="0" ty="0" sx="100000" sy="100000" flip="none" algn="tl"/>
          </a:blipFill>
          <a:ln w="57150" cap="sq" cmpd="thickThin">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bg1"/>
                </a:solidFill>
                <a:latin typeface="黑体" panose="02010609060101010101" pitchFamily="49" charset="-122"/>
                <a:ea typeface="黑体" panose="02010609060101010101" pitchFamily="49" charset="-122"/>
              </a:rPr>
              <a:t>投资形态：固定资产投资和存货投资。</a:t>
            </a:r>
          </a:p>
        </p:txBody>
      </p:sp>
      <p:sp>
        <p:nvSpPr>
          <p:cNvPr id="18" name="Rectangle 12">
            <a:extLst>
              <a:ext uri="{FF2B5EF4-FFF2-40B4-BE49-F238E27FC236}">
                <a16:creationId xmlns:a16="http://schemas.microsoft.com/office/drawing/2014/main" id="{58DD039F-8790-4E22-9AA6-8819AD8A839E}"/>
              </a:ext>
            </a:extLst>
          </p:cNvPr>
          <p:cNvSpPr>
            <a:spLocks noChangeArrowheads="1"/>
          </p:cNvSpPr>
          <p:nvPr/>
        </p:nvSpPr>
        <p:spPr bwMode="auto">
          <a:xfrm>
            <a:off x="1796238" y="6095427"/>
            <a:ext cx="6913563" cy="576262"/>
          </a:xfrm>
          <a:prstGeom prst="rect">
            <a:avLst/>
          </a:prstGeom>
          <a:blipFill dpi="0" rotWithShape="0">
            <a:blip r:embed="rId4">
              <a:alphaModFix amt="64000"/>
            </a:blip>
            <a:srcRect/>
            <a:tile tx="0" ty="0" sx="100000" sy="100000" flip="none" algn="tl"/>
          </a:blipFill>
          <a:ln w="57150" cap="sq" cmpd="thickThin">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bg1"/>
                </a:solidFill>
                <a:latin typeface="黑体" panose="02010609060101010101" pitchFamily="49" charset="-122"/>
                <a:ea typeface="黑体" panose="02010609060101010101" pitchFamily="49" charset="-122"/>
              </a:rPr>
              <a:t>投资动机：生产性投资和投机性投资</a:t>
            </a:r>
            <a:r>
              <a:rPr lang="zh-CN" altLang="en-US" dirty="0">
                <a:solidFill>
                  <a:srgbClr val="000000"/>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2263795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0FC42D50-2025-419E-AB2A-9F027A264C8E}"/>
              </a:ext>
            </a:extLst>
          </p:cNvPr>
          <p:cNvSpPr txBox="1">
            <a:spLocks noChangeArrowheads="1"/>
          </p:cNvSpPr>
          <p:nvPr/>
        </p:nvSpPr>
        <p:spPr>
          <a:xfrm>
            <a:off x="395288" y="1527721"/>
            <a:ext cx="8424862" cy="503238"/>
          </a:xfrm>
          <a:prstGeom prst="rect">
            <a:avLst/>
          </a:prstGeom>
          <a:noFill/>
          <a:ln w="3175">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a:t>
            </a:r>
            <a:r>
              <a:rPr lang="en-US" altLang="zh-CN" dirty="0"/>
              <a:t>1</a:t>
            </a:r>
            <a:r>
              <a:rPr lang="zh-CN" altLang="en-US" dirty="0"/>
              <a:t>）利率。</a:t>
            </a:r>
            <a:r>
              <a:rPr lang="zh-CN" altLang="en-US" dirty="0">
                <a:solidFill>
                  <a:schemeClr val="bg1"/>
                </a:solidFill>
              </a:rPr>
              <a:t>与投资反向变动，是影响投资的首要因素。</a:t>
            </a:r>
          </a:p>
        </p:txBody>
      </p:sp>
      <p:sp>
        <p:nvSpPr>
          <p:cNvPr id="5" name="Rectangle 5">
            <a:extLst>
              <a:ext uri="{FF2B5EF4-FFF2-40B4-BE49-F238E27FC236}">
                <a16:creationId xmlns:a16="http://schemas.microsoft.com/office/drawing/2014/main" id="{3D1BB483-92F8-4777-BFB6-D4CAA0D76A6D}"/>
              </a:ext>
            </a:extLst>
          </p:cNvPr>
          <p:cNvSpPr>
            <a:spLocks noChangeArrowheads="1"/>
          </p:cNvSpPr>
          <p:nvPr/>
        </p:nvSpPr>
        <p:spPr bwMode="auto">
          <a:xfrm>
            <a:off x="395288" y="4696371"/>
            <a:ext cx="8424862" cy="18002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）预期通货膨胀率。</a:t>
            </a:r>
            <a:r>
              <a:rPr lang="zh-CN" altLang="en-US" dirty="0">
                <a:solidFill>
                  <a:schemeClr val="bg1"/>
                </a:solidFill>
              </a:rPr>
              <a:t>与投资同向变动，通胀下，短期内对企业有利，可增加企业的实际利润，减少工资，企业会增加投资。</a:t>
            </a:r>
          </a:p>
          <a:p>
            <a:r>
              <a:rPr lang="zh-CN" altLang="en-US" dirty="0">
                <a:solidFill>
                  <a:schemeClr val="bg1"/>
                </a:solidFill>
              </a:rPr>
              <a:t>通胀等于实际利率下降，会刺激投资。</a:t>
            </a:r>
          </a:p>
        </p:txBody>
      </p:sp>
      <p:sp>
        <p:nvSpPr>
          <p:cNvPr id="6" name="Rectangle 7">
            <a:extLst>
              <a:ext uri="{FF2B5EF4-FFF2-40B4-BE49-F238E27FC236}">
                <a16:creationId xmlns:a16="http://schemas.microsoft.com/office/drawing/2014/main" id="{8C5BE62B-E922-4CB0-BFF3-9135DBA869CB}"/>
              </a:ext>
            </a:extLst>
          </p:cNvPr>
          <p:cNvSpPr>
            <a:spLocks noGrp="1" noChangeArrowheads="1"/>
          </p:cNvSpPr>
          <p:nvPr>
            <p:ph type="title"/>
          </p:nvPr>
        </p:nvSpPr>
        <p:spPr>
          <a:xfrm>
            <a:off x="323850" y="519659"/>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决定投资的经济因素</a:t>
            </a:r>
          </a:p>
        </p:txBody>
      </p:sp>
      <p:sp>
        <p:nvSpPr>
          <p:cNvPr id="7" name="Rectangle 8">
            <a:extLst>
              <a:ext uri="{FF2B5EF4-FFF2-40B4-BE49-F238E27FC236}">
                <a16:creationId xmlns:a16="http://schemas.microsoft.com/office/drawing/2014/main" id="{4FF82CCB-82EF-4659-B26E-8B349B3EC621}"/>
              </a:ext>
            </a:extLst>
          </p:cNvPr>
          <p:cNvSpPr>
            <a:spLocks noChangeArrowheads="1"/>
          </p:cNvSpPr>
          <p:nvPr/>
        </p:nvSpPr>
        <p:spPr bwMode="auto">
          <a:xfrm>
            <a:off x="395288" y="2175421"/>
            <a:ext cx="8424862" cy="9366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a:t>
            </a:r>
            <a:r>
              <a:rPr lang="en-US" altLang="zh-CN" dirty="0"/>
              <a:t>2</a:t>
            </a:r>
            <a:r>
              <a:rPr lang="zh-CN" altLang="en-US" dirty="0"/>
              <a:t>）预期利润。</a:t>
            </a:r>
            <a:r>
              <a:rPr lang="zh-CN" altLang="en-US" dirty="0">
                <a:solidFill>
                  <a:schemeClr val="bg1"/>
                </a:solidFill>
              </a:rPr>
              <a:t>与投资同向变动，投资是为了获利。</a:t>
            </a:r>
          </a:p>
          <a:p>
            <a:r>
              <a:rPr lang="zh-CN" altLang="en-US" dirty="0">
                <a:solidFill>
                  <a:schemeClr val="bg1"/>
                </a:solidFill>
              </a:rPr>
              <a:t>利率与利润率反方向变动。</a:t>
            </a:r>
          </a:p>
        </p:txBody>
      </p:sp>
      <p:sp>
        <p:nvSpPr>
          <p:cNvPr id="8" name="Rectangle 9">
            <a:extLst>
              <a:ext uri="{FF2B5EF4-FFF2-40B4-BE49-F238E27FC236}">
                <a16:creationId xmlns:a16="http://schemas.microsoft.com/office/drawing/2014/main" id="{49FEE464-B151-4669-B854-58EDBB690A9E}"/>
              </a:ext>
            </a:extLst>
          </p:cNvPr>
          <p:cNvSpPr>
            <a:spLocks noChangeArrowheads="1"/>
          </p:cNvSpPr>
          <p:nvPr/>
        </p:nvSpPr>
        <p:spPr bwMode="auto">
          <a:xfrm>
            <a:off x="395288" y="3254921"/>
            <a:ext cx="8424862" cy="1296988"/>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a:t>
            </a:r>
            <a:r>
              <a:rPr lang="en-US" altLang="zh-CN" dirty="0"/>
              <a:t>3</a:t>
            </a:r>
            <a:r>
              <a:rPr lang="zh-CN" altLang="en-US" dirty="0"/>
              <a:t>）折旧。</a:t>
            </a:r>
            <a:r>
              <a:rPr lang="zh-CN" altLang="en-US" dirty="0">
                <a:solidFill>
                  <a:schemeClr val="bg1"/>
                </a:solidFill>
              </a:rPr>
              <a:t>与投资同向变动。折旧是现有设备、厂房的损耗，资本存量越大，折旧也越大，越需要增加投资以更换设备和厂房，这样，需折旧的量越大，投资也越大。</a:t>
            </a:r>
          </a:p>
        </p:txBody>
      </p:sp>
    </p:spTree>
    <p:extLst>
      <p:ext uri="{BB962C8B-B14F-4D97-AF65-F5344CB8AC3E}">
        <p14:creationId xmlns:p14="http://schemas.microsoft.com/office/powerpoint/2010/main" val="889921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EF99DEE9-DC9B-461B-9369-A48389538C54}"/>
              </a:ext>
            </a:extLst>
          </p:cNvPr>
          <p:cNvSpPr>
            <a:spLocks noGrp="1" noChangeArrowheads="1"/>
          </p:cNvSpPr>
          <p:nvPr>
            <p:ph type="title"/>
          </p:nvPr>
        </p:nvSpPr>
        <p:spPr>
          <a:xfrm>
            <a:off x="263525" y="524586"/>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3100" dirty="0"/>
              <a:t>投资函数</a:t>
            </a:r>
          </a:p>
        </p:txBody>
      </p:sp>
      <p:sp>
        <p:nvSpPr>
          <p:cNvPr id="5" name="Rectangle 9">
            <a:extLst>
              <a:ext uri="{FF2B5EF4-FFF2-40B4-BE49-F238E27FC236}">
                <a16:creationId xmlns:a16="http://schemas.microsoft.com/office/drawing/2014/main" id="{9E0D1176-14FF-4011-BB89-C8A17C0F9011}"/>
              </a:ext>
            </a:extLst>
          </p:cNvPr>
          <p:cNvSpPr txBox="1">
            <a:spLocks noChangeArrowheads="1"/>
          </p:cNvSpPr>
          <p:nvPr/>
        </p:nvSpPr>
        <p:spPr>
          <a:xfrm>
            <a:off x="395288" y="1388186"/>
            <a:ext cx="6192837" cy="936625"/>
          </a:xfrm>
          <a:prstGeom prst="rect">
            <a:avLst/>
          </a:prstGeom>
          <a:noFill/>
          <a:ln w="3175" cmpd="sng">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a:t>投资函数：投资与利率之间的函数关系。</a:t>
            </a:r>
          </a:p>
          <a:p>
            <a:pPr>
              <a:buClr>
                <a:schemeClr val="hlink"/>
              </a:buClr>
              <a:buSzPct val="95000"/>
              <a:buFont typeface="Wingdings" panose="05000000000000000000" pitchFamily="2" charset="2"/>
              <a:buChar char="u"/>
            </a:pPr>
            <a:r>
              <a:rPr lang="en-US" altLang="zh-CN" i="1"/>
              <a:t>i</a:t>
            </a:r>
            <a:r>
              <a:rPr lang="zh-CN" altLang="en-US"/>
              <a:t>＝</a:t>
            </a:r>
            <a:r>
              <a:rPr lang="en-US" altLang="zh-CN" i="1"/>
              <a:t>i</a:t>
            </a:r>
            <a:r>
              <a:rPr lang="zh-CN" altLang="en-US"/>
              <a:t>（</a:t>
            </a:r>
            <a:r>
              <a:rPr lang="en-US" altLang="zh-CN" i="1"/>
              <a:t>r</a:t>
            </a:r>
            <a:r>
              <a:rPr lang="zh-CN" altLang="en-US"/>
              <a:t>） （满足</a:t>
            </a:r>
            <a:r>
              <a:rPr lang="en-US" altLang="zh-CN"/>
              <a:t>di/dr </a:t>
            </a:r>
            <a:r>
              <a:rPr lang="zh-CN" altLang="en-US"/>
              <a:t>＜ </a:t>
            </a:r>
            <a:r>
              <a:rPr lang="en-US" altLang="zh-CN"/>
              <a:t>0</a:t>
            </a:r>
            <a:r>
              <a:rPr lang="zh-CN" altLang="en-US"/>
              <a:t>） 。</a:t>
            </a:r>
          </a:p>
        </p:txBody>
      </p:sp>
      <p:sp>
        <p:nvSpPr>
          <p:cNvPr id="6" name="Rectangle 10">
            <a:extLst>
              <a:ext uri="{FF2B5EF4-FFF2-40B4-BE49-F238E27FC236}">
                <a16:creationId xmlns:a16="http://schemas.microsoft.com/office/drawing/2014/main" id="{44AAB04A-3F03-4CBC-969B-0E82C1480D14}"/>
              </a:ext>
            </a:extLst>
          </p:cNvPr>
          <p:cNvSpPr>
            <a:spLocks noChangeArrowheads="1"/>
          </p:cNvSpPr>
          <p:nvPr/>
        </p:nvSpPr>
        <p:spPr bwMode="auto">
          <a:xfrm>
            <a:off x="395288" y="2467686"/>
            <a:ext cx="8424862" cy="576262"/>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t>投资</a:t>
            </a:r>
            <a:r>
              <a:rPr lang="en-US" altLang="zh-CN" i="1"/>
              <a:t>i</a:t>
            </a:r>
            <a:r>
              <a:rPr lang="zh-CN" altLang="en-US"/>
              <a:t>是利率</a:t>
            </a:r>
            <a:r>
              <a:rPr lang="en-US" altLang="zh-CN" i="1"/>
              <a:t>r</a:t>
            </a:r>
            <a:r>
              <a:rPr lang="zh-CN" altLang="en-US"/>
              <a:t>的减函数，即投资与利率反向变动。</a:t>
            </a:r>
          </a:p>
        </p:txBody>
      </p:sp>
      <p:sp>
        <p:nvSpPr>
          <p:cNvPr id="7" name="Rectangle 12">
            <a:extLst>
              <a:ext uri="{FF2B5EF4-FFF2-40B4-BE49-F238E27FC236}">
                <a16:creationId xmlns:a16="http://schemas.microsoft.com/office/drawing/2014/main" id="{05DC29BF-7053-44DE-8D79-B48CE1A3C286}"/>
              </a:ext>
            </a:extLst>
          </p:cNvPr>
          <p:cNvSpPr>
            <a:spLocks noChangeArrowheads="1"/>
          </p:cNvSpPr>
          <p:nvPr/>
        </p:nvSpPr>
        <p:spPr bwMode="auto">
          <a:xfrm>
            <a:off x="395288" y="3259848"/>
            <a:ext cx="3887787" cy="576263"/>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buClr>
                <a:schemeClr val="hlink"/>
              </a:buClr>
              <a:buSzPct val="95000"/>
              <a:buFont typeface="Wingdings" panose="05000000000000000000" pitchFamily="2" charset="2"/>
              <a:buChar char="u"/>
            </a:pPr>
            <a:r>
              <a:rPr lang="zh-CN" altLang="en-US"/>
              <a:t>线性投资函数：</a:t>
            </a:r>
            <a:r>
              <a:rPr lang="en-US" altLang="zh-CN"/>
              <a:t>i</a:t>
            </a:r>
            <a:r>
              <a:rPr lang="zh-CN" altLang="en-US"/>
              <a:t>＝</a:t>
            </a:r>
            <a:r>
              <a:rPr lang="en-US" altLang="zh-CN"/>
              <a:t>e-dr</a:t>
            </a:r>
          </a:p>
        </p:txBody>
      </p:sp>
      <p:sp>
        <p:nvSpPr>
          <p:cNvPr id="8" name="AutoShape 42">
            <a:extLst>
              <a:ext uri="{FF2B5EF4-FFF2-40B4-BE49-F238E27FC236}">
                <a16:creationId xmlns:a16="http://schemas.microsoft.com/office/drawing/2014/main" id="{2669166A-25AF-4940-B750-94D83842D787}"/>
              </a:ext>
            </a:extLst>
          </p:cNvPr>
          <p:cNvSpPr>
            <a:spLocks noChangeArrowheads="1"/>
          </p:cNvSpPr>
          <p:nvPr/>
        </p:nvSpPr>
        <p:spPr bwMode="auto">
          <a:xfrm>
            <a:off x="6732588" y="1099261"/>
            <a:ext cx="2087562" cy="1152525"/>
          </a:xfrm>
          <a:prstGeom prst="wedgeRoundRectCallout">
            <a:avLst>
              <a:gd name="adj1" fmla="val -58819"/>
              <a:gd name="adj2" fmla="val 10468"/>
              <a:gd name="adj3" fmla="val 16667"/>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r>
              <a:rPr lang="zh-CN" altLang="en-US" sz="2000"/>
              <a:t>假定只有利率发生变化，其他因素都不变</a:t>
            </a:r>
          </a:p>
        </p:txBody>
      </p:sp>
      <p:sp>
        <p:nvSpPr>
          <p:cNvPr id="9" name="Rectangle 43">
            <a:extLst>
              <a:ext uri="{FF2B5EF4-FFF2-40B4-BE49-F238E27FC236}">
                <a16:creationId xmlns:a16="http://schemas.microsoft.com/office/drawing/2014/main" id="{237F4782-1D56-4C83-8633-CA724C168E72}"/>
              </a:ext>
            </a:extLst>
          </p:cNvPr>
          <p:cNvSpPr>
            <a:spLocks noChangeArrowheads="1"/>
          </p:cNvSpPr>
          <p:nvPr/>
        </p:nvSpPr>
        <p:spPr bwMode="auto">
          <a:xfrm>
            <a:off x="395288" y="3978986"/>
            <a:ext cx="3887787" cy="2665412"/>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pPr>
            <a:r>
              <a:rPr lang="en-US" altLang="zh-CN" dirty="0"/>
              <a:t>e</a:t>
            </a:r>
            <a:r>
              <a:rPr lang="zh-CN" altLang="en-US" dirty="0"/>
              <a:t>：自主投资，是即使</a:t>
            </a:r>
            <a:r>
              <a:rPr lang="en-US" altLang="zh-CN" dirty="0"/>
              <a:t>r=0</a:t>
            </a:r>
            <a:r>
              <a:rPr lang="zh-CN" altLang="en-US" dirty="0"/>
              <a:t>时也会有的投资量。</a:t>
            </a:r>
          </a:p>
          <a:p>
            <a:pPr>
              <a:lnSpc>
                <a:spcPct val="110000"/>
              </a:lnSpc>
            </a:pPr>
            <a:r>
              <a:rPr lang="en-US" altLang="zh-CN" dirty="0"/>
              <a:t>d</a:t>
            </a:r>
            <a:r>
              <a:rPr lang="zh-CN" altLang="en-US" dirty="0"/>
              <a:t>：投资系数，是投资需求对于利率变动的反应程度。表示利率每增减一个</a:t>
            </a:r>
            <a:r>
              <a:rPr lang="zh-CN" altLang="en-US" dirty="0">
                <a:solidFill>
                  <a:srgbClr val="FFFF00"/>
                </a:solidFill>
              </a:rPr>
              <a:t>百分点</a:t>
            </a:r>
            <a:r>
              <a:rPr lang="zh-CN" altLang="en-US" dirty="0"/>
              <a:t>，投资增加的量</a:t>
            </a:r>
          </a:p>
        </p:txBody>
      </p:sp>
      <p:pic>
        <p:nvPicPr>
          <p:cNvPr id="10" name="图片 9">
            <a:extLst>
              <a:ext uri="{FF2B5EF4-FFF2-40B4-BE49-F238E27FC236}">
                <a16:creationId xmlns:a16="http://schemas.microsoft.com/office/drawing/2014/main" id="{AA8EC7D4-6955-46D3-8AD3-A1664E03D789}"/>
              </a:ext>
            </a:extLst>
          </p:cNvPr>
          <p:cNvPicPr>
            <a:picLocks noChangeAspect="1"/>
          </p:cNvPicPr>
          <p:nvPr/>
        </p:nvPicPr>
        <p:blipFill>
          <a:blip r:embed="rId4"/>
          <a:stretch>
            <a:fillRect/>
          </a:stretch>
        </p:blipFill>
        <p:spPr>
          <a:xfrm>
            <a:off x="4458995" y="3259848"/>
            <a:ext cx="3779848" cy="2941575"/>
          </a:xfrm>
          <a:prstGeom prst="rect">
            <a:avLst/>
          </a:prstGeom>
        </p:spPr>
      </p:pic>
    </p:spTree>
    <p:extLst>
      <p:ext uri="{BB962C8B-B14F-4D97-AF65-F5344CB8AC3E}">
        <p14:creationId xmlns:p14="http://schemas.microsoft.com/office/powerpoint/2010/main" val="80019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3CAA145-9298-4831-A85A-2240327CBA53}"/>
              </a:ext>
            </a:extLst>
          </p:cNvPr>
          <p:cNvSpPr>
            <a:spLocks noGrp="1" noChangeArrowheads="1"/>
          </p:cNvSpPr>
          <p:nvPr>
            <p:ph type="title"/>
          </p:nvPr>
        </p:nvSpPr>
        <p:spPr>
          <a:xfrm>
            <a:off x="332108" y="633683"/>
            <a:ext cx="8496300"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资本边际效率 </a:t>
            </a:r>
            <a:r>
              <a:rPr lang="en-US" altLang="zh-CN" sz="2800" dirty="0"/>
              <a:t>MEC </a:t>
            </a:r>
            <a:r>
              <a:rPr lang="en-US" altLang="zh-CN" sz="2800" dirty="0">
                <a:solidFill>
                  <a:schemeClr val="tx1"/>
                </a:solidFill>
              </a:rPr>
              <a:t>Marginal Efficiency of Capital</a:t>
            </a:r>
            <a:r>
              <a:rPr lang="en-US" altLang="zh-CN" sz="2800" dirty="0"/>
              <a:t> </a:t>
            </a:r>
          </a:p>
        </p:txBody>
      </p:sp>
      <p:sp>
        <p:nvSpPr>
          <p:cNvPr id="5" name="Rectangle 3">
            <a:extLst>
              <a:ext uri="{FF2B5EF4-FFF2-40B4-BE49-F238E27FC236}">
                <a16:creationId xmlns:a16="http://schemas.microsoft.com/office/drawing/2014/main" id="{490788E5-41CA-44A8-96A7-C8551C8CF66D}"/>
              </a:ext>
            </a:extLst>
          </p:cNvPr>
          <p:cNvSpPr txBox="1">
            <a:spLocks noChangeArrowheads="1"/>
          </p:cNvSpPr>
          <p:nvPr/>
        </p:nvSpPr>
        <p:spPr>
          <a:xfrm>
            <a:off x="395288" y="1294252"/>
            <a:ext cx="8424862" cy="1008063"/>
          </a:xfrm>
          <a:prstGeom prst="rect">
            <a:avLst/>
          </a:prstGeom>
          <a:noFill/>
          <a:ln w="3175" cmpd="sng">
            <a:solidFill>
              <a:schemeClr val="tx1"/>
            </a:solidFill>
            <a:headEnd/>
            <a:tailEnd/>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a:latin typeface="黑体" panose="02010609060101010101" pitchFamily="49" charset="-122"/>
                <a:ea typeface="黑体" panose="02010609060101010101" pitchFamily="49" charset="-122"/>
              </a:rPr>
              <a:t>资本边际效率：正好使资本品使用期内各项预期收益的现值之和等于资本品供给价格或重置成本的贴现率。</a:t>
            </a:r>
          </a:p>
        </p:txBody>
      </p:sp>
      <p:graphicFrame>
        <p:nvGraphicFramePr>
          <p:cNvPr id="6" name="Object 4">
            <a:extLst>
              <a:ext uri="{FF2B5EF4-FFF2-40B4-BE49-F238E27FC236}">
                <a16:creationId xmlns:a16="http://schemas.microsoft.com/office/drawing/2014/main" id="{160B123C-D149-45FD-A7EE-E769113DFC01}"/>
              </a:ext>
            </a:extLst>
          </p:cNvPr>
          <p:cNvGraphicFramePr>
            <a:graphicFrameLocks noChangeAspect="1"/>
          </p:cNvGraphicFramePr>
          <p:nvPr>
            <p:extLst>
              <p:ext uri="{D42A27DB-BD31-4B8C-83A1-F6EECF244321}">
                <p14:modId xmlns:p14="http://schemas.microsoft.com/office/powerpoint/2010/main" val="2922287486"/>
              </p:ext>
            </p:extLst>
          </p:nvPr>
        </p:nvGraphicFramePr>
        <p:xfrm>
          <a:off x="7092950" y="2446777"/>
          <a:ext cx="1727200" cy="890588"/>
        </p:xfrm>
        <a:graphic>
          <a:graphicData uri="http://schemas.openxmlformats.org/presentationml/2006/ole">
            <mc:AlternateContent xmlns:mc="http://schemas.openxmlformats.org/markup-compatibility/2006">
              <mc:Choice xmlns:v="urn:schemas-microsoft-com:vml" Requires="v">
                <p:oleObj spid="_x0000_s1034" name="Equation" r:id="rId3" imgW="812520" imgH="419040" progId="Equation.3">
                  <p:embed/>
                </p:oleObj>
              </mc:Choice>
              <mc:Fallback>
                <p:oleObj name="Equation" r:id="rId3" imgW="812520" imgH="419040" progId="Equation.3">
                  <p:embed/>
                  <p:pic>
                    <p:nvPicPr>
                      <p:cNvPr id="96260" name="Object 4">
                        <a:extLst>
                          <a:ext uri="{FF2B5EF4-FFF2-40B4-BE49-F238E27FC236}">
                            <a16:creationId xmlns:a16="http://schemas.microsoft.com/office/drawing/2014/main" id="{1A0AF4A4-7CDC-41C2-8827-DC6AFEB2FF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2950" y="2446777"/>
                        <a:ext cx="1727200" cy="89058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5">
            <a:extLst>
              <a:ext uri="{FF2B5EF4-FFF2-40B4-BE49-F238E27FC236}">
                <a16:creationId xmlns:a16="http://schemas.microsoft.com/office/drawing/2014/main" id="{421FC7ED-95B7-461B-B533-7A2C3E80CAFC}"/>
              </a:ext>
            </a:extLst>
          </p:cNvPr>
          <p:cNvSpPr>
            <a:spLocks noChangeArrowheads="1"/>
          </p:cNvSpPr>
          <p:nvPr/>
        </p:nvSpPr>
        <p:spPr bwMode="auto">
          <a:xfrm>
            <a:off x="395288" y="2446777"/>
            <a:ext cx="5976937" cy="898525"/>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a:t>现值计算公式：</a:t>
            </a:r>
          </a:p>
          <a:p>
            <a:pPr>
              <a:buClr>
                <a:srgbClr val="336600"/>
              </a:buClr>
              <a:buSzPct val="95000"/>
              <a:buFont typeface="Wingdings" panose="05000000000000000000" pitchFamily="2" charset="2"/>
              <a:buChar char="l"/>
            </a:pPr>
            <a:r>
              <a:rPr lang="en-US" altLang="zh-CN"/>
              <a:t>R</a:t>
            </a:r>
            <a:r>
              <a:rPr lang="en-US" altLang="zh-CN" baseline="-25000"/>
              <a:t>0</a:t>
            </a:r>
            <a:r>
              <a:rPr lang="zh-CN" altLang="en-US"/>
              <a:t>为第</a:t>
            </a:r>
            <a:r>
              <a:rPr lang="en-US" altLang="zh-CN"/>
              <a:t>n</a:t>
            </a:r>
            <a:r>
              <a:rPr lang="zh-CN" altLang="en-US"/>
              <a:t>期收益</a:t>
            </a:r>
            <a:r>
              <a:rPr lang="en-US" altLang="zh-CN"/>
              <a:t>R</a:t>
            </a:r>
            <a:r>
              <a:rPr lang="en-US" altLang="zh-CN" baseline="-25000"/>
              <a:t>n</a:t>
            </a:r>
            <a:r>
              <a:rPr lang="zh-CN" altLang="en-US"/>
              <a:t>的现值，</a:t>
            </a:r>
            <a:r>
              <a:rPr lang="en-US" altLang="zh-CN"/>
              <a:t>r</a:t>
            </a:r>
            <a:r>
              <a:rPr lang="zh-CN" altLang="en-US"/>
              <a:t>为贴现率。</a:t>
            </a:r>
          </a:p>
        </p:txBody>
      </p:sp>
      <p:graphicFrame>
        <p:nvGraphicFramePr>
          <p:cNvPr id="8" name="Object 6">
            <a:extLst>
              <a:ext uri="{FF2B5EF4-FFF2-40B4-BE49-F238E27FC236}">
                <a16:creationId xmlns:a16="http://schemas.microsoft.com/office/drawing/2014/main" id="{5CB56057-05CD-4E67-96F5-4D31B991BB6A}"/>
              </a:ext>
            </a:extLst>
          </p:cNvPr>
          <p:cNvGraphicFramePr>
            <a:graphicFrameLocks noChangeAspect="1"/>
          </p:cNvGraphicFramePr>
          <p:nvPr>
            <p:extLst>
              <p:ext uri="{D42A27DB-BD31-4B8C-83A1-F6EECF244321}">
                <p14:modId xmlns:p14="http://schemas.microsoft.com/office/powerpoint/2010/main" val="4251301225"/>
              </p:ext>
            </p:extLst>
          </p:nvPr>
        </p:nvGraphicFramePr>
        <p:xfrm>
          <a:off x="2024063" y="4910577"/>
          <a:ext cx="6842125" cy="1090613"/>
        </p:xfrm>
        <a:graphic>
          <a:graphicData uri="http://schemas.openxmlformats.org/presentationml/2006/ole">
            <mc:AlternateContent xmlns:mc="http://schemas.openxmlformats.org/markup-compatibility/2006">
              <mc:Choice xmlns:v="urn:schemas-microsoft-com:vml" Requires="v">
                <p:oleObj spid="_x0000_s1035" name="公式" r:id="rId5" imgW="3187440" imgH="419040" progId="Equation.3">
                  <p:embed/>
                </p:oleObj>
              </mc:Choice>
              <mc:Fallback>
                <p:oleObj name="公式" r:id="rId5" imgW="3187440" imgH="419040" progId="Equation.3">
                  <p:embed/>
                  <p:pic>
                    <p:nvPicPr>
                      <p:cNvPr id="96262" name="Object 6">
                        <a:extLst>
                          <a:ext uri="{FF2B5EF4-FFF2-40B4-BE49-F238E27FC236}">
                            <a16:creationId xmlns:a16="http://schemas.microsoft.com/office/drawing/2014/main" id="{91DEA4A1-2387-46E0-B1B3-3EC2B44A3C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4063" y="4910577"/>
                        <a:ext cx="6842125" cy="1090613"/>
                      </a:xfrm>
                      <a:prstGeom prst="rect">
                        <a:avLst/>
                      </a:prstGeom>
                      <a:solidFill>
                        <a:schemeClr val="folHlink"/>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7">
            <a:extLst>
              <a:ext uri="{FF2B5EF4-FFF2-40B4-BE49-F238E27FC236}">
                <a16:creationId xmlns:a16="http://schemas.microsoft.com/office/drawing/2014/main" id="{2B16AB78-1124-450E-9D7C-8EEE55C18B65}"/>
              </a:ext>
            </a:extLst>
          </p:cNvPr>
          <p:cNvSpPr>
            <a:spLocks noChangeArrowheads="1"/>
          </p:cNvSpPr>
          <p:nvPr/>
        </p:nvSpPr>
        <p:spPr bwMode="auto">
          <a:xfrm>
            <a:off x="539750" y="3597715"/>
            <a:ext cx="2160588" cy="9366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7"/>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8"/>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zh-CN" altLang="en-US">
                <a:latin typeface="黑体" panose="02010609060101010101" pitchFamily="49" charset="-122"/>
                <a:ea typeface="黑体" panose="02010609060101010101" pitchFamily="49" charset="-122"/>
              </a:rPr>
              <a:t>资本边际效率</a:t>
            </a:r>
            <a:r>
              <a:rPr lang="en-US" altLang="zh-CN">
                <a:latin typeface="黑体" panose="02010609060101010101" pitchFamily="49" charset="-122"/>
                <a:ea typeface="黑体" panose="02010609060101010101" pitchFamily="49" charset="-122"/>
              </a:rPr>
              <a:t>r</a:t>
            </a:r>
            <a:r>
              <a:rPr lang="zh-CN" altLang="en-US">
                <a:latin typeface="黑体" panose="02010609060101010101" pitchFamily="49" charset="-122"/>
                <a:ea typeface="黑体" panose="02010609060101010101" pitchFamily="49" charset="-122"/>
              </a:rPr>
              <a:t>的计算</a:t>
            </a:r>
          </a:p>
        </p:txBody>
      </p:sp>
      <p:sp>
        <p:nvSpPr>
          <p:cNvPr id="10" name="Rectangle 8">
            <a:extLst>
              <a:ext uri="{FF2B5EF4-FFF2-40B4-BE49-F238E27FC236}">
                <a16:creationId xmlns:a16="http://schemas.microsoft.com/office/drawing/2014/main" id="{2A42E025-5E77-4E66-8C2E-242A28107BC1}"/>
              </a:ext>
            </a:extLst>
          </p:cNvPr>
          <p:cNvSpPr>
            <a:spLocks noChangeArrowheads="1"/>
          </p:cNvSpPr>
          <p:nvPr/>
        </p:nvSpPr>
        <p:spPr bwMode="auto">
          <a:xfrm>
            <a:off x="3034506" y="3504324"/>
            <a:ext cx="5903912" cy="1296987"/>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7"/>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8"/>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dirty="0">
                <a:solidFill>
                  <a:srgbClr val="FFFF00"/>
                </a:solidFill>
                <a:latin typeface="黑体" panose="02010609060101010101" pitchFamily="49" charset="-122"/>
                <a:ea typeface="黑体" panose="02010609060101010101" pitchFamily="49" charset="-122"/>
              </a:rPr>
              <a:t>R</a:t>
            </a:r>
            <a:r>
              <a:rPr lang="zh-CN" altLang="en-US" dirty="0">
                <a:solidFill>
                  <a:srgbClr val="FFFF00"/>
                </a:solidFill>
                <a:latin typeface="黑体" panose="02010609060101010101" pitchFamily="49" charset="-122"/>
                <a:ea typeface="黑体" panose="02010609060101010101" pitchFamily="49" charset="-122"/>
              </a:rPr>
              <a:t>为资本供给价格</a:t>
            </a:r>
          </a:p>
          <a:p>
            <a:pPr>
              <a:lnSpc>
                <a:spcPct val="90000"/>
              </a:lnSpc>
            </a:pPr>
            <a:r>
              <a:rPr lang="en-US" altLang="zh-CN" dirty="0">
                <a:solidFill>
                  <a:srgbClr val="FFFF00"/>
                </a:solidFill>
                <a:latin typeface="黑体" panose="02010609060101010101" pitchFamily="49" charset="-122"/>
                <a:ea typeface="黑体" panose="02010609060101010101" pitchFamily="49" charset="-122"/>
              </a:rPr>
              <a:t>R</a:t>
            </a:r>
            <a:r>
              <a:rPr lang="en-US" altLang="zh-CN" baseline="-25000" dirty="0">
                <a:solidFill>
                  <a:srgbClr val="FFFF00"/>
                </a:solidFill>
              </a:rPr>
              <a:t>1</a:t>
            </a:r>
            <a:r>
              <a:rPr lang="zh-CN" altLang="en-US" dirty="0">
                <a:solidFill>
                  <a:srgbClr val="FFFF00"/>
                </a:solidFill>
                <a:latin typeface="黑体" panose="02010609060101010101" pitchFamily="49" charset="-122"/>
                <a:ea typeface="黑体" panose="02010609060101010101" pitchFamily="49" charset="-122"/>
              </a:rPr>
              <a:t>、</a:t>
            </a:r>
            <a:r>
              <a:rPr lang="en-US" altLang="zh-CN" dirty="0">
                <a:solidFill>
                  <a:srgbClr val="FFFF00"/>
                </a:solidFill>
                <a:latin typeface="黑体" panose="02010609060101010101" pitchFamily="49" charset="-122"/>
                <a:ea typeface="黑体" panose="02010609060101010101" pitchFamily="49" charset="-122"/>
              </a:rPr>
              <a:t>R</a:t>
            </a:r>
            <a:r>
              <a:rPr lang="en-US" altLang="zh-CN" baseline="-25000" dirty="0">
                <a:solidFill>
                  <a:srgbClr val="FFFF00"/>
                </a:solidFill>
              </a:rPr>
              <a:t>2</a:t>
            </a:r>
            <a:r>
              <a:rPr lang="zh-CN" altLang="en-US" dirty="0">
                <a:solidFill>
                  <a:srgbClr val="FFFF00"/>
                </a:solidFill>
                <a:latin typeface="黑体" panose="02010609060101010101" pitchFamily="49" charset="-122"/>
                <a:ea typeface="黑体" panose="02010609060101010101" pitchFamily="49" charset="-122"/>
              </a:rPr>
              <a:t>、</a:t>
            </a:r>
            <a:r>
              <a:rPr lang="en-US" altLang="zh-CN" dirty="0">
                <a:solidFill>
                  <a:srgbClr val="FFFF00"/>
                </a:solidFill>
                <a:ea typeface="黑体" panose="02010609060101010101" pitchFamily="49" charset="-122"/>
              </a:rPr>
              <a:t>…</a:t>
            </a:r>
            <a:r>
              <a:rPr lang="en-US" altLang="zh-CN" dirty="0">
                <a:solidFill>
                  <a:srgbClr val="FFFF00"/>
                </a:solidFill>
                <a:latin typeface="黑体" panose="02010609060101010101" pitchFamily="49" charset="-122"/>
                <a:ea typeface="黑体" panose="02010609060101010101" pitchFamily="49" charset="-122"/>
              </a:rPr>
              <a:t>R</a:t>
            </a:r>
            <a:r>
              <a:rPr lang="en-US" altLang="zh-CN" baseline="-25000" dirty="0">
                <a:solidFill>
                  <a:srgbClr val="FFFF00"/>
                </a:solidFill>
              </a:rPr>
              <a:t>n</a:t>
            </a:r>
            <a:r>
              <a:rPr lang="zh-CN" altLang="en-US" dirty="0">
                <a:solidFill>
                  <a:srgbClr val="FFFF00"/>
                </a:solidFill>
                <a:latin typeface="黑体" panose="02010609060101010101" pitchFamily="49" charset="-122"/>
                <a:ea typeface="黑体" panose="02010609060101010101" pitchFamily="49" charset="-122"/>
              </a:rPr>
              <a:t>等为不同年份的预期收益</a:t>
            </a:r>
          </a:p>
          <a:p>
            <a:pPr>
              <a:lnSpc>
                <a:spcPct val="90000"/>
              </a:lnSpc>
            </a:pPr>
            <a:r>
              <a:rPr lang="en-US" altLang="zh-CN" dirty="0">
                <a:solidFill>
                  <a:srgbClr val="FFFF00"/>
                </a:solidFill>
                <a:latin typeface="黑体" panose="02010609060101010101" pitchFamily="49" charset="-122"/>
                <a:ea typeface="黑体" panose="02010609060101010101" pitchFamily="49" charset="-122"/>
              </a:rPr>
              <a:t>J</a:t>
            </a:r>
            <a:r>
              <a:rPr lang="zh-CN" altLang="en-US" dirty="0">
                <a:solidFill>
                  <a:srgbClr val="FFFF00"/>
                </a:solidFill>
                <a:latin typeface="黑体" panose="02010609060101010101" pitchFamily="49" charset="-122"/>
                <a:ea typeface="黑体" panose="02010609060101010101" pitchFamily="49" charset="-122"/>
              </a:rPr>
              <a:t>为残值</a:t>
            </a:r>
          </a:p>
        </p:txBody>
      </p:sp>
      <p:sp>
        <p:nvSpPr>
          <p:cNvPr id="11" name="Rectangle 9">
            <a:extLst>
              <a:ext uri="{FF2B5EF4-FFF2-40B4-BE49-F238E27FC236}">
                <a16:creationId xmlns:a16="http://schemas.microsoft.com/office/drawing/2014/main" id="{10F996BD-6ECB-4FC9-963E-60AFBB7938B2}"/>
              </a:ext>
            </a:extLst>
          </p:cNvPr>
          <p:cNvSpPr>
            <a:spLocks noChangeArrowheads="1"/>
          </p:cNvSpPr>
          <p:nvPr/>
        </p:nvSpPr>
        <p:spPr bwMode="auto">
          <a:xfrm>
            <a:off x="395288" y="6118665"/>
            <a:ext cx="5278437" cy="496887"/>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20000"/>
              </a:spcBef>
              <a:buClr>
                <a:schemeClr val="hlink"/>
              </a:buClr>
              <a:buSzPct val="95000"/>
              <a:buFont typeface="Wingdings" panose="05000000000000000000" pitchFamily="2" charset="2"/>
              <a:buChar char="u"/>
            </a:pPr>
            <a:r>
              <a:rPr lang="zh-CN" altLang="en-US">
                <a:solidFill>
                  <a:srgbClr val="FF0000"/>
                </a:solidFill>
              </a:rPr>
              <a:t>如果</a:t>
            </a:r>
            <a:r>
              <a:rPr lang="en-US" altLang="zh-CN">
                <a:solidFill>
                  <a:srgbClr val="FF0000"/>
                </a:solidFill>
              </a:rPr>
              <a:t>r</a:t>
            </a:r>
            <a:r>
              <a:rPr lang="zh-CN" altLang="en-US">
                <a:solidFill>
                  <a:srgbClr val="FF0000"/>
                </a:solidFill>
              </a:rPr>
              <a:t>大于市场利率，投资就可行。</a:t>
            </a:r>
          </a:p>
        </p:txBody>
      </p:sp>
    </p:spTree>
    <p:extLst>
      <p:ext uri="{BB962C8B-B14F-4D97-AF65-F5344CB8AC3E}">
        <p14:creationId xmlns:p14="http://schemas.microsoft.com/office/powerpoint/2010/main" val="173277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8F23655-39E3-4656-AECF-2F34A867A28D}"/>
              </a:ext>
            </a:extLst>
          </p:cNvPr>
          <p:cNvSpPr>
            <a:spLocks noGrp="1" noChangeArrowheads="1"/>
          </p:cNvSpPr>
          <p:nvPr>
            <p:ph type="title"/>
          </p:nvPr>
        </p:nvSpPr>
        <p:spPr>
          <a:xfrm>
            <a:off x="323850" y="625209"/>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400" dirty="0"/>
              <a:t>资本边际效率曲线</a:t>
            </a:r>
          </a:p>
        </p:txBody>
      </p:sp>
      <p:sp>
        <p:nvSpPr>
          <p:cNvPr id="5" name="Rectangle 3">
            <a:extLst>
              <a:ext uri="{FF2B5EF4-FFF2-40B4-BE49-F238E27FC236}">
                <a16:creationId xmlns:a16="http://schemas.microsoft.com/office/drawing/2014/main" id="{3AECB13B-4EFD-4B8E-B662-C272D8664D0E}"/>
              </a:ext>
            </a:extLst>
          </p:cNvPr>
          <p:cNvSpPr txBox="1">
            <a:spLocks noChangeArrowheads="1"/>
          </p:cNvSpPr>
          <p:nvPr/>
        </p:nvSpPr>
        <p:spPr>
          <a:xfrm>
            <a:off x="323850" y="1488809"/>
            <a:ext cx="8496300" cy="1079500"/>
          </a:xfrm>
          <a:prstGeom prst="rect">
            <a:avLst/>
          </a:prstGeom>
          <a:noFill/>
          <a:ln w="3175" cmpd="sng">
            <a:solidFill>
              <a:schemeClr val="tx1"/>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a:t>资本边际效率</a:t>
            </a:r>
            <a:r>
              <a:rPr lang="en-US" altLang="zh-CN">
                <a:latin typeface="黑体" panose="02010609060101010101" pitchFamily="49" charset="-122"/>
                <a:ea typeface="黑体" panose="02010609060101010101" pitchFamily="49" charset="-122"/>
              </a:rPr>
              <a:t>MEC</a:t>
            </a:r>
            <a:r>
              <a:rPr lang="zh-CN" altLang="en-US"/>
              <a:t>曲线</a:t>
            </a:r>
            <a:r>
              <a:rPr lang="zh-CN" altLang="en-US">
                <a:latin typeface="黑体" panose="02010609060101010101" pitchFamily="49" charset="-122"/>
                <a:ea typeface="黑体" panose="02010609060101010101" pitchFamily="49" charset="-122"/>
              </a:rPr>
              <a:t>：不同数量的资本供给，其不同的边际效率所形成的曲线。</a:t>
            </a:r>
          </a:p>
        </p:txBody>
      </p:sp>
      <p:sp>
        <p:nvSpPr>
          <p:cNvPr id="6" name="Rectangle 11">
            <a:extLst>
              <a:ext uri="{FF2B5EF4-FFF2-40B4-BE49-F238E27FC236}">
                <a16:creationId xmlns:a16="http://schemas.microsoft.com/office/drawing/2014/main" id="{51DAE78B-2ABC-45D4-BA4F-085B51B82C70}"/>
              </a:ext>
            </a:extLst>
          </p:cNvPr>
          <p:cNvSpPr>
            <a:spLocks noChangeArrowheads="1"/>
          </p:cNvSpPr>
          <p:nvPr/>
        </p:nvSpPr>
        <p:spPr bwMode="auto">
          <a:xfrm>
            <a:off x="323850" y="3000109"/>
            <a:ext cx="3959225" cy="1152525"/>
          </a:xfrm>
          <a:prstGeom prst="rect">
            <a:avLst/>
          </a:prstGeom>
          <a:noFill/>
          <a:ln w="3175" cap="sq" cmpd="dbl">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en-US" altLang="zh-CN">
                <a:latin typeface="黑体" panose="02010609060101010101" pitchFamily="49" charset="-122"/>
                <a:ea typeface="黑体" panose="02010609060101010101" pitchFamily="49" charset="-122"/>
              </a:rPr>
              <a:t>i</a:t>
            </a:r>
            <a:r>
              <a:rPr lang="zh-CN" altLang="en-US">
                <a:latin typeface="黑体" panose="02010609060101010101" pitchFamily="49" charset="-122"/>
                <a:ea typeface="黑体" panose="02010609060101010101" pitchFamily="49" charset="-122"/>
              </a:rPr>
              <a:t>＝投资量</a:t>
            </a:r>
          </a:p>
          <a:p>
            <a:pPr>
              <a:buClr>
                <a:srgbClr val="336600"/>
              </a:buClr>
              <a:buSzPct val="95000"/>
              <a:buFont typeface="Wingdings" panose="05000000000000000000" pitchFamily="2" charset="2"/>
              <a:buChar char="p"/>
            </a:pPr>
            <a:r>
              <a:rPr lang="en-US" altLang="zh-CN">
                <a:latin typeface="黑体" panose="02010609060101010101" pitchFamily="49" charset="-122"/>
                <a:ea typeface="黑体" panose="02010609060101010101" pitchFamily="49" charset="-122"/>
              </a:rPr>
              <a:t>r</a:t>
            </a:r>
            <a:r>
              <a:rPr lang="zh-CN" altLang="en-US">
                <a:latin typeface="黑体" panose="02010609060101010101" pitchFamily="49" charset="-122"/>
                <a:ea typeface="黑体" panose="02010609060101010101" pitchFamily="49" charset="-122"/>
              </a:rPr>
              <a:t>＝利率</a:t>
            </a:r>
          </a:p>
        </p:txBody>
      </p:sp>
      <p:sp>
        <p:nvSpPr>
          <p:cNvPr id="7" name="Rectangle 49">
            <a:extLst>
              <a:ext uri="{FF2B5EF4-FFF2-40B4-BE49-F238E27FC236}">
                <a16:creationId xmlns:a16="http://schemas.microsoft.com/office/drawing/2014/main" id="{FFA097C0-CB2F-4358-86C7-DCE13F6A0873}"/>
              </a:ext>
            </a:extLst>
          </p:cNvPr>
          <p:cNvSpPr>
            <a:spLocks noChangeArrowheads="1"/>
          </p:cNvSpPr>
          <p:nvPr/>
        </p:nvSpPr>
        <p:spPr bwMode="auto">
          <a:xfrm>
            <a:off x="323850" y="4441559"/>
            <a:ext cx="3959225" cy="1441450"/>
          </a:xfrm>
          <a:prstGeom prst="rect">
            <a:avLst/>
          </a:prstGeom>
          <a:noFill/>
          <a:ln w="3175" cap="sq" cmpd="dbl">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zh-CN" altLang="en-US">
                <a:latin typeface="黑体" panose="02010609060101010101" pitchFamily="49" charset="-122"/>
                <a:ea typeface="黑体" panose="02010609060101010101" pitchFamily="49" charset="-122"/>
              </a:rPr>
              <a:t>投资越多，资本的边际效率越低。</a:t>
            </a:r>
          </a:p>
          <a:p>
            <a:pPr>
              <a:buClr>
                <a:srgbClr val="336600"/>
              </a:buClr>
              <a:buSzPct val="95000"/>
              <a:buFont typeface="Wingdings" panose="05000000000000000000" pitchFamily="2" charset="2"/>
              <a:buChar char="p"/>
            </a:pPr>
            <a:r>
              <a:rPr lang="zh-CN" altLang="en-US">
                <a:latin typeface="黑体" panose="02010609060101010101" pitchFamily="49" charset="-122"/>
                <a:ea typeface="黑体" panose="02010609060101010101" pitchFamily="49" charset="-122"/>
              </a:rPr>
              <a:t>即利率越低，投资越多。</a:t>
            </a:r>
          </a:p>
        </p:txBody>
      </p:sp>
      <p:pic>
        <p:nvPicPr>
          <p:cNvPr id="8" name="图片 7">
            <a:extLst>
              <a:ext uri="{FF2B5EF4-FFF2-40B4-BE49-F238E27FC236}">
                <a16:creationId xmlns:a16="http://schemas.microsoft.com/office/drawing/2014/main" id="{6A24FDA2-73E4-4FDB-8C11-AC413F450015}"/>
              </a:ext>
            </a:extLst>
          </p:cNvPr>
          <p:cNvPicPr>
            <a:picLocks noChangeAspect="1"/>
          </p:cNvPicPr>
          <p:nvPr/>
        </p:nvPicPr>
        <p:blipFill>
          <a:blip r:embed="rId4"/>
          <a:stretch>
            <a:fillRect/>
          </a:stretch>
        </p:blipFill>
        <p:spPr>
          <a:xfrm>
            <a:off x="4472159" y="2719836"/>
            <a:ext cx="3368332" cy="3139712"/>
          </a:xfrm>
          <a:prstGeom prst="rect">
            <a:avLst/>
          </a:prstGeom>
        </p:spPr>
      </p:pic>
    </p:spTree>
    <p:extLst>
      <p:ext uri="{BB962C8B-B14F-4D97-AF65-F5344CB8AC3E}">
        <p14:creationId xmlns:p14="http://schemas.microsoft.com/office/powerpoint/2010/main" val="1086130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7E53D31-74C5-4FDA-8D76-1C8E829DD4F6}"/>
              </a:ext>
            </a:extLst>
          </p:cNvPr>
          <p:cNvSpPr>
            <a:spLocks noGrp="1" noChangeArrowheads="1"/>
          </p:cNvSpPr>
          <p:nvPr>
            <p:ph type="title"/>
          </p:nvPr>
        </p:nvSpPr>
        <p:spPr>
          <a:xfrm>
            <a:off x="395288" y="550863"/>
            <a:ext cx="5832475" cy="647700"/>
          </a:xfrm>
        </p:spPr>
        <p:txBody>
          <a:bodyPr>
            <a:normAutofit/>
          </a:bodyPr>
          <a:lstStyle/>
          <a:p>
            <a:r>
              <a:rPr lang="zh-CN" altLang="en-US" sz="2800" dirty="0"/>
              <a:t>托宾的“</a:t>
            </a:r>
            <a:r>
              <a:rPr lang="en-US" altLang="zh-CN" sz="2800" dirty="0"/>
              <a:t>q”</a:t>
            </a:r>
            <a:r>
              <a:rPr lang="zh-CN" altLang="en-US" sz="2800" dirty="0"/>
              <a:t>说</a:t>
            </a:r>
          </a:p>
        </p:txBody>
      </p:sp>
      <p:sp>
        <p:nvSpPr>
          <p:cNvPr id="5" name="Rectangle 3">
            <a:extLst>
              <a:ext uri="{FF2B5EF4-FFF2-40B4-BE49-F238E27FC236}">
                <a16:creationId xmlns:a16="http://schemas.microsoft.com/office/drawing/2014/main" id="{B267B3C2-55F6-40B9-A07D-89BF975E6442}"/>
              </a:ext>
            </a:extLst>
          </p:cNvPr>
          <p:cNvSpPr txBox="1">
            <a:spLocks noChangeArrowheads="1"/>
          </p:cNvSpPr>
          <p:nvPr/>
        </p:nvSpPr>
        <p:spPr>
          <a:xfrm>
            <a:off x="395288" y="1341438"/>
            <a:ext cx="6264275" cy="936625"/>
          </a:xfrm>
          <a:prstGeom prst="rect">
            <a:avLst/>
          </a:prstGeom>
          <a:noFill/>
          <a:ln w="3175" cmpd="tri">
            <a:solidFill>
              <a:schemeClr val="tx1"/>
            </a:solidFill>
            <a:headEnd/>
            <a:tailEnd/>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SzPct val="95000"/>
              <a:buFont typeface="Wingdings" panose="05000000000000000000" pitchFamily="2" charset="2"/>
              <a:buChar char="p"/>
            </a:pPr>
            <a:r>
              <a:rPr lang="zh-CN" altLang="en-US" dirty="0"/>
              <a:t>美国经济学家詹姆</a:t>
            </a:r>
            <a:r>
              <a:rPr lang="en-US" altLang="zh-CN" dirty="0"/>
              <a:t>·</a:t>
            </a:r>
            <a:r>
              <a:rPr lang="zh-CN" altLang="en-US" dirty="0"/>
              <a:t>托宾（ </a:t>
            </a:r>
            <a:r>
              <a:rPr lang="en-US" altLang="zh-CN" dirty="0" err="1"/>
              <a:t>Jamas</a:t>
            </a:r>
            <a:r>
              <a:rPr lang="en-US" altLang="zh-CN" dirty="0"/>
              <a:t> Tobin 1918-2002</a:t>
            </a:r>
            <a:r>
              <a:rPr lang="zh-CN" altLang="en-US" dirty="0"/>
              <a:t>）</a:t>
            </a:r>
            <a:r>
              <a:rPr lang="en-US" altLang="zh-CN" dirty="0"/>
              <a:t>,</a:t>
            </a:r>
            <a:r>
              <a:rPr lang="zh-CN" altLang="en-US" dirty="0"/>
              <a:t>凯恩斯主义经济学家</a:t>
            </a:r>
          </a:p>
        </p:txBody>
      </p:sp>
      <p:sp>
        <p:nvSpPr>
          <p:cNvPr id="6" name="Rectangle 4">
            <a:extLst>
              <a:ext uri="{FF2B5EF4-FFF2-40B4-BE49-F238E27FC236}">
                <a16:creationId xmlns:a16="http://schemas.microsoft.com/office/drawing/2014/main" id="{F28C82CC-C561-4B69-9C9C-37A2420347A5}"/>
              </a:ext>
            </a:extLst>
          </p:cNvPr>
          <p:cNvSpPr>
            <a:spLocks noChangeArrowheads="1"/>
          </p:cNvSpPr>
          <p:nvPr/>
        </p:nvSpPr>
        <p:spPr bwMode="auto">
          <a:xfrm>
            <a:off x="395288" y="3357563"/>
            <a:ext cx="8424862" cy="144145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t>如果ｑ</a:t>
            </a:r>
            <a:r>
              <a:rPr lang="en-US" altLang="zh-CN"/>
              <a:t>&gt;1</a:t>
            </a:r>
            <a:r>
              <a:rPr lang="zh-CN" altLang="en-US"/>
              <a:t>，则企业的市场价值高于其资本的重置成本，因而相对于企业的市场价值而言，新建厂房和设备比较便宜。就会有新投资。</a:t>
            </a:r>
          </a:p>
        </p:txBody>
      </p:sp>
      <p:sp>
        <p:nvSpPr>
          <p:cNvPr id="7" name="Rectangle 5">
            <a:extLst>
              <a:ext uri="{FF2B5EF4-FFF2-40B4-BE49-F238E27FC236}">
                <a16:creationId xmlns:a16="http://schemas.microsoft.com/office/drawing/2014/main" id="{7026D16E-6CBC-4F5E-AC3D-F78D8C177DFB}"/>
              </a:ext>
            </a:extLst>
          </p:cNvPr>
          <p:cNvSpPr>
            <a:spLocks noChangeArrowheads="1"/>
          </p:cNvSpPr>
          <p:nvPr/>
        </p:nvSpPr>
        <p:spPr bwMode="auto">
          <a:xfrm>
            <a:off x="395288" y="4941888"/>
            <a:ext cx="8424862" cy="1223962"/>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a:t>如果ｑ</a:t>
            </a:r>
            <a:r>
              <a:rPr lang="en-US" altLang="zh-CN"/>
              <a:t>&lt;1</a:t>
            </a:r>
            <a:r>
              <a:rPr lang="zh-CN" altLang="en-US"/>
              <a:t>，可以便宜地购买另一家企业，而不要新建投资。所以，投资支出将较低。</a:t>
            </a:r>
          </a:p>
        </p:txBody>
      </p:sp>
      <p:sp>
        <p:nvSpPr>
          <p:cNvPr id="8" name="Rectangle 6">
            <a:extLst>
              <a:ext uri="{FF2B5EF4-FFF2-40B4-BE49-F238E27FC236}">
                <a16:creationId xmlns:a16="http://schemas.microsoft.com/office/drawing/2014/main" id="{7ED4B675-E9DB-460D-96E5-C2ED43E98430}"/>
              </a:ext>
            </a:extLst>
          </p:cNvPr>
          <p:cNvSpPr>
            <a:spLocks noChangeArrowheads="1"/>
          </p:cNvSpPr>
          <p:nvPr/>
        </p:nvSpPr>
        <p:spPr bwMode="auto">
          <a:xfrm>
            <a:off x="395288" y="2492375"/>
            <a:ext cx="6264275" cy="647700"/>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a:t>ｑ＝企业的市场价值</a:t>
            </a:r>
            <a:r>
              <a:rPr lang="en-US" altLang="zh-CN"/>
              <a:t>/</a:t>
            </a:r>
            <a:r>
              <a:rPr lang="zh-CN" altLang="en-US"/>
              <a:t>其资本的重置成本。</a:t>
            </a:r>
          </a:p>
        </p:txBody>
      </p:sp>
    </p:spTree>
    <p:extLst>
      <p:ext uri="{BB962C8B-B14F-4D97-AF65-F5344CB8AC3E}">
        <p14:creationId xmlns:p14="http://schemas.microsoft.com/office/powerpoint/2010/main" val="1053719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480B55B-00A7-43ED-9B5A-BF94B5AC0C8A}"/>
              </a:ext>
            </a:extLst>
          </p:cNvPr>
          <p:cNvSpPr>
            <a:spLocks noGrp="1" noChangeArrowheads="1"/>
          </p:cNvSpPr>
          <p:nvPr>
            <p:ph type="title"/>
          </p:nvPr>
        </p:nvSpPr>
        <p:spPr>
          <a:xfrm>
            <a:off x="323850" y="539110"/>
            <a:ext cx="5832475" cy="647700"/>
          </a:xfrm>
          <a:noFill/>
          <a:ln w="3175" cap="flat" cmpd="sng" algn="ctr">
            <a:noFill/>
            <a:prstDash val="solid"/>
            <a:miter lim="800000"/>
            <a:headEnd/>
            <a:tailEnd/>
          </a:ln>
        </p:spPr>
        <p:txBody>
          <a:bodyPr>
            <a:normAutofit/>
          </a:bodyPr>
          <a:lstStyle/>
          <a:p>
            <a:r>
              <a:rPr lang="en-US" altLang="zh-CN" sz="2800" dirty="0"/>
              <a:t>IS</a:t>
            </a:r>
            <a:r>
              <a:rPr lang="zh-CN" altLang="en-US" sz="2800" dirty="0"/>
              <a:t>曲线</a:t>
            </a:r>
          </a:p>
        </p:txBody>
      </p:sp>
      <p:sp>
        <p:nvSpPr>
          <p:cNvPr id="5" name="Rectangle 3">
            <a:extLst>
              <a:ext uri="{FF2B5EF4-FFF2-40B4-BE49-F238E27FC236}">
                <a16:creationId xmlns:a16="http://schemas.microsoft.com/office/drawing/2014/main" id="{7DCFC9D0-1420-4795-9EA6-31A5116B39AE}"/>
              </a:ext>
            </a:extLst>
          </p:cNvPr>
          <p:cNvSpPr txBox="1">
            <a:spLocks noChangeArrowheads="1"/>
          </p:cNvSpPr>
          <p:nvPr/>
        </p:nvSpPr>
        <p:spPr>
          <a:xfrm>
            <a:off x="395288" y="1547172"/>
            <a:ext cx="4032250" cy="719138"/>
          </a:xfrm>
          <a:prstGeom prst="rect">
            <a:avLst/>
          </a:prstGeom>
          <a:ln>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a:latin typeface="黑体" panose="02010609060101010101" pitchFamily="49" charset="-122"/>
                <a:ea typeface="黑体" panose="02010609060101010101" pitchFamily="49" charset="-122"/>
              </a:rPr>
              <a:t>1.IS</a:t>
            </a:r>
            <a:r>
              <a:rPr lang="zh-CN" altLang="en-US">
                <a:latin typeface="黑体" panose="02010609060101010101" pitchFamily="49" charset="-122"/>
                <a:ea typeface="黑体" panose="02010609060101010101" pitchFamily="49" charset="-122"/>
              </a:rPr>
              <a:t>方程的推导</a:t>
            </a:r>
          </a:p>
        </p:txBody>
      </p:sp>
      <p:sp>
        <p:nvSpPr>
          <p:cNvPr id="6" name="Rectangle 5">
            <a:extLst>
              <a:ext uri="{FF2B5EF4-FFF2-40B4-BE49-F238E27FC236}">
                <a16:creationId xmlns:a16="http://schemas.microsoft.com/office/drawing/2014/main" id="{DB700830-C19F-4DA3-BA02-4EE1D6E3AF1F}"/>
              </a:ext>
            </a:extLst>
          </p:cNvPr>
          <p:cNvSpPr>
            <a:spLocks noChangeArrowheads="1"/>
          </p:cNvSpPr>
          <p:nvPr/>
        </p:nvSpPr>
        <p:spPr bwMode="auto">
          <a:xfrm>
            <a:off x="395288" y="2483797"/>
            <a:ext cx="8353425" cy="151130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Font typeface="Wingdings" panose="05000000000000000000" pitchFamily="2" charset="2"/>
              <a:buChar char="u"/>
            </a:pPr>
            <a:r>
              <a:rPr lang="zh-CN" altLang="en-US">
                <a:latin typeface="黑体" panose="02010609060101010101" pitchFamily="49" charset="-122"/>
                <a:ea typeface="黑体" panose="02010609060101010101" pitchFamily="49" charset="-122"/>
              </a:rPr>
              <a:t>二部门经济中的均衡条件是总供给＝总需求</a:t>
            </a:r>
            <a:r>
              <a:rPr lang="en-US" altLang="zh-CN">
                <a:latin typeface="黑体" panose="02010609060101010101" pitchFamily="49" charset="-122"/>
                <a:ea typeface="黑体" panose="02010609060101010101" pitchFamily="49" charset="-122"/>
              </a:rPr>
              <a:t>, i = s</a:t>
            </a:r>
          </a:p>
          <a:p>
            <a:pPr>
              <a:buClr>
                <a:schemeClr val="hlink"/>
              </a:buClr>
              <a:buFont typeface="Wingdings" panose="05000000000000000000" pitchFamily="2" charset="2"/>
              <a:buChar char="u"/>
            </a:pPr>
            <a:r>
              <a:rPr lang="en-US" altLang="zh-CN" b="0">
                <a:latin typeface="黑体" panose="02010609060101010101" pitchFamily="49" charset="-122"/>
                <a:ea typeface="黑体" panose="02010609060101010101" pitchFamily="49" charset="-122"/>
              </a:rPr>
              <a:t>s</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y</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c </a:t>
            </a:r>
            <a:r>
              <a:rPr lang="zh-CN" altLang="en-US" b="0">
                <a:latin typeface="黑体" panose="02010609060101010101" pitchFamily="49" charset="-122"/>
                <a:ea typeface="黑体" panose="02010609060101010101" pitchFamily="49" charset="-122"/>
              </a:rPr>
              <a:t>，所以</a:t>
            </a:r>
            <a:r>
              <a:rPr lang="en-US" altLang="zh-CN" b="0">
                <a:latin typeface="黑体" panose="02010609060101010101" pitchFamily="49" charset="-122"/>
                <a:ea typeface="黑体" panose="02010609060101010101" pitchFamily="49" charset="-122"/>
              </a:rPr>
              <a:t>y = c + i , </a:t>
            </a:r>
            <a:r>
              <a:rPr lang="zh-CN" altLang="en-US" b="0">
                <a:latin typeface="黑体" panose="02010609060101010101" pitchFamily="49" charset="-122"/>
                <a:ea typeface="黑体" panose="02010609060101010101" pitchFamily="49" charset="-122"/>
              </a:rPr>
              <a:t>而</a:t>
            </a:r>
            <a:r>
              <a:rPr lang="en-US" altLang="zh-CN" b="0">
                <a:latin typeface="黑体" panose="02010609060101010101" pitchFamily="49" charset="-122"/>
                <a:ea typeface="黑体" panose="02010609060101010101" pitchFamily="49" charset="-122"/>
              </a:rPr>
              <a:t>c = a + by.</a:t>
            </a:r>
          </a:p>
          <a:p>
            <a:pPr>
              <a:lnSpc>
                <a:spcPct val="90000"/>
              </a:lnSpc>
              <a:buClr>
                <a:srgbClr val="336600"/>
              </a:buClr>
              <a:buSzPct val="95000"/>
              <a:buFont typeface="Wingdings" panose="05000000000000000000" pitchFamily="2" charset="2"/>
              <a:buChar char="p"/>
            </a:pPr>
            <a:r>
              <a:rPr lang="zh-CN" altLang="en-US" b="0">
                <a:latin typeface="黑体" panose="02010609060101010101" pitchFamily="49" charset="-122"/>
                <a:ea typeface="黑体" panose="02010609060101010101" pitchFamily="49" charset="-122"/>
              </a:rPr>
              <a:t>求解得均衡</a:t>
            </a:r>
            <a:r>
              <a:rPr lang="zh-CN" altLang="zh-CN" b="0">
                <a:latin typeface="黑体" panose="02010609060101010101" pitchFamily="49" charset="-122"/>
                <a:ea typeface="黑体" panose="02010609060101010101" pitchFamily="49" charset="-122"/>
              </a:rPr>
              <a:t>国民收入</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y = (a+i) /1-b</a:t>
            </a:r>
            <a:endParaRPr lang="en-US" altLang="zh-CN">
              <a:latin typeface="黑体" panose="02010609060101010101" pitchFamily="49" charset="-122"/>
              <a:ea typeface="黑体" panose="02010609060101010101" pitchFamily="49" charset="-122"/>
            </a:endParaRPr>
          </a:p>
        </p:txBody>
      </p:sp>
      <p:graphicFrame>
        <p:nvGraphicFramePr>
          <p:cNvPr id="7" name="Object 7">
            <a:extLst>
              <a:ext uri="{FF2B5EF4-FFF2-40B4-BE49-F238E27FC236}">
                <a16:creationId xmlns:a16="http://schemas.microsoft.com/office/drawing/2014/main" id="{56FEB40F-9F39-4376-8779-7DC070E914AD}"/>
              </a:ext>
            </a:extLst>
          </p:cNvPr>
          <p:cNvGraphicFramePr>
            <a:graphicFrameLocks noChangeAspect="1"/>
          </p:cNvGraphicFramePr>
          <p:nvPr>
            <p:extLst>
              <p:ext uri="{D42A27DB-BD31-4B8C-83A1-F6EECF244321}">
                <p14:modId xmlns:p14="http://schemas.microsoft.com/office/powerpoint/2010/main" val="522427084"/>
              </p:ext>
            </p:extLst>
          </p:nvPr>
        </p:nvGraphicFramePr>
        <p:xfrm>
          <a:off x="395288" y="5434960"/>
          <a:ext cx="2832100" cy="882650"/>
        </p:xfrm>
        <a:graphic>
          <a:graphicData uri="http://schemas.openxmlformats.org/presentationml/2006/ole">
            <mc:AlternateContent xmlns:mc="http://schemas.openxmlformats.org/markup-compatibility/2006">
              <mc:Choice xmlns:v="urn:schemas-microsoft-com:vml" Requires="v">
                <p:oleObj spid="_x0000_s2060" name="Equation" r:id="rId5" imgW="876240" imgH="393480" progId="Equation.3">
                  <p:embed/>
                </p:oleObj>
              </mc:Choice>
              <mc:Fallback>
                <p:oleObj name="Equation" r:id="rId5" imgW="876240" imgH="393480" progId="Equation.3">
                  <p:embed/>
                  <p:pic>
                    <p:nvPicPr>
                      <p:cNvPr id="16391" name="Object 7">
                        <a:extLst>
                          <a:ext uri="{FF2B5EF4-FFF2-40B4-BE49-F238E27FC236}">
                            <a16:creationId xmlns:a16="http://schemas.microsoft.com/office/drawing/2014/main" id="{A2B19803-6AC9-4D91-983D-3EE12A4824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5434960"/>
                        <a:ext cx="2832100" cy="8826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a:extLst>
              <a:ext uri="{FF2B5EF4-FFF2-40B4-BE49-F238E27FC236}">
                <a16:creationId xmlns:a16="http://schemas.microsoft.com/office/drawing/2014/main" id="{83807A91-61C0-4119-B2AA-842629B2AA8A}"/>
              </a:ext>
            </a:extLst>
          </p:cNvPr>
          <p:cNvGraphicFramePr>
            <a:graphicFrameLocks noChangeAspect="1"/>
          </p:cNvGraphicFramePr>
          <p:nvPr>
            <p:extLst>
              <p:ext uri="{D42A27DB-BD31-4B8C-83A1-F6EECF244321}">
                <p14:modId xmlns:p14="http://schemas.microsoft.com/office/powerpoint/2010/main" val="1629518433"/>
              </p:ext>
            </p:extLst>
          </p:nvPr>
        </p:nvGraphicFramePr>
        <p:xfrm>
          <a:off x="3975100" y="5434960"/>
          <a:ext cx="3571875" cy="882650"/>
        </p:xfrm>
        <a:graphic>
          <a:graphicData uri="http://schemas.openxmlformats.org/presentationml/2006/ole">
            <mc:AlternateContent xmlns:mc="http://schemas.openxmlformats.org/markup-compatibility/2006">
              <mc:Choice xmlns:v="urn:schemas-microsoft-com:vml" Requires="v">
                <p:oleObj spid="_x0000_s2061" name="公式" r:id="rId7" imgW="1104840" imgH="393480" progId="Equation.3">
                  <p:embed/>
                </p:oleObj>
              </mc:Choice>
              <mc:Fallback>
                <p:oleObj name="公式" r:id="rId7" imgW="1104840" imgH="393480" progId="Equation.3">
                  <p:embed/>
                  <p:pic>
                    <p:nvPicPr>
                      <p:cNvPr id="16392" name="Object 8">
                        <a:extLst>
                          <a:ext uri="{FF2B5EF4-FFF2-40B4-BE49-F238E27FC236}">
                            <a16:creationId xmlns:a16="http://schemas.microsoft.com/office/drawing/2014/main" id="{CFC4CA96-5D06-4405-BE4C-BB33534922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75100" y="5434960"/>
                        <a:ext cx="3571875" cy="8826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17">
            <a:extLst>
              <a:ext uri="{FF2B5EF4-FFF2-40B4-BE49-F238E27FC236}">
                <a16:creationId xmlns:a16="http://schemas.microsoft.com/office/drawing/2014/main" id="{EA511041-C646-4D93-A123-C562B6F6D6F3}"/>
              </a:ext>
            </a:extLst>
          </p:cNvPr>
          <p:cNvSpPr>
            <a:spLocks noChangeArrowheads="1"/>
          </p:cNvSpPr>
          <p:nvPr/>
        </p:nvSpPr>
        <p:spPr bwMode="auto">
          <a:xfrm>
            <a:off x="395288" y="4139560"/>
            <a:ext cx="2808287" cy="1008062"/>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Font typeface="Wingdings" panose="05000000000000000000" pitchFamily="2" charset="2"/>
              <a:buChar char="u"/>
            </a:pPr>
            <a:r>
              <a:rPr lang="en-US" altLang="zh-CN">
                <a:latin typeface="黑体" panose="02010609060101010101" pitchFamily="49" charset="-122"/>
                <a:ea typeface="黑体" panose="02010609060101010101" pitchFamily="49" charset="-122"/>
              </a:rPr>
              <a:t>i= e-dr </a:t>
            </a:r>
          </a:p>
          <a:p>
            <a:pPr>
              <a:buClr>
                <a:schemeClr val="hlink"/>
              </a:buClr>
              <a:buFont typeface="Wingdings" panose="05000000000000000000" pitchFamily="2" charset="2"/>
              <a:buChar char="u"/>
            </a:pPr>
            <a:r>
              <a:rPr lang="zh-CN" altLang="en-US">
                <a:latin typeface="黑体" panose="02010609060101010101" pitchFamily="49" charset="-122"/>
                <a:ea typeface="黑体" panose="02010609060101010101" pitchFamily="49" charset="-122"/>
              </a:rPr>
              <a:t>得到</a:t>
            </a:r>
            <a:r>
              <a:rPr lang="en-US" altLang="zh-CN">
                <a:latin typeface="黑体" panose="02010609060101010101" pitchFamily="49" charset="-122"/>
                <a:ea typeface="黑体" panose="02010609060101010101" pitchFamily="49" charset="-122"/>
              </a:rPr>
              <a:t>IS</a:t>
            </a:r>
            <a:r>
              <a:rPr lang="zh-CN" altLang="en-US">
                <a:latin typeface="黑体" panose="02010609060101010101" pitchFamily="49" charset="-122"/>
                <a:ea typeface="黑体" panose="02010609060101010101" pitchFamily="49" charset="-122"/>
              </a:rPr>
              <a:t>方程：</a:t>
            </a:r>
          </a:p>
        </p:txBody>
      </p:sp>
      <p:sp>
        <p:nvSpPr>
          <p:cNvPr id="10" name="Rectangle 18">
            <a:extLst>
              <a:ext uri="{FF2B5EF4-FFF2-40B4-BE49-F238E27FC236}">
                <a16:creationId xmlns:a16="http://schemas.microsoft.com/office/drawing/2014/main" id="{A046854B-7C17-48B8-A679-A985D2FF0733}"/>
              </a:ext>
            </a:extLst>
          </p:cNvPr>
          <p:cNvSpPr>
            <a:spLocks noChangeArrowheads="1"/>
          </p:cNvSpPr>
          <p:nvPr/>
        </p:nvSpPr>
        <p:spPr bwMode="auto">
          <a:xfrm>
            <a:off x="4787900" y="1475735"/>
            <a:ext cx="3924300" cy="898525"/>
          </a:xfrm>
          <a:prstGeom prst="rect">
            <a:avLst/>
          </a:prstGeom>
          <a:blipFill dpi="0" rotWithShape="0">
            <a:blip r:embed="rId9"/>
            <a:srcRect/>
            <a:tile tx="0" ty="0" sx="100000" sy="100000" flip="none" algn="tl"/>
          </a:blipFill>
          <a:ln w="76200" cap="sq">
            <a:solidFill>
              <a:srgbClr val="3366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hlink"/>
              </a:buClr>
              <a:buSzPct val="95000"/>
              <a:buFont typeface="Wingdings" panose="05000000000000000000" pitchFamily="2" charset="2"/>
              <a:buChar char="u"/>
            </a:pPr>
            <a:r>
              <a:rPr kumimoji="0" lang="en-US" altLang="zh-CN">
                <a:solidFill>
                  <a:srgbClr val="000066"/>
                </a:solidFill>
              </a:rPr>
              <a:t>I </a:t>
            </a:r>
            <a:r>
              <a:rPr kumimoji="0" lang="zh-CN" altLang="en-US">
                <a:solidFill>
                  <a:srgbClr val="000066"/>
                </a:solidFill>
              </a:rPr>
              <a:t>：</a:t>
            </a:r>
            <a:r>
              <a:rPr kumimoji="0" lang="en-US" altLang="zh-CN">
                <a:solidFill>
                  <a:srgbClr val="000066"/>
                </a:solidFill>
              </a:rPr>
              <a:t>investment   </a:t>
            </a:r>
            <a:r>
              <a:rPr kumimoji="0" lang="zh-CN" altLang="en-US">
                <a:solidFill>
                  <a:srgbClr val="000066"/>
                </a:solidFill>
              </a:rPr>
              <a:t>投资</a:t>
            </a:r>
          </a:p>
          <a:p>
            <a:pPr>
              <a:buClr>
                <a:schemeClr val="hlink"/>
              </a:buClr>
              <a:buSzPct val="95000"/>
              <a:buFont typeface="Wingdings" panose="05000000000000000000" pitchFamily="2" charset="2"/>
              <a:buChar char="u"/>
            </a:pPr>
            <a:r>
              <a:rPr kumimoji="0" lang="en-US" altLang="zh-CN">
                <a:solidFill>
                  <a:srgbClr val="000066"/>
                </a:solidFill>
              </a:rPr>
              <a:t>S</a:t>
            </a:r>
            <a:r>
              <a:rPr kumimoji="0" lang="zh-CN" altLang="en-US">
                <a:solidFill>
                  <a:srgbClr val="000066"/>
                </a:solidFill>
              </a:rPr>
              <a:t>：</a:t>
            </a:r>
            <a:r>
              <a:rPr kumimoji="0" lang="en-US" altLang="zh-CN">
                <a:solidFill>
                  <a:srgbClr val="000066"/>
                </a:solidFill>
              </a:rPr>
              <a:t>save               </a:t>
            </a:r>
            <a:r>
              <a:rPr kumimoji="0" lang="zh-CN" altLang="en-US">
                <a:solidFill>
                  <a:srgbClr val="000066"/>
                </a:solidFill>
              </a:rPr>
              <a:t>储蓄</a:t>
            </a:r>
          </a:p>
        </p:txBody>
      </p:sp>
    </p:spTree>
    <p:extLst>
      <p:ext uri="{BB962C8B-B14F-4D97-AF65-F5344CB8AC3E}">
        <p14:creationId xmlns:p14="http://schemas.microsoft.com/office/powerpoint/2010/main" val="2381536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EDB1607-8670-43D5-8F7C-AC69336F4400}"/>
              </a:ext>
            </a:extLst>
          </p:cNvPr>
          <p:cNvPicPr>
            <a:picLocks noChangeAspect="1"/>
          </p:cNvPicPr>
          <p:nvPr/>
        </p:nvPicPr>
        <p:blipFill>
          <a:blip r:embed="rId2"/>
          <a:stretch>
            <a:fillRect/>
          </a:stretch>
        </p:blipFill>
        <p:spPr>
          <a:xfrm>
            <a:off x="1041062" y="995321"/>
            <a:ext cx="6569009" cy="5159187"/>
          </a:xfrm>
          <a:prstGeom prst="rect">
            <a:avLst/>
          </a:prstGeom>
        </p:spPr>
      </p:pic>
      <p:sp>
        <p:nvSpPr>
          <p:cNvPr id="5" name="Rectangle 93">
            <a:extLst>
              <a:ext uri="{FF2B5EF4-FFF2-40B4-BE49-F238E27FC236}">
                <a16:creationId xmlns:a16="http://schemas.microsoft.com/office/drawing/2014/main" id="{035333BC-D915-45B6-8BAF-F708BEC553A5}"/>
              </a:ext>
            </a:extLst>
          </p:cNvPr>
          <p:cNvSpPr txBox="1">
            <a:spLocks noChangeArrowheads="1"/>
          </p:cNvSpPr>
          <p:nvPr/>
        </p:nvSpPr>
        <p:spPr>
          <a:xfrm>
            <a:off x="7916187" y="1628775"/>
            <a:ext cx="792162" cy="3600450"/>
          </a:xfrm>
          <a:prstGeom prst="rect">
            <a:avLst/>
          </a:prstGeom>
          <a:solidFill>
            <a:srgbClr val="CCCC00"/>
          </a:solidFill>
          <a:ln/>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IS</a:t>
            </a:r>
            <a:r>
              <a:rPr lang="zh-CN" altLang="en-US" dirty="0"/>
              <a:t>曲线的推导图示</a:t>
            </a:r>
          </a:p>
        </p:txBody>
      </p:sp>
    </p:spTree>
    <p:extLst>
      <p:ext uri="{BB962C8B-B14F-4D97-AF65-F5344CB8AC3E}">
        <p14:creationId xmlns:p14="http://schemas.microsoft.com/office/powerpoint/2010/main" val="4038349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8978AE8C-BABE-4252-A8DB-C8847404B62E}"/>
              </a:ext>
            </a:extLst>
          </p:cNvPr>
          <p:cNvSpPr>
            <a:spLocks noGrp="1" noChangeArrowheads="1"/>
          </p:cNvSpPr>
          <p:nvPr>
            <p:ph type="title"/>
          </p:nvPr>
        </p:nvSpPr>
        <p:spPr>
          <a:xfrm>
            <a:off x="395288" y="549275"/>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2800" dirty="0"/>
              <a:t>IS</a:t>
            </a:r>
            <a:r>
              <a:rPr lang="zh-CN" altLang="en-US" sz="2800" dirty="0"/>
              <a:t>曲线的经济含义</a:t>
            </a:r>
          </a:p>
        </p:txBody>
      </p:sp>
      <p:sp>
        <p:nvSpPr>
          <p:cNvPr id="5" name="Rectangle 9">
            <a:extLst>
              <a:ext uri="{FF2B5EF4-FFF2-40B4-BE49-F238E27FC236}">
                <a16:creationId xmlns:a16="http://schemas.microsoft.com/office/drawing/2014/main" id="{592E55E1-9F57-4908-90B6-1322EAB7D770}"/>
              </a:ext>
            </a:extLst>
          </p:cNvPr>
          <p:cNvSpPr txBox="1">
            <a:spLocks noChangeArrowheads="1"/>
          </p:cNvSpPr>
          <p:nvPr/>
        </p:nvSpPr>
        <p:spPr>
          <a:xfrm>
            <a:off x="395288" y="1196975"/>
            <a:ext cx="8424862" cy="936625"/>
          </a:xfrm>
          <a:prstGeom prst="rect">
            <a:avLst/>
          </a:prstGeom>
          <a:noFill/>
          <a:ln w="31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a:t>
            </a:r>
            <a:r>
              <a:rPr lang="en-US" altLang="zh-CN"/>
              <a:t>1</a:t>
            </a:r>
            <a:r>
              <a:rPr lang="zh-CN" altLang="en-US"/>
              <a:t>）描述产品市场达到宏观均衡，即</a:t>
            </a:r>
            <a:r>
              <a:rPr lang="en-US" altLang="zh-CN"/>
              <a:t>i=s</a:t>
            </a:r>
            <a:r>
              <a:rPr lang="zh-CN" altLang="en-US"/>
              <a:t>时，总产出与利率之间的关系。</a:t>
            </a:r>
          </a:p>
        </p:txBody>
      </p:sp>
      <p:sp>
        <p:nvSpPr>
          <p:cNvPr id="6" name="Rectangle 10">
            <a:extLst>
              <a:ext uri="{FF2B5EF4-FFF2-40B4-BE49-F238E27FC236}">
                <a16:creationId xmlns:a16="http://schemas.microsoft.com/office/drawing/2014/main" id="{83DDB9AF-2545-4DDA-ADF8-BB1F811BFB18}"/>
              </a:ext>
            </a:extLst>
          </p:cNvPr>
          <p:cNvSpPr>
            <a:spLocks noChangeArrowheads="1"/>
          </p:cNvSpPr>
          <p:nvPr/>
        </p:nvSpPr>
        <p:spPr bwMode="auto">
          <a:xfrm>
            <a:off x="395288" y="3429000"/>
            <a:ext cx="8424862" cy="1008063"/>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t>（</a:t>
            </a:r>
            <a:r>
              <a:rPr lang="en-US" altLang="zh-CN"/>
              <a:t>3</a:t>
            </a:r>
            <a:r>
              <a:rPr lang="zh-CN" altLang="en-US"/>
              <a:t>）均衡的国民收入与利率之间存在反方变化。利率提高</a:t>
            </a:r>
            <a:r>
              <a:rPr lang="en-US" altLang="zh-CN"/>
              <a:t>,</a:t>
            </a:r>
            <a:r>
              <a:rPr lang="zh-CN" altLang="en-US"/>
              <a:t>总产出趋于减少；利率降低，总产出趋于增加。</a:t>
            </a:r>
          </a:p>
        </p:txBody>
      </p:sp>
      <p:sp>
        <p:nvSpPr>
          <p:cNvPr id="7" name="Rectangle 11">
            <a:extLst>
              <a:ext uri="{FF2B5EF4-FFF2-40B4-BE49-F238E27FC236}">
                <a16:creationId xmlns:a16="http://schemas.microsoft.com/office/drawing/2014/main" id="{1F0BF512-8D59-4A1C-AFC1-621215014EC4}"/>
              </a:ext>
            </a:extLst>
          </p:cNvPr>
          <p:cNvSpPr>
            <a:spLocks noChangeArrowheads="1"/>
          </p:cNvSpPr>
          <p:nvPr/>
        </p:nvSpPr>
        <p:spPr bwMode="auto">
          <a:xfrm>
            <a:off x="395288" y="2349500"/>
            <a:ext cx="8424862" cy="9366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t>（</a:t>
            </a:r>
            <a:r>
              <a:rPr lang="en-US" altLang="zh-CN"/>
              <a:t>2</a:t>
            </a:r>
            <a:r>
              <a:rPr lang="zh-CN" altLang="en-US"/>
              <a:t>）处于</a:t>
            </a:r>
            <a:r>
              <a:rPr lang="en-US" altLang="zh-CN"/>
              <a:t>IS</a:t>
            </a:r>
            <a:r>
              <a:rPr lang="zh-CN" altLang="en-US"/>
              <a:t>曲线上的任何点位都表示</a:t>
            </a:r>
            <a:r>
              <a:rPr lang="en-US" altLang="zh-CN"/>
              <a:t>i=s</a:t>
            </a:r>
            <a:r>
              <a:rPr lang="zh-CN" altLang="en-US"/>
              <a:t>，偏离</a:t>
            </a:r>
            <a:r>
              <a:rPr lang="en-US" altLang="zh-CN"/>
              <a:t>IS</a:t>
            </a:r>
            <a:r>
              <a:rPr lang="zh-CN" altLang="en-US"/>
              <a:t>曲线的任何点位都表示没有实现均衡。</a:t>
            </a:r>
          </a:p>
        </p:txBody>
      </p:sp>
      <p:sp>
        <p:nvSpPr>
          <p:cNvPr id="8" name="Rectangle 12">
            <a:extLst>
              <a:ext uri="{FF2B5EF4-FFF2-40B4-BE49-F238E27FC236}">
                <a16:creationId xmlns:a16="http://schemas.microsoft.com/office/drawing/2014/main" id="{90FC3855-22C8-4563-8F7F-8A4E557FD096}"/>
              </a:ext>
            </a:extLst>
          </p:cNvPr>
          <p:cNvSpPr>
            <a:spLocks noChangeArrowheads="1"/>
          </p:cNvSpPr>
          <p:nvPr/>
        </p:nvSpPr>
        <p:spPr bwMode="auto">
          <a:xfrm>
            <a:off x="395288" y="4652963"/>
            <a:ext cx="8424862" cy="1728787"/>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t>（</a:t>
            </a:r>
            <a:r>
              <a:rPr lang="en-US" altLang="zh-CN"/>
              <a:t>4</a:t>
            </a:r>
            <a:r>
              <a:rPr lang="zh-CN" altLang="en-US"/>
              <a:t>）如果某一点位处于</a:t>
            </a:r>
            <a:r>
              <a:rPr lang="en-US" altLang="zh-CN"/>
              <a:t>IS</a:t>
            </a:r>
            <a:r>
              <a:rPr lang="zh-CN" altLang="en-US"/>
              <a:t>曲线右边，表示</a:t>
            </a:r>
            <a:r>
              <a:rPr lang="en-US" altLang="zh-CN"/>
              <a:t>i</a:t>
            </a:r>
            <a:r>
              <a:rPr lang="zh-CN" altLang="en-US"/>
              <a:t>＜</a:t>
            </a:r>
            <a:r>
              <a:rPr lang="en-US" altLang="zh-CN"/>
              <a:t>s</a:t>
            </a:r>
            <a:r>
              <a:rPr lang="zh-CN" altLang="en-US"/>
              <a:t>，即现行的利率水平过高，从而导致投资规模小于储蓄规模。</a:t>
            </a:r>
          </a:p>
          <a:p>
            <a:r>
              <a:rPr lang="zh-CN" altLang="en-US"/>
              <a:t>如果某一点位处于</a:t>
            </a:r>
            <a:r>
              <a:rPr lang="en-US" altLang="zh-CN"/>
              <a:t>IS</a:t>
            </a:r>
            <a:r>
              <a:rPr lang="zh-CN" altLang="en-US"/>
              <a:t>曲线的左边，表示</a:t>
            </a:r>
            <a:r>
              <a:rPr lang="en-US" altLang="zh-CN"/>
              <a:t>i</a:t>
            </a:r>
            <a:r>
              <a:rPr lang="zh-CN" altLang="en-US"/>
              <a:t>＞</a:t>
            </a:r>
            <a:r>
              <a:rPr lang="en-US" altLang="zh-CN"/>
              <a:t>s</a:t>
            </a:r>
            <a:r>
              <a:rPr lang="zh-CN" altLang="en-US"/>
              <a:t>，即现行的利率水平过低，从而导致投资规模大于储蓄规模。</a:t>
            </a:r>
          </a:p>
        </p:txBody>
      </p:sp>
    </p:spTree>
    <p:extLst>
      <p:ext uri="{BB962C8B-B14F-4D97-AF65-F5344CB8AC3E}">
        <p14:creationId xmlns:p14="http://schemas.microsoft.com/office/powerpoint/2010/main" val="4227834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6A6CF14-DDDE-42A6-B6C3-CA0779113BDA}"/>
              </a:ext>
            </a:extLst>
          </p:cNvPr>
          <p:cNvPicPr>
            <a:picLocks noChangeAspect="1"/>
          </p:cNvPicPr>
          <p:nvPr/>
        </p:nvPicPr>
        <p:blipFill>
          <a:blip r:embed="rId2"/>
          <a:stretch>
            <a:fillRect/>
          </a:stretch>
        </p:blipFill>
        <p:spPr>
          <a:xfrm>
            <a:off x="2492314" y="1424766"/>
            <a:ext cx="5456393" cy="4008467"/>
          </a:xfrm>
          <a:prstGeom prst="rect">
            <a:avLst/>
          </a:prstGeom>
        </p:spPr>
      </p:pic>
      <p:sp>
        <p:nvSpPr>
          <p:cNvPr id="5" name="Rectangle 74">
            <a:extLst>
              <a:ext uri="{FF2B5EF4-FFF2-40B4-BE49-F238E27FC236}">
                <a16:creationId xmlns:a16="http://schemas.microsoft.com/office/drawing/2014/main" id="{0ED01DE5-33DF-432D-9CB2-6E049C1CC010}"/>
              </a:ext>
            </a:extLst>
          </p:cNvPr>
          <p:cNvSpPr>
            <a:spLocks noGrp="1" noChangeArrowheads="1"/>
          </p:cNvSpPr>
          <p:nvPr>
            <p:ph type="title"/>
          </p:nvPr>
        </p:nvSpPr>
        <p:spPr>
          <a:xfrm>
            <a:off x="790778" y="519653"/>
            <a:ext cx="5832475" cy="647700"/>
          </a:xfrm>
        </p:spPr>
        <p:txBody>
          <a:bodyPr>
            <a:normAutofit fontScale="90000"/>
          </a:bodyPr>
          <a:lstStyle/>
          <a:p>
            <a:r>
              <a:rPr lang="en-US" altLang="zh-CN" dirty="0">
                <a:solidFill>
                  <a:schemeClr val="bg1"/>
                </a:solidFill>
              </a:rPr>
              <a:t>IS</a:t>
            </a:r>
            <a:r>
              <a:rPr lang="zh-CN" altLang="en-US" dirty="0">
                <a:solidFill>
                  <a:schemeClr val="bg1"/>
                </a:solidFill>
              </a:rPr>
              <a:t>曲线之外的经济含义</a:t>
            </a:r>
          </a:p>
        </p:txBody>
      </p:sp>
    </p:spTree>
    <p:extLst>
      <p:ext uri="{BB962C8B-B14F-4D97-AF65-F5344CB8AC3E}">
        <p14:creationId xmlns:p14="http://schemas.microsoft.com/office/powerpoint/2010/main" val="853634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3A44B5F-98C4-4550-93EE-DCCCBFA387B6}"/>
              </a:ext>
            </a:extLst>
          </p:cNvPr>
          <p:cNvSpPr>
            <a:spLocks noGrp="1" noChangeArrowheads="1"/>
          </p:cNvSpPr>
          <p:nvPr>
            <p:ph type="title"/>
          </p:nvPr>
        </p:nvSpPr>
        <p:spPr>
          <a:xfrm>
            <a:off x="323850" y="500199"/>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fontScale="90000"/>
          </a:bodyPr>
          <a:lstStyle/>
          <a:p>
            <a:r>
              <a:rPr lang="zh-CN" altLang="en-US" dirty="0"/>
              <a:t>例题</a:t>
            </a:r>
          </a:p>
        </p:txBody>
      </p:sp>
      <p:sp>
        <p:nvSpPr>
          <p:cNvPr id="5" name="Rectangle 3">
            <a:extLst>
              <a:ext uri="{FF2B5EF4-FFF2-40B4-BE49-F238E27FC236}">
                <a16:creationId xmlns:a16="http://schemas.microsoft.com/office/drawing/2014/main" id="{E4DCCFFE-4459-41DF-A2F8-7BDA4ED2FF0F}"/>
              </a:ext>
            </a:extLst>
          </p:cNvPr>
          <p:cNvSpPr txBox="1">
            <a:spLocks noChangeArrowheads="1"/>
          </p:cNvSpPr>
          <p:nvPr/>
        </p:nvSpPr>
        <p:spPr>
          <a:xfrm>
            <a:off x="395288" y="1508261"/>
            <a:ext cx="8424862" cy="1079500"/>
          </a:xfrm>
          <a:prstGeom prst="rect">
            <a:avLst/>
          </a:prstGeom>
          <a:noFill/>
          <a:ln w="3175" cmpd="tri">
            <a:solidFill>
              <a:schemeClr val="tx1"/>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36600"/>
              </a:buClr>
              <a:buSzPct val="95000"/>
              <a:buFont typeface="Wingdings" panose="05000000000000000000" pitchFamily="2" charset="2"/>
              <a:buChar char="l"/>
            </a:pPr>
            <a:r>
              <a:rPr lang="zh-CN" altLang="en-US" dirty="0">
                <a:latin typeface="黑体" panose="02010609060101010101" pitchFamily="49" charset="-122"/>
                <a:ea typeface="黑体" panose="02010609060101010101" pitchFamily="49" charset="-122"/>
              </a:rPr>
              <a:t>已知消费函数</a:t>
            </a:r>
            <a:r>
              <a:rPr lang="en-US" altLang="zh-CN" dirty="0">
                <a:latin typeface="黑体" panose="02010609060101010101" pitchFamily="49" charset="-122"/>
                <a:ea typeface="黑体" panose="02010609060101010101" pitchFamily="49" charset="-122"/>
              </a:rPr>
              <a:t>c= 200+0.8y</a:t>
            </a:r>
            <a:r>
              <a:rPr lang="zh-CN" altLang="en-US" dirty="0">
                <a:latin typeface="黑体" panose="02010609060101010101" pitchFamily="49" charset="-122"/>
                <a:ea typeface="黑体" panose="02010609060101010101" pitchFamily="49" charset="-122"/>
              </a:rPr>
              <a:t>，投资函数</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 = 300-5r</a:t>
            </a:r>
            <a:r>
              <a:rPr lang="zh-CN" altLang="en-US" dirty="0">
                <a:latin typeface="黑体" panose="02010609060101010101" pitchFamily="49" charset="-122"/>
                <a:ea typeface="黑体" panose="02010609060101010101" pitchFamily="49" charset="-122"/>
              </a:rPr>
              <a:t>；</a:t>
            </a:r>
          </a:p>
          <a:p>
            <a:pPr>
              <a:buClr>
                <a:srgbClr val="336600"/>
              </a:buClr>
              <a:buSzPct val="95000"/>
              <a:buFont typeface="Wingdings" panose="05000000000000000000" pitchFamily="2" charset="2"/>
              <a:buChar char="l"/>
            </a:pPr>
            <a:r>
              <a:rPr lang="zh-CN" altLang="en-US" dirty="0">
                <a:latin typeface="黑体" panose="02010609060101010101" pitchFamily="49" charset="-122"/>
                <a:ea typeface="黑体" panose="02010609060101010101" pitchFamily="49" charset="-122"/>
              </a:rPr>
              <a:t>求</a:t>
            </a:r>
            <a:r>
              <a:rPr lang="en-US" altLang="zh-CN" dirty="0">
                <a:latin typeface="黑体" panose="02010609060101010101" pitchFamily="49" charset="-122"/>
                <a:ea typeface="黑体" panose="02010609060101010101" pitchFamily="49" charset="-122"/>
              </a:rPr>
              <a:t>IS</a:t>
            </a:r>
            <a:r>
              <a:rPr lang="zh-CN" altLang="en-US" dirty="0">
                <a:latin typeface="黑体" panose="02010609060101010101" pitchFamily="49" charset="-122"/>
                <a:ea typeface="黑体" panose="02010609060101010101" pitchFamily="49" charset="-122"/>
              </a:rPr>
              <a:t>曲线的方程。</a:t>
            </a:r>
          </a:p>
        </p:txBody>
      </p:sp>
      <p:sp>
        <p:nvSpPr>
          <p:cNvPr id="6" name="Rectangle 7">
            <a:extLst>
              <a:ext uri="{FF2B5EF4-FFF2-40B4-BE49-F238E27FC236}">
                <a16:creationId xmlns:a16="http://schemas.microsoft.com/office/drawing/2014/main" id="{2614EC32-45CD-4EE2-A1E6-69DDDA58BB38}"/>
              </a:ext>
            </a:extLst>
          </p:cNvPr>
          <p:cNvSpPr>
            <a:spLocks noChangeArrowheads="1"/>
          </p:cNvSpPr>
          <p:nvPr/>
        </p:nvSpPr>
        <p:spPr bwMode="auto">
          <a:xfrm>
            <a:off x="4356100" y="5324611"/>
            <a:ext cx="4464050" cy="1152525"/>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en-US" altLang="zh-CN">
                <a:latin typeface="黑体" panose="02010609060101010101" pitchFamily="49" charset="-122"/>
                <a:ea typeface="黑体" panose="02010609060101010101" pitchFamily="49" charset="-122"/>
              </a:rPr>
              <a:t>IS</a:t>
            </a:r>
            <a:r>
              <a:rPr lang="zh-CN" altLang="en-US">
                <a:latin typeface="黑体" panose="02010609060101010101" pitchFamily="49" charset="-122"/>
                <a:ea typeface="黑体" panose="02010609060101010101" pitchFamily="49" charset="-122"/>
              </a:rPr>
              <a:t>曲线的方程为：</a:t>
            </a:r>
          </a:p>
          <a:p>
            <a:pPr>
              <a:buClr>
                <a:srgbClr val="336600"/>
              </a:buClr>
              <a:buSzPct val="95000"/>
              <a:buFont typeface="Wingdings" panose="05000000000000000000" pitchFamily="2" charset="2"/>
              <a:buChar char="l"/>
            </a:pP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r = 100 - 0.04y</a:t>
            </a:r>
          </a:p>
        </p:txBody>
      </p:sp>
      <p:sp>
        <p:nvSpPr>
          <p:cNvPr id="7" name="Rectangle 8">
            <a:extLst>
              <a:ext uri="{FF2B5EF4-FFF2-40B4-BE49-F238E27FC236}">
                <a16:creationId xmlns:a16="http://schemas.microsoft.com/office/drawing/2014/main" id="{88EB202A-6467-42D3-916C-91565C67DE43}"/>
              </a:ext>
            </a:extLst>
          </p:cNvPr>
          <p:cNvSpPr>
            <a:spLocks noChangeArrowheads="1"/>
          </p:cNvSpPr>
          <p:nvPr/>
        </p:nvSpPr>
        <p:spPr bwMode="auto">
          <a:xfrm>
            <a:off x="395288" y="2876686"/>
            <a:ext cx="8424862" cy="720725"/>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zh-CN" altLang="en-US">
                <a:latin typeface="黑体" panose="02010609060101010101" pitchFamily="49" charset="-122"/>
                <a:ea typeface="黑体" panose="02010609060101010101" pitchFamily="49" charset="-122"/>
              </a:rPr>
              <a:t>解：</a:t>
            </a:r>
            <a:r>
              <a:rPr lang="en-US" altLang="zh-CN">
                <a:latin typeface="黑体" panose="02010609060101010101" pitchFamily="49" charset="-122"/>
                <a:ea typeface="黑体" panose="02010609060101010101" pitchFamily="49" charset="-122"/>
              </a:rPr>
              <a:t>a</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200  b</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0.8  e</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300  d</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5</a:t>
            </a:r>
          </a:p>
        </p:txBody>
      </p:sp>
      <p:graphicFrame>
        <p:nvGraphicFramePr>
          <p:cNvPr id="8" name="Object 9">
            <a:extLst>
              <a:ext uri="{FF2B5EF4-FFF2-40B4-BE49-F238E27FC236}">
                <a16:creationId xmlns:a16="http://schemas.microsoft.com/office/drawing/2014/main" id="{442CF90C-71D0-4C14-B5AC-D638AEA9C308}"/>
              </a:ext>
            </a:extLst>
          </p:cNvPr>
          <p:cNvGraphicFramePr>
            <a:graphicFrameLocks noChangeAspect="1"/>
          </p:cNvGraphicFramePr>
          <p:nvPr>
            <p:extLst>
              <p:ext uri="{D42A27DB-BD31-4B8C-83A1-F6EECF244321}">
                <p14:modId xmlns:p14="http://schemas.microsoft.com/office/powerpoint/2010/main" val="936260504"/>
              </p:ext>
            </p:extLst>
          </p:nvPr>
        </p:nvGraphicFramePr>
        <p:xfrm>
          <a:off x="395288" y="3956186"/>
          <a:ext cx="2832100" cy="882650"/>
        </p:xfrm>
        <a:graphic>
          <a:graphicData uri="http://schemas.openxmlformats.org/presentationml/2006/ole">
            <mc:AlternateContent xmlns:mc="http://schemas.openxmlformats.org/markup-compatibility/2006">
              <mc:Choice xmlns:v="urn:schemas-microsoft-com:vml" Requires="v">
                <p:oleObj spid="_x0000_s3082" name="Equation" r:id="rId5" imgW="876240" imgH="393480" progId="Equation.3">
                  <p:embed/>
                </p:oleObj>
              </mc:Choice>
              <mc:Fallback>
                <p:oleObj name="Equation" r:id="rId5" imgW="876240" imgH="393480" progId="Equation.3">
                  <p:embed/>
                  <p:pic>
                    <p:nvPicPr>
                      <p:cNvPr id="20489" name="Object 9">
                        <a:extLst>
                          <a:ext uri="{FF2B5EF4-FFF2-40B4-BE49-F238E27FC236}">
                            <a16:creationId xmlns:a16="http://schemas.microsoft.com/office/drawing/2014/main" id="{46C4485A-B63B-4C64-934F-B976609300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3956186"/>
                        <a:ext cx="2832100" cy="8826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0">
            <a:extLst>
              <a:ext uri="{FF2B5EF4-FFF2-40B4-BE49-F238E27FC236}">
                <a16:creationId xmlns:a16="http://schemas.microsoft.com/office/drawing/2014/main" id="{911C7A61-757E-4161-9B8C-5A3DDEDE1BCA}"/>
              </a:ext>
            </a:extLst>
          </p:cNvPr>
          <p:cNvGraphicFramePr>
            <a:graphicFrameLocks noChangeAspect="1"/>
          </p:cNvGraphicFramePr>
          <p:nvPr>
            <p:extLst>
              <p:ext uri="{D42A27DB-BD31-4B8C-83A1-F6EECF244321}">
                <p14:modId xmlns:p14="http://schemas.microsoft.com/office/powerpoint/2010/main" val="3242734766"/>
              </p:ext>
            </p:extLst>
          </p:nvPr>
        </p:nvGraphicFramePr>
        <p:xfrm>
          <a:off x="395288" y="5540511"/>
          <a:ext cx="3530600" cy="882650"/>
        </p:xfrm>
        <a:graphic>
          <a:graphicData uri="http://schemas.openxmlformats.org/presentationml/2006/ole">
            <mc:AlternateContent xmlns:mc="http://schemas.openxmlformats.org/markup-compatibility/2006">
              <mc:Choice xmlns:v="urn:schemas-microsoft-com:vml" Requires="v">
                <p:oleObj spid="_x0000_s3083" name="Equation" r:id="rId7" imgW="1091880" imgH="393480" progId="Equation.3">
                  <p:embed/>
                </p:oleObj>
              </mc:Choice>
              <mc:Fallback>
                <p:oleObj name="Equation" r:id="rId7" imgW="1091880" imgH="393480" progId="Equation.3">
                  <p:embed/>
                  <p:pic>
                    <p:nvPicPr>
                      <p:cNvPr id="20490" name="Object 10">
                        <a:extLst>
                          <a:ext uri="{FF2B5EF4-FFF2-40B4-BE49-F238E27FC236}">
                            <a16:creationId xmlns:a16="http://schemas.microsoft.com/office/drawing/2014/main" id="{E85CB75F-D65E-4662-9846-A57B61DF3B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5540511"/>
                        <a:ext cx="3530600" cy="882650"/>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11">
            <a:extLst>
              <a:ext uri="{FF2B5EF4-FFF2-40B4-BE49-F238E27FC236}">
                <a16:creationId xmlns:a16="http://schemas.microsoft.com/office/drawing/2014/main" id="{912E9CEC-0464-4C3A-A54C-A33EBB6B5310}"/>
              </a:ext>
            </a:extLst>
          </p:cNvPr>
          <p:cNvSpPr>
            <a:spLocks noChangeArrowheads="1"/>
          </p:cNvSpPr>
          <p:nvPr/>
        </p:nvSpPr>
        <p:spPr bwMode="auto">
          <a:xfrm>
            <a:off x="4356100" y="3956186"/>
            <a:ext cx="4464050" cy="1081088"/>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en-US" altLang="zh-CN">
                <a:latin typeface="黑体" panose="02010609060101010101" pitchFamily="49" charset="-122"/>
                <a:ea typeface="黑体" panose="02010609060101010101" pitchFamily="49" charset="-122"/>
              </a:rPr>
              <a:t>IS</a:t>
            </a:r>
            <a:r>
              <a:rPr lang="zh-CN" altLang="en-US">
                <a:latin typeface="黑体" panose="02010609060101010101" pitchFamily="49" charset="-122"/>
                <a:ea typeface="黑体" panose="02010609060101010101" pitchFamily="49" charset="-122"/>
              </a:rPr>
              <a:t>曲线的方程为：</a:t>
            </a:r>
          </a:p>
          <a:p>
            <a:pPr>
              <a:buClr>
                <a:srgbClr val="336600"/>
              </a:buClr>
              <a:buSzPct val="95000"/>
              <a:buFont typeface="Wingdings" panose="05000000000000000000" pitchFamily="2" charset="2"/>
              <a:buChar char="l"/>
            </a:pP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y=2500-25r</a:t>
            </a:r>
          </a:p>
        </p:txBody>
      </p:sp>
    </p:spTree>
    <p:extLst>
      <p:ext uri="{BB962C8B-B14F-4D97-AF65-F5344CB8AC3E}">
        <p14:creationId xmlns:p14="http://schemas.microsoft.com/office/powerpoint/2010/main" val="2811976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8161B86-367F-4BA0-8719-F9CAFD7EEDA0}"/>
              </a:ext>
            </a:extLst>
          </p:cNvPr>
          <p:cNvSpPr>
            <a:spLocks noGrp="1" noChangeArrowheads="1"/>
          </p:cNvSpPr>
          <p:nvPr>
            <p:ph type="title"/>
          </p:nvPr>
        </p:nvSpPr>
        <p:spPr>
          <a:xfrm>
            <a:off x="323850" y="636386"/>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3200" dirty="0"/>
              <a:t>IS</a:t>
            </a:r>
            <a:r>
              <a:rPr lang="zh-CN" altLang="en-US" sz="3200" dirty="0"/>
              <a:t>曲线的水平移动</a:t>
            </a:r>
          </a:p>
        </p:txBody>
      </p:sp>
      <p:sp>
        <p:nvSpPr>
          <p:cNvPr id="5" name="Rectangle 6">
            <a:extLst>
              <a:ext uri="{FF2B5EF4-FFF2-40B4-BE49-F238E27FC236}">
                <a16:creationId xmlns:a16="http://schemas.microsoft.com/office/drawing/2014/main" id="{016FCF81-A3E1-453D-8093-6FD931CB21DA}"/>
              </a:ext>
            </a:extLst>
          </p:cNvPr>
          <p:cNvSpPr txBox="1">
            <a:spLocks noChangeArrowheads="1"/>
          </p:cNvSpPr>
          <p:nvPr/>
        </p:nvSpPr>
        <p:spPr>
          <a:xfrm>
            <a:off x="323850" y="1644448"/>
            <a:ext cx="4319588" cy="936625"/>
          </a:xfrm>
          <a:prstGeom prst="rect">
            <a:avLst/>
          </a:prstGeom>
          <a:noFill/>
          <a:ln w="3175">
            <a:solidFill>
              <a:schemeClr val="tx1"/>
            </a:solidFill>
          </a:ln>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FF0000"/>
              </a:buClr>
              <a:buSzPct val="95000"/>
              <a:buFont typeface="Wingdings" panose="05000000000000000000" pitchFamily="2" charset="2"/>
              <a:buChar char="n"/>
            </a:pPr>
            <a:r>
              <a:rPr lang="zh-CN" altLang="en-US" dirty="0"/>
              <a:t>利率不变，外生变量冲击导致总产出增加，</a:t>
            </a:r>
            <a:r>
              <a:rPr lang="en-US" altLang="zh-CN" dirty="0"/>
              <a:t>IS</a:t>
            </a:r>
            <a:r>
              <a:rPr lang="zh-CN" altLang="en-US" dirty="0"/>
              <a:t>水平右移</a:t>
            </a:r>
          </a:p>
        </p:txBody>
      </p:sp>
      <p:sp>
        <p:nvSpPr>
          <p:cNvPr id="6" name="Rectangle 7">
            <a:extLst>
              <a:ext uri="{FF2B5EF4-FFF2-40B4-BE49-F238E27FC236}">
                <a16:creationId xmlns:a16="http://schemas.microsoft.com/office/drawing/2014/main" id="{29078FCF-5963-4D72-8406-737FFEF09474}"/>
              </a:ext>
            </a:extLst>
          </p:cNvPr>
          <p:cNvSpPr>
            <a:spLocks noChangeArrowheads="1"/>
          </p:cNvSpPr>
          <p:nvPr/>
        </p:nvSpPr>
        <p:spPr bwMode="auto">
          <a:xfrm>
            <a:off x="323850" y="2796973"/>
            <a:ext cx="4319588" cy="9366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SzPct val="95000"/>
              <a:buFont typeface="Wingdings" panose="05000000000000000000" pitchFamily="2" charset="2"/>
              <a:buChar char="n"/>
            </a:pPr>
            <a:r>
              <a:rPr lang="zh-CN" altLang="en-US" dirty="0"/>
              <a:t>利率不变，外生变量冲击导致总产出减少，</a:t>
            </a:r>
            <a:r>
              <a:rPr lang="en-US" altLang="zh-CN" dirty="0"/>
              <a:t>IS</a:t>
            </a:r>
            <a:r>
              <a:rPr lang="zh-CN" altLang="en-US" dirty="0"/>
              <a:t>水平左移</a:t>
            </a:r>
          </a:p>
        </p:txBody>
      </p:sp>
      <p:sp>
        <p:nvSpPr>
          <p:cNvPr id="7" name="Rectangle 9">
            <a:extLst>
              <a:ext uri="{FF2B5EF4-FFF2-40B4-BE49-F238E27FC236}">
                <a16:creationId xmlns:a16="http://schemas.microsoft.com/office/drawing/2014/main" id="{4FDDB61B-A1F8-4FF7-8732-1EE656DD27E5}"/>
              </a:ext>
            </a:extLst>
          </p:cNvPr>
          <p:cNvSpPr>
            <a:spLocks noChangeArrowheads="1"/>
          </p:cNvSpPr>
          <p:nvPr/>
        </p:nvSpPr>
        <p:spPr bwMode="auto">
          <a:xfrm>
            <a:off x="4859338" y="1644448"/>
            <a:ext cx="3816350" cy="172720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chemeClr val="hlink"/>
              </a:buClr>
              <a:buSzPct val="95000"/>
              <a:buFont typeface="Wingdings" panose="05000000000000000000" pitchFamily="2" charset="2"/>
              <a:buChar char="u"/>
            </a:pPr>
            <a:r>
              <a:rPr lang="zh-CN" altLang="en-US"/>
              <a:t>如增加总需求的膨胀性财政政策：</a:t>
            </a:r>
          </a:p>
          <a:p>
            <a:pPr>
              <a:lnSpc>
                <a:spcPct val="90000"/>
              </a:lnSpc>
              <a:buClr>
                <a:schemeClr val="hlink"/>
              </a:buClr>
              <a:buSzPct val="95000"/>
              <a:buFont typeface="Wingdings" panose="05000000000000000000" pitchFamily="2" charset="2"/>
              <a:buChar char="u"/>
            </a:pPr>
            <a:r>
              <a:rPr lang="zh-CN" altLang="en-US">
                <a:solidFill>
                  <a:srgbClr val="FF0000"/>
                </a:solidFill>
              </a:rPr>
              <a:t>增加政府购买性支出。</a:t>
            </a:r>
          </a:p>
          <a:p>
            <a:pPr>
              <a:lnSpc>
                <a:spcPct val="90000"/>
              </a:lnSpc>
              <a:buClr>
                <a:schemeClr val="hlink"/>
              </a:buClr>
              <a:buSzPct val="95000"/>
              <a:buFont typeface="Wingdings" panose="05000000000000000000" pitchFamily="2" charset="2"/>
              <a:buChar char="u"/>
            </a:pPr>
            <a:r>
              <a:rPr lang="zh-CN" altLang="en-US">
                <a:solidFill>
                  <a:srgbClr val="FF0000"/>
                </a:solidFill>
              </a:rPr>
              <a:t>减税，增加居民支出。</a:t>
            </a:r>
          </a:p>
        </p:txBody>
      </p:sp>
      <p:sp>
        <p:nvSpPr>
          <p:cNvPr id="8" name="Rectangle 10">
            <a:extLst>
              <a:ext uri="{FF2B5EF4-FFF2-40B4-BE49-F238E27FC236}">
                <a16:creationId xmlns:a16="http://schemas.microsoft.com/office/drawing/2014/main" id="{1DD67507-3FA1-4BE4-9AFC-AD98B2A12C98}"/>
              </a:ext>
            </a:extLst>
          </p:cNvPr>
          <p:cNvSpPr>
            <a:spLocks noChangeArrowheads="1"/>
          </p:cNvSpPr>
          <p:nvPr/>
        </p:nvSpPr>
        <p:spPr bwMode="auto">
          <a:xfrm>
            <a:off x="323850" y="4020936"/>
            <a:ext cx="4319588" cy="2665412"/>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SzPct val="95000"/>
              <a:buFont typeface="Wingdings" panose="05000000000000000000" pitchFamily="2" charset="2"/>
              <a:buChar char="w"/>
            </a:pPr>
            <a:r>
              <a:rPr lang="zh-CN" altLang="en-US" dirty="0"/>
              <a:t>减少总需求的紧缩性财政政策：</a:t>
            </a:r>
          </a:p>
          <a:p>
            <a:pPr>
              <a:buClr>
                <a:srgbClr val="FF0000"/>
              </a:buClr>
              <a:buSzPct val="95000"/>
              <a:buFont typeface="Wingdings" panose="05000000000000000000" pitchFamily="2" charset="2"/>
              <a:buChar char="w"/>
            </a:pPr>
            <a:r>
              <a:rPr lang="zh-CN" altLang="en-US" dirty="0">
                <a:solidFill>
                  <a:srgbClr val="FF0000"/>
                </a:solidFill>
              </a:rPr>
              <a:t>增税，增加企业负担则减少投资，增加居民负担，使消费减少。</a:t>
            </a:r>
          </a:p>
          <a:p>
            <a:pPr>
              <a:buClr>
                <a:srgbClr val="FF0000"/>
              </a:buClr>
              <a:buSzPct val="95000"/>
              <a:buFont typeface="Wingdings" panose="05000000000000000000" pitchFamily="2" charset="2"/>
              <a:buChar char="w"/>
            </a:pPr>
            <a:r>
              <a:rPr lang="zh-CN" altLang="en-US" dirty="0">
                <a:solidFill>
                  <a:srgbClr val="FF0000"/>
                </a:solidFill>
              </a:rPr>
              <a:t>减少政府支出。</a:t>
            </a:r>
          </a:p>
        </p:txBody>
      </p:sp>
    </p:spTree>
    <p:extLst>
      <p:ext uri="{BB962C8B-B14F-4D97-AF65-F5344CB8AC3E}">
        <p14:creationId xmlns:p14="http://schemas.microsoft.com/office/powerpoint/2010/main" val="2030810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7E7A237-2BC9-4136-9918-90400D05A8FE}"/>
              </a:ext>
            </a:extLst>
          </p:cNvPr>
          <p:cNvSpPr>
            <a:spLocks noGrp="1" noChangeArrowheads="1"/>
          </p:cNvSpPr>
          <p:nvPr>
            <p:ph type="title"/>
          </p:nvPr>
        </p:nvSpPr>
        <p:spPr>
          <a:xfrm>
            <a:off x="323850" y="685160"/>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利率的决定</a:t>
            </a:r>
          </a:p>
        </p:txBody>
      </p:sp>
      <p:sp>
        <p:nvSpPr>
          <p:cNvPr id="5" name="Rectangle 5">
            <a:extLst>
              <a:ext uri="{FF2B5EF4-FFF2-40B4-BE49-F238E27FC236}">
                <a16:creationId xmlns:a16="http://schemas.microsoft.com/office/drawing/2014/main" id="{308D9BE6-A72B-44A9-928D-95B3438BFD12}"/>
              </a:ext>
            </a:extLst>
          </p:cNvPr>
          <p:cNvSpPr>
            <a:spLocks noChangeArrowheads="1"/>
          </p:cNvSpPr>
          <p:nvPr/>
        </p:nvSpPr>
        <p:spPr bwMode="auto">
          <a:xfrm>
            <a:off x="323850" y="1475735"/>
            <a:ext cx="5832475" cy="595312"/>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hlink"/>
              </a:buClr>
              <a:buSzPct val="95000"/>
              <a:buFont typeface="Wingdings" panose="05000000000000000000" pitchFamily="2" charset="2"/>
              <a:buNone/>
            </a:pPr>
            <a:r>
              <a:rPr lang="en-US" altLang="zh-CN" sz="2800" dirty="0"/>
              <a:t>1.</a:t>
            </a:r>
            <a:r>
              <a:rPr lang="zh-CN" altLang="en-US" sz="2800" dirty="0"/>
              <a:t>货币需求的三个动机</a:t>
            </a:r>
          </a:p>
        </p:txBody>
      </p:sp>
      <p:sp>
        <p:nvSpPr>
          <p:cNvPr id="6" name="Rectangle 6">
            <a:extLst>
              <a:ext uri="{FF2B5EF4-FFF2-40B4-BE49-F238E27FC236}">
                <a16:creationId xmlns:a16="http://schemas.microsoft.com/office/drawing/2014/main" id="{7F7C0B6E-2A7A-4488-8E42-F8899C1B445D}"/>
              </a:ext>
            </a:extLst>
          </p:cNvPr>
          <p:cNvSpPr>
            <a:spLocks noChangeArrowheads="1"/>
          </p:cNvSpPr>
          <p:nvPr/>
        </p:nvSpPr>
        <p:spPr bwMode="auto">
          <a:xfrm>
            <a:off x="323850" y="2194872"/>
            <a:ext cx="8496300" cy="1728788"/>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None/>
            </a:pP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1</a:t>
            </a:r>
            <a:r>
              <a:rPr lang="zh-CN" altLang="en-US" b="0" dirty="0">
                <a:latin typeface="黑体" panose="02010609060101010101" pitchFamily="49" charset="-122"/>
                <a:ea typeface="黑体" panose="02010609060101010101" pitchFamily="49" charset="-122"/>
              </a:rPr>
              <a:t>）交易动机：消费和生产等交易所需货币。取决于收入。</a:t>
            </a:r>
          </a:p>
          <a:p>
            <a:pPr>
              <a:buClr>
                <a:srgbClr val="336600"/>
              </a:buClr>
              <a:buSzPct val="95000"/>
              <a:buFont typeface="Wingdings" panose="05000000000000000000" pitchFamily="2" charset="2"/>
              <a:buNone/>
            </a:pP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2</a:t>
            </a:r>
            <a:r>
              <a:rPr lang="zh-CN" altLang="en-US" b="0" dirty="0">
                <a:latin typeface="黑体" panose="02010609060101010101" pitchFamily="49" charset="-122"/>
                <a:ea typeface="黑体" panose="02010609060101010101" pitchFamily="49" charset="-122"/>
              </a:rPr>
              <a:t>）谨慎动机或预防性动机：为应付突发事件、意外支出而持有的货币。</a:t>
            </a:r>
          </a:p>
          <a:p>
            <a:pPr lvl="1">
              <a:buClr>
                <a:srgbClr val="336600"/>
              </a:buClr>
              <a:buSzPct val="95000"/>
              <a:buFont typeface="Wingdings" panose="05000000000000000000" pitchFamily="2" charset="2"/>
              <a:buChar char="l"/>
            </a:pPr>
            <a:r>
              <a:rPr lang="zh-CN" altLang="en-US" b="0" dirty="0">
                <a:solidFill>
                  <a:schemeClr val="folHlink"/>
                </a:solidFill>
                <a:latin typeface="黑体" panose="02010609060101010101" pitchFamily="49" charset="-122"/>
                <a:ea typeface="黑体" panose="02010609060101010101" pitchFamily="49" charset="-122"/>
              </a:rPr>
              <a:t>个人取决于对风险的看法，整个社会则与收入成正比。</a:t>
            </a:r>
          </a:p>
        </p:txBody>
      </p:sp>
      <p:sp>
        <p:nvSpPr>
          <p:cNvPr id="7" name="Rectangle 7">
            <a:extLst>
              <a:ext uri="{FF2B5EF4-FFF2-40B4-BE49-F238E27FC236}">
                <a16:creationId xmlns:a16="http://schemas.microsoft.com/office/drawing/2014/main" id="{EFC1E9CA-ADA4-45E9-B018-95665214A989}"/>
              </a:ext>
            </a:extLst>
          </p:cNvPr>
          <p:cNvSpPr>
            <a:spLocks noChangeArrowheads="1"/>
          </p:cNvSpPr>
          <p:nvPr/>
        </p:nvSpPr>
        <p:spPr bwMode="auto">
          <a:xfrm>
            <a:off x="323850" y="4066535"/>
            <a:ext cx="8496300" cy="569912"/>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buClr>
                <a:schemeClr val="hlink"/>
              </a:buClr>
              <a:buSzPct val="95000"/>
              <a:buFont typeface="Wingdings" panose="05000000000000000000" pitchFamily="2" charset="2"/>
              <a:buChar char="u"/>
            </a:pPr>
            <a:r>
              <a:rPr lang="zh-CN" altLang="en-US">
                <a:solidFill>
                  <a:srgbClr val="000000"/>
                </a:solidFill>
              </a:rPr>
              <a:t>两个动机表示为：</a:t>
            </a:r>
            <a:r>
              <a:rPr lang="en-US" altLang="zh-CN">
                <a:solidFill>
                  <a:srgbClr val="000000"/>
                </a:solidFill>
              </a:rPr>
              <a:t>L</a:t>
            </a:r>
            <a:r>
              <a:rPr lang="en-US" altLang="zh-CN" baseline="-25000">
                <a:solidFill>
                  <a:srgbClr val="000000"/>
                </a:solidFill>
              </a:rPr>
              <a:t>1</a:t>
            </a:r>
            <a:r>
              <a:rPr lang="en-US" altLang="zh-CN">
                <a:solidFill>
                  <a:srgbClr val="000000"/>
                </a:solidFill>
              </a:rPr>
              <a:t> = L</a:t>
            </a:r>
            <a:r>
              <a:rPr lang="en-US" altLang="zh-CN" baseline="-25000">
                <a:solidFill>
                  <a:srgbClr val="000000"/>
                </a:solidFill>
              </a:rPr>
              <a:t>1 </a:t>
            </a:r>
            <a:r>
              <a:rPr lang="zh-CN" altLang="en-US">
                <a:solidFill>
                  <a:srgbClr val="000000"/>
                </a:solidFill>
              </a:rPr>
              <a:t>（</a:t>
            </a:r>
            <a:r>
              <a:rPr lang="en-US" altLang="zh-CN">
                <a:solidFill>
                  <a:srgbClr val="000000"/>
                </a:solidFill>
              </a:rPr>
              <a:t>y</a:t>
            </a:r>
            <a:r>
              <a:rPr lang="zh-CN" altLang="en-US">
                <a:solidFill>
                  <a:srgbClr val="000000"/>
                </a:solidFill>
              </a:rPr>
              <a:t>）</a:t>
            </a:r>
            <a:r>
              <a:rPr lang="en-US" altLang="zh-CN">
                <a:solidFill>
                  <a:srgbClr val="000000"/>
                </a:solidFill>
              </a:rPr>
              <a:t>= k y</a:t>
            </a:r>
            <a:r>
              <a:rPr lang="zh-CN" altLang="en-US">
                <a:solidFill>
                  <a:srgbClr val="000000"/>
                </a:solidFill>
              </a:rPr>
              <a:t>，</a:t>
            </a:r>
            <a:r>
              <a:rPr lang="zh-CN" altLang="en-US"/>
              <a:t>随收入变化而变化</a:t>
            </a:r>
          </a:p>
        </p:txBody>
      </p:sp>
      <p:sp>
        <p:nvSpPr>
          <p:cNvPr id="8" name="Rectangle 9">
            <a:extLst>
              <a:ext uri="{FF2B5EF4-FFF2-40B4-BE49-F238E27FC236}">
                <a16:creationId xmlns:a16="http://schemas.microsoft.com/office/drawing/2014/main" id="{CDC1BDEB-95E8-44AE-874D-FFF13846FAD6}"/>
              </a:ext>
            </a:extLst>
          </p:cNvPr>
          <p:cNvSpPr txBox="1">
            <a:spLocks noChangeArrowheads="1"/>
          </p:cNvSpPr>
          <p:nvPr/>
        </p:nvSpPr>
        <p:spPr>
          <a:xfrm>
            <a:off x="323850" y="4931722"/>
            <a:ext cx="8496300" cy="792163"/>
          </a:xfrm>
          <a:prstGeom prst="rect">
            <a:avLst/>
          </a:prstGeom>
          <a:noFill/>
          <a:ln w="3175">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a:t>（</a:t>
            </a:r>
            <a:r>
              <a:rPr lang="en-US" altLang="zh-CN"/>
              <a:t>3</a:t>
            </a:r>
            <a:r>
              <a:rPr lang="zh-CN" altLang="en-US"/>
              <a:t>）投机动机：为了抓住有利时机，买卖有价证券而持有的货币。</a:t>
            </a:r>
          </a:p>
        </p:txBody>
      </p:sp>
      <p:sp>
        <p:nvSpPr>
          <p:cNvPr id="9" name="Rectangle 11">
            <a:extLst>
              <a:ext uri="{FF2B5EF4-FFF2-40B4-BE49-F238E27FC236}">
                <a16:creationId xmlns:a16="http://schemas.microsoft.com/office/drawing/2014/main" id="{58CD506E-EE96-42A2-A23E-1AD5F921691E}"/>
              </a:ext>
            </a:extLst>
          </p:cNvPr>
          <p:cNvSpPr>
            <a:spLocks noChangeArrowheads="1"/>
          </p:cNvSpPr>
          <p:nvPr/>
        </p:nvSpPr>
        <p:spPr bwMode="auto">
          <a:xfrm>
            <a:off x="323850" y="6011222"/>
            <a:ext cx="8496300" cy="569913"/>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20000"/>
              </a:spcBef>
              <a:buClr>
                <a:schemeClr val="hlink"/>
              </a:buClr>
              <a:buSzPct val="95000"/>
              <a:buFont typeface="Wingdings" panose="05000000000000000000" pitchFamily="2" charset="2"/>
              <a:buChar char="u"/>
            </a:pPr>
            <a:r>
              <a:rPr lang="en-US" altLang="zh-CN"/>
              <a:t>L</a:t>
            </a:r>
            <a:r>
              <a:rPr lang="en-US" altLang="zh-CN" baseline="-25000">
                <a:solidFill>
                  <a:srgbClr val="000000"/>
                </a:solidFill>
              </a:rPr>
              <a:t>2</a:t>
            </a:r>
            <a:r>
              <a:rPr lang="en-US" altLang="zh-CN"/>
              <a:t> = L</a:t>
            </a:r>
            <a:r>
              <a:rPr lang="en-US" altLang="zh-CN" baseline="-25000">
                <a:solidFill>
                  <a:srgbClr val="000000"/>
                </a:solidFill>
              </a:rPr>
              <a:t>2</a:t>
            </a:r>
            <a:r>
              <a:rPr lang="zh-CN" altLang="en-US"/>
              <a:t>（</a:t>
            </a:r>
            <a:r>
              <a:rPr lang="en-US" altLang="zh-CN"/>
              <a:t>r</a:t>
            </a:r>
            <a:r>
              <a:rPr lang="zh-CN" altLang="en-US"/>
              <a:t>）</a:t>
            </a:r>
            <a:r>
              <a:rPr lang="en-US" altLang="zh-CN"/>
              <a:t>=-hr</a:t>
            </a:r>
            <a:r>
              <a:rPr lang="zh-CN" altLang="en-US"/>
              <a:t>，随利率变化而变化</a:t>
            </a:r>
            <a:r>
              <a:rPr lang="zh-CN" altLang="en-US">
                <a:solidFill>
                  <a:srgbClr val="FF0000"/>
                </a:solidFill>
              </a:rPr>
              <a:t>（</a:t>
            </a:r>
            <a:r>
              <a:rPr lang="en-US" altLang="zh-CN">
                <a:solidFill>
                  <a:srgbClr val="FF0000"/>
                </a:solidFill>
              </a:rPr>
              <a:t>r</a:t>
            </a:r>
            <a:r>
              <a:rPr lang="zh-CN" altLang="en-US">
                <a:solidFill>
                  <a:srgbClr val="FF0000"/>
                </a:solidFill>
              </a:rPr>
              <a:t>指百分点）</a:t>
            </a:r>
          </a:p>
        </p:txBody>
      </p:sp>
    </p:spTree>
    <p:extLst>
      <p:ext uri="{BB962C8B-B14F-4D97-AF65-F5344CB8AC3E}">
        <p14:creationId xmlns:p14="http://schemas.microsoft.com/office/powerpoint/2010/main" val="1667846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B7589D40-CC19-4E47-8AAC-BA2930D20F51}"/>
              </a:ext>
            </a:extLst>
          </p:cNvPr>
          <p:cNvSpPr>
            <a:spLocks noGrp="1" noChangeArrowheads="1"/>
          </p:cNvSpPr>
          <p:nvPr>
            <p:ph type="title"/>
          </p:nvPr>
        </p:nvSpPr>
        <p:spPr>
          <a:xfrm>
            <a:off x="323850" y="578019"/>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3100" dirty="0"/>
              <a:t>流动偏好陷阱</a:t>
            </a:r>
            <a:r>
              <a:rPr lang="zh-CN" altLang="en-US" sz="3100" dirty="0">
                <a:solidFill>
                  <a:srgbClr val="FFFF00"/>
                </a:solidFill>
              </a:rPr>
              <a:t>（凯恩斯陷阱</a:t>
            </a:r>
            <a:r>
              <a:rPr lang="zh-CN" altLang="en-US" sz="2800" dirty="0">
                <a:solidFill>
                  <a:srgbClr val="FFFF00"/>
                </a:solidFill>
              </a:rPr>
              <a:t>）</a:t>
            </a:r>
          </a:p>
        </p:txBody>
      </p:sp>
      <p:sp>
        <p:nvSpPr>
          <p:cNvPr id="5" name="Rectangle 9">
            <a:extLst>
              <a:ext uri="{FF2B5EF4-FFF2-40B4-BE49-F238E27FC236}">
                <a16:creationId xmlns:a16="http://schemas.microsoft.com/office/drawing/2014/main" id="{038ACC04-0727-4984-A75F-499E39B1EDB8}"/>
              </a:ext>
            </a:extLst>
          </p:cNvPr>
          <p:cNvSpPr txBox="1">
            <a:spLocks noChangeArrowheads="1"/>
          </p:cNvSpPr>
          <p:nvPr/>
        </p:nvSpPr>
        <p:spPr>
          <a:xfrm>
            <a:off x="323850" y="2665581"/>
            <a:ext cx="4752975" cy="576263"/>
          </a:xfrm>
          <a:prstGeom prst="rect">
            <a:avLst/>
          </a:prstGeom>
          <a:noFill/>
          <a:ln w="3175" cmpd="sng">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a:t>利率越高，货币需求越少。</a:t>
            </a:r>
          </a:p>
        </p:txBody>
      </p:sp>
      <p:sp>
        <p:nvSpPr>
          <p:cNvPr id="6" name="Rectangle 11">
            <a:extLst>
              <a:ext uri="{FF2B5EF4-FFF2-40B4-BE49-F238E27FC236}">
                <a16:creationId xmlns:a16="http://schemas.microsoft.com/office/drawing/2014/main" id="{FF0EF0DB-4C3A-4A60-9926-546FD2C82D07}"/>
              </a:ext>
            </a:extLst>
          </p:cNvPr>
          <p:cNvSpPr>
            <a:spLocks noChangeArrowheads="1"/>
          </p:cNvSpPr>
          <p:nvPr/>
        </p:nvSpPr>
        <p:spPr bwMode="auto">
          <a:xfrm>
            <a:off x="323850" y="1514644"/>
            <a:ext cx="4752975" cy="95250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20000"/>
              </a:spcBef>
              <a:buClr>
                <a:srgbClr val="FF0000"/>
              </a:buClr>
              <a:buSzPct val="95000"/>
              <a:buFont typeface="Wingdings" panose="05000000000000000000" pitchFamily="2" charset="2"/>
              <a:buChar char="n"/>
            </a:pPr>
            <a:r>
              <a:rPr lang="zh-CN" altLang="en-US" dirty="0"/>
              <a:t>证券价格随利率变化而变化，利率越高，证券价格越低。</a:t>
            </a:r>
          </a:p>
        </p:txBody>
      </p:sp>
      <p:sp>
        <p:nvSpPr>
          <p:cNvPr id="7" name="Rectangle 12">
            <a:extLst>
              <a:ext uri="{FF2B5EF4-FFF2-40B4-BE49-F238E27FC236}">
                <a16:creationId xmlns:a16="http://schemas.microsoft.com/office/drawing/2014/main" id="{FF00B34D-5474-443E-ADE3-B322516694C2}"/>
              </a:ext>
            </a:extLst>
          </p:cNvPr>
          <p:cNvSpPr>
            <a:spLocks noChangeArrowheads="1"/>
          </p:cNvSpPr>
          <p:nvPr/>
        </p:nvSpPr>
        <p:spPr bwMode="auto">
          <a:xfrm>
            <a:off x="5724525" y="1514644"/>
            <a:ext cx="2952750" cy="898525"/>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hlink"/>
              </a:buClr>
              <a:buSzPct val="95000"/>
              <a:buFont typeface="Wingdings" panose="05000000000000000000" pitchFamily="2" charset="2"/>
              <a:buNone/>
            </a:pPr>
            <a:r>
              <a:rPr lang="zh-CN" altLang="en-US"/>
              <a:t>证券价格</a:t>
            </a:r>
          </a:p>
          <a:p>
            <a:pPr>
              <a:buClr>
                <a:schemeClr val="hlink"/>
              </a:buClr>
              <a:buSzPct val="95000"/>
              <a:buFont typeface="Wingdings" panose="05000000000000000000" pitchFamily="2" charset="2"/>
              <a:buNone/>
            </a:pPr>
            <a:r>
              <a:rPr lang="zh-CN" altLang="en-US"/>
              <a:t>＝红利</a:t>
            </a:r>
            <a:r>
              <a:rPr lang="en-US" altLang="zh-CN">
                <a:solidFill>
                  <a:srgbClr val="FF0000"/>
                </a:solidFill>
              </a:rPr>
              <a:t>/</a:t>
            </a:r>
            <a:r>
              <a:rPr lang="zh-CN" altLang="en-US"/>
              <a:t>利率</a:t>
            </a:r>
          </a:p>
        </p:txBody>
      </p:sp>
      <p:sp>
        <p:nvSpPr>
          <p:cNvPr id="8" name="Rectangle 13">
            <a:extLst>
              <a:ext uri="{FF2B5EF4-FFF2-40B4-BE49-F238E27FC236}">
                <a16:creationId xmlns:a16="http://schemas.microsoft.com/office/drawing/2014/main" id="{807D39DF-5B88-45B7-8554-398C6365E5FA}"/>
              </a:ext>
            </a:extLst>
          </p:cNvPr>
          <p:cNvSpPr>
            <a:spLocks noChangeArrowheads="1"/>
          </p:cNvSpPr>
          <p:nvPr/>
        </p:nvSpPr>
        <p:spPr bwMode="auto">
          <a:xfrm>
            <a:off x="323850" y="3530769"/>
            <a:ext cx="8424863" cy="935037"/>
          </a:xfrm>
          <a:prstGeom prst="rect">
            <a:avLst/>
          </a:prstGeom>
          <a:noFill/>
          <a:ln w="3175" cap="sq" cmpd="dbl">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zh-CN" altLang="en-US"/>
              <a:t>利率极高时，货币需求为</a:t>
            </a:r>
            <a:r>
              <a:rPr lang="en-US" altLang="zh-CN"/>
              <a:t>0</a:t>
            </a:r>
            <a:r>
              <a:rPr lang="zh-CN" altLang="en-US"/>
              <a:t>。人们会认为，利率不可能再上升；证券价格不再下降，因而将所有货币换成有价证券。</a:t>
            </a:r>
          </a:p>
        </p:txBody>
      </p:sp>
      <p:sp>
        <p:nvSpPr>
          <p:cNvPr id="9" name="Rectangle 14">
            <a:extLst>
              <a:ext uri="{FF2B5EF4-FFF2-40B4-BE49-F238E27FC236}">
                <a16:creationId xmlns:a16="http://schemas.microsoft.com/office/drawing/2014/main" id="{A2A3A328-C167-4833-A456-A0BE9EB99F72}"/>
              </a:ext>
            </a:extLst>
          </p:cNvPr>
          <p:cNvSpPr>
            <a:spLocks noChangeArrowheads="1"/>
          </p:cNvSpPr>
          <p:nvPr/>
        </p:nvSpPr>
        <p:spPr bwMode="auto">
          <a:xfrm>
            <a:off x="323850" y="4610269"/>
            <a:ext cx="8424863" cy="2087562"/>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a:t>流动偏好陷阱：利率极低时，人们认为利率不可能再降低，或者证券价格不再上升，而会跌落，因而将所有证券全部换成货币。</a:t>
            </a:r>
          </a:p>
          <a:p>
            <a:pPr>
              <a:buClr>
                <a:schemeClr val="hlink"/>
              </a:buClr>
              <a:buSzPct val="95000"/>
              <a:buFont typeface="Wingdings" panose="05000000000000000000" pitchFamily="2" charset="2"/>
              <a:buChar char="u"/>
            </a:pPr>
            <a:r>
              <a:rPr lang="zh-CN" altLang="en-US"/>
              <a:t>不管有多少货币，都愿意持有在手中，以免证券价格下跌遭受损失。</a:t>
            </a:r>
          </a:p>
        </p:txBody>
      </p:sp>
    </p:spTree>
    <p:extLst>
      <p:ext uri="{BB962C8B-B14F-4D97-AF65-F5344CB8AC3E}">
        <p14:creationId xmlns:p14="http://schemas.microsoft.com/office/powerpoint/2010/main" val="621034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FD53618-44AC-44D0-B561-83582F104273}"/>
              </a:ext>
            </a:extLst>
          </p:cNvPr>
          <p:cNvSpPr>
            <a:spLocks noGrp="1" noChangeArrowheads="1"/>
          </p:cNvSpPr>
          <p:nvPr>
            <p:ph type="title"/>
          </p:nvPr>
        </p:nvSpPr>
        <p:spPr>
          <a:xfrm>
            <a:off x="430854" y="590584"/>
            <a:ext cx="5832475" cy="647700"/>
          </a:xfrm>
        </p:spPr>
        <p:txBody>
          <a:bodyPr>
            <a:normAutofit/>
          </a:bodyPr>
          <a:lstStyle/>
          <a:p>
            <a:r>
              <a:rPr lang="zh-CN" altLang="en-US" sz="2800" dirty="0"/>
              <a:t>流动偏好</a:t>
            </a:r>
          </a:p>
        </p:txBody>
      </p:sp>
      <p:sp>
        <p:nvSpPr>
          <p:cNvPr id="5" name="Rectangle 4">
            <a:extLst>
              <a:ext uri="{FF2B5EF4-FFF2-40B4-BE49-F238E27FC236}">
                <a16:creationId xmlns:a16="http://schemas.microsoft.com/office/drawing/2014/main" id="{DF916091-4460-4589-AFBB-D61F81DB0A66}"/>
              </a:ext>
            </a:extLst>
          </p:cNvPr>
          <p:cNvSpPr txBox="1">
            <a:spLocks noChangeArrowheads="1"/>
          </p:cNvSpPr>
          <p:nvPr/>
        </p:nvSpPr>
        <p:spPr>
          <a:xfrm>
            <a:off x="323850" y="1274797"/>
            <a:ext cx="8496300" cy="1295400"/>
          </a:xfrm>
          <a:prstGeom prst="rect">
            <a:avLst/>
          </a:prstGeom>
          <a:noFill/>
          <a:ln w="3175">
            <a:solidFill>
              <a:schemeClr val="tx1"/>
            </a:solidFill>
          </a:ln>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财富，除了货币之外，还有很多其他的。以其他形式持有会获得红利、租金等收益。</a:t>
            </a:r>
          </a:p>
          <a:p>
            <a:r>
              <a:rPr lang="zh-CN" altLang="en-US"/>
              <a:t>但是，持有货币这种不生息的资产，具有使用上的灵活性。</a:t>
            </a:r>
          </a:p>
        </p:txBody>
      </p:sp>
      <p:sp>
        <p:nvSpPr>
          <p:cNvPr id="6" name="Rectangle 5">
            <a:extLst>
              <a:ext uri="{FF2B5EF4-FFF2-40B4-BE49-F238E27FC236}">
                <a16:creationId xmlns:a16="http://schemas.microsoft.com/office/drawing/2014/main" id="{4CB82C64-87C6-4C3A-B8F6-0124F6520EA2}"/>
              </a:ext>
            </a:extLst>
          </p:cNvPr>
          <p:cNvSpPr>
            <a:spLocks noChangeArrowheads="1"/>
          </p:cNvSpPr>
          <p:nvPr/>
        </p:nvSpPr>
        <p:spPr bwMode="auto">
          <a:xfrm>
            <a:off x="323850" y="4514885"/>
            <a:ext cx="8496300" cy="1728787"/>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t>当利率极低时，手中无论增加多少货币，都要留在手里，不会去购买证券。</a:t>
            </a:r>
          </a:p>
          <a:p>
            <a:r>
              <a:rPr lang="zh-CN" altLang="en-US"/>
              <a:t>此时，流动性偏好趋向于无穷大。增加货币供给，不会促使利率再下降。</a:t>
            </a:r>
          </a:p>
        </p:txBody>
      </p:sp>
      <p:sp>
        <p:nvSpPr>
          <p:cNvPr id="7" name="Rectangle 6">
            <a:extLst>
              <a:ext uri="{FF2B5EF4-FFF2-40B4-BE49-F238E27FC236}">
                <a16:creationId xmlns:a16="http://schemas.microsoft.com/office/drawing/2014/main" id="{9D90E992-4363-449E-BC3E-FC2E1DC9ABA8}"/>
              </a:ext>
            </a:extLst>
          </p:cNvPr>
          <p:cNvSpPr>
            <a:spLocks noChangeArrowheads="1"/>
          </p:cNvSpPr>
          <p:nvPr/>
        </p:nvSpPr>
        <p:spPr bwMode="auto">
          <a:xfrm>
            <a:off x="323850" y="2930560"/>
            <a:ext cx="8496300" cy="129540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a:t>流动偏好：人们持有货币的偏好。</a:t>
            </a:r>
          </a:p>
          <a:p>
            <a:pPr>
              <a:lnSpc>
                <a:spcPct val="90000"/>
              </a:lnSpc>
            </a:pPr>
            <a:r>
              <a:rPr lang="zh-CN" altLang="en-US"/>
              <a:t>由于货币是流动性和灵活性最大的资产，随时可作交易之用、预防不测之需和投机。</a:t>
            </a:r>
          </a:p>
        </p:txBody>
      </p:sp>
    </p:spTree>
    <p:extLst>
      <p:ext uri="{BB962C8B-B14F-4D97-AF65-F5344CB8AC3E}">
        <p14:creationId xmlns:p14="http://schemas.microsoft.com/office/powerpoint/2010/main" val="3979541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8C68C27-CECF-4812-BA62-8B9F4BD4C68F}"/>
              </a:ext>
            </a:extLst>
          </p:cNvPr>
          <p:cNvSpPr>
            <a:spLocks noGrp="1" noChangeArrowheads="1"/>
          </p:cNvSpPr>
          <p:nvPr>
            <p:ph type="title"/>
          </p:nvPr>
        </p:nvSpPr>
        <p:spPr>
          <a:xfrm>
            <a:off x="391943" y="597474"/>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货币需求函数</a:t>
            </a:r>
          </a:p>
        </p:txBody>
      </p:sp>
      <p:sp>
        <p:nvSpPr>
          <p:cNvPr id="5" name="Rectangle 3">
            <a:extLst>
              <a:ext uri="{FF2B5EF4-FFF2-40B4-BE49-F238E27FC236}">
                <a16:creationId xmlns:a16="http://schemas.microsoft.com/office/drawing/2014/main" id="{87A99567-91D0-413A-ADC8-11E16B00EA2C}"/>
              </a:ext>
            </a:extLst>
          </p:cNvPr>
          <p:cNvSpPr txBox="1">
            <a:spLocks noChangeArrowheads="1"/>
          </p:cNvSpPr>
          <p:nvPr/>
        </p:nvSpPr>
        <p:spPr>
          <a:xfrm>
            <a:off x="463381" y="1605536"/>
            <a:ext cx="2881312" cy="1511300"/>
          </a:xfrm>
          <a:prstGeom prst="rect">
            <a:avLst/>
          </a:prstGeom>
          <a:blipFill>
            <a:blip r:embed="rId2"/>
          </a:blipFill>
          <a:ln w="76200" cmpd="sng">
            <a:solidFill>
              <a:srgbClr val="336600"/>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None/>
            </a:pPr>
            <a:r>
              <a:rPr lang="zh-CN" altLang="en-US">
                <a:solidFill>
                  <a:srgbClr val="000000"/>
                </a:solidFill>
                <a:latin typeface="黑体" panose="02010609060101010101" pitchFamily="49" charset="-122"/>
                <a:ea typeface="黑体" panose="02010609060101010101" pitchFamily="49" charset="-122"/>
              </a:rPr>
              <a:t>实际货币总需求</a:t>
            </a:r>
          </a:p>
          <a:p>
            <a:pPr>
              <a:buClr>
                <a:schemeClr val="hlink"/>
              </a:buClr>
              <a:buSzPct val="95000"/>
              <a:buFont typeface="Wingdings" panose="05000000000000000000" pitchFamily="2" charset="2"/>
              <a:buNone/>
            </a:pPr>
            <a:r>
              <a:rPr lang="en-US" altLang="zh-CN">
                <a:solidFill>
                  <a:srgbClr val="000000"/>
                </a:solidFill>
                <a:latin typeface="黑体" panose="02010609060101010101" pitchFamily="49" charset="-122"/>
                <a:ea typeface="黑体" panose="02010609060101010101" pitchFamily="49" charset="-122"/>
              </a:rPr>
              <a:t>L = L</a:t>
            </a:r>
            <a:r>
              <a:rPr lang="en-US" altLang="zh-CN" baseline="-6000">
                <a:solidFill>
                  <a:srgbClr val="000000"/>
                </a:solidFill>
                <a:latin typeface="黑体" panose="02010609060101010101" pitchFamily="49" charset="-122"/>
                <a:ea typeface="黑体" panose="02010609060101010101" pitchFamily="49" charset="-122"/>
              </a:rPr>
              <a:t>1</a:t>
            </a:r>
            <a:r>
              <a:rPr lang="en-US" altLang="zh-CN">
                <a:solidFill>
                  <a:srgbClr val="000000"/>
                </a:solidFill>
                <a:latin typeface="黑体" panose="02010609060101010101" pitchFamily="49" charset="-122"/>
                <a:ea typeface="黑体" panose="02010609060101010101" pitchFamily="49" charset="-122"/>
              </a:rPr>
              <a:t> + L</a:t>
            </a:r>
            <a:r>
              <a:rPr lang="en-US" altLang="zh-CN" baseline="-6000">
                <a:solidFill>
                  <a:srgbClr val="000000"/>
                </a:solidFill>
                <a:latin typeface="黑体" panose="02010609060101010101" pitchFamily="49" charset="-122"/>
                <a:ea typeface="黑体" panose="02010609060101010101" pitchFamily="49" charset="-122"/>
              </a:rPr>
              <a:t>2</a:t>
            </a:r>
            <a:r>
              <a:rPr lang="en-US" altLang="zh-CN">
                <a:solidFill>
                  <a:srgbClr val="000000"/>
                </a:solidFill>
                <a:latin typeface="黑体" panose="02010609060101010101" pitchFamily="49" charset="-122"/>
                <a:ea typeface="黑体" panose="02010609060101010101" pitchFamily="49" charset="-122"/>
              </a:rPr>
              <a:t> </a:t>
            </a:r>
          </a:p>
          <a:p>
            <a:pPr>
              <a:buClr>
                <a:schemeClr val="hlink"/>
              </a:buClr>
              <a:buSzPct val="95000"/>
              <a:buFont typeface="Wingdings" panose="05000000000000000000" pitchFamily="2" charset="2"/>
              <a:buNone/>
            </a:pPr>
            <a:r>
              <a:rPr lang="en-US" altLang="zh-CN">
                <a:solidFill>
                  <a:srgbClr val="000000"/>
                </a:solidFill>
                <a:latin typeface="黑体" panose="02010609060101010101" pitchFamily="49" charset="-122"/>
                <a:ea typeface="黑体" panose="02010609060101010101" pitchFamily="49" charset="-122"/>
              </a:rPr>
              <a:t>  = ky </a:t>
            </a:r>
            <a:r>
              <a:rPr lang="en-US" altLang="zh-CN">
                <a:solidFill>
                  <a:srgbClr val="000000"/>
                </a:solidFill>
                <a:ea typeface="黑体" panose="02010609060101010101" pitchFamily="49" charset="-122"/>
              </a:rPr>
              <a:t>–</a:t>
            </a:r>
            <a:r>
              <a:rPr lang="en-US" altLang="zh-CN">
                <a:solidFill>
                  <a:srgbClr val="000000"/>
                </a:solidFill>
                <a:latin typeface="黑体" panose="02010609060101010101" pitchFamily="49" charset="-122"/>
                <a:ea typeface="黑体" panose="02010609060101010101" pitchFamily="49" charset="-122"/>
              </a:rPr>
              <a:t> hr</a:t>
            </a:r>
          </a:p>
        </p:txBody>
      </p:sp>
      <p:sp>
        <p:nvSpPr>
          <p:cNvPr id="6" name="Rectangle 5">
            <a:extLst>
              <a:ext uri="{FF2B5EF4-FFF2-40B4-BE49-F238E27FC236}">
                <a16:creationId xmlns:a16="http://schemas.microsoft.com/office/drawing/2014/main" id="{374175EB-FC30-481B-ACDC-23EA3F0CB09E}"/>
              </a:ext>
            </a:extLst>
          </p:cNvPr>
          <p:cNvSpPr>
            <a:spLocks noChangeArrowheads="1"/>
          </p:cNvSpPr>
          <p:nvPr/>
        </p:nvSpPr>
        <p:spPr bwMode="auto">
          <a:xfrm>
            <a:off x="463381" y="3405761"/>
            <a:ext cx="2881312" cy="3168650"/>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SzPct val="95000"/>
              <a:buFont typeface="Wingdings" panose="05000000000000000000" pitchFamily="2" charset="2"/>
              <a:buChar char="n"/>
            </a:pPr>
            <a:r>
              <a:rPr lang="zh-CN" altLang="en-US" dirty="0">
                <a:latin typeface="黑体" panose="02010609060101010101" pitchFamily="49" charset="-122"/>
                <a:ea typeface="黑体" panose="02010609060101010101" pitchFamily="49" charset="-122"/>
              </a:rPr>
              <a:t>名义货币量仅仅计算票面价值，必须用价格指数加以调整。</a:t>
            </a:r>
          </a:p>
          <a:p>
            <a:pPr>
              <a:buClr>
                <a:srgbClr val="FF0000"/>
              </a:buClr>
              <a:buSzPct val="95000"/>
              <a:buFont typeface="Wingdings" panose="05000000000000000000" pitchFamily="2" charset="2"/>
              <a:buChar char="n"/>
            </a:pPr>
            <a:r>
              <a:rPr lang="zh-CN" altLang="en-US" dirty="0">
                <a:latin typeface="黑体" panose="02010609060101010101" pitchFamily="49" charset="-122"/>
                <a:ea typeface="黑体" panose="02010609060101010101" pitchFamily="49" charset="-122"/>
              </a:rPr>
              <a:t>价格指数＝</a:t>
            </a:r>
            <a:r>
              <a:rPr lang="en-US" altLang="zh-CN" dirty="0">
                <a:latin typeface="黑体" panose="02010609060101010101" pitchFamily="49" charset="-122"/>
                <a:ea typeface="黑体" panose="02010609060101010101" pitchFamily="49" charset="-122"/>
              </a:rPr>
              <a:t>P</a:t>
            </a:r>
          </a:p>
          <a:p>
            <a:pPr>
              <a:buClr>
                <a:srgbClr val="FF0000"/>
              </a:buClr>
              <a:buSzPct val="95000"/>
              <a:buFont typeface="Wingdings" panose="05000000000000000000" pitchFamily="2" charset="2"/>
              <a:buChar char="n"/>
            </a:pPr>
            <a:r>
              <a:rPr lang="zh-CN" altLang="en-US" dirty="0">
                <a:latin typeface="黑体" panose="02010609060101010101" pitchFamily="49" charset="-122"/>
                <a:ea typeface="黑体" panose="02010609060101010101" pitchFamily="49" charset="-122"/>
              </a:rPr>
              <a:t>名义货币需求</a:t>
            </a:r>
          </a:p>
          <a:p>
            <a:pPr>
              <a:buClr>
                <a:srgbClr val="FF0000"/>
              </a:buClr>
              <a:buSzPct val="95000"/>
              <a:buFont typeface="Wingdings" panose="05000000000000000000" pitchFamily="2" charset="2"/>
              <a:buChar char="n"/>
            </a:pPr>
            <a:r>
              <a:rPr lang="en-US" altLang="zh-CN" dirty="0">
                <a:latin typeface="黑体" panose="02010609060101010101" pitchFamily="49" charset="-122"/>
                <a:ea typeface="黑体" panose="02010609060101010101" pitchFamily="49" charset="-122"/>
              </a:rPr>
              <a:t>L</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t>
            </a:r>
            <a:r>
              <a:rPr lang="en-US" altLang="zh-CN" dirty="0" err="1">
                <a:latin typeface="黑体" panose="02010609060101010101" pitchFamily="49" charset="-122"/>
                <a:ea typeface="黑体" panose="02010609060101010101" pitchFamily="49" charset="-122"/>
              </a:rPr>
              <a:t>ky-hr</a:t>
            </a:r>
            <a:r>
              <a:rPr lang="en-US" altLang="zh-CN" dirty="0">
                <a:latin typeface="黑体" panose="02010609060101010101" pitchFamily="49" charset="-122"/>
                <a:ea typeface="黑体" panose="02010609060101010101" pitchFamily="49" charset="-122"/>
              </a:rPr>
              <a:t>)P</a:t>
            </a:r>
          </a:p>
        </p:txBody>
      </p:sp>
      <p:pic>
        <p:nvPicPr>
          <p:cNvPr id="7" name="图片 6">
            <a:extLst>
              <a:ext uri="{FF2B5EF4-FFF2-40B4-BE49-F238E27FC236}">
                <a16:creationId xmlns:a16="http://schemas.microsoft.com/office/drawing/2014/main" id="{6652F1BB-8EBA-468D-B9C5-FBA9874F9221}"/>
              </a:ext>
            </a:extLst>
          </p:cNvPr>
          <p:cNvPicPr>
            <a:picLocks noChangeAspect="1"/>
          </p:cNvPicPr>
          <p:nvPr/>
        </p:nvPicPr>
        <p:blipFill>
          <a:blip r:embed="rId5"/>
          <a:stretch>
            <a:fillRect/>
          </a:stretch>
        </p:blipFill>
        <p:spPr>
          <a:xfrm>
            <a:off x="3952172" y="1825441"/>
            <a:ext cx="4054191" cy="4549534"/>
          </a:xfrm>
          <a:prstGeom prst="rect">
            <a:avLst/>
          </a:prstGeom>
        </p:spPr>
      </p:pic>
    </p:spTree>
    <p:extLst>
      <p:ext uri="{BB962C8B-B14F-4D97-AF65-F5344CB8AC3E}">
        <p14:creationId xmlns:p14="http://schemas.microsoft.com/office/powerpoint/2010/main" val="4021468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64375B6-A225-4A91-8FE1-67FC888C2EBD}"/>
              </a:ext>
            </a:extLst>
          </p:cNvPr>
          <p:cNvSpPr>
            <a:spLocks noGrp="1" noChangeArrowheads="1"/>
          </p:cNvSpPr>
          <p:nvPr>
            <p:ph type="title"/>
          </p:nvPr>
        </p:nvSpPr>
        <p:spPr>
          <a:xfrm>
            <a:off x="395288" y="477838"/>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货币供给</a:t>
            </a:r>
          </a:p>
        </p:txBody>
      </p:sp>
      <p:sp>
        <p:nvSpPr>
          <p:cNvPr id="5" name="Rectangle 3">
            <a:extLst>
              <a:ext uri="{FF2B5EF4-FFF2-40B4-BE49-F238E27FC236}">
                <a16:creationId xmlns:a16="http://schemas.microsoft.com/office/drawing/2014/main" id="{60A53D85-1CB1-4E31-8CFB-7B410E91A19E}"/>
              </a:ext>
            </a:extLst>
          </p:cNvPr>
          <p:cNvSpPr txBox="1">
            <a:spLocks noChangeArrowheads="1"/>
          </p:cNvSpPr>
          <p:nvPr/>
        </p:nvSpPr>
        <p:spPr>
          <a:xfrm>
            <a:off x="395288" y="1125538"/>
            <a:ext cx="8497887" cy="1079500"/>
          </a:xfrm>
          <a:prstGeom prst="rect">
            <a:avLst/>
          </a:prstGeom>
          <a:noFill/>
          <a:ln w="3175" cmpd="tri">
            <a:solidFill>
              <a:schemeClr val="tx1"/>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36600"/>
              </a:buClr>
              <a:buSzPct val="95000"/>
              <a:buFont typeface="Wingdings" panose="05000000000000000000" pitchFamily="2" charset="2"/>
              <a:buChar char="l"/>
            </a:pPr>
            <a:r>
              <a:rPr lang="zh-CN" altLang="en-US" dirty="0">
                <a:latin typeface="黑体" panose="02010609060101010101" pitchFamily="49" charset="-122"/>
                <a:ea typeface="黑体" panose="02010609060101010101" pitchFamily="49" charset="-122"/>
              </a:rPr>
              <a:t>货币供给是一个存量概念：</a:t>
            </a:r>
          </a:p>
          <a:p>
            <a:pPr>
              <a:buClr>
                <a:srgbClr val="336600"/>
              </a:buClr>
              <a:buSzPct val="95000"/>
              <a:buFont typeface="Wingdings" panose="05000000000000000000" pitchFamily="2" charset="2"/>
              <a:buChar char="l"/>
            </a:pPr>
            <a:r>
              <a:rPr lang="zh-CN" altLang="en-US" dirty="0">
                <a:latin typeface="黑体" panose="02010609060101010101" pitchFamily="49" charset="-122"/>
                <a:ea typeface="黑体" panose="02010609060101010101" pitchFamily="49" charset="-122"/>
              </a:rPr>
              <a:t>主要是狭义货币，</a:t>
            </a:r>
            <a:r>
              <a:rPr lang="en-US" altLang="zh-CN" dirty="0">
                <a:latin typeface="黑体" panose="02010609060101010101" pitchFamily="49" charset="-122"/>
                <a:ea typeface="黑体" panose="02010609060101010101" pitchFamily="49" charset="-122"/>
              </a:rPr>
              <a:t>M1</a:t>
            </a:r>
            <a:r>
              <a:rPr lang="zh-CN" altLang="en-US" dirty="0">
                <a:latin typeface="黑体" panose="02010609060101010101" pitchFamily="49" charset="-122"/>
                <a:ea typeface="黑体" panose="02010609060101010101" pitchFamily="49" charset="-122"/>
              </a:rPr>
              <a:t>：硬币、纸币和银行活期存款。</a:t>
            </a:r>
          </a:p>
        </p:txBody>
      </p:sp>
      <p:sp>
        <p:nvSpPr>
          <p:cNvPr id="6" name="Rectangle 9">
            <a:extLst>
              <a:ext uri="{FF2B5EF4-FFF2-40B4-BE49-F238E27FC236}">
                <a16:creationId xmlns:a16="http://schemas.microsoft.com/office/drawing/2014/main" id="{691ECF4C-5AFB-40FA-9D5C-BB1E29D88ECB}"/>
              </a:ext>
            </a:extLst>
          </p:cNvPr>
          <p:cNvSpPr>
            <a:spLocks noChangeArrowheads="1"/>
          </p:cNvSpPr>
          <p:nvPr/>
        </p:nvSpPr>
        <p:spPr bwMode="auto">
          <a:xfrm>
            <a:off x="395288" y="2420938"/>
            <a:ext cx="3889375" cy="1512887"/>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SzPct val="95000"/>
              <a:buFont typeface="Wingdings" panose="05000000000000000000" pitchFamily="2" charset="2"/>
              <a:buChar char="n"/>
            </a:pPr>
            <a:r>
              <a:rPr lang="zh-CN" altLang="en-US" b="0">
                <a:latin typeface="黑体" panose="02010609060101010101" pitchFamily="49" charset="-122"/>
                <a:ea typeface="黑体" panose="02010609060101010101" pitchFamily="49" charset="-122"/>
              </a:rPr>
              <a:t>价格指数＝</a:t>
            </a:r>
            <a:r>
              <a:rPr lang="en-US" altLang="zh-CN" b="0">
                <a:latin typeface="黑体" panose="02010609060101010101" pitchFamily="49" charset="-122"/>
                <a:ea typeface="黑体" panose="02010609060101010101" pitchFamily="49" charset="-122"/>
              </a:rPr>
              <a:t>P</a:t>
            </a:r>
          </a:p>
          <a:p>
            <a:pPr>
              <a:buClr>
                <a:srgbClr val="FF0000"/>
              </a:buClr>
              <a:buSzPct val="95000"/>
              <a:buFont typeface="Wingdings" panose="05000000000000000000" pitchFamily="2" charset="2"/>
              <a:buChar char="n"/>
            </a:pPr>
            <a:r>
              <a:rPr lang="zh-CN" altLang="en-US" b="0">
                <a:latin typeface="黑体" panose="02010609060101010101" pitchFamily="49" charset="-122"/>
                <a:ea typeface="黑体" panose="02010609060101010101" pitchFamily="49" charset="-122"/>
              </a:rPr>
              <a:t>实际货币量＝</a:t>
            </a:r>
            <a:r>
              <a:rPr lang="en-US" altLang="zh-CN" b="0">
                <a:latin typeface="黑体" panose="02010609060101010101" pitchFamily="49" charset="-122"/>
                <a:ea typeface="黑体" panose="02010609060101010101" pitchFamily="49" charset="-122"/>
              </a:rPr>
              <a:t>m</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M /P</a:t>
            </a:r>
          </a:p>
          <a:p>
            <a:pPr>
              <a:buClr>
                <a:srgbClr val="FF0000"/>
              </a:buClr>
              <a:buSzPct val="95000"/>
              <a:buFont typeface="Wingdings" panose="05000000000000000000" pitchFamily="2" charset="2"/>
              <a:buChar char="n"/>
            </a:pPr>
            <a:r>
              <a:rPr lang="zh-CN" altLang="en-US" b="0">
                <a:latin typeface="黑体" panose="02010609060101010101" pitchFamily="49" charset="-122"/>
                <a:ea typeface="黑体" panose="02010609060101010101" pitchFamily="49" charset="-122"/>
              </a:rPr>
              <a:t>名义货币量＝</a:t>
            </a:r>
            <a:r>
              <a:rPr lang="en-US" altLang="zh-CN" b="0">
                <a:latin typeface="黑体" panose="02010609060101010101" pitchFamily="49" charset="-122"/>
                <a:ea typeface="黑体" panose="02010609060101010101" pitchFamily="49" charset="-122"/>
              </a:rPr>
              <a:t>M</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mP</a:t>
            </a:r>
          </a:p>
        </p:txBody>
      </p:sp>
      <p:sp>
        <p:nvSpPr>
          <p:cNvPr id="7" name="Rectangle 60">
            <a:extLst>
              <a:ext uri="{FF2B5EF4-FFF2-40B4-BE49-F238E27FC236}">
                <a16:creationId xmlns:a16="http://schemas.microsoft.com/office/drawing/2014/main" id="{265E72C1-DA60-4035-8766-EB1413BC0D8A}"/>
              </a:ext>
            </a:extLst>
          </p:cNvPr>
          <p:cNvSpPr>
            <a:spLocks noChangeArrowheads="1"/>
          </p:cNvSpPr>
          <p:nvPr/>
        </p:nvSpPr>
        <p:spPr bwMode="auto">
          <a:xfrm>
            <a:off x="395288" y="4076700"/>
            <a:ext cx="3889375" cy="208915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FF0000"/>
              </a:buClr>
              <a:buSzPct val="95000"/>
              <a:buFont typeface="Wingdings" panose="05000000000000000000" pitchFamily="2" charset="2"/>
              <a:buChar char="n"/>
            </a:pPr>
            <a:r>
              <a:rPr lang="zh-CN" altLang="en-US" b="0">
                <a:latin typeface="黑体" panose="02010609060101010101" pitchFamily="49" charset="-122"/>
                <a:ea typeface="黑体" panose="02010609060101010101" pitchFamily="49" charset="-122"/>
              </a:rPr>
              <a:t>货币供给是一国某个时点上，所有不属于政府和银行的狭义货币。</a:t>
            </a:r>
          </a:p>
          <a:p>
            <a:pPr>
              <a:buClr>
                <a:srgbClr val="FF0000"/>
              </a:buClr>
              <a:buSzPct val="95000"/>
              <a:buFont typeface="Wingdings" panose="05000000000000000000" pitchFamily="2" charset="2"/>
              <a:buChar char="n"/>
            </a:pPr>
            <a:r>
              <a:rPr lang="zh-CN" altLang="en-US" b="0">
                <a:latin typeface="黑体" panose="02010609060101010101" pitchFamily="49" charset="-122"/>
                <a:ea typeface="黑体" panose="02010609060101010101" pitchFamily="49" charset="-122"/>
              </a:rPr>
              <a:t>是外生变量，不受利率影响，由国家政策调节。</a:t>
            </a:r>
          </a:p>
        </p:txBody>
      </p:sp>
      <p:pic>
        <p:nvPicPr>
          <p:cNvPr id="8" name="图片 7">
            <a:extLst>
              <a:ext uri="{FF2B5EF4-FFF2-40B4-BE49-F238E27FC236}">
                <a16:creationId xmlns:a16="http://schemas.microsoft.com/office/drawing/2014/main" id="{33A80B1C-354B-4127-92BD-B8B0DA4943C4}"/>
              </a:ext>
            </a:extLst>
          </p:cNvPr>
          <p:cNvPicPr>
            <a:picLocks noChangeAspect="1"/>
          </p:cNvPicPr>
          <p:nvPr/>
        </p:nvPicPr>
        <p:blipFill>
          <a:blip r:embed="rId4"/>
          <a:stretch>
            <a:fillRect/>
          </a:stretch>
        </p:blipFill>
        <p:spPr>
          <a:xfrm>
            <a:off x="4644231" y="2417313"/>
            <a:ext cx="3535986" cy="3033023"/>
          </a:xfrm>
          <a:prstGeom prst="rect">
            <a:avLst/>
          </a:prstGeom>
        </p:spPr>
      </p:pic>
    </p:spTree>
    <p:extLst>
      <p:ext uri="{BB962C8B-B14F-4D97-AF65-F5344CB8AC3E}">
        <p14:creationId xmlns:p14="http://schemas.microsoft.com/office/powerpoint/2010/main" val="1254300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5635635A-66AE-4675-8379-4F1A14CA15FB}"/>
              </a:ext>
            </a:extLst>
          </p:cNvPr>
          <p:cNvSpPr txBox="1">
            <a:spLocks noChangeArrowheads="1"/>
          </p:cNvSpPr>
          <p:nvPr/>
        </p:nvSpPr>
        <p:spPr>
          <a:xfrm>
            <a:off x="395288" y="2891210"/>
            <a:ext cx="4752975" cy="1584325"/>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CN" sz="2000"/>
              <a:t>r</a:t>
            </a:r>
            <a:r>
              <a:rPr lang="en-US" altLang="zh-CN" sz="2000" baseline="-25000"/>
              <a:t>1</a:t>
            </a:r>
            <a:r>
              <a:rPr lang="zh-CN" altLang="en-US" sz="2000"/>
              <a:t>较高</a:t>
            </a:r>
            <a:r>
              <a:rPr lang="en-US" altLang="zh-CN" sz="2000"/>
              <a:t>, </a:t>
            </a:r>
            <a:r>
              <a:rPr lang="zh-CN" altLang="en-US" sz="2000"/>
              <a:t>货币供给</a:t>
            </a:r>
            <a:r>
              <a:rPr lang="en-US" altLang="zh-CN" sz="2000"/>
              <a:t>&gt;</a:t>
            </a:r>
            <a:r>
              <a:rPr lang="zh-CN" altLang="en-US" sz="2000"/>
              <a:t>需求，感觉手中的货币太多，用多余货币购进证券。证券价格上升，利率下降。直到货币供求相等。</a:t>
            </a:r>
          </a:p>
        </p:txBody>
      </p:sp>
      <p:sp>
        <p:nvSpPr>
          <p:cNvPr id="5" name="Rectangle 11">
            <a:extLst>
              <a:ext uri="{FF2B5EF4-FFF2-40B4-BE49-F238E27FC236}">
                <a16:creationId xmlns:a16="http://schemas.microsoft.com/office/drawing/2014/main" id="{48A68B76-B362-41ED-AABD-00DAFACAAC91}"/>
              </a:ext>
            </a:extLst>
          </p:cNvPr>
          <p:cNvSpPr>
            <a:spLocks noGrp="1" noChangeArrowheads="1"/>
          </p:cNvSpPr>
          <p:nvPr>
            <p:ph type="title"/>
          </p:nvPr>
        </p:nvSpPr>
        <p:spPr>
          <a:xfrm>
            <a:off x="323850" y="587748"/>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Autofit/>
          </a:bodyPr>
          <a:lstStyle/>
          <a:p>
            <a:r>
              <a:rPr lang="zh-CN" altLang="en-US" sz="2800" dirty="0"/>
              <a:t>货币需求量变动与供给均衡</a:t>
            </a:r>
          </a:p>
        </p:txBody>
      </p:sp>
      <p:sp>
        <p:nvSpPr>
          <p:cNvPr id="6" name="Rectangle 12">
            <a:extLst>
              <a:ext uri="{FF2B5EF4-FFF2-40B4-BE49-F238E27FC236}">
                <a16:creationId xmlns:a16="http://schemas.microsoft.com/office/drawing/2014/main" id="{1B00BB86-85C9-47B3-A589-2AFD036098B9}"/>
              </a:ext>
            </a:extLst>
          </p:cNvPr>
          <p:cNvSpPr>
            <a:spLocks noChangeArrowheads="1"/>
          </p:cNvSpPr>
          <p:nvPr/>
        </p:nvSpPr>
        <p:spPr bwMode="auto">
          <a:xfrm>
            <a:off x="395288" y="1379910"/>
            <a:ext cx="8424862" cy="1223962"/>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a:t>古典货币理论中，利率是使用货币资金的价格。</a:t>
            </a:r>
          </a:p>
          <a:p>
            <a:pPr>
              <a:lnSpc>
                <a:spcPct val="90000"/>
              </a:lnSpc>
            </a:pPr>
            <a:r>
              <a:rPr lang="zh-CN" altLang="en-US"/>
              <a:t>利率的作用与商品市场中价格的作用一样。利率的调节作用最终使货币供求趋于均衡。</a:t>
            </a:r>
          </a:p>
        </p:txBody>
      </p:sp>
      <p:sp>
        <p:nvSpPr>
          <p:cNvPr id="7" name="Rectangle 49">
            <a:extLst>
              <a:ext uri="{FF2B5EF4-FFF2-40B4-BE49-F238E27FC236}">
                <a16:creationId xmlns:a16="http://schemas.microsoft.com/office/drawing/2014/main" id="{CF1E3004-0A2E-437A-857D-04345DF137AE}"/>
              </a:ext>
            </a:extLst>
          </p:cNvPr>
          <p:cNvSpPr>
            <a:spLocks noChangeArrowheads="1"/>
          </p:cNvSpPr>
          <p:nvPr/>
        </p:nvSpPr>
        <p:spPr bwMode="auto">
          <a:xfrm>
            <a:off x="395288" y="4475535"/>
            <a:ext cx="4752975" cy="2159000"/>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sz="2000"/>
              <a:t>r</a:t>
            </a:r>
            <a:r>
              <a:rPr lang="en-US" altLang="zh-CN" sz="2000" baseline="-25000"/>
              <a:t>2</a:t>
            </a:r>
            <a:r>
              <a:rPr lang="zh-CN" altLang="en-US" sz="2000"/>
              <a:t>较低，货币需求</a:t>
            </a:r>
            <a:r>
              <a:rPr lang="en-US" altLang="zh-CN" sz="2000"/>
              <a:t>&gt;</a:t>
            </a:r>
            <a:r>
              <a:rPr lang="zh-CN" altLang="en-US" sz="2000"/>
              <a:t>供给，感到持有的货币太少，就会出卖证券，证券价格下降，利率上扬；直到货币供求相等。</a:t>
            </a:r>
          </a:p>
          <a:p>
            <a:pPr>
              <a:lnSpc>
                <a:spcPct val="120000"/>
              </a:lnSpc>
            </a:pPr>
            <a:r>
              <a:rPr lang="zh-CN" altLang="en-US" sz="2000"/>
              <a:t>均衡利率</a:t>
            </a:r>
            <a:r>
              <a:rPr lang="en-US" altLang="zh-CN" sz="2000"/>
              <a:t>r</a:t>
            </a:r>
            <a:r>
              <a:rPr lang="en-US" altLang="zh-CN" sz="2000" baseline="-25000"/>
              <a:t>0</a:t>
            </a:r>
            <a:r>
              <a:rPr lang="en-US" altLang="zh-CN" sz="2000"/>
              <a:t>, </a:t>
            </a:r>
            <a:r>
              <a:rPr lang="zh-CN" altLang="en-US" sz="2000"/>
              <a:t>保证货币供求均衡。</a:t>
            </a:r>
          </a:p>
        </p:txBody>
      </p:sp>
      <p:pic>
        <p:nvPicPr>
          <p:cNvPr id="8" name="图片 7">
            <a:extLst>
              <a:ext uri="{FF2B5EF4-FFF2-40B4-BE49-F238E27FC236}">
                <a16:creationId xmlns:a16="http://schemas.microsoft.com/office/drawing/2014/main" id="{20F63558-E186-4CDA-9727-477624392C34}"/>
              </a:ext>
            </a:extLst>
          </p:cNvPr>
          <p:cNvPicPr>
            <a:picLocks noChangeAspect="1"/>
          </p:cNvPicPr>
          <p:nvPr/>
        </p:nvPicPr>
        <p:blipFill>
          <a:blip r:embed="rId4"/>
          <a:stretch>
            <a:fillRect/>
          </a:stretch>
        </p:blipFill>
        <p:spPr>
          <a:xfrm>
            <a:off x="5397508" y="2873850"/>
            <a:ext cx="2933954" cy="3101609"/>
          </a:xfrm>
          <a:prstGeom prst="rect">
            <a:avLst/>
          </a:prstGeom>
        </p:spPr>
      </p:pic>
    </p:spTree>
    <p:extLst>
      <p:ext uri="{BB962C8B-B14F-4D97-AF65-F5344CB8AC3E}">
        <p14:creationId xmlns:p14="http://schemas.microsoft.com/office/powerpoint/2010/main" val="1757898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CCCEAAF-A90C-4819-8BB9-5EA515133015}"/>
              </a:ext>
            </a:extLst>
          </p:cNvPr>
          <p:cNvSpPr>
            <a:spLocks noGrp="1" noChangeArrowheads="1"/>
          </p:cNvSpPr>
          <p:nvPr>
            <p:ph type="title"/>
          </p:nvPr>
        </p:nvSpPr>
        <p:spPr>
          <a:xfrm>
            <a:off x="395288" y="512762"/>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货币需求曲线的变动</a:t>
            </a:r>
          </a:p>
        </p:txBody>
      </p:sp>
      <p:sp>
        <p:nvSpPr>
          <p:cNvPr id="5" name="Rectangle 3">
            <a:extLst>
              <a:ext uri="{FF2B5EF4-FFF2-40B4-BE49-F238E27FC236}">
                <a16:creationId xmlns:a16="http://schemas.microsoft.com/office/drawing/2014/main" id="{5CAA3DAD-D147-40F8-AD28-F48C91C54D3E}"/>
              </a:ext>
            </a:extLst>
          </p:cNvPr>
          <p:cNvSpPr txBox="1">
            <a:spLocks noChangeArrowheads="1"/>
          </p:cNvSpPr>
          <p:nvPr/>
        </p:nvSpPr>
        <p:spPr>
          <a:xfrm>
            <a:off x="395288" y="1196975"/>
            <a:ext cx="4321175" cy="1800225"/>
          </a:xfrm>
          <a:prstGeom prst="rect">
            <a:avLst/>
          </a:prstGeom>
          <a:ln w="3175">
            <a:solidFill>
              <a:schemeClr val="tx1"/>
            </a:solidFill>
            <a:headEnd/>
            <a:tailEnd/>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黑体" panose="02010609060101010101" pitchFamily="49" charset="-122"/>
                <a:ea typeface="黑体" panose="02010609060101010101" pitchFamily="49" charset="-122"/>
              </a:rPr>
              <a:t>货币交易、投机动机等增加时，货币需求曲线右移；</a:t>
            </a:r>
          </a:p>
          <a:p>
            <a:pPr marL="0" indent="0">
              <a:buNone/>
            </a:pPr>
            <a:r>
              <a:rPr lang="zh-CN" altLang="en-US" dirty="0">
                <a:latin typeface="黑体" panose="02010609060101010101" pitchFamily="49" charset="-122"/>
                <a:ea typeface="黑体" panose="02010609060101010101" pitchFamily="49" charset="-122"/>
              </a:rPr>
              <a:t>反之左移。</a:t>
            </a:r>
          </a:p>
          <a:p>
            <a:pPr marL="0" indent="0">
              <a:buNone/>
            </a:pPr>
            <a:r>
              <a:rPr lang="zh-CN" altLang="en-US" dirty="0">
                <a:latin typeface="黑体" panose="02010609060101010101" pitchFamily="49" charset="-122"/>
                <a:ea typeface="黑体" panose="02010609060101010101" pitchFamily="49" charset="-122"/>
              </a:rPr>
              <a:t>导致利率变动。</a:t>
            </a:r>
          </a:p>
        </p:txBody>
      </p:sp>
      <p:sp>
        <p:nvSpPr>
          <p:cNvPr id="6" name="Rectangle 50">
            <a:extLst>
              <a:ext uri="{FF2B5EF4-FFF2-40B4-BE49-F238E27FC236}">
                <a16:creationId xmlns:a16="http://schemas.microsoft.com/office/drawing/2014/main" id="{1F62EECA-2CC1-4B06-A3A3-9D40562C67E2}"/>
              </a:ext>
            </a:extLst>
          </p:cNvPr>
          <p:cNvSpPr>
            <a:spLocks noChangeArrowheads="1"/>
          </p:cNvSpPr>
          <p:nvPr/>
        </p:nvSpPr>
        <p:spPr bwMode="auto">
          <a:xfrm>
            <a:off x="395288" y="3357563"/>
            <a:ext cx="4321175" cy="1800225"/>
          </a:xfrm>
          <a:prstGeom prst="rect">
            <a:avLst/>
          </a:prstGeom>
          <a:noFill/>
          <a:ln w="3175" cap="sq">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dirty="0">
                <a:latin typeface="黑体" panose="02010609060101010101" pitchFamily="49" charset="-122"/>
                <a:ea typeface="黑体" panose="02010609060101010101" pitchFamily="49" charset="-122"/>
              </a:rPr>
              <a:t>利率决定于货币需求和供给</a:t>
            </a:r>
          </a:p>
          <a:p>
            <a:pPr>
              <a:buClr>
                <a:schemeClr val="hlink"/>
              </a:buClr>
              <a:buSzPct val="95000"/>
              <a:buFont typeface="Wingdings" panose="05000000000000000000" pitchFamily="2" charset="2"/>
              <a:buChar char="u"/>
            </a:pPr>
            <a:r>
              <a:rPr lang="zh-CN" altLang="en-US" dirty="0">
                <a:latin typeface="黑体" panose="02010609060101010101" pitchFamily="49" charset="-122"/>
                <a:ea typeface="黑体" panose="02010609060101010101" pitchFamily="49" charset="-122"/>
              </a:rPr>
              <a:t>货币供给由国家货币政策控制，是外生变量，与利率无关。垂直。</a:t>
            </a:r>
          </a:p>
        </p:txBody>
      </p:sp>
      <p:sp>
        <p:nvSpPr>
          <p:cNvPr id="7" name="AutoShape 51">
            <a:extLst>
              <a:ext uri="{FF2B5EF4-FFF2-40B4-BE49-F238E27FC236}">
                <a16:creationId xmlns:a16="http://schemas.microsoft.com/office/drawing/2014/main" id="{B78BA717-1969-48B7-9FC0-6674228B4C99}"/>
              </a:ext>
            </a:extLst>
          </p:cNvPr>
          <p:cNvSpPr>
            <a:spLocks noChangeArrowheads="1"/>
          </p:cNvSpPr>
          <p:nvPr/>
        </p:nvSpPr>
        <p:spPr bwMode="auto">
          <a:xfrm>
            <a:off x="468313" y="5373688"/>
            <a:ext cx="3887787" cy="863600"/>
          </a:xfrm>
          <a:prstGeom prst="wedgeRoundRectCallout">
            <a:avLst>
              <a:gd name="adj1" fmla="val -838"/>
              <a:gd name="adj2" fmla="val -72977"/>
              <a:gd name="adj3" fmla="val 16667"/>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a:t>凯恩斯认为，需要分析的主要是货币的需求。</a:t>
            </a:r>
          </a:p>
        </p:txBody>
      </p:sp>
      <p:pic>
        <p:nvPicPr>
          <p:cNvPr id="8" name="图片 7">
            <a:extLst>
              <a:ext uri="{FF2B5EF4-FFF2-40B4-BE49-F238E27FC236}">
                <a16:creationId xmlns:a16="http://schemas.microsoft.com/office/drawing/2014/main" id="{5D82F168-D743-4CE1-9428-111610B4DB33}"/>
              </a:ext>
            </a:extLst>
          </p:cNvPr>
          <p:cNvPicPr>
            <a:picLocks noChangeAspect="1"/>
          </p:cNvPicPr>
          <p:nvPr/>
        </p:nvPicPr>
        <p:blipFill>
          <a:blip r:embed="rId4"/>
          <a:stretch>
            <a:fillRect/>
          </a:stretch>
        </p:blipFill>
        <p:spPr>
          <a:xfrm>
            <a:off x="5019162" y="1231399"/>
            <a:ext cx="3398815" cy="4252328"/>
          </a:xfrm>
          <a:prstGeom prst="rect">
            <a:avLst/>
          </a:prstGeom>
        </p:spPr>
      </p:pic>
    </p:spTree>
    <p:extLst>
      <p:ext uri="{BB962C8B-B14F-4D97-AF65-F5344CB8AC3E}">
        <p14:creationId xmlns:p14="http://schemas.microsoft.com/office/powerpoint/2010/main" val="3020033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D32B72F-B20D-4A00-A411-5F5A065BF210}"/>
              </a:ext>
            </a:extLst>
          </p:cNvPr>
          <p:cNvSpPr>
            <a:spLocks noGrp="1" noChangeArrowheads="1"/>
          </p:cNvSpPr>
          <p:nvPr>
            <p:ph type="title"/>
          </p:nvPr>
        </p:nvSpPr>
        <p:spPr>
          <a:xfrm>
            <a:off x="395288" y="548837"/>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货币供给曲线的移动</a:t>
            </a:r>
          </a:p>
        </p:txBody>
      </p:sp>
      <p:sp>
        <p:nvSpPr>
          <p:cNvPr id="5" name="Rectangle 7">
            <a:extLst>
              <a:ext uri="{FF2B5EF4-FFF2-40B4-BE49-F238E27FC236}">
                <a16:creationId xmlns:a16="http://schemas.microsoft.com/office/drawing/2014/main" id="{ACE5A76B-5228-446F-9278-D28FA8F8F717}"/>
              </a:ext>
            </a:extLst>
          </p:cNvPr>
          <p:cNvSpPr txBox="1">
            <a:spLocks noChangeArrowheads="1"/>
          </p:cNvSpPr>
          <p:nvPr/>
        </p:nvSpPr>
        <p:spPr>
          <a:xfrm>
            <a:off x="395288" y="1420712"/>
            <a:ext cx="8424862" cy="1008063"/>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政府可自主确定货币供应量，并据此调控利率水平。</a:t>
            </a:r>
          </a:p>
          <a:p>
            <a:r>
              <a:rPr lang="zh-CN" altLang="en-US"/>
              <a:t>当货币供给由</a:t>
            </a:r>
            <a:r>
              <a:rPr lang="en-US" altLang="zh-CN"/>
              <a:t>m</a:t>
            </a:r>
            <a:r>
              <a:rPr lang="en-US" altLang="zh-CN" baseline="-25000"/>
              <a:t>0</a:t>
            </a:r>
            <a:r>
              <a:rPr lang="zh-CN" altLang="en-US"/>
              <a:t>扩大至</a:t>
            </a:r>
            <a:r>
              <a:rPr lang="en-US" altLang="zh-CN"/>
              <a:t>m</a:t>
            </a:r>
            <a:r>
              <a:rPr lang="en-US" altLang="zh-CN" baseline="-25000"/>
              <a:t>1</a:t>
            </a:r>
            <a:r>
              <a:rPr lang="zh-CN" altLang="en-US"/>
              <a:t>时，利率则由</a:t>
            </a:r>
            <a:r>
              <a:rPr lang="en-US" altLang="zh-CN"/>
              <a:t>r</a:t>
            </a:r>
            <a:r>
              <a:rPr lang="en-US" altLang="zh-CN" baseline="-25000"/>
              <a:t>0</a:t>
            </a:r>
            <a:r>
              <a:rPr lang="zh-CN" altLang="en-US"/>
              <a:t>降至</a:t>
            </a:r>
            <a:r>
              <a:rPr lang="en-US" altLang="zh-CN"/>
              <a:t>r</a:t>
            </a:r>
            <a:r>
              <a:rPr lang="en-US" altLang="zh-CN" baseline="-25000"/>
              <a:t>1</a:t>
            </a:r>
            <a:r>
              <a:rPr lang="zh-CN" altLang="en-US"/>
              <a:t>。</a:t>
            </a:r>
            <a:endParaRPr lang="zh-CN" altLang="en-US" dirty="0"/>
          </a:p>
        </p:txBody>
      </p:sp>
      <p:sp>
        <p:nvSpPr>
          <p:cNvPr id="6" name="Rectangle 9">
            <a:extLst>
              <a:ext uri="{FF2B5EF4-FFF2-40B4-BE49-F238E27FC236}">
                <a16:creationId xmlns:a16="http://schemas.microsoft.com/office/drawing/2014/main" id="{504DB24F-FB38-4316-8168-D464750A3440}"/>
              </a:ext>
            </a:extLst>
          </p:cNvPr>
          <p:cNvSpPr>
            <a:spLocks noChangeArrowheads="1"/>
          </p:cNvSpPr>
          <p:nvPr/>
        </p:nvSpPr>
        <p:spPr bwMode="auto">
          <a:xfrm>
            <a:off x="395288" y="2500212"/>
            <a:ext cx="3960812" cy="865188"/>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dirty="0"/>
              <a:t>在货币需求的水平阶段，货币供给降低利率的机制失效。</a:t>
            </a:r>
          </a:p>
        </p:txBody>
      </p:sp>
      <p:sp>
        <p:nvSpPr>
          <p:cNvPr id="7" name="Rectangle 54">
            <a:extLst>
              <a:ext uri="{FF2B5EF4-FFF2-40B4-BE49-F238E27FC236}">
                <a16:creationId xmlns:a16="http://schemas.microsoft.com/office/drawing/2014/main" id="{78C6999C-419F-42D9-8D65-1F7F9DF160A9}"/>
              </a:ext>
            </a:extLst>
          </p:cNvPr>
          <p:cNvSpPr>
            <a:spLocks noChangeArrowheads="1"/>
          </p:cNvSpPr>
          <p:nvPr/>
        </p:nvSpPr>
        <p:spPr bwMode="auto">
          <a:xfrm>
            <a:off x="395288" y="3508275"/>
            <a:ext cx="3960812" cy="1296987"/>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dirty="0"/>
              <a:t>货币供给由</a:t>
            </a:r>
            <a:r>
              <a:rPr lang="en-US" altLang="zh-CN" sz="2000" dirty="0"/>
              <a:t>m</a:t>
            </a:r>
            <a:r>
              <a:rPr lang="en-US" altLang="zh-CN" baseline="-25000" dirty="0"/>
              <a:t>1</a:t>
            </a:r>
            <a:r>
              <a:rPr lang="zh-CN" altLang="en-US" sz="2000" dirty="0"/>
              <a:t>继续扩大至</a:t>
            </a:r>
            <a:r>
              <a:rPr lang="en-US" altLang="zh-CN" sz="2000" dirty="0"/>
              <a:t>m</a:t>
            </a:r>
            <a:r>
              <a:rPr lang="en-US" altLang="zh-CN" baseline="-25000" dirty="0"/>
              <a:t>2</a:t>
            </a:r>
            <a:endParaRPr lang="en-US" altLang="zh-CN" sz="2000" dirty="0"/>
          </a:p>
          <a:p>
            <a:r>
              <a:rPr lang="zh-CN" altLang="en-US" sz="2000" dirty="0"/>
              <a:t>利率维持在</a:t>
            </a:r>
            <a:r>
              <a:rPr lang="en-US" altLang="zh-CN" sz="2000" dirty="0"/>
              <a:t>r</a:t>
            </a:r>
            <a:r>
              <a:rPr lang="en-US" altLang="zh-CN" baseline="-25000" dirty="0"/>
              <a:t>1</a:t>
            </a:r>
            <a:r>
              <a:rPr lang="zh-CN" altLang="en-US" sz="2000" dirty="0"/>
              <a:t>水平不再下降。</a:t>
            </a:r>
          </a:p>
          <a:p>
            <a:r>
              <a:rPr lang="zh-CN" altLang="en-US" sz="2000" dirty="0"/>
              <a:t>货币需求处于“流动陷阱” 。</a:t>
            </a:r>
          </a:p>
        </p:txBody>
      </p:sp>
      <p:sp>
        <p:nvSpPr>
          <p:cNvPr id="8" name="Rectangle 55">
            <a:extLst>
              <a:ext uri="{FF2B5EF4-FFF2-40B4-BE49-F238E27FC236}">
                <a16:creationId xmlns:a16="http://schemas.microsoft.com/office/drawing/2014/main" id="{027DE548-7CF7-4F2E-956A-FABFB76D6E90}"/>
              </a:ext>
            </a:extLst>
          </p:cNvPr>
          <p:cNvSpPr>
            <a:spLocks noChangeArrowheads="1"/>
          </p:cNvSpPr>
          <p:nvPr/>
        </p:nvSpPr>
        <p:spPr bwMode="auto">
          <a:xfrm>
            <a:off x="395288" y="4948137"/>
            <a:ext cx="3960812" cy="1584325"/>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000"/>
              <a:t>此时，投机性货币需求无限扩张，增发的货币将被“流动性陷阱”全部吸纳，阻止了市场利率的进一步降低。</a:t>
            </a:r>
          </a:p>
        </p:txBody>
      </p:sp>
      <p:pic>
        <p:nvPicPr>
          <p:cNvPr id="9" name="图片 8">
            <a:extLst>
              <a:ext uri="{FF2B5EF4-FFF2-40B4-BE49-F238E27FC236}">
                <a16:creationId xmlns:a16="http://schemas.microsoft.com/office/drawing/2014/main" id="{5473EF8E-1C45-4276-89E8-C625E4AF471C}"/>
              </a:ext>
            </a:extLst>
          </p:cNvPr>
          <p:cNvPicPr>
            <a:picLocks noChangeAspect="1"/>
          </p:cNvPicPr>
          <p:nvPr/>
        </p:nvPicPr>
        <p:blipFill>
          <a:blip r:embed="rId4"/>
          <a:stretch>
            <a:fillRect/>
          </a:stretch>
        </p:blipFill>
        <p:spPr>
          <a:xfrm>
            <a:off x="4607719" y="2681337"/>
            <a:ext cx="3627434" cy="3551228"/>
          </a:xfrm>
          <a:prstGeom prst="rect">
            <a:avLst/>
          </a:prstGeom>
        </p:spPr>
      </p:pic>
    </p:spTree>
    <p:extLst>
      <p:ext uri="{BB962C8B-B14F-4D97-AF65-F5344CB8AC3E}">
        <p14:creationId xmlns:p14="http://schemas.microsoft.com/office/powerpoint/2010/main" val="3382831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4035FA6-6781-4E37-839D-8E40D802F80A}"/>
              </a:ext>
            </a:extLst>
          </p:cNvPr>
          <p:cNvSpPr>
            <a:spLocks noGrp="1" noChangeArrowheads="1"/>
          </p:cNvSpPr>
          <p:nvPr>
            <p:ph type="title"/>
          </p:nvPr>
        </p:nvSpPr>
        <p:spPr>
          <a:xfrm>
            <a:off x="323850" y="451561"/>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2800" dirty="0"/>
              <a:t>LM</a:t>
            </a:r>
            <a:r>
              <a:rPr lang="zh-CN" altLang="en-US" sz="2800" dirty="0"/>
              <a:t>曲线</a:t>
            </a:r>
          </a:p>
        </p:txBody>
      </p:sp>
      <p:sp>
        <p:nvSpPr>
          <p:cNvPr id="5" name="Rectangle 3">
            <a:extLst>
              <a:ext uri="{FF2B5EF4-FFF2-40B4-BE49-F238E27FC236}">
                <a16:creationId xmlns:a16="http://schemas.microsoft.com/office/drawing/2014/main" id="{48200272-6017-49A8-AF3A-A529ECBE5CBD}"/>
              </a:ext>
            </a:extLst>
          </p:cNvPr>
          <p:cNvSpPr txBox="1">
            <a:spLocks noChangeArrowheads="1"/>
          </p:cNvSpPr>
          <p:nvPr/>
        </p:nvSpPr>
        <p:spPr>
          <a:xfrm>
            <a:off x="395288" y="1459623"/>
            <a:ext cx="4105275" cy="647700"/>
          </a:xfrm>
          <a:prstGeom prst="rect">
            <a:avLst/>
          </a:prstGeom>
          <a:ln>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dirty="0">
                <a:solidFill>
                  <a:srgbClr val="FFFF00"/>
                </a:solidFill>
                <a:latin typeface="黑体" panose="02010609060101010101" pitchFamily="49" charset="-122"/>
                <a:ea typeface="黑体" panose="02010609060101010101" pitchFamily="49" charset="-122"/>
              </a:rPr>
              <a:t>1.</a:t>
            </a:r>
            <a:r>
              <a:rPr lang="zh-CN" altLang="en-US" dirty="0">
                <a:solidFill>
                  <a:srgbClr val="FFFF00"/>
                </a:solidFill>
                <a:latin typeface="黑体" panose="02010609060101010101" pitchFamily="49" charset="-122"/>
                <a:ea typeface="黑体" panose="02010609060101010101" pitchFamily="49" charset="-122"/>
              </a:rPr>
              <a:t>货币市场均衡的产生</a:t>
            </a:r>
          </a:p>
        </p:txBody>
      </p:sp>
      <p:sp>
        <p:nvSpPr>
          <p:cNvPr id="6" name="Rectangle 5">
            <a:extLst>
              <a:ext uri="{FF2B5EF4-FFF2-40B4-BE49-F238E27FC236}">
                <a16:creationId xmlns:a16="http://schemas.microsoft.com/office/drawing/2014/main" id="{9613C72C-4861-45BA-B04E-43D1B4690733}"/>
              </a:ext>
            </a:extLst>
          </p:cNvPr>
          <p:cNvSpPr>
            <a:spLocks noChangeArrowheads="1"/>
          </p:cNvSpPr>
          <p:nvPr/>
        </p:nvSpPr>
        <p:spPr bwMode="auto">
          <a:xfrm>
            <a:off x="395288" y="2396248"/>
            <a:ext cx="8424862" cy="1295400"/>
          </a:xfrm>
          <a:prstGeom prst="rect">
            <a:avLst/>
          </a:prstGeom>
          <a:noFill/>
          <a:ln w="3175" cap="sq" cmpd="dbl">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p"/>
            </a:pPr>
            <a:r>
              <a:rPr lang="zh-CN" altLang="en-US" b="0">
                <a:latin typeface="黑体" panose="02010609060101010101" pitchFamily="49" charset="-122"/>
                <a:ea typeface="黑体" panose="02010609060101010101" pitchFamily="49" charset="-122"/>
              </a:rPr>
              <a:t>货币供给由中央银行控制，假定是外生变量。</a:t>
            </a:r>
          </a:p>
          <a:p>
            <a:pPr>
              <a:lnSpc>
                <a:spcPct val="90000"/>
              </a:lnSpc>
              <a:buClr>
                <a:srgbClr val="336600"/>
              </a:buClr>
              <a:buSzPct val="95000"/>
              <a:buFont typeface="Wingdings" panose="05000000000000000000" pitchFamily="2" charset="2"/>
              <a:buChar char="p"/>
            </a:pPr>
            <a:r>
              <a:rPr lang="zh-CN" altLang="en-US" b="0">
                <a:latin typeface="黑体" panose="02010609060101010101" pitchFamily="49" charset="-122"/>
                <a:ea typeface="黑体" panose="02010609060101010101" pitchFamily="49" charset="-122"/>
              </a:rPr>
              <a:t>货币实际供给量</a:t>
            </a:r>
            <a:r>
              <a:rPr lang="en-US" altLang="zh-CN" b="0">
                <a:latin typeface="黑体" panose="02010609060101010101" pitchFamily="49" charset="-122"/>
                <a:ea typeface="黑体" panose="02010609060101010101" pitchFamily="49" charset="-122"/>
              </a:rPr>
              <a:t>m</a:t>
            </a:r>
            <a:r>
              <a:rPr lang="zh-CN" altLang="en-US" b="0">
                <a:latin typeface="黑体" panose="02010609060101010101" pitchFamily="49" charset="-122"/>
                <a:ea typeface="黑体" panose="02010609060101010101" pitchFamily="49" charset="-122"/>
              </a:rPr>
              <a:t>不变。</a:t>
            </a:r>
          </a:p>
          <a:p>
            <a:pPr>
              <a:lnSpc>
                <a:spcPct val="90000"/>
              </a:lnSpc>
              <a:buClr>
                <a:srgbClr val="336600"/>
              </a:buClr>
              <a:buSzPct val="95000"/>
              <a:buFont typeface="Wingdings" panose="05000000000000000000" pitchFamily="2" charset="2"/>
              <a:buChar char="p"/>
            </a:pPr>
            <a:r>
              <a:rPr lang="zh-CN" altLang="en-US" b="0">
                <a:latin typeface="黑体" panose="02010609060101010101" pitchFamily="49" charset="-122"/>
                <a:ea typeface="黑体" panose="02010609060101010101" pitchFamily="49" charset="-122"/>
              </a:rPr>
              <a:t>货币市场均衡，只能通过自动调节货币需求实现。</a:t>
            </a:r>
          </a:p>
        </p:txBody>
      </p:sp>
      <p:sp>
        <p:nvSpPr>
          <p:cNvPr id="7" name="Rectangle 6">
            <a:extLst>
              <a:ext uri="{FF2B5EF4-FFF2-40B4-BE49-F238E27FC236}">
                <a16:creationId xmlns:a16="http://schemas.microsoft.com/office/drawing/2014/main" id="{9D20ABEE-17F7-4DB0-A5DA-A3F646C54439}"/>
              </a:ext>
            </a:extLst>
          </p:cNvPr>
          <p:cNvSpPr>
            <a:spLocks noChangeArrowheads="1"/>
          </p:cNvSpPr>
          <p:nvPr/>
        </p:nvSpPr>
        <p:spPr bwMode="auto">
          <a:xfrm>
            <a:off x="395288" y="3907548"/>
            <a:ext cx="8424862" cy="649288"/>
          </a:xfrm>
          <a:prstGeom prst="rect">
            <a:avLst/>
          </a:prstGeom>
          <a:noFill/>
          <a:ln w="3175" cap="sq" cmpd="dbl">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buClr>
                <a:srgbClr val="336600"/>
              </a:buClr>
              <a:buSzPct val="95000"/>
              <a:buFont typeface="Wingdings" panose="05000000000000000000" pitchFamily="2" charset="2"/>
              <a:buChar char="p"/>
            </a:pPr>
            <a:r>
              <a:rPr lang="zh-CN" altLang="en-US" b="0">
                <a:latin typeface="黑体" panose="02010609060101010101" pitchFamily="49" charset="-122"/>
                <a:ea typeface="黑体" panose="02010609060101010101" pitchFamily="49" charset="-122"/>
              </a:rPr>
              <a:t>货币市场均衡公式是 </a:t>
            </a:r>
            <a:r>
              <a:rPr lang="en-US" altLang="zh-CN" b="0">
                <a:latin typeface="黑体" panose="02010609060101010101" pitchFamily="49" charset="-122"/>
                <a:ea typeface="黑体" panose="02010609060101010101" pitchFamily="49" charset="-122"/>
              </a:rPr>
              <a:t>m</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L</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L</a:t>
            </a:r>
            <a:r>
              <a:rPr lang="en-US" altLang="zh-CN" b="0" baseline="-2000">
                <a:latin typeface="黑体" panose="02010609060101010101" pitchFamily="49" charset="-122"/>
                <a:ea typeface="黑体" panose="02010609060101010101" pitchFamily="49" charset="-122"/>
              </a:rPr>
              <a:t>1</a:t>
            </a:r>
            <a:r>
              <a:rPr lang="en-US" altLang="zh-CN" b="0">
                <a:latin typeface="黑体" panose="02010609060101010101" pitchFamily="49" charset="-122"/>
                <a:ea typeface="黑体" panose="02010609060101010101" pitchFamily="49" charset="-122"/>
              </a:rPr>
              <a:t>(y)+L</a:t>
            </a:r>
            <a:r>
              <a:rPr lang="en-US" altLang="zh-CN" b="0" baseline="-2000">
                <a:latin typeface="黑体" panose="02010609060101010101" pitchFamily="49" charset="-122"/>
                <a:ea typeface="黑体" panose="02010609060101010101" pitchFamily="49" charset="-122"/>
              </a:rPr>
              <a:t>2</a:t>
            </a:r>
            <a:r>
              <a:rPr lang="en-US" altLang="zh-CN" b="0">
                <a:latin typeface="黑体" panose="02010609060101010101" pitchFamily="49" charset="-122"/>
                <a:ea typeface="黑体" panose="02010609060101010101" pitchFamily="49" charset="-122"/>
              </a:rPr>
              <a:t>(r)</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ky-hr</a:t>
            </a:r>
          </a:p>
        </p:txBody>
      </p:sp>
      <p:sp>
        <p:nvSpPr>
          <p:cNvPr id="8" name="Rectangle 7">
            <a:extLst>
              <a:ext uri="{FF2B5EF4-FFF2-40B4-BE49-F238E27FC236}">
                <a16:creationId xmlns:a16="http://schemas.microsoft.com/office/drawing/2014/main" id="{39BA192C-6840-4C7E-AF2D-75060389F8B2}"/>
              </a:ext>
            </a:extLst>
          </p:cNvPr>
          <p:cNvSpPr>
            <a:spLocks noChangeArrowheads="1"/>
          </p:cNvSpPr>
          <p:nvPr/>
        </p:nvSpPr>
        <p:spPr bwMode="auto">
          <a:xfrm>
            <a:off x="395288" y="4771148"/>
            <a:ext cx="8424862" cy="1728788"/>
          </a:xfrm>
          <a:prstGeom prst="rect">
            <a:avLst/>
          </a:prstGeom>
          <a:noFill/>
          <a:ln w="3175" cap="sq" cmpd="dbl">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p"/>
            </a:pPr>
            <a:r>
              <a:rPr lang="zh-CN" altLang="en-US" b="0">
                <a:latin typeface="宋体" panose="02010600030101010101" pitchFamily="2" charset="-122"/>
              </a:rPr>
              <a:t>维持货币市场均衡：</a:t>
            </a:r>
          </a:p>
          <a:p>
            <a:pPr>
              <a:lnSpc>
                <a:spcPct val="90000"/>
              </a:lnSpc>
              <a:buClr>
                <a:srgbClr val="336600"/>
              </a:buClr>
              <a:buSzPct val="95000"/>
              <a:buFont typeface="Wingdings" panose="05000000000000000000" pitchFamily="2" charset="2"/>
              <a:buChar char="p"/>
            </a:pPr>
            <a:r>
              <a:rPr lang="en-US" altLang="zh-CN" b="0">
                <a:latin typeface="宋体" panose="02010600030101010101" pitchFamily="2" charset="-122"/>
              </a:rPr>
              <a:t>m</a:t>
            </a:r>
            <a:r>
              <a:rPr lang="zh-CN" altLang="en-US" b="0">
                <a:latin typeface="宋体" panose="02010600030101010101" pitchFamily="2" charset="-122"/>
              </a:rPr>
              <a:t>一定时，</a:t>
            </a:r>
            <a:r>
              <a:rPr lang="en-US" altLang="zh-CN" b="0">
                <a:latin typeface="宋体" panose="02010600030101010101" pitchFamily="2" charset="-122"/>
              </a:rPr>
              <a:t>L</a:t>
            </a:r>
            <a:r>
              <a:rPr lang="en-US" altLang="zh-CN" b="0" baseline="-2000">
                <a:latin typeface="宋体" panose="02010600030101010101" pitchFamily="2" charset="-122"/>
              </a:rPr>
              <a:t>1</a:t>
            </a:r>
            <a:r>
              <a:rPr lang="zh-CN" altLang="en-US" b="0">
                <a:latin typeface="宋体" panose="02010600030101010101" pitchFamily="2" charset="-122"/>
              </a:rPr>
              <a:t>与</a:t>
            </a:r>
            <a:r>
              <a:rPr lang="en-US" altLang="zh-CN" b="0">
                <a:latin typeface="宋体" panose="02010600030101010101" pitchFamily="2" charset="-122"/>
              </a:rPr>
              <a:t>L</a:t>
            </a:r>
            <a:r>
              <a:rPr lang="en-US" altLang="zh-CN" b="0" baseline="-2000">
                <a:latin typeface="宋体" panose="02010600030101010101" pitchFamily="2" charset="-122"/>
              </a:rPr>
              <a:t>2</a:t>
            </a:r>
            <a:r>
              <a:rPr lang="zh-CN" altLang="en-US" b="0">
                <a:latin typeface="宋体" panose="02010600030101010101" pitchFamily="2" charset="-122"/>
              </a:rPr>
              <a:t>必须此消彼长。</a:t>
            </a:r>
          </a:p>
          <a:p>
            <a:pPr>
              <a:lnSpc>
                <a:spcPct val="90000"/>
              </a:lnSpc>
              <a:buClr>
                <a:srgbClr val="336600"/>
              </a:buClr>
              <a:buSzPct val="95000"/>
              <a:buFont typeface="Wingdings" panose="05000000000000000000" pitchFamily="2" charset="2"/>
              <a:buChar char="p"/>
            </a:pPr>
            <a:r>
              <a:rPr lang="zh-CN" altLang="en-US" b="0">
                <a:latin typeface="宋体" panose="02010600030101010101" pitchFamily="2" charset="-122"/>
              </a:rPr>
              <a:t>国民收入增加，使得交易需求</a:t>
            </a:r>
            <a:r>
              <a:rPr lang="en-US" altLang="zh-CN" b="0">
                <a:latin typeface="宋体" panose="02010600030101010101" pitchFamily="2" charset="-122"/>
              </a:rPr>
              <a:t>L</a:t>
            </a:r>
            <a:r>
              <a:rPr lang="en-US" altLang="zh-CN" b="0" baseline="-2000">
                <a:latin typeface="宋体" panose="02010600030101010101" pitchFamily="2" charset="-122"/>
              </a:rPr>
              <a:t>1</a:t>
            </a:r>
            <a:r>
              <a:rPr lang="zh-CN" altLang="en-US" b="0">
                <a:latin typeface="宋体" panose="02010600030101010101" pitchFamily="2" charset="-122"/>
              </a:rPr>
              <a:t>增加，这时利率必须提高，从而使得</a:t>
            </a:r>
            <a:r>
              <a:rPr lang="en-US" altLang="zh-CN" b="0">
                <a:latin typeface="宋体" panose="02010600030101010101" pitchFamily="2" charset="-122"/>
              </a:rPr>
              <a:t>L</a:t>
            </a:r>
            <a:r>
              <a:rPr lang="en-US" altLang="zh-CN" b="0" baseline="-2000">
                <a:latin typeface="宋体" panose="02010600030101010101" pitchFamily="2" charset="-122"/>
              </a:rPr>
              <a:t>2</a:t>
            </a:r>
            <a:r>
              <a:rPr lang="zh-CN" altLang="en-US" b="0">
                <a:latin typeface="宋体" panose="02010600030101010101" pitchFamily="2" charset="-122"/>
              </a:rPr>
              <a:t>减少。</a:t>
            </a:r>
          </a:p>
        </p:txBody>
      </p:sp>
      <p:sp>
        <p:nvSpPr>
          <p:cNvPr id="9" name="Rectangle 8">
            <a:extLst>
              <a:ext uri="{FF2B5EF4-FFF2-40B4-BE49-F238E27FC236}">
                <a16:creationId xmlns:a16="http://schemas.microsoft.com/office/drawing/2014/main" id="{926763E1-BD01-4055-A37F-02DBFD14AC8B}"/>
              </a:ext>
            </a:extLst>
          </p:cNvPr>
          <p:cNvSpPr>
            <a:spLocks noChangeArrowheads="1"/>
          </p:cNvSpPr>
          <p:nvPr/>
        </p:nvSpPr>
        <p:spPr bwMode="auto">
          <a:xfrm>
            <a:off x="4859338" y="1315161"/>
            <a:ext cx="3960812" cy="898525"/>
          </a:xfrm>
          <a:prstGeom prst="rect">
            <a:avLst/>
          </a:prstGeom>
          <a:noFill/>
          <a:ln w="3175" cap="sq">
            <a:solidFill>
              <a:schemeClr val="tx1"/>
            </a:solidFill>
            <a:miter lim="800000"/>
            <a:headEnd type="none" w="sm" len="sm"/>
            <a:tailEnd type="none" w="sm" len="sm"/>
          </a:ln>
          <a:effectLst/>
        </p:spPr>
        <p:txBody>
          <a:bodyPr>
            <a:spAutoFit/>
          </a:bodyPr>
          <a:lstStyle/>
          <a:p>
            <a:pPr>
              <a:buClr>
                <a:schemeClr val="hlink"/>
              </a:buClr>
              <a:buSzPct val="95000"/>
              <a:buFont typeface="Wingdings" panose="05000000000000000000" pitchFamily="2" charset="2"/>
              <a:buChar char="u"/>
            </a:pPr>
            <a:r>
              <a:rPr kumimoji="0" lang="en-US" altLang="zh-CN">
                <a:solidFill>
                  <a:srgbClr val="000066"/>
                </a:solidFill>
              </a:rPr>
              <a:t>L </a:t>
            </a:r>
            <a:r>
              <a:rPr kumimoji="0" lang="zh-CN" altLang="en-US"/>
              <a:t>：</a:t>
            </a:r>
            <a:r>
              <a:rPr kumimoji="0" lang="en-US" altLang="zh-CN"/>
              <a:t>liquidity    </a:t>
            </a:r>
            <a:r>
              <a:rPr kumimoji="0" lang="zh-CN" altLang="en-US">
                <a:solidFill>
                  <a:srgbClr val="000066"/>
                </a:solidFill>
              </a:rPr>
              <a:t>货币需求 </a:t>
            </a:r>
          </a:p>
          <a:p>
            <a:pPr>
              <a:buClr>
                <a:schemeClr val="hlink"/>
              </a:buClr>
              <a:buSzPct val="95000"/>
              <a:buFont typeface="Wingdings" panose="05000000000000000000" pitchFamily="2" charset="2"/>
              <a:buChar char="u"/>
            </a:pPr>
            <a:r>
              <a:rPr kumimoji="0" lang="en-US" altLang="zh-CN">
                <a:solidFill>
                  <a:srgbClr val="000066"/>
                </a:solidFill>
              </a:rPr>
              <a:t>M </a:t>
            </a:r>
            <a:r>
              <a:rPr kumimoji="0" lang="zh-CN" altLang="en-US">
                <a:solidFill>
                  <a:srgbClr val="000066"/>
                </a:solidFill>
              </a:rPr>
              <a:t>：</a:t>
            </a:r>
            <a:r>
              <a:rPr kumimoji="0" lang="en-US" altLang="zh-CN"/>
              <a:t>money      </a:t>
            </a:r>
            <a:r>
              <a:rPr kumimoji="0" lang="zh-CN" altLang="en-US">
                <a:solidFill>
                  <a:srgbClr val="000066"/>
                </a:solidFill>
              </a:rPr>
              <a:t>货币供给</a:t>
            </a:r>
          </a:p>
        </p:txBody>
      </p:sp>
    </p:spTree>
    <p:extLst>
      <p:ext uri="{BB962C8B-B14F-4D97-AF65-F5344CB8AC3E}">
        <p14:creationId xmlns:p14="http://schemas.microsoft.com/office/powerpoint/2010/main" val="2936009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253D564-3872-465A-8AE9-C7511CE938BB}"/>
              </a:ext>
            </a:extLst>
          </p:cNvPr>
          <p:cNvSpPr>
            <a:spLocks noGrp="1" noChangeArrowheads="1"/>
          </p:cNvSpPr>
          <p:nvPr>
            <p:ph type="title"/>
          </p:nvPr>
        </p:nvSpPr>
        <p:spPr>
          <a:xfrm>
            <a:off x="323850" y="490472"/>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2800" dirty="0"/>
              <a:t>LM</a:t>
            </a:r>
            <a:r>
              <a:rPr lang="zh-CN" altLang="en-US" sz="2800" dirty="0"/>
              <a:t>曲线的推导</a:t>
            </a:r>
          </a:p>
        </p:txBody>
      </p:sp>
      <p:sp>
        <p:nvSpPr>
          <p:cNvPr id="5" name="Rectangle 3">
            <a:extLst>
              <a:ext uri="{FF2B5EF4-FFF2-40B4-BE49-F238E27FC236}">
                <a16:creationId xmlns:a16="http://schemas.microsoft.com/office/drawing/2014/main" id="{F6479118-9962-42A1-AA2E-047A73CC082C}"/>
              </a:ext>
            </a:extLst>
          </p:cNvPr>
          <p:cNvSpPr txBox="1">
            <a:spLocks noChangeArrowheads="1"/>
          </p:cNvSpPr>
          <p:nvPr/>
        </p:nvSpPr>
        <p:spPr>
          <a:xfrm>
            <a:off x="395288" y="1642997"/>
            <a:ext cx="5761037" cy="1150937"/>
          </a:xfrm>
          <a:prstGeom prst="rect">
            <a:avLst/>
          </a:prstGeom>
          <a:blipFill>
            <a:blip r:embed="rId3"/>
          </a:blipFill>
          <a:ln w="76200" cmpd="sng">
            <a:solidFill>
              <a:srgbClr val="336600"/>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chemeClr val="hlink"/>
              </a:buClr>
              <a:buSzPct val="95000"/>
              <a:buFont typeface="Wingdings" panose="05000000000000000000" pitchFamily="2" charset="2"/>
              <a:buChar char="u"/>
            </a:pPr>
            <a:r>
              <a:rPr lang="zh-CN" altLang="en-US" dirty="0">
                <a:solidFill>
                  <a:srgbClr val="000000"/>
                </a:solidFill>
                <a:latin typeface="黑体" panose="02010609060101010101" pitchFamily="49" charset="-122"/>
                <a:ea typeface="黑体" panose="02010609060101010101" pitchFamily="49" charset="-122"/>
              </a:rPr>
              <a:t>货币市场达到均衡，则 </a:t>
            </a:r>
            <a:r>
              <a:rPr lang="en-US" altLang="zh-CN" dirty="0">
                <a:solidFill>
                  <a:srgbClr val="000000"/>
                </a:solidFill>
                <a:latin typeface="黑体" panose="02010609060101010101" pitchFamily="49" charset="-122"/>
                <a:ea typeface="黑体" panose="02010609060101010101" pitchFamily="49" charset="-122"/>
              </a:rPr>
              <a:t>m = L </a:t>
            </a:r>
            <a:r>
              <a:rPr lang="zh-CN" altLang="en-US" dirty="0">
                <a:solidFill>
                  <a:srgbClr val="000000"/>
                </a:solidFill>
                <a:latin typeface="黑体" panose="02010609060101010101" pitchFamily="49" charset="-122"/>
                <a:ea typeface="黑体" panose="02010609060101010101" pitchFamily="49" charset="-122"/>
              </a:rPr>
              <a:t>，</a:t>
            </a:r>
          </a:p>
          <a:p>
            <a:pPr>
              <a:lnSpc>
                <a:spcPct val="110000"/>
              </a:lnSpc>
              <a:buClr>
                <a:schemeClr val="hlink"/>
              </a:buClr>
              <a:buSzPct val="95000"/>
              <a:buFont typeface="Wingdings" panose="05000000000000000000" pitchFamily="2" charset="2"/>
              <a:buChar char="u"/>
            </a:pPr>
            <a:r>
              <a:rPr lang="en-US" altLang="zh-CN" dirty="0">
                <a:solidFill>
                  <a:srgbClr val="000000"/>
                </a:solidFill>
                <a:latin typeface="黑体" panose="02010609060101010101" pitchFamily="49" charset="-122"/>
                <a:ea typeface="黑体" panose="02010609060101010101" pitchFamily="49" charset="-122"/>
              </a:rPr>
              <a:t>L = </a:t>
            </a:r>
            <a:r>
              <a:rPr lang="en-US" altLang="zh-CN" dirty="0" err="1">
                <a:solidFill>
                  <a:srgbClr val="000000"/>
                </a:solidFill>
                <a:latin typeface="黑体" panose="02010609060101010101" pitchFamily="49" charset="-122"/>
                <a:ea typeface="黑体" panose="02010609060101010101" pitchFamily="49" charset="-122"/>
              </a:rPr>
              <a:t>ky</a:t>
            </a:r>
            <a:r>
              <a:rPr lang="en-US" altLang="zh-CN" dirty="0">
                <a:solidFill>
                  <a:srgbClr val="000000"/>
                </a:solidFill>
                <a:latin typeface="黑体" panose="02010609060101010101" pitchFamily="49" charset="-122"/>
                <a:ea typeface="黑体" panose="02010609060101010101" pitchFamily="49" charset="-122"/>
              </a:rPr>
              <a:t> </a:t>
            </a:r>
            <a:r>
              <a:rPr lang="en-US" altLang="zh-CN" dirty="0">
                <a:solidFill>
                  <a:srgbClr val="000000"/>
                </a:solidFill>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rPr>
              <a:t> </a:t>
            </a:r>
            <a:r>
              <a:rPr lang="en-US" altLang="zh-CN" dirty="0" err="1">
                <a:solidFill>
                  <a:srgbClr val="000000"/>
                </a:solidFill>
                <a:latin typeface="黑体" panose="02010609060101010101" pitchFamily="49" charset="-122"/>
                <a:ea typeface="黑体" panose="02010609060101010101" pitchFamily="49" charset="-122"/>
              </a:rPr>
              <a:t>hr</a:t>
            </a:r>
            <a:r>
              <a:rPr lang="zh-CN" altLang="en-US" dirty="0">
                <a:solidFill>
                  <a:srgbClr val="000000"/>
                </a:solidFill>
                <a:latin typeface="黑体" panose="02010609060101010101" pitchFamily="49" charset="-122"/>
                <a:ea typeface="黑体" panose="02010609060101010101" pitchFamily="49" charset="-122"/>
              </a:rPr>
              <a:t>。  </a:t>
            </a:r>
            <a:r>
              <a:rPr lang="en-US" altLang="zh-CN" dirty="0">
                <a:solidFill>
                  <a:srgbClr val="000000"/>
                </a:solidFill>
                <a:latin typeface="黑体" panose="02010609060101010101" pitchFamily="49" charset="-122"/>
                <a:ea typeface="黑体" panose="02010609060101010101" pitchFamily="49" charset="-122"/>
              </a:rPr>
              <a:t>m = </a:t>
            </a:r>
            <a:r>
              <a:rPr lang="en-US" altLang="zh-CN" dirty="0" err="1">
                <a:solidFill>
                  <a:srgbClr val="000000"/>
                </a:solidFill>
                <a:latin typeface="黑体" panose="02010609060101010101" pitchFamily="49" charset="-122"/>
                <a:ea typeface="黑体" panose="02010609060101010101" pitchFamily="49" charset="-122"/>
              </a:rPr>
              <a:t>ky</a:t>
            </a:r>
            <a:r>
              <a:rPr lang="en-US" altLang="zh-CN" dirty="0">
                <a:solidFill>
                  <a:srgbClr val="000000"/>
                </a:solidFill>
                <a:latin typeface="黑体" panose="02010609060101010101" pitchFamily="49" charset="-122"/>
                <a:ea typeface="黑体" panose="02010609060101010101" pitchFamily="49" charset="-122"/>
              </a:rPr>
              <a:t> </a:t>
            </a:r>
            <a:r>
              <a:rPr lang="en-US" altLang="zh-CN" dirty="0">
                <a:solidFill>
                  <a:srgbClr val="000000"/>
                </a:solidFill>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rPr>
              <a:t> </a:t>
            </a:r>
            <a:r>
              <a:rPr lang="en-US" altLang="zh-CN" dirty="0" err="1">
                <a:solidFill>
                  <a:srgbClr val="000000"/>
                </a:solidFill>
                <a:latin typeface="黑体" panose="02010609060101010101" pitchFamily="49" charset="-122"/>
                <a:ea typeface="黑体" panose="02010609060101010101" pitchFamily="49" charset="-122"/>
              </a:rPr>
              <a:t>hr</a:t>
            </a:r>
            <a:endParaRPr lang="en-US" altLang="zh-CN" dirty="0">
              <a:solidFill>
                <a:srgbClr val="000000"/>
              </a:solidFill>
              <a:latin typeface="黑体" panose="02010609060101010101" pitchFamily="49" charset="-122"/>
              <a:ea typeface="黑体" panose="02010609060101010101" pitchFamily="49" charset="-122"/>
            </a:endParaRPr>
          </a:p>
        </p:txBody>
      </p:sp>
      <p:graphicFrame>
        <p:nvGraphicFramePr>
          <p:cNvPr id="6" name="Object 4">
            <a:extLst>
              <a:ext uri="{FF2B5EF4-FFF2-40B4-BE49-F238E27FC236}">
                <a16:creationId xmlns:a16="http://schemas.microsoft.com/office/drawing/2014/main" id="{F4B6CD3C-AB79-43DE-AE82-B0FE1B3FC3D6}"/>
              </a:ext>
            </a:extLst>
          </p:cNvPr>
          <p:cNvGraphicFramePr>
            <a:graphicFrameLocks noChangeAspect="1"/>
          </p:cNvGraphicFramePr>
          <p:nvPr>
            <p:extLst>
              <p:ext uri="{D42A27DB-BD31-4B8C-83A1-F6EECF244321}">
                <p14:modId xmlns:p14="http://schemas.microsoft.com/office/powerpoint/2010/main" val="2769929666"/>
              </p:ext>
            </p:extLst>
          </p:nvPr>
        </p:nvGraphicFramePr>
        <p:xfrm>
          <a:off x="6948488" y="1354072"/>
          <a:ext cx="1728787" cy="844550"/>
        </p:xfrm>
        <a:graphic>
          <a:graphicData uri="http://schemas.openxmlformats.org/presentationml/2006/ole">
            <mc:AlternateContent xmlns:mc="http://schemas.openxmlformats.org/markup-compatibility/2006">
              <mc:Choice xmlns:v="urn:schemas-microsoft-com:vml" Requires="v">
                <p:oleObj spid="_x0000_s4108" name="Equation" r:id="rId4" imgW="736560" imgH="393480" progId="Equation.3">
                  <p:embed/>
                </p:oleObj>
              </mc:Choice>
              <mc:Fallback>
                <p:oleObj name="Equation" r:id="rId4" imgW="736560" imgH="393480" progId="Equation.3">
                  <p:embed/>
                  <p:pic>
                    <p:nvPicPr>
                      <p:cNvPr id="35844" name="Object 4">
                        <a:extLst>
                          <a:ext uri="{FF2B5EF4-FFF2-40B4-BE49-F238E27FC236}">
                            <a16:creationId xmlns:a16="http://schemas.microsoft.com/office/drawing/2014/main" id="{3B62BA8B-59F1-42AB-949E-E9C1F567A2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48488" y="1354072"/>
                        <a:ext cx="1728787" cy="844550"/>
                      </a:xfrm>
                      <a:prstGeom prst="rect">
                        <a:avLst/>
                      </a:prstGeom>
                      <a:solidFill>
                        <a:schemeClr val="bg1"/>
                      </a:solidFill>
                      <a:ln w="38100" cmpd="dbl">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id="{712A4411-42BA-4665-81BD-D5785D4412F1}"/>
              </a:ext>
            </a:extLst>
          </p:cNvPr>
          <p:cNvGraphicFramePr>
            <a:graphicFrameLocks noChangeAspect="1"/>
          </p:cNvGraphicFramePr>
          <p:nvPr>
            <p:extLst>
              <p:ext uri="{D42A27DB-BD31-4B8C-83A1-F6EECF244321}">
                <p14:modId xmlns:p14="http://schemas.microsoft.com/office/powerpoint/2010/main" val="468586305"/>
              </p:ext>
            </p:extLst>
          </p:nvPr>
        </p:nvGraphicFramePr>
        <p:xfrm>
          <a:off x="6948488" y="2290697"/>
          <a:ext cx="1728787" cy="890587"/>
        </p:xfrm>
        <a:graphic>
          <a:graphicData uri="http://schemas.openxmlformats.org/presentationml/2006/ole">
            <mc:AlternateContent xmlns:mc="http://schemas.openxmlformats.org/markup-compatibility/2006">
              <mc:Choice xmlns:v="urn:schemas-microsoft-com:vml" Requires="v">
                <p:oleObj spid="_x0000_s4109" name="Equation" r:id="rId6" imgW="711000" imgH="393480" progId="Equation.3">
                  <p:embed/>
                </p:oleObj>
              </mc:Choice>
              <mc:Fallback>
                <p:oleObj name="Equation" r:id="rId6" imgW="711000" imgH="393480" progId="Equation.3">
                  <p:embed/>
                  <p:pic>
                    <p:nvPicPr>
                      <p:cNvPr id="35845" name="Object 5">
                        <a:extLst>
                          <a:ext uri="{FF2B5EF4-FFF2-40B4-BE49-F238E27FC236}">
                            <a16:creationId xmlns:a16="http://schemas.microsoft.com/office/drawing/2014/main" id="{37FD18F5-30EA-402F-9820-288908B471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8488" y="2290697"/>
                        <a:ext cx="1728787" cy="890587"/>
                      </a:xfrm>
                      <a:prstGeom prst="rect">
                        <a:avLst/>
                      </a:prstGeom>
                      <a:blipFill dpi="0" rotWithShape="0">
                        <a:blip r:embed="rId3"/>
                        <a:srcRect/>
                        <a:tile tx="0" ty="0" sx="100000" sy="100000" flip="none" algn="tl"/>
                      </a:blipFill>
                      <a:ln w="76200">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AutoShape 7">
            <a:extLst>
              <a:ext uri="{FF2B5EF4-FFF2-40B4-BE49-F238E27FC236}">
                <a16:creationId xmlns:a16="http://schemas.microsoft.com/office/drawing/2014/main" id="{C897F1A5-D21F-4AEF-BC88-4F6FF6B1551C}"/>
              </a:ext>
            </a:extLst>
          </p:cNvPr>
          <p:cNvSpPr>
            <a:spLocks/>
          </p:cNvSpPr>
          <p:nvPr/>
        </p:nvSpPr>
        <p:spPr bwMode="auto">
          <a:xfrm>
            <a:off x="6443663" y="1354072"/>
            <a:ext cx="504825" cy="1800225"/>
          </a:xfrm>
          <a:prstGeom prst="leftBrace">
            <a:avLst>
              <a:gd name="adj1" fmla="val 29717"/>
              <a:gd name="adj2" fmla="val 40755"/>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0">
            <a:extLst>
              <a:ext uri="{FF2B5EF4-FFF2-40B4-BE49-F238E27FC236}">
                <a16:creationId xmlns:a16="http://schemas.microsoft.com/office/drawing/2014/main" id="{4B67279A-4DDE-494C-BF9F-80CEBA41F63C}"/>
              </a:ext>
            </a:extLst>
          </p:cNvPr>
          <p:cNvSpPr>
            <a:spLocks noChangeArrowheads="1"/>
          </p:cNvSpPr>
          <p:nvPr/>
        </p:nvSpPr>
        <p:spPr bwMode="auto">
          <a:xfrm>
            <a:off x="395288" y="3009834"/>
            <a:ext cx="4608512" cy="1463675"/>
          </a:xfrm>
          <a:prstGeom prst="rect">
            <a:avLst/>
          </a:prstGeom>
          <a:noFill/>
          <a:ln w="3175" cap="sq" cmpd="thickThin">
            <a:solidFill>
              <a:schemeClr val="tx1"/>
            </a:solidFill>
            <a:miter lim="800000"/>
            <a:headEnd type="none" w="sm" len="sm"/>
            <a:tailEnd type="none" w="sm" len="sm"/>
          </a:ln>
          <a:effectLst/>
        </p:spPr>
        <p:txBody>
          <a:bodyPr>
            <a:spAutoFit/>
          </a:bodyPr>
          <a:lstStyle/>
          <a:p>
            <a:pPr>
              <a:lnSpc>
                <a:spcPct val="120000"/>
              </a:lnSpc>
              <a:buClr>
                <a:srgbClr val="FF0000"/>
              </a:buClr>
              <a:buSzPct val="95000"/>
              <a:buFont typeface="Wingdings" panose="05000000000000000000" pitchFamily="2" charset="2"/>
              <a:buChar char="n"/>
            </a:pPr>
            <a:r>
              <a:rPr lang="en-US" altLang="zh-CN"/>
              <a:t>LM</a:t>
            </a:r>
            <a:r>
              <a:rPr lang="zh-CN" altLang="en-US"/>
              <a:t>曲线斜率</a:t>
            </a:r>
            <a:r>
              <a:rPr lang="en-US" altLang="zh-CN"/>
              <a:t>k/h</a:t>
            </a:r>
          </a:p>
          <a:p>
            <a:pPr>
              <a:lnSpc>
                <a:spcPct val="120000"/>
              </a:lnSpc>
              <a:buClr>
                <a:srgbClr val="FF0000"/>
              </a:buClr>
              <a:buSzPct val="95000"/>
              <a:buFont typeface="Wingdings" panose="05000000000000000000" pitchFamily="2" charset="2"/>
              <a:buChar char="n"/>
            </a:pPr>
            <a:r>
              <a:rPr lang="zh-CN" altLang="en-US"/>
              <a:t>经济意义：总产出对利率变动的敏感程度。</a:t>
            </a:r>
          </a:p>
        </p:txBody>
      </p:sp>
      <p:sp>
        <p:nvSpPr>
          <p:cNvPr id="10" name="Rectangle 33">
            <a:extLst>
              <a:ext uri="{FF2B5EF4-FFF2-40B4-BE49-F238E27FC236}">
                <a16:creationId xmlns:a16="http://schemas.microsoft.com/office/drawing/2014/main" id="{3C617370-DB95-46AB-9AB2-FFF035670137}"/>
              </a:ext>
            </a:extLst>
          </p:cNvPr>
          <p:cNvSpPr>
            <a:spLocks noChangeArrowheads="1"/>
          </p:cNvSpPr>
          <p:nvPr/>
        </p:nvSpPr>
        <p:spPr bwMode="auto">
          <a:xfrm>
            <a:off x="395288" y="4883084"/>
            <a:ext cx="4608512" cy="1755775"/>
          </a:xfrm>
          <a:prstGeom prst="rect">
            <a:avLst/>
          </a:prstGeom>
          <a:noFill/>
          <a:ln w="3175" cap="sq" cmpd="thickThin">
            <a:solidFill>
              <a:schemeClr val="tx1"/>
            </a:solidFill>
            <a:miter lim="800000"/>
            <a:headEnd type="none" w="sm" len="sm"/>
            <a:tailEnd type="none" w="sm" len="sm"/>
          </a:ln>
          <a:effectLst/>
        </p:spPr>
        <p:txBody>
          <a:bodyPr>
            <a:spAutoFit/>
          </a:bodyPr>
          <a:lstStyle/>
          <a:p>
            <a:pPr>
              <a:lnSpc>
                <a:spcPct val="110000"/>
              </a:lnSpc>
              <a:buClr>
                <a:srgbClr val="FF0000"/>
              </a:buClr>
              <a:buSzPct val="95000"/>
              <a:buFont typeface="Wingdings" panose="05000000000000000000" pitchFamily="2" charset="2"/>
              <a:buChar char="n"/>
            </a:pPr>
            <a:r>
              <a:rPr lang="zh-CN" altLang="en-US" b="0"/>
              <a:t>斜率越小，总产出对利率变动的反应越敏感；</a:t>
            </a:r>
          </a:p>
          <a:p>
            <a:pPr>
              <a:lnSpc>
                <a:spcPct val="110000"/>
              </a:lnSpc>
              <a:buClr>
                <a:srgbClr val="FF0000"/>
              </a:buClr>
              <a:buSzPct val="95000"/>
              <a:buFont typeface="Wingdings" panose="05000000000000000000" pitchFamily="2" charset="2"/>
              <a:buChar char="n"/>
            </a:pPr>
            <a:r>
              <a:rPr lang="zh-CN" altLang="en-US" b="0"/>
              <a:t>反之，斜率越大，总产出对利率变动的反应越迟钝。</a:t>
            </a:r>
          </a:p>
        </p:txBody>
      </p:sp>
      <p:pic>
        <p:nvPicPr>
          <p:cNvPr id="11" name="图片 10">
            <a:extLst>
              <a:ext uri="{FF2B5EF4-FFF2-40B4-BE49-F238E27FC236}">
                <a16:creationId xmlns:a16="http://schemas.microsoft.com/office/drawing/2014/main" id="{511A5DC7-9ECB-4442-ABE9-CB81CED52D54}"/>
              </a:ext>
            </a:extLst>
          </p:cNvPr>
          <p:cNvPicPr>
            <a:picLocks noChangeAspect="1"/>
          </p:cNvPicPr>
          <p:nvPr/>
        </p:nvPicPr>
        <p:blipFill>
          <a:blip r:embed="rId8"/>
          <a:stretch>
            <a:fillRect/>
          </a:stretch>
        </p:blipFill>
        <p:spPr>
          <a:xfrm>
            <a:off x="5633168" y="3676717"/>
            <a:ext cx="2773920" cy="2507197"/>
          </a:xfrm>
          <a:prstGeom prst="rect">
            <a:avLst/>
          </a:prstGeom>
        </p:spPr>
      </p:pic>
    </p:spTree>
    <p:extLst>
      <p:ext uri="{BB962C8B-B14F-4D97-AF65-F5344CB8AC3E}">
        <p14:creationId xmlns:p14="http://schemas.microsoft.com/office/powerpoint/2010/main" val="2069570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21080F2-4AC3-4F5F-99F9-910C8860C2C1}"/>
              </a:ext>
            </a:extLst>
          </p:cNvPr>
          <p:cNvSpPr>
            <a:spLocks noGrp="1" noChangeArrowheads="1"/>
          </p:cNvSpPr>
          <p:nvPr>
            <p:ph type="title"/>
          </p:nvPr>
        </p:nvSpPr>
        <p:spPr>
          <a:xfrm>
            <a:off x="323850" y="477838"/>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2800" dirty="0"/>
              <a:t>LM </a:t>
            </a:r>
            <a:r>
              <a:rPr lang="zh-CN" altLang="en-US" sz="2800" dirty="0"/>
              <a:t>曲线推导图</a:t>
            </a:r>
          </a:p>
        </p:txBody>
      </p:sp>
      <p:sp>
        <p:nvSpPr>
          <p:cNvPr id="5" name="Rectangle 3">
            <a:extLst>
              <a:ext uri="{FF2B5EF4-FFF2-40B4-BE49-F238E27FC236}">
                <a16:creationId xmlns:a16="http://schemas.microsoft.com/office/drawing/2014/main" id="{EAF7069C-E60A-4D85-98CA-4251971F3D4A}"/>
              </a:ext>
            </a:extLst>
          </p:cNvPr>
          <p:cNvSpPr txBox="1">
            <a:spLocks noChangeArrowheads="1"/>
          </p:cNvSpPr>
          <p:nvPr/>
        </p:nvSpPr>
        <p:spPr>
          <a:xfrm>
            <a:off x="323850" y="1125538"/>
            <a:ext cx="2266950" cy="935037"/>
          </a:xfrm>
          <a:prstGeom prst="rect">
            <a:avLst/>
          </a:prstGeom>
          <a:noFill/>
          <a:ln w="3175">
            <a:solidFill>
              <a:schemeClr val="tx1"/>
            </a:solidFill>
            <a:headEnd/>
            <a:tailEnd/>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黑体" panose="02010609060101010101" pitchFamily="49" charset="-122"/>
                <a:ea typeface="黑体" panose="02010609060101010101" pitchFamily="49" charset="-122"/>
              </a:rPr>
              <a:t>利率</a:t>
            </a:r>
            <a:r>
              <a:rPr lang="zh-CN" altLang="en-US" dirty="0">
                <a:latin typeface="黑体" panose="02010609060101010101" pitchFamily="49" charset="-122"/>
                <a:ea typeface="黑体" panose="02010609060101010101" pitchFamily="49" charset="-122"/>
                <a:sym typeface="Wingdings 3" panose="05040102010807070707" pitchFamily="18" charset="2"/>
              </a:rPr>
              <a:t></a:t>
            </a:r>
          </a:p>
          <a:p>
            <a:r>
              <a:rPr lang="zh-CN" altLang="en-US" dirty="0">
                <a:latin typeface="黑体" panose="02010609060101010101" pitchFamily="49" charset="-122"/>
                <a:ea typeface="黑体" panose="02010609060101010101" pitchFamily="49" charset="-122"/>
              </a:rPr>
              <a:t>投机需求量</a:t>
            </a:r>
          </a:p>
        </p:txBody>
      </p:sp>
      <p:sp>
        <p:nvSpPr>
          <p:cNvPr id="6" name="Rectangle 7">
            <a:extLst>
              <a:ext uri="{FF2B5EF4-FFF2-40B4-BE49-F238E27FC236}">
                <a16:creationId xmlns:a16="http://schemas.microsoft.com/office/drawing/2014/main" id="{B924FD3E-7A64-4C52-8254-A144A32EA008}"/>
              </a:ext>
            </a:extLst>
          </p:cNvPr>
          <p:cNvSpPr>
            <a:spLocks noChangeArrowheads="1"/>
          </p:cNvSpPr>
          <p:nvPr/>
        </p:nvSpPr>
        <p:spPr bwMode="auto">
          <a:xfrm>
            <a:off x="323850" y="2060575"/>
            <a:ext cx="2266950" cy="15843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b="0" dirty="0">
                <a:latin typeface="黑体" panose="02010609060101010101" pitchFamily="49" charset="-122"/>
                <a:ea typeface="黑体" panose="02010609060101010101" pitchFamily="49" charset="-122"/>
              </a:rPr>
              <a:t>货币供给固定</a:t>
            </a:r>
            <a:r>
              <a:rPr lang="en-US" altLang="zh-CN" b="0" dirty="0">
                <a:latin typeface="黑体" panose="02010609060101010101" pitchFamily="49" charset="-122"/>
                <a:ea typeface="黑体" panose="02010609060101010101" pitchFamily="49" charset="-122"/>
              </a:rPr>
              <a:t>-</a:t>
            </a:r>
            <a:r>
              <a:rPr lang="zh-CN" altLang="en-US" b="0" dirty="0">
                <a:latin typeface="黑体" panose="02010609060101010101" pitchFamily="49" charset="-122"/>
                <a:ea typeface="黑体" panose="02010609060101010101" pitchFamily="49" charset="-122"/>
              </a:rPr>
              <a:t>投机需求量</a:t>
            </a:r>
            <a:r>
              <a:rPr lang="zh-CN" altLang="en-US" b="0" dirty="0">
                <a:latin typeface="黑体" panose="02010609060101010101" pitchFamily="49" charset="-122"/>
                <a:ea typeface="黑体" panose="02010609060101010101" pitchFamily="49" charset="-122"/>
                <a:sym typeface="Wingdings 3" panose="05040102010807070707" pitchFamily="18" charset="2"/>
              </a:rPr>
              <a:t></a:t>
            </a:r>
          </a:p>
          <a:p>
            <a:pPr>
              <a:lnSpc>
                <a:spcPct val="90000"/>
              </a:lnSpc>
            </a:pPr>
            <a:r>
              <a:rPr lang="zh-CN" altLang="en-US" b="0" dirty="0">
                <a:latin typeface="黑体" panose="02010609060101010101" pitchFamily="49" charset="-122"/>
                <a:ea typeface="黑体" panose="02010609060101010101" pitchFamily="49" charset="-122"/>
              </a:rPr>
              <a:t>交易需求量</a:t>
            </a:r>
          </a:p>
        </p:txBody>
      </p:sp>
      <p:sp>
        <p:nvSpPr>
          <p:cNvPr id="7" name="Rectangle 8">
            <a:extLst>
              <a:ext uri="{FF2B5EF4-FFF2-40B4-BE49-F238E27FC236}">
                <a16:creationId xmlns:a16="http://schemas.microsoft.com/office/drawing/2014/main" id="{C0BD0BE7-7856-4424-AF8F-835F5DCDD048}"/>
              </a:ext>
            </a:extLst>
          </p:cNvPr>
          <p:cNvSpPr>
            <a:spLocks noChangeArrowheads="1"/>
          </p:cNvSpPr>
          <p:nvPr/>
        </p:nvSpPr>
        <p:spPr bwMode="auto">
          <a:xfrm>
            <a:off x="323850" y="3789363"/>
            <a:ext cx="2266950" cy="1223962"/>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b="0">
                <a:latin typeface="黑体" panose="02010609060101010101" pitchFamily="49" charset="-122"/>
                <a:ea typeface="黑体" panose="02010609060101010101" pitchFamily="49" charset="-122"/>
              </a:rPr>
              <a:t>交易需求量</a:t>
            </a:r>
            <a:r>
              <a:rPr lang="zh-CN" altLang="en-US" b="0">
                <a:latin typeface="黑体" panose="02010609060101010101" pitchFamily="49" charset="-122"/>
                <a:ea typeface="黑体" panose="02010609060101010101" pitchFamily="49" charset="-122"/>
                <a:sym typeface="Wingdings 3" panose="05040102010807070707" pitchFamily="18" charset="2"/>
              </a:rPr>
              <a:t></a:t>
            </a:r>
          </a:p>
          <a:p>
            <a:pPr>
              <a:lnSpc>
                <a:spcPct val="90000"/>
              </a:lnSpc>
            </a:pPr>
            <a:r>
              <a:rPr lang="zh-CN" altLang="en-US" b="0">
                <a:latin typeface="黑体" panose="02010609060101010101" pitchFamily="49" charset="-122"/>
                <a:ea typeface="黑体" panose="02010609060101010101" pitchFamily="49" charset="-122"/>
              </a:rPr>
              <a:t>国民收入</a:t>
            </a:r>
          </a:p>
        </p:txBody>
      </p:sp>
      <p:sp>
        <p:nvSpPr>
          <p:cNvPr id="8" name="Rectangle 9">
            <a:extLst>
              <a:ext uri="{FF2B5EF4-FFF2-40B4-BE49-F238E27FC236}">
                <a16:creationId xmlns:a16="http://schemas.microsoft.com/office/drawing/2014/main" id="{8B2634E6-D438-44CF-9AC3-412F1AE2EF5F}"/>
              </a:ext>
            </a:extLst>
          </p:cNvPr>
          <p:cNvSpPr>
            <a:spLocks noChangeArrowheads="1"/>
          </p:cNvSpPr>
          <p:nvPr/>
        </p:nvSpPr>
        <p:spPr bwMode="auto">
          <a:xfrm>
            <a:off x="323850" y="5157788"/>
            <a:ext cx="2266950" cy="122237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b="0">
                <a:latin typeface="黑体" panose="02010609060101010101" pitchFamily="49" charset="-122"/>
                <a:ea typeface="黑体" panose="02010609060101010101" pitchFamily="49" charset="-122"/>
                <a:sym typeface="Wingdings 3" panose="05040102010807070707" pitchFamily="18" charset="2"/>
              </a:rPr>
              <a:t></a:t>
            </a:r>
          </a:p>
          <a:p>
            <a:pPr>
              <a:lnSpc>
                <a:spcPct val="90000"/>
              </a:lnSpc>
            </a:pPr>
            <a:r>
              <a:rPr lang="en-US" altLang="zh-CN" b="0">
                <a:latin typeface="黑体" panose="02010609060101010101" pitchFamily="49" charset="-122"/>
                <a:ea typeface="黑体" panose="02010609060101010101" pitchFamily="49" charset="-122"/>
              </a:rPr>
              <a:t>LM</a:t>
            </a:r>
            <a:r>
              <a:rPr lang="zh-CN" altLang="en-US" b="0">
                <a:latin typeface="黑体" panose="02010609060101010101" pitchFamily="49" charset="-122"/>
                <a:ea typeface="黑体" panose="02010609060101010101" pitchFamily="49" charset="-122"/>
              </a:rPr>
              <a:t>：收入和利率的关系</a:t>
            </a:r>
          </a:p>
        </p:txBody>
      </p:sp>
      <p:pic>
        <p:nvPicPr>
          <p:cNvPr id="9" name="图片 8">
            <a:extLst>
              <a:ext uri="{FF2B5EF4-FFF2-40B4-BE49-F238E27FC236}">
                <a16:creationId xmlns:a16="http://schemas.microsoft.com/office/drawing/2014/main" id="{6DEC3292-3CE7-4847-AA65-2A5444983B0E}"/>
              </a:ext>
            </a:extLst>
          </p:cNvPr>
          <p:cNvPicPr>
            <a:picLocks noChangeAspect="1"/>
          </p:cNvPicPr>
          <p:nvPr/>
        </p:nvPicPr>
        <p:blipFill>
          <a:blip r:embed="rId4"/>
          <a:stretch>
            <a:fillRect/>
          </a:stretch>
        </p:blipFill>
        <p:spPr>
          <a:xfrm>
            <a:off x="3240087" y="1321887"/>
            <a:ext cx="5151566" cy="4214225"/>
          </a:xfrm>
          <a:prstGeom prst="rect">
            <a:avLst/>
          </a:prstGeom>
        </p:spPr>
      </p:pic>
    </p:spTree>
    <p:extLst>
      <p:ext uri="{BB962C8B-B14F-4D97-AF65-F5344CB8AC3E}">
        <p14:creationId xmlns:p14="http://schemas.microsoft.com/office/powerpoint/2010/main" val="3400219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6">
            <a:extLst>
              <a:ext uri="{FF2B5EF4-FFF2-40B4-BE49-F238E27FC236}">
                <a16:creationId xmlns:a16="http://schemas.microsoft.com/office/drawing/2014/main" id="{9FF9A2A5-ABF0-4A3D-9CFE-D258F5370F98}"/>
              </a:ext>
            </a:extLst>
          </p:cNvPr>
          <p:cNvSpPr>
            <a:spLocks noGrp="1" noChangeArrowheads="1"/>
          </p:cNvSpPr>
          <p:nvPr>
            <p:ph type="title"/>
          </p:nvPr>
        </p:nvSpPr>
        <p:spPr>
          <a:xfrm>
            <a:off x="331011" y="477838"/>
            <a:ext cx="5832475" cy="647700"/>
          </a:xfrm>
        </p:spPr>
        <p:txBody>
          <a:bodyPr>
            <a:normAutofit/>
          </a:bodyPr>
          <a:lstStyle/>
          <a:p>
            <a:r>
              <a:rPr lang="zh-CN" altLang="en-US" sz="2400" dirty="0">
                <a:solidFill>
                  <a:schemeClr val="bg1"/>
                </a:solidFill>
              </a:rPr>
              <a:t>普通</a:t>
            </a:r>
            <a:r>
              <a:rPr lang="en-US" altLang="zh-CN" sz="2400" dirty="0">
                <a:solidFill>
                  <a:schemeClr val="bg1"/>
                </a:solidFill>
              </a:rPr>
              <a:t>LM</a:t>
            </a:r>
            <a:r>
              <a:rPr lang="zh-CN" altLang="en-US" sz="2400" dirty="0">
                <a:solidFill>
                  <a:schemeClr val="bg1"/>
                </a:solidFill>
              </a:rPr>
              <a:t>曲线的形成</a:t>
            </a:r>
          </a:p>
        </p:txBody>
      </p:sp>
      <p:sp>
        <p:nvSpPr>
          <p:cNvPr id="5" name="Rectangle 161">
            <a:extLst>
              <a:ext uri="{FF2B5EF4-FFF2-40B4-BE49-F238E27FC236}">
                <a16:creationId xmlns:a16="http://schemas.microsoft.com/office/drawing/2014/main" id="{1B7153BF-E88C-45D6-BC15-EE2FFD919945}"/>
              </a:ext>
            </a:extLst>
          </p:cNvPr>
          <p:cNvSpPr txBox="1">
            <a:spLocks noChangeArrowheads="1"/>
          </p:cNvSpPr>
          <p:nvPr/>
        </p:nvSpPr>
        <p:spPr>
          <a:xfrm>
            <a:off x="395288" y="2852738"/>
            <a:ext cx="2376487" cy="1582737"/>
          </a:xfrm>
          <a:prstGeom prst="rect">
            <a:avLst/>
          </a:prstGeom>
          <a:noFill/>
          <a:ln w="3175">
            <a:solidFill>
              <a:schemeClr val="tx1"/>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pPr>
            <a:r>
              <a:rPr lang="zh-CN" altLang="en-US" sz="2000"/>
              <a:t>投机性需求存在流动偏好陷阱。</a:t>
            </a:r>
          </a:p>
          <a:p>
            <a:pPr marL="0" indent="0">
              <a:lnSpc>
                <a:spcPct val="110000"/>
              </a:lnSpc>
            </a:pPr>
            <a:r>
              <a:rPr lang="en-US" altLang="zh-CN" sz="2000"/>
              <a:t>LM</a:t>
            </a:r>
            <a:r>
              <a:rPr lang="zh-CN" altLang="en-US" sz="2000"/>
              <a:t>存在一个水平状凯恩斯区域。</a:t>
            </a:r>
          </a:p>
        </p:txBody>
      </p:sp>
      <p:sp>
        <p:nvSpPr>
          <p:cNvPr id="6" name="Rectangle 162">
            <a:extLst>
              <a:ext uri="{FF2B5EF4-FFF2-40B4-BE49-F238E27FC236}">
                <a16:creationId xmlns:a16="http://schemas.microsoft.com/office/drawing/2014/main" id="{DDEE74E1-C431-49AE-A583-1B37DE454B66}"/>
              </a:ext>
            </a:extLst>
          </p:cNvPr>
          <p:cNvSpPr>
            <a:spLocks noChangeArrowheads="1"/>
          </p:cNvSpPr>
          <p:nvPr/>
        </p:nvSpPr>
        <p:spPr bwMode="auto">
          <a:xfrm>
            <a:off x="395288" y="4724400"/>
            <a:ext cx="2376487" cy="15843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5125">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000"/>
              <a:t>投机性需求在利率很高时为</a:t>
            </a:r>
            <a:r>
              <a:rPr lang="en-US" altLang="zh-CN" sz="2000"/>
              <a:t>0</a:t>
            </a:r>
            <a:r>
              <a:rPr lang="zh-CN" altLang="en-US" sz="2000"/>
              <a:t>。只有交易需求。</a:t>
            </a:r>
          </a:p>
          <a:p>
            <a:pPr>
              <a:lnSpc>
                <a:spcPct val="110000"/>
              </a:lnSpc>
            </a:pPr>
            <a:r>
              <a:rPr lang="en-US" altLang="zh-CN" sz="2000"/>
              <a:t>LM</a:t>
            </a:r>
            <a:r>
              <a:rPr lang="zh-CN" altLang="en-US" sz="2000"/>
              <a:t>呈垂直状。</a:t>
            </a:r>
          </a:p>
        </p:txBody>
      </p:sp>
      <p:sp>
        <p:nvSpPr>
          <p:cNvPr id="7" name="Rectangle 163">
            <a:extLst>
              <a:ext uri="{FF2B5EF4-FFF2-40B4-BE49-F238E27FC236}">
                <a16:creationId xmlns:a16="http://schemas.microsoft.com/office/drawing/2014/main" id="{93C6F742-B3A3-4B21-B8CD-662A65876FC4}"/>
              </a:ext>
            </a:extLst>
          </p:cNvPr>
          <p:cNvSpPr>
            <a:spLocks noChangeArrowheads="1"/>
          </p:cNvSpPr>
          <p:nvPr/>
        </p:nvSpPr>
        <p:spPr bwMode="auto">
          <a:xfrm>
            <a:off x="395288" y="1125538"/>
            <a:ext cx="2376487" cy="1387475"/>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sz="2000"/>
              <a:t>交易需求函数比较稳定，</a:t>
            </a:r>
            <a:r>
              <a:rPr lang="en-US" altLang="zh-CN" sz="2000"/>
              <a:t>LM</a:t>
            </a:r>
            <a:r>
              <a:rPr lang="zh-CN" altLang="en-US" sz="2000"/>
              <a:t>主要取决于投机需求，即利率。</a:t>
            </a:r>
          </a:p>
        </p:txBody>
      </p:sp>
      <p:pic>
        <p:nvPicPr>
          <p:cNvPr id="8" name="图片 7">
            <a:extLst>
              <a:ext uri="{FF2B5EF4-FFF2-40B4-BE49-F238E27FC236}">
                <a16:creationId xmlns:a16="http://schemas.microsoft.com/office/drawing/2014/main" id="{897A46DD-08A1-4BAC-9E5B-C4CF622BC14E}"/>
              </a:ext>
            </a:extLst>
          </p:cNvPr>
          <p:cNvPicPr>
            <a:picLocks noChangeAspect="1"/>
          </p:cNvPicPr>
          <p:nvPr/>
        </p:nvPicPr>
        <p:blipFill>
          <a:blip r:embed="rId4"/>
          <a:stretch>
            <a:fillRect/>
          </a:stretch>
        </p:blipFill>
        <p:spPr>
          <a:xfrm>
            <a:off x="3485609" y="1257112"/>
            <a:ext cx="5006774" cy="4343776"/>
          </a:xfrm>
          <a:prstGeom prst="rect">
            <a:avLst/>
          </a:prstGeom>
        </p:spPr>
      </p:pic>
    </p:spTree>
    <p:extLst>
      <p:ext uri="{BB962C8B-B14F-4D97-AF65-F5344CB8AC3E}">
        <p14:creationId xmlns:p14="http://schemas.microsoft.com/office/powerpoint/2010/main" val="933759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4484020-75DE-41BC-BBBF-D00562084CF7}"/>
              </a:ext>
            </a:extLst>
          </p:cNvPr>
          <p:cNvSpPr>
            <a:spLocks noGrp="1" noChangeArrowheads="1"/>
          </p:cNvSpPr>
          <p:nvPr>
            <p:ph type="title"/>
          </p:nvPr>
        </p:nvSpPr>
        <p:spPr>
          <a:xfrm>
            <a:off x="395288" y="661876"/>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3200" dirty="0"/>
              <a:t>LM</a:t>
            </a:r>
            <a:r>
              <a:rPr lang="zh-CN" altLang="en-US" sz="3200" dirty="0"/>
              <a:t>曲线的经济含义</a:t>
            </a:r>
          </a:p>
        </p:txBody>
      </p:sp>
      <p:sp>
        <p:nvSpPr>
          <p:cNvPr id="5" name="Rectangle 5">
            <a:extLst>
              <a:ext uri="{FF2B5EF4-FFF2-40B4-BE49-F238E27FC236}">
                <a16:creationId xmlns:a16="http://schemas.microsoft.com/office/drawing/2014/main" id="{40061DD2-7AC4-4C4D-9121-A16224F29042}"/>
              </a:ext>
            </a:extLst>
          </p:cNvPr>
          <p:cNvSpPr>
            <a:spLocks noChangeArrowheads="1"/>
          </p:cNvSpPr>
          <p:nvPr/>
        </p:nvSpPr>
        <p:spPr bwMode="auto">
          <a:xfrm>
            <a:off x="395288" y="3613832"/>
            <a:ext cx="8424862" cy="1295400"/>
          </a:xfrm>
          <a:prstGeom prst="rect">
            <a:avLst/>
          </a:prstGeom>
          <a:noFill/>
          <a:ln w="3175" cap="sq" cmpd="thickThin" algn="ctr">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defRPr kumimoji="1" sz="2400">
                <a:solidFill>
                  <a:schemeClr val="tx1"/>
                </a:solidFill>
                <a:latin typeface="Times New Roman" panose="02020603050405020304" pitchFamily="18" charset="0"/>
                <a:ea typeface="宋体" panose="02010600030101010101" pitchFamily="2" charset="-122"/>
              </a:defRPr>
            </a:lvl1pPr>
            <a:lvl2pPr marL="363538">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tx2"/>
              </a:buClr>
              <a:buFont typeface="Wingdings" panose="05000000000000000000" pitchFamily="2" charset="2"/>
              <a:buBlip>
                <a:blip r:embed="rId2"/>
              </a:buBlip>
            </a:pPr>
            <a:r>
              <a:rPr lang="zh-CN" altLang="en-US" b="0"/>
              <a:t>（</a:t>
            </a:r>
            <a:r>
              <a:rPr lang="en-US" altLang="zh-CN" b="0"/>
              <a:t>3</a:t>
            </a:r>
            <a:r>
              <a:rPr lang="zh-CN" altLang="en-US" b="0"/>
              <a:t>）</a:t>
            </a:r>
            <a:r>
              <a:rPr lang="en-US" altLang="zh-CN" b="0"/>
              <a:t>LM</a:t>
            </a:r>
            <a:r>
              <a:rPr lang="zh-CN" altLang="en-US" b="0"/>
              <a:t>曲线上的任何点都表示 </a:t>
            </a:r>
            <a:r>
              <a:rPr lang="en-US" altLang="zh-CN" b="0"/>
              <a:t>L= m</a:t>
            </a:r>
            <a:r>
              <a:rPr lang="zh-CN" altLang="en-US" b="0"/>
              <a:t>，即货币市场实现了宏观均衡。反之，偏离</a:t>
            </a:r>
            <a:r>
              <a:rPr lang="en-US" altLang="zh-CN" b="0"/>
              <a:t>LM</a:t>
            </a:r>
            <a:r>
              <a:rPr lang="zh-CN" altLang="en-US" b="0"/>
              <a:t>曲线的任何点位都表示 </a:t>
            </a:r>
            <a:r>
              <a:rPr lang="en-US" altLang="zh-CN" b="0"/>
              <a:t>L≠m</a:t>
            </a:r>
            <a:r>
              <a:rPr lang="zh-CN" altLang="en-US" b="0"/>
              <a:t>，即货币市场没有实现均衡。</a:t>
            </a:r>
          </a:p>
        </p:txBody>
      </p:sp>
      <p:sp>
        <p:nvSpPr>
          <p:cNvPr id="6" name="Rectangle 6">
            <a:extLst>
              <a:ext uri="{FF2B5EF4-FFF2-40B4-BE49-F238E27FC236}">
                <a16:creationId xmlns:a16="http://schemas.microsoft.com/office/drawing/2014/main" id="{F95FF49C-D8CF-4706-BBA5-49B5ACDECC8C}"/>
              </a:ext>
            </a:extLst>
          </p:cNvPr>
          <p:cNvSpPr txBox="1">
            <a:spLocks noChangeArrowheads="1"/>
          </p:cNvSpPr>
          <p:nvPr/>
        </p:nvSpPr>
        <p:spPr>
          <a:xfrm>
            <a:off x="395288" y="1381807"/>
            <a:ext cx="8424862" cy="863600"/>
          </a:xfrm>
          <a:prstGeom prst="rect">
            <a:avLst/>
          </a:prstGeom>
          <a:noFill/>
          <a:ln w="31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a:t>
            </a:r>
            <a:r>
              <a:rPr lang="en-US" altLang="zh-CN"/>
              <a:t>1</a:t>
            </a:r>
            <a:r>
              <a:rPr lang="zh-CN" altLang="en-US"/>
              <a:t>）描述货币市场达到均衡，即 </a:t>
            </a:r>
            <a:r>
              <a:rPr lang="en-US" altLang="zh-CN"/>
              <a:t>L=m</a:t>
            </a:r>
            <a:r>
              <a:rPr lang="zh-CN" altLang="en-US"/>
              <a:t>时，总产出与利率之间关系的曲线。</a:t>
            </a:r>
          </a:p>
        </p:txBody>
      </p:sp>
      <p:sp>
        <p:nvSpPr>
          <p:cNvPr id="7" name="Rectangle 7">
            <a:extLst>
              <a:ext uri="{FF2B5EF4-FFF2-40B4-BE49-F238E27FC236}">
                <a16:creationId xmlns:a16="http://schemas.microsoft.com/office/drawing/2014/main" id="{3EC66DCA-C51D-46CB-82B8-B8EF9634A7B5}"/>
              </a:ext>
            </a:extLst>
          </p:cNvPr>
          <p:cNvSpPr>
            <a:spLocks noChangeArrowheads="1"/>
          </p:cNvSpPr>
          <p:nvPr/>
        </p:nvSpPr>
        <p:spPr bwMode="auto">
          <a:xfrm>
            <a:off x="395288" y="2389870"/>
            <a:ext cx="8424862" cy="935037"/>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b="0"/>
              <a:t>（</a:t>
            </a:r>
            <a:r>
              <a:rPr lang="en-US" altLang="zh-CN" b="0"/>
              <a:t>2</a:t>
            </a:r>
            <a:r>
              <a:rPr lang="zh-CN" altLang="en-US" b="0"/>
              <a:t>）货币市场上，总产出与利率之间存在正向关系，利率提高时总产出增加，利率降低时总产出减少。</a:t>
            </a:r>
          </a:p>
        </p:txBody>
      </p:sp>
      <p:sp>
        <p:nvSpPr>
          <p:cNvPr id="8" name="Rectangle 8">
            <a:extLst>
              <a:ext uri="{FF2B5EF4-FFF2-40B4-BE49-F238E27FC236}">
                <a16:creationId xmlns:a16="http://schemas.microsoft.com/office/drawing/2014/main" id="{C291796A-2CA9-4B43-8706-002D6133E9DD}"/>
              </a:ext>
            </a:extLst>
          </p:cNvPr>
          <p:cNvSpPr>
            <a:spLocks noChangeArrowheads="1"/>
          </p:cNvSpPr>
          <p:nvPr/>
        </p:nvSpPr>
        <p:spPr bwMode="auto">
          <a:xfrm>
            <a:off x="395288" y="5126720"/>
            <a:ext cx="8424862" cy="1263650"/>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rgbClr val="336600"/>
              </a:buClr>
              <a:buSzPct val="95000"/>
              <a:buFont typeface="Wingdings" panose="05000000000000000000" pitchFamily="2" charset="2"/>
              <a:buChar char="l"/>
            </a:pPr>
            <a:r>
              <a:rPr lang="zh-CN" altLang="en-US"/>
              <a:t>（</a:t>
            </a:r>
            <a:r>
              <a:rPr lang="en-US" altLang="zh-CN"/>
              <a:t>4</a:t>
            </a:r>
            <a:r>
              <a:rPr lang="zh-CN" altLang="en-US"/>
              <a:t>）</a:t>
            </a:r>
            <a:r>
              <a:rPr lang="en-US" altLang="zh-CN"/>
              <a:t>LM </a:t>
            </a:r>
            <a:r>
              <a:rPr lang="zh-CN" altLang="en-US"/>
              <a:t>右边，表示 </a:t>
            </a:r>
            <a:r>
              <a:rPr lang="en-US" altLang="zh-CN"/>
              <a:t>L</a:t>
            </a:r>
            <a:r>
              <a:rPr lang="zh-CN" altLang="en-US"/>
              <a:t>＞</a:t>
            </a:r>
            <a:r>
              <a:rPr lang="en-US" altLang="zh-CN"/>
              <a:t>m</a:t>
            </a:r>
            <a:r>
              <a:rPr lang="zh-CN" altLang="en-US"/>
              <a:t>，利率过低，导致货币需求</a:t>
            </a:r>
            <a:r>
              <a:rPr lang="en-US" altLang="zh-CN"/>
              <a:t>&gt;</a:t>
            </a:r>
            <a:r>
              <a:rPr lang="zh-CN" altLang="en-US"/>
              <a:t>货币供应。</a:t>
            </a:r>
            <a:r>
              <a:rPr lang="en-US" altLang="zh-CN"/>
              <a:t>LM</a:t>
            </a:r>
            <a:r>
              <a:rPr lang="zh-CN" altLang="en-US"/>
              <a:t>左边，表示 </a:t>
            </a:r>
            <a:r>
              <a:rPr lang="en-US" altLang="zh-CN"/>
              <a:t>L</a:t>
            </a:r>
            <a:r>
              <a:rPr lang="zh-CN" altLang="en-US"/>
              <a:t>＜</a:t>
            </a:r>
            <a:r>
              <a:rPr lang="en-US" altLang="zh-CN"/>
              <a:t>m</a:t>
            </a:r>
            <a:r>
              <a:rPr lang="zh-CN" altLang="en-US"/>
              <a:t>，利率过高，导致货币需求</a:t>
            </a:r>
            <a:r>
              <a:rPr lang="en-US" altLang="zh-CN"/>
              <a:t>&lt;</a:t>
            </a:r>
            <a:r>
              <a:rPr lang="zh-CN" altLang="en-US"/>
              <a:t>货币供应。</a:t>
            </a:r>
          </a:p>
        </p:txBody>
      </p:sp>
    </p:spTree>
    <p:extLst>
      <p:ext uri="{BB962C8B-B14F-4D97-AF65-F5344CB8AC3E}">
        <p14:creationId xmlns:p14="http://schemas.microsoft.com/office/powerpoint/2010/main" val="3258854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22D84C27-0741-4110-9F4B-8F15EFF037E4}"/>
              </a:ext>
            </a:extLst>
          </p:cNvPr>
          <p:cNvSpPr>
            <a:spLocks noGrp="1" noChangeArrowheads="1"/>
          </p:cNvSpPr>
          <p:nvPr>
            <p:ph type="title"/>
          </p:nvPr>
        </p:nvSpPr>
        <p:spPr>
          <a:xfrm>
            <a:off x="761594" y="743389"/>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3600" dirty="0"/>
              <a:t>LM</a:t>
            </a:r>
            <a:r>
              <a:rPr lang="zh-CN" altLang="en-US" sz="3600" dirty="0"/>
              <a:t>曲线之外的经济含义</a:t>
            </a:r>
          </a:p>
        </p:txBody>
      </p:sp>
      <p:pic>
        <p:nvPicPr>
          <p:cNvPr id="5" name="图片 4">
            <a:extLst>
              <a:ext uri="{FF2B5EF4-FFF2-40B4-BE49-F238E27FC236}">
                <a16:creationId xmlns:a16="http://schemas.microsoft.com/office/drawing/2014/main" id="{3A9C3319-1AFD-4BFB-A7EE-B69852C8FA34}"/>
              </a:ext>
            </a:extLst>
          </p:cNvPr>
          <p:cNvPicPr>
            <a:picLocks noChangeAspect="1"/>
          </p:cNvPicPr>
          <p:nvPr/>
        </p:nvPicPr>
        <p:blipFill>
          <a:blip r:embed="rId2"/>
          <a:stretch>
            <a:fillRect/>
          </a:stretch>
        </p:blipFill>
        <p:spPr>
          <a:xfrm>
            <a:off x="1114619" y="1653612"/>
            <a:ext cx="5799323" cy="3939881"/>
          </a:xfrm>
          <a:prstGeom prst="rect">
            <a:avLst/>
          </a:prstGeom>
        </p:spPr>
      </p:pic>
    </p:spTree>
    <p:extLst>
      <p:ext uri="{BB962C8B-B14F-4D97-AF65-F5344CB8AC3E}">
        <p14:creationId xmlns:p14="http://schemas.microsoft.com/office/powerpoint/2010/main" val="2303017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77C5BC-4423-4A0C-94DE-C549389DA80A}"/>
              </a:ext>
            </a:extLst>
          </p:cNvPr>
          <p:cNvSpPr txBox="1">
            <a:spLocks noChangeArrowheads="1"/>
          </p:cNvSpPr>
          <p:nvPr/>
        </p:nvSpPr>
        <p:spPr>
          <a:xfrm>
            <a:off x="395288" y="1196975"/>
            <a:ext cx="8424862" cy="1008063"/>
          </a:xfrm>
          <a:prstGeom prst="rect">
            <a:avLst/>
          </a:prstGeom>
          <a:ln>
            <a:headEnd/>
            <a:tailEnd/>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latin typeface="黑体" panose="02010609060101010101" pitchFamily="49" charset="-122"/>
                <a:ea typeface="黑体" panose="02010609060101010101" pitchFamily="49" charset="-122"/>
              </a:rPr>
              <a:t>已知货币供应量 </a:t>
            </a:r>
            <a:r>
              <a:rPr lang="en-US" altLang="zh-CN" dirty="0">
                <a:solidFill>
                  <a:schemeClr val="bg1"/>
                </a:solidFill>
                <a:latin typeface="黑体" panose="02010609060101010101" pitchFamily="49" charset="-122"/>
                <a:ea typeface="黑体" panose="02010609060101010101" pitchFamily="49" charset="-122"/>
              </a:rPr>
              <a:t>m = 300</a:t>
            </a:r>
            <a:r>
              <a:rPr lang="zh-CN" altLang="en-US" dirty="0">
                <a:solidFill>
                  <a:schemeClr val="bg1"/>
                </a:solidFill>
                <a:latin typeface="黑体" panose="02010609060101010101" pitchFamily="49" charset="-122"/>
                <a:ea typeface="黑体" panose="02010609060101010101" pitchFamily="49" charset="-122"/>
              </a:rPr>
              <a:t>，货币需求量 </a:t>
            </a:r>
            <a:r>
              <a:rPr lang="en-US" altLang="zh-CN" dirty="0">
                <a:solidFill>
                  <a:schemeClr val="bg1"/>
                </a:solidFill>
                <a:latin typeface="黑体" panose="02010609060101010101" pitchFamily="49" charset="-122"/>
                <a:ea typeface="黑体" panose="02010609060101010101" pitchFamily="49" charset="-122"/>
              </a:rPr>
              <a:t>L = 0.2y - 5r</a:t>
            </a:r>
            <a:r>
              <a:rPr lang="zh-CN" altLang="en-US" dirty="0">
                <a:solidFill>
                  <a:schemeClr val="bg1"/>
                </a:solidFill>
                <a:latin typeface="黑体" panose="02010609060101010101" pitchFamily="49" charset="-122"/>
                <a:ea typeface="黑体" panose="02010609060101010101" pitchFamily="49" charset="-122"/>
              </a:rPr>
              <a:t>；</a:t>
            </a:r>
          </a:p>
          <a:p>
            <a:r>
              <a:rPr lang="zh-CN" altLang="en-US" dirty="0">
                <a:solidFill>
                  <a:schemeClr val="bg1"/>
                </a:solidFill>
                <a:latin typeface="黑体" panose="02010609060101010101" pitchFamily="49" charset="-122"/>
                <a:ea typeface="黑体" panose="02010609060101010101" pitchFamily="49" charset="-122"/>
              </a:rPr>
              <a:t>求</a:t>
            </a:r>
            <a:r>
              <a:rPr lang="en-US" altLang="zh-CN" dirty="0">
                <a:solidFill>
                  <a:schemeClr val="bg1"/>
                </a:solidFill>
                <a:latin typeface="黑体" panose="02010609060101010101" pitchFamily="49" charset="-122"/>
                <a:ea typeface="黑体" panose="02010609060101010101" pitchFamily="49" charset="-122"/>
              </a:rPr>
              <a:t>LM</a:t>
            </a:r>
            <a:r>
              <a:rPr lang="zh-CN" altLang="en-US" dirty="0">
                <a:solidFill>
                  <a:schemeClr val="bg1"/>
                </a:solidFill>
                <a:latin typeface="黑体" panose="02010609060101010101" pitchFamily="49" charset="-122"/>
                <a:ea typeface="黑体" panose="02010609060101010101" pitchFamily="49" charset="-122"/>
              </a:rPr>
              <a:t>曲线。</a:t>
            </a:r>
          </a:p>
        </p:txBody>
      </p:sp>
      <p:graphicFrame>
        <p:nvGraphicFramePr>
          <p:cNvPr id="5" name="Object 5">
            <a:extLst>
              <a:ext uri="{FF2B5EF4-FFF2-40B4-BE49-F238E27FC236}">
                <a16:creationId xmlns:a16="http://schemas.microsoft.com/office/drawing/2014/main" id="{09A95873-A700-447A-A274-39591A4F0CC7}"/>
              </a:ext>
            </a:extLst>
          </p:cNvPr>
          <p:cNvGraphicFramePr>
            <a:graphicFrameLocks noChangeAspect="1"/>
          </p:cNvGraphicFramePr>
          <p:nvPr/>
        </p:nvGraphicFramePr>
        <p:xfrm>
          <a:off x="2700338" y="2997200"/>
          <a:ext cx="2160587" cy="944563"/>
        </p:xfrm>
        <a:graphic>
          <a:graphicData uri="http://schemas.openxmlformats.org/presentationml/2006/ole">
            <mc:AlternateContent xmlns:mc="http://schemas.openxmlformats.org/markup-compatibility/2006">
              <mc:Choice xmlns:v="urn:schemas-microsoft-com:vml" Requires="v">
                <p:oleObj spid="_x0000_s5138" name="Equation" r:id="rId3" imgW="952200" imgH="393480" progId="Equation.3">
                  <p:embed/>
                </p:oleObj>
              </mc:Choice>
              <mc:Fallback>
                <p:oleObj name="Equation" r:id="rId3" imgW="952200" imgH="393480" progId="Equation.3">
                  <p:embed/>
                  <p:pic>
                    <p:nvPicPr>
                      <p:cNvPr id="144389" name="Object 5">
                        <a:extLst>
                          <a:ext uri="{FF2B5EF4-FFF2-40B4-BE49-F238E27FC236}">
                            <a16:creationId xmlns:a16="http://schemas.microsoft.com/office/drawing/2014/main" id="{02E8D18A-9F5A-496D-ADD5-73C08D45CF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2997200"/>
                        <a:ext cx="2160587" cy="94456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6">
            <a:extLst>
              <a:ext uri="{FF2B5EF4-FFF2-40B4-BE49-F238E27FC236}">
                <a16:creationId xmlns:a16="http://schemas.microsoft.com/office/drawing/2014/main" id="{A8F79380-56BE-465E-B0A6-09092236072E}"/>
              </a:ext>
            </a:extLst>
          </p:cNvPr>
          <p:cNvSpPr>
            <a:spLocks noChangeArrowheads="1"/>
          </p:cNvSpPr>
          <p:nvPr/>
        </p:nvSpPr>
        <p:spPr bwMode="auto">
          <a:xfrm>
            <a:off x="5003800" y="3140075"/>
            <a:ext cx="3846513" cy="495300"/>
          </a:xfrm>
          <a:prstGeom prst="rect">
            <a:avLst/>
          </a:prstGeom>
          <a:noFill/>
          <a:ln w="3175" cap="sq" cmpd="dbl">
            <a:solidFill>
              <a:schemeClr val="tx1"/>
            </a:solidFill>
            <a:miter lim="800000"/>
            <a:headEnd type="none" w="sm" len="sm"/>
            <a:tailEnd type="none" w="sm" len="sm"/>
          </a:ln>
          <a:effectLst/>
        </p:spPr>
        <p:txBody>
          <a:bodyPr wrap="none">
            <a:spAutoFit/>
          </a:bodyPr>
          <a:lstStyle/>
          <a:p>
            <a:pPr>
              <a:spcBef>
                <a:spcPct val="20000"/>
              </a:spcBef>
              <a:buClr>
                <a:srgbClr val="336600"/>
              </a:buClr>
              <a:buSzPct val="95000"/>
              <a:buFont typeface="Wingdings" panose="05000000000000000000" pitchFamily="2" charset="2"/>
              <a:buChar char="p"/>
            </a:pPr>
            <a:r>
              <a:rPr lang="en-US" altLang="zh-CN"/>
              <a:t>LM</a:t>
            </a:r>
            <a:r>
              <a:rPr lang="zh-CN" altLang="en-US"/>
              <a:t>曲线：</a:t>
            </a:r>
            <a:r>
              <a:rPr lang="en-US" altLang="zh-CN"/>
              <a:t>r = - 60 + 0.04y</a:t>
            </a:r>
          </a:p>
        </p:txBody>
      </p:sp>
      <p:graphicFrame>
        <p:nvGraphicFramePr>
          <p:cNvPr id="7" name="Object 7">
            <a:extLst>
              <a:ext uri="{FF2B5EF4-FFF2-40B4-BE49-F238E27FC236}">
                <a16:creationId xmlns:a16="http://schemas.microsoft.com/office/drawing/2014/main" id="{3C557618-7987-48AA-A5E4-992A06A2F87D}"/>
              </a:ext>
            </a:extLst>
          </p:cNvPr>
          <p:cNvGraphicFramePr>
            <a:graphicFrameLocks noChangeAspect="1"/>
          </p:cNvGraphicFramePr>
          <p:nvPr/>
        </p:nvGraphicFramePr>
        <p:xfrm>
          <a:off x="468313" y="4076700"/>
          <a:ext cx="1728787" cy="844550"/>
        </p:xfrm>
        <a:graphic>
          <a:graphicData uri="http://schemas.openxmlformats.org/presentationml/2006/ole">
            <mc:AlternateContent xmlns:mc="http://schemas.openxmlformats.org/markup-compatibility/2006">
              <mc:Choice xmlns:v="urn:schemas-microsoft-com:vml" Requires="v">
                <p:oleObj spid="_x0000_s5139" name="Equation" r:id="rId5" imgW="736560" imgH="393480" progId="Equation.3">
                  <p:embed/>
                </p:oleObj>
              </mc:Choice>
              <mc:Fallback>
                <p:oleObj name="Equation" r:id="rId5" imgW="736560" imgH="393480" progId="Equation.3">
                  <p:embed/>
                  <p:pic>
                    <p:nvPicPr>
                      <p:cNvPr id="144391" name="Object 7">
                        <a:extLst>
                          <a:ext uri="{FF2B5EF4-FFF2-40B4-BE49-F238E27FC236}">
                            <a16:creationId xmlns:a16="http://schemas.microsoft.com/office/drawing/2014/main" id="{4282EBF0-5531-4216-A722-3088D29088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4076700"/>
                        <a:ext cx="1728787" cy="844550"/>
                      </a:xfrm>
                      <a:prstGeom prst="rect">
                        <a:avLst/>
                      </a:prstGeom>
                      <a:solidFill>
                        <a:schemeClr val="bg1"/>
                      </a:solidFill>
                      <a:ln w="38100" cmpd="dbl">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a:extLst>
              <a:ext uri="{FF2B5EF4-FFF2-40B4-BE49-F238E27FC236}">
                <a16:creationId xmlns:a16="http://schemas.microsoft.com/office/drawing/2014/main" id="{1AD1A5CA-751B-446D-8E6F-2C702A241684}"/>
              </a:ext>
            </a:extLst>
          </p:cNvPr>
          <p:cNvGraphicFramePr>
            <a:graphicFrameLocks noChangeAspect="1"/>
          </p:cNvGraphicFramePr>
          <p:nvPr/>
        </p:nvGraphicFramePr>
        <p:xfrm>
          <a:off x="468313" y="3068638"/>
          <a:ext cx="1728787" cy="890587"/>
        </p:xfrm>
        <a:graphic>
          <a:graphicData uri="http://schemas.openxmlformats.org/presentationml/2006/ole">
            <mc:AlternateContent xmlns:mc="http://schemas.openxmlformats.org/markup-compatibility/2006">
              <mc:Choice xmlns:v="urn:schemas-microsoft-com:vml" Requires="v">
                <p:oleObj spid="_x0000_s5140" name="Equation" r:id="rId7" imgW="711000" imgH="393480" progId="Equation.3">
                  <p:embed/>
                </p:oleObj>
              </mc:Choice>
              <mc:Fallback>
                <p:oleObj name="Equation" r:id="rId7" imgW="711000" imgH="393480" progId="Equation.3">
                  <p:embed/>
                  <p:pic>
                    <p:nvPicPr>
                      <p:cNvPr id="144392" name="Object 8">
                        <a:extLst>
                          <a:ext uri="{FF2B5EF4-FFF2-40B4-BE49-F238E27FC236}">
                            <a16:creationId xmlns:a16="http://schemas.microsoft.com/office/drawing/2014/main" id="{E8AC725F-3CFA-47BF-AA95-F2A533E0F4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3068638"/>
                        <a:ext cx="1728787" cy="890587"/>
                      </a:xfrm>
                      <a:prstGeom prst="rect">
                        <a:avLst/>
                      </a:prstGeom>
                      <a:blipFill dpi="0" rotWithShape="0">
                        <a:blip r:embed="rId9"/>
                        <a:srcRect/>
                        <a:tile tx="0" ty="0" sx="100000" sy="100000" flip="none" algn="tl"/>
                      </a:blipFill>
                      <a:ln w="76200">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9">
            <a:extLst>
              <a:ext uri="{FF2B5EF4-FFF2-40B4-BE49-F238E27FC236}">
                <a16:creationId xmlns:a16="http://schemas.microsoft.com/office/drawing/2014/main" id="{623774B2-47C3-4A92-A7C4-F73E5A980D81}"/>
              </a:ext>
            </a:extLst>
          </p:cNvPr>
          <p:cNvSpPr>
            <a:spLocks noChangeArrowheads="1"/>
          </p:cNvSpPr>
          <p:nvPr/>
        </p:nvSpPr>
        <p:spPr bwMode="auto">
          <a:xfrm>
            <a:off x="395288" y="2349500"/>
            <a:ext cx="5400675" cy="503238"/>
          </a:xfrm>
          <a:prstGeom prst="rect">
            <a:avLst/>
          </a:prstGeom>
          <a:blipFill dpi="0" rotWithShape="0">
            <a:blip r:embed="rId10"/>
            <a:srcRect/>
            <a:tile tx="0" ty="0" sx="100000" sy="100000" flip="none" algn="tl"/>
          </a:blipFill>
          <a:ln w="38100" cap="sq" cmpd="dbl">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spcBef>
                <a:spcPct val="20000"/>
              </a:spcBef>
              <a:buClr>
                <a:srgbClr val="336600"/>
              </a:buClr>
              <a:buSzPct val="95000"/>
              <a:buFont typeface="Wingdings" panose="05000000000000000000" pitchFamily="2" charset="2"/>
              <a:buChar char="p"/>
            </a:pPr>
            <a:r>
              <a:rPr lang="zh-CN" altLang="en-US" dirty="0"/>
              <a:t>解： </a:t>
            </a:r>
            <a:r>
              <a:rPr lang="en-US" altLang="zh-CN" dirty="0">
                <a:solidFill>
                  <a:srgbClr val="000000"/>
                </a:solidFill>
                <a:latin typeface="黑体" panose="02010609060101010101" pitchFamily="49" charset="-122"/>
                <a:ea typeface="黑体" panose="02010609060101010101" pitchFamily="49" charset="-122"/>
              </a:rPr>
              <a:t>m = 300  k</a:t>
            </a:r>
            <a:r>
              <a:rPr lang="zh-CN" altLang="en-US" dirty="0">
                <a:solidFill>
                  <a:srgbClr val="000000"/>
                </a:solidFill>
                <a:latin typeface="黑体" panose="02010609060101010101" pitchFamily="49" charset="-122"/>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rPr>
              <a:t>0.2  h</a:t>
            </a:r>
            <a:r>
              <a:rPr lang="zh-CN" altLang="en-US" dirty="0">
                <a:solidFill>
                  <a:srgbClr val="000000"/>
                </a:solidFill>
                <a:latin typeface="黑体" panose="02010609060101010101" pitchFamily="49" charset="-122"/>
                <a:ea typeface="黑体" panose="02010609060101010101" pitchFamily="49" charset="-122"/>
              </a:rPr>
              <a:t>＝</a:t>
            </a:r>
            <a:r>
              <a:rPr lang="en-US" altLang="zh-CN" dirty="0">
                <a:solidFill>
                  <a:srgbClr val="000000"/>
                </a:solidFill>
                <a:latin typeface="黑体" panose="02010609060101010101" pitchFamily="49" charset="-122"/>
                <a:ea typeface="黑体" panose="02010609060101010101" pitchFamily="49" charset="-122"/>
              </a:rPr>
              <a:t>5</a:t>
            </a:r>
          </a:p>
        </p:txBody>
      </p:sp>
      <p:graphicFrame>
        <p:nvGraphicFramePr>
          <p:cNvPr id="10" name="Object 10">
            <a:extLst>
              <a:ext uri="{FF2B5EF4-FFF2-40B4-BE49-F238E27FC236}">
                <a16:creationId xmlns:a16="http://schemas.microsoft.com/office/drawing/2014/main" id="{219CBD1E-1441-40C8-92F6-705EAFED689C}"/>
              </a:ext>
            </a:extLst>
          </p:cNvPr>
          <p:cNvGraphicFramePr>
            <a:graphicFrameLocks noChangeAspect="1"/>
          </p:cNvGraphicFramePr>
          <p:nvPr/>
        </p:nvGraphicFramePr>
        <p:xfrm>
          <a:off x="2700338" y="4076700"/>
          <a:ext cx="2087562" cy="844550"/>
        </p:xfrm>
        <a:graphic>
          <a:graphicData uri="http://schemas.openxmlformats.org/presentationml/2006/ole">
            <mc:AlternateContent xmlns:mc="http://schemas.openxmlformats.org/markup-compatibility/2006">
              <mc:Choice xmlns:v="urn:schemas-microsoft-com:vml" Requires="v">
                <p:oleObj spid="_x0000_s5141" name="公式" r:id="rId11" imgW="888840" imgH="393480" progId="Equation.3">
                  <p:embed/>
                </p:oleObj>
              </mc:Choice>
              <mc:Fallback>
                <p:oleObj name="公式" r:id="rId11" imgW="888840" imgH="393480" progId="Equation.3">
                  <p:embed/>
                  <p:pic>
                    <p:nvPicPr>
                      <p:cNvPr id="144394" name="Object 10">
                        <a:extLst>
                          <a:ext uri="{FF2B5EF4-FFF2-40B4-BE49-F238E27FC236}">
                            <a16:creationId xmlns:a16="http://schemas.microsoft.com/office/drawing/2014/main" id="{D8BAFA5B-D763-49A4-83E4-28218D35346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0338" y="4076700"/>
                        <a:ext cx="2087562" cy="844550"/>
                      </a:xfrm>
                      <a:prstGeom prst="rect">
                        <a:avLst/>
                      </a:prstGeom>
                      <a:solidFill>
                        <a:schemeClr val="bg1"/>
                      </a:solidFill>
                      <a:ln w="38100" cmpd="dbl">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11">
            <a:extLst>
              <a:ext uri="{FF2B5EF4-FFF2-40B4-BE49-F238E27FC236}">
                <a16:creationId xmlns:a16="http://schemas.microsoft.com/office/drawing/2014/main" id="{7C7E3966-5C3C-4325-8C78-92D2A95803FF}"/>
              </a:ext>
            </a:extLst>
          </p:cNvPr>
          <p:cNvSpPr>
            <a:spLocks noChangeArrowheads="1"/>
          </p:cNvSpPr>
          <p:nvPr/>
        </p:nvSpPr>
        <p:spPr bwMode="auto">
          <a:xfrm>
            <a:off x="5003800" y="4149725"/>
            <a:ext cx="3816350" cy="495300"/>
          </a:xfrm>
          <a:prstGeom prst="rect">
            <a:avLst/>
          </a:prstGeom>
          <a:noFill/>
          <a:ln w="3175" cap="sq" cmpd="dbl">
            <a:solidFill>
              <a:schemeClr val="tx1"/>
            </a:solidFill>
            <a:miter lim="800000"/>
            <a:headEnd type="none" w="sm" len="sm"/>
            <a:tailEnd type="none" w="sm" len="sm"/>
          </a:ln>
          <a:effectLst/>
        </p:spPr>
        <p:txBody>
          <a:bodyPr>
            <a:spAutoFit/>
          </a:bodyPr>
          <a:lstStyle/>
          <a:p>
            <a:pPr>
              <a:spcBef>
                <a:spcPct val="20000"/>
              </a:spcBef>
              <a:buClr>
                <a:srgbClr val="336600"/>
              </a:buClr>
              <a:buSzPct val="95000"/>
              <a:buFont typeface="Wingdings" panose="05000000000000000000" pitchFamily="2" charset="2"/>
              <a:buChar char="p"/>
            </a:pPr>
            <a:r>
              <a:rPr lang="en-US" altLang="zh-CN"/>
              <a:t>LM</a:t>
            </a:r>
            <a:r>
              <a:rPr lang="zh-CN" altLang="en-US"/>
              <a:t>曲线：</a:t>
            </a:r>
            <a:r>
              <a:rPr lang="en-US" altLang="zh-CN"/>
              <a:t>y = 25r + 1500</a:t>
            </a:r>
          </a:p>
        </p:txBody>
      </p:sp>
      <p:sp>
        <p:nvSpPr>
          <p:cNvPr id="12" name="Rectangle 13">
            <a:extLst>
              <a:ext uri="{FF2B5EF4-FFF2-40B4-BE49-F238E27FC236}">
                <a16:creationId xmlns:a16="http://schemas.microsoft.com/office/drawing/2014/main" id="{14FCEAEE-94CB-40AA-A85E-A98F3608A4EC}"/>
              </a:ext>
            </a:extLst>
          </p:cNvPr>
          <p:cNvSpPr>
            <a:spLocks noChangeArrowheads="1"/>
          </p:cNvSpPr>
          <p:nvPr/>
        </p:nvSpPr>
        <p:spPr bwMode="auto">
          <a:xfrm>
            <a:off x="468313" y="5157788"/>
            <a:ext cx="5327650" cy="1150937"/>
          </a:xfrm>
          <a:prstGeom prst="rect">
            <a:avLst/>
          </a:prstGeom>
          <a:blipFill dpi="0" rotWithShape="0">
            <a:blip r:embed="rId9"/>
            <a:srcRect/>
            <a:tile tx="0" ty="0" sx="100000" sy="100000" flip="none" algn="tl"/>
          </a:blipFill>
          <a:ln w="76200" cap="sq">
            <a:solidFill>
              <a:srgbClr val="3366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1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1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buClr>
                <a:schemeClr val="hlink"/>
              </a:buClr>
              <a:buSzPct val="95000"/>
              <a:buFont typeface="Wingdings" panose="05000000000000000000" pitchFamily="2" charset="2"/>
              <a:buChar char="u"/>
            </a:pPr>
            <a:r>
              <a:rPr lang="zh-CN" altLang="en-US" b="0">
                <a:solidFill>
                  <a:srgbClr val="000000"/>
                </a:solidFill>
                <a:latin typeface="黑体" panose="02010609060101010101" pitchFamily="49" charset="-122"/>
                <a:ea typeface="黑体" panose="02010609060101010101" pitchFamily="49" charset="-122"/>
              </a:rPr>
              <a:t>简单一点：  </a:t>
            </a:r>
            <a:r>
              <a:rPr lang="en-US" altLang="zh-CN" b="0">
                <a:solidFill>
                  <a:srgbClr val="000000"/>
                </a:solidFill>
                <a:latin typeface="黑体" panose="02010609060101010101" pitchFamily="49" charset="-122"/>
                <a:ea typeface="黑体" panose="02010609060101010101" pitchFamily="49" charset="-122"/>
              </a:rPr>
              <a:t>m = ky </a:t>
            </a:r>
            <a:r>
              <a:rPr lang="en-US" altLang="zh-CN" b="0">
                <a:solidFill>
                  <a:srgbClr val="000000"/>
                </a:solidFill>
                <a:ea typeface="黑体" panose="02010609060101010101" pitchFamily="49" charset="-122"/>
              </a:rPr>
              <a:t>–</a:t>
            </a:r>
            <a:r>
              <a:rPr lang="en-US" altLang="zh-CN" b="0">
                <a:solidFill>
                  <a:srgbClr val="000000"/>
                </a:solidFill>
                <a:latin typeface="黑体" panose="02010609060101010101" pitchFamily="49" charset="-122"/>
                <a:ea typeface="黑体" panose="02010609060101010101" pitchFamily="49" charset="-122"/>
              </a:rPr>
              <a:t> hr</a:t>
            </a:r>
            <a:r>
              <a:rPr lang="zh-CN" altLang="en-US" b="0">
                <a:solidFill>
                  <a:srgbClr val="000000"/>
                </a:solidFill>
                <a:latin typeface="黑体" panose="02010609060101010101" pitchFamily="49" charset="-122"/>
                <a:ea typeface="黑体" panose="02010609060101010101" pitchFamily="49" charset="-122"/>
              </a:rPr>
              <a:t>即</a:t>
            </a:r>
          </a:p>
          <a:p>
            <a:pPr>
              <a:lnSpc>
                <a:spcPct val="110000"/>
              </a:lnSpc>
              <a:buClr>
                <a:schemeClr val="hlink"/>
              </a:buClr>
              <a:buSzPct val="95000"/>
              <a:buFont typeface="Wingdings" panose="05000000000000000000" pitchFamily="2" charset="2"/>
              <a:buChar char="u"/>
            </a:pPr>
            <a:r>
              <a:rPr lang="en-US" altLang="zh-CN" b="0">
                <a:solidFill>
                  <a:srgbClr val="000000"/>
                </a:solidFill>
                <a:latin typeface="黑体" panose="02010609060101010101" pitchFamily="49" charset="-122"/>
                <a:ea typeface="黑体" panose="02010609060101010101" pitchFamily="49" charset="-122"/>
              </a:rPr>
              <a:t>300</a:t>
            </a:r>
            <a:r>
              <a:rPr lang="zh-CN" altLang="en-US" b="0">
                <a:solidFill>
                  <a:srgbClr val="000000"/>
                </a:solidFill>
                <a:latin typeface="黑体" panose="02010609060101010101" pitchFamily="49" charset="-122"/>
                <a:ea typeface="黑体" panose="02010609060101010101" pitchFamily="49" charset="-122"/>
              </a:rPr>
              <a:t>＝ </a:t>
            </a:r>
            <a:r>
              <a:rPr lang="en-US" altLang="zh-CN">
                <a:solidFill>
                  <a:srgbClr val="000000"/>
                </a:solidFill>
                <a:latin typeface="黑体" panose="02010609060101010101" pitchFamily="49" charset="-122"/>
                <a:ea typeface="黑体" panose="02010609060101010101" pitchFamily="49" charset="-122"/>
              </a:rPr>
              <a:t>0.2y - 5r</a:t>
            </a:r>
          </a:p>
        </p:txBody>
      </p:sp>
    </p:spTree>
    <p:extLst>
      <p:ext uri="{BB962C8B-B14F-4D97-AF65-F5344CB8AC3E}">
        <p14:creationId xmlns:p14="http://schemas.microsoft.com/office/powerpoint/2010/main" val="3328566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1771CC3C-232A-4C86-8979-8E1DC2F584DA}"/>
              </a:ext>
            </a:extLst>
          </p:cNvPr>
          <p:cNvSpPr>
            <a:spLocks noGrp="1" noChangeArrowheads="1"/>
          </p:cNvSpPr>
          <p:nvPr>
            <p:ph type="title"/>
          </p:nvPr>
        </p:nvSpPr>
        <p:spPr>
          <a:xfrm>
            <a:off x="358775" y="520600"/>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2800" dirty="0"/>
              <a:t>LM</a:t>
            </a:r>
            <a:r>
              <a:rPr lang="zh-CN" altLang="en-US" sz="2800" dirty="0"/>
              <a:t>曲线的移动</a:t>
            </a:r>
          </a:p>
        </p:txBody>
      </p:sp>
      <p:sp>
        <p:nvSpPr>
          <p:cNvPr id="5" name="Rectangle 8">
            <a:extLst>
              <a:ext uri="{FF2B5EF4-FFF2-40B4-BE49-F238E27FC236}">
                <a16:creationId xmlns:a16="http://schemas.microsoft.com/office/drawing/2014/main" id="{5029AF67-A7AE-4BA9-A14B-5EBD8372F38E}"/>
              </a:ext>
            </a:extLst>
          </p:cNvPr>
          <p:cNvSpPr txBox="1">
            <a:spLocks noChangeArrowheads="1"/>
          </p:cNvSpPr>
          <p:nvPr/>
        </p:nvSpPr>
        <p:spPr>
          <a:xfrm>
            <a:off x="395288" y="1420712"/>
            <a:ext cx="4608512" cy="1511300"/>
          </a:xfrm>
          <a:prstGeom prst="rect">
            <a:avLst/>
          </a:prstGeom>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t>（</a:t>
            </a:r>
            <a:r>
              <a:rPr lang="en-US" altLang="zh-CN" dirty="0"/>
              <a:t>1</a:t>
            </a:r>
            <a:r>
              <a:rPr lang="zh-CN" altLang="en-US" dirty="0"/>
              <a:t>）水平移动：利率不变    </a:t>
            </a:r>
          </a:p>
          <a:p>
            <a:r>
              <a:rPr lang="zh-CN" altLang="en-US" dirty="0"/>
              <a:t>水平移动取决于</a:t>
            </a:r>
            <a:r>
              <a:rPr lang="en-US" altLang="zh-CN" dirty="0"/>
              <a:t>m/h</a:t>
            </a:r>
            <a:r>
              <a:rPr lang="zh-CN" altLang="en-US" dirty="0"/>
              <a:t>＝</a:t>
            </a:r>
            <a:r>
              <a:rPr lang="en-US" altLang="zh-CN" dirty="0"/>
              <a:t>M/Ph;</a:t>
            </a:r>
          </a:p>
          <a:p>
            <a:r>
              <a:rPr lang="en-US" altLang="zh-CN" dirty="0"/>
              <a:t>h</a:t>
            </a:r>
            <a:r>
              <a:rPr lang="zh-CN" altLang="en-US" dirty="0"/>
              <a:t>不变，则</a:t>
            </a:r>
            <a:r>
              <a:rPr lang="en-US" altLang="zh-CN" dirty="0"/>
              <a:t>M</a:t>
            </a:r>
            <a:r>
              <a:rPr lang="zh-CN" altLang="en-US" dirty="0"/>
              <a:t>和</a:t>
            </a:r>
            <a:r>
              <a:rPr lang="en-US" altLang="zh-CN" dirty="0"/>
              <a:t>P</a:t>
            </a:r>
            <a:r>
              <a:rPr lang="zh-CN" altLang="en-US" dirty="0"/>
              <a:t>改变。</a:t>
            </a:r>
          </a:p>
        </p:txBody>
      </p:sp>
      <p:sp>
        <p:nvSpPr>
          <p:cNvPr id="7" name="Rectangle 26">
            <a:extLst>
              <a:ext uri="{FF2B5EF4-FFF2-40B4-BE49-F238E27FC236}">
                <a16:creationId xmlns:a16="http://schemas.microsoft.com/office/drawing/2014/main" id="{D91AD305-3EE4-4A5F-9B7A-16EB405FD981}"/>
              </a:ext>
            </a:extLst>
          </p:cNvPr>
          <p:cNvSpPr>
            <a:spLocks noChangeArrowheads="1"/>
          </p:cNvSpPr>
          <p:nvPr/>
        </p:nvSpPr>
        <p:spPr bwMode="auto">
          <a:xfrm>
            <a:off x="395288" y="3076475"/>
            <a:ext cx="4608512" cy="865187"/>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dirty="0"/>
              <a:t>若价格水平</a:t>
            </a:r>
            <a:r>
              <a:rPr lang="en-US" altLang="zh-CN" dirty="0"/>
              <a:t>P</a:t>
            </a:r>
            <a:r>
              <a:rPr lang="zh-CN" altLang="en-US" dirty="0"/>
              <a:t>不变，</a:t>
            </a:r>
            <a:r>
              <a:rPr lang="en-US" altLang="zh-CN" dirty="0"/>
              <a:t>M</a:t>
            </a:r>
            <a:r>
              <a:rPr lang="zh-CN" altLang="en-US" dirty="0"/>
              <a:t>增加，</a:t>
            </a:r>
          </a:p>
          <a:p>
            <a:pPr>
              <a:lnSpc>
                <a:spcPct val="80000"/>
              </a:lnSpc>
            </a:pPr>
            <a:r>
              <a:rPr lang="zh-CN" altLang="en-US" dirty="0"/>
              <a:t>则</a:t>
            </a:r>
            <a:r>
              <a:rPr lang="en-US" altLang="zh-CN" dirty="0"/>
              <a:t>m</a:t>
            </a:r>
            <a:r>
              <a:rPr lang="zh-CN" altLang="en-US" dirty="0"/>
              <a:t>增加，</a:t>
            </a:r>
            <a:r>
              <a:rPr lang="en-US" altLang="zh-CN" dirty="0"/>
              <a:t>LM</a:t>
            </a:r>
            <a:r>
              <a:rPr lang="zh-CN" altLang="en-US" dirty="0"/>
              <a:t>右移；</a:t>
            </a:r>
            <a:r>
              <a:rPr lang="zh-CN" altLang="en-US" sz="2000" dirty="0">
                <a:solidFill>
                  <a:srgbClr val="FF0000"/>
                </a:solidFill>
              </a:rPr>
              <a:t>反之左移</a:t>
            </a:r>
          </a:p>
        </p:txBody>
      </p:sp>
      <p:sp>
        <p:nvSpPr>
          <p:cNvPr id="8" name="Rectangle 27">
            <a:extLst>
              <a:ext uri="{FF2B5EF4-FFF2-40B4-BE49-F238E27FC236}">
                <a16:creationId xmlns:a16="http://schemas.microsoft.com/office/drawing/2014/main" id="{F015BFA1-6299-41B4-A141-B60DBDBE3E01}"/>
              </a:ext>
            </a:extLst>
          </p:cNvPr>
          <p:cNvSpPr>
            <a:spLocks noChangeArrowheads="1"/>
          </p:cNvSpPr>
          <p:nvPr/>
        </p:nvSpPr>
        <p:spPr bwMode="auto">
          <a:xfrm>
            <a:off x="395288" y="4084537"/>
            <a:ext cx="4608512" cy="865188"/>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dirty="0"/>
              <a:t>若</a:t>
            </a:r>
            <a:r>
              <a:rPr lang="en-US" altLang="zh-CN" dirty="0"/>
              <a:t>M</a:t>
            </a:r>
            <a:r>
              <a:rPr lang="zh-CN" altLang="en-US" dirty="0"/>
              <a:t>不变，价格水平</a:t>
            </a:r>
            <a:r>
              <a:rPr lang="en-US" altLang="zh-CN" dirty="0"/>
              <a:t>P</a:t>
            </a:r>
            <a:r>
              <a:rPr lang="zh-CN" altLang="en-US" dirty="0"/>
              <a:t>上涨，</a:t>
            </a:r>
          </a:p>
          <a:p>
            <a:pPr>
              <a:lnSpc>
                <a:spcPct val="80000"/>
              </a:lnSpc>
            </a:pPr>
            <a:r>
              <a:rPr lang="zh-CN" altLang="en-US" dirty="0"/>
              <a:t>则</a:t>
            </a:r>
            <a:r>
              <a:rPr lang="en-US" altLang="zh-CN" dirty="0"/>
              <a:t>m</a:t>
            </a:r>
            <a:r>
              <a:rPr lang="zh-CN" altLang="en-US" dirty="0"/>
              <a:t>减少， </a:t>
            </a:r>
            <a:r>
              <a:rPr lang="en-US" altLang="zh-CN" dirty="0"/>
              <a:t>LM</a:t>
            </a:r>
            <a:r>
              <a:rPr lang="zh-CN" altLang="en-US" dirty="0"/>
              <a:t>左移；</a:t>
            </a:r>
            <a:r>
              <a:rPr lang="zh-CN" altLang="en-US" sz="2000" dirty="0">
                <a:solidFill>
                  <a:srgbClr val="FF0000"/>
                </a:solidFill>
              </a:rPr>
              <a:t>反之右移</a:t>
            </a:r>
          </a:p>
        </p:txBody>
      </p:sp>
      <p:graphicFrame>
        <p:nvGraphicFramePr>
          <p:cNvPr id="9" name="Object 32">
            <a:extLst>
              <a:ext uri="{FF2B5EF4-FFF2-40B4-BE49-F238E27FC236}">
                <a16:creationId xmlns:a16="http://schemas.microsoft.com/office/drawing/2014/main" id="{850B3CEC-FC6B-42BC-8183-B26E9085EDF4}"/>
              </a:ext>
            </a:extLst>
          </p:cNvPr>
          <p:cNvGraphicFramePr>
            <a:graphicFrameLocks noChangeAspect="1"/>
          </p:cNvGraphicFramePr>
          <p:nvPr>
            <p:extLst>
              <p:ext uri="{D42A27DB-BD31-4B8C-83A1-F6EECF244321}">
                <p14:modId xmlns:p14="http://schemas.microsoft.com/office/powerpoint/2010/main" val="3618584692"/>
              </p:ext>
            </p:extLst>
          </p:nvPr>
        </p:nvGraphicFramePr>
        <p:xfrm>
          <a:off x="6443663" y="987325"/>
          <a:ext cx="1728787" cy="844550"/>
        </p:xfrm>
        <a:graphic>
          <a:graphicData uri="http://schemas.openxmlformats.org/presentationml/2006/ole">
            <mc:AlternateContent xmlns:mc="http://schemas.openxmlformats.org/markup-compatibility/2006">
              <mc:Choice xmlns:v="urn:schemas-microsoft-com:vml" Requires="v">
                <p:oleObj spid="_x0000_s6154" name="Equation" r:id="rId5" imgW="736560" imgH="393480" progId="Equation.3">
                  <p:embed/>
                </p:oleObj>
              </mc:Choice>
              <mc:Fallback>
                <p:oleObj name="Equation" r:id="rId5" imgW="736560" imgH="393480" progId="Equation.3">
                  <p:embed/>
                  <p:pic>
                    <p:nvPicPr>
                      <p:cNvPr id="71712" name="Object 32">
                        <a:extLst>
                          <a:ext uri="{FF2B5EF4-FFF2-40B4-BE49-F238E27FC236}">
                            <a16:creationId xmlns:a16="http://schemas.microsoft.com/office/drawing/2014/main" id="{6574FF59-70D7-43BB-A88C-D4AC62DD38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987325"/>
                        <a:ext cx="1728787" cy="844550"/>
                      </a:xfrm>
                      <a:prstGeom prst="rect">
                        <a:avLst/>
                      </a:prstGeom>
                      <a:solidFill>
                        <a:schemeClr val="bg1"/>
                      </a:solidFill>
                      <a:ln w="38100" cmpd="dbl">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33">
            <a:extLst>
              <a:ext uri="{FF2B5EF4-FFF2-40B4-BE49-F238E27FC236}">
                <a16:creationId xmlns:a16="http://schemas.microsoft.com/office/drawing/2014/main" id="{357D0436-7A8A-4175-8F86-38819A2910A6}"/>
              </a:ext>
            </a:extLst>
          </p:cNvPr>
          <p:cNvGraphicFramePr>
            <a:graphicFrameLocks noChangeAspect="1"/>
          </p:cNvGraphicFramePr>
          <p:nvPr>
            <p:extLst>
              <p:ext uri="{D42A27DB-BD31-4B8C-83A1-F6EECF244321}">
                <p14:modId xmlns:p14="http://schemas.microsoft.com/office/powerpoint/2010/main" val="3485903402"/>
              </p:ext>
            </p:extLst>
          </p:nvPr>
        </p:nvGraphicFramePr>
        <p:xfrm>
          <a:off x="6443663" y="1923950"/>
          <a:ext cx="1728787" cy="890587"/>
        </p:xfrm>
        <a:graphic>
          <a:graphicData uri="http://schemas.openxmlformats.org/presentationml/2006/ole">
            <mc:AlternateContent xmlns:mc="http://schemas.openxmlformats.org/markup-compatibility/2006">
              <mc:Choice xmlns:v="urn:schemas-microsoft-com:vml" Requires="v">
                <p:oleObj spid="_x0000_s6155" name="Equation" r:id="rId7" imgW="711000" imgH="393480" progId="Equation.3">
                  <p:embed/>
                </p:oleObj>
              </mc:Choice>
              <mc:Fallback>
                <p:oleObj name="Equation" r:id="rId7" imgW="711000" imgH="393480" progId="Equation.3">
                  <p:embed/>
                  <p:pic>
                    <p:nvPicPr>
                      <p:cNvPr id="71713" name="Object 33">
                        <a:extLst>
                          <a:ext uri="{FF2B5EF4-FFF2-40B4-BE49-F238E27FC236}">
                            <a16:creationId xmlns:a16="http://schemas.microsoft.com/office/drawing/2014/main" id="{4544D787-151E-4155-87E2-C378980E41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663" y="1923950"/>
                        <a:ext cx="1728787" cy="890587"/>
                      </a:xfrm>
                      <a:prstGeom prst="rect">
                        <a:avLst/>
                      </a:prstGeom>
                      <a:blipFill dpi="0" rotWithShape="0">
                        <a:blip r:embed="rId9"/>
                        <a:srcRect/>
                        <a:tile tx="0" ty="0" sx="100000" sy="100000" flip="none" algn="tl"/>
                      </a:blipFill>
                      <a:ln w="76200">
                        <a:solidFill>
                          <a:srgbClr val="33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AutoShape 34">
            <a:extLst>
              <a:ext uri="{FF2B5EF4-FFF2-40B4-BE49-F238E27FC236}">
                <a16:creationId xmlns:a16="http://schemas.microsoft.com/office/drawing/2014/main" id="{86FA37B7-0D34-49CC-9AE1-8E4517BE40C3}"/>
              </a:ext>
            </a:extLst>
          </p:cNvPr>
          <p:cNvSpPr>
            <a:spLocks/>
          </p:cNvSpPr>
          <p:nvPr/>
        </p:nvSpPr>
        <p:spPr bwMode="auto">
          <a:xfrm>
            <a:off x="5938838" y="987325"/>
            <a:ext cx="504825" cy="1800225"/>
          </a:xfrm>
          <a:prstGeom prst="leftBrace">
            <a:avLst>
              <a:gd name="adj1" fmla="val 29717"/>
              <a:gd name="adj2" fmla="val 40755"/>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2" name="图片 11">
            <a:extLst>
              <a:ext uri="{FF2B5EF4-FFF2-40B4-BE49-F238E27FC236}">
                <a16:creationId xmlns:a16="http://schemas.microsoft.com/office/drawing/2014/main" id="{54F68413-29EF-4067-B397-C45AFE6EB122}"/>
              </a:ext>
            </a:extLst>
          </p:cNvPr>
          <p:cNvPicPr>
            <a:picLocks noChangeAspect="1"/>
          </p:cNvPicPr>
          <p:nvPr/>
        </p:nvPicPr>
        <p:blipFill>
          <a:blip r:embed="rId10"/>
          <a:stretch>
            <a:fillRect/>
          </a:stretch>
        </p:blipFill>
        <p:spPr>
          <a:xfrm>
            <a:off x="5551447" y="3254275"/>
            <a:ext cx="2956816" cy="2812024"/>
          </a:xfrm>
          <a:prstGeom prst="rect">
            <a:avLst/>
          </a:prstGeom>
        </p:spPr>
      </p:pic>
    </p:spTree>
    <p:extLst>
      <p:ext uri="{BB962C8B-B14F-4D97-AF65-F5344CB8AC3E}">
        <p14:creationId xmlns:p14="http://schemas.microsoft.com/office/powerpoint/2010/main" val="2200004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BAEBB5-3899-476E-BD65-7AEEF96AA23D}"/>
              </a:ext>
            </a:extLst>
          </p:cNvPr>
          <p:cNvSpPr>
            <a:spLocks noGrp="1"/>
          </p:cNvSpPr>
          <p:nvPr>
            <p:ph type="title"/>
          </p:nvPr>
        </p:nvSpPr>
        <p:spPr/>
        <p:txBody>
          <a:bodyPr/>
          <a:lstStyle/>
          <a:p>
            <a:r>
              <a:rPr lang="en-US" altLang="zh-CN" dirty="0"/>
              <a:t>LM</a:t>
            </a:r>
            <a:r>
              <a:rPr lang="zh-CN" altLang="en-US" dirty="0"/>
              <a:t>曲线的区域</a:t>
            </a:r>
          </a:p>
        </p:txBody>
      </p:sp>
      <p:sp>
        <p:nvSpPr>
          <p:cNvPr id="3" name="内容占位符 2">
            <a:extLst>
              <a:ext uri="{FF2B5EF4-FFF2-40B4-BE49-F238E27FC236}">
                <a16:creationId xmlns:a16="http://schemas.microsoft.com/office/drawing/2014/main" id="{6D4A78B4-BBD3-4809-829C-92862C334582}"/>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00C95A08-47F1-4687-97AD-8DC325BA9BA3}"/>
              </a:ext>
            </a:extLst>
          </p:cNvPr>
          <p:cNvPicPr>
            <a:picLocks noChangeAspect="1"/>
          </p:cNvPicPr>
          <p:nvPr/>
        </p:nvPicPr>
        <p:blipFill>
          <a:blip r:embed="rId2"/>
          <a:stretch>
            <a:fillRect/>
          </a:stretch>
        </p:blipFill>
        <p:spPr>
          <a:xfrm>
            <a:off x="3481208" y="2183737"/>
            <a:ext cx="3673158" cy="3993226"/>
          </a:xfrm>
          <a:prstGeom prst="rect">
            <a:avLst/>
          </a:prstGeom>
        </p:spPr>
      </p:pic>
    </p:spTree>
    <p:extLst>
      <p:ext uri="{BB962C8B-B14F-4D97-AF65-F5344CB8AC3E}">
        <p14:creationId xmlns:p14="http://schemas.microsoft.com/office/powerpoint/2010/main" val="286750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0BB9136-6994-4942-8553-00C984080BBD}"/>
              </a:ext>
            </a:extLst>
          </p:cNvPr>
          <p:cNvSpPr>
            <a:spLocks noGrp="1" noChangeArrowheads="1"/>
          </p:cNvSpPr>
          <p:nvPr>
            <p:ph type="title"/>
          </p:nvPr>
        </p:nvSpPr>
        <p:spPr>
          <a:xfrm>
            <a:off x="323850" y="625208"/>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en-US" altLang="zh-CN" sz="2800" dirty="0"/>
              <a:t>IS-LM</a:t>
            </a:r>
            <a:r>
              <a:rPr lang="zh-CN" altLang="en-US" sz="2800" dirty="0"/>
              <a:t>分析</a:t>
            </a:r>
          </a:p>
        </p:txBody>
      </p:sp>
      <p:sp>
        <p:nvSpPr>
          <p:cNvPr id="5" name="Rectangle 3">
            <a:extLst>
              <a:ext uri="{FF2B5EF4-FFF2-40B4-BE49-F238E27FC236}">
                <a16:creationId xmlns:a16="http://schemas.microsoft.com/office/drawing/2014/main" id="{EFD4B51D-890C-4668-B96F-090130AA3428}"/>
              </a:ext>
            </a:extLst>
          </p:cNvPr>
          <p:cNvSpPr txBox="1">
            <a:spLocks noChangeArrowheads="1"/>
          </p:cNvSpPr>
          <p:nvPr/>
        </p:nvSpPr>
        <p:spPr>
          <a:xfrm>
            <a:off x="395288" y="1488808"/>
            <a:ext cx="5761037" cy="719138"/>
          </a:xfrm>
          <a:prstGeom prst="rect">
            <a:avLst/>
          </a:prstGeom>
          <a:ln>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solidFill>
                  <a:schemeClr val="bg1"/>
                </a:solidFill>
                <a:latin typeface="黑体" panose="02010609060101010101" pitchFamily="49" charset="-122"/>
                <a:ea typeface="黑体" panose="02010609060101010101" pitchFamily="49" charset="-122"/>
              </a:rPr>
              <a:t>两个市场的同时均衡</a:t>
            </a:r>
          </a:p>
        </p:txBody>
      </p:sp>
      <p:sp>
        <p:nvSpPr>
          <p:cNvPr id="6" name="Rectangle 4">
            <a:extLst>
              <a:ext uri="{FF2B5EF4-FFF2-40B4-BE49-F238E27FC236}">
                <a16:creationId xmlns:a16="http://schemas.microsoft.com/office/drawing/2014/main" id="{E5A67022-2C46-4037-869A-6A8532D2C060}"/>
              </a:ext>
            </a:extLst>
          </p:cNvPr>
          <p:cNvSpPr>
            <a:spLocks noChangeArrowheads="1"/>
          </p:cNvSpPr>
          <p:nvPr/>
        </p:nvSpPr>
        <p:spPr bwMode="auto">
          <a:xfrm>
            <a:off x="395288" y="2352408"/>
            <a:ext cx="8353425" cy="1008063"/>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en-US" altLang="zh-CN" b="0" dirty="0">
                <a:latin typeface="黑体" panose="02010609060101010101" pitchFamily="49" charset="-122"/>
                <a:ea typeface="黑体" panose="02010609060101010101" pitchFamily="49" charset="-122"/>
              </a:rPr>
              <a:t>IS</a:t>
            </a:r>
            <a:r>
              <a:rPr lang="zh-CN" altLang="en-US" b="0" dirty="0">
                <a:latin typeface="黑体" panose="02010609060101010101" pitchFamily="49" charset="-122"/>
                <a:ea typeface="黑体" panose="02010609060101010101" pitchFamily="49" charset="-122"/>
              </a:rPr>
              <a:t>是一系列利率和收入的组合，可使产品市场均衡；</a:t>
            </a:r>
          </a:p>
          <a:p>
            <a:r>
              <a:rPr lang="en-US" altLang="zh-CN" b="0" dirty="0">
                <a:latin typeface="黑体" panose="02010609060101010101" pitchFamily="49" charset="-122"/>
                <a:ea typeface="黑体" panose="02010609060101010101" pitchFamily="49" charset="-122"/>
              </a:rPr>
              <a:t>LM</a:t>
            </a:r>
            <a:r>
              <a:rPr lang="zh-CN" altLang="en-US" b="0" dirty="0">
                <a:latin typeface="黑体" panose="02010609060101010101" pitchFamily="49" charset="-122"/>
                <a:ea typeface="黑体" panose="02010609060101010101" pitchFamily="49" charset="-122"/>
              </a:rPr>
              <a:t>是一系列利率和收入的组合，可使货币市场均衡。</a:t>
            </a:r>
          </a:p>
        </p:txBody>
      </p:sp>
      <p:sp>
        <p:nvSpPr>
          <p:cNvPr id="7" name="Rectangle 5">
            <a:extLst>
              <a:ext uri="{FF2B5EF4-FFF2-40B4-BE49-F238E27FC236}">
                <a16:creationId xmlns:a16="http://schemas.microsoft.com/office/drawing/2014/main" id="{EDD3F2C5-E048-487D-B9E8-92EE7C171BC5}"/>
              </a:ext>
            </a:extLst>
          </p:cNvPr>
          <p:cNvSpPr>
            <a:spLocks noChangeArrowheads="1"/>
          </p:cNvSpPr>
          <p:nvPr/>
        </p:nvSpPr>
        <p:spPr bwMode="auto">
          <a:xfrm>
            <a:off x="395288" y="3576371"/>
            <a:ext cx="4103687" cy="1368425"/>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4"/>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b="0" dirty="0">
                <a:latin typeface="黑体" panose="02010609060101010101" pitchFamily="49" charset="-122"/>
                <a:ea typeface="黑体" panose="02010609060101010101" pitchFamily="49" charset="-122"/>
              </a:rPr>
              <a:t>能够同时使两个市场均衡的组合只有一个。</a:t>
            </a:r>
          </a:p>
          <a:p>
            <a:r>
              <a:rPr lang="zh-CN" altLang="en-US" b="0" dirty="0">
                <a:latin typeface="黑体" panose="02010609060101010101" pitchFamily="49" charset="-122"/>
                <a:ea typeface="黑体" panose="02010609060101010101" pitchFamily="49" charset="-122"/>
              </a:rPr>
              <a:t>解方程组得到（</a:t>
            </a:r>
            <a:r>
              <a:rPr lang="en-US" altLang="zh-CN" b="0" dirty="0" err="1">
                <a:latin typeface="黑体" panose="02010609060101010101" pitchFamily="49" charset="-122"/>
                <a:ea typeface="黑体" panose="02010609060101010101" pitchFamily="49" charset="-122"/>
              </a:rPr>
              <a:t>r,y</a:t>
            </a:r>
            <a:r>
              <a:rPr lang="zh-CN" altLang="en-US" b="0" dirty="0">
                <a:latin typeface="黑体" panose="02010609060101010101" pitchFamily="49" charset="-122"/>
                <a:ea typeface="黑体" panose="02010609060101010101" pitchFamily="49" charset="-122"/>
              </a:rPr>
              <a:t>）</a:t>
            </a:r>
          </a:p>
        </p:txBody>
      </p:sp>
      <p:graphicFrame>
        <p:nvGraphicFramePr>
          <p:cNvPr id="8" name="Object 7">
            <a:extLst>
              <a:ext uri="{FF2B5EF4-FFF2-40B4-BE49-F238E27FC236}">
                <a16:creationId xmlns:a16="http://schemas.microsoft.com/office/drawing/2014/main" id="{23172156-A953-41C0-A32B-88E17A7EEB33}"/>
              </a:ext>
            </a:extLst>
          </p:cNvPr>
          <p:cNvGraphicFramePr>
            <a:graphicFrameLocks noChangeAspect="1"/>
          </p:cNvGraphicFramePr>
          <p:nvPr>
            <p:extLst>
              <p:ext uri="{D42A27DB-BD31-4B8C-83A1-F6EECF244321}">
                <p14:modId xmlns:p14="http://schemas.microsoft.com/office/powerpoint/2010/main" val="1917123237"/>
              </p:ext>
            </p:extLst>
          </p:nvPr>
        </p:nvGraphicFramePr>
        <p:xfrm>
          <a:off x="611188" y="5016233"/>
          <a:ext cx="3889375" cy="820738"/>
        </p:xfrm>
        <a:graphic>
          <a:graphicData uri="http://schemas.openxmlformats.org/presentationml/2006/ole">
            <mc:AlternateContent xmlns:mc="http://schemas.openxmlformats.org/markup-compatibility/2006">
              <mc:Choice xmlns:v="urn:schemas-microsoft-com:vml" Requires="v">
                <p:oleObj spid="_x0000_s7178" name="公式" r:id="rId5" imgW="1536480" imgH="393480" progId="Equation.3">
                  <p:embed/>
                </p:oleObj>
              </mc:Choice>
              <mc:Fallback>
                <p:oleObj name="公式" r:id="rId5" imgW="1536480" imgH="393480" progId="Equation.3">
                  <p:embed/>
                  <p:pic>
                    <p:nvPicPr>
                      <p:cNvPr id="74759" name="Object 7">
                        <a:extLst>
                          <a:ext uri="{FF2B5EF4-FFF2-40B4-BE49-F238E27FC236}">
                            <a16:creationId xmlns:a16="http://schemas.microsoft.com/office/drawing/2014/main" id="{5063511E-9A99-4F9D-8DD3-CC7AACE8BA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5016233"/>
                        <a:ext cx="3889375" cy="820738"/>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8">
            <a:extLst>
              <a:ext uri="{FF2B5EF4-FFF2-40B4-BE49-F238E27FC236}">
                <a16:creationId xmlns:a16="http://schemas.microsoft.com/office/drawing/2014/main" id="{27F6306D-94DE-4153-AF54-3D09AA0A8C2E}"/>
              </a:ext>
            </a:extLst>
          </p:cNvPr>
          <p:cNvGraphicFramePr>
            <a:graphicFrameLocks noChangeAspect="1"/>
          </p:cNvGraphicFramePr>
          <p:nvPr>
            <p:extLst>
              <p:ext uri="{D42A27DB-BD31-4B8C-83A1-F6EECF244321}">
                <p14:modId xmlns:p14="http://schemas.microsoft.com/office/powerpoint/2010/main" val="2341325022"/>
              </p:ext>
            </p:extLst>
          </p:nvPr>
        </p:nvGraphicFramePr>
        <p:xfrm>
          <a:off x="611188" y="5881421"/>
          <a:ext cx="3097212" cy="814387"/>
        </p:xfrm>
        <a:graphic>
          <a:graphicData uri="http://schemas.openxmlformats.org/presentationml/2006/ole">
            <mc:AlternateContent xmlns:mc="http://schemas.openxmlformats.org/markup-compatibility/2006">
              <mc:Choice xmlns:v="urn:schemas-microsoft-com:vml" Requires="v">
                <p:oleObj spid="_x0000_s7179" name="公式" r:id="rId7" imgW="1231560" imgH="393480" progId="Equation.3">
                  <p:embed/>
                </p:oleObj>
              </mc:Choice>
              <mc:Fallback>
                <p:oleObj name="公式" r:id="rId7" imgW="1231560" imgH="393480" progId="Equation.3">
                  <p:embed/>
                  <p:pic>
                    <p:nvPicPr>
                      <p:cNvPr id="74760" name="Object 8">
                        <a:extLst>
                          <a:ext uri="{FF2B5EF4-FFF2-40B4-BE49-F238E27FC236}">
                            <a16:creationId xmlns:a16="http://schemas.microsoft.com/office/drawing/2014/main" id="{9F1AEF4C-3180-45E6-9A4A-4552868777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5881421"/>
                        <a:ext cx="3097212" cy="814387"/>
                      </a:xfrm>
                      <a:prstGeom prst="rect">
                        <a:avLst/>
                      </a:prstGeom>
                      <a:solidFill>
                        <a:srgbClr val="CCCC00"/>
                      </a:solidFill>
                      <a:ln>
                        <a:noFill/>
                      </a:ln>
                      <a:effectLst/>
                      <a:extLst>
                        <a:ext uri="{91240B29-F687-4F45-9708-019B960494DF}">
                          <a14:hiddenLine xmlns:a14="http://schemas.microsoft.com/office/drawing/2010/main" w="76200">
                            <a:solidFill>
                              <a:srgbClr val="33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AutoShape 9">
            <a:extLst>
              <a:ext uri="{FF2B5EF4-FFF2-40B4-BE49-F238E27FC236}">
                <a16:creationId xmlns:a16="http://schemas.microsoft.com/office/drawing/2014/main" id="{3D3BFD64-D19D-40BA-90DD-067E93C472FD}"/>
              </a:ext>
            </a:extLst>
          </p:cNvPr>
          <p:cNvSpPr>
            <a:spLocks/>
          </p:cNvSpPr>
          <p:nvPr/>
        </p:nvSpPr>
        <p:spPr bwMode="auto">
          <a:xfrm>
            <a:off x="468313" y="5016233"/>
            <a:ext cx="71437" cy="1657350"/>
          </a:xfrm>
          <a:prstGeom prst="leftBrace">
            <a:avLst>
              <a:gd name="adj1" fmla="val 193335"/>
              <a:gd name="adj2" fmla="val 50000"/>
            </a:avLst>
          </a:prstGeom>
          <a:noFill/>
          <a:ln w="38100" cap="sq">
            <a:solidFill>
              <a:srgbClr val="000099"/>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1" name="图片 10">
            <a:extLst>
              <a:ext uri="{FF2B5EF4-FFF2-40B4-BE49-F238E27FC236}">
                <a16:creationId xmlns:a16="http://schemas.microsoft.com/office/drawing/2014/main" id="{D630E518-6EC7-4985-9082-CF6A88F3D7AF}"/>
              </a:ext>
            </a:extLst>
          </p:cNvPr>
          <p:cNvPicPr>
            <a:picLocks noChangeAspect="1"/>
          </p:cNvPicPr>
          <p:nvPr/>
        </p:nvPicPr>
        <p:blipFill>
          <a:blip r:embed="rId9"/>
          <a:stretch>
            <a:fillRect/>
          </a:stretch>
        </p:blipFill>
        <p:spPr>
          <a:xfrm>
            <a:off x="4833126" y="3576371"/>
            <a:ext cx="3284505" cy="2491956"/>
          </a:xfrm>
          <a:prstGeom prst="rect">
            <a:avLst/>
          </a:prstGeom>
        </p:spPr>
      </p:pic>
    </p:spTree>
    <p:extLst>
      <p:ext uri="{BB962C8B-B14F-4D97-AF65-F5344CB8AC3E}">
        <p14:creationId xmlns:p14="http://schemas.microsoft.com/office/powerpoint/2010/main" val="2973110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5F4E0D-C7DE-49B6-A8A1-E07A7E47EBB6}"/>
              </a:ext>
            </a:extLst>
          </p:cNvPr>
          <p:cNvSpPr txBox="1">
            <a:spLocks noChangeArrowheads="1"/>
          </p:cNvSpPr>
          <p:nvPr/>
        </p:nvSpPr>
        <p:spPr>
          <a:xfrm>
            <a:off x="395288" y="1196975"/>
            <a:ext cx="8424862" cy="1439863"/>
          </a:xfrm>
          <a:prstGeom prst="rect">
            <a:avLst/>
          </a:prstGeom>
          <a:noFill/>
          <a:ln w="3175" cmpd="tri">
            <a:solidFill>
              <a:schemeClr val="tx1"/>
            </a:solidFill>
            <a:headEnd/>
            <a:tailEnd/>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36600"/>
              </a:buClr>
              <a:buSzPct val="95000"/>
              <a:buFont typeface="Wingdings" panose="05000000000000000000" pitchFamily="2" charset="2"/>
              <a:buChar char="l"/>
            </a:pPr>
            <a:r>
              <a:rPr lang="zh-CN" altLang="en-US">
                <a:latin typeface="黑体" panose="02010609060101010101" pitchFamily="49" charset="-122"/>
                <a:ea typeface="黑体" panose="02010609060101010101" pitchFamily="49" charset="-122"/>
              </a:rPr>
              <a:t>一般而言：</a:t>
            </a:r>
            <a:r>
              <a:rPr lang="en-US" altLang="zh-CN">
                <a:latin typeface="黑体" panose="02010609060101010101" pitchFamily="49" charset="-122"/>
                <a:ea typeface="黑体" panose="02010609060101010101" pitchFamily="49" charset="-122"/>
              </a:rPr>
              <a:t>IS</a:t>
            </a:r>
            <a:r>
              <a:rPr lang="zh-CN" altLang="en-US">
                <a:latin typeface="黑体" panose="02010609060101010101" pitchFamily="49" charset="-122"/>
                <a:ea typeface="黑体" panose="02010609060101010101" pitchFamily="49" charset="-122"/>
              </a:rPr>
              <a:t>曲线、</a:t>
            </a:r>
            <a:r>
              <a:rPr lang="en-US" altLang="zh-CN">
                <a:latin typeface="黑体" panose="02010609060101010101" pitchFamily="49" charset="-122"/>
                <a:ea typeface="黑体" panose="02010609060101010101" pitchFamily="49" charset="-122"/>
              </a:rPr>
              <a:t>LM</a:t>
            </a:r>
            <a:r>
              <a:rPr lang="zh-CN" altLang="en-US">
                <a:latin typeface="黑体" panose="02010609060101010101" pitchFamily="49" charset="-122"/>
                <a:ea typeface="黑体" panose="02010609060101010101" pitchFamily="49" charset="-122"/>
              </a:rPr>
              <a:t>曲线已知。</a:t>
            </a:r>
          </a:p>
          <a:p>
            <a:pPr>
              <a:buClr>
                <a:srgbClr val="336600"/>
              </a:buClr>
              <a:buSzPct val="95000"/>
              <a:buFont typeface="Wingdings" panose="05000000000000000000" pitchFamily="2" charset="2"/>
              <a:buChar char="l"/>
            </a:pPr>
            <a:r>
              <a:rPr lang="zh-CN" altLang="en-US">
                <a:latin typeface="黑体" panose="02010609060101010101" pitchFamily="49" charset="-122"/>
                <a:ea typeface="黑体" panose="02010609060101010101" pitchFamily="49" charset="-122"/>
              </a:rPr>
              <a:t>由于货币供给量</a:t>
            </a:r>
            <a:r>
              <a:rPr lang="en-US" altLang="zh-CN">
                <a:latin typeface="黑体" panose="02010609060101010101" pitchFamily="49" charset="-122"/>
                <a:ea typeface="黑体" panose="02010609060101010101" pitchFamily="49" charset="-122"/>
              </a:rPr>
              <a:t>m</a:t>
            </a:r>
            <a:r>
              <a:rPr lang="zh-CN" altLang="en-US">
                <a:latin typeface="黑体" panose="02010609060101010101" pitchFamily="49" charset="-122"/>
                <a:ea typeface="黑体" panose="02010609060101010101" pitchFamily="49" charset="-122"/>
              </a:rPr>
              <a:t>假定为既定。</a:t>
            </a:r>
          </a:p>
          <a:p>
            <a:pPr>
              <a:buClr>
                <a:srgbClr val="336600"/>
              </a:buClr>
              <a:buSzPct val="95000"/>
              <a:buFont typeface="Wingdings" panose="05000000000000000000" pitchFamily="2" charset="2"/>
              <a:buChar char="l"/>
            </a:pPr>
            <a:r>
              <a:rPr lang="zh-CN" altLang="en-US">
                <a:latin typeface="黑体" panose="02010609060101010101" pitchFamily="49" charset="-122"/>
                <a:ea typeface="黑体" panose="02010609060101010101" pitchFamily="49" charset="-122"/>
              </a:rPr>
              <a:t>变量只有利率</a:t>
            </a:r>
            <a:r>
              <a:rPr lang="en-US" altLang="zh-CN">
                <a:latin typeface="黑体" panose="02010609060101010101" pitchFamily="49" charset="-122"/>
                <a:ea typeface="黑体" panose="02010609060101010101" pitchFamily="49" charset="-122"/>
              </a:rPr>
              <a:t>r</a:t>
            </a:r>
            <a:r>
              <a:rPr lang="zh-CN" altLang="en-US">
                <a:latin typeface="黑体" panose="02010609060101010101" pitchFamily="49" charset="-122"/>
                <a:ea typeface="黑体" panose="02010609060101010101" pitchFamily="49" charset="-122"/>
              </a:rPr>
              <a:t>和收入</a:t>
            </a:r>
            <a:r>
              <a:rPr lang="en-US" altLang="zh-CN">
                <a:latin typeface="黑体" panose="02010609060101010101" pitchFamily="49" charset="-122"/>
                <a:ea typeface="黑体" panose="02010609060101010101" pitchFamily="49" charset="-122"/>
              </a:rPr>
              <a:t>y</a:t>
            </a:r>
            <a:r>
              <a:rPr lang="zh-CN" altLang="en-US">
                <a:latin typeface="黑体" panose="02010609060101010101" pitchFamily="49" charset="-122"/>
                <a:ea typeface="黑体" panose="02010609060101010101" pitchFamily="49" charset="-122"/>
              </a:rPr>
              <a:t>，解方程组可得到。</a:t>
            </a:r>
          </a:p>
        </p:txBody>
      </p:sp>
      <p:sp>
        <p:nvSpPr>
          <p:cNvPr id="5" name="Rectangle 6">
            <a:extLst>
              <a:ext uri="{FF2B5EF4-FFF2-40B4-BE49-F238E27FC236}">
                <a16:creationId xmlns:a16="http://schemas.microsoft.com/office/drawing/2014/main" id="{14DD0155-AE1B-438A-8726-AFEA4BEFE708}"/>
              </a:ext>
            </a:extLst>
          </p:cNvPr>
          <p:cNvSpPr>
            <a:spLocks noChangeArrowheads="1"/>
          </p:cNvSpPr>
          <p:nvPr/>
        </p:nvSpPr>
        <p:spPr bwMode="auto">
          <a:xfrm>
            <a:off x="395288" y="2781300"/>
            <a:ext cx="6913562" cy="1150938"/>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Tx/>
              <a:buSzPct val="80000"/>
              <a:buFontTx/>
              <a:buNone/>
            </a:pPr>
            <a:r>
              <a:rPr lang="zh-CN" altLang="en-US">
                <a:latin typeface="黑体" panose="02010609060101010101" pitchFamily="49" charset="-122"/>
                <a:ea typeface="黑体" panose="02010609060101010101" pitchFamily="49" charset="-122"/>
              </a:rPr>
              <a:t>例</a:t>
            </a:r>
            <a:r>
              <a:rPr lang="en-US" altLang="zh-CN">
                <a:latin typeface="黑体" panose="02010609060101010101" pitchFamily="49" charset="-122"/>
                <a:ea typeface="黑体" panose="02010609060101010101" pitchFamily="49" charset="-122"/>
              </a:rPr>
              <a:t>: i=1250-250r  s=-500+0.5y    m=1250</a:t>
            </a:r>
          </a:p>
          <a:p>
            <a:pPr>
              <a:buClrTx/>
              <a:buSzPct val="80000"/>
              <a:buFontTx/>
              <a:buNone/>
            </a:pPr>
            <a:r>
              <a:rPr lang="en-US" altLang="zh-CN">
                <a:latin typeface="黑体" panose="02010609060101010101" pitchFamily="49" charset="-122"/>
                <a:ea typeface="黑体" panose="02010609060101010101" pitchFamily="49" charset="-122"/>
              </a:rPr>
              <a:t>    L=0.5y +1000-250r    </a:t>
            </a:r>
            <a:r>
              <a:rPr lang="zh-CN" altLang="en-US">
                <a:latin typeface="黑体" panose="02010609060101010101" pitchFamily="49" charset="-122"/>
                <a:ea typeface="黑体" panose="02010609060101010101" pitchFamily="49" charset="-122"/>
              </a:rPr>
              <a:t>求均衡收入和利率。</a:t>
            </a:r>
          </a:p>
        </p:txBody>
      </p:sp>
      <p:sp>
        <p:nvSpPr>
          <p:cNvPr id="6" name="Rectangle 7">
            <a:extLst>
              <a:ext uri="{FF2B5EF4-FFF2-40B4-BE49-F238E27FC236}">
                <a16:creationId xmlns:a16="http://schemas.microsoft.com/office/drawing/2014/main" id="{53CFC217-A48D-4514-9315-A8CFE971C37C}"/>
              </a:ext>
            </a:extLst>
          </p:cNvPr>
          <p:cNvSpPr>
            <a:spLocks noChangeArrowheads="1"/>
          </p:cNvSpPr>
          <p:nvPr/>
        </p:nvSpPr>
        <p:spPr bwMode="auto">
          <a:xfrm>
            <a:off x="395288" y="4149725"/>
            <a:ext cx="6913562" cy="935038"/>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Tx/>
              <a:buSzPct val="80000"/>
              <a:buFontTx/>
              <a:buNone/>
            </a:pPr>
            <a:r>
              <a:rPr lang="zh-CN" altLang="en-US">
                <a:latin typeface="黑体" panose="02010609060101010101" pitchFamily="49" charset="-122"/>
                <a:ea typeface="黑体" panose="02010609060101010101" pitchFamily="49" charset="-122"/>
              </a:rPr>
              <a:t>解：</a:t>
            </a:r>
            <a:r>
              <a:rPr lang="en-US" altLang="zh-CN">
                <a:latin typeface="黑体" panose="02010609060101010101" pitchFamily="49" charset="-122"/>
                <a:ea typeface="黑体" panose="02010609060101010101" pitchFamily="49" charset="-122"/>
              </a:rPr>
              <a:t>i=s</a:t>
            </a:r>
            <a:r>
              <a:rPr lang="zh-CN" altLang="en-US">
                <a:latin typeface="黑体" panose="02010609060101010101" pitchFamily="49" charset="-122"/>
                <a:ea typeface="黑体" panose="02010609060101010101" pitchFamily="49" charset="-122"/>
              </a:rPr>
              <a:t>时，</a:t>
            </a:r>
            <a:r>
              <a:rPr lang="en-US" altLang="zh-CN">
                <a:latin typeface="黑体" panose="02010609060101010101" pitchFamily="49" charset="-122"/>
                <a:ea typeface="黑体" panose="02010609060101010101" pitchFamily="49" charset="-122"/>
              </a:rPr>
              <a:t>y=3500-500r   (IS</a:t>
            </a:r>
            <a:r>
              <a:rPr lang="zh-CN" altLang="en-US">
                <a:latin typeface="黑体" panose="02010609060101010101" pitchFamily="49" charset="-122"/>
                <a:ea typeface="黑体" panose="02010609060101010101" pitchFamily="49" charset="-122"/>
              </a:rPr>
              <a:t>曲线</a:t>
            </a:r>
            <a:r>
              <a:rPr lang="en-US" altLang="zh-CN">
                <a:latin typeface="黑体" panose="02010609060101010101" pitchFamily="49" charset="-122"/>
                <a:ea typeface="黑体" panose="02010609060101010101" pitchFamily="49" charset="-122"/>
              </a:rPr>
              <a:t>)</a:t>
            </a:r>
          </a:p>
          <a:p>
            <a:pPr>
              <a:lnSpc>
                <a:spcPct val="90000"/>
              </a:lnSpc>
              <a:buClrTx/>
              <a:buFontTx/>
              <a:buNone/>
            </a:pPr>
            <a:r>
              <a:rPr lang="en-US" altLang="zh-CN">
                <a:latin typeface="黑体" panose="02010609060101010101" pitchFamily="49" charset="-122"/>
                <a:ea typeface="黑体" panose="02010609060101010101" pitchFamily="49" charset="-122"/>
              </a:rPr>
              <a:t>    L=m</a:t>
            </a:r>
            <a:r>
              <a:rPr lang="zh-CN" altLang="en-US">
                <a:latin typeface="黑体" panose="02010609060101010101" pitchFamily="49" charset="-122"/>
                <a:ea typeface="黑体" panose="02010609060101010101" pitchFamily="49" charset="-122"/>
              </a:rPr>
              <a:t>时，</a:t>
            </a:r>
            <a:r>
              <a:rPr lang="en-US" altLang="zh-CN">
                <a:latin typeface="黑体" panose="02010609060101010101" pitchFamily="49" charset="-122"/>
                <a:ea typeface="黑体" panose="02010609060101010101" pitchFamily="49" charset="-122"/>
              </a:rPr>
              <a:t>y=500+500r   </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LM</a:t>
            </a:r>
            <a:r>
              <a:rPr lang="zh-CN" altLang="en-US">
                <a:latin typeface="黑体" panose="02010609060101010101" pitchFamily="49" charset="-122"/>
                <a:ea typeface="黑体" panose="02010609060101010101" pitchFamily="49" charset="-122"/>
              </a:rPr>
              <a:t>曲线）</a:t>
            </a:r>
          </a:p>
        </p:txBody>
      </p:sp>
      <p:sp>
        <p:nvSpPr>
          <p:cNvPr id="7" name="Rectangle 10">
            <a:extLst>
              <a:ext uri="{FF2B5EF4-FFF2-40B4-BE49-F238E27FC236}">
                <a16:creationId xmlns:a16="http://schemas.microsoft.com/office/drawing/2014/main" id="{2CFD42E3-342C-43D0-9470-F9AF50F89233}"/>
              </a:ext>
            </a:extLst>
          </p:cNvPr>
          <p:cNvSpPr>
            <a:spLocks noChangeArrowheads="1"/>
          </p:cNvSpPr>
          <p:nvPr/>
        </p:nvSpPr>
        <p:spPr bwMode="auto">
          <a:xfrm>
            <a:off x="395288" y="5300663"/>
            <a:ext cx="6913562" cy="1008062"/>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Tx/>
              <a:buFontTx/>
              <a:buNone/>
            </a:pPr>
            <a:r>
              <a:rPr lang="zh-CN" altLang="en-US">
                <a:latin typeface="黑体" panose="02010609060101010101" pitchFamily="49" charset="-122"/>
                <a:ea typeface="黑体" panose="02010609060101010101" pitchFamily="49" charset="-122"/>
              </a:rPr>
              <a:t>两个市场同时均衡，</a:t>
            </a:r>
            <a:r>
              <a:rPr lang="en-US" altLang="zh-CN">
                <a:latin typeface="黑体" panose="02010609060101010101" pitchFamily="49" charset="-122"/>
                <a:ea typeface="黑体" panose="02010609060101010101" pitchFamily="49" charset="-122"/>
              </a:rPr>
              <a:t>IS</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LM</a:t>
            </a:r>
            <a:r>
              <a:rPr lang="zh-CN" altLang="en-US">
                <a:latin typeface="黑体" panose="02010609060101010101" pitchFamily="49" charset="-122"/>
                <a:ea typeface="黑体" panose="02010609060101010101" pitchFamily="49" charset="-122"/>
              </a:rPr>
              <a:t>。</a:t>
            </a:r>
          </a:p>
          <a:p>
            <a:pPr>
              <a:buClrTx/>
              <a:buFontTx/>
              <a:buNone/>
            </a:pPr>
            <a:r>
              <a:rPr lang="zh-CN" altLang="en-US">
                <a:latin typeface="黑体" panose="02010609060101010101" pitchFamily="49" charset="-122"/>
                <a:ea typeface="黑体" panose="02010609060101010101" pitchFamily="49" charset="-122"/>
              </a:rPr>
              <a:t>解方程组，得</a:t>
            </a:r>
            <a:r>
              <a:rPr lang="en-US" altLang="zh-CN">
                <a:latin typeface="黑体" panose="02010609060101010101" pitchFamily="49" charset="-122"/>
                <a:ea typeface="黑体" panose="02010609060101010101" pitchFamily="49" charset="-122"/>
              </a:rPr>
              <a:t>y=2000,r=3</a:t>
            </a:r>
          </a:p>
        </p:txBody>
      </p:sp>
    </p:spTree>
    <p:extLst>
      <p:ext uri="{BB962C8B-B14F-4D97-AF65-F5344CB8AC3E}">
        <p14:creationId xmlns:p14="http://schemas.microsoft.com/office/powerpoint/2010/main" val="161629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323AC8C-F623-44BA-8F37-3C62C143C842}"/>
              </a:ext>
            </a:extLst>
          </p:cNvPr>
          <p:cNvSpPr>
            <a:spLocks noGrp="1" noChangeArrowheads="1"/>
          </p:cNvSpPr>
          <p:nvPr>
            <p:ph type="title"/>
          </p:nvPr>
        </p:nvSpPr>
        <p:spPr>
          <a:xfrm>
            <a:off x="263525" y="547688"/>
            <a:ext cx="5832475" cy="647700"/>
          </a:xfrm>
          <a:noFill/>
          <a:ln w="3175" cap="flat" cmpd="sng" algn="ctr">
            <a:noFill/>
            <a:prstDash val="solid"/>
            <a:miter lim="800000"/>
            <a:headEnd/>
            <a:tailEnd/>
          </a:ln>
        </p:spPr>
        <p:txBody>
          <a:bodyPr>
            <a:normAutofit/>
          </a:bodyPr>
          <a:lstStyle/>
          <a:p>
            <a:r>
              <a:rPr lang="zh-CN" altLang="en-US" sz="2800" dirty="0"/>
              <a:t>一般均衡的稳定性</a:t>
            </a:r>
          </a:p>
        </p:txBody>
      </p:sp>
      <p:sp>
        <p:nvSpPr>
          <p:cNvPr id="5" name="Rectangle 3">
            <a:extLst>
              <a:ext uri="{FF2B5EF4-FFF2-40B4-BE49-F238E27FC236}">
                <a16:creationId xmlns:a16="http://schemas.microsoft.com/office/drawing/2014/main" id="{214D62E5-6572-46E3-B809-445F04433CFC}"/>
              </a:ext>
            </a:extLst>
          </p:cNvPr>
          <p:cNvSpPr txBox="1">
            <a:spLocks noChangeArrowheads="1"/>
          </p:cNvSpPr>
          <p:nvPr/>
        </p:nvSpPr>
        <p:spPr>
          <a:xfrm>
            <a:off x="395288" y="1195388"/>
            <a:ext cx="4248150" cy="1152525"/>
          </a:xfrm>
          <a:prstGeom prst="rect">
            <a:avLst/>
          </a:prstGeom>
          <a:noFill/>
          <a:ln w="3175" cmpd="tri">
            <a:solidFill>
              <a:schemeClr val="tx1"/>
            </a:solidFill>
            <a:headEnd/>
            <a:tailEnd/>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buClr>
                <a:srgbClr val="336600"/>
              </a:buClr>
              <a:buSzPct val="95000"/>
              <a:buFont typeface="Wingdings" panose="05000000000000000000" pitchFamily="2" charset="2"/>
              <a:buNone/>
            </a:pPr>
            <a:r>
              <a:rPr lang="en-US" altLang="zh-CN">
                <a:latin typeface="黑体" panose="02010609060101010101" pitchFamily="49" charset="-122"/>
                <a:ea typeface="黑体" panose="02010609060101010101" pitchFamily="49" charset="-122"/>
              </a:rPr>
              <a:t>A</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r</a:t>
            </a:r>
            <a:r>
              <a:rPr lang="en-US" altLang="zh-CN" baseline="-2000">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y</a:t>
            </a:r>
            <a:r>
              <a:rPr lang="en-US" altLang="zh-CN" baseline="-2000">
                <a:latin typeface="黑体" panose="02010609060101010101" pitchFamily="49" charset="-122"/>
                <a:ea typeface="黑体" panose="02010609060101010101" pitchFamily="49" charset="-122"/>
              </a:rPr>
              <a:t>1</a:t>
            </a:r>
            <a:r>
              <a:rPr lang="zh-CN" altLang="en-US" baseline="-2000">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a:t>
            </a:r>
            <a:r>
              <a:rPr lang="en-US" altLang="zh-CN" sz="2000">
                <a:solidFill>
                  <a:schemeClr val="folHlink"/>
                </a:solidFill>
                <a:latin typeface="黑体" panose="02010609060101010101" pitchFamily="49" charset="-122"/>
                <a:ea typeface="黑体" panose="02010609060101010101" pitchFamily="49" charset="-122"/>
              </a:rPr>
              <a:t>LM</a:t>
            </a:r>
            <a:r>
              <a:rPr lang="zh-CN" altLang="en-US" sz="2000">
                <a:solidFill>
                  <a:schemeClr val="folHlink"/>
                </a:solidFill>
                <a:latin typeface="黑体" panose="02010609060101010101" pitchFamily="49" charset="-122"/>
                <a:ea typeface="黑体" panose="02010609060101010101" pitchFamily="49" charset="-122"/>
              </a:rPr>
              <a:t>均衡，</a:t>
            </a:r>
            <a:r>
              <a:rPr lang="en-US" altLang="zh-CN" sz="2000">
                <a:solidFill>
                  <a:schemeClr val="folHlink"/>
                </a:solidFill>
                <a:latin typeface="黑体" panose="02010609060101010101" pitchFamily="49" charset="-122"/>
                <a:ea typeface="黑体" panose="02010609060101010101" pitchFamily="49" charset="-122"/>
              </a:rPr>
              <a:t>IS</a:t>
            </a:r>
            <a:r>
              <a:rPr lang="zh-CN" altLang="en-US" sz="2000">
                <a:solidFill>
                  <a:schemeClr val="folHlink"/>
                </a:solidFill>
                <a:latin typeface="黑体" panose="02010609060101010101" pitchFamily="49" charset="-122"/>
                <a:ea typeface="黑体" panose="02010609060101010101" pitchFamily="49" charset="-122"/>
              </a:rPr>
              <a:t>不均衡</a:t>
            </a:r>
          </a:p>
          <a:p>
            <a:pPr>
              <a:lnSpc>
                <a:spcPct val="70000"/>
              </a:lnSpc>
              <a:buClr>
                <a:srgbClr val="336600"/>
              </a:buClr>
              <a:buSzPct val="95000"/>
              <a:buFont typeface="Wingdings" panose="05000000000000000000" pitchFamily="2" charset="2"/>
              <a:buChar char="l"/>
            </a:pPr>
            <a:r>
              <a:rPr lang="en-US" altLang="zh-CN">
                <a:latin typeface="黑体" panose="02010609060101010101" pitchFamily="49" charset="-122"/>
                <a:ea typeface="黑体" panose="02010609060101010101" pitchFamily="49" charset="-122"/>
              </a:rPr>
              <a:t>r</a:t>
            </a:r>
            <a:r>
              <a:rPr lang="en-US" altLang="zh-CN" baseline="-2000">
                <a:latin typeface="黑体" panose="02010609060101010101" pitchFamily="49" charset="-122"/>
                <a:ea typeface="黑体" panose="02010609060101010101" pitchFamily="49" charset="-122"/>
              </a:rPr>
              <a:t>2</a:t>
            </a:r>
            <a:r>
              <a:rPr lang="en-US" altLang="zh-CN">
                <a:latin typeface="黑体" panose="02010609060101010101" pitchFamily="49" charset="-122"/>
                <a:ea typeface="黑体" panose="02010609060101010101" pitchFamily="49" charset="-122"/>
              </a:rPr>
              <a:t>&lt;r</a:t>
            </a:r>
            <a:r>
              <a:rPr lang="en-US" altLang="zh-CN" baseline="-2000">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p>
          <a:p>
            <a:pPr>
              <a:lnSpc>
                <a:spcPct val="70000"/>
              </a:lnSpc>
              <a:buClr>
                <a:srgbClr val="336600"/>
              </a:buClr>
              <a:buSzPct val="95000"/>
              <a:buFont typeface="Wingdings" panose="05000000000000000000" pitchFamily="2" charset="2"/>
              <a:buChar char="l"/>
            </a:pPr>
            <a:r>
              <a:rPr lang="zh-CN" altLang="en-US">
                <a:latin typeface="黑体" panose="02010609060101010101" pitchFamily="49" charset="-122"/>
                <a:ea typeface="黑体" panose="02010609060101010101" pitchFamily="49" charset="-122"/>
              </a:rPr>
              <a:t>投资</a:t>
            </a:r>
            <a:r>
              <a:rPr lang="en-US" altLang="zh-CN">
                <a:latin typeface="黑体" panose="02010609060101010101" pitchFamily="49" charset="-122"/>
                <a:ea typeface="黑体" panose="02010609060101010101" pitchFamily="49" charset="-122"/>
              </a:rPr>
              <a:t>&gt;</a:t>
            </a:r>
            <a:r>
              <a:rPr lang="zh-CN" altLang="en-US">
                <a:latin typeface="黑体" panose="02010609060101010101" pitchFamily="49" charset="-122"/>
                <a:ea typeface="黑体" panose="02010609060101010101" pitchFamily="49" charset="-122"/>
              </a:rPr>
              <a:t>储蓄</a:t>
            </a:r>
            <a:endParaRPr lang="zh-CN" altLang="en-US">
              <a:latin typeface="黑体" panose="02010609060101010101" pitchFamily="49" charset="-122"/>
              <a:ea typeface="黑体" panose="02010609060101010101" pitchFamily="49" charset="-122"/>
              <a:sym typeface="Wingdings" panose="05000000000000000000" pitchFamily="2" charset="2"/>
            </a:endParaRPr>
          </a:p>
        </p:txBody>
      </p:sp>
      <p:sp>
        <p:nvSpPr>
          <p:cNvPr id="6" name="Rectangle 112">
            <a:extLst>
              <a:ext uri="{FF2B5EF4-FFF2-40B4-BE49-F238E27FC236}">
                <a16:creationId xmlns:a16="http://schemas.microsoft.com/office/drawing/2014/main" id="{8FA8CE5A-A372-4DD6-BA42-F6429339D43C}"/>
              </a:ext>
            </a:extLst>
          </p:cNvPr>
          <p:cNvSpPr>
            <a:spLocks noChangeArrowheads="1"/>
          </p:cNvSpPr>
          <p:nvPr/>
        </p:nvSpPr>
        <p:spPr bwMode="auto">
          <a:xfrm>
            <a:off x="395288" y="4219575"/>
            <a:ext cx="4248150" cy="1008063"/>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buClr>
                <a:srgbClr val="336600"/>
              </a:buClr>
              <a:buSzPct val="95000"/>
              <a:buFont typeface="Wingdings" panose="05000000000000000000" pitchFamily="2" charset="2"/>
              <a:buNone/>
            </a:pPr>
            <a:r>
              <a:rPr lang="en-US" altLang="zh-CN" b="0">
                <a:latin typeface="黑体" panose="02010609060101010101" pitchFamily="49" charset="-122"/>
                <a:ea typeface="黑体" panose="02010609060101010101" pitchFamily="49" charset="-122"/>
                <a:sym typeface="Wingdings" panose="05000000000000000000" pitchFamily="2" charset="2"/>
              </a:rPr>
              <a:t>B</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r</a:t>
            </a:r>
            <a:r>
              <a:rPr lang="en-US" altLang="zh-CN" b="0" baseline="-2000">
                <a:latin typeface="黑体" panose="02010609060101010101" pitchFamily="49" charset="-122"/>
                <a:ea typeface="黑体" panose="02010609060101010101" pitchFamily="49" charset="-122"/>
              </a:rPr>
              <a:t>2</a:t>
            </a:r>
            <a:r>
              <a:rPr lang="zh-CN" altLang="en-US" b="0">
                <a:latin typeface="黑体" panose="02010609060101010101" pitchFamily="49" charset="-122"/>
                <a:ea typeface="黑体" panose="02010609060101010101" pitchFamily="49" charset="-122"/>
              </a:rPr>
              <a:t>，</a:t>
            </a:r>
            <a:r>
              <a:rPr lang="en-US" altLang="zh-CN" b="0">
                <a:latin typeface="黑体" panose="02010609060101010101" pitchFamily="49" charset="-122"/>
                <a:ea typeface="黑体" panose="02010609060101010101" pitchFamily="49" charset="-122"/>
              </a:rPr>
              <a:t>y</a:t>
            </a:r>
            <a:r>
              <a:rPr lang="en-US" altLang="zh-CN" b="0" baseline="-2000">
                <a:latin typeface="黑体" panose="02010609060101010101" pitchFamily="49" charset="-122"/>
                <a:ea typeface="黑体" panose="02010609060101010101" pitchFamily="49" charset="-122"/>
              </a:rPr>
              <a:t>2</a:t>
            </a:r>
            <a:r>
              <a:rPr lang="zh-CN" altLang="en-US" b="0" baseline="-2000">
                <a:latin typeface="黑体" panose="02010609060101010101" pitchFamily="49" charset="-122"/>
                <a:ea typeface="黑体" panose="02010609060101010101" pitchFamily="49" charset="-122"/>
              </a:rPr>
              <a:t>）</a:t>
            </a:r>
            <a:r>
              <a:rPr lang="zh-CN" altLang="en-US" b="0">
                <a:latin typeface="黑体" panose="02010609060101010101" pitchFamily="49" charset="-122"/>
                <a:ea typeface="黑体" panose="02010609060101010101" pitchFamily="49" charset="-122"/>
              </a:rPr>
              <a:t>：</a:t>
            </a:r>
            <a:r>
              <a:rPr lang="en-US" altLang="zh-CN" sz="2000" b="0">
                <a:latin typeface="黑体" panose="02010609060101010101" pitchFamily="49" charset="-122"/>
                <a:ea typeface="黑体" panose="02010609060101010101" pitchFamily="49" charset="-122"/>
                <a:sym typeface="Wingdings" panose="05000000000000000000" pitchFamily="2" charset="2"/>
              </a:rPr>
              <a:t>IS</a:t>
            </a:r>
            <a:r>
              <a:rPr lang="zh-CN" altLang="en-US" sz="2000" b="0">
                <a:latin typeface="黑体" panose="02010609060101010101" pitchFamily="49" charset="-122"/>
                <a:ea typeface="黑体" panose="02010609060101010101" pitchFamily="49" charset="-122"/>
                <a:sym typeface="Wingdings" panose="05000000000000000000" pitchFamily="2" charset="2"/>
              </a:rPr>
              <a:t>均衡，</a:t>
            </a:r>
            <a:r>
              <a:rPr lang="en-US" altLang="zh-CN" sz="2000" b="0">
                <a:latin typeface="黑体" panose="02010609060101010101" pitchFamily="49" charset="-122"/>
                <a:ea typeface="黑体" panose="02010609060101010101" pitchFamily="49" charset="-122"/>
                <a:sym typeface="Wingdings" panose="05000000000000000000" pitchFamily="2" charset="2"/>
              </a:rPr>
              <a:t>LM</a:t>
            </a:r>
            <a:r>
              <a:rPr lang="zh-CN" altLang="en-US" sz="2000" b="0">
                <a:latin typeface="黑体" panose="02010609060101010101" pitchFamily="49" charset="-122"/>
                <a:ea typeface="黑体" panose="02010609060101010101" pitchFamily="49" charset="-122"/>
                <a:sym typeface="Wingdings" panose="05000000000000000000" pitchFamily="2" charset="2"/>
              </a:rPr>
              <a:t>不均衡</a:t>
            </a:r>
          </a:p>
          <a:p>
            <a:pPr>
              <a:lnSpc>
                <a:spcPct val="90000"/>
              </a:lnSpc>
              <a:buClr>
                <a:srgbClr val="336600"/>
              </a:buClr>
              <a:buSzPct val="95000"/>
              <a:buFont typeface="Wingdings" panose="05000000000000000000" pitchFamily="2" charset="2"/>
              <a:buChar char="l"/>
            </a:pPr>
            <a:r>
              <a:rPr lang="en-US" altLang="zh-CN" b="0">
                <a:latin typeface="黑体" panose="02010609060101010101" pitchFamily="49" charset="-122"/>
                <a:ea typeface="黑体" panose="02010609060101010101" pitchFamily="49" charset="-122"/>
              </a:rPr>
              <a:t>y</a:t>
            </a:r>
            <a:r>
              <a:rPr lang="en-US" altLang="zh-CN" b="0" baseline="-2000">
                <a:latin typeface="黑体" panose="02010609060101010101" pitchFamily="49" charset="-122"/>
                <a:ea typeface="黑体" panose="02010609060101010101" pitchFamily="49" charset="-122"/>
              </a:rPr>
              <a:t>2</a:t>
            </a:r>
            <a:r>
              <a:rPr lang="en-US" altLang="zh-CN" b="0">
                <a:latin typeface="黑体" panose="02010609060101010101" pitchFamily="49" charset="-122"/>
                <a:ea typeface="黑体" panose="02010609060101010101" pitchFamily="49" charset="-122"/>
                <a:sym typeface="Wingdings" panose="05000000000000000000" pitchFamily="2" charset="2"/>
              </a:rPr>
              <a:t>&gt;y</a:t>
            </a:r>
            <a:r>
              <a:rPr lang="en-US" altLang="zh-CN" b="0" baseline="-2000">
                <a:latin typeface="黑体" panose="02010609060101010101" pitchFamily="49" charset="-122"/>
                <a:ea typeface="黑体" panose="02010609060101010101" pitchFamily="49" charset="-122"/>
                <a:sym typeface="Wingdings" panose="05000000000000000000" pitchFamily="2" charset="2"/>
              </a:rPr>
              <a:t>1</a:t>
            </a:r>
            <a:r>
              <a:rPr lang="en-US" altLang="zh-CN" b="0">
                <a:latin typeface="黑体" panose="02010609060101010101" pitchFamily="49" charset="-122"/>
                <a:ea typeface="黑体" panose="02010609060101010101" pitchFamily="49" charset="-122"/>
                <a:sym typeface="Wingdings" panose="05000000000000000000" pitchFamily="2" charset="2"/>
              </a:rPr>
              <a:t>,</a:t>
            </a:r>
            <a:r>
              <a:rPr lang="zh-CN" altLang="en-US" b="0">
                <a:latin typeface="黑体" panose="02010609060101010101" pitchFamily="49" charset="-122"/>
                <a:ea typeface="黑体" panose="02010609060101010101" pitchFamily="49" charset="-122"/>
                <a:sym typeface="Wingdings" panose="05000000000000000000" pitchFamily="2" charset="2"/>
              </a:rPr>
              <a:t>交易需求增加</a:t>
            </a:r>
          </a:p>
        </p:txBody>
      </p:sp>
      <p:sp>
        <p:nvSpPr>
          <p:cNvPr id="7" name="Rectangle 121">
            <a:extLst>
              <a:ext uri="{FF2B5EF4-FFF2-40B4-BE49-F238E27FC236}">
                <a16:creationId xmlns:a16="http://schemas.microsoft.com/office/drawing/2014/main" id="{F3789F8A-CE17-41A8-AC6E-28DE05172A1D}"/>
              </a:ext>
            </a:extLst>
          </p:cNvPr>
          <p:cNvSpPr>
            <a:spLocks noChangeArrowheads="1"/>
          </p:cNvSpPr>
          <p:nvPr/>
        </p:nvSpPr>
        <p:spPr bwMode="auto">
          <a:xfrm>
            <a:off x="395288" y="2419350"/>
            <a:ext cx="4248150" cy="1296988"/>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80000"/>
              </a:lnSpc>
              <a:buClr>
                <a:srgbClr val="336600"/>
              </a:buClr>
              <a:buSzPct val="95000"/>
              <a:buFont typeface="Wingdings" panose="05000000000000000000" pitchFamily="2" charset="2"/>
              <a:buChar char="l"/>
            </a:pPr>
            <a:r>
              <a:rPr lang="en-US" altLang="zh-CN" sz="2800">
                <a:solidFill>
                  <a:schemeClr val="folHlink"/>
                </a:solidFill>
                <a:latin typeface="黑体" panose="02010609060101010101" pitchFamily="49" charset="-122"/>
                <a:ea typeface="黑体" panose="02010609060101010101" pitchFamily="49" charset="-122"/>
                <a:sym typeface="Wingdings 3" panose="05040102010807070707" pitchFamily="18" charset="2"/>
              </a:rPr>
              <a:t></a:t>
            </a:r>
            <a:r>
              <a:rPr lang="zh-CN" altLang="en-US" b="0">
                <a:latin typeface="黑体" panose="02010609060101010101" pitchFamily="49" charset="-122"/>
                <a:ea typeface="黑体" panose="02010609060101010101" pitchFamily="49" charset="-122"/>
              </a:rPr>
              <a:t>生产和收入增加</a:t>
            </a:r>
            <a:endParaRPr lang="zh-CN" altLang="en-US" b="0">
              <a:latin typeface="黑体" panose="02010609060101010101" pitchFamily="49" charset="-122"/>
              <a:ea typeface="黑体" panose="02010609060101010101" pitchFamily="49" charset="-122"/>
              <a:sym typeface="Wingdings" panose="05000000000000000000" pitchFamily="2" charset="2"/>
            </a:endParaRPr>
          </a:p>
          <a:p>
            <a:pPr>
              <a:lnSpc>
                <a:spcPct val="70000"/>
              </a:lnSpc>
              <a:buClr>
                <a:srgbClr val="336600"/>
              </a:buClr>
              <a:buSzPct val="95000"/>
              <a:buFont typeface="Wingdings" panose="05000000000000000000" pitchFamily="2" charset="2"/>
              <a:buChar char="l"/>
            </a:pPr>
            <a:r>
              <a:rPr lang="zh-CN" altLang="en-US" sz="2800">
                <a:solidFill>
                  <a:schemeClr val="folHlink"/>
                </a:solidFill>
                <a:latin typeface="黑体" panose="02010609060101010101" pitchFamily="49" charset="-122"/>
                <a:ea typeface="黑体" panose="02010609060101010101" pitchFamily="49" charset="-122"/>
                <a:sym typeface="Wingdings 3" panose="05040102010807070707" pitchFamily="18" charset="2"/>
              </a:rPr>
              <a:t></a:t>
            </a:r>
            <a:r>
              <a:rPr lang="zh-CN" altLang="en-US" b="0">
                <a:latin typeface="黑体" panose="02010609060101010101" pitchFamily="49" charset="-122"/>
                <a:ea typeface="黑体" panose="02010609060101010101" pitchFamily="49" charset="-122"/>
              </a:rPr>
              <a:t>交易需求增</a:t>
            </a:r>
          </a:p>
          <a:p>
            <a:pPr>
              <a:lnSpc>
                <a:spcPct val="70000"/>
              </a:lnSpc>
              <a:buClr>
                <a:srgbClr val="336600"/>
              </a:buClr>
              <a:buSzPct val="95000"/>
              <a:buFont typeface="Wingdings" panose="05000000000000000000" pitchFamily="2" charset="2"/>
              <a:buChar char="l"/>
            </a:pPr>
            <a:r>
              <a:rPr lang="zh-CN" altLang="en-US" sz="2800">
                <a:solidFill>
                  <a:schemeClr val="folHlink"/>
                </a:solidFill>
                <a:latin typeface="黑体" panose="02010609060101010101" pitchFamily="49" charset="-122"/>
                <a:ea typeface="黑体" panose="02010609060101010101" pitchFamily="49" charset="-122"/>
                <a:sym typeface="Wingdings 3" panose="05040102010807070707" pitchFamily="18" charset="2"/>
              </a:rPr>
              <a:t></a:t>
            </a:r>
            <a:r>
              <a:rPr lang="zh-CN" altLang="en-US" b="0">
                <a:latin typeface="黑体" panose="02010609060101010101" pitchFamily="49" charset="-122"/>
                <a:ea typeface="黑体" panose="02010609060101010101" pitchFamily="49" charset="-122"/>
                <a:sym typeface="Wingdings" panose="05000000000000000000" pitchFamily="2" charset="2"/>
              </a:rPr>
              <a:t>利率上升</a:t>
            </a:r>
          </a:p>
        </p:txBody>
      </p:sp>
      <p:sp>
        <p:nvSpPr>
          <p:cNvPr id="8" name="Rectangle 122">
            <a:extLst>
              <a:ext uri="{FF2B5EF4-FFF2-40B4-BE49-F238E27FC236}">
                <a16:creationId xmlns:a16="http://schemas.microsoft.com/office/drawing/2014/main" id="{E1F84175-C373-474A-A982-554D633C974B}"/>
              </a:ext>
            </a:extLst>
          </p:cNvPr>
          <p:cNvSpPr>
            <a:spLocks noChangeArrowheads="1"/>
          </p:cNvSpPr>
          <p:nvPr/>
        </p:nvSpPr>
        <p:spPr bwMode="auto">
          <a:xfrm>
            <a:off x="395288" y="3716338"/>
            <a:ext cx="4248150" cy="431800"/>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70000"/>
              </a:lnSpc>
              <a:buClr>
                <a:srgbClr val="336600"/>
              </a:buClr>
              <a:buSzPct val="95000"/>
              <a:buFont typeface="Wingdings" panose="05000000000000000000" pitchFamily="2" charset="2"/>
              <a:buChar char="l"/>
            </a:pPr>
            <a:r>
              <a:rPr lang="en-US" altLang="zh-CN" sz="2800">
                <a:solidFill>
                  <a:schemeClr val="folHlink"/>
                </a:solidFill>
                <a:latin typeface="黑体" panose="02010609060101010101" pitchFamily="49" charset="-122"/>
                <a:ea typeface="黑体" panose="02010609060101010101" pitchFamily="49" charset="-122"/>
                <a:sym typeface="Wingdings 3" panose="05040102010807070707" pitchFamily="18" charset="2"/>
              </a:rPr>
              <a:t></a:t>
            </a:r>
            <a:r>
              <a:rPr lang="en-US" altLang="zh-CN" sz="2800" b="0">
                <a:latin typeface="黑体" panose="02010609060101010101" pitchFamily="49" charset="-122"/>
                <a:ea typeface="黑体" panose="02010609060101010101" pitchFamily="49" charset="-122"/>
                <a:sym typeface="Wingdings" panose="05000000000000000000" pitchFamily="2" charset="2"/>
              </a:rPr>
              <a:t>AE</a:t>
            </a:r>
            <a:r>
              <a:rPr lang="zh-CN" altLang="en-US" sz="2800" b="0">
                <a:latin typeface="黑体" panose="02010609060101010101" pitchFamily="49" charset="-122"/>
                <a:ea typeface="黑体" panose="02010609060101010101" pitchFamily="49" charset="-122"/>
                <a:sym typeface="Wingdings" panose="05000000000000000000" pitchFamily="2" charset="2"/>
              </a:rPr>
              <a:t>。</a:t>
            </a:r>
          </a:p>
        </p:txBody>
      </p:sp>
      <p:sp>
        <p:nvSpPr>
          <p:cNvPr id="9" name="Rectangle 123">
            <a:extLst>
              <a:ext uri="{FF2B5EF4-FFF2-40B4-BE49-F238E27FC236}">
                <a16:creationId xmlns:a16="http://schemas.microsoft.com/office/drawing/2014/main" id="{3DA86656-D6F6-403B-9B72-3DABF3F1E888}"/>
              </a:ext>
            </a:extLst>
          </p:cNvPr>
          <p:cNvSpPr>
            <a:spLocks noChangeArrowheads="1"/>
          </p:cNvSpPr>
          <p:nvPr/>
        </p:nvSpPr>
        <p:spPr bwMode="auto">
          <a:xfrm>
            <a:off x="395288" y="5300663"/>
            <a:ext cx="4248150" cy="503237"/>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l"/>
            </a:pPr>
            <a:r>
              <a:rPr lang="en-US" altLang="zh-CN" sz="2800">
                <a:solidFill>
                  <a:schemeClr val="folHlink"/>
                </a:solidFill>
                <a:latin typeface="黑体" panose="02010609060101010101" pitchFamily="49" charset="-122"/>
                <a:ea typeface="黑体" panose="02010609060101010101" pitchFamily="49" charset="-122"/>
                <a:sym typeface="Wingdings 3" panose="05040102010807070707" pitchFamily="18" charset="2"/>
              </a:rPr>
              <a:t></a:t>
            </a:r>
            <a:r>
              <a:rPr lang="zh-CN" altLang="en-US" b="0">
                <a:latin typeface="黑体" panose="02010609060101010101" pitchFamily="49" charset="-122"/>
                <a:ea typeface="黑体" panose="02010609060101010101" pitchFamily="49" charset="-122"/>
                <a:sym typeface="Wingdings" panose="05000000000000000000" pitchFamily="2" charset="2"/>
              </a:rPr>
              <a:t>利率上升</a:t>
            </a:r>
          </a:p>
        </p:txBody>
      </p:sp>
      <p:sp>
        <p:nvSpPr>
          <p:cNvPr id="10" name="Rectangle 124">
            <a:extLst>
              <a:ext uri="{FF2B5EF4-FFF2-40B4-BE49-F238E27FC236}">
                <a16:creationId xmlns:a16="http://schemas.microsoft.com/office/drawing/2014/main" id="{E222DE40-7CCB-4C2D-B1DB-539B4688DD7F}"/>
              </a:ext>
            </a:extLst>
          </p:cNvPr>
          <p:cNvSpPr>
            <a:spLocks noChangeArrowheads="1"/>
          </p:cNvSpPr>
          <p:nvPr/>
        </p:nvSpPr>
        <p:spPr bwMode="auto">
          <a:xfrm>
            <a:off x="395288" y="5876925"/>
            <a:ext cx="4248150" cy="503238"/>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l"/>
            </a:pPr>
            <a:r>
              <a:rPr lang="en-US" altLang="zh-CN" sz="2800">
                <a:solidFill>
                  <a:schemeClr val="folHlink"/>
                </a:solidFill>
                <a:latin typeface="黑体" panose="02010609060101010101" pitchFamily="49" charset="-122"/>
                <a:ea typeface="黑体" panose="02010609060101010101" pitchFamily="49" charset="-122"/>
                <a:sym typeface="Wingdings 3" panose="05040102010807070707" pitchFamily="18" charset="2"/>
              </a:rPr>
              <a:t></a:t>
            </a:r>
            <a:r>
              <a:rPr lang="en-US" altLang="zh-CN" b="0">
                <a:latin typeface="黑体" panose="02010609060101010101" pitchFamily="49" charset="-122"/>
                <a:ea typeface="黑体" panose="02010609060101010101" pitchFamily="49" charset="-122"/>
                <a:sym typeface="Wingdings" panose="05000000000000000000" pitchFamily="2" charset="2"/>
              </a:rPr>
              <a:t>B</a:t>
            </a:r>
            <a:r>
              <a:rPr lang="en-US" altLang="zh-CN" sz="2800" b="0">
                <a:latin typeface="黑体" panose="02010609060101010101" pitchFamily="49" charset="-122"/>
                <a:ea typeface="黑体" panose="02010609060101010101" pitchFamily="49" charset="-122"/>
                <a:sym typeface="Wingdings" panose="05000000000000000000" pitchFamily="2" charset="2"/>
              </a:rPr>
              <a:t></a:t>
            </a:r>
            <a:r>
              <a:rPr lang="en-US" altLang="zh-CN" b="0">
                <a:latin typeface="黑体" panose="02010609060101010101" pitchFamily="49" charset="-122"/>
                <a:ea typeface="黑体" panose="02010609060101010101" pitchFamily="49" charset="-122"/>
                <a:sym typeface="Wingdings" panose="05000000000000000000" pitchFamily="2" charset="2"/>
              </a:rPr>
              <a:t>E</a:t>
            </a:r>
            <a:r>
              <a:rPr lang="zh-CN" altLang="en-US" b="0">
                <a:latin typeface="黑体" panose="02010609060101010101" pitchFamily="49" charset="-122"/>
                <a:ea typeface="黑体" panose="02010609060101010101" pitchFamily="49" charset="-122"/>
                <a:sym typeface="Wingdings" panose="05000000000000000000" pitchFamily="2" charset="2"/>
              </a:rPr>
              <a:t>。</a:t>
            </a:r>
          </a:p>
        </p:txBody>
      </p:sp>
      <p:pic>
        <p:nvPicPr>
          <p:cNvPr id="11" name="图片 10">
            <a:extLst>
              <a:ext uri="{FF2B5EF4-FFF2-40B4-BE49-F238E27FC236}">
                <a16:creationId xmlns:a16="http://schemas.microsoft.com/office/drawing/2014/main" id="{9FC39831-C9C1-49F4-9E13-044CAF260841}"/>
              </a:ext>
            </a:extLst>
          </p:cNvPr>
          <p:cNvPicPr>
            <a:picLocks noChangeAspect="1"/>
          </p:cNvPicPr>
          <p:nvPr/>
        </p:nvPicPr>
        <p:blipFill>
          <a:blip r:embed="rId4"/>
          <a:stretch>
            <a:fillRect/>
          </a:stretch>
        </p:blipFill>
        <p:spPr>
          <a:xfrm>
            <a:off x="5171487" y="1611940"/>
            <a:ext cx="3269263" cy="3848433"/>
          </a:xfrm>
          <a:prstGeom prst="rect">
            <a:avLst/>
          </a:prstGeom>
        </p:spPr>
      </p:pic>
    </p:spTree>
    <p:extLst>
      <p:ext uri="{BB962C8B-B14F-4D97-AF65-F5344CB8AC3E}">
        <p14:creationId xmlns:p14="http://schemas.microsoft.com/office/powerpoint/2010/main" val="1299156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C422D42-CC83-4B2C-95B0-809175E2C424}"/>
              </a:ext>
            </a:extLst>
          </p:cNvPr>
          <p:cNvSpPr>
            <a:spLocks noGrp="1" noChangeArrowheads="1"/>
          </p:cNvSpPr>
          <p:nvPr>
            <p:ph type="title"/>
          </p:nvPr>
        </p:nvSpPr>
        <p:spPr>
          <a:xfrm>
            <a:off x="395288" y="628276"/>
            <a:ext cx="58324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3200" dirty="0"/>
              <a:t>非均衡的区域</a:t>
            </a:r>
          </a:p>
        </p:txBody>
      </p:sp>
      <p:graphicFrame>
        <p:nvGraphicFramePr>
          <p:cNvPr id="5" name="Group 179">
            <a:extLst>
              <a:ext uri="{FF2B5EF4-FFF2-40B4-BE49-F238E27FC236}">
                <a16:creationId xmlns:a16="http://schemas.microsoft.com/office/drawing/2014/main" id="{A68982A2-D984-45B4-91CF-81F27F979452}"/>
              </a:ext>
            </a:extLst>
          </p:cNvPr>
          <p:cNvGraphicFramePr>
            <a:graphicFrameLocks noGrp="1"/>
          </p:cNvGraphicFramePr>
          <p:nvPr>
            <p:extLst>
              <p:ext uri="{D42A27DB-BD31-4B8C-83A1-F6EECF244321}">
                <p14:modId xmlns:p14="http://schemas.microsoft.com/office/powerpoint/2010/main" val="2842031798"/>
              </p:ext>
            </p:extLst>
          </p:nvPr>
        </p:nvGraphicFramePr>
        <p:xfrm>
          <a:off x="395288" y="1329822"/>
          <a:ext cx="4681537" cy="5183190"/>
        </p:xfrm>
        <a:graphic>
          <a:graphicData uri="http://schemas.openxmlformats.org/drawingml/2006/table">
            <a:tbl>
              <a:tblPr/>
              <a:tblGrid>
                <a:gridCol w="468312">
                  <a:extLst>
                    <a:ext uri="{9D8B030D-6E8A-4147-A177-3AD203B41FA5}">
                      <a16:colId xmlns:a16="http://schemas.microsoft.com/office/drawing/2014/main" val="626429458"/>
                    </a:ext>
                  </a:extLst>
                </a:gridCol>
                <a:gridCol w="1949450">
                  <a:extLst>
                    <a:ext uri="{9D8B030D-6E8A-4147-A177-3AD203B41FA5}">
                      <a16:colId xmlns:a16="http://schemas.microsoft.com/office/drawing/2014/main" val="445641946"/>
                    </a:ext>
                  </a:extLst>
                </a:gridCol>
                <a:gridCol w="2263775">
                  <a:extLst>
                    <a:ext uri="{9D8B030D-6E8A-4147-A177-3AD203B41FA5}">
                      <a16:colId xmlns:a16="http://schemas.microsoft.com/office/drawing/2014/main" val="2043279949"/>
                    </a:ext>
                  </a:extLst>
                </a:gridCol>
              </a:tblGrid>
              <a:tr h="731838">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区域</a:t>
                      </a:r>
                    </a:p>
                  </a:txBody>
                  <a:tcPr marL="18000" marR="18000" marT="18000" marB="18000" anchor="ctr" anchorCtr="1" horzOverflow="overflow">
                    <a:lnL w="381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381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产品市场</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381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货币市场</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38100" cap="flat" cmpd="sng" algn="ctr">
                      <a:solidFill>
                        <a:schemeClr val="tx1"/>
                      </a:solidFill>
                      <a:prstDash val="solid"/>
                      <a:miter lim="800000"/>
                      <a:headEnd type="none" w="sm" len="sm"/>
                      <a:tailEnd type="none" w="sm" len="sm"/>
                    </a:lnR>
                    <a:lnT w="381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2576744102"/>
                  </a:ext>
                </a:extLst>
              </a:tr>
              <a:tr h="1112838">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Ⅰ</a:t>
                      </a:r>
                      <a:endPar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8000" marR="18000" marT="18000" marB="18000" anchor="ctr" anchorCtr="1" horzOverflow="overflow">
                    <a:lnL w="381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rgbClr val="CCCC00"/>
                    </a:solid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i&lt;s</a:t>
                      </a:r>
                    </a:p>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有超额产品供给</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accent2"/>
                    </a:solid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L&lt;M</a:t>
                      </a:r>
                    </a:p>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有超额货币供给</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381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accent2"/>
                    </a:solidFill>
                  </a:tcPr>
                </a:tc>
                <a:extLst>
                  <a:ext uri="{0D108BD9-81ED-4DB2-BD59-A6C34878D82A}">
                    <a16:rowId xmlns:a16="http://schemas.microsoft.com/office/drawing/2014/main" val="1111904542"/>
                  </a:ext>
                </a:extLst>
              </a:tr>
              <a:tr h="1112838">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Ⅱ</a:t>
                      </a:r>
                    </a:p>
                  </a:txBody>
                  <a:tcPr marL="18000" marR="18000" marT="18000" marB="18000" anchor="ctr" anchorCtr="1" horzOverflow="overflow">
                    <a:lnL w="381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folHlink"/>
                    </a:solid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i&lt;s</a:t>
                      </a:r>
                    </a:p>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有超额产品供给</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accent2"/>
                    </a:solid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L&gt;M</a:t>
                      </a:r>
                    </a:p>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有超额货币需求</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381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rgbClr val="FF66CC"/>
                    </a:solidFill>
                  </a:tcPr>
                </a:tc>
                <a:extLst>
                  <a:ext uri="{0D108BD9-81ED-4DB2-BD59-A6C34878D82A}">
                    <a16:rowId xmlns:a16="http://schemas.microsoft.com/office/drawing/2014/main" val="3531161586"/>
                  </a:ext>
                </a:extLst>
              </a:tr>
              <a:tr h="1112838">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Ⅲ</a:t>
                      </a:r>
                    </a:p>
                  </a:txBody>
                  <a:tcPr marL="18000" marR="18000" marT="18000" marB="18000" anchor="ctr" anchorCtr="1" horzOverflow="overflow">
                    <a:lnL w="381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chemeClr val="accent1"/>
                    </a:solid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i&gt;s</a:t>
                      </a:r>
                    </a:p>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有超额产品需求</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rgbClr val="FF66CC"/>
                    </a:solid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L&gt;M</a:t>
                      </a:r>
                    </a:p>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有超额货币需求</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381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solidFill>
                      <a:srgbClr val="FF66CC"/>
                    </a:solidFill>
                  </a:tcPr>
                </a:tc>
                <a:extLst>
                  <a:ext uri="{0D108BD9-81ED-4DB2-BD59-A6C34878D82A}">
                    <a16:rowId xmlns:a16="http://schemas.microsoft.com/office/drawing/2014/main" val="1718877939"/>
                  </a:ext>
                </a:extLst>
              </a:tr>
              <a:tr h="1112838">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Ⅳ</a:t>
                      </a:r>
                    </a:p>
                  </a:txBody>
                  <a:tcPr marL="18000" marR="18000" marT="18000" marB="18000" anchor="ctr" anchorCtr="1" horzOverflow="overflow">
                    <a:lnL w="381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38100" cap="flat" cmpd="sng" algn="ctr">
                      <a:solidFill>
                        <a:schemeClr val="tx1"/>
                      </a:solidFill>
                      <a:prstDash val="solid"/>
                      <a:miter lim="800000"/>
                      <a:headEnd type="none" w="sm" len="sm"/>
                      <a:tailEnd type="none" w="sm" len="sm"/>
                    </a:lnB>
                    <a:lnTlToBr>
                      <a:noFill/>
                    </a:lnTlToBr>
                    <a:lnBlToTr>
                      <a:noFill/>
                    </a:lnBlToTr>
                    <a:solidFill>
                      <a:srgbClr val="FF66CC"/>
                    </a:solid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i&gt;s</a:t>
                      </a:r>
                    </a:p>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有超额产品需求</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38100" cap="flat" cmpd="sng" algn="ctr">
                      <a:solidFill>
                        <a:schemeClr val="tx1"/>
                      </a:solidFill>
                      <a:prstDash val="solid"/>
                      <a:miter lim="800000"/>
                      <a:headEnd type="none" w="sm" len="sm"/>
                      <a:tailEnd type="none" w="sm" len="sm"/>
                    </a:lnB>
                    <a:lnTlToBr>
                      <a:noFill/>
                    </a:lnTlToBr>
                    <a:lnBlToTr>
                      <a:noFill/>
                    </a:lnBlToTr>
                    <a:solidFill>
                      <a:srgbClr val="FF66CC"/>
                    </a:solidFill>
                  </a:tcPr>
                </a:tc>
                <a:tc>
                  <a:txBody>
                    <a:bodyPr/>
                    <a:lstStyle>
                      <a:lvl1pPr>
                        <a:spcBef>
                          <a:spcPct val="20000"/>
                        </a:spcBef>
                        <a:buClr>
                          <a:schemeClr val="tx2"/>
                        </a:buClr>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indent="-93663">
                        <a:spcBef>
                          <a:spcPct val="20000"/>
                        </a:spcBef>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L&lt;M</a:t>
                      </a:r>
                    </a:p>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有超额货币供给</a:t>
                      </a:r>
                    </a:p>
                  </a:txBody>
                  <a:tcPr marL="18000" marR="18000" marT="18000" marB="18000" anchor="ctr" anchorCtr="1" horzOverflow="overflow">
                    <a:lnL w="12700" cap="flat" cmpd="sng" algn="ctr">
                      <a:solidFill>
                        <a:schemeClr val="tx1"/>
                      </a:solidFill>
                      <a:prstDash val="solid"/>
                      <a:miter lim="800000"/>
                      <a:headEnd type="none" w="sm" len="sm"/>
                      <a:tailEnd type="none" w="sm" len="sm"/>
                    </a:lnL>
                    <a:lnR w="381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38100" cap="flat" cmpd="sng" algn="ctr">
                      <a:solidFill>
                        <a:schemeClr val="tx1"/>
                      </a:solidFill>
                      <a:prstDash val="solid"/>
                      <a:miter lim="800000"/>
                      <a:headEnd type="none" w="sm" len="sm"/>
                      <a:tailEnd type="none" w="sm" len="sm"/>
                    </a:lnB>
                    <a:lnTlToBr>
                      <a:noFill/>
                    </a:lnTlToBr>
                    <a:lnBlToTr>
                      <a:noFill/>
                    </a:lnBlToTr>
                    <a:solidFill>
                      <a:schemeClr val="accent2"/>
                    </a:solidFill>
                  </a:tcPr>
                </a:tc>
                <a:extLst>
                  <a:ext uri="{0D108BD9-81ED-4DB2-BD59-A6C34878D82A}">
                    <a16:rowId xmlns:a16="http://schemas.microsoft.com/office/drawing/2014/main" val="4070012053"/>
                  </a:ext>
                </a:extLst>
              </a:tr>
            </a:tbl>
          </a:graphicData>
        </a:graphic>
      </p:graphicFrame>
      <p:sp>
        <p:nvSpPr>
          <p:cNvPr id="6" name="Rectangle 77">
            <a:extLst>
              <a:ext uri="{FF2B5EF4-FFF2-40B4-BE49-F238E27FC236}">
                <a16:creationId xmlns:a16="http://schemas.microsoft.com/office/drawing/2014/main" id="{3CA53634-0D0D-4621-88C5-BBDF7AC2C007}"/>
              </a:ext>
            </a:extLst>
          </p:cNvPr>
          <p:cNvSpPr txBox="1">
            <a:spLocks noChangeArrowheads="1"/>
          </p:cNvSpPr>
          <p:nvPr/>
        </p:nvSpPr>
        <p:spPr>
          <a:xfrm>
            <a:off x="5148263" y="1329822"/>
            <a:ext cx="3600450" cy="1871662"/>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供给：收入去向</a:t>
            </a:r>
          </a:p>
          <a:p>
            <a:pPr lvl="1"/>
            <a:r>
              <a:rPr lang="zh-CN" altLang="en-US"/>
              <a:t>指</a:t>
            </a:r>
            <a:r>
              <a:rPr lang="en-US" altLang="zh-CN"/>
              <a:t>s</a:t>
            </a:r>
            <a:r>
              <a:rPr lang="zh-CN" altLang="en-US"/>
              <a:t>和</a:t>
            </a:r>
            <a:r>
              <a:rPr lang="en-US" altLang="zh-CN"/>
              <a:t>m</a:t>
            </a:r>
          </a:p>
          <a:p>
            <a:r>
              <a:rPr lang="zh-CN" altLang="en-US"/>
              <a:t>需求：总产品支出</a:t>
            </a:r>
          </a:p>
          <a:p>
            <a:pPr lvl="1"/>
            <a:r>
              <a:rPr lang="zh-CN" altLang="en-US"/>
              <a:t>指</a:t>
            </a:r>
            <a:r>
              <a:rPr lang="en-US" altLang="zh-CN"/>
              <a:t>i</a:t>
            </a:r>
            <a:r>
              <a:rPr lang="zh-CN" altLang="en-US"/>
              <a:t>和</a:t>
            </a:r>
            <a:r>
              <a:rPr lang="en-US" altLang="zh-CN"/>
              <a:t>L</a:t>
            </a:r>
          </a:p>
        </p:txBody>
      </p:sp>
      <p:pic>
        <p:nvPicPr>
          <p:cNvPr id="7" name="图片 6">
            <a:extLst>
              <a:ext uri="{FF2B5EF4-FFF2-40B4-BE49-F238E27FC236}">
                <a16:creationId xmlns:a16="http://schemas.microsoft.com/office/drawing/2014/main" id="{53E56298-CCAB-4EDA-8859-1E66F6C6CC1F}"/>
              </a:ext>
            </a:extLst>
          </p:cNvPr>
          <p:cNvPicPr>
            <a:picLocks noChangeAspect="1"/>
          </p:cNvPicPr>
          <p:nvPr/>
        </p:nvPicPr>
        <p:blipFill>
          <a:blip r:embed="rId2"/>
          <a:stretch>
            <a:fillRect/>
          </a:stretch>
        </p:blipFill>
        <p:spPr>
          <a:xfrm>
            <a:off x="5399614" y="3429000"/>
            <a:ext cx="2949196" cy="2552921"/>
          </a:xfrm>
          <a:prstGeom prst="rect">
            <a:avLst/>
          </a:prstGeom>
        </p:spPr>
      </p:pic>
    </p:spTree>
    <p:extLst>
      <p:ext uri="{BB962C8B-B14F-4D97-AF65-F5344CB8AC3E}">
        <p14:creationId xmlns:p14="http://schemas.microsoft.com/office/powerpoint/2010/main" val="314458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EB95577-1B69-4B07-B55F-5B301D352377}"/>
              </a:ext>
            </a:extLst>
          </p:cNvPr>
          <p:cNvSpPr>
            <a:spLocks noGrp="1" noChangeArrowheads="1"/>
          </p:cNvSpPr>
          <p:nvPr>
            <p:ph type="title"/>
          </p:nvPr>
        </p:nvSpPr>
        <p:spPr>
          <a:xfrm>
            <a:off x="323850" y="451561"/>
            <a:ext cx="5832475" cy="647700"/>
          </a:xfrm>
        </p:spPr>
        <p:txBody>
          <a:bodyPr>
            <a:normAutofit/>
          </a:bodyPr>
          <a:lstStyle/>
          <a:p>
            <a:r>
              <a:rPr lang="zh-CN" altLang="en-US" sz="2800" dirty="0"/>
              <a:t>均衡收入和利率的变动</a:t>
            </a:r>
          </a:p>
        </p:txBody>
      </p:sp>
      <p:sp>
        <p:nvSpPr>
          <p:cNvPr id="5" name="Rectangle 4">
            <a:extLst>
              <a:ext uri="{FF2B5EF4-FFF2-40B4-BE49-F238E27FC236}">
                <a16:creationId xmlns:a16="http://schemas.microsoft.com/office/drawing/2014/main" id="{E122E6B5-E962-4AC8-A2E5-D0D63D52F663}"/>
              </a:ext>
            </a:extLst>
          </p:cNvPr>
          <p:cNvSpPr txBox="1">
            <a:spLocks noChangeArrowheads="1"/>
          </p:cNvSpPr>
          <p:nvPr/>
        </p:nvSpPr>
        <p:spPr>
          <a:xfrm>
            <a:off x="395288" y="1459623"/>
            <a:ext cx="8353425" cy="936625"/>
          </a:xfrm>
          <a:prstGeom prst="rect">
            <a:avLst/>
          </a:prstGeom>
          <a:ln w="3175">
            <a:solidFill>
              <a:schemeClr val="tx1"/>
            </a:solidFill>
          </a:ln>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产品市场和货币市场的一般均衡的国民收入</a:t>
            </a:r>
            <a:r>
              <a:rPr lang="en-US" altLang="zh-CN" dirty="0" err="1">
                <a:solidFill>
                  <a:schemeClr val="bg1"/>
                </a:solidFill>
                <a:latin typeface="宋体" panose="02010600030101010101" pitchFamily="2" charset="-122"/>
              </a:rPr>
              <a:t>y</a:t>
            </a:r>
            <a:r>
              <a:rPr lang="en-US" altLang="zh-CN" baseline="-25000" dirty="0" err="1">
                <a:solidFill>
                  <a:schemeClr val="bg1"/>
                </a:solidFill>
                <a:latin typeface="宋体" panose="02010600030101010101" pitchFamily="2" charset="-122"/>
              </a:rPr>
              <a:t>E</a:t>
            </a:r>
            <a:r>
              <a:rPr lang="en-US" altLang="zh-CN" dirty="0">
                <a:solidFill>
                  <a:schemeClr val="bg1"/>
                </a:solidFill>
              </a:rPr>
              <a:t> </a:t>
            </a:r>
            <a:r>
              <a:rPr lang="zh-CN" altLang="en-US" dirty="0"/>
              <a:t>，不一定能够达到充分就业的国民收入</a:t>
            </a:r>
            <a:r>
              <a:rPr lang="en-US" altLang="zh-CN" dirty="0">
                <a:solidFill>
                  <a:schemeClr val="bg1"/>
                </a:solidFill>
                <a:latin typeface="宋体" panose="02010600030101010101" pitchFamily="2" charset="-122"/>
              </a:rPr>
              <a:t>y</a:t>
            </a:r>
            <a:r>
              <a:rPr lang="en-US" altLang="zh-CN" dirty="0">
                <a:solidFill>
                  <a:schemeClr val="bg1"/>
                </a:solidFill>
                <a:latin typeface="宋体" panose="02010600030101010101" pitchFamily="2" charset="-122"/>
                <a:sym typeface="Symbol" panose="05050102010706020507" pitchFamily="18" charset="2"/>
              </a:rPr>
              <a:t></a:t>
            </a:r>
            <a:r>
              <a:rPr lang="en-US" altLang="zh-CN" dirty="0">
                <a:solidFill>
                  <a:schemeClr val="bg1"/>
                </a:solidFill>
              </a:rPr>
              <a:t> </a:t>
            </a:r>
            <a:r>
              <a:rPr lang="zh-CN" altLang="en-US" dirty="0"/>
              <a:t>，依靠市场自发调节不行。</a:t>
            </a:r>
          </a:p>
        </p:txBody>
      </p:sp>
      <p:sp>
        <p:nvSpPr>
          <p:cNvPr id="6" name="Rectangle 28">
            <a:extLst>
              <a:ext uri="{FF2B5EF4-FFF2-40B4-BE49-F238E27FC236}">
                <a16:creationId xmlns:a16="http://schemas.microsoft.com/office/drawing/2014/main" id="{F9934458-34A4-4697-8F2C-114B95489C0D}"/>
              </a:ext>
            </a:extLst>
          </p:cNvPr>
          <p:cNvSpPr>
            <a:spLocks noChangeArrowheads="1"/>
          </p:cNvSpPr>
          <p:nvPr/>
        </p:nvSpPr>
        <p:spPr bwMode="auto">
          <a:xfrm>
            <a:off x="395288" y="2612148"/>
            <a:ext cx="3848100" cy="533400"/>
          </a:xfrm>
          <a:prstGeom prst="rect">
            <a:avLst/>
          </a:prstGeom>
          <a:noFill/>
          <a:ln w="3175" cap="sq" cmpd="tri">
            <a:solidFill>
              <a:schemeClr val="tx1"/>
            </a:solidFill>
            <a:miter lim="800000"/>
            <a:headEnd type="none" w="sm" len="sm"/>
            <a:tailEnd type="none" w="sm" len="sm"/>
          </a:ln>
          <a:effectLst/>
        </p:spPr>
        <p:txBody>
          <a:bodyPr wrap="none">
            <a:spAutoFit/>
          </a:bodyPr>
          <a:lstStyle/>
          <a:p>
            <a:pPr>
              <a:buClr>
                <a:srgbClr val="336600"/>
              </a:buClr>
              <a:buSzPct val="95000"/>
              <a:buFont typeface="Wingdings" panose="05000000000000000000" pitchFamily="2" charset="2"/>
              <a:buChar char="l"/>
            </a:pPr>
            <a:r>
              <a:rPr lang="zh-CN" altLang="en-US"/>
              <a:t>必须依靠政府宏观调控。</a:t>
            </a:r>
          </a:p>
        </p:txBody>
      </p:sp>
      <p:sp>
        <p:nvSpPr>
          <p:cNvPr id="7" name="Rectangle 46">
            <a:extLst>
              <a:ext uri="{FF2B5EF4-FFF2-40B4-BE49-F238E27FC236}">
                <a16:creationId xmlns:a16="http://schemas.microsoft.com/office/drawing/2014/main" id="{9EFFDF72-CE93-4778-B144-BBCA5836B21B}"/>
              </a:ext>
            </a:extLst>
          </p:cNvPr>
          <p:cNvSpPr>
            <a:spLocks noChangeArrowheads="1"/>
          </p:cNvSpPr>
          <p:nvPr/>
        </p:nvSpPr>
        <p:spPr bwMode="auto">
          <a:xfrm>
            <a:off x="395288" y="3693236"/>
            <a:ext cx="2736850" cy="1263650"/>
          </a:xfrm>
          <a:prstGeom prst="rect">
            <a:avLst/>
          </a:prstGeom>
          <a:noFill/>
          <a:ln w="3175" cap="sq" cmpd="tri">
            <a:solidFill>
              <a:schemeClr val="tx1"/>
            </a:solidFill>
            <a:miter lim="800000"/>
            <a:headEnd type="none" w="sm" len="sm"/>
            <a:tailEnd type="none" w="sm" len="sm"/>
          </a:ln>
          <a:effectLst/>
        </p:spPr>
        <p:txBody>
          <a:bodyPr>
            <a:spAutoFit/>
          </a:bodyPr>
          <a:lstStyle/>
          <a:p>
            <a:pPr>
              <a:buClr>
                <a:srgbClr val="336600"/>
              </a:buClr>
              <a:buSzPct val="95000"/>
              <a:buFont typeface="Wingdings" panose="05000000000000000000" pitchFamily="2" charset="2"/>
              <a:buChar char="l"/>
            </a:pPr>
            <a:r>
              <a:rPr lang="zh-CN" altLang="en-US"/>
              <a:t>增加需求，</a:t>
            </a:r>
          </a:p>
          <a:p>
            <a:pPr>
              <a:buClr>
                <a:srgbClr val="336600"/>
              </a:buClr>
              <a:buSzPct val="95000"/>
              <a:buFont typeface="Wingdings" panose="05000000000000000000" pitchFamily="2" charset="2"/>
              <a:buChar char="l"/>
            </a:pPr>
            <a:r>
              <a:rPr lang="en-US" altLang="zh-CN"/>
              <a:t>IS</a:t>
            </a:r>
            <a:r>
              <a:rPr lang="en-US" altLang="zh-CN">
                <a:solidFill>
                  <a:srgbClr val="000099"/>
                </a:solidFill>
                <a:sym typeface="Wingdings 3" panose="05040102010807070707" pitchFamily="18" charset="2"/>
              </a:rPr>
              <a:t></a:t>
            </a:r>
            <a:r>
              <a:rPr lang="en-US" altLang="zh-CN">
                <a:sym typeface="Wingdings 3" panose="05040102010807070707" pitchFamily="18" charset="2"/>
              </a:rPr>
              <a:t>IS’</a:t>
            </a:r>
          </a:p>
          <a:p>
            <a:pPr>
              <a:buClr>
                <a:srgbClr val="336600"/>
              </a:buClr>
              <a:buSzPct val="95000"/>
              <a:buFont typeface="Wingdings" panose="05000000000000000000" pitchFamily="2" charset="2"/>
              <a:buChar char="l"/>
            </a:pPr>
            <a:r>
              <a:rPr lang="en-US" altLang="zh-CN">
                <a:sym typeface="Wingdings 3" panose="05040102010807070707" pitchFamily="18" charset="2"/>
              </a:rPr>
              <a:t>E</a:t>
            </a:r>
            <a:r>
              <a:rPr lang="en-US" altLang="zh-CN">
                <a:solidFill>
                  <a:srgbClr val="000099"/>
                </a:solidFill>
                <a:sym typeface="Wingdings 3" panose="05040102010807070707" pitchFamily="18" charset="2"/>
              </a:rPr>
              <a:t></a:t>
            </a:r>
            <a:r>
              <a:rPr lang="en-US" altLang="zh-CN">
                <a:sym typeface="Wingdings 3" panose="05040102010807070707" pitchFamily="18" charset="2"/>
              </a:rPr>
              <a:t>E’,</a:t>
            </a:r>
            <a:r>
              <a:rPr lang="en-US" altLang="zh-CN">
                <a:solidFill>
                  <a:srgbClr val="000099"/>
                </a:solidFill>
                <a:sym typeface="Wingdings 3" panose="05040102010807070707" pitchFamily="18" charset="2"/>
              </a:rPr>
              <a:t> </a:t>
            </a:r>
            <a:endParaRPr lang="en-US" altLang="zh-CN">
              <a:cs typeface="Times New Roman" panose="02020603050405020304" pitchFamily="18" charset="0"/>
              <a:sym typeface="Wingdings 3" panose="05040102010807070707" pitchFamily="18" charset="2"/>
            </a:endParaRPr>
          </a:p>
        </p:txBody>
      </p:sp>
      <p:sp>
        <p:nvSpPr>
          <p:cNvPr id="8" name="Rectangle 48">
            <a:extLst>
              <a:ext uri="{FF2B5EF4-FFF2-40B4-BE49-F238E27FC236}">
                <a16:creationId xmlns:a16="http://schemas.microsoft.com/office/drawing/2014/main" id="{BA633F07-F9BA-422D-BC31-DF629AC30240}"/>
              </a:ext>
            </a:extLst>
          </p:cNvPr>
          <p:cNvSpPr>
            <a:spLocks noChangeArrowheads="1"/>
          </p:cNvSpPr>
          <p:nvPr/>
        </p:nvSpPr>
        <p:spPr bwMode="auto">
          <a:xfrm>
            <a:off x="395288" y="5204536"/>
            <a:ext cx="2736850" cy="1263650"/>
          </a:xfrm>
          <a:prstGeom prst="rect">
            <a:avLst/>
          </a:prstGeom>
          <a:noFill/>
          <a:ln w="3175" cap="sq" cmpd="tri">
            <a:solidFill>
              <a:schemeClr val="tx1"/>
            </a:solidFill>
            <a:miter lim="800000"/>
            <a:headEnd type="none" w="sm" len="sm"/>
            <a:tailEnd type="none" w="sm" len="sm"/>
          </a:ln>
          <a:effectLst/>
        </p:spPr>
        <p:txBody>
          <a:bodyPr>
            <a:spAutoFit/>
          </a:bodyPr>
          <a:lstStyle/>
          <a:p>
            <a:pPr>
              <a:buClr>
                <a:srgbClr val="336600"/>
              </a:buClr>
              <a:buSzPct val="95000"/>
              <a:buFont typeface="Wingdings" panose="05000000000000000000" pitchFamily="2" charset="2"/>
              <a:buChar char="l"/>
            </a:pPr>
            <a:r>
              <a:rPr lang="zh-CN" altLang="en-US">
                <a:cs typeface="Times New Roman" panose="02020603050405020304" pitchFamily="18" charset="0"/>
                <a:sym typeface="Wingdings 3" panose="05040102010807070707" pitchFamily="18" charset="2"/>
              </a:rPr>
              <a:t>增加货币供给，</a:t>
            </a:r>
          </a:p>
          <a:p>
            <a:pPr>
              <a:buClr>
                <a:srgbClr val="336600"/>
              </a:buClr>
              <a:buSzPct val="95000"/>
              <a:buFont typeface="Wingdings" panose="05000000000000000000" pitchFamily="2" charset="2"/>
              <a:buChar char="l"/>
            </a:pPr>
            <a:r>
              <a:rPr lang="en-US" altLang="zh-CN">
                <a:cs typeface="Times New Roman" panose="02020603050405020304" pitchFamily="18" charset="0"/>
                <a:sym typeface="Wingdings 3" panose="05040102010807070707" pitchFamily="18" charset="2"/>
              </a:rPr>
              <a:t>LM </a:t>
            </a:r>
            <a:r>
              <a:rPr lang="en-US" altLang="zh-CN">
                <a:solidFill>
                  <a:srgbClr val="000099"/>
                </a:solidFill>
                <a:sym typeface="Wingdings 3" panose="05040102010807070707" pitchFamily="18" charset="2"/>
              </a:rPr>
              <a:t></a:t>
            </a:r>
            <a:r>
              <a:rPr lang="en-US" altLang="zh-CN">
                <a:sym typeface="Wingdings 3" panose="05040102010807070707" pitchFamily="18" charset="2"/>
              </a:rPr>
              <a:t>LM’</a:t>
            </a:r>
          </a:p>
          <a:p>
            <a:pPr>
              <a:buClr>
                <a:srgbClr val="336600"/>
              </a:buClr>
              <a:buSzPct val="95000"/>
              <a:buFont typeface="Wingdings" panose="05000000000000000000" pitchFamily="2" charset="2"/>
              <a:buChar char="l"/>
            </a:pPr>
            <a:r>
              <a:rPr lang="en-US" altLang="zh-CN">
                <a:sym typeface="Wingdings 3" panose="05040102010807070707" pitchFamily="18" charset="2"/>
              </a:rPr>
              <a:t>E </a:t>
            </a:r>
            <a:r>
              <a:rPr lang="en-US" altLang="zh-CN">
                <a:solidFill>
                  <a:srgbClr val="000099"/>
                </a:solidFill>
                <a:sym typeface="Wingdings 3" panose="05040102010807070707" pitchFamily="18" charset="2"/>
              </a:rPr>
              <a:t></a:t>
            </a:r>
            <a:r>
              <a:rPr lang="en-US" altLang="zh-CN">
                <a:sym typeface="Wingdings 3" panose="05040102010807070707" pitchFamily="18" charset="2"/>
              </a:rPr>
              <a:t>E’’</a:t>
            </a:r>
          </a:p>
        </p:txBody>
      </p:sp>
      <p:sp>
        <p:nvSpPr>
          <p:cNvPr id="9" name="AutoShape 49">
            <a:extLst>
              <a:ext uri="{FF2B5EF4-FFF2-40B4-BE49-F238E27FC236}">
                <a16:creationId xmlns:a16="http://schemas.microsoft.com/office/drawing/2014/main" id="{0690908A-8505-46E8-99CA-660F8EEDB1C1}"/>
              </a:ext>
            </a:extLst>
          </p:cNvPr>
          <p:cNvSpPr>
            <a:spLocks/>
          </p:cNvSpPr>
          <p:nvPr/>
        </p:nvSpPr>
        <p:spPr bwMode="auto">
          <a:xfrm>
            <a:off x="3132138" y="3693236"/>
            <a:ext cx="287337" cy="2808287"/>
          </a:xfrm>
          <a:prstGeom prst="rightBrace">
            <a:avLst>
              <a:gd name="adj1" fmla="val 81446"/>
              <a:gd name="adj2"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50">
            <a:extLst>
              <a:ext uri="{FF2B5EF4-FFF2-40B4-BE49-F238E27FC236}">
                <a16:creationId xmlns:a16="http://schemas.microsoft.com/office/drawing/2014/main" id="{DCA46C88-A10E-4591-9381-056EFCAE4942}"/>
              </a:ext>
            </a:extLst>
          </p:cNvPr>
          <p:cNvSpPr>
            <a:spLocks noChangeArrowheads="1"/>
          </p:cNvSpPr>
          <p:nvPr/>
        </p:nvSpPr>
        <p:spPr bwMode="auto">
          <a:xfrm>
            <a:off x="3419475" y="4053598"/>
            <a:ext cx="720725" cy="2159000"/>
          </a:xfrm>
          <a:prstGeom prst="rect">
            <a:avLst/>
          </a:prstGeom>
          <a:noFill/>
          <a:ln w="3175" cap="sq" cmpd="dbl">
            <a:solidFill>
              <a:schemeClr val="tx1"/>
            </a:solidFill>
            <a:miter lim="800000"/>
            <a:headEnd type="none" w="sm" len="sm"/>
            <a:tailEnd type="none" w="sm" len="sm"/>
          </a:ln>
          <a:effectLst/>
        </p:spPr>
        <p:txBody>
          <a:bodyPr anchor="ctr" anchorCtr="1"/>
          <a:lstStyle/>
          <a:p>
            <a:pPr algn="ctr">
              <a:buClr>
                <a:srgbClr val="336600"/>
              </a:buClr>
              <a:buSzPct val="95000"/>
              <a:buFont typeface="Wingdings" panose="05000000000000000000" pitchFamily="2" charset="2"/>
              <a:buNone/>
            </a:pPr>
            <a:r>
              <a:rPr lang="en-US" altLang="zh-CN">
                <a:sym typeface="Wingdings 3" panose="05040102010807070707" pitchFamily="18" charset="2"/>
              </a:rPr>
              <a:t>y</a:t>
            </a:r>
            <a:r>
              <a:rPr lang="en-US" altLang="zh-CN" baseline="-25000">
                <a:sym typeface="Wingdings 3" panose="05040102010807070707" pitchFamily="18" charset="2"/>
              </a:rPr>
              <a:t>E</a:t>
            </a:r>
            <a:r>
              <a:rPr lang="en-US" altLang="zh-CN">
                <a:solidFill>
                  <a:srgbClr val="000099"/>
                </a:solidFill>
                <a:cs typeface="Times New Roman" panose="02020603050405020304" pitchFamily="18" charset="0"/>
                <a:sym typeface="Wingdings 3" panose="05040102010807070707" pitchFamily="18" charset="2"/>
              </a:rPr>
              <a:t>↓↓</a:t>
            </a:r>
            <a:endParaRPr lang="en-US" altLang="zh-CN">
              <a:solidFill>
                <a:srgbClr val="000099"/>
              </a:solidFill>
              <a:sym typeface="Wingdings 3" panose="05040102010807070707" pitchFamily="18" charset="2"/>
            </a:endParaRPr>
          </a:p>
          <a:p>
            <a:pPr algn="ctr">
              <a:buClr>
                <a:srgbClr val="336600"/>
              </a:buClr>
              <a:buSzPct val="95000"/>
              <a:buFont typeface="Wingdings" panose="05000000000000000000" pitchFamily="2" charset="2"/>
              <a:buNone/>
            </a:pPr>
            <a:r>
              <a:rPr lang="en-US" altLang="zh-CN">
                <a:sym typeface="Wingdings 3" panose="05040102010807070707" pitchFamily="18" charset="2"/>
              </a:rPr>
              <a:t>y*</a:t>
            </a:r>
          </a:p>
        </p:txBody>
      </p:sp>
      <p:pic>
        <p:nvPicPr>
          <p:cNvPr id="11" name="图片 10">
            <a:extLst>
              <a:ext uri="{FF2B5EF4-FFF2-40B4-BE49-F238E27FC236}">
                <a16:creationId xmlns:a16="http://schemas.microsoft.com/office/drawing/2014/main" id="{DE7AF3AB-E548-470B-B051-0E035FAE50FA}"/>
              </a:ext>
            </a:extLst>
          </p:cNvPr>
          <p:cNvPicPr>
            <a:picLocks noChangeAspect="1"/>
          </p:cNvPicPr>
          <p:nvPr/>
        </p:nvPicPr>
        <p:blipFill>
          <a:blip r:embed="rId2"/>
          <a:stretch>
            <a:fillRect/>
          </a:stretch>
        </p:blipFill>
        <p:spPr>
          <a:xfrm>
            <a:off x="4755935" y="2857604"/>
            <a:ext cx="3711262" cy="3208298"/>
          </a:xfrm>
          <a:prstGeom prst="rect">
            <a:avLst/>
          </a:prstGeom>
        </p:spPr>
      </p:pic>
    </p:spTree>
    <p:extLst>
      <p:ext uri="{BB962C8B-B14F-4D97-AF65-F5344CB8AC3E}">
        <p14:creationId xmlns:p14="http://schemas.microsoft.com/office/powerpoint/2010/main" val="1382992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3AEA60D-8336-4455-BCC4-95515BCBBC70}"/>
              </a:ext>
            </a:extLst>
          </p:cNvPr>
          <p:cNvSpPr>
            <a:spLocks noGrp="1" noChangeArrowheads="1"/>
          </p:cNvSpPr>
          <p:nvPr>
            <p:ph type="title"/>
          </p:nvPr>
        </p:nvSpPr>
        <p:spPr>
          <a:xfrm>
            <a:off x="359568" y="549275"/>
            <a:ext cx="5832475" cy="647700"/>
          </a:xfrm>
          <a:noFill/>
          <a:ln w="9525" cap="flat" cmpd="sng" algn="ctr">
            <a:solidFill>
              <a:schemeClr val="tx1"/>
            </a:solidFill>
            <a:prstDash val="solid"/>
            <a:miter lim="800000"/>
            <a:headEnd/>
            <a:tailEnd/>
          </a:ln>
        </p:spPr>
        <p:txBody>
          <a:bodyPr>
            <a:normAutofit/>
          </a:bodyPr>
          <a:lstStyle/>
          <a:p>
            <a:r>
              <a:rPr lang="zh-CN" altLang="en-US" sz="2800" dirty="0"/>
              <a:t>凯恩斯有效需求理论框架</a:t>
            </a:r>
          </a:p>
        </p:txBody>
      </p:sp>
      <p:sp>
        <p:nvSpPr>
          <p:cNvPr id="5" name="Rectangle 9">
            <a:extLst>
              <a:ext uri="{FF2B5EF4-FFF2-40B4-BE49-F238E27FC236}">
                <a16:creationId xmlns:a16="http://schemas.microsoft.com/office/drawing/2014/main" id="{419B2F99-2911-4BB5-8754-E20A900FCB6A}"/>
              </a:ext>
            </a:extLst>
          </p:cNvPr>
          <p:cNvSpPr txBox="1">
            <a:spLocks noChangeArrowheads="1"/>
          </p:cNvSpPr>
          <p:nvPr/>
        </p:nvSpPr>
        <p:spPr>
          <a:xfrm>
            <a:off x="395288" y="1196975"/>
            <a:ext cx="5761037" cy="576263"/>
          </a:xfrm>
          <a:prstGeom prst="rect">
            <a:avLst/>
          </a:prstGeom>
          <a:noFill/>
          <a:ln w="3175" cmpd="tri">
            <a:solidFill>
              <a:schemeClr val="tx1"/>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Clr>
                <a:srgbClr val="336600"/>
              </a:buClr>
              <a:buSzPct val="95000"/>
              <a:buFont typeface="Wingdings" panose="05000000000000000000" pitchFamily="2" charset="2"/>
              <a:buNone/>
            </a:pPr>
            <a:r>
              <a:rPr lang="en-US" altLang="zh-CN"/>
              <a:t>1.</a:t>
            </a:r>
            <a:r>
              <a:rPr lang="zh-CN" altLang="en-US"/>
              <a:t>有效需求</a:t>
            </a:r>
          </a:p>
        </p:txBody>
      </p:sp>
      <p:sp>
        <p:nvSpPr>
          <p:cNvPr id="6" name="Rectangle 11">
            <a:extLst>
              <a:ext uri="{FF2B5EF4-FFF2-40B4-BE49-F238E27FC236}">
                <a16:creationId xmlns:a16="http://schemas.microsoft.com/office/drawing/2014/main" id="{C5B01F14-DD80-4D4E-BE1D-89F0EF687BD6}"/>
              </a:ext>
            </a:extLst>
          </p:cNvPr>
          <p:cNvSpPr>
            <a:spLocks noChangeArrowheads="1"/>
          </p:cNvSpPr>
          <p:nvPr/>
        </p:nvSpPr>
        <p:spPr bwMode="auto">
          <a:xfrm>
            <a:off x="395288" y="2205038"/>
            <a:ext cx="8424862" cy="1081087"/>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buClr>
                <a:schemeClr val="hlink"/>
              </a:buClr>
              <a:buSzPct val="95000"/>
              <a:buFont typeface="Wingdings" panose="05000000000000000000" pitchFamily="2" charset="2"/>
              <a:buChar char="u"/>
            </a:pPr>
            <a:r>
              <a:rPr lang="zh-CN" altLang="en-US"/>
              <a:t>有效需求：有支付能力的社会总需求，即总供给价格与总需求价格</a:t>
            </a:r>
            <a:r>
              <a:rPr lang="zh-CN" altLang="en-US">
                <a:solidFill>
                  <a:srgbClr val="000000"/>
                </a:solidFill>
                <a:latin typeface="黑体" panose="02010609060101010101" pitchFamily="49" charset="-122"/>
                <a:ea typeface="黑体" panose="02010609060101010101" pitchFamily="49" charset="-122"/>
              </a:rPr>
              <a:t>达到</a:t>
            </a:r>
            <a:r>
              <a:rPr lang="zh-CN" altLang="en-US"/>
              <a:t>均衡时的总需求。</a:t>
            </a:r>
          </a:p>
        </p:txBody>
      </p:sp>
      <p:sp>
        <p:nvSpPr>
          <p:cNvPr id="7" name="Rectangle 12">
            <a:extLst>
              <a:ext uri="{FF2B5EF4-FFF2-40B4-BE49-F238E27FC236}">
                <a16:creationId xmlns:a16="http://schemas.microsoft.com/office/drawing/2014/main" id="{8EEB9E1E-105C-4F87-A64C-54BC5D1754D7}"/>
              </a:ext>
            </a:extLst>
          </p:cNvPr>
          <p:cNvSpPr>
            <a:spLocks noChangeArrowheads="1"/>
          </p:cNvSpPr>
          <p:nvPr/>
        </p:nvSpPr>
        <p:spPr bwMode="auto">
          <a:xfrm>
            <a:off x="395288" y="4724400"/>
            <a:ext cx="8424862" cy="1439863"/>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1084263" indent="-455613">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49225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900238"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308225"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65425"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22625"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79825"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37025"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b="0"/>
              <a:t>总供给价格：企业愿意雇佣一定量工人所必需的价格，包括生产成本与预期的利润。</a:t>
            </a:r>
          </a:p>
          <a:p>
            <a:r>
              <a:rPr lang="zh-CN" altLang="en-US" b="0"/>
              <a:t>总需求价格：企业预期社会为购买全部商品所支付的价格。</a:t>
            </a:r>
            <a:r>
              <a:rPr lang="zh-CN" altLang="en-US"/>
              <a:t> </a:t>
            </a:r>
          </a:p>
        </p:txBody>
      </p:sp>
      <p:sp>
        <p:nvSpPr>
          <p:cNvPr id="8" name="Rectangle 14">
            <a:extLst>
              <a:ext uri="{FF2B5EF4-FFF2-40B4-BE49-F238E27FC236}">
                <a16:creationId xmlns:a16="http://schemas.microsoft.com/office/drawing/2014/main" id="{C0EEC08D-41C5-43E8-9B4C-8F3DD8B029B8}"/>
              </a:ext>
            </a:extLst>
          </p:cNvPr>
          <p:cNvSpPr>
            <a:spLocks noChangeArrowheads="1"/>
          </p:cNvSpPr>
          <p:nvPr/>
        </p:nvSpPr>
        <p:spPr bwMode="auto">
          <a:xfrm>
            <a:off x="395288" y="3644900"/>
            <a:ext cx="5040312" cy="720725"/>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10000"/>
              </a:lnSpc>
              <a:spcBef>
                <a:spcPct val="20000"/>
              </a:spcBef>
              <a:buClr>
                <a:srgbClr val="336600"/>
              </a:buClr>
              <a:buSzPct val="95000"/>
              <a:buFont typeface="Wingdings" panose="05000000000000000000" pitchFamily="2" charset="2"/>
              <a:buChar char="l"/>
            </a:pPr>
            <a:r>
              <a:rPr lang="zh-CN" altLang="en-US"/>
              <a:t>包括消费和投资需求两部分。</a:t>
            </a:r>
          </a:p>
        </p:txBody>
      </p:sp>
    </p:spTree>
    <p:extLst>
      <p:ext uri="{BB962C8B-B14F-4D97-AF65-F5344CB8AC3E}">
        <p14:creationId xmlns:p14="http://schemas.microsoft.com/office/powerpoint/2010/main" val="763393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FFEC10B-27FD-4096-8D99-1611DAA24482}"/>
              </a:ext>
            </a:extLst>
          </p:cNvPr>
          <p:cNvSpPr>
            <a:spLocks noGrp="1" noChangeArrowheads="1"/>
          </p:cNvSpPr>
          <p:nvPr>
            <p:ph type="title"/>
          </p:nvPr>
        </p:nvSpPr>
        <p:spPr>
          <a:xfrm>
            <a:off x="263525" y="441325"/>
            <a:ext cx="5832475" cy="647700"/>
          </a:xfrm>
        </p:spPr>
        <p:txBody>
          <a:bodyPr>
            <a:normAutofit/>
          </a:bodyPr>
          <a:lstStyle/>
          <a:p>
            <a:r>
              <a:rPr lang="zh-CN" altLang="en-US" sz="2800" b="0" dirty="0"/>
              <a:t>有效需求不足</a:t>
            </a:r>
          </a:p>
        </p:txBody>
      </p:sp>
      <p:sp>
        <p:nvSpPr>
          <p:cNvPr id="5" name="Rectangle 4">
            <a:extLst>
              <a:ext uri="{FF2B5EF4-FFF2-40B4-BE49-F238E27FC236}">
                <a16:creationId xmlns:a16="http://schemas.microsoft.com/office/drawing/2014/main" id="{817E0161-F084-464C-82F6-444A0AF35D57}"/>
              </a:ext>
            </a:extLst>
          </p:cNvPr>
          <p:cNvSpPr>
            <a:spLocks noChangeArrowheads="1"/>
          </p:cNvSpPr>
          <p:nvPr/>
        </p:nvSpPr>
        <p:spPr bwMode="auto">
          <a:xfrm>
            <a:off x="395288" y="2924175"/>
            <a:ext cx="8437562" cy="197485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buClr>
                <a:srgbClr val="FF0000"/>
              </a:buClr>
              <a:buSzPct val="95000"/>
              <a:buFont typeface="Wingdings" panose="05000000000000000000" pitchFamily="2" charset="2"/>
              <a:buChar char="n"/>
            </a:pPr>
            <a:r>
              <a:rPr lang="zh-CN" altLang="en-US"/>
              <a:t>总需求价格</a:t>
            </a:r>
            <a:r>
              <a:rPr lang="en-US" altLang="zh-CN"/>
              <a:t>&gt;</a:t>
            </a:r>
            <a:r>
              <a:rPr lang="zh-CN" altLang="en-US"/>
              <a:t>总供给价格，就会扩大生产；</a:t>
            </a:r>
          </a:p>
          <a:p>
            <a:pPr>
              <a:buClr>
                <a:srgbClr val="FF0000"/>
              </a:buClr>
              <a:buSzPct val="95000"/>
              <a:buFont typeface="Wingdings" panose="05000000000000000000" pitchFamily="2" charset="2"/>
              <a:buChar char="n"/>
            </a:pPr>
            <a:r>
              <a:rPr lang="zh-CN" altLang="en-US"/>
              <a:t>反之，就会因无法实现最低利润而裁减雇员，收缩生产。</a:t>
            </a:r>
          </a:p>
          <a:p>
            <a:pPr>
              <a:buClr>
                <a:srgbClr val="FF0000"/>
              </a:buClr>
              <a:buSzPct val="95000"/>
              <a:buFont typeface="Wingdings" panose="05000000000000000000" pitchFamily="2" charset="2"/>
              <a:buChar char="n"/>
            </a:pPr>
            <a:r>
              <a:rPr lang="zh-CN" altLang="en-US"/>
              <a:t>就业量取决于总供给与总需求的均衡点。</a:t>
            </a:r>
          </a:p>
          <a:p>
            <a:pPr>
              <a:buClr>
                <a:srgbClr val="FF0000"/>
              </a:buClr>
              <a:buSzPct val="95000"/>
              <a:buFont typeface="Wingdings" panose="05000000000000000000" pitchFamily="2" charset="2"/>
              <a:buChar char="n"/>
            </a:pPr>
            <a:r>
              <a:rPr lang="zh-CN" altLang="en-US"/>
              <a:t>短期内，生产成本和正常利润波动不大，总供给基本稳定。就业量实际取决于总需求。</a:t>
            </a:r>
          </a:p>
        </p:txBody>
      </p:sp>
      <p:sp>
        <p:nvSpPr>
          <p:cNvPr id="6" name="Rectangle 5">
            <a:extLst>
              <a:ext uri="{FF2B5EF4-FFF2-40B4-BE49-F238E27FC236}">
                <a16:creationId xmlns:a16="http://schemas.microsoft.com/office/drawing/2014/main" id="{22986760-915C-422B-81A6-610CF65C35A6}"/>
              </a:ext>
            </a:extLst>
          </p:cNvPr>
          <p:cNvSpPr txBox="1">
            <a:spLocks noChangeArrowheads="1"/>
          </p:cNvSpPr>
          <p:nvPr/>
        </p:nvSpPr>
        <p:spPr>
          <a:xfrm>
            <a:off x="395288" y="1196975"/>
            <a:ext cx="8424862" cy="1511300"/>
          </a:xfrm>
          <a:prstGeom prst="rect">
            <a:avLst/>
          </a:prstGeom>
          <a:noFill/>
          <a:ln w="3175" cmpd="tri">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凯恩斯否定 “供给自行创造需求”的萨伊定律。</a:t>
            </a:r>
          </a:p>
          <a:p>
            <a:r>
              <a:rPr lang="zh-CN" altLang="en-US" dirty="0"/>
              <a:t>凯恩斯认为在自由放任的条件下，有效需求通常都是不足的，所以市场不能自动实现充分就业的均衡。 </a:t>
            </a:r>
          </a:p>
        </p:txBody>
      </p:sp>
      <p:sp>
        <p:nvSpPr>
          <p:cNvPr id="7" name="Rectangle 7">
            <a:extLst>
              <a:ext uri="{FF2B5EF4-FFF2-40B4-BE49-F238E27FC236}">
                <a16:creationId xmlns:a16="http://schemas.microsoft.com/office/drawing/2014/main" id="{7712C637-2593-400C-AE7B-8436FDB5AC47}"/>
              </a:ext>
            </a:extLst>
          </p:cNvPr>
          <p:cNvSpPr>
            <a:spLocks noChangeArrowheads="1"/>
          </p:cNvSpPr>
          <p:nvPr/>
        </p:nvSpPr>
        <p:spPr bwMode="auto">
          <a:xfrm>
            <a:off x="395288" y="5084763"/>
            <a:ext cx="8424862" cy="1225550"/>
          </a:xfrm>
          <a:prstGeom prst="rect">
            <a:avLst/>
          </a:prstGeom>
          <a:noFill/>
          <a:ln w="3175" cap="sq" cmpd="dbl">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336600"/>
              </a:buClr>
              <a:buSzPct val="95000"/>
              <a:buFont typeface="Wingdings" panose="05000000000000000000" pitchFamily="2" charset="2"/>
              <a:buChar char="p"/>
            </a:pPr>
            <a:r>
              <a:rPr lang="zh-CN" altLang="en-US"/>
              <a:t>凯恩斯认为，形成经济萧条的根源是由于消费需求和投资需求所构成的总需求，不足以实现充分就业。</a:t>
            </a:r>
            <a:r>
              <a:rPr lang="zh-CN" altLang="en-US" b="0"/>
              <a:t>就是说由于有效需求不足，社会上总会存在“非自愿失业”。</a:t>
            </a:r>
            <a:endParaRPr lang="zh-CN" altLang="en-US"/>
          </a:p>
        </p:txBody>
      </p:sp>
    </p:spTree>
    <p:extLst>
      <p:ext uri="{BB962C8B-B14F-4D97-AF65-F5344CB8AC3E}">
        <p14:creationId xmlns:p14="http://schemas.microsoft.com/office/powerpoint/2010/main" val="60908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79BC83-1555-4B5F-A73B-2B4F072581FD}"/>
              </a:ext>
            </a:extLst>
          </p:cNvPr>
          <p:cNvSpPr>
            <a:spLocks noGrp="1" noChangeArrowheads="1"/>
          </p:cNvSpPr>
          <p:nvPr>
            <p:ph type="title"/>
          </p:nvPr>
        </p:nvSpPr>
        <p:spPr>
          <a:xfrm>
            <a:off x="323850" y="587748"/>
            <a:ext cx="5832475" cy="647700"/>
          </a:xfrm>
        </p:spPr>
        <p:txBody>
          <a:bodyPr>
            <a:normAutofit/>
          </a:bodyPr>
          <a:lstStyle/>
          <a:p>
            <a:r>
              <a:rPr lang="zh-CN" altLang="en-US" sz="3200" b="0" dirty="0"/>
              <a:t>有效需求不足的原因</a:t>
            </a:r>
          </a:p>
        </p:txBody>
      </p:sp>
      <p:sp>
        <p:nvSpPr>
          <p:cNvPr id="5" name="Rectangle 3">
            <a:extLst>
              <a:ext uri="{FF2B5EF4-FFF2-40B4-BE49-F238E27FC236}">
                <a16:creationId xmlns:a16="http://schemas.microsoft.com/office/drawing/2014/main" id="{92CC6A7A-F3B6-486D-B05D-9C0E65675B34}"/>
              </a:ext>
            </a:extLst>
          </p:cNvPr>
          <p:cNvSpPr txBox="1">
            <a:spLocks noChangeArrowheads="1"/>
          </p:cNvSpPr>
          <p:nvPr/>
        </p:nvSpPr>
        <p:spPr>
          <a:xfrm>
            <a:off x="395288" y="1595810"/>
            <a:ext cx="8424862" cy="576263"/>
          </a:xfrm>
          <a:prstGeom prst="rect">
            <a:avLst/>
          </a:prstGeom>
          <a:noFill/>
          <a:ln w="3175" cmpd="tri">
            <a:solidFill>
              <a:schemeClr val="tx1"/>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36600"/>
              </a:buClr>
              <a:buSzPct val="95000"/>
              <a:buFont typeface="Wingdings" panose="05000000000000000000" pitchFamily="2" charset="2"/>
              <a:buChar char="l"/>
            </a:pPr>
            <a:r>
              <a:rPr lang="zh-CN" altLang="en-US"/>
              <a:t>有效需求总是不足的，根源在于三个“心理规律”：</a:t>
            </a:r>
          </a:p>
        </p:txBody>
      </p:sp>
      <p:sp>
        <p:nvSpPr>
          <p:cNvPr id="6" name="Rectangle 5">
            <a:extLst>
              <a:ext uri="{FF2B5EF4-FFF2-40B4-BE49-F238E27FC236}">
                <a16:creationId xmlns:a16="http://schemas.microsoft.com/office/drawing/2014/main" id="{843322D9-9F3B-4CF4-90CE-26392ABC1771}"/>
              </a:ext>
            </a:extLst>
          </p:cNvPr>
          <p:cNvSpPr>
            <a:spLocks noChangeArrowheads="1"/>
          </p:cNvSpPr>
          <p:nvPr/>
        </p:nvSpPr>
        <p:spPr bwMode="auto">
          <a:xfrm>
            <a:off x="1835150" y="2603873"/>
            <a:ext cx="6985000" cy="64770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zh-CN" altLang="en-US" b="0"/>
              <a:t>一是边际消费倾向递减，造成消费需求不足；</a:t>
            </a:r>
          </a:p>
        </p:txBody>
      </p:sp>
      <p:sp>
        <p:nvSpPr>
          <p:cNvPr id="7" name="Rectangle 6">
            <a:extLst>
              <a:ext uri="{FF2B5EF4-FFF2-40B4-BE49-F238E27FC236}">
                <a16:creationId xmlns:a16="http://schemas.microsoft.com/office/drawing/2014/main" id="{C71B9147-7F8B-462A-B399-E800840BD7DB}"/>
              </a:ext>
            </a:extLst>
          </p:cNvPr>
          <p:cNvSpPr>
            <a:spLocks noChangeArrowheads="1"/>
          </p:cNvSpPr>
          <p:nvPr/>
        </p:nvSpPr>
        <p:spPr bwMode="auto">
          <a:xfrm>
            <a:off x="1835150" y="3324598"/>
            <a:ext cx="6985000" cy="576262"/>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zh-CN" altLang="en-US" b="0"/>
              <a:t>二是资本边际效率递减，造成投资需求不足；</a:t>
            </a:r>
          </a:p>
        </p:txBody>
      </p:sp>
      <p:sp>
        <p:nvSpPr>
          <p:cNvPr id="8" name="Rectangle 7">
            <a:extLst>
              <a:ext uri="{FF2B5EF4-FFF2-40B4-BE49-F238E27FC236}">
                <a16:creationId xmlns:a16="http://schemas.microsoft.com/office/drawing/2014/main" id="{73CE6E16-647E-420E-8E53-553C4C37BA7C}"/>
              </a:ext>
            </a:extLst>
          </p:cNvPr>
          <p:cNvSpPr>
            <a:spLocks noChangeArrowheads="1"/>
          </p:cNvSpPr>
          <p:nvPr/>
        </p:nvSpPr>
        <p:spPr bwMode="auto">
          <a:xfrm>
            <a:off x="1835150" y="3972298"/>
            <a:ext cx="6985000" cy="129540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zh-CN" altLang="en-US" b="0"/>
              <a:t>三是流动偏好，总要把一定量货币保持在手里。利率不能太低，否则容易进入流动偏好陷阱。但如果利率较高，就会导致投资需求不足。</a:t>
            </a:r>
          </a:p>
        </p:txBody>
      </p:sp>
      <p:sp>
        <p:nvSpPr>
          <p:cNvPr id="9" name="Rectangle 8">
            <a:extLst>
              <a:ext uri="{FF2B5EF4-FFF2-40B4-BE49-F238E27FC236}">
                <a16:creationId xmlns:a16="http://schemas.microsoft.com/office/drawing/2014/main" id="{4E82A4E9-CBAE-4263-9052-F02EDC84F253}"/>
              </a:ext>
            </a:extLst>
          </p:cNvPr>
          <p:cNvSpPr>
            <a:spLocks noChangeArrowheads="1"/>
          </p:cNvSpPr>
          <p:nvPr/>
        </p:nvSpPr>
        <p:spPr bwMode="auto">
          <a:xfrm>
            <a:off x="395288" y="5699498"/>
            <a:ext cx="8424862" cy="9366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l"/>
            </a:pPr>
            <a:r>
              <a:rPr lang="zh-CN" altLang="en-US" b="0"/>
              <a:t>凯恩斯认为，市场机制不能解决由这些原因引起的有效需求不足问题，不能自动地使经济达到充分就业时的均衡。</a:t>
            </a:r>
          </a:p>
        </p:txBody>
      </p:sp>
    </p:spTree>
    <p:extLst>
      <p:ext uri="{BB962C8B-B14F-4D97-AF65-F5344CB8AC3E}">
        <p14:creationId xmlns:p14="http://schemas.microsoft.com/office/powerpoint/2010/main" val="658102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C03DF06-9D4A-43D3-ADE1-AE459A6F6580}"/>
              </a:ext>
            </a:extLst>
          </p:cNvPr>
          <p:cNvSpPr>
            <a:spLocks noGrp="1" noChangeArrowheads="1"/>
          </p:cNvSpPr>
          <p:nvPr>
            <p:ph type="title"/>
          </p:nvPr>
        </p:nvSpPr>
        <p:spPr>
          <a:xfrm>
            <a:off x="395288" y="945357"/>
            <a:ext cx="5832475" cy="647700"/>
          </a:xfrm>
        </p:spPr>
        <p:txBody>
          <a:bodyPr/>
          <a:lstStyle/>
          <a:p>
            <a:r>
              <a:rPr lang="zh-CN" altLang="en-US" sz="2800" b="0" dirty="0"/>
              <a:t>凯恩斯理论的政策含义</a:t>
            </a:r>
          </a:p>
        </p:txBody>
      </p:sp>
      <p:sp>
        <p:nvSpPr>
          <p:cNvPr id="5" name="Rectangle 3">
            <a:extLst>
              <a:ext uri="{FF2B5EF4-FFF2-40B4-BE49-F238E27FC236}">
                <a16:creationId xmlns:a16="http://schemas.microsoft.com/office/drawing/2014/main" id="{CE697436-5556-492C-AFEF-24A7DB9382AD}"/>
              </a:ext>
            </a:extLst>
          </p:cNvPr>
          <p:cNvSpPr txBox="1">
            <a:spLocks noChangeArrowheads="1"/>
          </p:cNvSpPr>
          <p:nvPr/>
        </p:nvSpPr>
        <p:spPr>
          <a:xfrm>
            <a:off x="323850" y="1773238"/>
            <a:ext cx="8424862" cy="1008062"/>
          </a:xfrm>
          <a:prstGeom prst="rect">
            <a:avLst/>
          </a:prstGeom>
          <a:ln>
            <a:headEnd/>
            <a:tailEnd/>
          </a:ln>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336600"/>
              </a:buClr>
              <a:buSzPct val="95000"/>
              <a:buFont typeface="Wingdings" panose="05000000000000000000" pitchFamily="2" charset="2"/>
              <a:buChar char="l"/>
            </a:pPr>
            <a:r>
              <a:rPr lang="zh-CN" altLang="en-US" dirty="0"/>
              <a:t>凯恩斯否定了传统的国家不干预政策，力主扩大政府机能，通过政府干预来弥补有效需求的不足，实现充分就业。</a:t>
            </a:r>
          </a:p>
        </p:txBody>
      </p:sp>
      <p:sp>
        <p:nvSpPr>
          <p:cNvPr id="6" name="Rectangle 4">
            <a:extLst>
              <a:ext uri="{FF2B5EF4-FFF2-40B4-BE49-F238E27FC236}">
                <a16:creationId xmlns:a16="http://schemas.microsoft.com/office/drawing/2014/main" id="{E9B787F9-F257-4E8A-B6C7-EB236A72A6C3}"/>
              </a:ext>
            </a:extLst>
          </p:cNvPr>
          <p:cNvSpPr>
            <a:spLocks noChangeArrowheads="1"/>
          </p:cNvSpPr>
          <p:nvPr/>
        </p:nvSpPr>
        <p:spPr bwMode="auto">
          <a:xfrm>
            <a:off x="395288" y="4292600"/>
            <a:ext cx="8424862" cy="1944688"/>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rgbClr val="336600"/>
              </a:buClr>
              <a:buSzPct val="95000"/>
              <a:buFont typeface="Wingdings" panose="05000000000000000000" pitchFamily="2" charset="2"/>
              <a:buChar char="l"/>
            </a:pPr>
            <a:r>
              <a:rPr lang="zh-CN" altLang="en-US" b="0"/>
              <a:t>战后西方各国政府均把维持经济稳定增长，促进充分就业作为重要的施政目标。</a:t>
            </a:r>
          </a:p>
          <a:p>
            <a:pPr>
              <a:lnSpc>
                <a:spcPct val="90000"/>
              </a:lnSpc>
              <a:buClr>
                <a:srgbClr val="336600"/>
              </a:buClr>
              <a:buSzPct val="95000"/>
              <a:buFont typeface="Wingdings" panose="05000000000000000000" pitchFamily="2" charset="2"/>
              <a:buChar char="l"/>
            </a:pPr>
            <a:r>
              <a:rPr lang="zh-CN" altLang="en-US" b="0"/>
              <a:t>凯恩斯理论遂成为各国的指导思想，在凯恩斯理论基础上进一步发展起来的凯恩斯主义经济学也成为宏观经济学的标准理论，凯恩斯主义盛极一时。</a:t>
            </a:r>
            <a:endParaRPr lang="zh-CN" altLang="en-US" sz="1800"/>
          </a:p>
        </p:txBody>
      </p:sp>
      <p:sp>
        <p:nvSpPr>
          <p:cNvPr id="7" name="Rectangle 5">
            <a:extLst>
              <a:ext uri="{FF2B5EF4-FFF2-40B4-BE49-F238E27FC236}">
                <a16:creationId xmlns:a16="http://schemas.microsoft.com/office/drawing/2014/main" id="{71C2FB0B-6ADA-4475-848E-8D56D7327B83}"/>
              </a:ext>
            </a:extLst>
          </p:cNvPr>
          <p:cNvSpPr>
            <a:spLocks noChangeArrowheads="1"/>
          </p:cNvSpPr>
          <p:nvPr/>
        </p:nvSpPr>
        <p:spPr bwMode="auto">
          <a:xfrm>
            <a:off x="395288" y="2781300"/>
            <a:ext cx="8424862" cy="1152525"/>
          </a:xfrm>
          <a:prstGeom prst="rect">
            <a:avLst/>
          </a:prstGeom>
          <a:noFill/>
          <a:ln w="3175" cap="sq" cmpd="thickThin">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buClr>
                <a:srgbClr val="336600"/>
              </a:buClr>
              <a:buSzPct val="95000"/>
              <a:buFont typeface="Wingdings" panose="05000000000000000000" pitchFamily="2" charset="2"/>
              <a:buChar char="l"/>
            </a:pPr>
            <a:r>
              <a:rPr lang="zh-CN" altLang="en-US" b="0" dirty="0"/>
              <a:t>这种干预被称为“需求管理”。凯恩斯所特别强调的是运用财政政策，而且是赤字财政政策来干预经济。 </a:t>
            </a:r>
          </a:p>
        </p:txBody>
      </p:sp>
    </p:spTree>
    <p:extLst>
      <p:ext uri="{BB962C8B-B14F-4D97-AF65-F5344CB8AC3E}">
        <p14:creationId xmlns:p14="http://schemas.microsoft.com/office/powerpoint/2010/main" val="2444659519"/>
      </p:ext>
    </p:extLst>
  </p:cSld>
  <p:clrMapOvr>
    <a:masterClrMapping/>
  </p:clrMapOvr>
</p:sld>
</file>

<file path=ppt/theme/theme1.xml><?xml version="1.0" encoding="utf-8"?>
<a:theme xmlns:a="http://schemas.openxmlformats.org/drawingml/2006/main" name="Office 主题​​">
  <a:themeElements>
    <a:clrScheme name="自定义 1">
      <a:dk1>
        <a:srgbClr val="FFFFFF"/>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2">
      <a:majorFont>
        <a:latin typeface="等线 Light"/>
        <a:ea typeface="微软雅黑"/>
        <a:cs typeface=""/>
      </a:majorFont>
      <a:minorFont>
        <a:latin typeface="等线"/>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1569</TotalTime>
  <Words>3044</Words>
  <Application>Microsoft Office PowerPoint</Application>
  <PresentationFormat>宽屏</PresentationFormat>
  <Paragraphs>284</Paragraphs>
  <Slides>39</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39</vt:i4>
      </vt:variant>
    </vt:vector>
  </HeadingPairs>
  <TitlesOfParts>
    <vt:vector size="49" baseType="lpstr">
      <vt:lpstr>等线</vt:lpstr>
      <vt:lpstr>等线 Light</vt:lpstr>
      <vt:lpstr>黑体</vt:lpstr>
      <vt:lpstr>宋体</vt:lpstr>
      <vt:lpstr>Arial</vt:lpstr>
      <vt:lpstr>Times New Roman</vt:lpstr>
      <vt:lpstr>Wingdings</vt:lpstr>
      <vt:lpstr>Office 主题​​</vt:lpstr>
      <vt:lpstr>Equation</vt:lpstr>
      <vt:lpstr>公式</vt:lpstr>
      <vt:lpstr>国民收入的决定：IS-LM模型</vt:lpstr>
      <vt:lpstr>投资的决定</vt:lpstr>
      <vt:lpstr>决定投资的经济因素</vt:lpstr>
      <vt:lpstr>投资函数</vt:lpstr>
      <vt:lpstr>资本边际效率 MEC Marginal Efficiency of Capital </vt:lpstr>
      <vt:lpstr>资本边际效率曲线</vt:lpstr>
      <vt:lpstr>托宾的“q”说</vt:lpstr>
      <vt:lpstr>IS曲线</vt:lpstr>
      <vt:lpstr>PowerPoint 演示文稿</vt:lpstr>
      <vt:lpstr>IS曲线的经济含义</vt:lpstr>
      <vt:lpstr>IS曲线之外的经济含义</vt:lpstr>
      <vt:lpstr>例题</vt:lpstr>
      <vt:lpstr>IS曲线的水平移动</vt:lpstr>
      <vt:lpstr>利率的决定</vt:lpstr>
      <vt:lpstr>流动偏好陷阱（凯恩斯陷阱）</vt:lpstr>
      <vt:lpstr>流动偏好</vt:lpstr>
      <vt:lpstr>货币需求函数</vt:lpstr>
      <vt:lpstr>货币供给</vt:lpstr>
      <vt:lpstr>货币需求量变动与供给均衡</vt:lpstr>
      <vt:lpstr>货币需求曲线的变动</vt:lpstr>
      <vt:lpstr>货币供给曲线的移动</vt:lpstr>
      <vt:lpstr>LM曲线</vt:lpstr>
      <vt:lpstr>LM曲线的推导</vt:lpstr>
      <vt:lpstr>LM 曲线推导图</vt:lpstr>
      <vt:lpstr>普通LM曲线的形成</vt:lpstr>
      <vt:lpstr>LM曲线的经济含义</vt:lpstr>
      <vt:lpstr>LM曲线之外的经济含义</vt:lpstr>
      <vt:lpstr>PowerPoint 演示文稿</vt:lpstr>
      <vt:lpstr>LM曲线的移动</vt:lpstr>
      <vt:lpstr>LM曲线的区域</vt:lpstr>
      <vt:lpstr>IS-LM分析</vt:lpstr>
      <vt:lpstr>PowerPoint 演示文稿</vt:lpstr>
      <vt:lpstr>一般均衡的稳定性</vt:lpstr>
      <vt:lpstr>非均衡的区域</vt:lpstr>
      <vt:lpstr>均衡收入和利率的变动</vt:lpstr>
      <vt:lpstr>凯恩斯有效需求理论框架</vt:lpstr>
      <vt:lpstr>有效需求不足</vt:lpstr>
      <vt:lpstr>有效需求不足的原因</vt:lpstr>
      <vt:lpstr>凯恩斯理论的政策含义</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984071643@qq.com</dc:creator>
  <cp:lastModifiedBy> </cp:lastModifiedBy>
  <cp:revision>31</cp:revision>
  <dcterms:created xsi:type="dcterms:W3CDTF">2018-03-14T04:58:36Z</dcterms:created>
  <dcterms:modified xsi:type="dcterms:W3CDTF">2020-11-11T12:56:04Z</dcterms:modified>
</cp:coreProperties>
</file>