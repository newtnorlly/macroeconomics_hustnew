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theme/themeOverride28.xml" ContentType="application/vnd.openxmlformats-officedocument.themeOverride+xml"/>
  <Override PartName="/ppt/notesSlides/notesSlide29.xml" ContentType="application/vnd.openxmlformats-officedocument.presentationml.notesSlide+xml"/>
  <Override PartName="/ppt/theme/themeOverride29.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1" r:id="rId3"/>
    <p:sldMasterId id="2147483705" r:id="rId4"/>
    <p:sldMasterId id="2147483717" r:id="rId5"/>
  </p:sldMasterIdLst>
  <p:notesMasterIdLst>
    <p:notesMasterId r:id="rId50"/>
  </p:notesMasterIdLst>
  <p:sldIdLst>
    <p:sldId id="1097" r:id="rId6"/>
    <p:sldId id="962" r:id="rId7"/>
    <p:sldId id="276" r:id="rId8"/>
    <p:sldId id="277" r:id="rId9"/>
    <p:sldId id="278" r:id="rId10"/>
    <p:sldId id="1098" r:id="rId11"/>
    <p:sldId id="1099" r:id="rId12"/>
    <p:sldId id="1100" r:id="rId13"/>
    <p:sldId id="1109" r:id="rId14"/>
    <p:sldId id="282" r:id="rId15"/>
    <p:sldId id="283" r:id="rId16"/>
    <p:sldId id="284" r:id="rId17"/>
    <p:sldId id="285" r:id="rId18"/>
    <p:sldId id="286" r:id="rId19"/>
    <p:sldId id="287" r:id="rId20"/>
    <p:sldId id="1101" r:id="rId21"/>
    <p:sldId id="1102" r:id="rId22"/>
    <p:sldId id="1103" r:id="rId23"/>
    <p:sldId id="1104"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1105" r:id="rId42"/>
    <p:sldId id="1106" r:id="rId43"/>
    <p:sldId id="1107" r:id="rId44"/>
    <p:sldId id="1108" r:id="rId45"/>
    <p:sldId id="313" r:id="rId46"/>
    <p:sldId id="273" r:id="rId47"/>
    <p:sldId id="328" r:id="rId48"/>
    <p:sldId id="367" r:id="rId49"/>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276"/>
            <p14:sldId id="277"/>
            <p14:sldId id="278"/>
            <p14:sldId id="1098"/>
            <p14:sldId id="1099"/>
            <p14:sldId id="1100"/>
            <p14:sldId id="1109"/>
            <p14:sldId id="282"/>
            <p14:sldId id="283"/>
            <p14:sldId id="284"/>
            <p14:sldId id="285"/>
            <p14:sldId id="286"/>
            <p14:sldId id="287"/>
            <p14:sldId id="1101"/>
            <p14:sldId id="1102"/>
            <p14:sldId id="1103"/>
            <p14:sldId id="1104"/>
            <p14:sldId id="292"/>
            <p14:sldId id="293"/>
            <p14:sldId id="294"/>
            <p14:sldId id="295"/>
            <p14:sldId id="296"/>
            <p14:sldId id="297"/>
            <p14:sldId id="298"/>
            <p14:sldId id="299"/>
            <p14:sldId id="300"/>
            <p14:sldId id="301"/>
            <p14:sldId id="302"/>
            <p14:sldId id="303"/>
            <p14:sldId id="304"/>
            <p14:sldId id="305"/>
            <p14:sldId id="306"/>
            <p14:sldId id="307"/>
            <p14:sldId id="308"/>
            <p14:sldId id="1105"/>
            <p14:sldId id="1106"/>
            <p14:sldId id="1107"/>
            <p14:sldId id="1108"/>
            <p14:sldId id="313"/>
            <p14:sldId id="273"/>
            <p14:sldId id="328"/>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80"/>
    <p:restoredTop sz="95659"/>
  </p:normalViewPr>
  <p:slideViewPr>
    <p:cSldViewPr>
      <p:cViewPr varScale="1">
        <p:scale>
          <a:sx n="159" d="100"/>
          <a:sy n="159" d="100"/>
        </p:scale>
        <p:origin x="1248" y="110"/>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2025/5/9</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hemeOverride" Target="../theme/themeOverride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hemeOverride" Target="../theme/themeOverride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hemeOverride" Target="../theme/themeOverride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68237876-8967-7AA8-3B6D-CC60685C47D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EACDBC-4447-334B-8539-F6A9646F1459}"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67" name="Rectangle 2">
            <a:extLst>
              <a:ext uri="{FF2B5EF4-FFF2-40B4-BE49-F238E27FC236}">
                <a16:creationId xmlns:a16="http://schemas.microsoft.com/office/drawing/2014/main" id="{07136DAA-CEE3-F941-16A7-994DDEB3595D}"/>
              </a:ext>
            </a:extLst>
          </p:cNvPr>
          <p:cNvSpPr>
            <a:spLocks noGrp="1" noRot="1" noChangeAspect="1" noChangeArrowheads="1" noTextEdit="1"/>
          </p:cNvSpPr>
          <p:nvPr>
            <p:ph type="sldImg"/>
          </p:nvPr>
        </p:nvSpPr>
        <p:spPr>
          <a:xfrm>
            <a:off x="1143000" y="534988"/>
            <a:ext cx="4572000" cy="3429000"/>
          </a:xfrm>
        </p:spPr>
      </p:sp>
      <p:sp>
        <p:nvSpPr>
          <p:cNvPr id="11268" name="Rectangle 3">
            <a:extLst>
              <a:ext uri="{FF2B5EF4-FFF2-40B4-BE49-F238E27FC236}">
                <a16:creationId xmlns:a16="http://schemas.microsoft.com/office/drawing/2014/main" id="{518E2A2C-6B96-AEFB-EA8C-9A728A96465A}"/>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Students may recall that the BLS also produces the CPI statistics.  </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11FE620B-D433-6A13-3A65-DB0A1C1A28A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837775-09EE-2F46-A5D2-46714DCE96E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a:extLst>
              <a:ext uri="{FF2B5EF4-FFF2-40B4-BE49-F238E27FC236}">
                <a16:creationId xmlns:a16="http://schemas.microsoft.com/office/drawing/2014/main" id="{C1BAD831-1EC1-9846-D217-7C93E27D93AB}"/>
              </a:ext>
            </a:extLst>
          </p:cNvPr>
          <p:cNvSpPr>
            <a:spLocks noGrp="1" noRot="1" noChangeAspect="1" noChangeArrowheads="1" noTextEdit="1"/>
          </p:cNvSpPr>
          <p:nvPr>
            <p:ph type="sldImg"/>
          </p:nvPr>
        </p:nvSpPr>
        <p:spPr>
          <a:xfrm>
            <a:off x="1143000" y="534988"/>
            <a:ext cx="4572000" cy="3429000"/>
          </a:xfrm>
        </p:spPr>
      </p:sp>
      <p:sp>
        <p:nvSpPr>
          <p:cNvPr id="13316" name="Rectangle 3">
            <a:extLst>
              <a:ext uri="{FF2B5EF4-FFF2-40B4-BE49-F238E27FC236}">
                <a16:creationId xmlns:a16="http://schemas.microsoft.com/office/drawing/2014/main" id="{2E4FCF1D-497F-23C1-2C4A-09AA63F36680}"/>
              </a:ext>
            </a:extLst>
          </p:cNvPr>
          <p:cNvSpPr>
            <a:spLocks noGrp="1" noChangeArrowheads="1"/>
          </p:cNvSpPr>
          <p:nvPr>
            <p:ph type="body" idx="1"/>
          </p:nvPr>
        </p:nvSpPr>
        <p:spPr>
          <a:xfrm>
            <a:off x="685800" y="4248150"/>
            <a:ext cx="5486400" cy="4210050"/>
          </a:xfrm>
        </p:spPr>
        <p:txBody>
          <a:bodyPr anchor="t"/>
          <a:lstStyle/>
          <a:p>
            <a:r>
              <a:rPr lang="en-US" altLang="zh-CN" b="1">
                <a:ea typeface="宋体" panose="02010600030101010101" pitchFamily="2" charset="-122"/>
              </a:rPr>
              <a:t>Good idea</a:t>
            </a:r>
            <a:r>
              <a:rPr lang="en-US" altLang="zh-CN">
                <a:ea typeface="宋体" panose="02010600030101010101" pitchFamily="2" charset="-122"/>
              </a:rPr>
              <a:t>:  </a:t>
            </a:r>
          </a:p>
          <a:p>
            <a:endParaRPr lang="en-US" altLang="zh-CN">
              <a:ea typeface="宋体" panose="02010600030101010101" pitchFamily="2" charset="-122"/>
            </a:endParaRPr>
          </a:p>
          <a:p>
            <a:r>
              <a:rPr lang="en-US" altLang="zh-CN">
                <a:ea typeface="宋体" panose="02010600030101010101" pitchFamily="2" charset="-122"/>
              </a:rPr>
              <a:t>Tell students to take good notes on this slide and the following one, because in a moment they will have to use these definitions to solve a problem.  You can tell them the problem is very similar to what they might see on their next exam – that always gets their attention!</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B320299C-5389-FF43-FA93-C2FF8ADF6AE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407CF8E-652B-DE48-9E7B-E9E35462206E}"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3" name="Rectangle 2">
            <a:extLst>
              <a:ext uri="{FF2B5EF4-FFF2-40B4-BE49-F238E27FC236}">
                <a16:creationId xmlns:a16="http://schemas.microsoft.com/office/drawing/2014/main" id="{4C6447A6-31CB-D09B-F883-2799E1D24CE4}"/>
              </a:ext>
            </a:extLst>
          </p:cNvPr>
          <p:cNvSpPr>
            <a:spLocks noGrp="1" noRot="1" noChangeAspect="1" noChangeArrowheads="1" noTextEdit="1"/>
          </p:cNvSpPr>
          <p:nvPr>
            <p:ph type="sldImg"/>
          </p:nvPr>
        </p:nvSpPr>
        <p:spPr>
          <a:xfrm>
            <a:off x="1143000" y="534988"/>
            <a:ext cx="4572000" cy="3429000"/>
          </a:xfrm>
        </p:spPr>
      </p:sp>
      <p:sp>
        <p:nvSpPr>
          <p:cNvPr id="15364" name="Rectangle 3">
            <a:extLst>
              <a:ext uri="{FF2B5EF4-FFF2-40B4-BE49-F238E27FC236}">
                <a16:creationId xmlns:a16="http://schemas.microsoft.com/office/drawing/2014/main" id="{A27A2D52-C581-C9FA-0AF7-1923FC28A961}"/>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Many of the following slides abbreviate “unemployment rate” as “u-rate” to reduce slide clutter and to reduce the note-taking burden on students.  </a:t>
            </a: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D671B32-AE71-E38C-0E48-3C2B6D53ED31}"/>
              </a:ext>
            </a:extLst>
          </p:cNvPr>
          <p:cNvSpPr>
            <a:spLocks noGrp="1" noRot="1" noChangeAspect="1" noChangeArrowheads="1" noTextEdit="1"/>
          </p:cNvSpPr>
          <p:nvPr>
            <p:ph type="sldImg"/>
          </p:nvPr>
        </p:nvSpPr>
        <p:spPr/>
      </p:sp>
      <p:sp>
        <p:nvSpPr>
          <p:cNvPr id="17411" name="Rectangle 3">
            <a:extLst>
              <a:ext uri="{FF2B5EF4-FFF2-40B4-BE49-F238E27FC236}">
                <a16:creationId xmlns:a16="http://schemas.microsoft.com/office/drawing/2014/main" id="{D9F7B489-16F1-ACDF-8ED8-9A6EA8A73149}"/>
              </a:ext>
            </a:extLst>
          </p:cNvPr>
          <p:cNvSpPr>
            <a:spLocks noGrp="1" noRot="1" noChangeArrowheads="1"/>
          </p:cNvSpPr>
          <p:nvPr>
            <p:ph type="body" idx="1"/>
          </p:nvPr>
        </p:nvSpPr>
        <p:spPr/>
        <p:txBody>
          <a:bodyPr/>
          <a:lstStyle/>
          <a:p>
            <a:r>
              <a:rPr lang="en-US" altLang="zh-CN">
                <a:ea typeface="宋体" panose="02010600030101010101" pitchFamily="2" charset="-122"/>
              </a:rPr>
              <a:t>This exercise gives students immediate reinforcement and application of the concepts on the preceding slides.  It prepares them for some of the kinds of questions they might see on your exam.  And it gives them a sense of the actual magnitude of these statistics in the U.S. in a recent month. </a:t>
            </a:r>
          </a:p>
          <a:p>
            <a:endParaRPr lang="en-US" altLang="zh-CN">
              <a:ea typeface="宋体" panose="02010600030101010101" pitchFamily="2" charset="-122"/>
            </a:endParaRPr>
          </a:p>
          <a:p>
            <a:r>
              <a:rPr lang="en-US" altLang="zh-CN" b="1">
                <a:ea typeface="宋体" panose="02010600030101010101" pitchFamily="2" charset="-122"/>
              </a:rPr>
              <a:t>Suggestion</a:t>
            </a:r>
            <a:r>
              <a:rPr lang="en-US" altLang="zh-CN">
                <a:ea typeface="宋体" panose="02010600030101010101" pitchFamily="2" charset="-122"/>
              </a:rPr>
              <a:t>:  Before lecturing on this chapter, update the numbers in this table (and in the answers that follow) using the latest available data, which you can find here:</a:t>
            </a:r>
          </a:p>
          <a:p>
            <a:endParaRPr lang="en-US" altLang="zh-CN">
              <a:ea typeface="宋体" panose="02010600030101010101" pitchFamily="2" charset="-122"/>
            </a:endParaRPr>
          </a:p>
          <a:p>
            <a:r>
              <a:rPr lang="en-US" altLang="zh-CN">
                <a:ea typeface="宋体" panose="02010600030101010101" pitchFamily="2" charset="-122"/>
              </a:rPr>
              <a:t>Data source:  Bureau of Labor Statistics, U.S. Department of Labor</a:t>
            </a:r>
          </a:p>
          <a:p>
            <a:r>
              <a:rPr lang="en-US" altLang="zh-CN">
                <a:ea typeface="宋体" panose="02010600030101010101" pitchFamily="2" charset="-122"/>
              </a:rPr>
              <a:t>http://www.bls.gov, look for latest “Employment Situation Survey”</a:t>
            </a:r>
          </a:p>
        </p:txBody>
      </p:sp>
    </p:spTree>
    <p:extLst>
      <p:ext uri="{BB962C8B-B14F-4D97-AF65-F5344CB8AC3E}">
        <p14:creationId xmlns:p14="http://schemas.microsoft.com/office/powerpoint/2010/main" val="4282479891"/>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1DF0DB9-F811-13AD-BA85-704722D31A00}"/>
              </a:ext>
            </a:extLst>
          </p:cNvPr>
          <p:cNvSpPr>
            <a:spLocks noGrp="1" noRot="1" noChangeAspect="1" noChangeArrowheads="1" noTextEdit="1"/>
          </p:cNvSpPr>
          <p:nvPr>
            <p:ph type="sldImg"/>
          </p:nvPr>
        </p:nvSpPr>
        <p:spPr/>
      </p:sp>
      <p:sp>
        <p:nvSpPr>
          <p:cNvPr id="19459" name="Rectangle 3">
            <a:extLst>
              <a:ext uri="{FF2B5EF4-FFF2-40B4-BE49-F238E27FC236}">
                <a16:creationId xmlns:a16="http://schemas.microsoft.com/office/drawing/2014/main" id="{CE97CD72-D90B-DD3B-1D50-6C54E47FCCA8}"/>
              </a:ext>
            </a:extLst>
          </p:cNvPr>
          <p:cNvSpPr>
            <a:spLocks noGrp="1" noRot="1" noChangeArrowheads="1"/>
          </p:cNvSpPr>
          <p:nvPr>
            <p:ph type="body" idx="1"/>
          </p:nvPr>
        </p:nvSpPr>
        <p:spPr/>
        <p:txBody>
          <a:bodyPr/>
          <a:lstStyle/>
          <a:p>
            <a:r>
              <a:rPr lang="en-US" altLang="zh-CN">
                <a:ea typeface="宋体" panose="02010600030101010101" pitchFamily="2" charset="-122"/>
              </a:rPr>
              <a:t>Your students may get </a:t>
            </a:r>
            <a:r>
              <a:rPr lang="en-US" altLang="zh-CN" i="1">
                <a:ea typeface="宋体" panose="02010600030101010101" pitchFamily="2" charset="-122"/>
              </a:rPr>
              <a:t>slightly</a:t>
            </a:r>
            <a:r>
              <a:rPr lang="en-US" altLang="zh-CN">
                <a:ea typeface="宋体" panose="02010600030101010101" pitchFamily="2" charset="-122"/>
              </a:rPr>
              <a:t> different answers due to rounding differences.</a:t>
            </a:r>
          </a:p>
        </p:txBody>
      </p:sp>
    </p:spTree>
    <p:extLst>
      <p:ext uri="{BB962C8B-B14F-4D97-AF65-F5344CB8AC3E}">
        <p14:creationId xmlns:p14="http://schemas.microsoft.com/office/powerpoint/2010/main" val="43560969"/>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D44ADD-3C6F-607A-E33F-8D0C5F4E583B}"/>
              </a:ext>
            </a:extLst>
          </p:cNvPr>
          <p:cNvSpPr>
            <a:spLocks noGrp="1" noRot="1" noChangeAspect="1" noChangeArrowheads="1" noTextEdit="1"/>
          </p:cNvSpPr>
          <p:nvPr>
            <p:ph type="sldImg"/>
          </p:nvPr>
        </p:nvSpPr>
        <p:spPr/>
      </p:sp>
      <p:sp>
        <p:nvSpPr>
          <p:cNvPr id="21507" name="Rectangle 3">
            <a:extLst>
              <a:ext uri="{FF2B5EF4-FFF2-40B4-BE49-F238E27FC236}">
                <a16:creationId xmlns:a16="http://schemas.microsoft.com/office/drawing/2014/main" id="{89093757-1C8F-3C94-E126-65A3D20E8EB8}"/>
              </a:ext>
            </a:extLst>
          </p:cNvPr>
          <p:cNvSpPr>
            <a:spLocks noGrp="1" noRot="1" noChangeArrowheads="1"/>
          </p:cNvSpPr>
          <p:nvPr>
            <p:ph type="body" idx="1"/>
          </p:nvPr>
        </p:nvSpPr>
        <p:spPr/>
        <p:txBody>
          <a:bodyPr/>
          <a:lstStyle/>
          <a:p>
            <a:r>
              <a:rPr lang="en-US" altLang="zh-CN">
                <a:ea typeface="宋体" panose="02010600030101010101" pitchFamily="2" charset="-122"/>
              </a:rPr>
              <a:t>Your students may get </a:t>
            </a:r>
            <a:r>
              <a:rPr lang="en-US" altLang="zh-CN" i="1">
                <a:ea typeface="宋体" panose="02010600030101010101" pitchFamily="2" charset="-122"/>
              </a:rPr>
              <a:t>slightly</a:t>
            </a:r>
            <a:r>
              <a:rPr lang="en-US" altLang="zh-CN">
                <a:ea typeface="宋体" panose="02010600030101010101" pitchFamily="2" charset="-122"/>
              </a:rPr>
              <a:t> different answers due to rounding differences.</a:t>
            </a:r>
          </a:p>
        </p:txBody>
      </p:sp>
    </p:spTree>
    <p:extLst>
      <p:ext uri="{BB962C8B-B14F-4D97-AF65-F5344CB8AC3E}">
        <p14:creationId xmlns:p14="http://schemas.microsoft.com/office/powerpoint/2010/main" val="3810861758"/>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155AC9BF-53A9-6D03-136E-1DA555F25A1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9641A4-4012-A84C-B08E-645CA7E4D6C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3555" name="Rectangle 2">
            <a:extLst>
              <a:ext uri="{FF2B5EF4-FFF2-40B4-BE49-F238E27FC236}">
                <a16:creationId xmlns:a16="http://schemas.microsoft.com/office/drawing/2014/main" id="{DB428B36-A3A4-C351-BE98-715FC665E295}"/>
              </a:ext>
            </a:extLst>
          </p:cNvPr>
          <p:cNvSpPr>
            <a:spLocks noGrp="1" noRot="1" noChangeAspect="1" noChangeArrowheads="1" noTextEdit="1"/>
          </p:cNvSpPr>
          <p:nvPr>
            <p:ph type="sldImg"/>
          </p:nvPr>
        </p:nvSpPr>
        <p:spPr>
          <a:xfrm>
            <a:off x="1144588" y="534988"/>
            <a:ext cx="4568825" cy="3429000"/>
          </a:xfrm>
        </p:spPr>
      </p:sp>
      <p:sp>
        <p:nvSpPr>
          <p:cNvPr id="23556" name="Rectangle 3">
            <a:extLst>
              <a:ext uri="{FF2B5EF4-FFF2-40B4-BE49-F238E27FC236}">
                <a16:creationId xmlns:a16="http://schemas.microsoft.com/office/drawing/2014/main" id="{0C4A9B28-04CA-9D8E-6E94-7847A7BC15CB}"/>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If you need to get through this chapter more quickly, you might consider omitting some of the following slides.  However, I recommend that you keep the slide showing unemployment rates by education level – it is excellent motivation for students to complete their degree program!</a:t>
            </a: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99C7697-C404-D850-E9FD-CACCE0A7015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B11E52-91DB-D34B-9A90-0B407CE1C878}"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5603" name="Rectangle 2">
            <a:extLst>
              <a:ext uri="{FF2B5EF4-FFF2-40B4-BE49-F238E27FC236}">
                <a16:creationId xmlns:a16="http://schemas.microsoft.com/office/drawing/2014/main" id="{5938E7EB-9A51-0F68-C53B-9A42A37E121A}"/>
              </a:ext>
            </a:extLst>
          </p:cNvPr>
          <p:cNvSpPr>
            <a:spLocks noGrp="1" noRot="1" noChangeAspect="1" noChangeArrowheads="1" noTextEdit="1"/>
          </p:cNvSpPr>
          <p:nvPr>
            <p:ph type="sldImg"/>
          </p:nvPr>
        </p:nvSpPr>
        <p:spPr>
          <a:xfrm>
            <a:off x="1144588" y="534988"/>
            <a:ext cx="4568825" cy="3429000"/>
          </a:xfrm>
        </p:spPr>
      </p:sp>
      <p:sp>
        <p:nvSpPr>
          <p:cNvPr id="25604" name="Rectangle 3">
            <a:extLst>
              <a:ext uri="{FF2B5EF4-FFF2-40B4-BE49-F238E27FC236}">
                <a16:creationId xmlns:a16="http://schemas.microsoft.com/office/drawing/2014/main" id="{47A75FDC-2C5E-30B3-DE7B-53C685D09629}"/>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Within either racial group, males have higher participation rates than females.</a:t>
            </a:r>
          </a:p>
          <a:p>
            <a:endParaRPr lang="en-US" altLang="zh-CN">
              <a:ea typeface="宋体" panose="02010600030101010101" pitchFamily="2" charset="-122"/>
            </a:endParaRPr>
          </a:p>
          <a:p>
            <a:r>
              <a:rPr lang="en-US" altLang="zh-CN">
                <a:ea typeface="宋体" panose="02010600030101010101" pitchFamily="2" charset="-122"/>
              </a:rPr>
              <a:t>Blacks have far higher unemployment rates than whites.  This is of great concern to many economists and policymakers.  </a:t>
            </a:r>
          </a:p>
          <a:p>
            <a:endParaRPr lang="en-US" altLang="zh-CN">
              <a:ea typeface="宋体" panose="02010600030101010101" pitchFamily="2" charset="-122"/>
            </a:endParaRPr>
          </a:p>
          <a:p>
            <a:r>
              <a:rPr lang="en-US" altLang="zh-CN">
                <a:ea typeface="宋体" panose="02010600030101010101" pitchFamily="2" charset="-122"/>
              </a:rPr>
              <a:t>Source:  Bureau of Labor Statistics, U.S. Department of Labor</a:t>
            </a:r>
          </a:p>
          <a:p>
            <a:r>
              <a:rPr lang="en-US" altLang="zh-CN">
                <a:ea typeface="宋体" panose="02010600030101010101" pitchFamily="2" charset="-122"/>
              </a:rPr>
              <a:t>www.bls.gov, look for latest “employment situation”</a:t>
            </a: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63CC6300-8B40-226D-2538-12AC5BA7411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B89BB8-7A9C-874C-BE6C-0889C7923009}"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7651" name="Rectangle 2">
            <a:extLst>
              <a:ext uri="{FF2B5EF4-FFF2-40B4-BE49-F238E27FC236}">
                <a16:creationId xmlns:a16="http://schemas.microsoft.com/office/drawing/2014/main" id="{88C9F5A3-A85C-F42B-2A56-250C698E0C6C}"/>
              </a:ext>
            </a:extLst>
          </p:cNvPr>
          <p:cNvSpPr>
            <a:spLocks noGrp="1" noRot="1" noChangeAspect="1" noChangeArrowheads="1" noTextEdit="1"/>
          </p:cNvSpPr>
          <p:nvPr>
            <p:ph type="sldImg"/>
          </p:nvPr>
        </p:nvSpPr>
        <p:spPr>
          <a:xfrm>
            <a:off x="1144588" y="534988"/>
            <a:ext cx="4568825" cy="3429000"/>
          </a:xfrm>
        </p:spPr>
      </p:sp>
      <p:sp>
        <p:nvSpPr>
          <p:cNvPr id="27652" name="Rectangle 3">
            <a:extLst>
              <a:ext uri="{FF2B5EF4-FFF2-40B4-BE49-F238E27FC236}">
                <a16:creationId xmlns:a16="http://schemas.microsoft.com/office/drawing/2014/main" id="{35CEB52C-BDFA-2C71-A9EB-2A3609A7D6A4}"/>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As one would expect, teens have lower participation rates and higher unemployment rates than adults.  What is striking, though, are the racial disparities:  the proportion of white teens in the labor force, getting skills and experience that will help them later as adult job market participants, is far higher than the black teen participation rate. And the unemployment rate for black teens is far higher than for white teens. </a:t>
            </a:r>
          </a:p>
          <a:p>
            <a:endParaRPr lang="en-US" altLang="zh-CN">
              <a:ea typeface="宋体" panose="02010600030101010101" pitchFamily="2" charset="-122"/>
            </a:endParaRPr>
          </a:p>
          <a:p>
            <a:r>
              <a:rPr lang="en-US" altLang="zh-CN">
                <a:ea typeface="宋体" panose="02010600030101010101" pitchFamily="2" charset="-122"/>
              </a:rPr>
              <a:t>Source:  Bureau of Labor Statistics, U.S. Department of Labor</a:t>
            </a:r>
          </a:p>
          <a:p>
            <a:r>
              <a:rPr lang="en-US" altLang="zh-CN">
                <a:ea typeface="宋体" panose="02010600030101010101" pitchFamily="2" charset="-122"/>
              </a:rPr>
              <a:t>www.bls.gov, look for latest “employment situation”</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18CD5E8-F10D-63A0-915B-28938A82EA9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5913D7-13A3-6746-B8A7-FBE1F9655ED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699" name="Rectangle 2">
            <a:extLst>
              <a:ext uri="{FF2B5EF4-FFF2-40B4-BE49-F238E27FC236}">
                <a16:creationId xmlns:a16="http://schemas.microsoft.com/office/drawing/2014/main" id="{684A23D9-850E-D687-20C2-96C095E06B5C}"/>
              </a:ext>
            </a:extLst>
          </p:cNvPr>
          <p:cNvSpPr>
            <a:spLocks noGrp="1" noRot="1" noChangeAspect="1" noChangeArrowheads="1" noTextEdit="1"/>
          </p:cNvSpPr>
          <p:nvPr>
            <p:ph type="sldImg"/>
          </p:nvPr>
        </p:nvSpPr>
        <p:spPr>
          <a:xfrm>
            <a:off x="1144588" y="534988"/>
            <a:ext cx="4568825" cy="3429000"/>
          </a:xfrm>
        </p:spPr>
      </p:sp>
      <p:sp>
        <p:nvSpPr>
          <p:cNvPr id="29700" name="Rectangle 3">
            <a:extLst>
              <a:ext uri="{FF2B5EF4-FFF2-40B4-BE49-F238E27FC236}">
                <a16:creationId xmlns:a16="http://schemas.microsoft.com/office/drawing/2014/main" id="{126FF08F-3D7F-900B-8618-7857C0B5E714}"/>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Compared to the national average, unemployment is higher for Hispanics and lower for Asians.  The participation rates of these groups are similar to the national average.  </a:t>
            </a:r>
          </a:p>
          <a:p>
            <a:endParaRPr lang="en-US" altLang="zh-CN">
              <a:ea typeface="宋体" panose="02010600030101010101" pitchFamily="2" charset="-122"/>
            </a:endParaRPr>
          </a:p>
          <a:p>
            <a:r>
              <a:rPr lang="en-US" altLang="zh-CN">
                <a:ea typeface="宋体" panose="02010600030101010101" pitchFamily="2" charset="-122"/>
              </a:rPr>
              <a:t>Note:  Asian is the only demographic group for which seasonally adjusted data were not available.  The figures for all other groups are seasonally adjusted.  (The seasonal adjustments seem to make relatively little difference in most months.)</a:t>
            </a:r>
          </a:p>
          <a:p>
            <a:endParaRPr lang="en-US" altLang="zh-CN">
              <a:ea typeface="宋体" panose="02010600030101010101" pitchFamily="2" charset="-122"/>
            </a:endParaRPr>
          </a:p>
          <a:p>
            <a:r>
              <a:rPr lang="en-US" altLang="zh-CN">
                <a:ea typeface="宋体" panose="02010600030101010101" pitchFamily="2" charset="-122"/>
              </a:rPr>
              <a:t>Source:  Bureau of Labor Statistics, U.S. Department of Labor</a:t>
            </a:r>
          </a:p>
          <a:p>
            <a:r>
              <a:rPr lang="en-US" altLang="zh-CN">
                <a:ea typeface="宋体" panose="02010600030101010101" pitchFamily="2" charset="-122"/>
              </a:rPr>
              <a:t>www.bls.gov, look for latest “employment situation”</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D58163F8-10C3-C6A1-FB41-4B0EFAB87D9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B301247-9575-484D-8037-545B3D6BD37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1747" name="Rectangle 2">
            <a:extLst>
              <a:ext uri="{FF2B5EF4-FFF2-40B4-BE49-F238E27FC236}">
                <a16:creationId xmlns:a16="http://schemas.microsoft.com/office/drawing/2014/main" id="{1BD7BEB1-A5FF-6BF8-4769-1581EA85F3B8}"/>
              </a:ext>
            </a:extLst>
          </p:cNvPr>
          <p:cNvSpPr>
            <a:spLocks noGrp="1" noRot="1" noChangeAspect="1" noChangeArrowheads="1" noTextEdit="1"/>
          </p:cNvSpPr>
          <p:nvPr>
            <p:ph type="sldImg"/>
          </p:nvPr>
        </p:nvSpPr>
        <p:spPr>
          <a:xfrm>
            <a:off x="1144588" y="534988"/>
            <a:ext cx="4568825" cy="3429000"/>
          </a:xfrm>
        </p:spPr>
      </p:sp>
      <p:sp>
        <p:nvSpPr>
          <p:cNvPr id="31748" name="Rectangle 3">
            <a:extLst>
              <a:ext uri="{FF2B5EF4-FFF2-40B4-BE49-F238E27FC236}">
                <a16:creationId xmlns:a16="http://schemas.microsoft.com/office/drawing/2014/main" id="{A249221F-8020-AD92-79CE-D9DC53A733C3}"/>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These statistics, not in the textbook, are particularly interesting to college students.   </a:t>
            </a:r>
          </a:p>
          <a:p>
            <a:endParaRPr lang="en-US" altLang="zh-CN">
              <a:ea typeface="宋体" panose="02010600030101010101" pitchFamily="2" charset="-122"/>
            </a:endParaRPr>
          </a:p>
          <a:p>
            <a:r>
              <a:rPr lang="en-US" altLang="zh-CN">
                <a:ea typeface="宋体" panose="02010600030101010101" pitchFamily="2" charset="-122"/>
              </a:rPr>
              <a:t>It shouldn’t be surprising that educational attainment is positively related to labor force participation:  for most people, the prospect of better jobs is a key reason for investing in education.  </a:t>
            </a:r>
          </a:p>
          <a:p>
            <a:endParaRPr lang="en-US" altLang="zh-CN">
              <a:ea typeface="宋体" panose="02010600030101010101" pitchFamily="2" charset="-122"/>
            </a:endParaRPr>
          </a:p>
          <a:p>
            <a:r>
              <a:rPr lang="en-US" altLang="zh-CN">
                <a:ea typeface="宋体" panose="02010600030101010101" pitchFamily="2" charset="-122"/>
              </a:rPr>
              <a:t>Your students may be especially happy to learn that, by getting a bachelor’s degree, they reduce their chances of becoming unemployed by more than half, compared to people with a high school diploma, and by about half compared to people who don’t finish college.  </a:t>
            </a:r>
          </a:p>
          <a:p>
            <a:endParaRPr lang="en-US" altLang="zh-CN">
              <a:ea typeface="宋体" panose="02010600030101010101" pitchFamily="2" charset="-122"/>
            </a:endParaRPr>
          </a:p>
          <a:p>
            <a:r>
              <a:rPr lang="en-US" altLang="zh-CN">
                <a:ea typeface="宋体" panose="02010600030101010101" pitchFamily="2" charset="-122"/>
              </a:rPr>
              <a:t>Source:  Bureau of Labor Statistics, U.S. Department of Labor</a:t>
            </a:r>
          </a:p>
          <a:p>
            <a:r>
              <a:rPr lang="en-US" altLang="zh-CN">
                <a:ea typeface="宋体" panose="02010600030101010101" pitchFamily="2" charset="-122"/>
              </a:rPr>
              <a:t>www.bls.gov, look for latest “employment situation”</a:t>
            </a: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701C804-E5DF-3C27-FB90-17DCF575136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3F93E5-FFD9-EC45-8B2C-8BB39F4E88E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3795" name="Rectangle 2">
            <a:extLst>
              <a:ext uri="{FF2B5EF4-FFF2-40B4-BE49-F238E27FC236}">
                <a16:creationId xmlns:a16="http://schemas.microsoft.com/office/drawing/2014/main" id="{1B00367E-137C-3486-9104-2F44E7F3B3B6}"/>
              </a:ext>
            </a:extLst>
          </p:cNvPr>
          <p:cNvSpPr>
            <a:spLocks noGrp="1" noRot="1" noChangeAspect="1" noChangeArrowheads="1" noTextEdit="1"/>
          </p:cNvSpPr>
          <p:nvPr>
            <p:ph type="sldImg"/>
          </p:nvPr>
        </p:nvSpPr>
        <p:spPr>
          <a:xfrm>
            <a:off x="1144588" y="534988"/>
            <a:ext cx="4568825" cy="3429000"/>
          </a:xfrm>
        </p:spPr>
      </p:sp>
      <p:sp>
        <p:nvSpPr>
          <p:cNvPr id="33796" name="Rectangle 3">
            <a:extLst>
              <a:ext uri="{FF2B5EF4-FFF2-40B4-BE49-F238E27FC236}">
                <a16:creationId xmlns:a16="http://schemas.microsoft.com/office/drawing/2014/main" id="{E287D60A-8683-1680-0766-386EA34B98B2}"/>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This chapter of the textbook contains an “In the News” with a recent </a:t>
            </a:r>
            <a:r>
              <a:rPr lang="en-US" altLang="zh-CN" i="1">
                <a:ea typeface="宋体" panose="02010600030101010101" pitchFamily="2" charset="-122"/>
              </a:rPr>
              <a:t>New York Times</a:t>
            </a:r>
            <a:r>
              <a:rPr lang="en-US" altLang="zh-CN">
                <a:ea typeface="宋体" panose="02010600030101010101" pitchFamily="2" charset="-122"/>
              </a:rPr>
              <a:t> article by economist Alan Krueger on the rise of the male non-worker.  </a:t>
            </a:r>
          </a:p>
          <a:p>
            <a:endParaRPr lang="en-US" altLang="zh-CN">
              <a:ea typeface="宋体" panose="02010600030101010101" pitchFamily="2" charset="-122"/>
            </a:endParaRPr>
          </a:p>
          <a:p>
            <a:r>
              <a:rPr lang="en-US" altLang="zh-CN">
                <a:ea typeface="宋体" panose="02010600030101010101" pitchFamily="2" charset="-122"/>
              </a:rPr>
              <a:t>The male LF participation rate is males in the labor force as a percentage of all males.  Similarly for females.  </a:t>
            </a:r>
          </a:p>
          <a:p>
            <a:endParaRPr lang="en-US" altLang="zh-CN">
              <a:ea typeface="宋体" panose="02010600030101010101" pitchFamily="2" charset="-122"/>
            </a:endParaRPr>
          </a:p>
          <a:p>
            <a:r>
              <a:rPr lang="en-US" altLang="zh-CN">
                <a:ea typeface="宋体" panose="02010600030101010101" pitchFamily="2" charset="-122"/>
              </a:rPr>
              <a:t>I started the vertical axis at 20 rather than 0 to make the trends more apparent.  </a:t>
            </a:r>
          </a:p>
          <a:p>
            <a:endParaRPr lang="en-US" altLang="zh-CN">
              <a:ea typeface="宋体" panose="02010600030101010101" pitchFamily="2" charset="-122"/>
            </a:endParaRPr>
          </a:p>
          <a:p>
            <a:r>
              <a:rPr lang="en-US" altLang="zh-CN">
                <a:ea typeface="宋体" panose="02010600030101010101" pitchFamily="2" charset="-122"/>
              </a:rPr>
              <a:t>Since 1950, female participation has nearly doubled – from 34% to 60%.  Male participation has declined from 86% to 73%.  </a:t>
            </a:r>
          </a:p>
          <a:p>
            <a:endParaRPr lang="en-US" altLang="zh-CN">
              <a:ea typeface="宋体" panose="02010600030101010101" pitchFamily="2" charset="-122"/>
            </a:endParaRPr>
          </a:p>
          <a:p>
            <a:r>
              <a:rPr lang="en-US" altLang="zh-CN">
                <a:ea typeface="宋体" panose="02010600030101010101" pitchFamily="2" charset="-122"/>
              </a:rPr>
              <a:t>If you can spare a few minutes for class discussion, ask your students two questions:  </a:t>
            </a:r>
          </a:p>
          <a:p>
            <a:endParaRPr lang="en-US" altLang="zh-CN">
              <a:ea typeface="宋体" panose="02010600030101010101" pitchFamily="2" charset="-122"/>
            </a:endParaRPr>
          </a:p>
          <a:p>
            <a:r>
              <a:rPr lang="en-US" altLang="zh-CN">
                <a:ea typeface="宋体" panose="02010600030101010101" pitchFamily="2" charset="-122"/>
              </a:rPr>
              <a:t>1)  What factors do you think have caused these trends?  The textbook offers some explanations; see the Case Study entitled “Labor Force Participation of Men and Women in the U.S. Economy.” </a:t>
            </a:r>
          </a:p>
          <a:p>
            <a:endParaRPr lang="en-US" altLang="zh-CN">
              <a:ea typeface="宋体" panose="02010600030101010101" pitchFamily="2" charset="-122"/>
            </a:endParaRPr>
          </a:p>
          <a:p>
            <a:r>
              <a:rPr lang="en-US" altLang="zh-CN">
                <a:ea typeface="宋体" panose="02010600030101010101" pitchFamily="2" charset="-122"/>
              </a:rPr>
              <a:t>2)  What are some of the effects or consequences of these trends?  </a:t>
            </a:r>
          </a:p>
          <a:p>
            <a:endParaRPr lang="en-US" altLang="zh-CN">
              <a:ea typeface="宋体" panose="02010600030101010101" pitchFamily="2" charset="-122"/>
            </a:endParaRPr>
          </a:p>
          <a:p>
            <a:r>
              <a:rPr lang="en-US" altLang="zh-CN">
                <a:ea typeface="宋体" panose="02010600030101010101" pitchFamily="2" charset="-122"/>
              </a:rPr>
              <a:t>Source:  Same as textbook.</a:t>
            </a: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2C4385C-B9D0-0C8E-B1CB-CDFFE292C330}"/>
              </a:ext>
            </a:extLst>
          </p:cNvPr>
          <p:cNvSpPr>
            <a:spLocks noGrp="1" noRot="1" noChangeAspect="1" noChangeArrowheads="1" noTextEdit="1"/>
          </p:cNvSpPr>
          <p:nvPr>
            <p:ph type="sldImg"/>
          </p:nvPr>
        </p:nvSpPr>
        <p:spPr/>
      </p:sp>
      <p:sp>
        <p:nvSpPr>
          <p:cNvPr id="35843" name="Rectangle 3">
            <a:extLst>
              <a:ext uri="{FF2B5EF4-FFF2-40B4-BE49-F238E27FC236}">
                <a16:creationId xmlns:a16="http://schemas.microsoft.com/office/drawing/2014/main" id="{31220688-9D85-467B-3E1D-6506BF36303D}"/>
              </a:ext>
            </a:extLst>
          </p:cNvPr>
          <p:cNvSpPr>
            <a:spLocks noGrp="1" noRot="1" noChangeArrowheads="1"/>
          </p:cNvSpPr>
          <p:nvPr>
            <p:ph type="body" idx="1"/>
          </p:nvPr>
        </p:nvSpPr>
        <p:spPr/>
        <p:txBody>
          <a:bodyPr/>
          <a:lstStyle/>
          <a:p>
            <a:r>
              <a:rPr lang="en-US" altLang="zh-CN">
                <a:ea typeface="宋体" panose="02010600030101010101" pitchFamily="2" charset="-122"/>
              </a:rPr>
              <a:t>The objective of this exercise is to lead students to discover why the unemployment rate is not a perfect indicator of joblessness.</a:t>
            </a:r>
          </a:p>
          <a:p>
            <a:endParaRPr lang="en-US" altLang="zh-CN">
              <a:ea typeface="宋体" panose="02010600030101010101" pitchFamily="2" charset="-122"/>
            </a:endParaRPr>
          </a:p>
          <a:p>
            <a:r>
              <a:rPr lang="en-US" altLang="zh-CN">
                <a:ea typeface="宋体" panose="02010600030101010101" pitchFamily="2" charset="-122"/>
              </a:rPr>
              <a:t>It might be helpful to tell students to determine the impact on the u-rate – no matter how tiny.  I.e., if one person becomes unemployed, the u-rate will rise – ignore the fact that, if this happened in the real world, the increase in the aggregate u-rate would be too small to matter.  </a:t>
            </a:r>
          </a:p>
        </p:txBody>
      </p:sp>
    </p:spTree>
    <p:extLst>
      <p:ext uri="{BB962C8B-B14F-4D97-AF65-F5344CB8AC3E}">
        <p14:creationId xmlns:p14="http://schemas.microsoft.com/office/powerpoint/2010/main" val="2364532159"/>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EF8CCD2-F487-84F2-C179-7F47B802932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E034E9-A865-BC4B-95EF-42D935F7730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963" name="Rectangle 2">
            <a:extLst>
              <a:ext uri="{FF2B5EF4-FFF2-40B4-BE49-F238E27FC236}">
                <a16:creationId xmlns:a16="http://schemas.microsoft.com/office/drawing/2014/main" id="{810054AE-5B3D-8744-C97C-CEC4D161A7A6}"/>
              </a:ext>
            </a:extLst>
          </p:cNvPr>
          <p:cNvSpPr>
            <a:spLocks noGrp="1" noRot="1" noChangeAspect="1" noChangeArrowheads="1" noTextEdit="1"/>
          </p:cNvSpPr>
          <p:nvPr>
            <p:ph type="sldImg"/>
          </p:nvPr>
        </p:nvSpPr>
        <p:spPr>
          <a:xfrm>
            <a:off x="1144588" y="534988"/>
            <a:ext cx="4568825" cy="3429000"/>
          </a:xfrm>
        </p:spPr>
      </p:sp>
      <p:sp>
        <p:nvSpPr>
          <p:cNvPr id="40964" name="Rectangle 3">
            <a:extLst>
              <a:ext uri="{FF2B5EF4-FFF2-40B4-BE49-F238E27FC236}">
                <a16:creationId xmlns:a16="http://schemas.microsoft.com/office/drawing/2014/main" id="{C5889E5F-5C12-49A5-AA3E-8387D5F1AB9F}"/>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If you choose to skip the preceding exercise, you’ll need to give students a definition of the term “discouraged worker.”  </a:t>
            </a:r>
          </a:p>
          <a:p>
            <a:endParaRPr lang="en-US" altLang="zh-CN">
              <a:ea typeface="宋体" panose="02010600030101010101" pitchFamily="2" charset="-122"/>
            </a:endParaRPr>
          </a:p>
          <a:p>
            <a:r>
              <a:rPr lang="en-US" altLang="zh-CN">
                <a:ea typeface="宋体" panose="02010600030101010101" pitchFamily="2" charset="-122"/>
              </a:rPr>
              <a:t>This slide recaps the lessons from the preceding exercise and mentions an additional point from the text:  people may misreport their labor market status to the BLS, perhaps because they think it will help them get public assistance.  This also makes the unemployment rate a bit less accurate.  </a:t>
            </a:r>
          </a:p>
          <a:p>
            <a:endParaRPr lang="en-US" altLang="zh-CN">
              <a:ea typeface="宋体" panose="02010600030101010101" pitchFamily="2" charset="-122"/>
            </a:endParaRPr>
          </a:p>
          <a:p>
            <a:r>
              <a:rPr lang="en-US" altLang="zh-CN">
                <a:ea typeface="宋体" panose="02010600030101010101" pitchFamily="2" charset="-122"/>
              </a:rPr>
              <a:t>You might remind students that, in earlier chapters, we learned that other macroeconomic indicators were imperfect:  GDP is an imperfect indicator of society’s well-being, and the CPI tends to overstate increases in the cost of living.  Yet, the unemployment rate remains highly useful.  For example, when the unemployment rate rises, it is almost always true that things are getting worse in the labor market.  </a:t>
            </a:r>
          </a:p>
          <a:p>
            <a:endParaRPr lang="en-US" altLang="zh-CN">
              <a:ea typeface="宋体" panose="02010600030101010101" pitchFamily="2" charset="-122"/>
            </a:endParaRPr>
          </a:p>
          <a:p>
            <a:r>
              <a:rPr lang="en-US" altLang="zh-CN">
                <a:ea typeface="宋体" panose="02010600030101010101" pitchFamily="2" charset="-122"/>
              </a:rPr>
              <a:t>The BLS computes other measures of joblessness, such as (unemployed plus discouraged workers) as a percentage of (the labor force plus discouraged workers).  For more details, refer your students to Table 2 in this chapter of the textbook.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A9170F28-3679-D9B0-4435-02A64B7C9D0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D508B52-514E-4449-B807-625A9BD0656B}"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011" name="Rectangle 2">
            <a:extLst>
              <a:ext uri="{FF2B5EF4-FFF2-40B4-BE49-F238E27FC236}">
                <a16:creationId xmlns:a16="http://schemas.microsoft.com/office/drawing/2014/main" id="{C8B40BEC-36D3-A70F-D255-8125028DB9F5}"/>
              </a:ext>
            </a:extLst>
          </p:cNvPr>
          <p:cNvSpPr>
            <a:spLocks noGrp="1" noRot="1" noChangeAspect="1" noChangeArrowheads="1" noTextEdit="1"/>
          </p:cNvSpPr>
          <p:nvPr>
            <p:ph type="sldImg"/>
          </p:nvPr>
        </p:nvSpPr>
        <p:spPr>
          <a:xfrm>
            <a:off x="1144588" y="534988"/>
            <a:ext cx="4568825" cy="3429000"/>
          </a:xfrm>
        </p:spPr>
      </p:sp>
      <p:sp>
        <p:nvSpPr>
          <p:cNvPr id="43012" name="Rectangle 3">
            <a:extLst>
              <a:ext uri="{FF2B5EF4-FFF2-40B4-BE49-F238E27FC236}">
                <a16:creationId xmlns:a16="http://schemas.microsoft.com/office/drawing/2014/main" id="{FE739E83-CBA6-E0A8-FFE7-5C061F9A8EC2}"/>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The data under the first bullet point come from the BLS (www.bls.gov), the employment situation survey.  </a:t>
            </a:r>
          </a:p>
          <a:p>
            <a:endParaRPr lang="en-US" altLang="zh-CN">
              <a:ea typeface="宋体" panose="02010600030101010101" pitchFamily="2" charset="-122"/>
            </a:endParaRPr>
          </a:p>
          <a:p>
            <a:r>
              <a:rPr lang="en-US" altLang="zh-CN">
                <a:ea typeface="宋体" panose="02010600030101010101" pitchFamily="2" charset="-122"/>
              </a:rPr>
              <a:t>Some students think the two facts on this slide contradict each other. The book gives a simple example that helps students understand how these facts can both be true.  </a:t>
            </a:r>
          </a:p>
          <a:p>
            <a:endParaRPr lang="en-US" altLang="zh-CN">
              <a:ea typeface="宋体" panose="02010600030101010101" pitchFamily="2" charset="-122"/>
            </a:endParaRPr>
          </a:p>
          <a:p>
            <a:r>
              <a:rPr lang="en-US" altLang="zh-CN">
                <a:ea typeface="宋体" panose="02010600030101010101" pitchFamily="2" charset="-122"/>
              </a:rPr>
              <a:t>These facts imply that economists and policymakers must be careful when interpreting data on unemployment and designing policies to help the unemployed.  </a:t>
            </a: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9D82E5FA-DA86-9D09-405C-F5FC0349140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AEACAD6-EE07-D14F-82A5-3FF7280D855E}"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5059" name="Rectangle 2">
            <a:extLst>
              <a:ext uri="{FF2B5EF4-FFF2-40B4-BE49-F238E27FC236}">
                <a16:creationId xmlns:a16="http://schemas.microsoft.com/office/drawing/2014/main" id="{96731CDC-265A-4A24-3C12-323AFA333818}"/>
              </a:ext>
            </a:extLst>
          </p:cNvPr>
          <p:cNvSpPr>
            <a:spLocks noGrp="1" noRot="1" noChangeAspect="1" noChangeArrowheads="1" noTextEdit="1"/>
          </p:cNvSpPr>
          <p:nvPr>
            <p:ph type="sldImg"/>
          </p:nvPr>
        </p:nvSpPr>
        <p:spPr>
          <a:xfrm>
            <a:off x="1144588" y="534988"/>
            <a:ext cx="4568825" cy="3429000"/>
          </a:xfrm>
        </p:spPr>
      </p:sp>
      <p:sp>
        <p:nvSpPr>
          <p:cNvPr id="45060" name="Rectangle 3">
            <a:extLst>
              <a:ext uri="{FF2B5EF4-FFF2-40B4-BE49-F238E27FC236}">
                <a16:creationId xmlns:a16="http://schemas.microsoft.com/office/drawing/2014/main" id="{65CE29FB-9219-94BF-6476-8EFB9586D127}"/>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Unemployment is a serious and complicated problem with a variety of causes.  To most effectively address such a problem, we need to break it down and look at each cause separately.  </a:t>
            </a:r>
          </a:p>
          <a:p>
            <a:endParaRPr lang="en-US" altLang="zh-CN">
              <a:ea typeface="宋体" panose="02010600030101010101" pitchFamily="2" charset="-122"/>
            </a:endParaRPr>
          </a:p>
          <a:p>
            <a:r>
              <a:rPr lang="en-US" altLang="zh-CN">
                <a:ea typeface="宋体" panose="02010600030101010101" pitchFamily="2" charset="-122"/>
              </a:rPr>
              <a:t>We begin by noting that the causes of short-run fluctuations in unemployment are different than the causes of the long-run average unemployment rate, called the “natural rate of unemployment.”</a:t>
            </a:r>
          </a:p>
          <a:p>
            <a:endParaRPr lang="en-US" altLang="zh-CN">
              <a:ea typeface="宋体" panose="02010600030101010101" pitchFamily="2" charset="-122"/>
            </a:endParaRPr>
          </a:p>
          <a:p>
            <a:r>
              <a:rPr lang="en-US" altLang="zh-CN">
                <a:ea typeface="宋体" panose="02010600030101010101" pitchFamily="2" charset="-122"/>
              </a:rPr>
              <a:t>The next slide shows U.S. data on both since 1960.  </a:t>
            </a: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2549370-A4AD-8276-41AC-5C53DED24A5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C1601E-FCEC-6145-9C44-4AE427EE2C0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7107" name="Rectangle 2">
            <a:extLst>
              <a:ext uri="{FF2B5EF4-FFF2-40B4-BE49-F238E27FC236}">
                <a16:creationId xmlns:a16="http://schemas.microsoft.com/office/drawing/2014/main" id="{25536BAD-3639-A7F0-19DE-6CE4CBEA10FA}"/>
              </a:ext>
            </a:extLst>
          </p:cNvPr>
          <p:cNvSpPr>
            <a:spLocks noGrp="1" noRot="1" noChangeAspect="1" noChangeArrowheads="1" noTextEdit="1"/>
          </p:cNvSpPr>
          <p:nvPr>
            <p:ph type="sldImg"/>
          </p:nvPr>
        </p:nvSpPr>
        <p:spPr>
          <a:xfrm>
            <a:off x="1143000" y="534988"/>
            <a:ext cx="4572000" cy="3429000"/>
          </a:xfrm>
        </p:spPr>
      </p:sp>
      <p:sp>
        <p:nvSpPr>
          <p:cNvPr id="47108" name="Rectangle 3">
            <a:extLst>
              <a:ext uri="{FF2B5EF4-FFF2-40B4-BE49-F238E27FC236}">
                <a16:creationId xmlns:a16="http://schemas.microsoft.com/office/drawing/2014/main" id="{E24D9F98-1614-94C5-5AE3-8C9B8403057B}"/>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Cyclical unemployment is the gap between the red and blue lines.  When the economy is in recession – the bad part of the business cycle - the actual unemployment rate is higher than the natural rate, and cyclical unemployment is positive.  When the economy is in the good part of its business cycle, unemployment is below normal and cyclical unemployment is negative.  </a:t>
            </a:r>
          </a:p>
          <a:p>
            <a:endParaRPr lang="en-US" altLang="zh-CN">
              <a:ea typeface="宋体" panose="02010600030101010101" pitchFamily="2" charset="-122"/>
            </a:endParaRPr>
          </a:p>
          <a:p>
            <a:r>
              <a:rPr lang="en-US" altLang="zh-CN">
                <a:ea typeface="宋体" panose="02010600030101010101" pitchFamily="2" charset="-122"/>
              </a:rPr>
              <a:t>Source:  same as textbook.  </a:t>
            </a:r>
          </a:p>
          <a:p>
            <a:endParaRPr lang="en-US" altLang="zh-CN">
              <a:ea typeface="宋体" panose="02010600030101010101" pitchFamily="2" charset="-122"/>
            </a:endParaRPr>
          </a:p>
          <a:p>
            <a:r>
              <a:rPr lang="en-US" altLang="zh-CN">
                <a:ea typeface="宋体" panose="02010600030101010101" pitchFamily="2" charset="-122"/>
              </a:rPr>
              <a:t>The unemployment rate comes from the Department of Labor and is available at www.bls.gov.  </a:t>
            </a:r>
          </a:p>
          <a:p>
            <a:endParaRPr lang="en-US" altLang="zh-CN">
              <a:ea typeface="宋体" panose="02010600030101010101" pitchFamily="2" charset="-122"/>
            </a:endParaRPr>
          </a:p>
          <a:p>
            <a:r>
              <a:rPr lang="en-US" altLang="zh-CN">
                <a:ea typeface="宋体" panose="02010600030101010101" pitchFamily="2" charset="-122"/>
              </a:rPr>
              <a:t>The natural rate of unemployment series is prepared by the Congressional Budget Office.  </a:t>
            </a:r>
          </a:p>
          <a:p>
            <a:r>
              <a:rPr lang="en-US" altLang="zh-CN">
                <a:ea typeface="宋体" panose="02010600030101010101" pitchFamily="2" charset="-122"/>
              </a:rPr>
              <a:t>http://www.cbo.gov/Spreadsheets.shtml</a:t>
            </a:r>
          </a:p>
          <a:p>
            <a:r>
              <a:rPr lang="en-US" altLang="zh-CN">
                <a:ea typeface="宋体" panose="02010600030101010101" pitchFamily="2" charset="-122"/>
              </a:rPr>
              <a:t>Thanks to Ken Baker for alerting me to the original CBO source. </a:t>
            </a:r>
          </a:p>
          <a:p>
            <a:r>
              <a:rPr lang="en-US" altLang="zh-CN">
                <a:ea typeface="宋体" panose="02010600030101010101" pitchFamily="2" charset="-122"/>
              </a:rPr>
              <a:t> </a:t>
            </a:r>
          </a:p>
          <a:p>
            <a:r>
              <a:rPr lang="en-US" altLang="zh-CN">
                <a:ea typeface="宋体" panose="02010600030101010101" pitchFamily="2" charset="-122"/>
              </a:rPr>
              <a:t>The natural rate series is also available (with tons of other data) at www.economagic.com, though paid subscriptions are required to download in Excel format.  (Non-payers can view the data at their site for free.)</a:t>
            </a: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335F5AB-79F3-4A82-464F-4C9E3FD59C6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379A36B-21F8-0B48-956B-8AAECF973BAC}"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9155" name="Rectangle 2">
            <a:extLst>
              <a:ext uri="{FF2B5EF4-FFF2-40B4-BE49-F238E27FC236}">
                <a16:creationId xmlns:a16="http://schemas.microsoft.com/office/drawing/2014/main" id="{09F92E58-F1E1-8A9C-D477-9AF7741350E4}"/>
              </a:ext>
            </a:extLst>
          </p:cNvPr>
          <p:cNvSpPr>
            <a:spLocks noGrp="1" noRot="1" noChangeAspect="1" noChangeArrowheads="1" noTextEdit="1"/>
          </p:cNvSpPr>
          <p:nvPr>
            <p:ph type="sldImg"/>
          </p:nvPr>
        </p:nvSpPr>
        <p:spPr>
          <a:xfrm>
            <a:off x="1144588" y="534988"/>
            <a:ext cx="4568825" cy="3429000"/>
          </a:xfrm>
        </p:spPr>
      </p:sp>
      <p:sp>
        <p:nvSpPr>
          <p:cNvPr id="49156" name="Rectangle 3">
            <a:extLst>
              <a:ext uri="{FF2B5EF4-FFF2-40B4-BE49-F238E27FC236}">
                <a16:creationId xmlns:a16="http://schemas.microsoft.com/office/drawing/2014/main" id="{DBE5508F-54D5-F7AC-FF70-174A63DA00F4}"/>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In later chapters, we will study short-run economic fluctuations and learn more about the causes and possible cures of cyclical unemployment.  For the rest of this chapter, our job is understanding the various causes of the natural rate of unemployment.  </a:t>
            </a:r>
          </a:p>
          <a:p>
            <a:endParaRPr lang="en-US" altLang="zh-CN">
              <a:ea typeface="宋体" panose="02010600030101010101" pitchFamily="2" charset="-122"/>
            </a:endParaRPr>
          </a:p>
          <a:p>
            <a:r>
              <a:rPr lang="en-US" altLang="zh-CN">
                <a:ea typeface="宋体" panose="02010600030101010101" pitchFamily="2" charset="-122"/>
              </a:rPr>
              <a:t>* * WARNING:  If you are teaching with Mankiw for the first time, please note that his definition of structural unemployment may be different than the definition you’ve seen in other textbooks.  </a:t>
            </a:r>
          </a:p>
          <a:p>
            <a:endParaRPr lang="en-US" altLang="zh-CN">
              <a:ea typeface="宋体" panose="02010600030101010101" pitchFamily="2" charset="-122"/>
            </a:endParaRPr>
          </a:p>
          <a:p>
            <a:r>
              <a:rPr lang="en-US" altLang="zh-CN">
                <a:ea typeface="宋体" panose="02010600030101010101" pitchFamily="2" charset="-122"/>
              </a:rPr>
              <a:t>Other books commonly define structural unemployment as arising from a mismatch between the skills or locations of workers and the skill requirements or locations of jobs.  Such textbooks assert that such unemployment results from sectoral shifts. </a:t>
            </a:r>
          </a:p>
          <a:p>
            <a:endParaRPr lang="en-US" altLang="zh-CN">
              <a:ea typeface="宋体" panose="02010600030101010101" pitchFamily="2" charset="-122"/>
            </a:endParaRPr>
          </a:p>
          <a:p>
            <a:r>
              <a:rPr lang="en-US" altLang="zh-CN">
                <a:ea typeface="宋体" panose="02010600030101010101" pitchFamily="2" charset="-122"/>
              </a:rPr>
              <a:t>Mankiw’s position is as follows:  If all wages were flexible, then they would adjust after structural changes so that all workers with any given skill set in any given location would be employed.  The cause of “structural unemployment” therefore cannot be changes in the structure of demand and production; the cause must be wages that fail to adjust following these changes.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83C54BC1-E0A6-B483-DB44-C98C6B44F27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38E92F5-E396-AD4F-B18E-196DC33A414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99" name="Rectangle 2">
            <a:extLst>
              <a:ext uri="{FF2B5EF4-FFF2-40B4-BE49-F238E27FC236}">
                <a16:creationId xmlns:a16="http://schemas.microsoft.com/office/drawing/2014/main" id="{721E2A61-F8E0-4AD4-6227-D8BFF2155D35}"/>
              </a:ext>
            </a:extLst>
          </p:cNvPr>
          <p:cNvSpPr>
            <a:spLocks noGrp="1" noRot="1" noChangeAspect="1" noChangeArrowheads="1" noTextEdit="1"/>
          </p:cNvSpPr>
          <p:nvPr>
            <p:ph type="sldImg"/>
          </p:nvPr>
        </p:nvSpPr>
        <p:spPr>
          <a:xfrm>
            <a:off x="1144588" y="534988"/>
            <a:ext cx="4568825" cy="3429000"/>
          </a:xfrm>
        </p:spPr>
      </p:sp>
      <p:sp>
        <p:nvSpPr>
          <p:cNvPr id="55300" name="Rectangle 3">
            <a:extLst>
              <a:ext uri="{FF2B5EF4-FFF2-40B4-BE49-F238E27FC236}">
                <a16:creationId xmlns:a16="http://schemas.microsoft.com/office/drawing/2014/main" id="{7AC3A123-F3C7-3115-B5E5-3A77E1AFB80A}"/>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On this graph, W</a:t>
            </a:r>
            <a:r>
              <a:rPr lang="en-US" altLang="zh-CN" baseline="-25000">
                <a:ea typeface="宋体" panose="02010600030101010101" pitchFamily="2" charset="-122"/>
              </a:rPr>
              <a:t>E</a:t>
            </a:r>
            <a:r>
              <a:rPr lang="en-US" altLang="zh-CN">
                <a:ea typeface="宋体" panose="02010600030101010101" pitchFamily="2" charset="-122"/>
              </a:rPr>
              <a:t> is the equilibrium wage. </a:t>
            </a: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8AFC58B-D135-BE28-3FAB-B51B1B5713B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744C43E-9364-BD42-8557-1010D01B352D}"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7347" name="Rectangle 2">
            <a:extLst>
              <a:ext uri="{FF2B5EF4-FFF2-40B4-BE49-F238E27FC236}">
                <a16:creationId xmlns:a16="http://schemas.microsoft.com/office/drawing/2014/main" id="{75DEAAC1-69E0-438C-E090-EAF424AD418B}"/>
              </a:ext>
            </a:extLst>
          </p:cNvPr>
          <p:cNvSpPr>
            <a:spLocks noGrp="1" noRot="1" noChangeAspect="1" noChangeArrowheads="1" noTextEdit="1"/>
          </p:cNvSpPr>
          <p:nvPr>
            <p:ph type="sldImg"/>
          </p:nvPr>
        </p:nvSpPr>
        <p:spPr>
          <a:xfrm>
            <a:off x="1144588" y="534988"/>
            <a:ext cx="4568825" cy="3429000"/>
          </a:xfrm>
        </p:spPr>
      </p:sp>
      <p:sp>
        <p:nvSpPr>
          <p:cNvPr id="57348" name="Rectangle 3">
            <a:extLst>
              <a:ext uri="{FF2B5EF4-FFF2-40B4-BE49-F238E27FC236}">
                <a16:creationId xmlns:a16="http://schemas.microsoft.com/office/drawing/2014/main" id="{5912F125-0F85-6D7D-1966-A7E172913CD6}"/>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As in previous chapters, “eq’m” is short for “equilibrium.”  </a:t>
            </a:r>
          </a:p>
          <a:p>
            <a:endParaRPr lang="en-US" altLang="zh-CN">
              <a:ea typeface="宋体" panose="02010600030101010101" pitchFamily="2" charset="-122"/>
            </a:endParaRPr>
          </a:p>
          <a:p>
            <a:r>
              <a:rPr lang="en-US" altLang="zh-CN">
                <a:ea typeface="宋体" panose="02010600030101010101" pitchFamily="2" charset="-122"/>
              </a:rPr>
              <a:t>The textbook has an FYI box entitled “Who earns the minimum wage?”  It summarizes a recent study by the Department of Labor detailing minimum wage earners.  </a:t>
            </a: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AD24B532-8AC4-9F9E-88A5-C749820B17B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F206404-F0CD-824E-BB96-92B2D9C11259}"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395" name="Rectangle 2">
            <a:extLst>
              <a:ext uri="{FF2B5EF4-FFF2-40B4-BE49-F238E27FC236}">
                <a16:creationId xmlns:a16="http://schemas.microsoft.com/office/drawing/2014/main" id="{F1C57130-E1FF-BFAF-E3BF-1FEB6629F69E}"/>
              </a:ext>
            </a:extLst>
          </p:cNvPr>
          <p:cNvSpPr>
            <a:spLocks noGrp="1" noRot="1" noChangeAspect="1" noChangeArrowheads="1" noTextEdit="1"/>
          </p:cNvSpPr>
          <p:nvPr>
            <p:ph type="sldImg"/>
          </p:nvPr>
        </p:nvSpPr>
        <p:spPr>
          <a:xfrm>
            <a:off x="1144588" y="534988"/>
            <a:ext cx="4568825" cy="3429000"/>
          </a:xfrm>
        </p:spPr>
      </p:sp>
      <p:sp>
        <p:nvSpPr>
          <p:cNvPr id="59396" name="Rectangle 3">
            <a:extLst>
              <a:ext uri="{FF2B5EF4-FFF2-40B4-BE49-F238E27FC236}">
                <a16:creationId xmlns:a16="http://schemas.microsoft.com/office/drawing/2014/main" id="{F17040CF-9DF9-D4BD-F74C-0EEE357951B6}"/>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Information about the union wage premium differs.  The textbook says that union wages are 10-20% higher.  Other sources, such as the AFL-CIO and the </a:t>
            </a:r>
            <a:r>
              <a:rPr lang="en-US" altLang="zh-CN" i="1">
                <a:ea typeface="宋体" panose="02010600030101010101" pitchFamily="2" charset="-122"/>
              </a:rPr>
              <a:t>New York Times </a:t>
            </a:r>
            <a:r>
              <a:rPr lang="en-US" altLang="zh-CN">
                <a:ea typeface="宋体" panose="02010600030101010101" pitchFamily="2" charset="-122"/>
              </a:rPr>
              <a:t>article featured in the “In the News Box,” say the figure is closer to 20%, not including the increased benefits that union workers enjoy.  The BLS (stats.bls.gov) reports that, in 2004, median weekly earnings of full-time employed workers were $781 for union members and $612 for non-union members – a difference of 28%. </a:t>
            </a:r>
          </a:p>
          <a:p>
            <a:endParaRPr lang="en-US" altLang="zh-CN">
              <a:ea typeface="宋体" panose="02010600030101010101" pitchFamily="2" charset="-122"/>
            </a:endParaRPr>
          </a:p>
          <a:p>
            <a:r>
              <a:rPr lang="en-US" altLang="zh-CN">
                <a:ea typeface="宋体" panose="02010600030101010101" pitchFamily="2" charset="-122"/>
              </a:rPr>
              <a:t>So the range of estimates seems to be about 10-30%.  I picked 20%, a nice round number in the middle of this range, to put on this slide in the 3</a:t>
            </a:r>
            <a:r>
              <a:rPr lang="en-US" altLang="zh-CN" baseline="30000">
                <a:ea typeface="宋体" panose="02010600030101010101" pitchFamily="2" charset="-122"/>
              </a:rPr>
              <a:t>rd</a:t>
            </a:r>
            <a:r>
              <a:rPr lang="en-US" altLang="zh-CN">
                <a:ea typeface="宋体" panose="02010600030101010101" pitchFamily="2" charset="-122"/>
              </a:rPr>
              <a:t> bullet point.  </a:t>
            </a:r>
          </a:p>
          <a:p>
            <a:br>
              <a:rPr lang="en-US" altLang="zh-CN">
                <a:ea typeface="宋体" panose="02010600030101010101" pitchFamily="2" charset="-122"/>
              </a:rPr>
            </a:br>
            <a:r>
              <a:rPr lang="en-US" altLang="zh-CN">
                <a:ea typeface="宋体" panose="02010600030101010101" pitchFamily="2" charset="-122"/>
              </a:rPr>
              <a:t>In preparing these PowerPoints, I had to make judgments about which details from the textbook to omit (it would be neither possible nor desirable to include every detail from the book in these PowerPoints).  I have omitted the terms “collective bargaining” and “strike” along with their definitions.  I was reluctant to do so, as they are boldfaced terms with definitions in the margins.  However, most students know these terms already (as well as the definition of “union”), and they aren’t necessary for the presentation of material in this section.  I respect that you might disagree with me, though, and encourage you to add these terms &amp; their definitions to your presentation if you feel it appropriate.  </a:t>
            </a: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C3ED440-E6F3-6F1A-B22B-2B7B00031CB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9ABBE8-7953-EA47-808F-E5820D101288}"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43" name="Rectangle 2">
            <a:extLst>
              <a:ext uri="{FF2B5EF4-FFF2-40B4-BE49-F238E27FC236}">
                <a16:creationId xmlns:a16="http://schemas.microsoft.com/office/drawing/2014/main" id="{71453363-7075-56C3-D255-476B75ECD9FA}"/>
              </a:ext>
            </a:extLst>
          </p:cNvPr>
          <p:cNvSpPr>
            <a:spLocks noGrp="1" noRot="1" noChangeAspect="1" noChangeArrowheads="1" noTextEdit="1"/>
          </p:cNvSpPr>
          <p:nvPr>
            <p:ph type="sldImg"/>
          </p:nvPr>
        </p:nvSpPr>
        <p:spPr>
          <a:xfrm>
            <a:off x="1144588" y="534988"/>
            <a:ext cx="4568825" cy="3429000"/>
          </a:xfrm>
        </p:spPr>
      </p:sp>
      <p:sp>
        <p:nvSpPr>
          <p:cNvPr id="61444" name="Rectangle 3">
            <a:extLst>
              <a:ext uri="{FF2B5EF4-FFF2-40B4-BE49-F238E27FC236}">
                <a16:creationId xmlns:a16="http://schemas.microsoft.com/office/drawing/2014/main" id="{558EF35F-D753-3666-7DBB-B237554E5243}"/>
              </a:ext>
            </a:extLst>
          </p:cNvPr>
          <p:cNvSpPr>
            <a:spLocks noGrp="1" noChangeArrowheads="1"/>
          </p:cNvSpPr>
          <p:nvPr>
            <p:ph type="body" idx="1"/>
          </p:nvPr>
        </p:nvSpPr>
        <p:spPr>
          <a:xfrm>
            <a:off x="685800" y="4248150"/>
            <a:ext cx="5486400" cy="4210050"/>
          </a:xfrm>
        </p:spPr>
        <p:txBody>
          <a:bodyPr anchor="t"/>
          <a:lstStyle/>
          <a:p>
            <a:r>
              <a:rPr lang="zh-CN" altLang="zh-CN">
                <a:ea typeface="宋体" panose="02010600030101010101" pitchFamily="2" charset="-122"/>
              </a:rPr>
              <a:t>  </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49DD4AA-60E6-EC8E-E00C-6FC095C8689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A96CD1-FAD7-984F-B214-1B8C5B6F1C4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4515" name="Rectangle 2">
            <a:extLst>
              <a:ext uri="{FF2B5EF4-FFF2-40B4-BE49-F238E27FC236}">
                <a16:creationId xmlns:a16="http://schemas.microsoft.com/office/drawing/2014/main" id="{1696B6D4-E078-ADAA-34A7-D3956CE070E7}"/>
              </a:ext>
            </a:extLst>
          </p:cNvPr>
          <p:cNvSpPr>
            <a:spLocks noGrp="1" noRot="1" noChangeAspect="1" noChangeArrowheads="1" noTextEdit="1"/>
          </p:cNvSpPr>
          <p:nvPr>
            <p:ph type="sldImg"/>
          </p:nvPr>
        </p:nvSpPr>
        <p:spPr>
          <a:xfrm>
            <a:off x="1144588" y="534988"/>
            <a:ext cx="4568825" cy="3429000"/>
          </a:xfrm>
        </p:spPr>
      </p:sp>
      <p:sp>
        <p:nvSpPr>
          <p:cNvPr id="64516" name="Rectangle 3">
            <a:extLst>
              <a:ext uri="{FF2B5EF4-FFF2-40B4-BE49-F238E27FC236}">
                <a16:creationId xmlns:a16="http://schemas.microsoft.com/office/drawing/2014/main" id="{3A4DEA0F-C298-F55A-D9D8-6A6694AD989B}"/>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In the case of unions and minimum wage laws, firms that pay above-equilibrium wages do so involuntarily.  The theory of efficiency wages, however, suggests that firms may willingly pay extra-high wages in order to increase the productivity of their workers.  </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117AD63-A74A-321F-E124-69E44E04F03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DF2DA3-8C41-1F44-9F68-4CBF26E2D22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6563" name="Rectangle 2">
            <a:extLst>
              <a:ext uri="{FF2B5EF4-FFF2-40B4-BE49-F238E27FC236}">
                <a16:creationId xmlns:a16="http://schemas.microsoft.com/office/drawing/2014/main" id="{FCC60066-4DCD-2674-D509-AE6412A3C684}"/>
              </a:ext>
            </a:extLst>
          </p:cNvPr>
          <p:cNvSpPr>
            <a:spLocks noGrp="1" noRot="1" noChangeAspect="1" noChangeArrowheads="1" noTextEdit="1"/>
          </p:cNvSpPr>
          <p:nvPr>
            <p:ph type="sldImg"/>
          </p:nvPr>
        </p:nvSpPr>
        <p:spPr>
          <a:xfrm>
            <a:off x="1144588" y="534988"/>
            <a:ext cx="4568825" cy="3429000"/>
          </a:xfrm>
        </p:spPr>
      </p:sp>
      <p:sp>
        <p:nvSpPr>
          <p:cNvPr id="66564" name="Rectangle 3">
            <a:extLst>
              <a:ext uri="{FF2B5EF4-FFF2-40B4-BE49-F238E27FC236}">
                <a16:creationId xmlns:a16="http://schemas.microsoft.com/office/drawing/2014/main" id="{AB759564-4844-0691-517E-8C3689E0ABCC}"/>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1.  This is clearly not relevant in rich countries like the U.S., where equilibrium wages for nearly all workers are way more than enough to provide for the workers’ nutritional requirements.  But rich countries have a fairly small proportion of the world’s population.  </a:t>
            </a:r>
          </a:p>
          <a:p>
            <a:endParaRPr lang="en-US" altLang="zh-CN">
              <a:ea typeface="宋体" panose="02010600030101010101" pitchFamily="2" charset="-122"/>
            </a:endParaRPr>
          </a:p>
          <a:p>
            <a:r>
              <a:rPr lang="en-US" altLang="zh-CN">
                <a:ea typeface="宋体" panose="02010600030101010101" pitchFamily="2" charset="-122"/>
              </a:rPr>
              <a:t>2.  Besides the costs of placing ads, interviewing candidates, and training new hires, new workers are usually less productive in their first few months on the job – it takes time to learn how to perform their duties efficiently.  For all of these reasons, turnover is costly to firms. </a:t>
            </a: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F66F14E-33EA-995C-81AD-465B9E9D23A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DBE434-217C-1F46-9883-1D620495884E}"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8611" name="Rectangle 2">
            <a:extLst>
              <a:ext uri="{FF2B5EF4-FFF2-40B4-BE49-F238E27FC236}">
                <a16:creationId xmlns:a16="http://schemas.microsoft.com/office/drawing/2014/main" id="{3AD963A3-71B5-D59D-D117-B9131F292359}"/>
              </a:ext>
            </a:extLst>
          </p:cNvPr>
          <p:cNvSpPr>
            <a:spLocks noGrp="1" noRot="1" noChangeAspect="1" noChangeArrowheads="1" noTextEdit="1"/>
          </p:cNvSpPr>
          <p:nvPr>
            <p:ph type="sldImg"/>
          </p:nvPr>
        </p:nvSpPr>
        <p:spPr>
          <a:xfrm>
            <a:off x="1144588" y="534988"/>
            <a:ext cx="4568825" cy="3429000"/>
          </a:xfrm>
        </p:spPr>
      </p:sp>
      <p:sp>
        <p:nvSpPr>
          <p:cNvPr id="68612" name="Rectangle 3">
            <a:extLst>
              <a:ext uri="{FF2B5EF4-FFF2-40B4-BE49-F238E27FC236}">
                <a16:creationId xmlns:a16="http://schemas.microsoft.com/office/drawing/2014/main" id="{AE32B98A-F02A-3FA6-55F7-3957E2673419}"/>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3.  If firms responded to the surplus of labor by reducing wages, then the most competent applicants may choose not to apply as they may have better opportunities elsewhere.  </a:t>
            </a:r>
          </a:p>
          <a:p>
            <a:endParaRPr lang="en-US" altLang="zh-CN">
              <a:ea typeface="宋体" panose="02010600030101010101" pitchFamily="2" charset="-122"/>
            </a:endParaRPr>
          </a:p>
          <a:p>
            <a:r>
              <a:rPr lang="en-US" altLang="zh-CN">
                <a:ea typeface="宋体" panose="02010600030101010101" pitchFamily="2" charset="-122"/>
              </a:rPr>
              <a:t>4.  In case you’re not familiar with efficiency wage theory, here’s the Cliff Notes version.  </a:t>
            </a:r>
          </a:p>
          <a:p>
            <a:endParaRPr lang="en-US" altLang="zh-CN">
              <a:ea typeface="宋体" panose="02010600030101010101" pitchFamily="2" charset="-122"/>
            </a:endParaRPr>
          </a:p>
          <a:p>
            <a:r>
              <a:rPr lang="en-US" altLang="zh-CN">
                <a:ea typeface="宋体" panose="02010600030101010101" pitchFamily="2" charset="-122"/>
              </a:rPr>
              <a:t>In many jobs, each worker can choose how hard he or she works.  For simplicity, suppose there are just two choices:  working hard, or “shirking” – neglecting one’s duties and responsibilities at work.  </a:t>
            </a:r>
          </a:p>
          <a:p>
            <a:endParaRPr lang="en-US" altLang="zh-CN">
              <a:ea typeface="宋体" panose="02010600030101010101" pitchFamily="2" charset="-122"/>
            </a:endParaRPr>
          </a:p>
          <a:p>
            <a:r>
              <a:rPr lang="en-US" altLang="zh-CN">
                <a:ea typeface="宋体" panose="02010600030101010101" pitchFamily="2" charset="-122"/>
              </a:rPr>
              <a:t>Clearly, the firm suffers when its workers shirk:  output and hence revenue &amp; profit are lower. So, the firm fires workers caught shirking.  However, monitoring worker effort is costly and imperfect, and workers know there’s a good chance they won’t be caught if they shirk.  </a:t>
            </a:r>
          </a:p>
          <a:p>
            <a:endParaRPr lang="en-US" altLang="zh-CN">
              <a:ea typeface="宋体" panose="02010600030101010101" pitchFamily="2" charset="-122"/>
            </a:endParaRPr>
          </a:p>
          <a:p>
            <a:r>
              <a:rPr lang="en-US" altLang="zh-CN">
                <a:ea typeface="宋体" panose="02010600030101010101" pitchFamily="2" charset="-122"/>
              </a:rPr>
              <a:t>Paying workers an above-equilibrium wage gives them an incentive to work hard rather than shirk.  If their firm is the only firm paying efficiency wages, then they stand to lose a particularly good job if caught shirking.  If all firms are paying efficiency wages, then there will be structural unemployment due to the market wage being above its equilibrium level.  In this case, the incentive to work rather than shirk is the prospect of an extended spell of unemployment.  This is why Shapiro &amp; Stiglitz titled their 1984 AER article “Equilibrium Unemployment as a Worker Discipline Device.”</a:t>
            </a: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824E132-7A1A-230B-7B1E-5F87B355DDD8}"/>
              </a:ext>
            </a:extLst>
          </p:cNvPr>
          <p:cNvSpPr>
            <a:spLocks noGrp="1" noRot="1" noChangeAspect="1" noChangeArrowheads="1" noTextEdit="1"/>
          </p:cNvSpPr>
          <p:nvPr>
            <p:ph type="sldImg"/>
          </p:nvPr>
        </p:nvSpPr>
        <p:spPr/>
      </p:sp>
      <p:sp>
        <p:nvSpPr>
          <p:cNvPr id="70659" name="Rectangle 3">
            <a:extLst>
              <a:ext uri="{FF2B5EF4-FFF2-40B4-BE49-F238E27FC236}">
                <a16:creationId xmlns:a16="http://schemas.microsoft.com/office/drawing/2014/main" id="{26AACE6D-AC56-F8E6-6759-3259C30BF4AA}"/>
              </a:ext>
            </a:extLst>
          </p:cNvPr>
          <p:cNvSpPr>
            <a:spLocks noGrp="1" noRot="1" noChangeArrowheads="1"/>
          </p:cNvSpPr>
          <p:nvPr>
            <p:ph type="body" idx="1"/>
          </p:nvPr>
        </p:nvSpPr>
        <p:spPr/>
        <p:txBody>
          <a:bodyPr/>
          <a:lstStyle/>
          <a:p>
            <a:r>
              <a:rPr lang="en-US" altLang="zh-CN">
                <a:ea typeface="宋体" panose="02010600030101010101" pitchFamily="2" charset="-122"/>
              </a:rPr>
              <a:t>This would be a good exam question.  Answering it correctly requires the following knowledge and skills:</a:t>
            </a:r>
          </a:p>
          <a:p>
            <a:endParaRPr lang="en-US" altLang="zh-CN">
              <a:ea typeface="宋体" panose="02010600030101010101" pitchFamily="2" charset="-122"/>
            </a:endParaRPr>
          </a:p>
          <a:p>
            <a:pPr>
              <a:buFontTx/>
              <a:buChar char="•"/>
            </a:pPr>
            <a:r>
              <a:rPr lang="en-US" altLang="zh-CN">
                <a:ea typeface="宋体" panose="02010600030101010101" pitchFamily="2" charset="-122"/>
              </a:rPr>
              <a:t> Knowing the definitions of “frictional unemployment” and “sectoral shifts”</a:t>
            </a:r>
          </a:p>
          <a:p>
            <a:pPr>
              <a:buFontTx/>
              <a:buChar char="•"/>
            </a:pPr>
            <a:endParaRPr lang="en-US" altLang="zh-CN">
              <a:ea typeface="宋体" panose="02010600030101010101" pitchFamily="2" charset="-122"/>
            </a:endParaRPr>
          </a:p>
          <a:p>
            <a:pPr>
              <a:buFontTx/>
              <a:buChar char="•"/>
            </a:pPr>
            <a:r>
              <a:rPr lang="en-US" altLang="zh-CN">
                <a:ea typeface="宋体" panose="02010600030101010101" pitchFamily="2" charset="-122"/>
              </a:rPr>
              <a:t> Knowing that minimum wage laws and labor unions affect structural, not frictional, unemployment</a:t>
            </a:r>
          </a:p>
          <a:p>
            <a:pPr>
              <a:buFontTx/>
              <a:buChar char="•"/>
            </a:pPr>
            <a:endParaRPr lang="en-US" altLang="zh-CN">
              <a:ea typeface="宋体" panose="02010600030101010101" pitchFamily="2" charset="-122"/>
            </a:endParaRPr>
          </a:p>
          <a:p>
            <a:pPr>
              <a:buFontTx/>
              <a:buChar char="•"/>
            </a:pPr>
            <a:r>
              <a:rPr lang="en-US" altLang="zh-CN">
                <a:ea typeface="宋体" panose="02010600030101010101" pitchFamily="2" charset="-122"/>
              </a:rPr>
              <a:t> Knowing that unemployment insurance increases frictional unemployment</a:t>
            </a:r>
          </a:p>
          <a:p>
            <a:pPr>
              <a:buFontTx/>
              <a:buChar char="•"/>
            </a:pPr>
            <a:endParaRPr lang="en-US" altLang="zh-CN">
              <a:ea typeface="宋体" panose="02010600030101010101" pitchFamily="2" charset="-122"/>
            </a:endParaRPr>
          </a:p>
          <a:p>
            <a:pPr>
              <a:buFontTx/>
              <a:buChar char="•"/>
            </a:pPr>
            <a:r>
              <a:rPr lang="en-US" altLang="zh-CN">
                <a:ea typeface="宋体" panose="02010600030101010101" pitchFamily="2" charset="-122"/>
              </a:rPr>
              <a:t> Being able to match policies and events to the various causes of unemployment discussed in the preceding slides and in the textbook</a:t>
            </a:r>
          </a:p>
        </p:txBody>
      </p:sp>
    </p:spTree>
    <p:extLst>
      <p:ext uri="{BB962C8B-B14F-4D97-AF65-F5344CB8AC3E}">
        <p14:creationId xmlns:p14="http://schemas.microsoft.com/office/powerpoint/2010/main" val="1226823751"/>
      </p:ext>
    </p:extLst>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9C8B4AE-3D4B-6C85-A7A1-C7D1B4438D37}"/>
              </a:ext>
            </a:extLst>
          </p:cNvPr>
          <p:cNvSpPr>
            <a:spLocks noGrp="1" noRot="1" noChangeAspect="1" noChangeArrowheads="1" noTextEdit="1"/>
          </p:cNvSpPr>
          <p:nvPr>
            <p:ph type="sldImg"/>
          </p:nvPr>
        </p:nvSpPr>
        <p:spPr/>
      </p:sp>
      <p:sp>
        <p:nvSpPr>
          <p:cNvPr id="72707" name="Rectangle 3">
            <a:extLst>
              <a:ext uri="{FF2B5EF4-FFF2-40B4-BE49-F238E27FC236}">
                <a16:creationId xmlns:a16="http://schemas.microsoft.com/office/drawing/2014/main" id="{5FFEA150-BD5E-3668-8B9F-BD7DF96129AE}"/>
              </a:ext>
            </a:extLst>
          </p:cNvPr>
          <p:cNvSpPr>
            <a:spLocks noGrp="1" noRot="1" noChangeArrowheads="1"/>
          </p:cNvSpPr>
          <p:nvPr>
            <p:ph type="body" idx="1"/>
          </p:nvPr>
        </p:nvSpPr>
        <p:spPr/>
        <p:txBody>
          <a:bodyPr/>
          <a:lstStyle/>
          <a:p>
            <a:r>
              <a:rPr lang="en-US" altLang="zh-CN">
                <a:ea typeface="宋体" panose="02010600030101010101" pitchFamily="2" charset="-122"/>
              </a:rPr>
              <a:t>The minimum wage and labor unions are two reasons why the actual wage might be above the equilibrium wage, which causes structural unemployment (as Mankiw defines it), not frictional unemployment.</a:t>
            </a:r>
          </a:p>
        </p:txBody>
      </p:sp>
    </p:spTree>
    <p:extLst>
      <p:ext uri="{BB962C8B-B14F-4D97-AF65-F5344CB8AC3E}">
        <p14:creationId xmlns:p14="http://schemas.microsoft.com/office/powerpoint/2010/main" val="2122062557"/>
      </p:ext>
    </p:extLst>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52547E0-4097-B2C2-79C1-A70C3DEBF007}"/>
              </a:ext>
            </a:extLst>
          </p:cNvPr>
          <p:cNvSpPr>
            <a:spLocks noGrp="1" noRot="1" noChangeAspect="1" noChangeArrowheads="1" noTextEdit="1"/>
          </p:cNvSpPr>
          <p:nvPr>
            <p:ph type="sldImg"/>
          </p:nvPr>
        </p:nvSpPr>
        <p:spPr/>
      </p:sp>
      <p:sp>
        <p:nvSpPr>
          <p:cNvPr id="74755" name="Rectangle 3">
            <a:extLst>
              <a:ext uri="{FF2B5EF4-FFF2-40B4-BE49-F238E27FC236}">
                <a16:creationId xmlns:a16="http://schemas.microsoft.com/office/drawing/2014/main" id="{6732069F-E9F6-9728-2757-F89757FFDE0F}"/>
              </a:ext>
            </a:extLst>
          </p:cNvPr>
          <p:cNvSpPr>
            <a:spLocks noGrp="1" noRot="1" noChangeArrowheads="1"/>
          </p:cNvSpPr>
          <p:nvPr>
            <p:ph type="body" idx="1"/>
          </p:nvPr>
        </p:nvSpPr>
        <p:spPr/>
        <p:txBody>
          <a:bodyPr/>
          <a:lstStyle/>
          <a:p>
            <a:r>
              <a:rPr lang="en-US" altLang="zh-CN">
                <a:ea typeface="宋体" panose="02010600030101010101" pitchFamily="2" charset="-122"/>
              </a:rPr>
              <a:t>Unemployment insurance increases frictional unemployment by reducing the opportunity cost of being unemployed, and reducing the urgency of finding work.  </a:t>
            </a:r>
          </a:p>
          <a:p>
            <a:endParaRPr lang="en-US" altLang="zh-CN">
              <a:ea typeface="宋体" panose="02010600030101010101" pitchFamily="2" charset="-122"/>
            </a:endParaRPr>
          </a:p>
          <a:p>
            <a:r>
              <a:rPr lang="en-US" altLang="zh-CN">
                <a:ea typeface="宋体" panose="02010600030101010101" pitchFamily="2" charset="-122"/>
              </a:rPr>
              <a:t>Because workers have different skills and jobs have different skill requirements, it takes time for workers displaced from declining industries to get jobs in the younger, growing industries.  While they are searching, these workers are frictionally unemployed.  If sectoral shifts become more frequent, then we would see more of this type of unemployment.</a:t>
            </a:r>
          </a:p>
        </p:txBody>
      </p:sp>
    </p:spTree>
    <p:extLst>
      <p:ext uri="{BB962C8B-B14F-4D97-AF65-F5344CB8AC3E}">
        <p14:creationId xmlns:p14="http://schemas.microsoft.com/office/powerpoint/2010/main" val="2850953056"/>
      </p:ext>
    </p:extLst>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4B34DE02-F09C-03BA-F478-53F7433FC03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0781E14-BB5E-3A40-B5EC-07DF543757F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7827" name="Rectangle 2">
            <a:extLst>
              <a:ext uri="{FF2B5EF4-FFF2-40B4-BE49-F238E27FC236}">
                <a16:creationId xmlns:a16="http://schemas.microsoft.com/office/drawing/2014/main" id="{E95C2A54-35C8-E4D0-A570-347B5487DE09}"/>
              </a:ext>
            </a:extLst>
          </p:cNvPr>
          <p:cNvSpPr>
            <a:spLocks noGrp="1" noRot="1" noChangeAspect="1" noChangeArrowheads="1" noTextEdit="1"/>
          </p:cNvSpPr>
          <p:nvPr>
            <p:ph type="sldImg"/>
          </p:nvPr>
        </p:nvSpPr>
        <p:spPr>
          <a:xfrm>
            <a:off x="1144588" y="534988"/>
            <a:ext cx="4568825" cy="3429000"/>
          </a:xfrm>
        </p:spPr>
      </p:sp>
      <p:sp>
        <p:nvSpPr>
          <p:cNvPr id="77828" name="Rectangle 3">
            <a:extLst>
              <a:ext uri="{FF2B5EF4-FFF2-40B4-BE49-F238E27FC236}">
                <a16:creationId xmlns:a16="http://schemas.microsoft.com/office/drawing/2014/main" id="{75C10E33-E05A-7EBA-60DF-E11C7FFB945C}"/>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The last sentence is just a reminder to students that there is more to unemployment than what we have covered in this chapter.  Our goal here has been to learn about the natural rate of unemployment, the “normal” or average unemployment rate over the long run.  We’ll study short-run fluctuations later.  </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endParaRPr/>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SimSun" panose="02010600030101010101" pitchFamily="2" charset="-122"/>
                <a:cs typeface="Times New Roman"/>
              </a:defRPr>
            </a:lvl1pPr>
          </a:lstStyle>
          <a:p>
            <a:r>
              <a:rPr lang="zh-CN" altLang="en-US"/>
              <a:t>单击此处编辑母版标题样式</a:t>
            </a:r>
            <a:endParaRPr/>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SimSun" panose="02010600030101010101" pitchFamily="2" charset="-122"/>
                <a:cs typeface="Times New Roman"/>
              </a:defRPr>
            </a:lvl1pPr>
          </a:lstStyle>
          <a:p>
            <a:pPr lvl="0"/>
            <a:r>
              <a:rPr lang="zh-CN" altLang="en-US"/>
              <a:t>单击此处编辑母版文本样式</a:t>
            </a:r>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a:cs typeface="Times New Roman"/>
              </a:defRPr>
            </a:lvl1pPr>
          </a:lstStyle>
          <a:p>
            <a:endParaRPr/>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a:cs typeface="Times New Roman"/>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Garamond" panose="02020404030301010803" pitchFamily="18" charset="0"/>
          <a:ea typeface="SimSun" panose="02010600030101010101" pitchFamily="2" charset="-122"/>
          <a:cs typeface="+mj-cs"/>
        </a:defRPr>
      </a:lvl1pPr>
    </p:titleStyle>
    <p:bodyStyle>
      <a:lvl1pPr marL="0" eaLnBrk="1" hangingPunct="1">
        <a:defRPr>
          <a:latin typeface="Garamond" panose="02020404030301010803" pitchFamily="18" charset="0"/>
          <a:ea typeface="SimSun" panose="02010600030101010101"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45.xml"/><Relationship Id="rId4"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9.xml"/><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3</a:t>
            </a:r>
            <a:r>
              <a:rPr lang="zh-CN" altLang="en-US" sz="1400" b="1" dirty="0">
                <a:solidFill>
                  <a:srgbClr val="333399"/>
                </a:solidFill>
                <a:latin typeface="Garamond" panose="02020404030301010803" pitchFamily="18" charset="0"/>
                <a:ea typeface="KaiTi" panose="02010609060101010101" pitchFamily="49" charset="-122"/>
                <a:cs typeface="+mj-cs"/>
              </a:rPr>
              <a:t>节 失业及其衡量</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103" name="object 101">
            <a:extLst>
              <a:ext uri="{FF2B5EF4-FFF2-40B4-BE49-F238E27FC236}">
                <a16:creationId xmlns:a16="http://schemas.microsoft.com/office/drawing/2014/main" id="{E195572A-0D1D-2C1F-BEBB-03BB2692A651}"/>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8125280A-5044-8DE7-470B-C7EBBDCE11C6}"/>
              </a:ext>
            </a:extLst>
          </p:cNvPr>
          <p:cNvSpPr txBox="1">
            <a:spLocks/>
          </p:cNvSpPr>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如何衡量经济中的失业？</a:t>
            </a: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什么是“自然失业率”？ </a:t>
            </a: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为什么总有些人是失业者？</a:t>
            </a: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工会和最低工资法如何影响失业？</a:t>
            </a: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什么是效率工资理论？它又是如何帮助我们解释失业？</a:t>
            </a:r>
          </a:p>
          <a:p>
            <a:pPr marL="285750" indent="-285750">
              <a:lnSpc>
                <a:spcPct val="140000"/>
              </a:lnSpc>
              <a:buClr>
                <a:schemeClr val="tx1"/>
              </a:buClr>
              <a:buFont typeface="Wingdings" pitchFamily="2" charset="2"/>
              <a:buChar char="p"/>
            </a:pPr>
            <a:endParaRPr lang="zh-CN" altLang="en-US" sz="1400" kern="0" dirty="0">
              <a:latin typeface="Garamond" panose="02020404030301010803" pitchFamily="18" charset="0"/>
              <a:ea typeface="KaiTi" panose="02010609060101010101" pitchFamily="49" charset="-122"/>
            </a:endParaRPr>
          </a:p>
        </p:txBody>
      </p:sp>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Microsoft YaHei" panose="020B0503020204020204" pitchFamily="34" charset="-122"/>
                <a:ea typeface="Microsoft YaHei" panose="020B0503020204020204" pitchFamily="34" charset="-122"/>
              </a:rPr>
              <a:t>本节要</a:t>
            </a:r>
            <a:r>
              <a:rPr lang="zh-CN" altLang="en-US" sz="1800" kern="0" dirty="0">
                <a:solidFill>
                  <a:srgbClr val="C00000"/>
                </a:solidFill>
                <a:latin typeface="Microsoft YaHei" panose="020B0503020204020204" pitchFamily="34" charset="-122"/>
                <a:ea typeface="Microsoft YaHei" panose="020B0503020204020204" pitchFamily="34" charset="-122"/>
              </a:rPr>
              <a:t>解决以下问题</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6403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31999BE-71C9-3345-D9F1-F4B85A0C6C4A}"/>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807BE7DD-521E-CDA1-E1FD-8CC98FEEE7C8}"/>
              </a:ext>
            </a:extLst>
          </p:cNvPr>
          <p:cNvSpPr>
            <a:spLocks noGrp="1"/>
          </p:cNvSpPr>
          <p:nvPr>
            <p:ph type="sldNum" sz="quarter" idx="11"/>
          </p:nvPr>
        </p:nvSpPr>
        <p:spPr/>
        <p:txBody>
          <a:bodyPr/>
          <a:lstStyle/>
          <a:p>
            <a:pPr defTabSz="461040" fontAlgn="base">
              <a:spcBef>
                <a:spcPct val="0"/>
              </a:spcBef>
              <a:spcAft>
                <a:spcPct val="0"/>
              </a:spcAft>
            </a:pPr>
            <a:fld id="{F996AED7-609D-E84F-ABBE-278CF41790F2}" type="slidenum">
              <a:rPr lang="zh-CN" altLang="zh-CN">
                <a:latin typeface="Arial" panose="020B0604020202020204" pitchFamily="34" charset="0"/>
              </a:rPr>
              <a:pPr defTabSz="461040" fontAlgn="base">
                <a:spcBef>
                  <a:spcPct val="0"/>
                </a:spcBef>
                <a:spcAft>
                  <a:spcPct val="0"/>
                </a:spcAft>
              </a:pPr>
              <a:t>3</a:t>
            </a:fld>
            <a:endParaRPr lang="en-US" altLang="zh-CN">
              <a:latin typeface="Arial" panose="020B0604020202020204" pitchFamily="34" charset="0"/>
            </a:endParaRPr>
          </a:p>
        </p:txBody>
      </p:sp>
      <p:sp>
        <p:nvSpPr>
          <p:cNvPr id="10242" name="Rectangle 2">
            <a:extLst>
              <a:ext uri="{FF2B5EF4-FFF2-40B4-BE49-F238E27FC236}">
                <a16:creationId xmlns:a16="http://schemas.microsoft.com/office/drawing/2014/main" id="{AFC0F752-0D74-7174-C41C-FBCD617094A2}"/>
              </a:ext>
            </a:extLst>
          </p:cNvPr>
          <p:cNvSpPr>
            <a:spLocks noGrp="1" noChangeArrowheads="1"/>
          </p:cNvSpPr>
          <p:nvPr>
            <p:ph type="title" idx="4294967295"/>
          </p:nvPr>
        </p:nvSpPr>
        <p:spPr/>
        <p:txBody>
          <a:bodyPr/>
          <a:lstStyle/>
          <a:p>
            <a:r>
              <a:rPr lang="zh-CN" altLang="zh-CN" sz="1815">
                <a:ea typeface="宋体" panose="02010600030101010101" pitchFamily="2" charset="-122"/>
              </a:rPr>
              <a:t>劳动力数据</a:t>
            </a:r>
          </a:p>
        </p:txBody>
      </p:sp>
      <p:sp>
        <p:nvSpPr>
          <p:cNvPr id="10243" name="Rectangle 3">
            <a:extLst>
              <a:ext uri="{FF2B5EF4-FFF2-40B4-BE49-F238E27FC236}">
                <a16:creationId xmlns:a16="http://schemas.microsoft.com/office/drawing/2014/main" id="{2C1C5670-4248-B91A-C5BF-AE9EF5B5FBD9}"/>
              </a:ext>
            </a:extLst>
          </p:cNvPr>
          <p:cNvSpPr>
            <a:spLocks noGrp="1" noChangeArrowheads="1"/>
          </p:cNvSpPr>
          <p:nvPr>
            <p:ph type="body" idx="4294967295"/>
          </p:nvPr>
        </p:nvSpPr>
        <p:spPr/>
        <p:txBody>
          <a:bodyPr/>
          <a:lstStyle/>
          <a:p>
            <a:r>
              <a:rPr lang="zh-CN" altLang="zh-CN" dirty="0">
                <a:ea typeface="宋体" panose="02010600030101010101" pitchFamily="2" charset="-122"/>
              </a:rPr>
              <a:t>由美国劳工部劳工统计局调查统计  </a:t>
            </a:r>
          </a:p>
          <a:p>
            <a:r>
              <a:rPr lang="zh-CN" altLang="zh-CN" dirty="0">
                <a:ea typeface="宋体" panose="02010600030101010101" pitchFamily="2" charset="-122"/>
              </a:rPr>
              <a:t>数据来自于6万个家庭的定期调查</a:t>
            </a:r>
          </a:p>
          <a:p>
            <a:r>
              <a:rPr lang="zh-CN" altLang="zh-CN" dirty="0">
                <a:ea typeface="宋体" panose="02010600030101010101" pitchFamily="2" charset="-122"/>
              </a:rPr>
              <a:t>调查家庭中的“成年人”（16岁及以上）</a:t>
            </a:r>
          </a:p>
        </p:txBody>
      </p:sp>
      <p:sp>
        <p:nvSpPr>
          <p:cNvPr id="10244" name="FlagCount" hidden="1">
            <a:hlinkClick r:id="rId3" action="ppaction://hlinkfile"/>
            <a:extLst>
              <a:ext uri="{FF2B5EF4-FFF2-40B4-BE49-F238E27FC236}">
                <a16:creationId xmlns:a16="http://schemas.microsoft.com/office/drawing/2014/main" id="{8B4B521F-D4A5-15F4-4743-A0CCAFECF209}"/>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4F770ED-2A05-8A6B-B2E6-45278EAF6D1A}"/>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52413E4F-6980-EB24-B82F-828D904D18D6}"/>
              </a:ext>
            </a:extLst>
          </p:cNvPr>
          <p:cNvSpPr>
            <a:spLocks noGrp="1"/>
          </p:cNvSpPr>
          <p:nvPr>
            <p:ph type="sldNum" sz="quarter" idx="11"/>
          </p:nvPr>
        </p:nvSpPr>
        <p:spPr/>
        <p:txBody>
          <a:bodyPr/>
          <a:lstStyle/>
          <a:p>
            <a:pPr defTabSz="461040" fontAlgn="base">
              <a:spcBef>
                <a:spcPct val="0"/>
              </a:spcBef>
              <a:spcAft>
                <a:spcPct val="0"/>
              </a:spcAft>
            </a:pPr>
            <a:fld id="{5CD28998-AB54-CB4E-82FE-62664E5EABF0}" type="slidenum">
              <a:rPr lang="zh-CN" altLang="zh-CN">
                <a:latin typeface="Arial" panose="020B0604020202020204" pitchFamily="34" charset="0"/>
              </a:rPr>
              <a:pPr defTabSz="461040" fontAlgn="base">
                <a:spcBef>
                  <a:spcPct val="0"/>
                </a:spcBef>
                <a:spcAft>
                  <a:spcPct val="0"/>
                </a:spcAft>
              </a:pPr>
              <a:t>4</a:t>
            </a:fld>
            <a:endParaRPr lang="en-US" altLang="zh-CN">
              <a:latin typeface="Arial" panose="020B0604020202020204" pitchFamily="34" charset="0"/>
            </a:endParaRPr>
          </a:p>
        </p:txBody>
      </p:sp>
      <p:sp>
        <p:nvSpPr>
          <p:cNvPr id="12290" name="Rectangle 2">
            <a:extLst>
              <a:ext uri="{FF2B5EF4-FFF2-40B4-BE49-F238E27FC236}">
                <a16:creationId xmlns:a16="http://schemas.microsoft.com/office/drawing/2014/main" id="{77A2B7CF-51B1-CAE6-B9EB-C6DFA5F6F1D5}"/>
              </a:ext>
            </a:extLst>
          </p:cNvPr>
          <p:cNvSpPr>
            <a:spLocks noGrp="1" noChangeArrowheads="1"/>
          </p:cNvSpPr>
          <p:nvPr>
            <p:ph type="title" idx="4294967295"/>
          </p:nvPr>
        </p:nvSpPr>
        <p:spPr/>
        <p:txBody>
          <a:bodyPr/>
          <a:lstStyle/>
          <a:p>
            <a:r>
              <a:rPr lang="zh-CN" altLang="en-US" sz="1815">
                <a:ea typeface="宋体" panose="02010600030101010101" pitchFamily="2" charset="-122"/>
              </a:rPr>
              <a:t>劳动力数据</a:t>
            </a:r>
          </a:p>
        </p:txBody>
      </p:sp>
      <p:sp>
        <p:nvSpPr>
          <p:cNvPr id="12291" name="Rectangle 3">
            <a:extLst>
              <a:ext uri="{FF2B5EF4-FFF2-40B4-BE49-F238E27FC236}">
                <a16:creationId xmlns:a16="http://schemas.microsoft.com/office/drawing/2014/main" id="{2369100B-99CA-24B3-AD05-538A6E6055C5}"/>
              </a:ext>
            </a:extLst>
          </p:cNvPr>
          <p:cNvSpPr>
            <a:spLocks noGrp="1" noChangeArrowheads="1"/>
          </p:cNvSpPr>
          <p:nvPr>
            <p:ph type="body" idx="4294967295"/>
          </p:nvPr>
        </p:nvSpPr>
        <p:spPr/>
        <p:txBody>
          <a:bodyPr/>
          <a:lstStyle/>
          <a:p>
            <a:pPr marL="0" indent="0">
              <a:buNone/>
            </a:pPr>
            <a:r>
              <a:rPr lang="zh-CN" altLang="zh-CN">
                <a:ea typeface="宋体" panose="02010600030101010101" pitchFamily="2" charset="-122"/>
              </a:rPr>
              <a:t>劳工统计局（ BLS ）把受调查家庭中的成年人分为三个类别：</a:t>
            </a:r>
          </a:p>
          <a:p>
            <a:pPr marL="257734" lvl="1" indent="-170489">
              <a:lnSpc>
                <a:spcPct val="105000"/>
              </a:lnSpc>
              <a:spcBef>
                <a:spcPct val="40000"/>
              </a:spcBef>
              <a:buClr>
                <a:srgbClr val="339966"/>
              </a:buClr>
            </a:pPr>
            <a:r>
              <a:rPr lang="zh-CN" altLang="zh-CN" sz="1412" b="1">
                <a:solidFill>
                  <a:srgbClr val="CC0000"/>
                </a:solidFill>
                <a:ea typeface="宋体" panose="02010600030101010101" pitchFamily="2" charset="-122"/>
              </a:rPr>
              <a:t>就业者</a:t>
            </a:r>
            <a:r>
              <a:rPr lang="zh-CN" altLang="zh-CN" sz="1412">
                <a:ea typeface="宋体" panose="02010600030101010101" pitchFamily="2" charset="-122"/>
              </a:rPr>
              <a:t>： 包括作为得到报酬的员工而工作的人，在自己的企业里工作且得到报酬的人，以及在家族企业里工作但拿不到报酬的人</a:t>
            </a:r>
          </a:p>
          <a:p>
            <a:pPr marL="257734" lvl="1" indent="-170489">
              <a:lnSpc>
                <a:spcPct val="105000"/>
              </a:lnSpc>
              <a:spcBef>
                <a:spcPct val="40000"/>
              </a:spcBef>
              <a:buClr>
                <a:srgbClr val="339966"/>
              </a:buClr>
            </a:pPr>
            <a:r>
              <a:rPr lang="zh-CN" altLang="zh-CN" sz="1412" b="1">
                <a:solidFill>
                  <a:srgbClr val="CC0000"/>
                </a:solidFill>
                <a:ea typeface="宋体" panose="02010600030101010101" pitchFamily="2" charset="-122"/>
              </a:rPr>
              <a:t>失业者</a:t>
            </a:r>
            <a:r>
              <a:rPr lang="zh-CN" altLang="zh-CN" sz="1412">
                <a:ea typeface="宋体" panose="02010600030101010101" pitchFamily="2" charset="-122"/>
              </a:rPr>
              <a:t>： 包括能够工作且在之前4周内努力找工作但没有找到工作的人</a:t>
            </a:r>
          </a:p>
          <a:p>
            <a:pPr marL="257734" lvl="1" indent="-170489">
              <a:lnSpc>
                <a:spcPct val="105000"/>
              </a:lnSpc>
              <a:spcBef>
                <a:spcPct val="40000"/>
              </a:spcBef>
              <a:buClr>
                <a:srgbClr val="339966"/>
              </a:buClr>
            </a:pPr>
            <a:r>
              <a:rPr lang="zh-CN" altLang="zh-CN" sz="1412" b="1">
                <a:solidFill>
                  <a:srgbClr val="CC0000"/>
                </a:solidFill>
                <a:ea typeface="宋体" panose="02010600030101010101" pitchFamily="2" charset="-122"/>
              </a:rPr>
              <a:t>非劳动力</a:t>
            </a:r>
            <a:r>
              <a:rPr lang="zh-CN" altLang="zh-CN" sz="1412">
                <a:ea typeface="宋体" panose="02010600030101010101" pitchFamily="2" charset="-122"/>
              </a:rPr>
              <a:t>：  不属于前两个类别的人</a:t>
            </a:r>
          </a:p>
          <a:p>
            <a:pPr marL="0" indent="0">
              <a:spcBef>
                <a:spcPct val="70000"/>
              </a:spcBef>
              <a:buNone/>
            </a:pPr>
            <a:r>
              <a:rPr lang="zh-CN" altLang="zh-CN" b="1">
                <a:solidFill>
                  <a:srgbClr val="CC0000"/>
                </a:solidFill>
                <a:ea typeface="宋体" panose="02010600030101010101" pitchFamily="2" charset="-122"/>
              </a:rPr>
              <a:t>劳动力</a:t>
            </a:r>
            <a:r>
              <a:rPr lang="zh-CN" altLang="zh-CN">
                <a:ea typeface="宋体" panose="02010600030101010101" pitchFamily="2" charset="-122"/>
              </a:rPr>
              <a:t> 定义为就业者和失业者之和  </a:t>
            </a:r>
          </a:p>
          <a:p>
            <a:pPr marL="0" indent="0"/>
            <a:endParaRPr lang="zh-CN" altLang="zh-CN">
              <a:ea typeface="宋体" panose="02010600030101010101" pitchFamily="2" charset="-122"/>
            </a:endParaRPr>
          </a:p>
        </p:txBody>
      </p:sp>
      <p:sp>
        <p:nvSpPr>
          <p:cNvPr id="12292" name="FlagCount" hidden="1">
            <a:hlinkClick r:id="rId3" action="ppaction://hlinkfile"/>
            <a:extLst>
              <a:ext uri="{FF2B5EF4-FFF2-40B4-BE49-F238E27FC236}">
                <a16:creationId xmlns:a16="http://schemas.microsoft.com/office/drawing/2014/main" id="{F4A877AE-93AE-3DDD-027E-63CC8CC7397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0A511C2-A675-1322-933D-FDAC4DDDC6F8}"/>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DD6007D7-067E-1743-4A15-790D1A2C16DE}"/>
              </a:ext>
            </a:extLst>
          </p:cNvPr>
          <p:cNvSpPr>
            <a:spLocks noGrp="1"/>
          </p:cNvSpPr>
          <p:nvPr>
            <p:ph type="sldNum" sz="quarter" idx="11"/>
          </p:nvPr>
        </p:nvSpPr>
        <p:spPr/>
        <p:txBody>
          <a:bodyPr/>
          <a:lstStyle/>
          <a:p>
            <a:pPr defTabSz="461040" fontAlgn="base">
              <a:spcBef>
                <a:spcPct val="0"/>
              </a:spcBef>
              <a:spcAft>
                <a:spcPct val="0"/>
              </a:spcAft>
            </a:pPr>
            <a:fld id="{FE56BC3D-9F29-BE44-B797-2B57F621F396}" type="slidenum">
              <a:rPr lang="zh-CN" altLang="zh-CN">
                <a:latin typeface="Arial" panose="020B0604020202020204" pitchFamily="34" charset="0"/>
              </a:rPr>
              <a:pPr defTabSz="461040" fontAlgn="base">
                <a:spcBef>
                  <a:spcPct val="0"/>
                </a:spcBef>
                <a:spcAft>
                  <a:spcPct val="0"/>
                </a:spcAft>
              </a:pPr>
              <a:t>5</a:t>
            </a:fld>
            <a:endParaRPr lang="en-US" altLang="zh-CN">
              <a:latin typeface="Arial" panose="020B0604020202020204" pitchFamily="34" charset="0"/>
            </a:endParaRPr>
          </a:p>
        </p:txBody>
      </p:sp>
      <p:grpSp>
        <p:nvGrpSpPr>
          <p:cNvPr id="14338" name="Group 2">
            <a:extLst>
              <a:ext uri="{FF2B5EF4-FFF2-40B4-BE49-F238E27FC236}">
                <a16:creationId xmlns:a16="http://schemas.microsoft.com/office/drawing/2014/main" id="{2DD7DCDA-CE4B-9F93-9213-4EB69E3A1F82}"/>
              </a:ext>
            </a:extLst>
          </p:cNvPr>
          <p:cNvGrpSpPr>
            <a:grpSpLocks/>
          </p:cNvGrpSpPr>
          <p:nvPr/>
        </p:nvGrpSpPr>
        <p:grpSpPr bwMode="auto">
          <a:xfrm>
            <a:off x="404985" y="2473914"/>
            <a:ext cx="3793728" cy="582666"/>
            <a:chOff x="0" y="0"/>
            <a:chExt cx="4740" cy="728"/>
          </a:xfrm>
        </p:grpSpPr>
        <p:sp>
          <p:nvSpPr>
            <p:cNvPr id="14339" name="Rectangle 21">
              <a:extLst>
                <a:ext uri="{FF2B5EF4-FFF2-40B4-BE49-F238E27FC236}">
                  <a16:creationId xmlns:a16="http://schemas.microsoft.com/office/drawing/2014/main" id="{E5154EAC-B1CE-34B8-0F03-4AA6D83CEE0F}"/>
                </a:ext>
              </a:extLst>
            </p:cNvPr>
            <p:cNvSpPr>
              <a:spLocks noChangeArrowheads="1"/>
            </p:cNvSpPr>
            <p:nvPr/>
          </p:nvSpPr>
          <p:spPr bwMode="auto">
            <a:xfrm>
              <a:off x="0" y="0"/>
              <a:ext cx="4728" cy="6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14340" name="Group 4">
              <a:extLst>
                <a:ext uri="{FF2B5EF4-FFF2-40B4-BE49-F238E27FC236}">
                  <a16:creationId xmlns:a16="http://schemas.microsoft.com/office/drawing/2014/main" id="{2BA70860-8DF0-F0CA-E201-AC7EA323D614}"/>
                </a:ext>
              </a:extLst>
            </p:cNvPr>
            <p:cNvGrpSpPr>
              <a:grpSpLocks/>
            </p:cNvGrpSpPr>
            <p:nvPr/>
          </p:nvGrpSpPr>
          <p:grpSpPr bwMode="auto">
            <a:xfrm>
              <a:off x="11" y="18"/>
              <a:ext cx="4729" cy="710"/>
              <a:chOff x="0" y="0"/>
              <a:chExt cx="4729" cy="710"/>
            </a:xfrm>
          </p:grpSpPr>
          <p:sp>
            <p:nvSpPr>
              <p:cNvPr id="14341" name="Text Box 13">
                <a:extLst>
                  <a:ext uri="{FF2B5EF4-FFF2-40B4-BE49-F238E27FC236}">
                    <a16:creationId xmlns:a16="http://schemas.microsoft.com/office/drawing/2014/main" id="{0F1FD405-E286-9CCA-243C-C6438BCCD7D4}"/>
                  </a:ext>
                </a:extLst>
              </p:cNvPr>
              <p:cNvSpPr txBox="1">
                <a:spLocks noChangeArrowheads="1"/>
              </p:cNvSpPr>
              <p:nvPr/>
            </p:nvSpPr>
            <p:spPr bwMode="auto">
              <a:xfrm>
                <a:off x="0" y="16"/>
                <a:ext cx="1878"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劳动力参工率</a:t>
                </a:r>
              </a:p>
            </p:txBody>
          </p:sp>
          <p:grpSp>
            <p:nvGrpSpPr>
              <p:cNvPr id="14342" name="Group 6">
                <a:extLst>
                  <a:ext uri="{FF2B5EF4-FFF2-40B4-BE49-F238E27FC236}">
                    <a16:creationId xmlns:a16="http://schemas.microsoft.com/office/drawing/2014/main" id="{A570640E-C064-9351-41A3-CD123CFCE670}"/>
                  </a:ext>
                </a:extLst>
              </p:cNvPr>
              <p:cNvGrpSpPr>
                <a:grpSpLocks/>
              </p:cNvGrpSpPr>
              <p:nvPr/>
            </p:nvGrpSpPr>
            <p:grpSpPr bwMode="auto">
              <a:xfrm>
                <a:off x="2829" y="0"/>
                <a:ext cx="1900" cy="710"/>
                <a:chOff x="0" y="0"/>
                <a:chExt cx="1578" cy="710"/>
              </a:xfrm>
            </p:grpSpPr>
            <p:sp>
              <p:nvSpPr>
                <p:cNvPr id="14343" name="Text Box 15">
                  <a:extLst>
                    <a:ext uri="{FF2B5EF4-FFF2-40B4-BE49-F238E27FC236}">
                      <a16:creationId xmlns:a16="http://schemas.microsoft.com/office/drawing/2014/main" id="{45B181F1-516A-8643-A19A-4552F3D63A83}"/>
                    </a:ext>
                  </a:extLst>
                </p:cNvPr>
                <p:cNvSpPr txBox="1">
                  <a:spLocks noChangeArrowheads="1"/>
                </p:cNvSpPr>
                <p:nvPr/>
              </p:nvSpPr>
              <p:spPr bwMode="auto">
                <a:xfrm>
                  <a:off x="0" y="0"/>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劳动力</a:t>
                  </a:r>
                </a:p>
              </p:txBody>
            </p:sp>
            <p:sp>
              <p:nvSpPr>
                <p:cNvPr id="14344" name="Text Box 16">
                  <a:extLst>
                    <a:ext uri="{FF2B5EF4-FFF2-40B4-BE49-F238E27FC236}">
                      <a16:creationId xmlns:a16="http://schemas.microsoft.com/office/drawing/2014/main" id="{F85486F4-5D7F-EC44-9D6C-CBD534DDC497}"/>
                    </a:ext>
                  </a:extLst>
                </p:cNvPr>
                <p:cNvSpPr txBox="1">
                  <a:spLocks noChangeArrowheads="1"/>
                </p:cNvSpPr>
                <p:nvPr/>
              </p:nvSpPr>
              <p:spPr bwMode="auto">
                <a:xfrm>
                  <a:off x="4" y="314"/>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成年人口</a:t>
                  </a:r>
                </a:p>
              </p:txBody>
            </p:sp>
            <p:sp>
              <p:nvSpPr>
                <p:cNvPr id="14345" name="Line 17">
                  <a:extLst>
                    <a:ext uri="{FF2B5EF4-FFF2-40B4-BE49-F238E27FC236}">
                      <a16:creationId xmlns:a16="http://schemas.microsoft.com/office/drawing/2014/main" id="{75877434-B90D-CCD9-F36A-1B8A7E491D4F}"/>
                    </a:ext>
                  </a:extLst>
                </p:cNvPr>
                <p:cNvSpPr>
                  <a:spLocks noChangeShapeType="1"/>
                </p:cNvSpPr>
                <p:nvPr/>
              </p:nvSpPr>
              <p:spPr bwMode="auto">
                <a:xfrm>
                  <a:off x="93" y="336"/>
                  <a:ext cx="1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4346" name="Text Box 18">
                <a:extLst>
                  <a:ext uri="{FF2B5EF4-FFF2-40B4-BE49-F238E27FC236}">
                    <a16:creationId xmlns:a16="http://schemas.microsoft.com/office/drawing/2014/main" id="{2AAF0243-F8EE-1837-FF94-92F30199781F}"/>
                  </a:ext>
                </a:extLst>
              </p:cNvPr>
              <p:cNvSpPr txBox="1">
                <a:spLocks noChangeArrowheads="1"/>
              </p:cNvSpPr>
              <p:nvPr/>
            </p:nvSpPr>
            <p:spPr bwMode="auto">
              <a:xfrm>
                <a:off x="1982" y="15"/>
                <a:ext cx="891"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462">
                    <a:solidFill>
                      <a:srgbClr val="000000"/>
                    </a:solidFill>
                    <a:ea typeface="宋体" panose="02010600030101010101" pitchFamily="2" charset="-122"/>
                  </a:rPr>
                  <a:t>=  100 x</a:t>
                </a:r>
              </a:p>
            </p:txBody>
          </p:sp>
        </p:grpSp>
      </p:grpSp>
      <p:sp>
        <p:nvSpPr>
          <p:cNvPr id="14347" name="Rectangle 2">
            <a:extLst>
              <a:ext uri="{FF2B5EF4-FFF2-40B4-BE49-F238E27FC236}">
                <a16:creationId xmlns:a16="http://schemas.microsoft.com/office/drawing/2014/main" id="{B447361E-2CFA-E731-DE3E-989DF4B8FB07}"/>
              </a:ext>
            </a:extLst>
          </p:cNvPr>
          <p:cNvSpPr>
            <a:spLocks noGrp="1" noChangeArrowheads="1"/>
          </p:cNvSpPr>
          <p:nvPr>
            <p:ph type="title" idx="4294967295"/>
          </p:nvPr>
        </p:nvSpPr>
        <p:spPr/>
        <p:txBody>
          <a:bodyPr/>
          <a:lstStyle/>
          <a:p>
            <a:r>
              <a:rPr lang="zh-CN" altLang="en-US" sz="1815">
                <a:ea typeface="宋体" panose="02010600030101010101" pitchFamily="2" charset="-122"/>
              </a:rPr>
              <a:t>劳动力数据</a:t>
            </a:r>
          </a:p>
        </p:txBody>
      </p:sp>
      <p:sp>
        <p:nvSpPr>
          <p:cNvPr id="14348" name="Rectangle 4">
            <a:extLst>
              <a:ext uri="{FF2B5EF4-FFF2-40B4-BE49-F238E27FC236}">
                <a16:creationId xmlns:a16="http://schemas.microsoft.com/office/drawing/2014/main" id="{853D3197-689D-8BEB-F50C-D0A70E326D08}"/>
              </a:ext>
            </a:extLst>
          </p:cNvPr>
          <p:cNvSpPr>
            <a:spLocks noChangeArrowheads="1"/>
          </p:cNvSpPr>
          <p:nvPr/>
        </p:nvSpPr>
        <p:spPr bwMode="auto">
          <a:xfrm>
            <a:off x="228904" y="1911257"/>
            <a:ext cx="4149090" cy="54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45000"/>
              </a:spcBef>
              <a:spcAft>
                <a:spcPct val="0"/>
              </a:spcAft>
              <a:buClr>
                <a:srgbClr val="00B85C"/>
              </a:buClr>
              <a:buSzPct val="120000"/>
            </a:pPr>
            <a:r>
              <a:rPr lang="zh-CN" altLang="zh-CN" sz="1412" b="1">
                <a:solidFill>
                  <a:srgbClr val="CC0000"/>
                </a:solidFill>
                <a:ea typeface="宋体" panose="02010600030101010101" pitchFamily="2" charset="-122"/>
              </a:rPr>
              <a:t>劳动力参工率</a:t>
            </a:r>
            <a:r>
              <a:rPr lang="zh-CN" altLang="zh-CN" sz="1412">
                <a:solidFill>
                  <a:srgbClr val="000000"/>
                </a:solidFill>
                <a:ea typeface="宋体" panose="02010600030101010101" pitchFamily="2" charset="-122"/>
              </a:rPr>
              <a:t>： </a:t>
            </a:r>
            <a:br>
              <a:rPr lang="zh-CN" altLang="zh-CN" sz="1412">
                <a:solidFill>
                  <a:srgbClr val="000000"/>
                </a:solidFill>
                <a:ea typeface="宋体" panose="02010600030101010101" pitchFamily="2" charset="-122"/>
              </a:rPr>
            </a:br>
            <a:r>
              <a:rPr lang="zh-CN" altLang="zh-CN" sz="1361">
                <a:solidFill>
                  <a:srgbClr val="000000"/>
                </a:solidFill>
                <a:ea typeface="宋体" panose="02010600030101010101" pitchFamily="2" charset="-122"/>
              </a:rPr>
              <a:t>劳动力占成年人口的百分比</a:t>
            </a:r>
          </a:p>
        </p:txBody>
      </p:sp>
      <p:sp>
        <p:nvSpPr>
          <p:cNvPr id="14349" name="Rectangle 5">
            <a:extLst>
              <a:ext uri="{FF2B5EF4-FFF2-40B4-BE49-F238E27FC236}">
                <a16:creationId xmlns:a16="http://schemas.microsoft.com/office/drawing/2014/main" id="{F8C2E5CA-8CC4-2731-9458-E10AB4188388}"/>
              </a:ext>
            </a:extLst>
          </p:cNvPr>
          <p:cNvSpPr>
            <a:spLocks noChangeArrowheads="1"/>
          </p:cNvSpPr>
          <p:nvPr/>
        </p:nvSpPr>
        <p:spPr bwMode="auto">
          <a:xfrm>
            <a:off x="228104" y="539433"/>
            <a:ext cx="4149090" cy="54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45000"/>
              </a:spcBef>
              <a:spcAft>
                <a:spcPct val="0"/>
              </a:spcAft>
              <a:buClr>
                <a:srgbClr val="00B85C"/>
              </a:buClr>
              <a:buSzPct val="120000"/>
            </a:pPr>
            <a:r>
              <a:rPr lang="zh-CN" altLang="zh-CN" sz="1412" b="1">
                <a:solidFill>
                  <a:srgbClr val="CC0000"/>
                </a:solidFill>
                <a:ea typeface="宋体" panose="02010600030101010101" pitchFamily="2" charset="-122"/>
              </a:rPr>
              <a:t>失业率：</a:t>
            </a:r>
            <a:br>
              <a:rPr lang="zh-CN" altLang="zh-CN" sz="1412">
                <a:solidFill>
                  <a:srgbClr val="000000"/>
                </a:solidFill>
                <a:ea typeface="宋体" panose="02010600030101010101" pitchFamily="2" charset="-122"/>
              </a:rPr>
            </a:br>
            <a:r>
              <a:rPr lang="zh-CN" altLang="zh-CN" sz="1361">
                <a:solidFill>
                  <a:srgbClr val="000000"/>
                </a:solidFill>
                <a:ea typeface="宋体" panose="02010600030101010101" pitchFamily="2" charset="-122"/>
              </a:rPr>
              <a:t>失业者占劳动力的百分比</a:t>
            </a:r>
          </a:p>
        </p:txBody>
      </p:sp>
      <p:grpSp>
        <p:nvGrpSpPr>
          <p:cNvPr id="14350" name="Group 14">
            <a:extLst>
              <a:ext uri="{FF2B5EF4-FFF2-40B4-BE49-F238E27FC236}">
                <a16:creationId xmlns:a16="http://schemas.microsoft.com/office/drawing/2014/main" id="{3069F9E6-D5D6-9D90-757F-2DDAD0D21DB6}"/>
              </a:ext>
            </a:extLst>
          </p:cNvPr>
          <p:cNvGrpSpPr>
            <a:grpSpLocks/>
          </p:cNvGrpSpPr>
          <p:nvPr/>
        </p:nvGrpSpPr>
        <p:grpSpPr bwMode="auto">
          <a:xfrm>
            <a:off x="442602" y="1106891"/>
            <a:ext cx="3731300" cy="578664"/>
            <a:chOff x="0" y="0"/>
            <a:chExt cx="4662" cy="723"/>
          </a:xfrm>
        </p:grpSpPr>
        <p:sp>
          <p:nvSpPr>
            <p:cNvPr id="14351" name="Rectangle 29">
              <a:extLst>
                <a:ext uri="{FF2B5EF4-FFF2-40B4-BE49-F238E27FC236}">
                  <a16:creationId xmlns:a16="http://schemas.microsoft.com/office/drawing/2014/main" id="{152ED4F6-F505-997D-7B41-DC2B9AA18E47}"/>
                </a:ext>
              </a:extLst>
            </p:cNvPr>
            <p:cNvSpPr>
              <a:spLocks noChangeArrowheads="1"/>
            </p:cNvSpPr>
            <p:nvPr/>
          </p:nvSpPr>
          <p:spPr bwMode="auto">
            <a:xfrm>
              <a:off x="0" y="0"/>
              <a:ext cx="4631" cy="6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14352" name="Group 16">
              <a:extLst>
                <a:ext uri="{FF2B5EF4-FFF2-40B4-BE49-F238E27FC236}">
                  <a16:creationId xmlns:a16="http://schemas.microsoft.com/office/drawing/2014/main" id="{79105DAC-A888-0ABE-6D1B-88CD18AD4510}"/>
                </a:ext>
              </a:extLst>
            </p:cNvPr>
            <p:cNvGrpSpPr>
              <a:grpSpLocks/>
            </p:cNvGrpSpPr>
            <p:nvPr/>
          </p:nvGrpSpPr>
          <p:grpSpPr bwMode="auto">
            <a:xfrm>
              <a:off x="59" y="13"/>
              <a:ext cx="4603" cy="710"/>
              <a:chOff x="0" y="0"/>
              <a:chExt cx="4603" cy="710"/>
            </a:xfrm>
          </p:grpSpPr>
          <p:sp>
            <p:nvSpPr>
              <p:cNvPr id="14353" name="Text Box 7">
                <a:extLst>
                  <a:ext uri="{FF2B5EF4-FFF2-40B4-BE49-F238E27FC236}">
                    <a16:creationId xmlns:a16="http://schemas.microsoft.com/office/drawing/2014/main" id="{AEBACC3C-82CC-2040-4708-487C42DD2F27}"/>
                  </a:ext>
                </a:extLst>
              </p:cNvPr>
              <p:cNvSpPr txBox="1">
                <a:spLocks noChangeArrowheads="1"/>
              </p:cNvSpPr>
              <p:nvPr/>
            </p:nvSpPr>
            <p:spPr bwMode="auto">
              <a:xfrm>
                <a:off x="0" y="16"/>
                <a:ext cx="1624"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失业率</a:t>
                </a:r>
              </a:p>
            </p:txBody>
          </p:sp>
          <p:grpSp>
            <p:nvGrpSpPr>
              <p:cNvPr id="14354" name="Group 18">
                <a:extLst>
                  <a:ext uri="{FF2B5EF4-FFF2-40B4-BE49-F238E27FC236}">
                    <a16:creationId xmlns:a16="http://schemas.microsoft.com/office/drawing/2014/main" id="{25D231E8-0771-AE61-C02D-246C1AF91F73}"/>
                  </a:ext>
                </a:extLst>
              </p:cNvPr>
              <p:cNvGrpSpPr>
                <a:grpSpLocks/>
              </p:cNvGrpSpPr>
              <p:nvPr/>
            </p:nvGrpSpPr>
            <p:grpSpPr bwMode="auto">
              <a:xfrm>
                <a:off x="2561" y="0"/>
                <a:ext cx="2042" cy="710"/>
                <a:chOff x="0" y="0"/>
                <a:chExt cx="1578" cy="710"/>
              </a:xfrm>
            </p:grpSpPr>
            <p:sp>
              <p:nvSpPr>
                <p:cNvPr id="14355" name="Text Box 9">
                  <a:extLst>
                    <a:ext uri="{FF2B5EF4-FFF2-40B4-BE49-F238E27FC236}">
                      <a16:creationId xmlns:a16="http://schemas.microsoft.com/office/drawing/2014/main" id="{1DFAC915-DE68-F1C4-7983-AF0197FE1A89}"/>
                    </a:ext>
                  </a:extLst>
                </p:cNvPr>
                <p:cNvSpPr txBox="1">
                  <a:spLocks noChangeArrowheads="1"/>
                </p:cNvSpPr>
                <p:nvPr/>
              </p:nvSpPr>
              <p:spPr bwMode="auto">
                <a:xfrm>
                  <a:off x="0" y="0"/>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失业者人数</a:t>
                  </a:r>
                </a:p>
              </p:txBody>
            </p:sp>
            <p:sp>
              <p:nvSpPr>
                <p:cNvPr id="14356" name="Text Box 10">
                  <a:extLst>
                    <a:ext uri="{FF2B5EF4-FFF2-40B4-BE49-F238E27FC236}">
                      <a16:creationId xmlns:a16="http://schemas.microsoft.com/office/drawing/2014/main" id="{D0E6CFA0-DC26-1BCC-5E95-8E817656DC1F}"/>
                    </a:ext>
                  </a:extLst>
                </p:cNvPr>
                <p:cNvSpPr txBox="1">
                  <a:spLocks noChangeArrowheads="1"/>
                </p:cNvSpPr>
                <p:nvPr/>
              </p:nvSpPr>
              <p:spPr bwMode="auto">
                <a:xfrm>
                  <a:off x="4" y="314"/>
                  <a:ext cx="1574" cy="3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劳动力</a:t>
                  </a:r>
                </a:p>
              </p:txBody>
            </p:sp>
            <p:sp>
              <p:nvSpPr>
                <p:cNvPr id="14357" name="Line 11">
                  <a:extLst>
                    <a:ext uri="{FF2B5EF4-FFF2-40B4-BE49-F238E27FC236}">
                      <a16:creationId xmlns:a16="http://schemas.microsoft.com/office/drawing/2014/main" id="{990A169D-9227-37D8-AED1-186F18795044}"/>
                    </a:ext>
                  </a:extLst>
                </p:cNvPr>
                <p:cNvSpPr>
                  <a:spLocks noChangeShapeType="1"/>
                </p:cNvSpPr>
                <p:nvPr/>
              </p:nvSpPr>
              <p:spPr bwMode="auto">
                <a:xfrm>
                  <a:off x="93" y="336"/>
                  <a:ext cx="1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4358" name="Text Box 12">
                <a:extLst>
                  <a:ext uri="{FF2B5EF4-FFF2-40B4-BE49-F238E27FC236}">
                    <a16:creationId xmlns:a16="http://schemas.microsoft.com/office/drawing/2014/main" id="{F70D52B5-CEEE-4383-692A-A8858B641F46}"/>
                  </a:ext>
                </a:extLst>
              </p:cNvPr>
              <p:cNvSpPr txBox="1">
                <a:spLocks noChangeArrowheads="1"/>
              </p:cNvSpPr>
              <p:nvPr/>
            </p:nvSpPr>
            <p:spPr bwMode="auto">
              <a:xfrm>
                <a:off x="1728" y="15"/>
                <a:ext cx="891" cy="59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462">
                    <a:solidFill>
                      <a:srgbClr val="000000"/>
                    </a:solidFill>
                    <a:ea typeface="宋体" panose="02010600030101010101" pitchFamily="2" charset="-122"/>
                  </a:rPr>
                  <a:t>=  100 x</a:t>
                </a:r>
              </a:p>
            </p:txBody>
          </p:sp>
        </p:grpSp>
      </p:grpSp>
      <p:sp>
        <p:nvSpPr>
          <p:cNvPr id="14359" name="FlagCount" hidden="1">
            <a:hlinkClick r:id="rId3" action="ppaction://hlinkfile"/>
            <a:extLst>
              <a:ext uri="{FF2B5EF4-FFF2-40B4-BE49-F238E27FC236}">
                <a16:creationId xmlns:a16="http://schemas.microsoft.com/office/drawing/2014/main" id="{BD6EF31B-C9F0-BAEC-7978-79A34D765C80}"/>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349"/>
                                        </p:tgtEl>
                                        <p:attrNameLst>
                                          <p:attrName>style.visibility</p:attrName>
                                        </p:attrNameLst>
                                      </p:cBhvr>
                                      <p:to>
                                        <p:strVal val="visible"/>
                                      </p:to>
                                    </p:set>
                                    <p:animEffect transition="in" filter="wipe(left)">
                                      <p:cBhvr>
                                        <p:cTn id="7" dur="500"/>
                                        <p:tgtEl>
                                          <p:spTgt spid="14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350"/>
                                        </p:tgtEl>
                                        <p:attrNameLst>
                                          <p:attrName>style.visibility</p:attrName>
                                        </p:attrNameLst>
                                      </p:cBhvr>
                                      <p:to>
                                        <p:strVal val="visible"/>
                                      </p:to>
                                    </p:set>
                                    <p:animEffect transition="in" filter="dissolve">
                                      <p:cBhvr>
                                        <p:cTn id="12" dur="500"/>
                                        <p:tgtEl>
                                          <p:spTgt spid="143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348"/>
                                        </p:tgtEl>
                                        <p:attrNameLst>
                                          <p:attrName>style.visibility</p:attrName>
                                        </p:attrNameLst>
                                      </p:cBhvr>
                                      <p:to>
                                        <p:strVal val="visible"/>
                                      </p:to>
                                    </p:set>
                                    <p:animEffect transition="in" filter="wipe(left)">
                                      <p:cBhvr>
                                        <p:cTn id="17" dur="500"/>
                                        <p:tgtEl>
                                          <p:spTgt spid="143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338"/>
                                        </p:tgtEl>
                                        <p:attrNameLst>
                                          <p:attrName>style.visibility</p:attrName>
                                        </p:attrNameLst>
                                      </p:cBhvr>
                                      <p:to>
                                        <p:strVal val="visible"/>
                                      </p:to>
                                    </p:set>
                                    <p:animEffect transition="in" filter="dissolve">
                                      <p:cBhvr>
                                        <p:cTn id="22"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8" grpId="0" autoUpdateAnimBg="0"/>
      <p:bldP spid="1434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a:extLst>
              <a:ext uri="{FF2B5EF4-FFF2-40B4-BE49-F238E27FC236}">
                <a16:creationId xmlns:a16="http://schemas.microsoft.com/office/drawing/2014/main" id="{A6CEACE6-8099-78C0-9A04-5376E44CC2B1}"/>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6387" name="Rectangle 4">
            <a:extLst>
              <a:ext uri="{FF2B5EF4-FFF2-40B4-BE49-F238E27FC236}">
                <a16:creationId xmlns:a16="http://schemas.microsoft.com/office/drawing/2014/main" id="{214FE9C1-156C-0F9A-D49B-0ABF30A4BCC6}"/>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en-US"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a:solidFill>
                  <a:srgbClr val="339966"/>
                </a:solidFill>
                <a:effectLst>
                  <a:outerShdw blurRad="38100" dist="38100" dir="2700000" algn="tl">
                    <a:srgbClr val="C0C0C0"/>
                  </a:outerShdw>
                </a:effectLst>
                <a:ea typeface="宋体" panose="02010600030101010101" pitchFamily="2" charset="-122"/>
              </a:rPr>
              <a:t>计算劳动力数据</a:t>
            </a:r>
          </a:p>
        </p:txBody>
      </p:sp>
      <p:grpSp>
        <p:nvGrpSpPr>
          <p:cNvPr id="16388" name="Group 4">
            <a:extLst>
              <a:ext uri="{FF2B5EF4-FFF2-40B4-BE49-F238E27FC236}">
                <a16:creationId xmlns:a16="http://schemas.microsoft.com/office/drawing/2014/main" id="{89341868-F4BA-D361-74F0-A010D50964BB}"/>
              </a:ext>
            </a:extLst>
          </p:cNvPr>
          <p:cNvGrpSpPr>
            <a:grpSpLocks/>
          </p:cNvGrpSpPr>
          <p:nvPr/>
        </p:nvGrpSpPr>
        <p:grpSpPr bwMode="auto">
          <a:xfrm>
            <a:off x="299336" y="148055"/>
            <a:ext cx="4139486" cy="529041"/>
            <a:chOff x="0" y="0"/>
            <a:chExt cx="5000" cy="661"/>
          </a:xfrm>
        </p:grpSpPr>
        <p:sp>
          <p:nvSpPr>
            <p:cNvPr id="16389" name="Line 9">
              <a:extLst>
                <a:ext uri="{FF2B5EF4-FFF2-40B4-BE49-F238E27FC236}">
                  <a16:creationId xmlns:a16="http://schemas.microsoft.com/office/drawing/2014/main" id="{68E05EC5-9383-3C1C-8ADE-92C9FB2453B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6390" name="Line 10">
              <a:extLst>
                <a:ext uri="{FF2B5EF4-FFF2-40B4-BE49-F238E27FC236}">
                  <a16:creationId xmlns:a16="http://schemas.microsoft.com/office/drawing/2014/main" id="{0CCFF350-7990-769C-36BC-77B888513614}"/>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6391" name="Rectangle 7">
            <a:extLst>
              <a:ext uri="{FF2B5EF4-FFF2-40B4-BE49-F238E27FC236}">
                <a16:creationId xmlns:a16="http://schemas.microsoft.com/office/drawing/2014/main" id="{DA493FD9-3FB2-F1B0-8656-CE739883FCE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26E70B24-139B-BA47-A0F6-4CB52E9BBD88}"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a:t>
            </a:fld>
            <a:endParaRPr lang="zh-CN" altLang="zh-CN" sz="857">
              <a:solidFill>
                <a:srgbClr val="777777"/>
              </a:solidFill>
              <a:latin typeface="Tahoma" panose="020B0604030504040204" pitchFamily="34" charset="0"/>
              <a:ea typeface="宋体" panose="02010600030101010101" pitchFamily="2" charset="-122"/>
            </a:endParaRPr>
          </a:p>
        </p:txBody>
      </p:sp>
      <p:sp>
        <p:nvSpPr>
          <p:cNvPr id="16392" name="Rectangle 6">
            <a:extLst>
              <a:ext uri="{FF2B5EF4-FFF2-40B4-BE49-F238E27FC236}">
                <a16:creationId xmlns:a16="http://schemas.microsoft.com/office/drawing/2014/main" id="{0DADFA56-3290-D9D3-51EF-E12E62CC5E25}"/>
              </a:ext>
            </a:extLst>
          </p:cNvPr>
          <p:cNvSpPr>
            <a:spLocks noChangeArrowheads="1"/>
          </p:cNvSpPr>
          <p:nvPr/>
        </p:nvSpPr>
        <p:spPr bwMode="auto">
          <a:xfrm>
            <a:off x="280928" y="716313"/>
            <a:ext cx="4149090" cy="541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669900"/>
              </a:buClr>
              <a:buNone/>
            </a:pPr>
            <a:r>
              <a:rPr lang="zh-CN" altLang="zh-CN" sz="1412">
                <a:solidFill>
                  <a:srgbClr val="000000"/>
                </a:solidFill>
                <a:ea typeface="宋体" panose="02010600030101010101" pitchFamily="2" charset="-122"/>
              </a:rPr>
              <a:t>用以下数据计算劳动力，失业率， 成年人口和劳动力参工率 </a:t>
            </a:r>
          </a:p>
        </p:txBody>
      </p:sp>
      <p:graphicFrame>
        <p:nvGraphicFramePr>
          <p:cNvPr id="16393" name="Group 9">
            <a:extLst>
              <a:ext uri="{FF2B5EF4-FFF2-40B4-BE49-F238E27FC236}">
                <a16:creationId xmlns:a16="http://schemas.microsoft.com/office/drawing/2014/main" id="{E44DC3C4-285F-5820-0FF1-61FC8ADB05AF}"/>
              </a:ext>
            </a:extLst>
          </p:cNvPr>
          <p:cNvGraphicFramePr>
            <a:graphicFrameLocks noGrp="1"/>
          </p:cNvGraphicFramePr>
          <p:nvPr/>
        </p:nvGraphicFramePr>
        <p:xfrm>
          <a:off x="918018" y="1401426"/>
          <a:ext cx="2874109" cy="1614336"/>
        </p:xfrm>
        <a:graphic>
          <a:graphicData uri="http://schemas.openxmlformats.org/drawingml/2006/table">
            <a:tbl>
              <a:tblPr/>
              <a:tblGrid>
                <a:gridCol w="1640747">
                  <a:extLst>
                    <a:ext uri="{9D8B030D-6E8A-4147-A177-3AD203B41FA5}">
                      <a16:colId xmlns:a16="http://schemas.microsoft.com/office/drawing/2014/main" val="3290766084"/>
                    </a:ext>
                  </a:extLst>
                </a:gridCol>
                <a:gridCol w="1233362">
                  <a:extLst>
                    <a:ext uri="{9D8B030D-6E8A-4147-A177-3AD203B41FA5}">
                      <a16:colId xmlns:a16="http://schemas.microsoft.com/office/drawing/2014/main" val="2836486276"/>
                    </a:ext>
                  </a:extLst>
                </a:gridCol>
              </a:tblGrid>
              <a:tr h="591470">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br>
                        <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美国成年人口的分类：2008.6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3955878482"/>
                  </a:ext>
                </a:extLst>
              </a:tr>
              <a:tr h="346558">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就业者</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itchFamily="2" charset="2"/>
                        <a:tabLst>
                          <a:tab pos="688975" algn="dec"/>
                        </a:tabLst>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tabLst>
                          <a:tab pos="688975" algn="dec"/>
                        </a:tabLst>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tabLst>
                          <a:tab pos="688975" algn="dec"/>
                        </a:tabLst>
                        <a:defRPr sz="2100">
                          <a:solidFill>
                            <a:schemeClr val="tx1"/>
                          </a:solidFill>
                          <a:latin typeface="Arial" panose="020B0604020202020204" pitchFamily="34" charset="0"/>
                        </a:defRPr>
                      </a:lvl3pPr>
                      <a:lvl4pPr>
                        <a:spcBef>
                          <a:spcPct val="15000"/>
                        </a:spcBef>
                        <a:tabLst>
                          <a:tab pos="688975" algn="dec"/>
                        </a:tabLst>
                        <a:defRPr>
                          <a:solidFill>
                            <a:schemeClr val="tx1"/>
                          </a:solidFill>
                          <a:latin typeface="Arial" panose="020B0604020202020204" pitchFamily="34" charset="0"/>
                        </a:defRPr>
                      </a:lvl4pPr>
                      <a:lvl5pPr>
                        <a:spcBef>
                          <a:spcPct val="20000"/>
                        </a:spcBef>
                        <a:tabLst>
                          <a:tab pos="688975" algn="dec"/>
                        </a:tabLst>
                        <a:defRPr>
                          <a:solidFill>
                            <a:schemeClr val="tx1"/>
                          </a:solidFill>
                          <a:latin typeface="Arial" panose="020B0604020202020204" pitchFamily="34" charset="0"/>
                        </a:defRPr>
                      </a:lvl5pPr>
                      <a:lvl6pPr fontAlgn="base">
                        <a:spcBef>
                          <a:spcPct val="20000"/>
                        </a:spcBef>
                        <a:spcAft>
                          <a:spcPct val="0"/>
                        </a:spcAft>
                        <a:tabLst>
                          <a:tab pos="688975" algn="dec"/>
                        </a:tabLst>
                        <a:defRPr>
                          <a:solidFill>
                            <a:schemeClr val="tx1"/>
                          </a:solidFill>
                          <a:latin typeface="Arial" panose="020B0604020202020204" pitchFamily="34" charset="0"/>
                        </a:defRPr>
                      </a:lvl6pPr>
                      <a:lvl7pPr fontAlgn="base">
                        <a:spcBef>
                          <a:spcPct val="20000"/>
                        </a:spcBef>
                        <a:spcAft>
                          <a:spcPct val="0"/>
                        </a:spcAft>
                        <a:tabLst>
                          <a:tab pos="688975" algn="dec"/>
                        </a:tabLst>
                        <a:defRPr>
                          <a:solidFill>
                            <a:schemeClr val="tx1"/>
                          </a:solidFill>
                          <a:latin typeface="Arial" panose="020B0604020202020204" pitchFamily="34" charset="0"/>
                        </a:defRPr>
                      </a:lvl7pPr>
                      <a:lvl8pPr fontAlgn="base">
                        <a:spcBef>
                          <a:spcPct val="20000"/>
                        </a:spcBef>
                        <a:spcAft>
                          <a:spcPct val="0"/>
                        </a:spcAft>
                        <a:tabLst>
                          <a:tab pos="688975" algn="dec"/>
                        </a:tabLst>
                        <a:defRPr>
                          <a:solidFill>
                            <a:schemeClr val="tx1"/>
                          </a:solidFill>
                          <a:latin typeface="Arial" panose="020B0604020202020204" pitchFamily="34" charset="0"/>
                        </a:defRPr>
                      </a:lvl8pPr>
                      <a:lvl9pPr fontAlgn="base">
                        <a:spcBef>
                          <a:spcPct val="20000"/>
                        </a:spcBef>
                        <a:spcAft>
                          <a:spcPct val="0"/>
                        </a:spcAft>
                        <a:tabLst>
                          <a:tab pos="688975" algn="dec"/>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1.459 亿</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753478"/>
                  </a:ext>
                </a:extLst>
              </a:tr>
              <a:tr h="341756">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失业者</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itchFamily="2" charset="2"/>
                        <a:tabLst>
                          <a:tab pos="688975" algn="dec"/>
                        </a:tabLst>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tabLst>
                          <a:tab pos="688975" algn="dec"/>
                        </a:tabLst>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tabLst>
                          <a:tab pos="688975" algn="dec"/>
                        </a:tabLst>
                        <a:defRPr sz="2100">
                          <a:solidFill>
                            <a:schemeClr val="tx1"/>
                          </a:solidFill>
                          <a:latin typeface="Arial" panose="020B0604020202020204" pitchFamily="34" charset="0"/>
                        </a:defRPr>
                      </a:lvl3pPr>
                      <a:lvl4pPr>
                        <a:spcBef>
                          <a:spcPct val="15000"/>
                        </a:spcBef>
                        <a:tabLst>
                          <a:tab pos="688975" algn="dec"/>
                        </a:tabLst>
                        <a:defRPr>
                          <a:solidFill>
                            <a:schemeClr val="tx1"/>
                          </a:solidFill>
                          <a:latin typeface="Arial" panose="020B0604020202020204" pitchFamily="34" charset="0"/>
                        </a:defRPr>
                      </a:lvl4pPr>
                      <a:lvl5pPr>
                        <a:spcBef>
                          <a:spcPct val="20000"/>
                        </a:spcBef>
                        <a:tabLst>
                          <a:tab pos="688975" algn="dec"/>
                        </a:tabLst>
                        <a:defRPr>
                          <a:solidFill>
                            <a:schemeClr val="tx1"/>
                          </a:solidFill>
                          <a:latin typeface="Arial" panose="020B0604020202020204" pitchFamily="34" charset="0"/>
                        </a:defRPr>
                      </a:lvl5pPr>
                      <a:lvl6pPr fontAlgn="base">
                        <a:spcBef>
                          <a:spcPct val="20000"/>
                        </a:spcBef>
                        <a:spcAft>
                          <a:spcPct val="0"/>
                        </a:spcAft>
                        <a:tabLst>
                          <a:tab pos="688975" algn="dec"/>
                        </a:tabLst>
                        <a:defRPr>
                          <a:solidFill>
                            <a:schemeClr val="tx1"/>
                          </a:solidFill>
                          <a:latin typeface="Arial" panose="020B0604020202020204" pitchFamily="34" charset="0"/>
                        </a:defRPr>
                      </a:lvl6pPr>
                      <a:lvl7pPr fontAlgn="base">
                        <a:spcBef>
                          <a:spcPct val="20000"/>
                        </a:spcBef>
                        <a:spcAft>
                          <a:spcPct val="0"/>
                        </a:spcAft>
                        <a:tabLst>
                          <a:tab pos="688975" algn="dec"/>
                        </a:tabLst>
                        <a:defRPr>
                          <a:solidFill>
                            <a:schemeClr val="tx1"/>
                          </a:solidFill>
                          <a:latin typeface="Arial" panose="020B0604020202020204" pitchFamily="34" charset="0"/>
                        </a:defRPr>
                      </a:lvl7pPr>
                      <a:lvl8pPr fontAlgn="base">
                        <a:spcBef>
                          <a:spcPct val="20000"/>
                        </a:spcBef>
                        <a:spcAft>
                          <a:spcPct val="0"/>
                        </a:spcAft>
                        <a:tabLst>
                          <a:tab pos="688975" algn="dec"/>
                        </a:tabLst>
                        <a:defRPr>
                          <a:solidFill>
                            <a:schemeClr val="tx1"/>
                          </a:solidFill>
                          <a:latin typeface="Arial" panose="020B0604020202020204" pitchFamily="34" charset="0"/>
                        </a:defRPr>
                      </a:lvl8pPr>
                      <a:lvl9pPr fontAlgn="base">
                        <a:spcBef>
                          <a:spcPct val="20000"/>
                        </a:spcBef>
                        <a:spcAft>
                          <a:spcPct val="0"/>
                        </a:spcAft>
                        <a:tabLst>
                          <a:tab pos="688975" algn="dec"/>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8.5 百万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94543553"/>
                  </a:ext>
                </a:extLst>
              </a:tr>
              <a:tr h="33455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非劳动力</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105000"/>
                        </a:lnSpc>
                        <a:spcBef>
                          <a:spcPct val="45000"/>
                        </a:spcBef>
                        <a:buClr>
                          <a:srgbClr val="339966"/>
                        </a:buClr>
                        <a:buSzPct val="120000"/>
                        <a:buFont typeface="Wingdings" pitchFamily="2" charset="2"/>
                        <a:tabLst>
                          <a:tab pos="688975" algn="dec"/>
                        </a:tabLst>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tabLst>
                          <a:tab pos="688975" algn="dec"/>
                        </a:tabLst>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tabLst>
                          <a:tab pos="688975" algn="dec"/>
                        </a:tabLst>
                        <a:defRPr sz="2100">
                          <a:solidFill>
                            <a:schemeClr val="tx1"/>
                          </a:solidFill>
                          <a:latin typeface="Arial" panose="020B0604020202020204" pitchFamily="34" charset="0"/>
                        </a:defRPr>
                      </a:lvl3pPr>
                      <a:lvl4pPr>
                        <a:spcBef>
                          <a:spcPct val="15000"/>
                        </a:spcBef>
                        <a:tabLst>
                          <a:tab pos="688975" algn="dec"/>
                        </a:tabLst>
                        <a:defRPr>
                          <a:solidFill>
                            <a:schemeClr val="tx1"/>
                          </a:solidFill>
                          <a:latin typeface="Arial" panose="020B0604020202020204" pitchFamily="34" charset="0"/>
                        </a:defRPr>
                      </a:lvl4pPr>
                      <a:lvl5pPr>
                        <a:spcBef>
                          <a:spcPct val="20000"/>
                        </a:spcBef>
                        <a:tabLst>
                          <a:tab pos="688975" algn="dec"/>
                        </a:tabLst>
                        <a:defRPr>
                          <a:solidFill>
                            <a:schemeClr val="tx1"/>
                          </a:solidFill>
                          <a:latin typeface="Arial" panose="020B0604020202020204" pitchFamily="34" charset="0"/>
                        </a:defRPr>
                      </a:lvl5pPr>
                      <a:lvl6pPr fontAlgn="base">
                        <a:spcBef>
                          <a:spcPct val="20000"/>
                        </a:spcBef>
                        <a:spcAft>
                          <a:spcPct val="0"/>
                        </a:spcAft>
                        <a:tabLst>
                          <a:tab pos="688975" algn="dec"/>
                        </a:tabLst>
                        <a:defRPr>
                          <a:solidFill>
                            <a:schemeClr val="tx1"/>
                          </a:solidFill>
                          <a:latin typeface="Arial" panose="020B0604020202020204" pitchFamily="34" charset="0"/>
                        </a:defRPr>
                      </a:lvl6pPr>
                      <a:lvl7pPr fontAlgn="base">
                        <a:spcBef>
                          <a:spcPct val="20000"/>
                        </a:spcBef>
                        <a:spcAft>
                          <a:spcPct val="0"/>
                        </a:spcAft>
                        <a:tabLst>
                          <a:tab pos="688975" algn="dec"/>
                        </a:tabLst>
                        <a:defRPr>
                          <a:solidFill>
                            <a:schemeClr val="tx1"/>
                          </a:solidFill>
                          <a:latin typeface="Arial" panose="020B0604020202020204" pitchFamily="34" charset="0"/>
                        </a:defRPr>
                      </a:lvl7pPr>
                      <a:lvl8pPr fontAlgn="base">
                        <a:spcBef>
                          <a:spcPct val="20000"/>
                        </a:spcBef>
                        <a:spcAft>
                          <a:spcPct val="0"/>
                        </a:spcAft>
                        <a:tabLst>
                          <a:tab pos="688975" algn="dec"/>
                        </a:tabLst>
                        <a:defRPr>
                          <a:solidFill>
                            <a:schemeClr val="tx1"/>
                          </a:solidFill>
                          <a:latin typeface="Arial" panose="020B0604020202020204" pitchFamily="34" charset="0"/>
                        </a:defRPr>
                      </a:lvl8pPr>
                      <a:lvl9pPr fontAlgn="base">
                        <a:spcBef>
                          <a:spcPct val="20000"/>
                        </a:spcBef>
                        <a:spcAft>
                          <a:spcPct val="0"/>
                        </a:spcAft>
                        <a:tabLst>
                          <a:tab pos="688975" algn="dec"/>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tab pos="688975" algn="dec"/>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79.20 百万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75423772"/>
                  </a:ext>
                </a:extLst>
              </a:tr>
            </a:tbl>
          </a:graphicData>
        </a:graphic>
      </p:graphicFrame>
    </p:spTree>
    <p:extLst>
      <p:ext uri="{BB962C8B-B14F-4D97-AF65-F5344CB8AC3E}">
        <p14:creationId xmlns:p14="http://schemas.microsoft.com/office/powerpoint/2010/main" val="71289423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6393"/>
                                        </p:tgtEl>
                                        <p:attrNameLst>
                                          <p:attrName>style.visibility</p:attrName>
                                        </p:attrNameLst>
                                      </p:cBhvr>
                                      <p:to>
                                        <p:strVal val="visible"/>
                                      </p:to>
                                    </p:set>
                                    <p:animEffect transition="in" filter="dissolve">
                                      <p:cBhvr>
                                        <p:cTn id="7" dur="500"/>
                                        <p:tgtEl>
                                          <p:spTgt spid="16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D1A8274-83A9-EA0C-FF65-20C5167CCBC5}"/>
              </a:ext>
            </a:extLst>
          </p:cNvPr>
          <p:cNvSpPr>
            <a:spLocks noGrp="1" noChangeArrowheads="1"/>
          </p:cNvSpPr>
          <p:nvPr>
            <p:ph type="body" idx="1"/>
          </p:nvPr>
        </p:nvSpPr>
        <p:spPr>
          <a:xfrm>
            <a:off x="312142" y="720315"/>
            <a:ext cx="4143488" cy="2406697"/>
          </a:xfrm>
        </p:spPr>
        <p:txBody>
          <a:bodyPr/>
          <a:lstStyle/>
          <a:p>
            <a:pPr>
              <a:lnSpc>
                <a:spcPct val="150000"/>
              </a:lnSpc>
              <a:spcBef>
                <a:spcPct val="80000"/>
              </a:spcBef>
              <a:buClr>
                <a:srgbClr val="003399"/>
              </a:buClr>
              <a:buFont typeface="Wingdings" pitchFamily="2" charset="2"/>
              <a:buNone/>
            </a:pPr>
            <a:r>
              <a:rPr lang="zh-CN" altLang="zh-CN">
                <a:ea typeface="宋体" panose="02010600030101010101" pitchFamily="2" charset="-122"/>
              </a:rPr>
              <a:t>劳动力 	=  就业者 + 失业者        			                   =  1.459 + 0.085</a:t>
            </a:r>
            <a:br>
              <a:rPr lang="zh-CN" altLang="zh-CN">
                <a:ea typeface="宋体" panose="02010600030101010101" pitchFamily="2" charset="-122"/>
              </a:rPr>
            </a:br>
            <a:r>
              <a:rPr lang="zh-CN" altLang="zh-CN">
                <a:ea typeface="宋体" panose="02010600030101010101" pitchFamily="2" charset="-122"/>
              </a:rPr>
              <a:t>			=  </a:t>
            </a:r>
            <a:r>
              <a:rPr lang="zh-CN" altLang="zh-CN">
                <a:solidFill>
                  <a:srgbClr val="FF0000"/>
                </a:solidFill>
                <a:ea typeface="宋体" panose="02010600030101010101" pitchFamily="2" charset="-122"/>
              </a:rPr>
              <a:t>1.544</a:t>
            </a:r>
            <a:r>
              <a:rPr lang="zh-CN" altLang="zh-CN">
                <a:ea typeface="宋体" panose="02010600030101010101" pitchFamily="2" charset="-122"/>
              </a:rPr>
              <a:t> 亿</a:t>
            </a:r>
          </a:p>
          <a:p>
            <a:pPr>
              <a:lnSpc>
                <a:spcPct val="150000"/>
              </a:lnSpc>
              <a:spcBef>
                <a:spcPct val="80000"/>
              </a:spcBef>
              <a:buClr>
                <a:srgbClr val="003399"/>
              </a:buClr>
              <a:buFont typeface="Wingdings" pitchFamily="2" charset="2"/>
              <a:buNone/>
            </a:pPr>
            <a:r>
              <a:rPr lang="zh-CN" altLang="zh-CN">
                <a:ea typeface="宋体" panose="02010600030101010101" pitchFamily="2" charset="-122"/>
              </a:rPr>
              <a:t>   失业率	=  100 x (失业者人数)/(劳动力)</a:t>
            </a:r>
            <a:br>
              <a:rPr lang="zh-CN" altLang="zh-CN">
                <a:ea typeface="宋体" panose="02010600030101010101" pitchFamily="2" charset="-122"/>
              </a:rPr>
            </a:br>
            <a:r>
              <a:rPr lang="zh-CN" altLang="zh-CN">
                <a:ea typeface="宋体" panose="02010600030101010101" pitchFamily="2" charset="-122"/>
              </a:rPr>
              <a:t>		=  100 x 8.5/154.4</a:t>
            </a:r>
            <a:br>
              <a:rPr lang="zh-CN" altLang="zh-CN">
                <a:ea typeface="宋体" panose="02010600030101010101" pitchFamily="2" charset="-122"/>
              </a:rPr>
            </a:br>
            <a:r>
              <a:rPr lang="zh-CN" altLang="zh-CN">
                <a:ea typeface="宋体" panose="02010600030101010101" pitchFamily="2" charset="-122"/>
              </a:rPr>
              <a:t>		=  </a:t>
            </a:r>
            <a:r>
              <a:rPr lang="zh-CN" altLang="zh-CN">
                <a:solidFill>
                  <a:srgbClr val="FF0000"/>
                </a:solidFill>
                <a:ea typeface="宋体" panose="02010600030101010101" pitchFamily="2" charset="-122"/>
              </a:rPr>
              <a:t>5.5%</a:t>
            </a:r>
            <a:endParaRPr lang="zh-CN" altLang="zh-CN">
              <a:ea typeface="宋体" panose="02010600030101010101" pitchFamily="2" charset="-122"/>
            </a:endParaRPr>
          </a:p>
        </p:txBody>
      </p:sp>
      <p:sp>
        <p:nvSpPr>
          <p:cNvPr id="18435" name="Rectangle 8">
            <a:extLst>
              <a:ext uri="{FF2B5EF4-FFF2-40B4-BE49-F238E27FC236}">
                <a16:creationId xmlns:a16="http://schemas.microsoft.com/office/drawing/2014/main" id="{63A0C1F8-82C1-720A-0715-90E971E1BF9C}"/>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8436" name="Rectangle 4">
            <a:extLst>
              <a:ext uri="{FF2B5EF4-FFF2-40B4-BE49-F238E27FC236}">
                <a16:creationId xmlns:a16="http://schemas.microsoft.com/office/drawing/2014/main" id="{7C63DA7E-7E1C-45D8-0FF7-C530380C4AA8}"/>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18437" name="Group 5">
            <a:extLst>
              <a:ext uri="{FF2B5EF4-FFF2-40B4-BE49-F238E27FC236}">
                <a16:creationId xmlns:a16="http://schemas.microsoft.com/office/drawing/2014/main" id="{4A9B538E-D3AD-1891-9F3B-599B2CCCA889}"/>
              </a:ext>
            </a:extLst>
          </p:cNvPr>
          <p:cNvGrpSpPr>
            <a:grpSpLocks/>
          </p:cNvGrpSpPr>
          <p:nvPr/>
        </p:nvGrpSpPr>
        <p:grpSpPr bwMode="auto">
          <a:xfrm>
            <a:off x="299336" y="148055"/>
            <a:ext cx="4139486" cy="529041"/>
            <a:chOff x="0" y="0"/>
            <a:chExt cx="5000" cy="661"/>
          </a:xfrm>
        </p:grpSpPr>
        <p:sp>
          <p:nvSpPr>
            <p:cNvPr id="18438" name="Line 9">
              <a:extLst>
                <a:ext uri="{FF2B5EF4-FFF2-40B4-BE49-F238E27FC236}">
                  <a16:creationId xmlns:a16="http://schemas.microsoft.com/office/drawing/2014/main" id="{8FE09DC0-5308-56D4-6110-E22A463AF471}"/>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39" name="Line 10">
              <a:extLst>
                <a:ext uri="{FF2B5EF4-FFF2-40B4-BE49-F238E27FC236}">
                  <a16:creationId xmlns:a16="http://schemas.microsoft.com/office/drawing/2014/main" id="{EDAA0CFF-A6DF-6753-F4A8-84204016871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40" name="Rectangle 8">
            <a:extLst>
              <a:ext uri="{FF2B5EF4-FFF2-40B4-BE49-F238E27FC236}">
                <a16:creationId xmlns:a16="http://schemas.microsoft.com/office/drawing/2014/main" id="{1750863D-D51D-AA63-8C46-BC1224435A66}"/>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AC5CB231-374D-A247-B9F5-ECA0EECCA3E1}"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192240"/>
      </p:ext>
    </p:extLst>
  </p:cSld>
  <p:clrMapOvr>
    <a:masterClrMapping/>
  </p:clrMapOvr>
  <p:transition spd="med">
    <p:diamon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BEE89A4-90B3-D2B5-6565-533AAEE3CFF9}"/>
              </a:ext>
            </a:extLst>
          </p:cNvPr>
          <p:cNvSpPr>
            <a:spLocks noGrp="1" noChangeArrowheads="1"/>
          </p:cNvSpPr>
          <p:nvPr>
            <p:ph type="body" idx="1"/>
          </p:nvPr>
        </p:nvSpPr>
        <p:spPr>
          <a:xfrm>
            <a:off x="295335" y="737123"/>
            <a:ext cx="4143487" cy="2406696"/>
          </a:xfrm>
        </p:spPr>
        <p:txBody>
          <a:bodyPr/>
          <a:lstStyle/>
          <a:p>
            <a:pPr>
              <a:lnSpc>
                <a:spcPct val="150000"/>
              </a:lnSpc>
              <a:spcBef>
                <a:spcPct val="80000"/>
              </a:spcBef>
              <a:buClr>
                <a:srgbClr val="003399"/>
              </a:buClr>
              <a:buFont typeface="Wingdings" pitchFamily="2" charset="2"/>
              <a:buNone/>
            </a:pPr>
            <a:r>
              <a:rPr lang="zh-CN" altLang="zh-CN">
                <a:ea typeface="宋体" panose="02010600030101010101" pitchFamily="2" charset="-122"/>
              </a:rPr>
              <a:t>成年人口	=  劳动力 + 非劳动力</a:t>
            </a:r>
            <a:br>
              <a:rPr lang="zh-CN" altLang="zh-CN">
                <a:ea typeface="宋体" panose="02010600030101010101" pitchFamily="2" charset="-122"/>
              </a:rPr>
            </a:br>
            <a:r>
              <a:rPr lang="zh-CN" altLang="zh-CN">
                <a:ea typeface="宋体" panose="02010600030101010101" pitchFamily="2" charset="-122"/>
              </a:rPr>
              <a:t>	         =  154.4 + 79.2</a:t>
            </a:r>
            <a:br>
              <a:rPr lang="zh-CN" altLang="zh-CN">
                <a:ea typeface="宋体" panose="02010600030101010101" pitchFamily="2" charset="-122"/>
              </a:rPr>
            </a:br>
            <a:r>
              <a:rPr lang="zh-CN" altLang="zh-CN">
                <a:ea typeface="宋体" panose="02010600030101010101" pitchFamily="2" charset="-122"/>
              </a:rPr>
              <a:t>	         =  </a:t>
            </a:r>
            <a:r>
              <a:rPr lang="zh-CN" altLang="zh-CN">
                <a:solidFill>
                  <a:srgbClr val="FF0000"/>
                </a:solidFill>
                <a:ea typeface="宋体" panose="02010600030101010101" pitchFamily="2" charset="-122"/>
              </a:rPr>
              <a:t>233.6 百万</a:t>
            </a:r>
          </a:p>
          <a:p>
            <a:pPr>
              <a:lnSpc>
                <a:spcPct val="150000"/>
              </a:lnSpc>
              <a:spcBef>
                <a:spcPct val="80000"/>
              </a:spcBef>
              <a:buClr>
                <a:srgbClr val="003399"/>
              </a:buClr>
              <a:buFont typeface="Wingdings" pitchFamily="2" charset="2"/>
              <a:buNone/>
            </a:pPr>
            <a:r>
              <a:rPr lang="zh-CN" altLang="zh-CN">
                <a:ea typeface="宋体" panose="02010600030101010101" pitchFamily="2" charset="-122"/>
              </a:rPr>
              <a:t>劳动力参工率	=  100 x (劳动力)/(成年人口)</a:t>
            </a:r>
            <a:br>
              <a:rPr lang="zh-CN" altLang="zh-CN">
                <a:ea typeface="宋体" panose="02010600030101010101" pitchFamily="2" charset="-122"/>
              </a:rPr>
            </a:br>
            <a:r>
              <a:rPr lang="zh-CN" altLang="zh-CN">
                <a:ea typeface="宋体" panose="02010600030101010101" pitchFamily="2" charset="-122"/>
              </a:rPr>
              <a:t>	=  100 x 154.4/233.6</a:t>
            </a:r>
            <a:br>
              <a:rPr lang="zh-CN" altLang="zh-CN">
                <a:ea typeface="宋体" panose="02010600030101010101" pitchFamily="2" charset="-122"/>
              </a:rPr>
            </a:br>
            <a:r>
              <a:rPr lang="zh-CN" altLang="zh-CN">
                <a:ea typeface="宋体" panose="02010600030101010101" pitchFamily="2" charset="-122"/>
              </a:rPr>
              <a:t>	=  </a:t>
            </a:r>
            <a:r>
              <a:rPr lang="zh-CN" altLang="zh-CN">
                <a:solidFill>
                  <a:srgbClr val="FF0000"/>
                </a:solidFill>
                <a:ea typeface="宋体" panose="02010600030101010101" pitchFamily="2" charset="-122"/>
              </a:rPr>
              <a:t>66.1%</a:t>
            </a:r>
            <a:endParaRPr lang="zh-CN" altLang="zh-CN">
              <a:ea typeface="宋体" panose="02010600030101010101" pitchFamily="2" charset="-122"/>
            </a:endParaRPr>
          </a:p>
        </p:txBody>
      </p:sp>
      <p:sp>
        <p:nvSpPr>
          <p:cNvPr id="20483" name="Rectangle 8">
            <a:extLst>
              <a:ext uri="{FF2B5EF4-FFF2-40B4-BE49-F238E27FC236}">
                <a16:creationId xmlns:a16="http://schemas.microsoft.com/office/drawing/2014/main" id="{FC879230-399D-0304-98AB-A63C347DC971}"/>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0484" name="Rectangle 4">
            <a:extLst>
              <a:ext uri="{FF2B5EF4-FFF2-40B4-BE49-F238E27FC236}">
                <a16:creationId xmlns:a16="http://schemas.microsoft.com/office/drawing/2014/main" id="{045FAE20-9FCA-EB43-A330-65635BA2AFE4}"/>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20485" name="Group 5">
            <a:extLst>
              <a:ext uri="{FF2B5EF4-FFF2-40B4-BE49-F238E27FC236}">
                <a16:creationId xmlns:a16="http://schemas.microsoft.com/office/drawing/2014/main" id="{3B53DC01-8CF4-90F1-E689-962DF3BBB0EE}"/>
              </a:ext>
            </a:extLst>
          </p:cNvPr>
          <p:cNvGrpSpPr>
            <a:grpSpLocks/>
          </p:cNvGrpSpPr>
          <p:nvPr/>
        </p:nvGrpSpPr>
        <p:grpSpPr bwMode="auto">
          <a:xfrm>
            <a:off x="299336" y="148055"/>
            <a:ext cx="4139486" cy="529041"/>
            <a:chOff x="0" y="0"/>
            <a:chExt cx="5000" cy="661"/>
          </a:xfrm>
        </p:grpSpPr>
        <p:sp>
          <p:nvSpPr>
            <p:cNvPr id="20486" name="Line 9">
              <a:extLst>
                <a:ext uri="{FF2B5EF4-FFF2-40B4-BE49-F238E27FC236}">
                  <a16:creationId xmlns:a16="http://schemas.microsoft.com/office/drawing/2014/main" id="{964A4A63-981F-8C76-780E-380E748C41A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0487" name="Line 10">
              <a:extLst>
                <a:ext uri="{FF2B5EF4-FFF2-40B4-BE49-F238E27FC236}">
                  <a16:creationId xmlns:a16="http://schemas.microsoft.com/office/drawing/2014/main" id="{62F85B73-F3E8-F3C0-189B-E3098097F340}"/>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20488" name="Rectangle 8">
            <a:extLst>
              <a:ext uri="{FF2B5EF4-FFF2-40B4-BE49-F238E27FC236}">
                <a16:creationId xmlns:a16="http://schemas.microsoft.com/office/drawing/2014/main" id="{D4DAED69-A4E3-49CC-B538-EEF5600AD0A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92FA59AC-99F0-814B-B484-069928A7F3C2}"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22158466"/>
      </p:ext>
    </p:extLst>
  </p:cSld>
  <p:clrMapOvr>
    <a:masterClrMapping/>
  </p:clrMapOvr>
  <p:transition spd="med">
    <p:diamon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7936EE-A1CC-3532-2C5A-0C17AB57C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6239"/>
            <a:ext cx="4610100" cy="26939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934581C7-930C-6D59-106B-9DC74CA5398D}"/>
              </a:ext>
            </a:extLst>
          </p:cNvPr>
          <p:cNvSpPr txBox="1">
            <a:spLocks noChangeArrowheads="1"/>
          </p:cNvSpPr>
          <p:nvPr/>
        </p:nvSpPr>
        <p:spPr bwMode="auto">
          <a:xfrm>
            <a:off x="0" y="128846"/>
            <a:ext cx="4610100" cy="32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zh-CN" altLang="en-US" sz="1815" dirty="0">
                <a:ea typeface="宋体" panose="02010600030101010101" pitchFamily="2" charset="-122"/>
              </a:rPr>
              <a:t>中国人口数据（</a:t>
            </a:r>
            <a:r>
              <a:rPr lang="en-US" altLang="zh-CN" sz="1815" dirty="0">
                <a:ea typeface="宋体" panose="02010600030101010101" pitchFamily="2" charset="-122"/>
              </a:rPr>
              <a:t> 2000-2022</a:t>
            </a:r>
            <a:r>
              <a:rPr lang="zh-CN" altLang="en-US" sz="1815" dirty="0">
                <a:ea typeface="宋体" panose="02010600030101010101" pitchFamily="2" charset="-122"/>
              </a:rPr>
              <a:t>年）</a:t>
            </a:r>
            <a:endParaRPr lang="zh-CN" altLang="zh-CN" sz="1815" dirty="0">
              <a:ea typeface="宋体" panose="02010600030101010101" pitchFamily="2" charset="-122"/>
            </a:endParaRPr>
          </a:p>
        </p:txBody>
      </p:sp>
      <p:sp>
        <p:nvSpPr>
          <p:cNvPr id="7" name="页脚占位符 1">
            <a:extLst>
              <a:ext uri="{FF2B5EF4-FFF2-40B4-BE49-F238E27FC236}">
                <a16:creationId xmlns:a16="http://schemas.microsoft.com/office/drawing/2014/main" id="{9E3E4542-AA0F-C50B-54BA-CAA9B0E4AFFE}"/>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8" name="灯片编号占位符 2">
            <a:extLst>
              <a:ext uri="{FF2B5EF4-FFF2-40B4-BE49-F238E27FC236}">
                <a16:creationId xmlns:a16="http://schemas.microsoft.com/office/drawing/2014/main" id="{0A871430-E412-6D5F-0D8A-3475D8AAC997}"/>
              </a:ext>
            </a:extLst>
          </p:cNvPr>
          <p:cNvSpPr>
            <a:spLocks noGrp="1"/>
          </p:cNvSpPr>
          <p:nvPr>
            <p:ph type="sldNum" sz="quarter" idx="11"/>
          </p:nvPr>
        </p:nvSpPr>
        <p:spPr>
          <a:xfrm>
            <a:off x="4185907" y="3217216"/>
            <a:ext cx="344957" cy="185855"/>
          </a:xfrm>
        </p:spPr>
        <p:txBody>
          <a:bodyPr/>
          <a:lstStyle/>
          <a:p>
            <a:pPr defTabSz="461040" fontAlgn="base">
              <a:spcBef>
                <a:spcPct val="0"/>
              </a:spcBef>
              <a:spcAft>
                <a:spcPct val="0"/>
              </a:spcAft>
            </a:pPr>
            <a:fld id="{C06B68B3-6082-7A4A-8A7E-6AA6D50A263F}" type="slidenum">
              <a:rPr lang="zh-CN" altLang="zh-CN">
                <a:latin typeface="Arial" panose="020B0604020202020204" pitchFamily="34" charset="0"/>
              </a:rPr>
              <a:pPr defTabSz="461040" fontAlgn="base">
                <a:spcBef>
                  <a:spcPct val="0"/>
                </a:spcBef>
                <a:spcAft>
                  <a:spcPct val="0"/>
                </a:spcAft>
              </a:pPr>
              <a:t>9</a:t>
            </a:fld>
            <a:endParaRPr lang="en-US" altLang="zh-CN">
              <a:latin typeface="Arial" panose="020B0604020202020204" pitchFamily="34" charset="0"/>
            </a:endParaRPr>
          </a:p>
        </p:txBody>
      </p:sp>
    </p:spTree>
    <p:extLst>
      <p:ext uri="{BB962C8B-B14F-4D97-AF65-F5344CB8AC3E}">
        <p14:creationId xmlns:p14="http://schemas.microsoft.com/office/powerpoint/2010/main" val="2669511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0FD36B38-01BE-71E1-BD66-1DD7A03E1CE4}"/>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F4A8F4EC-A9A6-67AF-D615-444991A3F4BF}"/>
              </a:ext>
            </a:extLst>
          </p:cNvPr>
          <p:cNvSpPr>
            <a:spLocks noGrp="1"/>
          </p:cNvSpPr>
          <p:nvPr>
            <p:ph type="sldNum" sz="quarter" idx="11"/>
          </p:nvPr>
        </p:nvSpPr>
        <p:spPr/>
        <p:txBody>
          <a:bodyPr/>
          <a:lstStyle/>
          <a:p>
            <a:pPr defTabSz="461040" fontAlgn="base">
              <a:spcBef>
                <a:spcPct val="0"/>
              </a:spcBef>
              <a:spcAft>
                <a:spcPct val="0"/>
              </a:spcAft>
            </a:pPr>
            <a:fld id="{7C3EA81B-BCE6-BF4C-A920-3411709E158E}" type="slidenum">
              <a:rPr lang="zh-CN" altLang="zh-CN">
                <a:latin typeface="Arial" panose="020B0604020202020204" pitchFamily="34" charset="0"/>
              </a:rPr>
              <a:pPr defTabSz="461040" fontAlgn="base">
                <a:spcBef>
                  <a:spcPct val="0"/>
                </a:spcBef>
                <a:spcAft>
                  <a:spcPct val="0"/>
                </a:spcAft>
              </a:pPr>
              <a:t>10</a:t>
            </a:fld>
            <a:endParaRPr lang="en-US" altLang="zh-CN">
              <a:latin typeface="Arial" panose="020B0604020202020204" pitchFamily="34" charset="0"/>
            </a:endParaRPr>
          </a:p>
        </p:txBody>
      </p:sp>
      <p:sp>
        <p:nvSpPr>
          <p:cNvPr id="22530" name="Rectangle 2">
            <a:extLst>
              <a:ext uri="{FF2B5EF4-FFF2-40B4-BE49-F238E27FC236}">
                <a16:creationId xmlns:a16="http://schemas.microsoft.com/office/drawing/2014/main" id="{6795E380-201F-09AC-EA6C-78635C2198A8}"/>
              </a:ext>
            </a:extLst>
          </p:cNvPr>
          <p:cNvSpPr>
            <a:spLocks noGrp="1" noChangeArrowheads="1"/>
          </p:cNvSpPr>
          <p:nvPr>
            <p:ph type="title" idx="4294967295"/>
          </p:nvPr>
        </p:nvSpPr>
        <p:spPr>
          <a:xfrm>
            <a:off x="0" y="128846"/>
            <a:ext cx="4610100" cy="327349"/>
          </a:xfrm>
        </p:spPr>
        <p:txBody>
          <a:bodyPr/>
          <a:lstStyle/>
          <a:p>
            <a:r>
              <a:rPr lang="zh-CN" altLang="zh-CN" sz="1815" dirty="0">
                <a:ea typeface="宋体" panose="02010600030101010101" pitchFamily="2" charset="-122"/>
              </a:rPr>
              <a:t>不同人口群体的劳动力市场数据</a:t>
            </a:r>
          </a:p>
        </p:txBody>
      </p:sp>
      <p:sp>
        <p:nvSpPr>
          <p:cNvPr id="22531" name="Rectangle 3">
            <a:extLst>
              <a:ext uri="{FF2B5EF4-FFF2-40B4-BE49-F238E27FC236}">
                <a16:creationId xmlns:a16="http://schemas.microsoft.com/office/drawing/2014/main" id="{9CE8F2CD-07FD-61E6-D524-FEAEAE42B454}"/>
              </a:ext>
            </a:extLst>
          </p:cNvPr>
          <p:cNvSpPr>
            <a:spLocks noGrp="1" noChangeArrowheads="1"/>
          </p:cNvSpPr>
          <p:nvPr>
            <p:ph type="body" idx="4294967295"/>
          </p:nvPr>
        </p:nvSpPr>
        <p:spPr/>
        <p:txBody>
          <a:bodyPr/>
          <a:lstStyle/>
          <a:p>
            <a:r>
              <a:rPr lang="zh-CN" altLang="zh-CN">
                <a:ea typeface="宋体" panose="02010600030101010101" pitchFamily="2" charset="-122"/>
              </a:rPr>
              <a:t>劳工统计局统计了这些人口群体数据</a:t>
            </a:r>
          </a:p>
          <a:p>
            <a:endParaRPr lang="zh-CN" altLang="zh-CN">
              <a:ea typeface="宋体" panose="02010600030101010101" pitchFamily="2" charset="-122"/>
            </a:endParaRPr>
          </a:p>
          <a:p>
            <a:r>
              <a:rPr lang="zh-CN" altLang="zh-CN">
                <a:ea typeface="宋体" panose="02010600030101010101" pitchFamily="2" charset="-122"/>
              </a:rPr>
              <a:t>这些数据揭示了不同人口群体的劳动市场经历 </a:t>
            </a:r>
          </a:p>
        </p:txBody>
      </p:sp>
      <p:sp>
        <p:nvSpPr>
          <p:cNvPr id="22532" name="FlagCount" hidden="1">
            <a:hlinkClick r:id="rId3" action="ppaction://hlinkfile"/>
            <a:extLst>
              <a:ext uri="{FF2B5EF4-FFF2-40B4-BE49-F238E27FC236}">
                <a16:creationId xmlns:a16="http://schemas.microsoft.com/office/drawing/2014/main" id="{C33E80C0-6F97-067B-5713-57D1E0BB5680}"/>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520993A-E4EF-4E9F-8B6F-FA04280CBDEA}"/>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3E909241-A463-C446-2A8C-1E7EFC6D47C3}"/>
              </a:ext>
            </a:extLst>
          </p:cNvPr>
          <p:cNvSpPr>
            <a:spLocks noGrp="1"/>
          </p:cNvSpPr>
          <p:nvPr>
            <p:ph type="sldNum" sz="quarter" idx="11"/>
          </p:nvPr>
        </p:nvSpPr>
        <p:spPr/>
        <p:txBody>
          <a:bodyPr/>
          <a:lstStyle/>
          <a:p>
            <a:pPr defTabSz="461040" fontAlgn="base">
              <a:spcBef>
                <a:spcPct val="0"/>
              </a:spcBef>
              <a:spcAft>
                <a:spcPct val="0"/>
              </a:spcAft>
            </a:pPr>
            <a:fld id="{C06B68B3-6082-7A4A-8A7E-6AA6D50A263F}" type="slidenum">
              <a:rPr lang="zh-CN" altLang="zh-CN">
                <a:latin typeface="Arial" panose="020B0604020202020204" pitchFamily="34" charset="0"/>
              </a:rPr>
              <a:pPr defTabSz="461040" fontAlgn="base">
                <a:spcBef>
                  <a:spcPct val="0"/>
                </a:spcBef>
                <a:spcAft>
                  <a:spcPct val="0"/>
                </a:spcAft>
              </a:pPr>
              <a:t>11</a:t>
            </a:fld>
            <a:endParaRPr lang="en-US" altLang="zh-CN">
              <a:latin typeface="Arial" panose="020B0604020202020204" pitchFamily="34" charset="0"/>
            </a:endParaRPr>
          </a:p>
        </p:txBody>
      </p:sp>
      <p:sp>
        <p:nvSpPr>
          <p:cNvPr id="24578" name="Rectangle 2">
            <a:extLst>
              <a:ext uri="{FF2B5EF4-FFF2-40B4-BE49-F238E27FC236}">
                <a16:creationId xmlns:a16="http://schemas.microsoft.com/office/drawing/2014/main" id="{2D8727E9-35EA-86B1-7EFA-29EDFF4B9A1C}"/>
              </a:ext>
            </a:extLst>
          </p:cNvPr>
          <p:cNvSpPr>
            <a:spLocks noChangeArrowheads="1"/>
          </p:cNvSpPr>
          <p:nvPr/>
        </p:nvSpPr>
        <p:spPr bwMode="auto">
          <a:xfrm>
            <a:off x="481819" y="789947"/>
            <a:ext cx="3819340" cy="210736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4579" name="Rectangle 3">
            <a:extLst>
              <a:ext uri="{FF2B5EF4-FFF2-40B4-BE49-F238E27FC236}">
                <a16:creationId xmlns:a16="http://schemas.microsoft.com/office/drawing/2014/main" id="{4E7BA82B-6264-70A8-C727-9DB04876E785}"/>
              </a:ext>
            </a:extLst>
          </p:cNvPr>
          <p:cNvSpPr>
            <a:spLocks noGrp="1" noChangeArrowheads="1"/>
          </p:cNvSpPr>
          <p:nvPr>
            <p:ph type="title" idx="4294967295"/>
          </p:nvPr>
        </p:nvSpPr>
        <p:spPr>
          <a:xfrm>
            <a:off x="0" y="117640"/>
            <a:ext cx="4610100" cy="441001"/>
          </a:xfrm>
        </p:spPr>
        <p:txBody>
          <a:bodyPr/>
          <a:lstStyle/>
          <a:p>
            <a:r>
              <a:rPr lang="zh-CN" altLang="zh-CN" sz="1815">
                <a:ea typeface="宋体" panose="02010600030101010101" pitchFamily="2" charset="-122"/>
              </a:rPr>
              <a:t>白人与黑人的劳动力市场数据：2008年6月</a:t>
            </a:r>
          </a:p>
        </p:txBody>
      </p:sp>
      <p:graphicFrame>
        <p:nvGraphicFramePr>
          <p:cNvPr id="24580" name="Group 4">
            <a:extLst>
              <a:ext uri="{FF2B5EF4-FFF2-40B4-BE49-F238E27FC236}">
                <a16:creationId xmlns:a16="http://schemas.microsoft.com/office/drawing/2014/main" id="{E91B1BCC-8972-57C2-D82C-B57A87CB64B0}"/>
              </a:ext>
            </a:extLst>
          </p:cNvPr>
          <p:cNvGraphicFramePr>
            <a:graphicFrameLocks noGrp="1"/>
          </p:cNvGraphicFramePr>
          <p:nvPr/>
        </p:nvGraphicFramePr>
        <p:xfrm>
          <a:off x="427395" y="748328"/>
          <a:ext cx="3827343" cy="2108960"/>
        </p:xfrm>
        <a:graphic>
          <a:graphicData uri="http://schemas.openxmlformats.org/drawingml/2006/table">
            <a:tbl>
              <a:tblPr/>
              <a:tblGrid>
                <a:gridCol w="1275781">
                  <a:extLst>
                    <a:ext uri="{9D8B030D-6E8A-4147-A177-3AD203B41FA5}">
                      <a16:colId xmlns:a16="http://schemas.microsoft.com/office/drawing/2014/main" val="449703580"/>
                    </a:ext>
                  </a:extLst>
                </a:gridCol>
                <a:gridCol w="1275781">
                  <a:extLst>
                    <a:ext uri="{9D8B030D-6E8A-4147-A177-3AD203B41FA5}">
                      <a16:colId xmlns:a16="http://schemas.microsoft.com/office/drawing/2014/main" val="4223594649"/>
                    </a:ext>
                  </a:extLst>
                </a:gridCol>
                <a:gridCol w="1275781">
                  <a:extLst>
                    <a:ext uri="{9D8B030D-6E8A-4147-A177-3AD203B41FA5}">
                      <a16:colId xmlns:a16="http://schemas.microsoft.com/office/drawing/2014/main" val="3821435897"/>
                    </a:ext>
                  </a:extLst>
                </a:gridCol>
              </a:tblGrid>
              <a:tr h="351360">
                <a:tc gridSpan="3">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成年人</a:t>
                      </a: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(20 岁及以上)</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9875731"/>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失业率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劳动力参工率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412583599"/>
                  </a:ext>
                </a:extLst>
              </a:tr>
              <a:tr h="3521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白人，男性</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76.1%</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429507308"/>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白人，女性</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4.2</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902262149"/>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黑人，男性</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9.3</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71.5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821902062"/>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黑人，女性</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64.3</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145438291"/>
                  </a:ext>
                </a:extLst>
              </a:tr>
            </a:tbl>
          </a:graphicData>
        </a:graphic>
      </p:graphicFrame>
      <p:sp>
        <p:nvSpPr>
          <p:cNvPr id="24608" name="FlagCount" hidden="1">
            <a:hlinkClick r:id="rId3" action="ppaction://hlinkfile"/>
            <a:extLst>
              <a:ext uri="{FF2B5EF4-FFF2-40B4-BE49-F238E27FC236}">
                <a16:creationId xmlns:a16="http://schemas.microsoft.com/office/drawing/2014/main" id="{3784D447-1C73-C6FB-08EC-CEB8331EED3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AD1C197-3748-0C37-2016-4E9535F9038B}"/>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591B4394-0C8F-8EB6-78AF-F11F57ACA3CD}"/>
              </a:ext>
            </a:extLst>
          </p:cNvPr>
          <p:cNvSpPr>
            <a:spLocks noGrp="1"/>
          </p:cNvSpPr>
          <p:nvPr>
            <p:ph type="sldNum" sz="quarter" idx="11"/>
          </p:nvPr>
        </p:nvSpPr>
        <p:spPr/>
        <p:txBody>
          <a:bodyPr/>
          <a:lstStyle/>
          <a:p>
            <a:pPr defTabSz="461040" fontAlgn="base">
              <a:spcBef>
                <a:spcPct val="0"/>
              </a:spcBef>
              <a:spcAft>
                <a:spcPct val="0"/>
              </a:spcAft>
            </a:pPr>
            <a:fld id="{DB2B2A37-69EB-BB41-AE70-90020514BAD5}" type="slidenum">
              <a:rPr lang="zh-CN" altLang="zh-CN">
                <a:latin typeface="Arial" panose="020B0604020202020204" pitchFamily="34" charset="0"/>
              </a:rPr>
              <a:pPr defTabSz="461040" fontAlgn="base">
                <a:spcBef>
                  <a:spcPct val="0"/>
                </a:spcBef>
                <a:spcAft>
                  <a:spcPct val="0"/>
                </a:spcAft>
              </a:pPr>
              <a:t>12</a:t>
            </a:fld>
            <a:endParaRPr lang="en-US" altLang="zh-CN">
              <a:latin typeface="Arial" panose="020B0604020202020204" pitchFamily="34" charset="0"/>
            </a:endParaRPr>
          </a:p>
        </p:txBody>
      </p:sp>
      <p:sp>
        <p:nvSpPr>
          <p:cNvPr id="26626" name="Rectangle 2">
            <a:extLst>
              <a:ext uri="{FF2B5EF4-FFF2-40B4-BE49-F238E27FC236}">
                <a16:creationId xmlns:a16="http://schemas.microsoft.com/office/drawing/2014/main" id="{6B72D2CC-DCDF-1CA6-B2EF-1AA45349515C}"/>
              </a:ext>
            </a:extLst>
          </p:cNvPr>
          <p:cNvSpPr>
            <a:spLocks noChangeArrowheads="1"/>
          </p:cNvSpPr>
          <p:nvPr/>
        </p:nvSpPr>
        <p:spPr bwMode="auto">
          <a:xfrm>
            <a:off x="481819" y="789947"/>
            <a:ext cx="3819340" cy="141264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6627" name="Rectangle 3">
            <a:extLst>
              <a:ext uri="{FF2B5EF4-FFF2-40B4-BE49-F238E27FC236}">
                <a16:creationId xmlns:a16="http://schemas.microsoft.com/office/drawing/2014/main" id="{FA032BC6-5226-6AC0-0E08-916B5C3230BA}"/>
              </a:ext>
            </a:extLst>
          </p:cNvPr>
          <p:cNvSpPr>
            <a:spLocks noGrp="1" noChangeArrowheads="1"/>
          </p:cNvSpPr>
          <p:nvPr>
            <p:ph type="title" idx="4294967295"/>
          </p:nvPr>
        </p:nvSpPr>
        <p:spPr>
          <a:xfrm>
            <a:off x="0" y="117640"/>
            <a:ext cx="4610100" cy="441001"/>
          </a:xfrm>
        </p:spPr>
        <p:txBody>
          <a:bodyPr/>
          <a:lstStyle/>
          <a:p>
            <a:r>
              <a:rPr lang="zh-CN" altLang="zh-CN" sz="1815">
                <a:ea typeface="宋体" panose="02010600030101010101" pitchFamily="2" charset="-122"/>
              </a:rPr>
              <a:t>白人与黑人的劳动力市场数据：2008年6月</a:t>
            </a:r>
          </a:p>
        </p:txBody>
      </p:sp>
      <p:graphicFrame>
        <p:nvGraphicFramePr>
          <p:cNvPr id="26628" name="Group 4">
            <a:extLst>
              <a:ext uri="{FF2B5EF4-FFF2-40B4-BE49-F238E27FC236}">
                <a16:creationId xmlns:a16="http://schemas.microsoft.com/office/drawing/2014/main" id="{5886491C-9CC1-755B-6AFB-3B59114CE7BA}"/>
              </a:ext>
            </a:extLst>
          </p:cNvPr>
          <p:cNvGraphicFramePr>
            <a:graphicFrameLocks noGrp="1"/>
          </p:cNvGraphicFramePr>
          <p:nvPr/>
        </p:nvGraphicFramePr>
        <p:xfrm>
          <a:off x="427395" y="748328"/>
          <a:ext cx="3827343" cy="1406240"/>
        </p:xfrm>
        <a:graphic>
          <a:graphicData uri="http://schemas.openxmlformats.org/drawingml/2006/table">
            <a:tbl>
              <a:tblPr/>
              <a:tblGrid>
                <a:gridCol w="1275781">
                  <a:extLst>
                    <a:ext uri="{9D8B030D-6E8A-4147-A177-3AD203B41FA5}">
                      <a16:colId xmlns:a16="http://schemas.microsoft.com/office/drawing/2014/main" val="3389951353"/>
                    </a:ext>
                  </a:extLst>
                </a:gridCol>
                <a:gridCol w="1275781">
                  <a:extLst>
                    <a:ext uri="{9D8B030D-6E8A-4147-A177-3AD203B41FA5}">
                      <a16:colId xmlns:a16="http://schemas.microsoft.com/office/drawing/2014/main" val="303265606"/>
                    </a:ext>
                  </a:extLst>
                </a:gridCol>
                <a:gridCol w="1275781">
                  <a:extLst>
                    <a:ext uri="{9D8B030D-6E8A-4147-A177-3AD203B41FA5}">
                      <a16:colId xmlns:a16="http://schemas.microsoft.com/office/drawing/2014/main" val="897142449"/>
                    </a:ext>
                  </a:extLst>
                </a:gridCol>
              </a:tblGrid>
              <a:tr h="351360">
                <a:tc gridSpan="3">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青少年</a:t>
                      </a: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(16-19岁)</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44555590"/>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失业率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劳动力参工率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73983595"/>
                  </a:ext>
                </a:extLst>
              </a:tr>
              <a:tr h="3521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白人</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16.6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43.9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135768886"/>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黑人</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29.6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27.9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073974431"/>
                  </a:ext>
                </a:extLst>
              </a:tr>
            </a:tbl>
          </a:graphicData>
        </a:graphic>
      </p:graphicFrame>
      <p:sp>
        <p:nvSpPr>
          <p:cNvPr id="26648" name="FlagCount" hidden="1">
            <a:hlinkClick r:id="rId3" action="ppaction://hlinkfile"/>
            <a:extLst>
              <a:ext uri="{FF2B5EF4-FFF2-40B4-BE49-F238E27FC236}">
                <a16:creationId xmlns:a16="http://schemas.microsoft.com/office/drawing/2014/main" id="{96058AB2-3627-A77C-D916-441ED712E94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spd="med">
    <p:pull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25AD6C8E-7AE7-3143-F546-6E0ED089D499}"/>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692BDE01-A473-0FED-4023-3574162C79E4}"/>
              </a:ext>
            </a:extLst>
          </p:cNvPr>
          <p:cNvSpPr>
            <a:spLocks noGrp="1"/>
          </p:cNvSpPr>
          <p:nvPr>
            <p:ph type="sldNum" sz="quarter" idx="11"/>
          </p:nvPr>
        </p:nvSpPr>
        <p:spPr/>
        <p:txBody>
          <a:bodyPr/>
          <a:lstStyle/>
          <a:p>
            <a:pPr defTabSz="461040" fontAlgn="base">
              <a:spcBef>
                <a:spcPct val="0"/>
              </a:spcBef>
              <a:spcAft>
                <a:spcPct val="0"/>
              </a:spcAft>
            </a:pPr>
            <a:fld id="{CE71358A-9D0D-154F-83BD-B841FF8173BC}" type="slidenum">
              <a:rPr lang="zh-CN" altLang="zh-CN">
                <a:latin typeface="Arial" panose="020B0604020202020204" pitchFamily="34" charset="0"/>
              </a:rPr>
              <a:pPr defTabSz="461040" fontAlgn="base">
                <a:spcBef>
                  <a:spcPct val="0"/>
                </a:spcBef>
                <a:spcAft>
                  <a:spcPct val="0"/>
                </a:spcAft>
              </a:pPr>
              <a:t>13</a:t>
            </a:fld>
            <a:endParaRPr lang="en-US" altLang="zh-CN">
              <a:latin typeface="Arial" panose="020B0604020202020204" pitchFamily="34" charset="0"/>
            </a:endParaRPr>
          </a:p>
        </p:txBody>
      </p:sp>
      <p:sp>
        <p:nvSpPr>
          <p:cNvPr id="28674" name="Rectangle 2">
            <a:extLst>
              <a:ext uri="{FF2B5EF4-FFF2-40B4-BE49-F238E27FC236}">
                <a16:creationId xmlns:a16="http://schemas.microsoft.com/office/drawing/2014/main" id="{47337228-0EC3-3EC1-897A-5A157D03BE81}"/>
              </a:ext>
            </a:extLst>
          </p:cNvPr>
          <p:cNvSpPr>
            <a:spLocks noChangeArrowheads="1"/>
          </p:cNvSpPr>
          <p:nvPr/>
        </p:nvSpPr>
        <p:spPr bwMode="auto">
          <a:xfrm>
            <a:off x="481819" y="789947"/>
            <a:ext cx="3819340" cy="1412643"/>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8675" name="Rectangle 3">
            <a:extLst>
              <a:ext uri="{FF2B5EF4-FFF2-40B4-BE49-F238E27FC236}">
                <a16:creationId xmlns:a16="http://schemas.microsoft.com/office/drawing/2014/main" id="{561A32BC-D47C-B462-C971-9A10E1062F34}"/>
              </a:ext>
            </a:extLst>
          </p:cNvPr>
          <p:cNvSpPr>
            <a:spLocks noGrp="1" noChangeArrowheads="1"/>
          </p:cNvSpPr>
          <p:nvPr>
            <p:ph type="title" idx="4294967295"/>
          </p:nvPr>
        </p:nvSpPr>
        <p:spPr>
          <a:xfrm>
            <a:off x="0" y="117640"/>
            <a:ext cx="4610100" cy="441001"/>
          </a:xfrm>
        </p:spPr>
        <p:txBody>
          <a:bodyPr/>
          <a:lstStyle/>
          <a:p>
            <a:r>
              <a:rPr lang="zh-CN" altLang="zh-CN" sz="1815">
                <a:ea typeface="宋体" panose="02010600030101010101" pitchFamily="2" charset="-122"/>
              </a:rPr>
              <a:t>其他群体的劳动力市场数据：2008年6月</a:t>
            </a:r>
          </a:p>
        </p:txBody>
      </p:sp>
      <p:graphicFrame>
        <p:nvGraphicFramePr>
          <p:cNvPr id="28676" name="Group 4">
            <a:extLst>
              <a:ext uri="{FF2B5EF4-FFF2-40B4-BE49-F238E27FC236}">
                <a16:creationId xmlns:a16="http://schemas.microsoft.com/office/drawing/2014/main" id="{7D23AFB5-35BD-4F1D-67F8-7800D893372F}"/>
              </a:ext>
            </a:extLst>
          </p:cNvPr>
          <p:cNvGraphicFramePr>
            <a:graphicFrameLocks noGrp="1"/>
          </p:cNvGraphicFramePr>
          <p:nvPr/>
        </p:nvGraphicFramePr>
        <p:xfrm>
          <a:off x="427395" y="748328"/>
          <a:ext cx="3827343" cy="1406240"/>
        </p:xfrm>
        <a:graphic>
          <a:graphicData uri="http://schemas.openxmlformats.org/drawingml/2006/table">
            <a:tbl>
              <a:tblPr/>
              <a:tblGrid>
                <a:gridCol w="1275781">
                  <a:extLst>
                    <a:ext uri="{9D8B030D-6E8A-4147-A177-3AD203B41FA5}">
                      <a16:colId xmlns:a16="http://schemas.microsoft.com/office/drawing/2014/main" val="2431324076"/>
                    </a:ext>
                  </a:extLst>
                </a:gridCol>
                <a:gridCol w="1275781">
                  <a:extLst>
                    <a:ext uri="{9D8B030D-6E8A-4147-A177-3AD203B41FA5}">
                      <a16:colId xmlns:a16="http://schemas.microsoft.com/office/drawing/2014/main" val="2445011519"/>
                    </a:ext>
                  </a:extLst>
                </a:gridCol>
                <a:gridCol w="1275781">
                  <a:extLst>
                    <a:ext uri="{9D8B030D-6E8A-4147-A177-3AD203B41FA5}">
                      <a16:colId xmlns:a16="http://schemas.microsoft.com/office/drawing/2014/main" val="2368478766"/>
                    </a:ext>
                  </a:extLst>
                </a:gridCol>
              </a:tblGrid>
              <a:tr h="351360">
                <a:tc gridSpan="3">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所有年龄</a:t>
                      </a: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47856401"/>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失业率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劳动力参工率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376392321"/>
                  </a:ext>
                </a:extLst>
              </a:tr>
              <a:tr h="3521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亚洲</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67.4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237314484"/>
                  </a:ext>
                </a:extLst>
              </a:tr>
              <a:tr h="35136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西班牙</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7.7</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69.0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87982407"/>
                  </a:ext>
                </a:extLst>
              </a:tr>
            </a:tbl>
          </a:graphicData>
        </a:graphic>
      </p:graphicFrame>
      <p:sp>
        <p:nvSpPr>
          <p:cNvPr id="28696" name="FlagCount" hidden="1">
            <a:hlinkClick r:id="rId3" action="ppaction://hlinkfile"/>
            <a:extLst>
              <a:ext uri="{FF2B5EF4-FFF2-40B4-BE49-F238E27FC236}">
                <a16:creationId xmlns:a16="http://schemas.microsoft.com/office/drawing/2014/main" id="{796E884E-9DC0-3426-B413-7A25299DEC48}"/>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spd="med">
    <p:pull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86FDB668-9D58-F4B1-5790-B78C6327A22F}"/>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4C76C66D-3823-878B-DB7E-4B2736B48832}"/>
              </a:ext>
            </a:extLst>
          </p:cNvPr>
          <p:cNvSpPr>
            <a:spLocks noGrp="1"/>
          </p:cNvSpPr>
          <p:nvPr>
            <p:ph type="sldNum" sz="quarter" idx="11"/>
          </p:nvPr>
        </p:nvSpPr>
        <p:spPr/>
        <p:txBody>
          <a:bodyPr/>
          <a:lstStyle/>
          <a:p>
            <a:pPr defTabSz="461040" fontAlgn="base">
              <a:spcBef>
                <a:spcPct val="0"/>
              </a:spcBef>
              <a:spcAft>
                <a:spcPct val="0"/>
              </a:spcAft>
            </a:pPr>
            <a:fld id="{177BC5C0-2AC4-F044-83A5-FA1E1A961DB1}" type="slidenum">
              <a:rPr lang="zh-CN" altLang="zh-CN">
                <a:latin typeface="Arial" panose="020B0604020202020204" pitchFamily="34" charset="0"/>
              </a:rPr>
              <a:pPr defTabSz="461040" fontAlgn="base">
                <a:spcBef>
                  <a:spcPct val="0"/>
                </a:spcBef>
                <a:spcAft>
                  <a:spcPct val="0"/>
                </a:spcAft>
              </a:pPr>
              <a:t>14</a:t>
            </a:fld>
            <a:endParaRPr lang="en-US" altLang="zh-CN">
              <a:latin typeface="Arial" panose="020B0604020202020204" pitchFamily="34" charset="0"/>
            </a:endParaRPr>
          </a:p>
        </p:txBody>
      </p:sp>
      <p:sp>
        <p:nvSpPr>
          <p:cNvPr id="30722" name="Rectangle 2">
            <a:extLst>
              <a:ext uri="{FF2B5EF4-FFF2-40B4-BE49-F238E27FC236}">
                <a16:creationId xmlns:a16="http://schemas.microsoft.com/office/drawing/2014/main" id="{2A738B72-7EFF-533E-4EB0-770C8F3F79B7}"/>
              </a:ext>
            </a:extLst>
          </p:cNvPr>
          <p:cNvSpPr>
            <a:spLocks noChangeArrowheads="1"/>
          </p:cNvSpPr>
          <p:nvPr/>
        </p:nvSpPr>
        <p:spPr bwMode="auto">
          <a:xfrm>
            <a:off x="475417" y="767537"/>
            <a:ext cx="3824943" cy="232345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0723" name="Rectangle 3">
            <a:extLst>
              <a:ext uri="{FF2B5EF4-FFF2-40B4-BE49-F238E27FC236}">
                <a16:creationId xmlns:a16="http://schemas.microsoft.com/office/drawing/2014/main" id="{90EDF3C7-D1B9-F939-89EC-4407B89059D0}"/>
              </a:ext>
            </a:extLst>
          </p:cNvPr>
          <p:cNvSpPr>
            <a:spLocks noGrp="1" noChangeArrowheads="1"/>
          </p:cNvSpPr>
          <p:nvPr>
            <p:ph type="title" idx="4294967295"/>
          </p:nvPr>
        </p:nvSpPr>
        <p:spPr>
          <a:xfrm>
            <a:off x="0" y="117641"/>
            <a:ext cx="4803788" cy="396180"/>
          </a:xfrm>
        </p:spPr>
        <p:txBody>
          <a:bodyPr/>
          <a:lstStyle/>
          <a:p>
            <a:r>
              <a:rPr lang="zh-CN" altLang="zh-CN" sz="1714">
                <a:ea typeface="宋体" panose="02010600030101010101" pitchFamily="2" charset="-122"/>
              </a:rPr>
              <a:t>不同受教育程度的劳动力市场数据：2008年6月</a:t>
            </a:r>
          </a:p>
        </p:txBody>
      </p:sp>
      <p:graphicFrame>
        <p:nvGraphicFramePr>
          <p:cNvPr id="30724" name="Group 4">
            <a:extLst>
              <a:ext uri="{FF2B5EF4-FFF2-40B4-BE49-F238E27FC236}">
                <a16:creationId xmlns:a16="http://schemas.microsoft.com/office/drawing/2014/main" id="{03615F5B-6CA3-3228-3D36-BE08B4FB6180}"/>
              </a:ext>
            </a:extLst>
          </p:cNvPr>
          <p:cNvGraphicFramePr>
            <a:graphicFrameLocks noGrp="1"/>
          </p:cNvGraphicFramePr>
          <p:nvPr/>
        </p:nvGraphicFramePr>
        <p:xfrm>
          <a:off x="427395" y="711511"/>
          <a:ext cx="3827343" cy="2329862"/>
        </p:xfrm>
        <a:graphic>
          <a:graphicData uri="http://schemas.openxmlformats.org/drawingml/2006/table">
            <a:tbl>
              <a:tblPr/>
              <a:tblGrid>
                <a:gridCol w="1275781">
                  <a:extLst>
                    <a:ext uri="{9D8B030D-6E8A-4147-A177-3AD203B41FA5}">
                      <a16:colId xmlns:a16="http://schemas.microsoft.com/office/drawing/2014/main" val="464136129"/>
                    </a:ext>
                  </a:extLst>
                </a:gridCol>
                <a:gridCol w="1275781">
                  <a:extLst>
                    <a:ext uri="{9D8B030D-6E8A-4147-A177-3AD203B41FA5}">
                      <a16:colId xmlns:a16="http://schemas.microsoft.com/office/drawing/2014/main" val="3275369333"/>
                    </a:ext>
                  </a:extLst>
                </a:gridCol>
                <a:gridCol w="1275781">
                  <a:extLst>
                    <a:ext uri="{9D8B030D-6E8A-4147-A177-3AD203B41FA5}">
                      <a16:colId xmlns:a16="http://schemas.microsoft.com/office/drawing/2014/main" val="597017125"/>
                    </a:ext>
                  </a:extLst>
                </a:gridCol>
              </a:tblGrid>
              <a:tr h="356963">
                <a:tc gridSpan="3">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成年人</a:t>
                      </a: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 (25 岁及以上)</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51631414"/>
                  </a:ext>
                </a:extLst>
              </a:tr>
              <a:tr h="307340">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失业率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劳动力参工率</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3141990988"/>
                  </a:ext>
                </a:extLst>
              </a:tr>
              <a:tr h="358563">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未上高中</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8.7%</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45.9%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2024303780"/>
                  </a:ext>
                </a:extLst>
              </a:tr>
              <a:tr h="357763">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高中文凭</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5.1</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62.8</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715406452"/>
                  </a:ext>
                </a:extLst>
              </a:tr>
              <a:tr h="473816">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学士学位</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4.2</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71.9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3832188508"/>
                  </a:ext>
                </a:extLst>
              </a:tr>
              <a:tr h="4754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高于学士学位</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2.3</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78.1</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754736644"/>
                  </a:ext>
                </a:extLst>
              </a:tr>
            </a:tbl>
          </a:graphicData>
        </a:graphic>
      </p:graphicFrame>
      <p:sp>
        <p:nvSpPr>
          <p:cNvPr id="30752" name="FlagCount" hidden="1">
            <a:hlinkClick r:id="rId3" action="ppaction://hlinkfile"/>
            <a:extLst>
              <a:ext uri="{FF2B5EF4-FFF2-40B4-BE49-F238E27FC236}">
                <a16:creationId xmlns:a16="http://schemas.microsoft.com/office/drawing/2014/main" id="{80AC0F65-7DB3-657F-797F-94C72635B5B5}"/>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spd="med">
    <p:pull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1596017-FEC0-3844-CC5D-246D293C2A12}"/>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67F000DE-1B1A-3CD2-39AE-44DAB38FBE40}"/>
              </a:ext>
            </a:extLst>
          </p:cNvPr>
          <p:cNvSpPr>
            <a:spLocks noGrp="1"/>
          </p:cNvSpPr>
          <p:nvPr>
            <p:ph type="sldNum" sz="quarter" idx="11"/>
          </p:nvPr>
        </p:nvSpPr>
        <p:spPr/>
        <p:txBody>
          <a:bodyPr/>
          <a:lstStyle/>
          <a:p>
            <a:pPr defTabSz="461040" fontAlgn="base">
              <a:spcBef>
                <a:spcPct val="0"/>
              </a:spcBef>
              <a:spcAft>
                <a:spcPct val="0"/>
              </a:spcAft>
            </a:pPr>
            <a:fld id="{A7106FBC-A22E-AA42-A247-AF824C1F6DDE}" type="slidenum">
              <a:rPr lang="zh-CN" altLang="zh-CN">
                <a:latin typeface="Arial" panose="020B0604020202020204" pitchFamily="34" charset="0"/>
              </a:rPr>
              <a:pPr defTabSz="461040" fontAlgn="base">
                <a:spcBef>
                  <a:spcPct val="0"/>
                </a:spcBef>
                <a:spcAft>
                  <a:spcPct val="0"/>
                </a:spcAft>
              </a:pPr>
              <a:t>15</a:t>
            </a:fld>
            <a:endParaRPr lang="en-US" altLang="zh-CN">
              <a:latin typeface="Arial" panose="020B0604020202020204" pitchFamily="34" charset="0"/>
            </a:endParaRPr>
          </a:p>
        </p:txBody>
      </p:sp>
      <p:pic>
        <p:nvPicPr>
          <p:cNvPr id="32770" name="Picture 11">
            <a:extLst>
              <a:ext uri="{FF2B5EF4-FFF2-40B4-BE49-F238E27FC236}">
                <a16:creationId xmlns:a16="http://schemas.microsoft.com/office/drawing/2014/main" id="{89FEDAD5-0730-7A0F-485B-AD60F94F9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55" y="571447"/>
            <a:ext cx="4488445" cy="271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2">
            <a:extLst>
              <a:ext uri="{FF2B5EF4-FFF2-40B4-BE49-F238E27FC236}">
                <a16:creationId xmlns:a16="http://schemas.microsoft.com/office/drawing/2014/main" id="{22D48681-4A82-9554-2B07-CD5FBDA32077}"/>
              </a:ext>
            </a:extLst>
          </p:cNvPr>
          <p:cNvSpPr>
            <a:spLocks noGrp="1" noChangeArrowheads="1"/>
          </p:cNvSpPr>
          <p:nvPr>
            <p:ph type="title" idx="4294967295"/>
          </p:nvPr>
        </p:nvSpPr>
        <p:spPr>
          <a:xfrm>
            <a:off x="0" y="157659"/>
            <a:ext cx="4610100" cy="327349"/>
          </a:xfrm>
        </p:spPr>
        <p:txBody>
          <a:bodyPr/>
          <a:lstStyle/>
          <a:p>
            <a:r>
              <a:rPr lang="zh-CN" altLang="zh-CN" sz="1815">
                <a:ea typeface="宋体" panose="02010600030101010101" pitchFamily="2" charset="-122"/>
              </a:rPr>
              <a:t>男性与女性的劳动力参工率，1950-2007年</a:t>
            </a:r>
          </a:p>
        </p:txBody>
      </p:sp>
      <p:sp>
        <p:nvSpPr>
          <p:cNvPr id="32772" name="Text Box 4">
            <a:extLst>
              <a:ext uri="{FF2B5EF4-FFF2-40B4-BE49-F238E27FC236}">
                <a16:creationId xmlns:a16="http://schemas.microsoft.com/office/drawing/2014/main" id="{E5612586-0E0D-765B-6250-7EE9A382E81D}"/>
              </a:ext>
            </a:extLst>
          </p:cNvPr>
          <p:cNvSpPr txBox="1">
            <a:spLocks noChangeArrowheads="1"/>
          </p:cNvSpPr>
          <p:nvPr/>
        </p:nvSpPr>
        <p:spPr bwMode="auto">
          <a:xfrm>
            <a:off x="1254171" y="1058869"/>
            <a:ext cx="640292" cy="29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男性</a:t>
            </a:r>
          </a:p>
        </p:txBody>
      </p:sp>
      <p:sp>
        <p:nvSpPr>
          <p:cNvPr id="32773" name="Text Box 5">
            <a:extLst>
              <a:ext uri="{FF2B5EF4-FFF2-40B4-BE49-F238E27FC236}">
                <a16:creationId xmlns:a16="http://schemas.microsoft.com/office/drawing/2014/main" id="{24103ABC-A7AC-1E80-52E3-DBCC3F7B9928}"/>
              </a:ext>
            </a:extLst>
          </p:cNvPr>
          <p:cNvSpPr txBox="1">
            <a:spLocks noChangeArrowheads="1"/>
          </p:cNvSpPr>
          <p:nvPr/>
        </p:nvSpPr>
        <p:spPr bwMode="auto">
          <a:xfrm>
            <a:off x="2282640" y="2029711"/>
            <a:ext cx="717927" cy="29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女性</a:t>
            </a:r>
          </a:p>
        </p:txBody>
      </p:sp>
      <p:sp>
        <p:nvSpPr>
          <p:cNvPr id="32774" name="FlagCount" hidden="1">
            <a:hlinkClick r:id="rId4" action="ppaction://hlinkfile"/>
            <a:extLst>
              <a:ext uri="{FF2B5EF4-FFF2-40B4-BE49-F238E27FC236}">
                <a16:creationId xmlns:a16="http://schemas.microsoft.com/office/drawing/2014/main" id="{4DA839B3-6092-4880-635B-61A81BA96408}"/>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spd="med">
    <p:pull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a:extLst>
              <a:ext uri="{FF2B5EF4-FFF2-40B4-BE49-F238E27FC236}">
                <a16:creationId xmlns:a16="http://schemas.microsoft.com/office/drawing/2014/main" id="{1628D5FE-FFE0-2B5F-8F43-3EF2732D3951}"/>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4819" name="Rectangle 4">
            <a:extLst>
              <a:ext uri="{FF2B5EF4-FFF2-40B4-BE49-F238E27FC236}">
                <a16:creationId xmlns:a16="http://schemas.microsoft.com/office/drawing/2014/main" id="{1771FC22-B216-B649-031E-7D48DE12430B}"/>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en-US"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en-US"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a:solidFill>
                  <a:srgbClr val="339966"/>
                </a:solidFill>
                <a:effectLst>
                  <a:outerShdw blurRad="38100" dist="38100" dir="2700000" algn="tl">
                    <a:srgbClr val="C0C0C0"/>
                  </a:outerShdw>
                </a:effectLst>
                <a:ea typeface="宋体" panose="02010600030101010101" pitchFamily="2" charset="-122"/>
              </a:rPr>
              <a:t>失业率的局限</a:t>
            </a:r>
          </a:p>
        </p:txBody>
      </p:sp>
      <p:grpSp>
        <p:nvGrpSpPr>
          <p:cNvPr id="34820" name="Group 4">
            <a:extLst>
              <a:ext uri="{FF2B5EF4-FFF2-40B4-BE49-F238E27FC236}">
                <a16:creationId xmlns:a16="http://schemas.microsoft.com/office/drawing/2014/main" id="{AD9DC939-3889-CCBB-1FFC-8207227A4961}"/>
              </a:ext>
            </a:extLst>
          </p:cNvPr>
          <p:cNvGrpSpPr>
            <a:grpSpLocks/>
          </p:cNvGrpSpPr>
          <p:nvPr/>
        </p:nvGrpSpPr>
        <p:grpSpPr bwMode="auto">
          <a:xfrm>
            <a:off x="299336" y="148055"/>
            <a:ext cx="4139486" cy="529041"/>
            <a:chOff x="0" y="0"/>
            <a:chExt cx="5000" cy="661"/>
          </a:xfrm>
        </p:grpSpPr>
        <p:sp>
          <p:nvSpPr>
            <p:cNvPr id="34821" name="Line 9">
              <a:extLst>
                <a:ext uri="{FF2B5EF4-FFF2-40B4-BE49-F238E27FC236}">
                  <a16:creationId xmlns:a16="http://schemas.microsoft.com/office/drawing/2014/main" id="{DB5D2465-8560-EEFE-5BA0-14A2D007266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4822" name="Line 10">
              <a:extLst>
                <a:ext uri="{FF2B5EF4-FFF2-40B4-BE49-F238E27FC236}">
                  <a16:creationId xmlns:a16="http://schemas.microsoft.com/office/drawing/2014/main" id="{ABE11750-A17C-DFB2-3B11-537BE0BDA82B}"/>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4823" name="Rectangle 7">
            <a:extLst>
              <a:ext uri="{FF2B5EF4-FFF2-40B4-BE49-F238E27FC236}">
                <a16:creationId xmlns:a16="http://schemas.microsoft.com/office/drawing/2014/main" id="{92827BB0-D5C1-69C9-C707-BA8F7C6B095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57A722CA-6F80-B24F-8FD8-833D994371F3}"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4824" name="Rectangle 6">
            <a:extLst>
              <a:ext uri="{FF2B5EF4-FFF2-40B4-BE49-F238E27FC236}">
                <a16:creationId xmlns:a16="http://schemas.microsoft.com/office/drawing/2014/main" id="{B2871F60-F8CD-8E4D-BEB5-87DF49722DDB}"/>
              </a:ext>
            </a:extLst>
          </p:cNvPr>
          <p:cNvSpPr>
            <a:spLocks noChangeArrowheads="1"/>
          </p:cNvSpPr>
          <p:nvPr/>
        </p:nvSpPr>
        <p:spPr bwMode="auto">
          <a:xfrm>
            <a:off x="320947" y="840370"/>
            <a:ext cx="4160295" cy="539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003399"/>
              </a:buClr>
              <a:buNone/>
            </a:pPr>
            <a:r>
              <a:rPr lang="zh-CN" altLang="zh-CN" sz="1311">
                <a:solidFill>
                  <a:srgbClr val="000000"/>
                </a:solidFill>
                <a:ea typeface="宋体" panose="02010600030101010101" pitchFamily="2" charset="-122"/>
              </a:rPr>
              <a:t>下述情形会如何影响失业率？失业率准确地描述了劳动力市场的状况吗？</a:t>
            </a:r>
          </a:p>
        </p:txBody>
      </p:sp>
      <p:sp>
        <p:nvSpPr>
          <p:cNvPr id="34825" name="Rectangle 8">
            <a:extLst>
              <a:ext uri="{FF2B5EF4-FFF2-40B4-BE49-F238E27FC236}">
                <a16:creationId xmlns:a16="http://schemas.microsoft.com/office/drawing/2014/main" id="{E4FA399D-5A19-51CF-D2B1-07E9C8419726}"/>
              </a:ext>
            </a:extLst>
          </p:cNvPr>
          <p:cNvSpPr>
            <a:spLocks noChangeArrowheads="1"/>
          </p:cNvSpPr>
          <p:nvPr/>
        </p:nvSpPr>
        <p:spPr bwMode="auto">
          <a:xfrm>
            <a:off x="286531" y="1387819"/>
            <a:ext cx="4173101" cy="196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311" b="1" dirty="0">
                <a:solidFill>
                  <a:srgbClr val="339966"/>
                </a:solidFill>
                <a:ea typeface="宋体" panose="02010600030101010101" pitchFamily="2" charset="-122"/>
              </a:rPr>
              <a:t>A</a:t>
            </a:r>
            <a:r>
              <a:rPr lang="zh-CN" altLang="zh-CN" sz="131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Sue失去工作并开始寻找新工作</a:t>
            </a:r>
          </a:p>
          <a:p>
            <a:pPr marL="257734" indent="-257734" defTabSz="461040" fontAlgn="base">
              <a:lnSpc>
                <a:spcPct val="105000"/>
              </a:lnSpc>
              <a:spcBef>
                <a:spcPct val="50000"/>
              </a:spcBef>
              <a:spcAft>
                <a:spcPct val="0"/>
              </a:spcAft>
              <a:buClr>
                <a:srgbClr val="00B85C"/>
              </a:buClr>
              <a:buSzPct val="120000"/>
            </a:pPr>
            <a:r>
              <a:rPr lang="zh-CN" altLang="zh-CN" sz="1311" b="1" dirty="0">
                <a:solidFill>
                  <a:srgbClr val="339966"/>
                </a:solidFill>
                <a:ea typeface="宋体" panose="02010600030101010101" pitchFamily="2" charset="-122"/>
              </a:rPr>
              <a:t>B</a:t>
            </a:r>
            <a:r>
              <a:rPr lang="zh-CN" altLang="zh-CN" sz="131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去年Jon因钢厂倒闭失去工作，之后他丧失信心并放弃寻找新工作</a:t>
            </a:r>
          </a:p>
          <a:p>
            <a:pPr marL="257734" indent="-257734" defTabSz="461040" fontAlgn="base">
              <a:lnSpc>
                <a:spcPct val="105000"/>
              </a:lnSpc>
              <a:spcBef>
                <a:spcPct val="50000"/>
              </a:spcBef>
              <a:spcAft>
                <a:spcPct val="0"/>
              </a:spcAft>
              <a:buClr>
                <a:srgbClr val="00B85C"/>
              </a:buClr>
              <a:buSzPct val="120000"/>
            </a:pPr>
            <a:r>
              <a:rPr lang="zh-CN" altLang="zh-CN" sz="1311" b="1" dirty="0">
                <a:solidFill>
                  <a:srgbClr val="339966"/>
                </a:solidFill>
                <a:ea typeface="宋体" panose="02010600030101010101" pitchFamily="2" charset="-122"/>
              </a:rPr>
              <a:t>C</a:t>
            </a:r>
            <a:r>
              <a:rPr lang="zh-CN" altLang="zh-CN" sz="131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Sam是他五口之家中唯一挣钱的人。不久前，他失去了一份年薪8万美元的研究工作。但很快他在麦当劳找到一份兼职工作，一直做到他在原先的研究领域找到另外一份工作为止</a:t>
            </a:r>
          </a:p>
        </p:txBody>
      </p:sp>
    </p:spTree>
    <p:extLst>
      <p:ext uri="{BB962C8B-B14F-4D97-AF65-F5344CB8AC3E}">
        <p14:creationId xmlns:p14="http://schemas.microsoft.com/office/powerpoint/2010/main" val="200909238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825">
                                            <p:txEl>
                                              <p:pRg st="0" end="0"/>
                                            </p:txEl>
                                          </p:spTgt>
                                        </p:tgtEl>
                                        <p:attrNameLst>
                                          <p:attrName>style.visibility</p:attrName>
                                        </p:attrNameLst>
                                      </p:cBhvr>
                                      <p:to>
                                        <p:strVal val="visible"/>
                                      </p:to>
                                    </p:set>
                                    <p:animEffect transition="in" filter="wipe(left)">
                                      <p:cBhvr>
                                        <p:cTn id="7" dur="500"/>
                                        <p:tgtEl>
                                          <p:spTgt spid="348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825">
                                            <p:txEl>
                                              <p:pRg st="1" end="1"/>
                                            </p:txEl>
                                          </p:spTgt>
                                        </p:tgtEl>
                                        <p:attrNameLst>
                                          <p:attrName>style.visibility</p:attrName>
                                        </p:attrNameLst>
                                      </p:cBhvr>
                                      <p:to>
                                        <p:strVal val="visible"/>
                                      </p:to>
                                    </p:set>
                                    <p:animEffect transition="in" filter="wipe(left)">
                                      <p:cBhvr>
                                        <p:cTn id="12" dur="500"/>
                                        <p:tgtEl>
                                          <p:spTgt spid="3482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4825">
                                            <p:txEl>
                                              <p:pRg st="2" end="2"/>
                                            </p:txEl>
                                          </p:spTgt>
                                        </p:tgtEl>
                                        <p:attrNameLst>
                                          <p:attrName>style.visibility</p:attrName>
                                        </p:attrNameLst>
                                      </p:cBhvr>
                                      <p:to>
                                        <p:strVal val="visible"/>
                                      </p:to>
                                    </p:set>
                                    <p:animEffect transition="in" filter="wipe(left)">
                                      <p:cBhvr>
                                        <p:cTn id="17" dur="500"/>
                                        <p:tgtEl>
                                          <p:spTgt spid="348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8">
            <a:extLst>
              <a:ext uri="{FF2B5EF4-FFF2-40B4-BE49-F238E27FC236}">
                <a16:creationId xmlns:a16="http://schemas.microsoft.com/office/drawing/2014/main" id="{A440ECE1-E0A5-D25C-3B83-7D3DB584673C}"/>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6867" name="Rectangle 4">
            <a:extLst>
              <a:ext uri="{FF2B5EF4-FFF2-40B4-BE49-F238E27FC236}">
                <a16:creationId xmlns:a16="http://schemas.microsoft.com/office/drawing/2014/main" id="{184627C5-4FF9-988A-1366-0C7597BCA12A}"/>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36868" name="Group 4">
            <a:extLst>
              <a:ext uri="{FF2B5EF4-FFF2-40B4-BE49-F238E27FC236}">
                <a16:creationId xmlns:a16="http://schemas.microsoft.com/office/drawing/2014/main" id="{76A1BCA6-913F-07DA-F4EA-5516BC4BE1EC}"/>
              </a:ext>
            </a:extLst>
          </p:cNvPr>
          <p:cNvGrpSpPr>
            <a:grpSpLocks/>
          </p:cNvGrpSpPr>
          <p:nvPr/>
        </p:nvGrpSpPr>
        <p:grpSpPr bwMode="auto">
          <a:xfrm>
            <a:off x="299336" y="148055"/>
            <a:ext cx="4139486" cy="529041"/>
            <a:chOff x="0" y="0"/>
            <a:chExt cx="5000" cy="661"/>
          </a:xfrm>
        </p:grpSpPr>
        <p:sp>
          <p:nvSpPr>
            <p:cNvPr id="36869" name="Line 9">
              <a:extLst>
                <a:ext uri="{FF2B5EF4-FFF2-40B4-BE49-F238E27FC236}">
                  <a16:creationId xmlns:a16="http://schemas.microsoft.com/office/drawing/2014/main" id="{FFA501C0-984F-B724-4E09-9FF00E5E92CE}"/>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6870" name="Line 10">
              <a:extLst>
                <a:ext uri="{FF2B5EF4-FFF2-40B4-BE49-F238E27FC236}">
                  <a16:creationId xmlns:a16="http://schemas.microsoft.com/office/drawing/2014/main" id="{C930427B-0E26-B657-4783-8F2CBE000CA1}"/>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6871" name="Rectangle 7">
            <a:extLst>
              <a:ext uri="{FF2B5EF4-FFF2-40B4-BE49-F238E27FC236}">
                <a16:creationId xmlns:a16="http://schemas.microsoft.com/office/drawing/2014/main" id="{53BE458A-A12F-652D-C428-CC6C994BB5B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07C0A7E2-BE8E-3543-B238-B0E2059DDF0A}"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6872" name="Rectangle 8">
            <a:extLst>
              <a:ext uri="{FF2B5EF4-FFF2-40B4-BE49-F238E27FC236}">
                <a16:creationId xmlns:a16="http://schemas.microsoft.com/office/drawing/2014/main" id="{20953E74-AA23-0F92-7FAE-EEA36C0C32E9}"/>
              </a:ext>
            </a:extLst>
          </p:cNvPr>
          <p:cNvSpPr>
            <a:spLocks noChangeArrowheads="1"/>
          </p:cNvSpPr>
          <p:nvPr/>
        </p:nvSpPr>
        <p:spPr bwMode="auto">
          <a:xfrm>
            <a:off x="304939" y="870783"/>
            <a:ext cx="4173101" cy="29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412" b="1">
                <a:solidFill>
                  <a:srgbClr val="339966"/>
                </a:solidFill>
              </a:rPr>
              <a:t>A</a:t>
            </a:r>
            <a:r>
              <a:rPr lang="zh-CN" altLang="zh-CN" sz="1412">
                <a:solidFill>
                  <a:srgbClr val="339966"/>
                </a:solidFill>
              </a:rPr>
              <a:t>.	</a:t>
            </a:r>
            <a:r>
              <a:rPr lang="zh-CN" altLang="zh-CN" sz="1412">
                <a:solidFill>
                  <a:srgbClr val="000000"/>
                </a:solidFill>
              </a:rPr>
              <a:t>Sue</a:t>
            </a:r>
            <a:r>
              <a:rPr lang="zh-CN" altLang="zh-CN" sz="1412">
                <a:solidFill>
                  <a:srgbClr val="000000"/>
                </a:solidFill>
                <a:ea typeface="宋体" panose="02010600030101010101" pitchFamily="2" charset="-122"/>
              </a:rPr>
              <a:t>失去工作并开始寻找新工作</a:t>
            </a:r>
          </a:p>
        </p:txBody>
      </p:sp>
      <p:sp>
        <p:nvSpPr>
          <p:cNvPr id="36873" name="Rectangle 9">
            <a:extLst>
              <a:ext uri="{FF2B5EF4-FFF2-40B4-BE49-F238E27FC236}">
                <a16:creationId xmlns:a16="http://schemas.microsoft.com/office/drawing/2014/main" id="{765468EB-A6C8-70E4-513B-C4D1D59061C3}"/>
              </a:ext>
            </a:extLst>
          </p:cNvPr>
          <p:cNvSpPr>
            <a:spLocks noChangeArrowheads="1"/>
          </p:cNvSpPr>
          <p:nvPr/>
        </p:nvSpPr>
        <p:spPr bwMode="auto">
          <a:xfrm>
            <a:off x="311342" y="1405427"/>
            <a:ext cx="4005024" cy="129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pPr>
            <a:r>
              <a:rPr lang="zh-CN" altLang="zh-CN" sz="1311">
                <a:solidFill>
                  <a:srgbClr val="FF0000"/>
                </a:solidFill>
                <a:ea typeface="宋体" panose="02010600030101010101" pitchFamily="2" charset="-122"/>
              </a:rPr>
              <a:t>失业率上升</a:t>
            </a:r>
          </a:p>
          <a:p>
            <a:pPr defTabSz="461040" fontAlgn="base">
              <a:lnSpc>
                <a:spcPct val="105000"/>
              </a:lnSpc>
              <a:spcBef>
                <a:spcPct val="50000"/>
              </a:spcBef>
              <a:spcAft>
                <a:spcPct val="0"/>
              </a:spcAft>
              <a:buClr>
                <a:srgbClr val="00B85C"/>
              </a:buClr>
              <a:buSzPct val="120000"/>
            </a:pPr>
            <a:r>
              <a:rPr lang="zh-CN" altLang="zh-CN" sz="1311">
                <a:solidFill>
                  <a:srgbClr val="000000"/>
                </a:solidFill>
                <a:ea typeface="宋体" panose="02010600030101010101" pitchFamily="2" charset="-122"/>
              </a:rPr>
              <a:t>失业率上升使人觉得劳动力市场正在恶化。事实上，正是如此</a:t>
            </a:r>
          </a:p>
        </p:txBody>
      </p:sp>
    </p:spTree>
    <p:extLst>
      <p:ext uri="{BB962C8B-B14F-4D97-AF65-F5344CB8AC3E}">
        <p14:creationId xmlns:p14="http://schemas.microsoft.com/office/powerpoint/2010/main" val="23098264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6873">
                                            <p:txEl>
                                              <p:pRg st="0" end="0"/>
                                            </p:txEl>
                                          </p:spTgt>
                                        </p:tgtEl>
                                        <p:attrNameLst>
                                          <p:attrName>style.visibility</p:attrName>
                                        </p:attrNameLst>
                                      </p:cBhvr>
                                      <p:to>
                                        <p:strVal val="visible"/>
                                      </p:to>
                                    </p:set>
                                    <p:animEffect transition="in" filter="wipe(left)">
                                      <p:cBhvr>
                                        <p:cTn id="7" dur="500"/>
                                        <p:tgtEl>
                                          <p:spTgt spid="368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6873">
                                            <p:txEl>
                                              <p:pRg st="1" end="1"/>
                                            </p:txEl>
                                          </p:spTgt>
                                        </p:tgtEl>
                                        <p:attrNameLst>
                                          <p:attrName>style.visibility</p:attrName>
                                        </p:attrNameLst>
                                      </p:cBhvr>
                                      <p:to>
                                        <p:strVal val="visible"/>
                                      </p:to>
                                    </p:set>
                                    <p:animEffect transition="in" filter="wipe(left)">
                                      <p:cBhvr>
                                        <p:cTn id="12" dur="500"/>
                                        <p:tgtEl>
                                          <p:spTgt spid="368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8">
            <a:extLst>
              <a:ext uri="{FF2B5EF4-FFF2-40B4-BE49-F238E27FC236}">
                <a16:creationId xmlns:a16="http://schemas.microsoft.com/office/drawing/2014/main" id="{73ACAFFD-6D61-2A5D-97D8-86496C450B4C}"/>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7891" name="Rectangle 4">
            <a:extLst>
              <a:ext uri="{FF2B5EF4-FFF2-40B4-BE49-F238E27FC236}">
                <a16:creationId xmlns:a16="http://schemas.microsoft.com/office/drawing/2014/main" id="{96DEA3E1-FA7B-A547-C93A-B91C19020022}"/>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37892" name="Group 4">
            <a:extLst>
              <a:ext uri="{FF2B5EF4-FFF2-40B4-BE49-F238E27FC236}">
                <a16:creationId xmlns:a16="http://schemas.microsoft.com/office/drawing/2014/main" id="{4AB2C9DB-3899-A583-6361-C65CAF08F707}"/>
              </a:ext>
            </a:extLst>
          </p:cNvPr>
          <p:cNvGrpSpPr>
            <a:grpSpLocks/>
          </p:cNvGrpSpPr>
          <p:nvPr/>
        </p:nvGrpSpPr>
        <p:grpSpPr bwMode="auto">
          <a:xfrm>
            <a:off x="299336" y="148055"/>
            <a:ext cx="4139486" cy="529041"/>
            <a:chOff x="0" y="0"/>
            <a:chExt cx="5000" cy="661"/>
          </a:xfrm>
        </p:grpSpPr>
        <p:sp>
          <p:nvSpPr>
            <p:cNvPr id="37893" name="Line 9">
              <a:extLst>
                <a:ext uri="{FF2B5EF4-FFF2-40B4-BE49-F238E27FC236}">
                  <a16:creationId xmlns:a16="http://schemas.microsoft.com/office/drawing/2014/main" id="{A024218C-C9CD-2090-3884-C8682C164148}"/>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7894" name="Line 10">
              <a:extLst>
                <a:ext uri="{FF2B5EF4-FFF2-40B4-BE49-F238E27FC236}">
                  <a16:creationId xmlns:a16="http://schemas.microsoft.com/office/drawing/2014/main" id="{55F642A9-C0C3-0B6C-2E1C-8F7389BFFAB8}"/>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7895" name="Rectangle 7">
            <a:extLst>
              <a:ext uri="{FF2B5EF4-FFF2-40B4-BE49-F238E27FC236}">
                <a16:creationId xmlns:a16="http://schemas.microsoft.com/office/drawing/2014/main" id="{248991DA-2D77-5111-60CA-D91F6F6C4B3D}"/>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06BFE79A-2DA9-5648-85C8-0A912BCD6180}"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7896" name="Rectangle 8">
            <a:extLst>
              <a:ext uri="{FF2B5EF4-FFF2-40B4-BE49-F238E27FC236}">
                <a16:creationId xmlns:a16="http://schemas.microsoft.com/office/drawing/2014/main" id="{DEA8BD49-C4C8-330B-7B2E-2F53F332C7F4}"/>
              </a:ext>
            </a:extLst>
          </p:cNvPr>
          <p:cNvSpPr>
            <a:spLocks noChangeArrowheads="1"/>
          </p:cNvSpPr>
          <p:nvPr/>
        </p:nvSpPr>
        <p:spPr bwMode="auto">
          <a:xfrm>
            <a:off x="292133" y="721115"/>
            <a:ext cx="3824942" cy="49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412" b="1">
                <a:solidFill>
                  <a:srgbClr val="339966"/>
                </a:solidFill>
              </a:rPr>
              <a:t>B</a:t>
            </a:r>
            <a:r>
              <a:rPr lang="zh-CN" altLang="zh-CN" sz="1412">
                <a:solidFill>
                  <a:srgbClr val="339966"/>
                </a:solidFill>
              </a:rPr>
              <a:t>.	</a:t>
            </a:r>
            <a:r>
              <a:rPr lang="zh-CN" altLang="zh-CN" sz="1412">
                <a:solidFill>
                  <a:srgbClr val="000000"/>
                </a:solidFill>
                <a:ea typeface="宋体" panose="02010600030101010101" pitchFamily="2" charset="-122"/>
              </a:rPr>
              <a:t>去年Jon因钢厂倒闭失去工作，之后他丧失信心并放弃寻找新工作</a:t>
            </a:r>
          </a:p>
        </p:txBody>
      </p:sp>
      <p:sp>
        <p:nvSpPr>
          <p:cNvPr id="37897" name="Rectangle 9">
            <a:extLst>
              <a:ext uri="{FF2B5EF4-FFF2-40B4-BE49-F238E27FC236}">
                <a16:creationId xmlns:a16="http://schemas.microsoft.com/office/drawing/2014/main" id="{35297C87-921B-6513-E915-B917DD15E890}"/>
              </a:ext>
            </a:extLst>
          </p:cNvPr>
          <p:cNvSpPr>
            <a:spLocks noChangeArrowheads="1"/>
          </p:cNvSpPr>
          <p:nvPr/>
        </p:nvSpPr>
        <p:spPr bwMode="auto">
          <a:xfrm>
            <a:off x="324148" y="1234949"/>
            <a:ext cx="4181905" cy="2012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404813" indent="-290513">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35000"/>
              </a:spcBef>
              <a:spcAft>
                <a:spcPct val="0"/>
              </a:spcAft>
              <a:buClr>
                <a:srgbClr val="00B85C"/>
              </a:buClr>
              <a:buSzPct val="120000"/>
            </a:pPr>
            <a:r>
              <a:rPr lang="zh-CN" altLang="zh-CN" sz="1311" b="1">
                <a:solidFill>
                  <a:srgbClr val="CC0000"/>
                </a:solidFill>
                <a:ea typeface="宋体" panose="02010600030101010101" pitchFamily="2" charset="-122"/>
              </a:rPr>
              <a:t>丧失信心的工人</a:t>
            </a:r>
            <a:r>
              <a:rPr lang="zh-CN" altLang="zh-CN" sz="1311">
                <a:solidFill>
                  <a:srgbClr val="000000"/>
                </a:solidFill>
                <a:ea typeface="宋体" panose="02010600030101010101" pitchFamily="2" charset="-122"/>
              </a:rPr>
              <a:t> </a:t>
            </a:r>
          </a:p>
          <a:p>
            <a:pPr marL="204107" lvl="1" indent="-146477" defTabSz="461040" fontAlgn="base">
              <a:lnSpc>
                <a:spcPct val="105000"/>
              </a:lnSpc>
              <a:spcBef>
                <a:spcPct val="15000"/>
              </a:spcBef>
              <a:spcAft>
                <a:spcPct val="0"/>
              </a:spcAft>
              <a:buClr>
                <a:srgbClr val="339966"/>
              </a:buClr>
              <a:buSzPct val="120000"/>
              <a:buFont typeface="Wingdings" pitchFamily="2" charset="2"/>
              <a:buChar char="§"/>
            </a:pPr>
            <a:r>
              <a:rPr lang="zh-CN" altLang="zh-CN" sz="1311">
                <a:solidFill>
                  <a:srgbClr val="000000"/>
                </a:solidFill>
                <a:ea typeface="宋体" panose="02010600030101010101" pitchFamily="2" charset="-122"/>
              </a:rPr>
              <a:t>想工作但已放弃寻找工作的人</a:t>
            </a:r>
          </a:p>
          <a:p>
            <a:pPr marL="204107" lvl="1" indent="-146477" defTabSz="461040" fontAlgn="base">
              <a:lnSpc>
                <a:spcPct val="105000"/>
              </a:lnSpc>
              <a:spcBef>
                <a:spcPct val="15000"/>
              </a:spcBef>
              <a:spcAft>
                <a:spcPct val="0"/>
              </a:spcAft>
              <a:buClr>
                <a:srgbClr val="339966"/>
              </a:buClr>
              <a:buSzPct val="120000"/>
              <a:buFont typeface="Wingdings" pitchFamily="2" charset="2"/>
              <a:buChar char="§"/>
            </a:pPr>
            <a:r>
              <a:rPr lang="zh-CN" altLang="zh-CN" sz="1311">
                <a:solidFill>
                  <a:srgbClr val="000000"/>
                </a:solidFill>
                <a:ea typeface="宋体" panose="02010600030101010101" pitchFamily="2" charset="-122"/>
              </a:rPr>
              <a:t>属于“非劳动力”而不是“失业者”</a:t>
            </a:r>
          </a:p>
          <a:p>
            <a:pPr defTabSz="461040" fontAlgn="base">
              <a:lnSpc>
                <a:spcPct val="105000"/>
              </a:lnSpc>
              <a:spcBef>
                <a:spcPct val="35000"/>
              </a:spcBef>
              <a:spcAft>
                <a:spcPct val="0"/>
              </a:spcAft>
              <a:buClr>
                <a:srgbClr val="00B85C"/>
              </a:buClr>
              <a:buSzPct val="120000"/>
            </a:pPr>
            <a:r>
              <a:rPr lang="zh-CN" altLang="zh-CN" sz="1311">
                <a:solidFill>
                  <a:srgbClr val="FF0000"/>
                </a:solidFill>
                <a:ea typeface="宋体" panose="02010600030101010101" pitchFamily="2" charset="-122"/>
              </a:rPr>
              <a:t>失业率下降</a:t>
            </a:r>
            <a:r>
              <a:rPr lang="zh-CN" altLang="zh-CN" sz="1311">
                <a:solidFill>
                  <a:srgbClr val="000000"/>
                </a:solidFill>
                <a:ea typeface="宋体" panose="02010600030101010101" pitchFamily="2" charset="-122"/>
              </a:rPr>
              <a:t>因为Jon不再是失业者</a:t>
            </a:r>
          </a:p>
          <a:p>
            <a:pPr defTabSz="461040" fontAlgn="base">
              <a:lnSpc>
                <a:spcPct val="105000"/>
              </a:lnSpc>
              <a:spcBef>
                <a:spcPct val="35000"/>
              </a:spcBef>
              <a:spcAft>
                <a:spcPct val="0"/>
              </a:spcAft>
              <a:buClr>
                <a:srgbClr val="00B85C"/>
              </a:buClr>
              <a:buSzPct val="120000"/>
            </a:pPr>
            <a:r>
              <a:rPr lang="zh-CN" altLang="zh-CN" sz="1361">
                <a:solidFill>
                  <a:srgbClr val="000000"/>
                </a:solidFill>
                <a:ea typeface="宋体" panose="02010600030101010101" pitchFamily="2" charset="-122"/>
              </a:rPr>
              <a:t>失业率下降使人觉得劳动力市场正在改善。但事实上，并非如此。</a:t>
            </a:r>
          </a:p>
        </p:txBody>
      </p:sp>
    </p:spTree>
    <p:extLst>
      <p:ext uri="{BB962C8B-B14F-4D97-AF65-F5344CB8AC3E}">
        <p14:creationId xmlns:p14="http://schemas.microsoft.com/office/powerpoint/2010/main" val="1796896390"/>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897">
                                            <p:txEl>
                                              <p:pRg st="0" end="0"/>
                                            </p:txEl>
                                          </p:spTgt>
                                        </p:tgtEl>
                                        <p:attrNameLst>
                                          <p:attrName>style.visibility</p:attrName>
                                        </p:attrNameLst>
                                      </p:cBhvr>
                                      <p:to>
                                        <p:strVal val="visible"/>
                                      </p:to>
                                    </p:set>
                                    <p:animEffect transition="in" filter="wipe(left)">
                                      <p:cBhvr>
                                        <p:cTn id="7" dur="500"/>
                                        <p:tgtEl>
                                          <p:spTgt spid="3789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7897">
                                            <p:txEl>
                                              <p:pRg st="1" end="1"/>
                                            </p:txEl>
                                          </p:spTgt>
                                        </p:tgtEl>
                                        <p:attrNameLst>
                                          <p:attrName>style.visibility</p:attrName>
                                        </p:attrNameLst>
                                      </p:cBhvr>
                                      <p:to>
                                        <p:strVal val="visible"/>
                                      </p:to>
                                    </p:set>
                                    <p:animEffect transition="in" filter="wipe(left)">
                                      <p:cBhvr>
                                        <p:cTn id="10" dur="500"/>
                                        <p:tgtEl>
                                          <p:spTgt spid="3789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37897">
                                            <p:txEl>
                                              <p:pRg st="2" end="2"/>
                                            </p:txEl>
                                          </p:spTgt>
                                        </p:tgtEl>
                                        <p:attrNameLst>
                                          <p:attrName>style.visibility</p:attrName>
                                        </p:attrNameLst>
                                      </p:cBhvr>
                                      <p:to>
                                        <p:strVal val="visible"/>
                                      </p:to>
                                    </p:set>
                                    <p:animEffect transition="in" filter="wipe(left)">
                                      <p:cBhvr>
                                        <p:cTn id="15" dur="500"/>
                                        <p:tgtEl>
                                          <p:spTgt spid="3789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7897">
                                            <p:txEl>
                                              <p:pRg st="3" end="3"/>
                                            </p:txEl>
                                          </p:spTgt>
                                        </p:tgtEl>
                                        <p:attrNameLst>
                                          <p:attrName>style.visibility</p:attrName>
                                        </p:attrNameLst>
                                      </p:cBhvr>
                                      <p:to>
                                        <p:strVal val="visible"/>
                                      </p:to>
                                    </p:set>
                                    <p:animEffect transition="in" filter="wipe(left)">
                                      <p:cBhvr>
                                        <p:cTn id="20" dur="500"/>
                                        <p:tgtEl>
                                          <p:spTgt spid="3789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7897">
                                            <p:txEl>
                                              <p:pRg st="4" end="4"/>
                                            </p:txEl>
                                          </p:spTgt>
                                        </p:tgtEl>
                                        <p:attrNameLst>
                                          <p:attrName>style.visibility</p:attrName>
                                        </p:attrNameLst>
                                      </p:cBhvr>
                                      <p:to>
                                        <p:strVal val="visible"/>
                                      </p:to>
                                    </p:set>
                                    <p:animEffect transition="in" filter="wipe(left)">
                                      <p:cBhvr>
                                        <p:cTn id="25" dur="500"/>
                                        <p:tgtEl>
                                          <p:spTgt spid="3789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8">
            <a:extLst>
              <a:ext uri="{FF2B5EF4-FFF2-40B4-BE49-F238E27FC236}">
                <a16:creationId xmlns:a16="http://schemas.microsoft.com/office/drawing/2014/main" id="{1BD91C6A-9171-EBE0-FFE8-0964CEEE0CC1}"/>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8915" name="Rectangle 4">
            <a:extLst>
              <a:ext uri="{FF2B5EF4-FFF2-40B4-BE49-F238E27FC236}">
                <a16:creationId xmlns:a16="http://schemas.microsoft.com/office/drawing/2014/main" id="{81A25E6C-3B6C-6B38-D265-A839D6A9718B}"/>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38916" name="Group 4">
            <a:extLst>
              <a:ext uri="{FF2B5EF4-FFF2-40B4-BE49-F238E27FC236}">
                <a16:creationId xmlns:a16="http://schemas.microsoft.com/office/drawing/2014/main" id="{904FCE2E-E65C-E052-4617-842E84FC735E}"/>
              </a:ext>
            </a:extLst>
          </p:cNvPr>
          <p:cNvGrpSpPr>
            <a:grpSpLocks/>
          </p:cNvGrpSpPr>
          <p:nvPr/>
        </p:nvGrpSpPr>
        <p:grpSpPr bwMode="auto">
          <a:xfrm>
            <a:off x="299336" y="148055"/>
            <a:ext cx="4139486" cy="529041"/>
            <a:chOff x="0" y="0"/>
            <a:chExt cx="5000" cy="661"/>
          </a:xfrm>
        </p:grpSpPr>
        <p:sp>
          <p:nvSpPr>
            <p:cNvPr id="38917" name="Line 9">
              <a:extLst>
                <a:ext uri="{FF2B5EF4-FFF2-40B4-BE49-F238E27FC236}">
                  <a16:creationId xmlns:a16="http://schemas.microsoft.com/office/drawing/2014/main" id="{F5C062A5-7F91-09DA-4156-18130BEA25F3}"/>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8918" name="Line 10">
              <a:extLst>
                <a:ext uri="{FF2B5EF4-FFF2-40B4-BE49-F238E27FC236}">
                  <a16:creationId xmlns:a16="http://schemas.microsoft.com/office/drawing/2014/main" id="{312DEC38-BAC1-0BBF-0DE0-85A86268A3DA}"/>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8919" name="Rectangle 7">
            <a:extLst>
              <a:ext uri="{FF2B5EF4-FFF2-40B4-BE49-F238E27FC236}">
                <a16:creationId xmlns:a16="http://schemas.microsoft.com/office/drawing/2014/main" id="{90C83B6C-64EB-7F62-1138-927A683DE4B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E2FC917A-767A-814E-AF77-809C5A19B79D}"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19</a:t>
            </a:fld>
            <a:endParaRPr lang="zh-CN" altLang="zh-CN" sz="857">
              <a:solidFill>
                <a:srgbClr val="777777"/>
              </a:solidFill>
              <a:latin typeface="Tahoma" panose="020B0604030504040204" pitchFamily="34" charset="0"/>
              <a:ea typeface="宋体" panose="02010600030101010101" pitchFamily="2" charset="-122"/>
            </a:endParaRPr>
          </a:p>
        </p:txBody>
      </p:sp>
      <p:sp>
        <p:nvSpPr>
          <p:cNvPr id="38920" name="Rectangle 8">
            <a:extLst>
              <a:ext uri="{FF2B5EF4-FFF2-40B4-BE49-F238E27FC236}">
                <a16:creationId xmlns:a16="http://schemas.microsoft.com/office/drawing/2014/main" id="{6B8857DD-A23E-7D2E-41EA-D34C8D00EB20}"/>
              </a:ext>
            </a:extLst>
          </p:cNvPr>
          <p:cNvSpPr>
            <a:spLocks noChangeArrowheads="1"/>
          </p:cNvSpPr>
          <p:nvPr/>
        </p:nvSpPr>
        <p:spPr bwMode="auto">
          <a:xfrm>
            <a:off x="303338" y="732321"/>
            <a:ext cx="4004224" cy="49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412" b="1">
                <a:solidFill>
                  <a:srgbClr val="339966"/>
                </a:solidFill>
              </a:rPr>
              <a:t>C</a:t>
            </a:r>
            <a:r>
              <a:rPr lang="zh-CN" altLang="zh-CN" sz="1412">
                <a:solidFill>
                  <a:srgbClr val="339966"/>
                </a:solidFill>
              </a:rPr>
              <a:t>.	</a:t>
            </a:r>
            <a:r>
              <a:rPr lang="zh-CN" altLang="zh-CN" sz="1412">
                <a:solidFill>
                  <a:srgbClr val="000000"/>
                </a:solidFill>
                <a:ea typeface="宋体" panose="02010600030101010101" pitchFamily="2" charset="-122"/>
              </a:rPr>
              <a:t>Sam是他五口之家中唯一挣钱的人。不久前，他失去了一份年薪8万美元的研究工作。但很快他在麦当劳找到一份兼职工作，一直做到他在原先的研究领域找到另外一份工作为止</a:t>
            </a:r>
          </a:p>
        </p:txBody>
      </p:sp>
      <p:sp>
        <p:nvSpPr>
          <p:cNvPr id="38921" name="Rectangle 9">
            <a:extLst>
              <a:ext uri="{FF2B5EF4-FFF2-40B4-BE49-F238E27FC236}">
                <a16:creationId xmlns:a16="http://schemas.microsoft.com/office/drawing/2014/main" id="{F952CC6B-296C-47BA-2076-0A1F12F1BCB2}"/>
              </a:ext>
            </a:extLst>
          </p:cNvPr>
          <p:cNvSpPr>
            <a:spLocks noChangeArrowheads="1"/>
          </p:cNvSpPr>
          <p:nvPr/>
        </p:nvSpPr>
        <p:spPr bwMode="auto">
          <a:xfrm>
            <a:off x="286531" y="1751185"/>
            <a:ext cx="4103469" cy="1522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pPr>
            <a:r>
              <a:rPr lang="zh-CN" altLang="zh-CN" sz="1412">
                <a:solidFill>
                  <a:srgbClr val="FF0000"/>
                </a:solidFill>
                <a:ea typeface="宋体" panose="02010600030101010101" pitchFamily="2" charset="-122"/>
              </a:rPr>
              <a:t>    失业率没有发生变化，</a:t>
            </a:r>
            <a:r>
              <a:rPr lang="zh-CN" altLang="zh-CN" sz="1412">
                <a:solidFill>
                  <a:srgbClr val="000000"/>
                </a:solidFill>
                <a:ea typeface="宋体" panose="02010600030101010101" pitchFamily="2" charset="-122"/>
              </a:rPr>
              <a:t>因为一个人无论是做全职还是兼职工作都被视作“就业者”</a:t>
            </a:r>
          </a:p>
          <a:p>
            <a:pPr defTabSz="461040" fontAlgn="base">
              <a:lnSpc>
                <a:spcPct val="105000"/>
              </a:lnSpc>
              <a:spcBef>
                <a:spcPct val="50000"/>
              </a:spcBef>
              <a:spcAft>
                <a:spcPct val="0"/>
              </a:spcAft>
              <a:buClr>
                <a:srgbClr val="00B85C"/>
              </a:buClr>
              <a:buSzPct val="120000"/>
            </a:pPr>
            <a:r>
              <a:rPr lang="zh-CN" altLang="zh-CN" sz="1412">
                <a:solidFill>
                  <a:srgbClr val="000000"/>
                </a:solidFill>
                <a:ea typeface="宋体" panose="02010600030101010101" pitchFamily="2" charset="-122"/>
              </a:rPr>
              <a:t> 事情变得越来越糟，但失业率并没有反映该状况</a:t>
            </a:r>
            <a:r>
              <a:rPr lang="zh-CN" altLang="zh-CN" sz="1311">
                <a:solidFill>
                  <a:srgbClr val="000000"/>
                </a:solidFill>
                <a:ea typeface="宋体" panose="02010600030101010101" pitchFamily="2" charset="-122"/>
              </a:rPr>
              <a:t> </a:t>
            </a:r>
          </a:p>
        </p:txBody>
      </p:sp>
    </p:spTree>
    <p:extLst>
      <p:ext uri="{BB962C8B-B14F-4D97-AF65-F5344CB8AC3E}">
        <p14:creationId xmlns:p14="http://schemas.microsoft.com/office/powerpoint/2010/main" val="108123872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921">
                                            <p:txEl>
                                              <p:pRg st="0" end="0"/>
                                            </p:txEl>
                                          </p:spTgt>
                                        </p:tgtEl>
                                        <p:attrNameLst>
                                          <p:attrName>style.visibility</p:attrName>
                                        </p:attrNameLst>
                                      </p:cBhvr>
                                      <p:to>
                                        <p:strVal val="visible"/>
                                      </p:to>
                                    </p:set>
                                    <p:animEffect transition="in" filter="wipe(left)">
                                      <p:cBhvr>
                                        <p:cTn id="7" dur="500"/>
                                        <p:tgtEl>
                                          <p:spTgt spid="389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282EE885-EC4E-713E-A0B8-3FDB0D709A42}"/>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95110663-753B-07F5-9B87-376F65611D49}"/>
              </a:ext>
            </a:extLst>
          </p:cNvPr>
          <p:cNvSpPr>
            <a:spLocks noGrp="1"/>
          </p:cNvSpPr>
          <p:nvPr>
            <p:ph type="sldNum" sz="quarter" idx="11"/>
          </p:nvPr>
        </p:nvSpPr>
        <p:spPr/>
        <p:txBody>
          <a:bodyPr/>
          <a:lstStyle/>
          <a:p>
            <a:pPr defTabSz="461040" fontAlgn="base">
              <a:spcBef>
                <a:spcPct val="0"/>
              </a:spcBef>
              <a:spcAft>
                <a:spcPct val="0"/>
              </a:spcAft>
            </a:pPr>
            <a:fld id="{8A4D1312-3C2A-9E4A-8612-F3A97982B065}" type="slidenum">
              <a:rPr lang="zh-CN" altLang="zh-CN">
                <a:latin typeface="Arial" panose="020B0604020202020204" pitchFamily="34" charset="0"/>
              </a:rPr>
              <a:pPr defTabSz="461040" fontAlgn="base">
                <a:spcBef>
                  <a:spcPct val="0"/>
                </a:spcBef>
                <a:spcAft>
                  <a:spcPct val="0"/>
                </a:spcAft>
              </a:pPr>
              <a:t>20</a:t>
            </a:fld>
            <a:endParaRPr lang="en-US" altLang="zh-CN">
              <a:latin typeface="Arial" panose="020B0604020202020204" pitchFamily="34" charset="0"/>
            </a:endParaRPr>
          </a:p>
        </p:txBody>
      </p:sp>
      <p:sp>
        <p:nvSpPr>
          <p:cNvPr id="39938" name="Rectangle 2">
            <a:extLst>
              <a:ext uri="{FF2B5EF4-FFF2-40B4-BE49-F238E27FC236}">
                <a16:creationId xmlns:a16="http://schemas.microsoft.com/office/drawing/2014/main" id="{C128B975-3A78-AA9A-CDBB-A19F7D767A81}"/>
              </a:ext>
            </a:extLst>
          </p:cNvPr>
          <p:cNvSpPr>
            <a:spLocks noGrp="1" noChangeArrowheads="1"/>
          </p:cNvSpPr>
          <p:nvPr>
            <p:ph type="title" idx="4294967295"/>
          </p:nvPr>
        </p:nvSpPr>
        <p:spPr/>
        <p:txBody>
          <a:bodyPr/>
          <a:lstStyle/>
          <a:p>
            <a:r>
              <a:rPr lang="zh-CN" altLang="zh-CN" sz="1815">
                <a:ea typeface="宋体" panose="02010600030101010101" pitchFamily="2" charset="-122"/>
              </a:rPr>
              <a:t>失业率真的衡量什么？</a:t>
            </a:r>
          </a:p>
        </p:txBody>
      </p:sp>
      <p:sp>
        <p:nvSpPr>
          <p:cNvPr id="39939" name="Rectangle 3">
            <a:extLst>
              <a:ext uri="{FF2B5EF4-FFF2-40B4-BE49-F238E27FC236}">
                <a16:creationId xmlns:a16="http://schemas.microsoft.com/office/drawing/2014/main" id="{1491A431-F4D6-6294-6513-75292382A057}"/>
              </a:ext>
            </a:extLst>
          </p:cNvPr>
          <p:cNvSpPr>
            <a:spLocks noGrp="1" noChangeArrowheads="1"/>
          </p:cNvSpPr>
          <p:nvPr>
            <p:ph type="body" idx="4294967295"/>
          </p:nvPr>
        </p:nvSpPr>
        <p:spPr>
          <a:xfrm>
            <a:off x="230505" y="456995"/>
            <a:ext cx="4149090" cy="2696428"/>
          </a:xfrm>
        </p:spPr>
        <p:txBody>
          <a:bodyPr/>
          <a:lstStyle/>
          <a:p>
            <a:r>
              <a:rPr lang="zh-CN" altLang="zh-CN" sz="1361">
                <a:ea typeface="宋体" panose="02010600030101010101" pitchFamily="2" charset="-122"/>
              </a:rPr>
              <a:t>失业率并不是衡量失业或劳动力市场健康状况的完美指标：</a:t>
            </a:r>
          </a:p>
          <a:p>
            <a:pPr lvl="1">
              <a:lnSpc>
                <a:spcPct val="105000"/>
              </a:lnSpc>
            </a:pPr>
            <a:r>
              <a:rPr lang="zh-CN" altLang="zh-CN">
                <a:ea typeface="宋体" panose="02010600030101010101" pitchFamily="2" charset="-122"/>
              </a:rPr>
              <a:t>它将丧失信心的工人排除在外</a:t>
            </a:r>
          </a:p>
          <a:p>
            <a:pPr lvl="1">
              <a:lnSpc>
                <a:spcPct val="105000"/>
              </a:lnSpc>
            </a:pPr>
            <a:r>
              <a:rPr lang="zh-CN" altLang="zh-CN">
                <a:ea typeface="宋体" panose="02010600030101010101" pitchFamily="2" charset="-122"/>
              </a:rPr>
              <a:t>它没有区分全职工作和兼职工作，或者人们只是因为找不到全职工作才去做兼职</a:t>
            </a:r>
          </a:p>
          <a:p>
            <a:pPr lvl="1">
              <a:lnSpc>
                <a:spcPct val="105000"/>
              </a:lnSpc>
            </a:pPr>
            <a:r>
              <a:rPr lang="zh-CN" altLang="zh-CN">
                <a:ea typeface="宋体" panose="02010600030101010101" pitchFamily="2" charset="-122"/>
              </a:rPr>
              <a:t>在劳工统计局调查时，一些人并没有如实报告自己的工作状况</a:t>
            </a:r>
          </a:p>
          <a:p>
            <a:r>
              <a:rPr lang="zh-CN" altLang="zh-CN" sz="1361">
                <a:ea typeface="宋体" panose="02010600030101010101" pitchFamily="2" charset="-122"/>
              </a:rPr>
              <a:t>尽管存在这些问题，失业率仍然是劳动力市场和经济的一个非常有用的晴雨表</a:t>
            </a:r>
          </a:p>
        </p:txBody>
      </p:sp>
      <p:sp>
        <p:nvSpPr>
          <p:cNvPr id="39940" name="FlagCount" hidden="1">
            <a:hlinkClick r:id="rId3" action="ppaction://hlinkfile"/>
            <a:extLst>
              <a:ext uri="{FF2B5EF4-FFF2-40B4-BE49-F238E27FC236}">
                <a16:creationId xmlns:a16="http://schemas.microsoft.com/office/drawing/2014/main" id="{91DE5275-C435-B00D-9B74-DAEA5B3C706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BF003D8-06C1-BCEC-A273-5B77C30E10EC}"/>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90EF2DF5-9EE7-E8E8-2169-5274CADF9520}"/>
              </a:ext>
            </a:extLst>
          </p:cNvPr>
          <p:cNvSpPr>
            <a:spLocks noGrp="1"/>
          </p:cNvSpPr>
          <p:nvPr>
            <p:ph type="sldNum" sz="quarter" idx="11"/>
          </p:nvPr>
        </p:nvSpPr>
        <p:spPr/>
        <p:txBody>
          <a:bodyPr/>
          <a:lstStyle/>
          <a:p>
            <a:pPr defTabSz="461040" fontAlgn="base">
              <a:spcBef>
                <a:spcPct val="0"/>
              </a:spcBef>
              <a:spcAft>
                <a:spcPct val="0"/>
              </a:spcAft>
            </a:pPr>
            <a:fld id="{9C40CD2B-E99E-8148-88B9-ACEC55876A7B}" type="slidenum">
              <a:rPr lang="zh-CN" altLang="zh-CN">
                <a:latin typeface="Arial" panose="020B0604020202020204" pitchFamily="34" charset="0"/>
              </a:rPr>
              <a:pPr defTabSz="461040" fontAlgn="base">
                <a:spcBef>
                  <a:spcPct val="0"/>
                </a:spcBef>
                <a:spcAft>
                  <a:spcPct val="0"/>
                </a:spcAft>
              </a:pPr>
              <a:t>21</a:t>
            </a:fld>
            <a:endParaRPr lang="en-US" altLang="zh-CN">
              <a:latin typeface="Arial" panose="020B0604020202020204" pitchFamily="34" charset="0"/>
            </a:endParaRPr>
          </a:p>
        </p:txBody>
      </p:sp>
      <p:sp>
        <p:nvSpPr>
          <p:cNvPr id="41986" name="Rectangle 2">
            <a:extLst>
              <a:ext uri="{FF2B5EF4-FFF2-40B4-BE49-F238E27FC236}">
                <a16:creationId xmlns:a16="http://schemas.microsoft.com/office/drawing/2014/main" id="{92ADA484-6F06-3867-E5AC-5D9345665C43}"/>
              </a:ext>
            </a:extLst>
          </p:cNvPr>
          <p:cNvSpPr>
            <a:spLocks noGrp="1" noChangeArrowheads="1"/>
          </p:cNvSpPr>
          <p:nvPr>
            <p:ph type="title" idx="4294967295"/>
          </p:nvPr>
        </p:nvSpPr>
        <p:spPr>
          <a:xfrm>
            <a:off x="230505" y="106436"/>
            <a:ext cx="4149090" cy="327349"/>
          </a:xfrm>
        </p:spPr>
        <p:txBody>
          <a:bodyPr/>
          <a:lstStyle/>
          <a:p>
            <a:r>
              <a:rPr lang="zh-CN" altLang="zh-CN" sz="1765">
                <a:ea typeface="宋体" panose="02010600030101010101" pitchFamily="2" charset="-122"/>
              </a:rPr>
              <a:t>失业的持续时间</a:t>
            </a:r>
          </a:p>
        </p:txBody>
      </p:sp>
      <p:sp>
        <p:nvSpPr>
          <p:cNvPr id="41987" name="Rectangle 3">
            <a:extLst>
              <a:ext uri="{FF2B5EF4-FFF2-40B4-BE49-F238E27FC236}">
                <a16:creationId xmlns:a16="http://schemas.microsoft.com/office/drawing/2014/main" id="{AD26E1B2-2AA5-979A-C12D-17D31799E661}"/>
              </a:ext>
            </a:extLst>
          </p:cNvPr>
          <p:cNvSpPr>
            <a:spLocks noGrp="1" noChangeArrowheads="1"/>
          </p:cNvSpPr>
          <p:nvPr>
            <p:ph type="body" idx="4294967295"/>
          </p:nvPr>
        </p:nvSpPr>
        <p:spPr>
          <a:xfrm>
            <a:off x="230505" y="411375"/>
            <a:ext cx="4149090" cy="2816483"/>
          </a:xfrm>
        </p:spPr>
        <p:txBody>
          <a:bodyPr/>
          <a:lstStyle/>
          <a:p>
            <a:pPr marL="0" indent="0">
              <a:buNone/>
            </a:pPr>
            <a:r>
              <a:rPr lang="zh-CN" altLang="zh-CN">
                <a:ea typeface="宋体" panose="02010600030101010101" pitchFamily="2" charset="-122"/>
              </a:rPr>
              <a:t>大多数失业的持续时间很短：</a:t>
            </a:r>
          </a:p>
          <a:p>
            <a:pPr marL="287350" lvl="1" indent="-176092"/>
            <a:r>
              <a:rPr lang="zh-CN" altLang="zh-CN" sz="1412">
                <a:ea typeface="宋体" panose="02010600030101010101" pitchFamily="2" charset="-122"/>
              </a:rPr>
              <a:t>一般1/3失业者的失业在5周内结束，2/3失业者的失业在14周内结束</a:t>
            </a:r>
          </a:p>
          <a:p>
            <a:pPr marL="287350" lvl="1" indent="-176092"/>
            <a:r>
              <a:rPr lang="zh-CN" altLang="zh-CN" sz="1412">
                <a:ea typeface="宋体" panose="02010600030101010101" pitchFamily="2" charset="-122"/>
              </a:rPr>
              <a:t>只有20%失业者的失业超过6个月</a:t>
            </a:r>
          </a:p>
          <a:p>
            <a:pPr marL="0" indent="0">
              <a:buNone/>
            </a:pPr>
            <a:r>
              <a:rPr lang="zh-CN" altLang="zh-CN">
                <a:ea typeface="宋体" panose="02010600030101010101" pitchFamily="2" charset="-122"/>
              </a:rPr>
              <a:t>然而，观察到的大多数失业却是长期的</a:t>
            </a:r>
          </a:p>
          <a:p>
            <a:pPr marL="287350" lvl="1" indent="-176092"/>
            <a:r>
              <a:rPr lang="zh-CN" altLang="zh-CN" sz="1412">
                <a:ea typeface="宋体" panose="02010600030101010101" pitchFamily="2" charset="-122"/>
              </a:rPr>
              <a:t>长期失业的小群体几乎没有变化，因此它在观察时间之内的失业中占了大部分比例</a:t>
            </a:r>
          </a:p>
          <a:p>
            <a:pPr marL="0" indent="0">
              <a:buNone/>
            </a:pPr>
            <a:r>
              <a:rPr lang="zh-CN" altLang="zh-CN">
                <a:ea typeface="宋体" panose="02010600030101010101" pitchFamily="2" charset="-122"/>
              </a:rPr>
              <a:t>知道这些事实能帮助政策制定者制定更好的帮助失业者的政策 </a:t>
            </a:r>
          </a:p>
        </p:txBody>
      </p:sp>
      <p:sp>
        <p:nvSpPr>
          <p:cNvPr id="41988" name="FlagCount" hidden="1">
            <a:hlinkClick r:id="rId3" action="ppaction://hlinkfile"/>
            <a:extLst>
              <a:ext uri="{FF2B5EF4-FFF2-40B4-BE49-F238E27FC236}">
                <a16:creationId xmlns:a16="http://schemas.microsoft.com/office/drawing/2014/main" id="{4A46F020-6D38-B787-22BD-F337E30866C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F266E829-1667-6BCF-A94B-A7E471C87E29}"/>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F2291E68-1D00-38D1-4E21-0F9EA07407A3}"/>
              </a:ext>
            </a:extLst>
          </p:cNvPr>
          <p:cNvSpPr>
            <a:spLocks noGrp="1"/>
          </p:cNvSpPr>
          <p:nvPr>
            <p:ph type="sldNum" sz="quarter" idx="11"/>
          </p:nvPr>
        </p:nvSpPr>
        <p:spPr/>
        <p:txBody>
          <a:bodyPr/>
          <a:lstStyle/>
          <a:p>
            <a:pPr defTabSz="461040" fontAlgn="base">
              <a:spcBef>
                <a:spcPct val="0"/>
              </a:spcBef>
              <a:spcAft>
                <a:spcPct val="0"/>
              </a:spcAft>
            </a:pPr>
            <a:fld id="{0EE591EB-25BC-314C-8AA5-8BDD983B5679}" type="slidenum">
              <a:rPr lang="zh-CN" altLang="zh-CN">
                <a:latin typeface="Arial" panose="020B0604020202020204" pitchFamily="34" charset="0"/>
              </a:rPr>
              <a:pPr defTabSz="461040" fontAlgn="base">
                <a:spcBef>
                  <a:spcPct val="0"/>
                </a:spcBef>
                <a:spcAft>
                  <a:spcPct val="0"/>
                </a:spcAft>
              </a:pPr>
              <a:t>22</a:t>
            </a:fld>
            <a:endParaRPr lang="en-US" altLang="zh-CN">
              <a:latin typeface="Arial" panose="020B0604020202020204" pitchFamily="34" charset="0"/>
            </a:endParaRPr>
          </a:p>
        </p:txBody>
      </p:sp>
      <p:sp>
        <p:nvSpPr>
          <p:cNvPr id="44034" name="Rectangle 2">
            <a:extLst>
              <a:ext uri="{FF2B5EF4-FFF2-40B4-BE49-F238E27FC236}">
                <a16:creationId xmlns:a16="http://schemas.microsoft.com/office/drawing/2014/main" id="{ADC74B53-97D8-E473-30FE-EDB942AC8EE1}"/>
              </a:ext>
            </a:extLst>
          </p:cNvPr>
          <p:cNvSpPr>
            <a:spLocks noGrp="1" noChangeArrowheads="1"/>
          </p:cNvSpPr>
          <p:nvPr>
            <p:ph type="title" idx="4294967295"/>
          </p:nvPr>
        </p:nvSpPr>
        <p:spPr>
          <a:xfrm>
            <a:off x="0" y="128846"/>
            <a:ext cx="4610100" cy="327349"/>
          </a:xfrm>
        </p:spPr>
        <p:txBody>
          <a:bodyPr/>
          <a:lstStyle/>
          <a:p>
            <a:r>
              <a:rPr lang="zh-CN" altLang="zh-CN" sz="1815">
                <a:ea typeface="宋体" panose="02010600030101010101" pitchFamily="2" charset="-122"/>
              </a:rPr>
              <a:t>周期性失业与自然失业率</a:t>
            </a:r>
          </a:p>
        </p:txBody>
      </p:sp>
      <p:sp>
        <p:nvSpPr>
          <p:cNvPr id="44035" name="Rectangle 3">
            <a:extLst>
              <a:ext uri="{FF2B5EF4-FFF2-40B4-BE49-F238E27FC236}">
                <a16:creationId xmlns:a16="http://schemas.microsoft.com/office/drawing/2014/main" id="{AD0F93A5-D207-E95D-58BA-1ACFAA1CF55A}"/>
              </a:ext>
            </a:extLst>
          </p:cNvPr>
          <p:cNvSpPr>
            <a:spLocks noGrp="1" noChangeArrowheads="1"/>
          </p:cNvSpPr>
          <p:nvPr>
            <p:ph type="body" idx="4294967295"/>
          </p:nvPr>
        </p:nvSpPr>
        <p:spPr>
          <a:xfrm>
            <a:off x="230505" y="464198"/>
            <a:ext cx="4149090" cy="2762859"/>
          </a:xfrm>
        </p:spPr>
        <p:txBody>
          <a:bodyPr/>
          <a:lstStyle/>
          <a:p>
            <a:pPr marL="0" indent="0">
              <a:spcBef>
                <a:spcPct val="40000"/>
              </a:spcBef>
              <a:buNone/>
            </a:pPr>
            <a:r>
              <a:rPr lang="zh-CN" altLang="zh-CN">
                <a:ea typeface="宋体" panose="02010600030101010101" pitchFamily="2" charset="-122"/>
              </a:rPr>
              <a:t>尽管每年的失业率一直在变化，但总是有失业存在 </a:t>
            </a:r>
          </a:p>
          <a:p>
            <a:pPr marL="0" indent="0">
              <a:spcBef>
                <a:spcPct val="50000"/>
              </a:spcBef>
              <a:buNone/>
            </a:pPr>
            <a:r>
              <a:rPr lang="zh-CN" altLang="zh-CN" b="1">
                <a:solidFill>
                  <a:srgbClr val="CC0000"/>
                </a:solidFill>
                <a:ea typeface="宋体" panose="02010600030101010101" pitchFamily="2" charset="-122"/>
              </a:rPr>
              <a:t>自然失业率</a:t>
            </a:r>
            <a:endParaRPr lang="zh-CN" altLang="zh-CN">
              <a:ea typeface="宋体" panose="02010600030101010101" pitchFamily="2" charset="-122"/>
            </a:endParaRPr>
          </a:p>
          <a:p>
            <a:pPr marL="201705" lvl="1">
              <a:lnSpc>
                <a:spcPct val="105000"/>
              </a:lnSpc>
              <a:spcBef>
                <a:spcPct val="10000"/>
              </a:spcBef>
            </a:pPr>
            <a:r>
              <a:rPr lang="zh-CN" altLang="zh-CN" sz="1412">
                <a:ea typeface="宋体" panose="02010600030101010101" pitchFamily="2" charset="-122"/>
              </a:rPr>
              <a:t>失业率围绕它而波动的正常失业率 </a:t>
            </a:r>
          </a:p>
          <a:p>
            <a:pPr marL="0" indent="0">
              <a:spcBef>
                <a:spcPct val="55000"/>
              </a:spcBef>
              <a:buNone/>
            </a:pPr>
            <a:r>
              <a:rPr lang="zh-CN" altLang="zh-CN" b="1">
                <a:solidFill>
                  <a:srgbClr val="CC0000"/>
                </a:solidFill>
                <a:ea typeface="宋体" panose="02010600030101010101" pitchFamily="2" charset="-122"/>
              </a:rPr>
              <a:t>周期性失业</a:t>
            </a:r>
          </a:p>
          <a:p>
            <a:pPr marL="201705" lvl="1">
              <a:lnSpc>
                <a:spcPct val="105000"/>
              </a:lnSpc>
            </a:pPr>
            <a:r>
              <a:rPr lang="zh-CN" altLang="zh-CN" sz="1412">
                <a:ea typeface="宋体" panose="02010600030101010101" pitchFamily="2" charset="-122"/>
              </a:rPr>
              <a:t>失业率对自然失业率的背离</a:t>
            </a:r>
          </a:p>
          <a:p>
            <a:pPr marL="201705" lvl="1">
              <a:lnSpc>
                <a:spcPct val="105000"/>
              </a:lnSpc>
            </a:pPr>
            <a:r>
              <a:rPr lang="zh-CN" altLang="zh-CN" sz="1412">
                <a:ea typeface="宋体" panose="02010600030101010101" pitchFamily="2" charset="-122"/>
              </a:rPr>
              <a:t>这和商业周期有关，我们在接下来的章节中将学习这些内容</a:t>
            </a:r>
          </a:p>
        </p:txBody>
      </p:sp>
      <p:sp>
        <p:nvSpPr>
          <p:cNvPr id="44036" name="FlagCount" hidden="1">
            <a:hlinkClick r:id="rId3" action="ppaction://hlinkfile"/>
            <a:extLst>
              <a:ext uri="{FF2B5EF4-FFF2-40B4-BE49-F238E27FC236}">
                <a16:creationId xmlns:a16="http://schemas.microsoft.com/office/drawing/2014/main" id="{D20D0310-7551-4987-92F0-BDF85D218C1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46082" name="AutoShape 16">
            <a:extLst>
              <a:ext uri="{FF2B5EF4-FFF2-40B4-BE49-F238E27FC236}">
                <a16:creationId xmlns:a16="http://schemas.microsoft.com/office/drawing/2014/main" id="{53B2CBD5-E7F5-8579-B604-C1283CE5F07C}"/>
              </a:ext>
            </a:extLst>
          </p:cNvPr>
          <p:cNvSpPr>
            <a:spLocks noChangeAspect="1" noChangeArrowheads="1" noTextEdit="1"/>
          </p:cNvSpPr>
          <p:nvPr/>
        </p:nvSpPr>
        <p:spPr bwMode="auto">
          <a:xfrm>
            <a:off x="280128" y="333739"/>
            <a:ext cx="4337176" cy="30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3" name="Rectangle 18">
            <a:extLst>
              <a:ext uri="{FF2B5EF4-FFF2-40B4-BE49-F238E27FC236}">
                <a16:creationId xmlns:a16="http://schemas.microsoft.com/office/drawing/2014/main" id="{8FF7AEC2-43B3-A2A6-8BD2-EF93E441CFE5}"/>
              </a:ext>
            </a:extLst>
          </p:cNvPr>
          <p:cNvSpPr>
            <a:spLocks noChangeArrowheads="1"/>
          </p:cNvSpPr>
          <p:nvPr/>
        </p:nvSpPr>
        <p:spPr bwMode="auto">
          <a:xfrm>
            <a:off x="582666" y="474604"/>
            <a:ext cx="3832946" cy="25691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6084" name="Line 19">
            <a:extLst>
              <a:ext uri="{FF2B5EF4-FFF2-40B4-BE49-F238E27FC236}">
                <a16:creationId xmlns:a16="http://schemas.microsoft.com/office/drawing/2014/main" id="{03685462-1FF9-D8DB-F996-965E04196B48}"/>
              </a:ext>
            </a:extLst>
          </p:cNvPr>
          <p:cNvSpPr>
            <a:spLocks noChangeShapeType="1"/>
          </p:cNvSpPr>
          <p:nvPr/>
        </p:nvSpPr>
        <p:spPr bwMode="auto">
          <a:xfrm>
            <a:off x="582666" y="2613177"/>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5" name="Line 20">
            <a:extLst>
              <a:ext uri="{FF2B5EF4-FFF2-40B4-BE49-F238E27FC236}">
                <a16:creationId xmlns:a16="http://schemas.microsoft.com/office/drawing/2014/main" id="{24F7B37D-7296-ED24-94B6-D7D1BDEDB11F}"/>
              </a:ext>
            </a:extLst>
          </p:cNvPr>
          <p:cNvSpPr>
            <a:spLocks noChangeShapeType="1"/>
          </p:cNvSpPr>
          <p:nvPr/>
        </p:nvSpPr>
        <p:spPr bwMode="auto">
          <a:xfrm>
            <a:off x="582666" y="2189784"/>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6" name="Line 21">
            <a:extLst>
              <a:ext uri="{FF2B5EF4-FFF2-40B4-BE49-F238E27FC236}">
                <a16:creationId xmlns:a16="http://schemas.microsoft.com/office/drawing/2014/main" id="{083A3F60-F6FE-2837-C62E-D04FE58E7616}"/>
              </a:ext>
            </a:extLst>
          </p:cNvPr>
          <p:cNvSpPr>
            <a:spLocks noChangeShapeType="1"/>
          </p:cNvSpPr>
          <p:nvPr/>
        </p:nvSpPr>
        <p:spPr bwMode="auto">
          <a:xfrm>
            <a:off x="582666" y="1759188"/>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7" name="Line 22">
            <a:extLst>
              <a:ext uri="{FF2B5EF4-FFF2-40B4-BE49-F238E27FC236}">
                <a16:creationId xmlns:a16="http://schemas.microsoft.com/office/drawing/2014/main" id="{2C5FCFC4-B458-034B-E738-FC3C8A8DD98E}"/>
              </a:ext>
            </a:extLst>
          </p:cNvPr>
          <p:cNvSpPr>
            <a:spLocks noChangeShapeType="1"/>
          </p:cNvSpPr>
          <p:nvPr/>
        </p:nvSpPr>
        <p:spPr bwMode="auto">
          <a:xfrm>
            <a:off x="582666" y="1328592"/>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8" name="Line 23">
            <a:extLst>
              <a:ext uri="{FF2B5EF4-FFF2-40B4-BE49-F238E27FC236}">
                <a16:creationId xmlns:a16="http://schemas.microsoft.com/office/drawing/2014/main" id="{B6E679EE-2F8D-E13C-D9F9-0B6A2BB5ED9E}"/>
              </a:ext>
            </a:extLst>
          </p:cNvPr>
          <p:cNvSpPr>
            <a:spLocks noChangeShapeType="1"/>
          </p:cNvSpPr>
          <p:nvPr/>
        </p:nvSpPr>
        <p:spPr bwMode="auto">
          <a:xfrm>
            <a:off x="582666" y="905199"/>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9" name="Line 24">
            <a:extLst>
              <a:ext uri="{FF2B5EF4-FFF2-40B4-BE49-F238E27FC236}">
                <a16:creationId xmlns:a16="http://schemas.microsoft.com/office/drawing/2014/main" id="{AB35A8DE-112F-9945-8D93-BC25C96FDBCA}"/>
              </a:ext>
            </a:extLst>
          </p:cNvPr>
          <p:cNvSpPr>
            <a:spLocks noChangeShapeType="1"/>
          </p:cNvSpPr>
          <p:nvPr/>
        </p:nvSpPr>
        <p:spPr bwMode="auto">
          <a:xfrm>
            <a:off x="582666" y="474603"/>
            <a:ext cx="3832946" cy="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0" name="Rectangle 25">
            <a:extLst>
              <a:ext uri="{FF2B5EF4-FFF2-40B4-BE49-F238E27FC236}">
                <a16:creationId xmlns:a16="http://schemas.microsoft.com/office/drawing/2014/main" id="{123234DE-1101-12E8-FFE0-A4D383C688A8}"/>
              </a:ext>
            </a:extLst>
          </p:cNvPr>
          <p:cNvSpPr>
            <a:spLocks noChangeArrowheads="1"/>
          </p:cNvSpPr>
          <p:nvPr/>
        </p:nvSpPr>
        <p:spPr bwMode="auto">
          <a:xfrm>
            <a:off x="582666" y="474604"/>
            <a:ext cx="3832946" cy="2569170"/>
          </a:xfrm>
          <a:prstGeom prst="rect">
            <a:avLst/>
          </a:prstGeom>
          <a:noFill/>
          <a:ln w="12700">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6091" name="Line 26">
            <a:extLst>
              <a:ext uri="{FF2B5EF4-FFF2-40B4-BE49-F238E27FC236}">
                <a16:creationId xmlns:a16="http://schemas.microsoft.com/office/drawing/2014/main" id="{A3CF05AA-2EB4-A6D4-4E4C-450E3CE8E2FE}"/>
              </a:ext>
            </a:extLst>
          </p:cNvPr>
          <p:cNvSpPr>
            <a:spLocks noChangeShapeType="1"/>
          </p:cNvSpPr>
          <p:nvPr/>
        </p:nvSpPr>
        <p:spPr bwMode="auto">
          <a:xfrm>
            <a:off x="582665" y="474604"/>
            <a:ext cx="0" cy="256917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2" name="Line 27">
            <a:extLst>
              <a:ext uri="{FF2B5EF4-FFF2-40B4-BE49-F238E27FC236}">
                <a16:creationId xmlns:a16="http://schemas.microsoft.com/office/drawing/2014/main" id="{8B50C50A-8230-A51B-3B19-C50F5C9B263C}"/>
              </a:ext>
            </a:extLst>
          </p:cNvPr>
          <p:cNvSpPr>
            <a:spLocks noChangeShapeType="1"/>
          </p:cNvSpPr>
          <p:nvPr/>
        </p:nvSpPr>
        <p:spPr bwMode="auto">
          <a:xfrm>
            <a:off x="542648" y="3043774"/>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3" name="Line 28">
            <a:extLst>
              <a:ext uri="{FF2B5EF4-FFF2-40B4-BE49-F238E27FC236}">
                <a16:creationId xmlns:a16="http://schemas.microsoft.com/office/drawing/2014/main" id="{FCD8BD2B-7726-71A1-BE78-FDCF2AC0C648}"/>
              </a:ext>
            </a:extLst>
          </p:cNvPr>
          <p:cNvSpPr>
            <a:spLocks noChangeShapeType="1"/>
          </p:cNvSpPr>
          <p:nvPr/>
        </p:nvSpPr>
        <p:spPr bwMode="auto">
          <a:xfrm>
            <a:off x="542648" y="2613177"/>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4" name="Line 29">
            <a:extLst>
              <a:ext uri="{FF2B5EF4-FFF2-40B4-BE49-F238E27FC236}">
                <a16:creationId xmlns:a16="http://schemas.microsoft.com/office/drawing/2014/main" id="{1C23B8C6-F899-70DF-A3E5-582EAE787788}"/>
              </a:ext>
            </a:extLst>
          </p:cNvPr>
          <p:cNvSpPr>
            <a:spLocks noChangeShapeType="1"/>
          </p:cNvSpPr>
          <p:nvPr/>
        </p:nvSpPr>
        <p:spPr bwMode="auto">
          <a:xfrm>
            <a:off x="542648" y="2189784"/>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5" name="Line 30">
            <a:extLst>
              <a:ext uri="{FF2B5EF4-FFF2-40B4-BE49-F238E27FC236}">
                <a16:creationId xmlns:a16="http://schemas.microsoft.com/office/drawing/2014/main" id="{56643999-404E-9AAB-AC4F-C6122A8D5E94}"/>
              </a:ext>
            </a:extLst>
          </p:cNvPr>
          <p:cNvSpPr>
            <a:spLocks noChangeShapeType="1"/>
          </p:cNvSpPr>
          <p:nvPr/>
        </p:nvSpPr>
        <p:spPr bwMode="auto">
          <a:xfrm>
            <a:off x="542648" y="1759188"/>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6" name="Line 31">
            <a:extLst>
              <a:ext uri="{FF2B5EF4-FFF2-40B4-BE49-F238E27FC236}">
                <a16:creationId xmlns:a16="http://schemas.microsoft.com/office/drawing/2014/main" id="{D0D6918F-ACBA-EAE3-4AC8-C70B326FC569}"/>
              </a:ext>
            </a:extLst>
          </p:cNvPr>
          <p:cNvSpPr>
            <a:spLocks noChangeShapeType="1"/>
          </p:cNvSpPr>
          <p:nvPr/>
        </p:nvSpPr>
        <p:spPr bwMode="auto">
          <a:xfrm>
            <a:off x="542648" y="1328592"/>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7" name="Line 32">
            <a:extLst>
              <a:ext uri="{FF2B5EF4-FFF2-40B4-BE49-F238E27FC236}">
                <a16:creationId xmlns:a16="http://schemas.microsoft.com/office/drawing/2014/main" id="{FFE297AC-C2D1-D6A5-EDB8-45A32307DE38}"/>
              </a:ext>
            </a:extLst>
          </p:cNvPr>
          <p:cNvSpPr>
            <a:spLocks noChangeShapeType="1"/>
          </p:cNvSpPr>
          <p:nvPr/>
        </p:nvSpPr>
        <p:spPr bwMode="auto">
          <a:xfrm>
            <a:off x="542648" y="905199"/>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8" name="Line 33">
            <a:extLst>
              <a:ext uri="{FF2B5EF4-FFF2-40B4-BE49-F238E27FC236}">
                <a16:creationId xmlns:a16="http://schemas.microsoft.com/office/drawing/2014/main" id="{3DD9B60C-F130-1387-AA16-CE8B0587715C}"/>
              </a:ext>
            </a:extLst>
          </p:cNvPr>
          <p:cNvSpPr>
            <a:spLocks noChangeShapeType="1"/>
          </p:cNvSpPr>
          <p:nvPr/>
        </p:nvSpPr>
        <p:spPr bwMode="auto">
          <a:xfrm>
            <a:off x="542648" y="474603"/>
            <a:ext cx="4001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99" name="Line 34">
            <a:extLst>
              <a:ext uri="{FF2B5EF4-FFF2-40B4-BE49-F238E27FC236}">
                <a16:creationId xmlns:a16="http://schemas.microsoft.com/office/drawing/2014/main" id="{9CB64773-C0A8-BD62-BB80-48E4DB4CB82F}"/>
              </a:ext>
            </a:extLst>
          </p:cNvPr>
          <p:cNvSpPr>
            <a:spLocks noChangeShapeType="1"/>
          </p:cNvSpPr>
          <p:nvPr/>
        </p:nvSpPr>
        <p:spPr bwMode="auto">
          <a:xfrm>
            <a:off x="582666" y="3043774"/>
            <a:ext cx="383294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0" name="Line 35">
            <a:extLst>
              <a:ext uri="{FF2B5EF4-FFF2-40B4-BE49-F238E27FC236}">
                <a16:creationId xmlns:a16="http://schemas.microsoft.com/office/drawing/2014/main" id="{61BC0833-48EF-7036-D713-F66A1E526088}"/>
              </a:ext>
            </a:extLst>
          </p:cNvPr>
          <p:cNvSpPr>
            <a:spLocks noChangeShapeType="1"/>
          </p:cNvSpPr>
          <p:nvPr/>
        </p:nvSpPr>
        <p:spPr bwMode="auto">
          <a:xfrm flipV="1">
            <a:off x="582665"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1" name="Line 36">
            <a:extLst>
              <a:ext uri="{FF2B5EF4-FFF2-40B4-BE49-F238E27FC236}">
                <a16:creationId xmlns:a16="http://schemas.microsoft.com/office/drawing/2014/main" id="{8984D725-DDD7-CA3E-6D83-56D7265B4635}"/>
              </a:ext>
            </a:extLst>
          </p:cNvPr>
          <p:cNvSpPr>
            <a:spLocks noChangeShapeType="1"/>
          </p:cNvSpPr>
          <p:nvPr/>
        </p:nvSpPr>
        <p:spPr bwMode="auto">
          <a:xfrm flipV="1">
            <a:off x="663502"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2" name="Line 37">
            <a:extLst>
              <a:ext uri="{FF2B5EF4-FFF2-40B4-BE49-F238E27FC236}">
                <a16:creationId xmlns:a16="http://schemas.microsoft.com/office/drawing/2014/main" id="{00938CE4-3B20-6E27-1E4E-11BECA0E2667}"/>
              </a:ext>
            </a:extLst>
          </p:cNvPr>
          <p:cNvSpPr>
            <a:spLocks noChangeShapeType="1"/>
          </p:cNvSpPr>
          <p:nvPr/>
        </p:nvSpPr>
        <p:spPr bwMode="auto">
          <a:xfrm flipV="1">
            <a:off x="744339"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3" name="Line 38">
            <a:extLst>
              <a:ext uri="{FF2B5EF4-FFF2-40B4-BE49-F238E27FC236}">
                <a16:creationId xmlns:a16="http://schemas.microsoft.com/office/drawing/2014/main" id="{A5459010-98B0-61F9-6F7B-BF3949432E6B}"/>
              </a:ext>
            </a:extLst>
          </p:cNvPr>
          <p:cNvSpPr>
            <a:spLocks noChangeShapeType="1"/>
          </p:cNvSpPr>
          <p:nvPr/>
        </p:nvSpPr>
        <p:spPr bwMode="auto">
          <a:xfrm flipV="1">
            <a:off x="82517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4" name="Line 39">
            <a:extLst>
              <a:ext uri="{FF2B5EF4-FFF2-40B4-BE49-F238E27FC236}">
                <a16:creationId xmlns:a16="http://schemas.microsoft.com/office/drawing/2014/main" id="{3474F6E6-DF15-7EA5-C5E0-47DEDAA94952}"/>
              </a:ext>
            </a:extLst>
          </p:cNvPr>
          <p:cNvSpPr>
            <a:spLocks noChangeShapeType="1"/>
          </p:cNvSpPr>
          <p:nvPr/>
        </p:nvSpPr>
        <p:spPr bwMode="auto">
          <a:xfrm flipV="1">
            <a:off x="905213"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5" name="Line 40">
            <a:extLst>
              <a:ext uri="{FF2B5EF4-FFF2-40B4-BE49-F238E27FC236}">
                <a16:creationId xmlns:a16="http://schemas.microsoft.com/office/drawing/2014/main" id="{EF6799A2-89DB-7BD3-C979-DFF164A2BFBB}"/>
              </a:ext>
            </a:extLst>
          </p:cNvPr>
          <p:cNvSpPr>
            <a:spLocks noChangeShapeType="1"/>
          </p:cNvSpPr>
          <p:nvPr/>
        </p:nvSpPr>
        <p:spPr bwMode="auto">
          <a:xfrm flipV="1">
            <a:off x="97964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6" name="Line 41">
            <a:extLst>
              <a:ext uri="{FF2B5EF4-FFF2-40B4-BE49-F238E27FC236}">
                <a16:creationId xmlns:a16="http://schemas.microsoft.com/office/drawing/2014/main" id="{3AD8552F-FB27-4B87-9346-26556CF6CC91}"/>
              </a:ext>
            </a:extLst>
          </p:cNvPr>
          <p:cNvSpPr>
            <a:spLocks noChangeShapeType="1"/>
          </p:cNvSpPr>
          <p:nvPr/>
        </p:nvSpPr>
        <p:spPr bwMode="auto">
          <a:xfrm flipV="1">
            <a:off x="1060483"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7" name="Line 42">
            <a:extLst>
              <a:ext uri="{FF2B5EF4-FFF2-40B4-BE49-F238E27FC236}">
                <a16:creationId xmlns:a16="http://schemas.microsoft.com/office/drawing/2014/main" id="{2D5F6747-FA40-16D0-9809-AAE1161EC5E0}"/>
              </a:ext>
            </a:extLst>
          </p:cNvPr>
          <p:cNvSpPr>
            <a:spLocks noChangeShapeType="1"/>
          </p:cNvSpPr>
          <p:nvPr/>
        </p:nvSpPr>
        <p:spPr bwMode="auto">
          <a:xfrm flipV="1">
            <a:off x="1140520"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8" name="Line 43">
            <a:extLst>
              <a:ext uri="{FF2B5EF4-FFF2-40B4-BE49-F238E27FC236}">
                <a16:creationId xmlns:a16="http://schemas.microsoft.com/office/drawing/2014/main" id="{2EF9C294-8792-9319-4610-B9A028073B8D}"/>
              </a:ext>
            </a:extLst>
          </p:cNvPr>
          <p:cNvSpPr>
            <a:spLocks noChangeShapeType="1"/>
          </p:cNvSpPr>
          <p:nvPr/>
        </p:nvSpPr>
        <p:spPr bwMode="auto">
          <a:xfrm flipV="1">
            <a:off x="122135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09" name="Line 44">
            <a:extLst>
              <a:ext uri="{FF2B5EF4-FFF2-40B4-BE49-F238E27FC236}">
                <a16:creationId xmlns:a16="http://schemas.microsoft.com/office/drawing/2014/main" id="{D169F83E-5114-E630-E46B-327020FD6D1F}"/>
              </a:ext>
            </a:extLst>
          </p:cNvPr>
          <p:cNvSpPr>
            <a:spLocks noChangeShapeType="1"/>
          </p:cNvSpPr>
          <p:nvPr/>
        </p:nvSpPr>
        <p:spPr bwMode="auto">
          <a:xfrm flipV="1">
            <a:off x="1302193"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0" name="Line 45">
            <a:extLst>
              <a:ext uri="{FF2B5EF4-FFF2-40B4-BE49-F238E27FC236}">
                <a16:creationId xmlns:a16="http://schemas.microsoft.com/office/drawing/2014/main" id="{64ECECBC-B361-A57D-209C-9B3554BCB085}"/>
              </a:ext>
            </a:extLst>
          </p:cNvPr>
          <p:cNvSpPr>
            <a:spLocks noChangeShapeType="1"/>
          </p:cNvSpPr>
          <p:nvPr/>
        </p:nvSpPr>
        <p:spPr bwMode="auto">
          <a:xfrm flipV="1">
            <a:off x="1383030"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1" name="Line 46">
            <a:extLst>
              <a:ext uri="{FF2B5EF4-FFF2-40B4-BE49-F238E27FC236}">
                <a16:creationId xmlns:a16="http://schemas.microsoft.com/office/drawing/2014/main" id="{C269CA95-5D4E-924A-9859-015030C0448D}"/>
              </a:ext>
            </a:extLst>
          </p:cNvPr>
          <p:cNvSpPr>
            <a:spLocks noChangeShapeType="1"/>
          </p:cNvSpPr>
          <p:nvPr/>
        </p:nvSpPr>
        <p:spPr bwMode="auto">
          <a:xfrm flipV="1">
            <a:off x="146386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2" name="Line 47">
            <a:extLst>
              <a:ext uri="{FF2B5EF4-FFF2-40B4-BE49-F238E27FC236}">
                <a16:creationId xmlns:a16="http://schemas.microsoft.com/office/drawing/2014/main" id="{B9C74F2C-9307-37B3-91ED-D78821B5E189}"/>
              </a:ext>
            </a:extLst>
          </p:cNvPr>
          <p:cNvSpPr>
            <a:spLocks noChangeShapeType="1"/>
          </p:cNvSpPr>
          <p:nvPr/>
        </p:nvSpPr>
        <p:spPr bwMode="auto">
          <a:xfrm flipV="1">
            <a:off x="1543904"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3" name="Line 48">
            <a:extLst>
              <a:ext uri="{FF2B5EF4-FFF2-40B4-BE49-F238E27FC236}">
                <a16:creationId xmlns:a16="http://schemas.microsoft.com/office/drawing/2014/main" id="{449F9DA3-3F11-9506-0ABC-9C3E711E60A3}"/>
              </a:ext>
            </a:extLst>
          </p:cNvPr>
          <p:cNvSpPr>
            <a:spLocks noChangeShapeType="1"/>
          </p:cNvSpPr>
          <p:nvPr/>
        </p:nvSpPr>
        <p:spPr bwMode="auto">
          <a:xfrm flipV="1">
            <a:off x="161833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4" name="Line 49">
            <a:extLst>
              <a:ext uri="{FF2B5EF4-FFF2-40B4-BE49-F238E27FC236}">
                <a16:creationId xmlns:a16="http://schemas.microsoft.com/office/drawing/2014/main" id="{4F00336C-3FBC-B69E-BFAA-AD1CA4FED872}"/>
              </a:ext>
            </a:extLst>
          </p:cNvPr>
          <p:cNvSpPr>
            <a:spLocks noChangeShapeType="1"/>
          </p:cNvSpPr>
          <p:nvPr/>
        </p:nvSpPr>
        <p:spPr bwMode="auto">
          <a:xfrm flipV="1">
            <a:off x="1699174"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5" name="Line 50">
            <a:extLst>
              <a:ext uri="{FF2B5EF4-FFF2-40B4-BE49-F238E27FC236}">
                <a16:creationId xmlns:a16="http://schemas.microsoft.com/office/drawing/2014/main" id="{06605480-778B-ED4A-DC30-AEAFF8FE29D7}"/>
              </a:ext>
            </a:extLst>
          </p:cNvPr>
          <p:cNvSpPr>
            <a:spLocks noChangeShapeType="1"/>
          </p:cNvSpPr>
          <p:nvPr/>
        </p:nvSpPr>
        <p:spPr bwMode="auto">
          <a:xfrm flipV="1">
            <a:off x="1780011"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6" name="Line 51">
            <a:extLst>
              <a:ext uri="{FF2B5EF4-FFF2-40B4-BE49-F238E27FC236}">
                <a16:creationId xmlns:a16="http://schemas.microsoft.com/office/drawing/2014/main" id="{2AB5A74F-3DF0-3F7B-2CF2-E1E383AAF813}"/>
              </a:ext>
            </a:extLst>
          </p:cNvPr>
          <p:cNvSpPr>
            <a:spLocks noChangeShapeType="1"/>
          </p:cNvSpPr>
          <p:nvPr/>
        </p:nvSpPr>
        <p:spPr bwMode="auto">
          <a:xfrm flipV="1">
            <a:off x="186004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7" name="Line 52">
            <a:extLst>
              <a:ext uri="{FF2B5EF4-FFF2-40B4-BE49-F238E27FC236}">
                <a16:creationId xmlns:a16="http://schemas.microsoft.com/office/drawing/2014/main" id="{689BECC3-F694-835C-8041-0F252855E36D}"/>
              </a:ext>
            </a:extLst>
          </p:cNvPr>
          <p:cNvSpPr>
            <a:spLocks noChangeShapeType="1"/>
          </p:cNvSpPr>
          <p:nvPr/>
        </p:nvSpPr>
        <p:spPr bwMode="auto">
          <a:xfrm flipV="1">
            <a:off x="1940884"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8" name="Line 53">
            <a:extLst>
              <a:ext uri="{FF2B5EF4-FFF2-40B4-BE49-F238E27FC236}">
                <a16:creationId xmlns:a16="http://schemas.microsoft.com/office/drawing/2014/main" id="{6757A883-D303-7D33-4E81-1017068736FE}"/>
              </a:ext>
            </a:extLst>
          </p:cNvPr>
          <p:cNvSpPr>
            <a:spLocks noChangeShapeType="1"/>
          </p:cNvSpPr>
          <p:nvPr/>
        </p:nvSpPr>
        <p:spPr bwMode="auto">
          <a:xfrm flipV="1">
            <a:off x="2021721"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19" name="Line 54">
            <a:extLst>
              <a:ext uri="{FF2B5EF4-FFF2-40B4-BE49-F238E27FC236}">
                <a16:creationId xmlns:a16="http://schemas.microsoft.com/office/drawing/2014/main" id="{ECD62511-050B-B47E-00E0-15424DD51A30}"/>
              </a:ext>
            </a:extLst>
          </p:cNvPr>
          <p:cNvSpPr>
            <a:spLocks noChangeShapeType="1"/>
          </p:cNvSpPr>
          <p:nvPr/>
        </p:nvSpPr>
        <p:spPr bwMode="auto">
          <a:xfrm flipV="1">
            <a:off x="2102558"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0" name="Line 55">
            <a:extLst>
              <a:ext uri="{FF2B5EF4-FFF2-40B4-BE49-F238E27FC236}">
                <a16:creationId xmlns:a16="http://schemas.microsoft.com/office/drawing/2014/main" id="{3BA402FF-7F0E-EFC1-ABD3-46FE3D22EE62}"/>
              </a:ext>
            </a:extLst>
          </p:cNvPr>
          <p:cNvSpPr>
            <a:spLocks noChangeShapeType="1"/>
          </p:cNvSpPr>
          <p:nvPr/>
        </p:nvSpPr>
        <p:spPr bwMode="auto">
          <a:xfrm flipV="1">
            <a:off x="2183395"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1" name="Line 56">
            <a:extLst>
              <a:ext uri="{FF2B5EF4-FFF2-40B4-BE49-F238E27FC236}">
                <a16:creationId xmlns:a16="http://schemas.microsoft.com/office/drawing/2014/main" id="{3E800340-1D9F-A1C2-688C-D9DC0410205E}"/>
              </a:ext>
            </a:extLst>
          </p:cNvPr>
          <p:cNvSpPr>
            <a:spLocks noChangeShapeType="1"/>
          </p:cNvSpPr>
          <p:nvPr/>
        </p:nvSpPr>
        <p:spPr bwMode="auto">
          <a:xfrm flipV="1">
            <a:off x="2257028"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2" name="Line 57">
            <a:extLst>
              <a:ext uri="{FF2B5EF4-FFF2-40B4-BE49-F238E27FC236}">
                <a16:creationId xmlns:a16="http://schemas.microsoft.com/office/drawing/2014/main" id="{6012D202-1890-79AF-2FAB-97E7F032ED36}"/>
              </a:ext>
            </a:extLst>
          </p:cNvPr>
          <p:cNvSpPr>
            <a:spLocks noChangeShapeType="1"/>
          </p:cNvSpPr>
          <p:nvPr/>
        </p:nvSpPr>
        <p:spPr bwMode="auto">
          <a:xfrm flipV="1">
            <a:off x="2337865"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3" name="Line 58">
            <a:extLst>
              <a:ext uri="{FF2B5EF4-FFF2-40B4-BE49-F238E27FC236}">
                <a16:creationId xmlns:a16="http://schemas.microsoft.com/office/drawing/2014/main" id="{ED7D9EC4-BC53-BD6D-4F2B-5D00103E9966}"/>
              </a:ext>
            </a:extLst>
          </p:cNvPr>
          <p:cNvSpPr>
            <a:spLocks noChangeShapeType="1"/>
          </p:cNvSpPr>
          <p:nvPr/>
        </p:nvSpPr>
        <p:spPr bwMode="auto">
          <a:xfrm flipV="1">
            <a:off x="2418702"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4" name="Line 59">
            <a:extLst>
              <a:ext uri="{FF2B5EF4-FFF2-40B4-BE49-F238E27FC236}">
                <a16:creationId xmlns:a16="http://schemas.microsoft.com/office/drawing/2014/main" id="{4206ACD1-74B9-22AC-F495-D51BA3167FBB}"/>
              </a:ext>
            </a:extLst>
          </p:cNvPr>
          <p:cNvSpPr>
            <a:spLocks noChangeShapeType="1"/>
          </p:cNvSpPr>
          <p:nvPr/>
        </p:nvSpPr>
        <p:spPr bwMode="auto">
          <a:xfrm flipV="1">
            <a:off x="2499539"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5" name="Line 60">
            <a:extLst>
              <a:ext uri="{FF2B5EF4-FFF2-40B4-BE49-F238E27FC236}">
                <a16:creationId xmlns:a16="http://schemas.microsoft.com/office/drawing/2014/main" id="{FFEB0F0D-09E8-A1EC-B11C-B36C0C553B49}"/>
              </a:ext>
            </a:extLst>
          </p:cNvPr>
          <p:cNvSpPr>
            <a:spLocks noChangeShapeType="1"/>
          </p:cNvSpPr>
          <p:nvPr/>
        </p:nvSpPr>
        <p:spPr bwMode="auto">
          <a:xfrm flipV="1">
            <a:off x="2579575"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6" name="Line 61">
            <a:extLst>
              <a:ext uri="{FF2B5EF4-FFF2-40B4-BE49-F238E27FC236}">
                <a16:creationId xmlns:a16="http://schemas.microsoft.com/office/drawing/2014/main" id="{A65478E0-7B65-69FF-FE23-C3F9BC9CDC3D}"/>
              </a:ext>
            </a:extLst>
          </p:cNvPr>
          <p:cNvSpPr>
            <a:spLocks noChangeShapeType="1"/>
          </p:cNvSpPr>
          <p:nvPr/>
        </p:nvSpPr>
        <p:spPr bwMode="auto">
          <a:xfrm flipV="1">
            <a:off x="2660412"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7" name="Line 62">
            <a:extLst>
              <a:ext uri="{FF2B5EF4-FFF2-40B4-BE49-F238E27FC236}">
                <a16:creationId xmlns:a16="http://schemas.microsoft.com/office/drawing/2014/main" id="{C27687AB-3E7B-1ADE-30EF-44EA07BC66FD}"/>
              </a:ext>
            </a:extLst>
          </p:cNvPr>
          <p:cNvSpPr>
            <a:spLocks noChangeShapeType="1"/>
          </p:cNvSpPr>
          <p:nvPr/>
        </p:nvSpPr>
        <p:spPr bwMode="auto">
          <a:xfrm flipV="1">
            <a:off x="2741249"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8" name="Line 63">
            <a:extLst>
              <a:ext uri="{FF2B5EF4-FFF2-40B4-BE49-F238E27FC236}">
                <a16:creationId xmlns:a16="http://schemas.microsoft.com/office/drawing/2014/main" id="{CA2CDC41-78B7-5B0F-1FB9-05D3279C1AA9}"/>
              </a:ext>
            </a:extLst>
          </p:cNvPr>
          <p:cNvSpPr>
            <a:spLocks noChangeShapeType="1"/>
          </p:cNvSpPr>
          <p:nvPr/>
        </p:nvSpPr>
        <p:spPr bwMode="auto">
          <a:xfrm flipV="1">
            <a:off x="282208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29" name="Line 64">
            <a:extLst>
              <a:ext uri="{FF2B5EF4-FFF2-40B4-BE49-F238E27FC236}">
                <a16:creationId xmlns:a16="http://schemas.microsoft.com/office/drawing/2014/main" id="{F2F7DF80-707C-4926-60D9-A4FCEF35732B}"/>
              </a:ext>
            </a:extLst>
          </p:cNvPr>
          <p:cNvSpPr>
            <a:spLocks noChangeShapeType="1"/>
          </p:cNvSpPr>
          <p:nvPr/>
        </p:nvSpPr>
        <p:spPr bwMode="auto">
          <a:xfrm flipV="1">
            <a:off x="2895719"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0" name="Line 65">
            <a:extLst>
              <a:ext uri="{FF2B5EF4-FFF2-40B4-BE49-F238E27FC236}">
                <a16:creationId xmlns:a16="http://schemas.microsoft.com/office/drawing/2014/main" id="{20EF5E5E-792C-B767-EDE9-34FBD763E860}"/>
              </a:ext>
            </a:extLst>
          </p:cNvPr>
          <p:cNvSpPr>
            <a:spLocks noChangeShapeType="1"/>
          </p:cNvSpPr>
          <p:nvPr/>
        </p:nvSpPr>
        <p:spPr bwMode="auto">
          <a:xfrm flipV="1">
            <a:off x="297655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1" name="Line 66">
            <a:extLst>
              <a:ext uri="{FF2B5EF4-FFF2-40B4-BE49-F238E27FC236}">
                <a16:creationId xmlns:a16="http://schemas.microsoft.com/office/drawing/2014/main" id="{BC2D6BC4-0EF0-B954-4B89-5B112943BD15}"/>
              </a:ext>
            </a:extLst>
          </p:cNvPr>
          <p:cNvSpPr>
            <a:spLocks noChangeShapeType="1"/>
          </p:cNvSpPr>
          <p:nvPr/>
        </p:nvSpPr>
        <p:spPr bwMode="auto">
          <a:xfrm flipV="1">
            <a:off x="3057393"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2" name="Line 67">
            <a:extLst>
              <a:ext uri="{FF2B5EF4-FFF2-40B4-BE49-F238E27FC236}">
                <a16:creationId xmlns:a16="http://schemas.microsoft.com/office/drawing/2014/main" id="{68200C9F-1A45-ACDA-32EA-7F6448CD686C}"/>
              </a:ext>
            </a:extLst>
          </p:cNvPr>
          <p:cNvSpPr>
            <a:spLocks noChangeShapeType="1"/>
          </p:cNvSpPr>
          <p:nvPr/>
        </p:nvSpPr>
        <p:spPr bwMode="auto">
          <a:xfrm flipV="1">
            <a:off x="3138230"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3" name="Line 68">
            <a:extLst>
              <a:ext uri="{FF2B5EF4-FFF2-40B4-BE49-F238E27FC236}">
                <a16:creationId xmlns:a16="http://schemas.microsoft.com/office/drawing/2014/main" id="{0F654BDD-8772-4774-80F1-29D8DE8E64BE}"/>
              </a:ext>
            </a:extLst>
          </p:cNvPr>
          <p:cNvSpPr>
            <a:spLocks noChangeShapeType="1"/>
          </p:cNvSpPr>
          <p:nvPr/>
        </p:nvSpPr>
        <p:spPr bwMode="auto">
          <a:xfrm flipV="1">
            <a:off x="321826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4" name="Line 69">
            <a:extLst>
              <a:ext uri="{FF2B5EF4-FFF2-40B4-BE49-F238E27FC236}">
                <a16:creationId xmlns:a16="http://schemas.microsoft.com/office/drawing/2014/main" id="{1BC745BD-2B0C-8ACB-C0AD-C84D2A714FA9}"/>
              </a:ext>
            </a:extLst>
          </p:cNvPr>
          <p:cNvSpPr>
            <a:spLocks noChangeShapeType="1"/>
          </p:cNvSpPr>
          <p:nvPr/>
        </p:nvSpPr>
        <p:spPr bwMode="auto">
          <a:xfrm flipV="1">
            <a:off x="3299103"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5" name="Line 70">
            <a:extLst>
              <a:ext uri="{FF2B5EF4-FFF2-40B4-BE49-F238E27FC236}">
                <a16:creationId xmlns:a16="http://schemas.microsoft.com/office/drawing/2014/main" id="{474BAFA8-6D8E-05E9-0FDE-8F28449432A1}"/>
              </a:ext>
            </a:extLst>
          </p:cNvPr>
          <p:cNvSpPr>
            <a:spLocks noChangeShapeType="1"/>
          </p:cNvSpPr>
          <p:nvPr/>
        </p:nvSpPr>
        <p:spPr bwMode="auto">
          <a:xfrm flipV="1">
            <a:off x="3379940"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6" name="Line 71">
            <a:extLst>
              <a:ext uri="{FF2B5EF4-FFF2-40B4-BE49-F238E27FC236}">
                <a16:creationId xmlns:a16="http://schemas.microsoft.com/office/drawing/2014/main" id="{D28B7AAA-00EB-60C0-C835-CB4BBF012A1A}"/>
              </a:ext>
            </a:extLst>
          </p:cNvPr>
          <p:cNvSpPr>
            <a:spLocks noChangeShapeType="1"/>
          </p:cNvSpPr>
          <p:nvPr/>
        </p:nvSpPr>
        <p:spPr bwMode="auto">
          <a:xfrm flipV="1">
            <a:off x="3460776"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7" name="Line 72">
            <a:extLst>
              <a:ext uri="{FF2B5EF4-FFF2-40B4-BE49-F238E27FC236}">
                <a16:creationId xmlns:a16="http://schemas.microsoft.com/office/drawing/2014/main" id="{0185B416-5507-CC1D-15BB-12397C51FE60}"/>
              </a:ext>
            </a:extLst>
          </p:cNvPr>
          <p:cNvSpPr>
            <a:spLocks noChangeShapeType="1"/>
          </p:cNvSpPr>
          <p:nvPr/>
        </p:nvSpPr>
        <p:spPr bwMode="auto">
          <a:xfrm flipV="1">
            <a:off x="3534410"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8" name="Line 73">
            <a:extLst>
              <a:ext uri="{FF2B5EF4-FFF2-40B4-BE49-F238E27FC236}">
                <a16:creationId xmlns:a16="http://schemas.microsoft.com/office/drawing/2014/main" id="{5D1E2D2E-CF56-6126-8198-4A2967506DA2}"/>
              </a:ext>
            </a:extLst>
          </p:cNvPr>
          <p:cNvSpPr>
            <a:spLocks noChangeShapeType="1"/>
          </p:cNvSpPr>
          <p:nvPr/>
        </p:nvSpPr>
        <p:spPr bwMode="auto">
          <a:xfrm flipV="1">
            <a:off x="361524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39" name="Line 74">
            <a:extLst>
              <a:ext uri="{FF2B5EF4-FFF2-40B4-BE49-F238E27FC236}">
                <a16:creationId xmlns:a16="http://schemas.microsoft.com/office/drawing/2014/main" id="{106817B5-98C2-7862-0022-F9D81EA61A3E}"/>
              </a:ext>
            </a:extLst>
          </p:cNvPr>
          <p:cNvSpPr>
            <a:spLocks noChangeShapeType="1"/>
          </p:cNvSpPr>
          <p:nvPr/>
        </p:nvSpPr>
        <p:spPr bwMode="auto">
          <a:xfrm flipV="1">
            <a:off x="3696084"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0" name="Line 75">
            <a:extLst>
              <a:ext uri="{FF2B5EF4-FFF2-40B4-BE49-F238E27FC236}">
                <a16:creationId xmlns:a16="http://schemas.microsoft.com/office/drawing/2014/main" id="{5301862B-0EE1-7985-CF46-B93665F1DBD7}"/>
              </a:ext>
            </a:extLst>
          </p:cNvPr>
          <p:cNvSpPr>
            <a:spLocks noChangeShapeType="1"/>
          </p:cNvSpPr>
          <p:nvPr/>
        </p:nvSpPr>
        <p:spPr bwMode="auto">
          <a:xfrm flipV="1">
            <a:off x="3776921"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1" name="Line 76">
            <a:extLst>
              <a:ext uri="{FF2B5EF4-FFF2-40B4-BE49-F238E27FC236}">
                <a16:creationId xmlns:a16="http://schemas.microsoft.com/office/drawing/2014/main" id="{3FE3303D-C405-064B-A9AD-487BD7DC1C65}"/>
              </a:ext>
            </a:extLst>
          </p:cNvPr>
          <p:cNvSpPr>
            <a:spLocks noChangeShapeType="1"/>
          </p:cNvSpPr>
          <p:nvPr/>
        </p:nvSpPr>
        <p:spPr bwMode="auto">
          <a:xfrm flipV="1">
            <a:off x="385775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2" name="Line 77">
            <a:extLst>
              <a:ext uri="{FF2B5EF4-FFF2-40B4-BE49-F238E27FC236}">
                <a16:creationId xmlns:a16="http://schemas.microsoft.com/office/drawing/2014/main" id="{9B40CEC0-8E95-B45E-539B-634501D043D1}"/>
              </a:ext>
            </a:extLst>
          </p:cNvPr>
          <p:cNvSpPr>
            <a:spLocks noChangeShapeType="1"/>
          </p:cNvSpPr>
          <p:nvPr/>
        </p:nvSpPr>
        <p:spPr bwMode="auto">
          <a:xfrm flipV="1">
            <a:off x="3937794"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3" name="Line 78">
            <a:extLst>
              <a:ext uri="{FF2B5EF4-FFF2-40B4-BE49-F238E27FC236}">
                <a16:creationId xmlns:a16="http://schemas.microsoft.com/office/drawing/2014/main" id="{6094A2F6-C673-9E06-11FE-F5B47BDB65FC}"/>
              </a:ext>
            </a:extLst>
          </p:cNvPr>
          <p:cNvSpPr>
            <a:spLocks noChangeShapeType="1"/>
          </p:cNvSpPr>
          <p:nvPr/>
        </p:nvSpPr>
        <p:spPr bwMode="auto">
          <a:xfrm flipV="1">
            <a:off x="4018631"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4" name="Line 79">
            <a:extLst>
              <a:ext uri="{FF2B5EF4-FFF2-40B4-BE49-F238E27FC236}">
                <a16:creationId xmlns:a16="http://schemas.microsoft.com/office/drawing/2014/main" id="{EBFBC844-EAF0-6C07-D63D-B37941A7AA6A}"/>
              </a:ext>
            </a:extLst>
          </p:cNvPr>
          <p:cNvSpPr>
            <a:spLocks noChangeShapeType="1"/>
          </p:cNvSpPr>
          <p:nvPr/>
        </p:nvSpPr>
        <p:spPr bwMode="auto">
          <a:xfrm flipV="1">
            <a:off x="4099467"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5" name="Line 80">
            <a:extLst>
              <a:ext uri="{FF2B5EF4-FFF2-40B4-BE49-F238E27FC236}">
                <a16:creationId xmlns:a16="http://schemas.microsoft.com/office/drawing/2014/main" id="{3B35878A-C7E7-9F47-F09D-65D508BA23A1}"/>
              </a:ext>
            </a:extLst>
          </p:cNvPr>
          <p:cNvSpPr>
            <a:spLocks noChangeShapeType="1"/>
          </p:cNvSpPr>
          <p:nvPr/>
        </p:nvSpPr>
        <p:spPr bwMode="auto">
          <a:xfrm flipV="1">
            <a:off x="4173101"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6" name="Line 81">
            <a:extLst>
              <a:ext uri="{FF2B5EF4-FFF2-40B4-BE49-F238E27FC236}">
                <a16:creationId xmlns:a16="http://schemas.microsoft.com/office/drawing/2014/main" id="{79D55335-BF1A-0071-416A-EBCFD8BD470E}"/>
              </a:ext>
            </a:extLst>
          </p:cNvPr>
          <p:cNvSpPr>
            <a:spLocks noChangeShapeType="1"/>
          </p:cNvSpPr>
          <p:nvPr/>
        </p:nvSpPr>
        <p:spPr bwMode="auto">
          <a:xfrm flipV="1">
            <a:off x="4253938"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7" name="Line 82">
            <a:extLst>
              <a:ext uri="{FF2B5EF4-FFF2-40B4-BE49-F238E27FC236}">
                <a16:creationId xmlns:a16="http://schemas.microsoft.com/office/drawing/2014/main" id="{E291B794-39F6-4F7F-EEB9-2C6B8D12DCFB}"/>
              </a:ext>
            </a:extLst>
          </p:cNvPr>
          <p:cNvSpPr>
            <a:spLocks noChangeShapeType="1"/>
          </p:cNvSpPr>
          <p:nvPr/>
        </p:nvSpPr>
        <p:spPr bwMode="auto">
          <a:xfrm flipV="1">
            <a:off x="4334775"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8" name="Line 83">
            <a:extLst>
              <a:ext uri="{FF2B5EF4-FFF2-40B4-BE49-F238E27FC236}">
                <a16:creationId xmlns:a16="http://schemas.microsoft.com/office/drawing/2014/main" id="{189DF954-F6A4-2AA7-9E7E-98DC184C772C}"/>
              </a:ext>
            </a:extLst>
          </p:cNvPr>
          <p:cNvSpPr>
            <a:spLocks noChangeShapeType="1"/>
          </p:cNvSpPr>
          <p:nvPr/>
        </p:nvSpPr>
        <p:spPr bwMode="auto">
          <a:xfrm flipV="1">
            <a:off x="4415612" y="3010159"/>
            <a:ext cx="0" cy="336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49" name="Line 84">
            <a:extLst>
              <a:ext uri="{FF2B5EF4-FFF2-40B4-BE49-F238E27FC236}">
                <a16:creationId xmlns:a16="http://schemas.microsoft.com/office/drawing/2014/main" id="{51CD3A7D-D120-B863-0FB8-ACFBFE6443EC}"/>
              </a:ext>
            </a:extLst>
          </p:cNvPr>
          <p:cNvSpPr>
            <a:spLocks noChangeShapeType="1"/>
          </p:cNvSpPr>
          <p:nvPr/>
        </p:nvSpPr>
        <p:spPr bwMode="auto">
          <a:xfrm flipV="1">
            <a:off x="582665"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0" name="Line 85">
            <a:extLst>
              <a:ext uri="{FF2B5EF4-FFF2-40B4-BE49-F238E27FC236}">
                <a16:creationId xmlns:a16="http://schemas.microsoft.com/office/drawing/2014/main" id="{7C143B99-B16D-DB22-8094-92FFA2676BB0}"/>
              </a:ext>
            </a:extLst>
          </p:cNvPr>
          <p:cNvSpPr>
            <a:spLocks noChangeShapeType="1"/>
          </p:cNvSpPr>
          <p:nvPr/>
        </p:nvSpPr>
        <p:spPr bwMode="auto">
          <a:xfrm flipV="1">
            <a:off x="979646"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1" name="Line 86">
            <a:extLst>
              <a:ext uri="{FF2B5EF4-FFF2-40B4-BE49-F238E27FC236}">
                <a16:creationId xmlns:a16="http://schemas.microsoft.com/office/drawing/2014/main" id="{AE3BA23E-74BB-D59F-22EA-05B9901274C3}"/>
              </a:ext>
            </a:extLst>
          </p:cNvPr>
          <p:cNvSpPr>
            <a:spLocks noChangeShapeType="1"/>
          </p:cNvSpPr>
          <p:nvPr/>
        </p:nvSpPr>
        <p:spPr bwMode="auto">
          <a:xfrm flipV="1">
            <a:off x="1383030"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2" name="Line 87">
            <a:extLst>
              <a:ext uri="{FF2B5EF4-FFF2-40B4-BE49-F238E27FC236}">
                <a16:creationId xmlns:a16="http://schemas.microsoft.com/office/drawing/2014/main" id="{CF00326C-EBE7-8491-92D9-836FA5C737F5}"/>
              </a:ext>
            </a:extLst>
          </p:cNvPr>
          <p:cNvSpPr>
            <a:spLocks noChangeShapeType="1"/>
          </p:cNvSpPr>
          <p:nvPr/>
        </p:nvSpPr>
        <p:spPr bwMode="auto">
          <a:xfrm flipV="1">
            <a:off x="1780011"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3" name="Line 88">
            <a:extLst>
              <a:ext uri="{FF2B5EF4-FFF2-40B4-BE49-F238E27FC236}">
                <a16:creationId xmlns:a16="http://schemas.microsoft.com/office/drawing/2014/main" id="{C2D5A778-5D66-C7FB-E957-62CF38A1E708}"/>
              </a:ext>
            </a:extLst>
          </p:cNvPr>
          <p:cNvSpPr>
            <a:spLocks noChangeShapeType="1"/>
          </p:cNvSpPr>
          <p:nvPr/>
        </p:nvSpPr>
        <p:spPr bwMode="auto">
          <a:xfrm flipV="1">
            <a:off x="2183395"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4" name="Line 89">
            <a:extLst>
              <a:ext uri="{FF2B5EF4-FFF2-40B4-BE49-F238E27FC236}">
                <a16:creationId xmlns:a16="http://schemas.microsoft.com/office/drawing/2014/main" id="{B88F585D-960A-6817-CB1C-4AFC889C6C8F}"/>
              </a:ext>
            </a:extLst>
          </p:cNvPr>
          <p:cNvSpPr>
            <a:spLocks noChangeShapeType="1"/>
          </p:cNvSpPr>
          <p:nvPr/>
        </p:nvSpPr>
        <p:spPr bwMode="auto">
          <a:xfrm flipV="1">
            <a:off x="2579575"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5" name="Line 90">
            <a:extLst>
              <a:ext uri="{FF2B5EF4-FFF2-40B4-BE49-F238E27FC236}">
                <a16:creationId xmlns:a16="http://schemas.microsoft.com/office/drawing/2014/main" id="{32E315D3-E0E0-C4CB-9684-F5794E81EFBA}"/>
              </a:ext>
            </a:extLst>
          </p:cNvPr>
          <p:cNvSpPr>
            <a:spLocks noChangeShapeType="1"/>
          </p:cNvSpPr>
          <p:nvPr/>
        </p:nvSpPr>
        <p:spPr bwMode="auto">
          <a:xfrm flipV="1">
            <a:off x="2976556"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6" name="Line 91">
            <a:extLst>
              <a:ext uri="{FF2B5EF4-FFF2-40B4-BE49-F238E27FC236}">
                <a16:creationId xmlns:a16="http://schemas.microsoft.com/office/drawing/2014/main" id="{243CA312-A899-B9E9-7A51-8AFFF8E543BA}"/>
              </a:ext>
            </a:extLst>
          </p:cNvPr>
          <p:cNvSpPr>
            <a:spLocks noChangeShapeType="1"/>
          </p:cNvSpPr>
          <p:nvPr/>
        </p:nvSpPr>
        <p:spPr bwMode="auto">
          <a:xfrm flipV="1">
            <a:off x="3379940"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7" name="Line 92">
            <a:extLst>
              <a:ext uri="{FF2B5EF4-FFF2-40B4-BE49-F238E27FC236}">
                <a16:creationId xmlns:a16="http://schemas.microsoft.com/office/drawing/2014/main" id="{F032E772-0132-8632-223A-E4AEDA178071}"/>
              </a:ext>
            </a:extLst>
          </p:cNvPr>
          <p:cNvSpPr>
            <a:spLocks noChangeShapeType="1"/>
          </p:cNvSpPr>
          <p:nvPr/>
        </p:nvSpPr>
        <p:spPr bwMode="auto">
          <a:xfrm flipV="1">
            <a:off x="3776921"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8" name="Line 93">
            <a:extLst>
              <a:ext uri="{FF2B5EF4-FFF2-40B4-BE49-F238E27FC236}">
                <a16:creationId xmlns:a16="http://schemas.microsoft.com/office/drawing/2014/main" id="{7BE39243-BCE4-95B0-9263-B9C2942F4E8F}"/>
              </a:ext>
            </a:extLst>
          </p:cNvPr>
          <p:cNvSpPr>
            <a:spLocks noChangeShapeType="1"/>
          </p:cNvSpPr>
          <p:nvPr/>
        </p:nvSpPr>
        <p:spPr bwMode="auto">
          <a:xfrm flipV="1">
            <a:off x="4173101" y="3003756"/>
            <a:ext cx="0" cy="800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159" name="Freeform 94">
            <a:extLst>
              <a:ext uri="{FF2B5EF4-FFF2-40B4-BE49-F238E27FC236}">
                <a16:creationId xmlns:a16="http://schemas.microsoft.com/office/drawing/2014/main" id="{0D8BA77B-D57F-84FA-A01C-0F2F0942CB51}"/>
              </a:ext>
            </a:extLst>
          </p:cNvPr>
          <p:cNvSpPr>
            <a:spLocks/>
          </p:cNvSpPr>
          <p:nvPr/>
        </p:nvSpPr>
        <p:spPr bwMode="auto">
          <a:xfrm>
            <a:off x="582666" y="966027"/>
            <a:ext cx="3752109" cy="1331006"/>
          </a:xfrm>
          <a:custGeom>
            <a:avLst/>
            <a:gdLst>
              <a:gd name="T0" fmla="*/ 0 w 558"/>
              <a:gd name="T1" fmla="*/ 2147483647 h 198"/>
              <a:gd name="T2" fmla="*/ 2134590909 w 558"/>
              <a:gd name="T3" fmla="*/ 2147483647 h 198"/>
              <a:gd name="T4" fmla="*/ 2147483647 w 558"/>
              <a:gd name="T5" fmla="*/ 2147483647 h 198"/>
              <a:gd name="T6" fmla="*/ 2147483647 w 558"/>
              <a:gd name="T7" fmla="*/ 2147483647 h 198"/>
              <a:gd name="T8" fmla="*/ 2147483647 w 558"/>
              <a:gd name="T9" fmla="*/ 2147483647 h 198"/>
              <a:gd name="T10" fmla="*/ 2147483647 w 558"/>
              <a:gd name="T11" fmla="*/ 2147483647 h 198"/>
              <a:gd name="T12" fmla="*/ 2147483647 w 558"/>
              <a:gd name="T13" fmla="*/ 2147483647 h 198"/>
              <a:gd name="T14" fmla="*/ 2147483647 w 558"/>
              <a:gd name="T15" fmla="*/ 2147483647 h 198"/>
              <a:gd name="T16" fmla="*/ 2147483647 w 558"/>
              <a:gd name="T17" fmla="*/ 2147483647 h 198"/>
              <a:gd name="T18" fmla="*/ 2147483647 w 558"/>
              <a:gd name="T19" fmla="*/ 2147483647 h 198"/>
              <a:gd name="T20" fmla="*/ 2147483647 w 558"/>
              <a:gd name="T21" fmla="*/ 2147483647 h 198"/>
              <a:gd name="T22" fmla="*/ 2147483647 w 558"/>
              <a:gd name="T23" fmla="*/ 2147483647 h 198"/>
              <a:gd name="T24" fmla="*/ 2147483647 w 558"/>
              <a:gd name="T25" fmla="*/ 2147483647 h 198"/>
              <a:gd name="T26" fmla="*/ 2147483647 w 558"/>
              <a:gd name="T27" fmla="*/ 2147483647 h 198"/>
              <a:gd name="T28" fmla="*/ 2147483647 w 558"/>
              <a:gd name="T29" fmla="*/ 2147483647 h 198"/>
              <a:gd name="T30" fmla="*/ 2147483647 w 558"/>
              <a:gd name="T31" fmla="*/ 2147483647 h 198"/>
              <a:gd name="T32" fmla="*/ 2147483647 w 558"/>
              <a:gd name="T33" fmla="*/ 2147483647 h 198"/>
              <a:gd name="T34" fmla="*/ 2147483647 w 558"/>
              <a:gd name="T35" fmla="*/ 2147483647 h 198"/>
              <a:gd name="T36" fmla="*/ 2147483647 w 558"/>
              <a:gd name="T37" fmla="*/ 2147483647 h 198"/>
              <a:gd name="T38" fmla="*/ 2147483647 w 558"/>
              <a:gd name="T39" fmla="*/ 2147483647 h 198"/>
              <a:gd name="T40" fmla="*/ 2147483647 w 558"/>
              <a:gd name="T41" fmla="*/ 2147483647 h 198"/>
              <a:gd name="T42" fmla="*/ 2147483647 w 558"/>
              <a:gd name="T43" fmla="*/ 2147483647 h 198"/>
              <a:gd name="T44" fmla="*/ 2147483647 w 558"/>
              <a:gd name="T45" fmla="*/ 0 h 198"/>
              <a:gd name="T46" fmla="*/ 2147483647 w 558"/>
              <a:gd name="T47" fmla="*/ 533335802 h 198"/>
              <a:gd name="T48" fmla="*/ 2147483647 w 558"/>
              <a:gd name="T49" fmla="*/ 2147483647 h 198"/>
              <a:gd name="T50" fmla="*/ 2147483647 w 558"/>
              <a:gd name="T51" fmla="*/ 2147483647 h 198"/>
              <a:gd name="T52" fmla="*/ 2147483647 w 558"/>
              <a:gd name="T53" fmla="*/ 2147483647 h 198"/>
              <a:gd name="T54" fmla="*/ 2147483647 w 558"/>
              <a:gd name="T55" fmla="*/ 2147483647 h 198"/>
              <a:gd name="T56" fmla="*/ 2147483647 w 558"/>
              <a:gd name="T57" fmla="*/ 2147483647 h 198"/>
              <a:gd name="T58" fmla="*/ 2147483647 w 558"/>
              <a:gd name="T59" fmla="*/ 2147483647 h 198"/>
              <a:gd name="T60" fmla="*/ 2147483647 w 558"/>
              <a:gd name="T61" fmla="*/ 2147483647 h 198"/>
              <a:gd name="T62" fmla="*/ 2147483647 w 558"/>
              <a:gd name="T63" fmla="*/ 2147483647 h 198"/>
              <a:gd name="T64" fmla="*/ 2147483647 w 558"/>
              <a:gd name="T65" fmla="*/ 2147483647 h 198"/>
              <a:gd name="T66" fmla="*/ 2147483647 w 558"/>
              <a:gd name="T67" fmla="*/ 2147483647 h 198"/>
              <a:gd name="T68" fmla="*/ 2147483647 w 558"/>
              <a:gd name="T69" fmla="*/ 2147483647 h 198"/>
              <a:gd name="T70" fmla="*/ 2147483647 w 558"/>
              <a:gd name="T71" fmla="*/ 2147483647 h 198"/>
              <a:gd name="T72" fmla="*/ 2147483647 w 558"/>
              <a:gd name="T73" fmla="*/ 2147483647 h 198"/>
              <a:gd name="T74" fmla="*/ 2147483647 w 558"/>
              <a:gd name="T75" fmla="*/ 2147483647 h 198"/>
              <a:gd name="T76" fmla="*/ 2147483647 w 558"/>
              <a:gd name="T77" fmla="*/ 2147483647 h 198"/>
              <a:gd name="T78" fmla="*/ 2147483647 w 558"/>
              <a:gd name="T79" fmla="*/ 2147483647 h 198"/>
              <a:gd name="T80" fmla="*/ 2147483647 w 558"/>
              <a:gd name="T81" fmla="*/ 2147483647 h 198"/>
              <a:gd name="T82" fmla="*/ 2147483647 w 558"/>
              <a:gd name="T83" fmla="*/ 2147483647 h 198"/>
              <a:gd name="T84" fmla="*/ 2147483647 w 558"/>
              <a:gd name="T85" fmla="*/ 2147483647 h 198"/>
              <a:gd name="T86" fmla="*/ 2147483647 w 558"/>
              <a:gd name="T87" fmla="*/ 2147483647 h 198"/>
              <a:gd name="T88" fmla="*/ 2147483647 w 558"/>
              <a:gd name="T89" fmla="*/ 2147483647 h 198"/>
              <a:gd name="T90" fmla="*/ 2147483647 w 558"/>
              <a:gd name="T91" fmla="*/ 2147483647 h 198"/>
              <a:gd name="T92" fmla="*/ 2147483647 w 558"/>
              <a:gd name="T93" fmla="*/ 2147483647 h 198"/>
              <a:gd name="T94" fmla="*/ 2147483647 w 558"/>
              <a:gd name="T95" fmla="*/ 2147483647 h 19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58"/>
              <a:gd name="T145" fmla="*/ 0 h 198"/>
              <a:gd name="T146" fmla="*/ 558 w 558"/>
              <a:gd name="T147" fmla="*/ 198 h 19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58" h="198">
                <a:moveTo>
                  <a:pt x="0" y="134"/>
                </a:moveTo>
                <a:lnTo>
                  <a:pt x="12" y="96"/>
                </a:lnTo>
                <a:lnTo>
                  <a:pt x="24" y="134"/>
                </a:lnTo>
                <a:lnTo>
                  <a:pt x="36" y="128"/>
                </a:lnTo>
                <a:lnTo>
                  <a:pt x="48" y="143"/>
                </a:lnTo>
                <a:lnTo>
                  <a:pt x="59" y="166"/>
                </a:lnTo>
                <a:lnTo>
                  <a:pt x="71" y="188"/>
                </a:lnTo>
                <a:lnTo>
                  <a:pt x="83" y="188"/>
                </a:lnTo>
                <a:lnTo>
                  <a:pt x="95" y="194"/>
                </a:lnTo>
                <a:lnTo>
                  <a:pt x="107" y="198"/>
                </a:lnTo>
                <a:lnTo>
                  <a:pt x="119" y="153"/>
                </a:lnTo>
                <a:lnTo>
                  <a:pt x="131" y="121"/>
                </a:lnTo>
                <a:lnTo>
                  <a:pt x="143" y="131"/>
                </a:lnTo>
                <a:lnTo>
                  <a:pt x="154" y="153"/>
                </a:lnTo>
                <a:lnTo>
                  <a:pt x="166" y="131"/>
                </a:lnTo>
                <a:lnTo>
                  <a:pt x="178" y="38"/>
                </a:lnTo>
                <a:lnTo>
                  <a:pt x="190" y="64"/>
                </a:lnTo>
                <a:lnTo>
                  <a:pt x="202" y="83"/>
                </a:lnTo>
                <a:lnTo>
                  <a:pt x="214" y="115"/>
                </a:lnTo>
                <a:lnTo>
                  <a:pt x="226" y="124"/>
                </a:lnTo>
                <a:lnTo>
                  <a:pt x="238" y="83"/>
                </a:lnTo>
                <a:lnTo>
                  <a:pt x="249" y="67"/>
                </a:lnTo>
                <a:lnTo>
                  <a:pt x="261" y="0"/>
                </a:lnTo>
                <a:lnTo>
                  <a:pt x="273" y="3"/>
                </a:lnTo>
                <a:lnTo>
                  <a:pt x="285" y="70"/>
                </a:lnTo>
                <a:lnTo>
                  <a:pt x="297" y="80"/>
                </a:lnTo>
                <a:lnTo>
                  <a:pt x="309" y="86"/>
                </a:lnTo>
                <a:lnTo>
                  <a:pt x="321" y="112"/>
                </a:lnTo>
                <a:lnTo>
                  <a:pt x="333" y="134"/>
                </a:lnTo>
                <a:lnTo>
                  <a:pt x="344" y="140"/>
                </a:lnTo>
                <a:lnTo>
                  <a:pt x="356" y="131"/>
                </a:lnTo>
                <a:lnTo>
                  <a:pt x="368" y="93"/>
                </a:lnTo>
                <a:lnTo>
                  <a:pt x="380" y="70"/>
                </a:lnTo>
                <a:lnTo>
                  <a:pt x="392" y="89"/>
                </a:lnTo>
                <a:lnTo>
                  <a:pt x="404" y="115"/>
                </a:lnTo>
                <a:lnTo>
                  <a:pt x="416" y="131"/>
                </a:lnTo>
                <a:lnTo>
                  <a:pt x="428" y="137"/>
                </a:lnTo>
                <a:lnTo>
                  <a:pt x="439" y="153"/>
                </a:lnTo>
                <a:lnTo>
                  <a:pt x="451" y="166"/>
                </a:lnTo>
                <a:lnTo>
                  <a:pt x="463" y="175"/>
                </a:lnTo>
                <a:lnTo>
                  <a:pt x="475" y="182"/>
                </a:lnTo>
                <a:lnTo>
                  <a:pt x="487" y="159"/>
                </a:lnTo>
                <a:lnTo>
                  <a:pt x="499" y="124"/>
                </a:lnTo>
                <a:lnTo>
                  <a:pt x="511" y="118"/>
                </a:lnTo>
                <a:lnTo>
                  <a:pt x="523" y="134"/>
                </a:lnTo>
                <a:lnTo>
                  <a:pt x="534" y="147"/>
                </a:lnTo>
                <a:lnTo>
                  <a:pt x="546" y="163"/>
                </a:lnTo>
                <a:lnTo>
                  <a:pt x="558" y="163"/>
                </a:lnTo>
              </a:path>
            </a:pathLst>
          </a:custGeom>
          <a:noFill/>
          <a:ln w="39688">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6160" name="Freeform 95">
            <a:extLst>
              <a:ext uri="{FF2B5EF4-FFF2-40B4-BE49-F238E27FC236}">
                <a16:creationId xmlns:a16="http://schemas.microsoft.com/office/drawing/2014/main" id="{0D7D1826-3293-CC59-0D19-DA840801D3D7}"/>
              </a:ext>
            </a:extLst>
          </p:cNvPr>
          <p:cNvSpPr>
            <a:spLocks/>
          </p:cNvSpPr>
          <p:nvPr/>
        </p:nvSpPr>
        <p:spPr bwMode="auto">
          <a:xfrm>
            <a:off x="582666" y="1705564"/>
            <a:ext cx="3752109" cy="308941"/>
          </a:xfrm>
          <a:custGeom>
            <a:avLst/>
            <a:gdLst>
              <a:gd name="T0" fmla="*/ 0 w 558"/>
              <a:gd name="T1" fmla="*/ 2147483647 h 46"/>
              <a:gd name="T2" fmla="*/ 2134590909 w 558"/>
              <a:gd name="T3" fmla="*/ 2147483647 h 46"/>
              <a:gd name="T4" fmla="*/ 2147483647 w 558"/>
              <a:gd name="T5" fmla="*/ 2147483647 h 46"/>
              <a:gd name="T6" fmla="*/ 2147483647 w 558"/>
              <a:gd name="T7" fmla="*/ 2147483647 h 46"/>
              <a:gd name="T8" fmla="*/ 2147483647 w 558"/>
              <a:gd name="T9" fmla="*/ 2147483647 h 46"/>
              <a:gd name="T10" fmla="*/ 2147483647 w 558"/>
              <a:gd name="T11" fmla="*/ 2147483647 h 46"/>
              <a:gd name="T12" fmla="*/ 2147483647 w 558"/>
              <a:gd name="T13" fmla="*/ 2147483647 h 46"/>
              <a:gd name="T14" fmla="*/ 2147483647 w 558"/>
              <a:gd name="T15" fmla="*/ 2147483647 h 46"/>
              <a:gd name="T16" fmla="*/ 2147483647 w 558"/>
              <a:gd name="T17" fmla="*/ 2147483647 h 46"/>
              <a:gd name="T18" fmla="*/ 2147483647 w 558"/>
              <a:gd name="T19" fmla="*/ 2147483647 h 46"/>
              <a:gd name="T20" fmla="*/ 2147483647 w 558"/>
              <a:gd name="T21" fmla="*/ 2129446536 h 46"/>
              <a:gd name="T22" fmla="*/ 2147483647 w 558"/>
              <a:gd name="T23" fmla="*/ 1774543359 h 46"/>
              <a:gd name="T24" fmla="*/ 2147483647 w 558"/>
              <a:gd name="T25" fmla="*/ 1242174856 h 46"/>
              <a:gd name="T26" fmla="*/ 2147483647 w 558"/>
              <a:gd name="T27" fmla="*/ 709819883 h 46"/>
              <a:gd name="T28" fmla="*/ 2147483647 w 558"/>
              <a:gd name="T29" fmla="*/ 532368295 h 46"/>
              <a:gd name="T30" fmla="*/ 2147483647 w 558"/>
              <a:gd name="T31" fmla="*/ 354903281 h 46"/>
              <a:gd name="T32" fmla="*/ 2147483647 w 558"/>
              <a:gd name="T33" fmla="*/ 177451640 h 46"/>
              <a:gd name="T34" fmla="*/ 2147483647 w 558"/>
              <a:gd name="T35" fmla="*/ 0 h 46"/>
              <a:gd name="T36" fmla="*/ 2147483647 w 558"/>
              <a:gd name="T37" fmla="*/ 0 h 46"/>
              <a:gd name="T38" fmla="*/ 2147483647 w 558"/>
              <a:gd name="T39" fmla="*/ 0 h 46"/>
              <a:gd name="T40" fmla="*/ 2147483647 w 558"/>
              <a:gd name="T41" fmla="*/ 177451640 h 46"/>
              <a:gd name="T42" fmla="*/ 2147483647 w 558"/>
              <a:gd name="T43" fmla="*/ 532368295 h 46"/>
              <a:gd name="T44" fmla="*/ 2147483647 w 558"/>
              <a:gd name="T45" fmla="*/ 709819883 h 46"/>
              <a:gd name="T46" fmla="*/ 2147483647 w 558"/>
              <a:gd name="T47" fmla="*/ 887271680 h 46"/>
              <a:gd name="T48" fmla="*/ 2147483647 w 558"/>
              <a:gd name="T49" fmla="*/ 1064723268 h 46"/>
              <a:gd name="T50" fmla="*/ 2147483647 w 558"/>
              <a:gd name="T51" fmla="*/ 1242174856 h 46"/>
              <a:gd name="T52" fmla="*/ 2147483647 w 558"/>
              <a:gd name="T53" fmla="*/ 1419639766 h 46"/>
              <a:gd name="T54" fmla="*/ 2147483647 w 558"/>
              <a:gd name="T55" fmla="*/ 1597091354 h 46"/>
              <a:gd name="T56" fmla="*/ 2147483647 w 558"/>
              <a:gd name="T57" fmla="*/ 1774543359 h 46"/>
              <a:gd name="T58" fmla="*/ 2147483647 w 558"/>
              <a:gd name="T59" fmla="*/ 1951994948 h 46"/>
              <a:gd name="T60" fmla="*/ 2147483647 w 558"/>
              <a:gd name="T61" fmla="*/ 2129446536 h 46"/>
              <a:gd name="T62" fmla="*/ 2147483647 w 558"/>
              <a:gd name="T63" fmla="*/ 2147483647 h 46"/>
              <a:gd name="T64" fmla="*/ 2147483647 w 558"/>
              <a:gd name="T65" fmla="*/ 2147483647 h 46"/>
              <a:gd name="T66" fmla="*/ 2147483647 w 558"/>
              <a:gd name="T67" fmla="*/ 2147483647 h 46"/>
              <a:gd name="T68" fmla="*/ 2147483647 w 558"/>
              <a:gd name="T69" fmla="*/ 2147483647 h 46"/>
              <a:gd name="T70" fmla="*/ 2147483647 w 558"/>
              <a:gd name="T71" fmla="*/ 2147483647 h 46"/>
              <a:gd name="T72" fmla="*/ 2147483647 w 558"/>
              <a:gd name="T73" fmla="*/ 2147483647 h 46"/>
              <a:gd name="T74" fmla="*/ 2147483647 w 558"/>
              <a:gd name="T75" fmla="*/ 2147483647 h 46"/>
              <a:gd name="T76" fmla="*/ 2147483647 w 558"/>
              <a:gd name="T77" fmla="*/ 2147483647 h 46"/>
              <a:gd name="T78" fmla="*/ 2147483647 w 558"/>
              <a:gd name="T79" fmla="*/ 2147483647 h 46"/>
              <a:gd name="T80" fmla="*/ 2147483647 w 558"/>
              <a:gd name="T81" fmla="*/ 2147483647 h 46"/>
              <a:gd name="T82" fmla="*/ 2147483647 w 558"/>
              <a:gd name="T83" fmla="*/ 2147483647 h 46"/>
              <a:gd name="T84" fmla="*/ 2147483647 w 558"/>
              <a:gd name="T85" fmla="*/ 2147483647 h 46"/>
              <a:gd name="T86" fmla="*/ 2147483647 w 558"/>
              <a:gd name="T87" fmla="*/ 2147483647 h 46"/>
              <a:gd name="T88" fmla="*/ 2147483647 w 558"/>
              <a:gd name="T89" fmla="*/ 2147483647 h 46"/>
              <a:gd name="T90" fmla="*/ 2147483647 w 558"/>
              <a:gd name="T91" fmla="*/ 2147483647 h 46"/>
              <a:gd name="T92" fmla="*/ 2147483647 w 558"/>
              <a:gd name="T93" fmla="*/ 2147483647 h 46"/>
              <a:gd name="T94" fmla="*/ 2147483647 w 558"/>
              <a:gd name="T95" fmla="*/ 2147483647 h 4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58"/>
              <a:gd name="T145" fmla="*/ 0 h 46"/>
              <a:gd name="T146" fmla="*/ 558 w 558"/>
              <a:gd name="T147" fmla="*/ 46 h 4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58" h="46">
                <a:moveTo>
                  <a:pt x="0" y="24"/>
                </a:moveTo>
                <a:lnTo>
                  <a:pt x="12" y="24"/>
                </a:lnTo>
                <a:lnTo>
                  <a:pt x="24" y="24"/>
                </a:lnTo>
                <a:lnTo>
                  <a:pt x="36" y="23"/>
                </a:lnTo>
                <a:lnTo>
                  <a:pt x="48" y="21"/>
                </a:lnTo>
                <a:lnTo>
                  <a:pt x="59" y="18"/>
                </a:lnTo>
                <a:lnTo>
                  <a:pt x="71" y="16"/>
                </a:lnTo>
                <a:lnTo>
                  <a:pt x="83" y="15"/>
                </a:lnTo>
                <a:lnTo>
                  <a:pt x="95" y="14"/>
                </a:lnTo>
                <a:lnTo>
                  <a:pt x="107" y="13"/>
                </a:lnTo>
                <a:lnTo>
                  <a:pt x="119" y="12"/>
                </a:lnTo>
                <a:lnTo>
                  <a:pt x="131" y="10"/>
                </a:lnTo>
                <a:lnTo>
                  <a:pt x="143" y="7"/>
                </a:lnTo>
                <a:lnTo>
                  <a:pt x="154" y="4"/>
                </a:lnTo>
                <a:lnTo>
                  <a:pt x="166" y="3"/>
                </a:lnTo>
                <a:lnTo>
                  <a:pt x="178" y="2"/>
                </a:lnTo>
                <a:lnTo>
                  <a:pt x="190" y="1"/>
                </a:lnTo>
                <a:lnTo>
                  <a:pt x="202" y="0"/>
                </a:lnTo>
                <a:lnTo>
                  <a:pt x="214" y="0"/>
                </a:lnTo>
                <a:lnTo>
                  <a:pt x="226" y="0"/>
                </a:lnTo>
                <a:lnTo>
                  <a:pt x="238" y="1"/>
                </a:lnTo>
                <a:lnTo>
                  <a:pt x="249" y="3"/>
                </a:lnTo>
                <a:lnTo>
                  <a:pt x="261" y="4"/>
                </a:lnTo>
                <a:lnTo>
                  <a:pt x="273" y="5"/>
                </a:lnTo>
                <a:lnTo>
                  <a:pt x="285" y="6"/>
                </a:lnTo>
                <a:lnTo>
                  <a:pt x="297" y="7"/>
                </a:lnTo>
                <a:lnTo>
                  <a:pt x="309" y="8"/>
                </a:lnTo>
                <a:lnTo>
                  <a:pt x="321" y="9"/>
                </a:lnTo>
                <a:lnTo>
                  <a:pt x="333" y="10"/>
                </a:lnTo>
                <a:lnTo>
                  <a:pt x="344" y="11"/>
                </a:lnTo>
                <a:lnTo>
                  <a:pt x="356" y="12"/>
                </a:lnTo>
                <a:lnTo>
                  <a:pt x="368" y="15"/>
                </a:lnTo>
                <a:lnTo>
                  <a:pt x="380" y="19"/>
                </a:lnTo>
                <a:lnTo>
                  <a:pt x="392" y="23"/>
                </a:lnTo>
                <a:lnTo>
                  <a:pt x="404" y="27"/>
                </a:lnTo>
                <a:lnTo>
                  <a:pt x="416" y="30"/>
                </a:lnTo>
                <a:lnTo>
                  <a:pt x="428" y="32"/>
                </a:lnTo>
                <a:lnTo>
                  <a:pt x="439" y="33"/>
                </a:lnTo>
                <a:lnTo>
                  <a:pt x="451" y="35"/>
                </a:lnTo>
                <a:lnTo>
                  <a:pt x="463" y="37"/>
                </a:lnTo>
                <a:lnTo>
                  <a:pt x="475" y="38"/>
                </a:lnTo>
                <a:lnTo>
                  <a:pt x="487" y="40"/>
                </a:lnTo>
                <a:lnTo>
                  <a:pt x="499" y="41"/>
                </a:lnTo>
                <a:lnTo>
                  <a:pt x="511" y="43"/>
                </a:lnTo>
                <a:lnTo>
                  <a:pt x="523" y="44"/>
                </a:lnTo>
                <a:lnTo>
                  <a:pt x="534" y="45"/>
                </a:lnTo>
                <a:lnTo>
                  <a:pt x="546" y="46"/>
                </a:lnTo>
                <a:lnTo>
                  <a:pt x="558" y="46"/>
                </a:lnTo>
              </a:path>
            </a:pathLst>
          </a:custGeom>
          <a:noFill/>
          <a:ln w="39688">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46161" name="Group 81">
            <a:extLst>
              <a:ext uri="{FF2B5EF4-FFF2-40B4-BE49-F238E27FC236}">
                <a16:creationId xmlns:a16="http://schemas.microsoft.com/office/drawing/2014/main" id="{99ADCA78-EADE-022D-F0F3-2898800B75AA}"/>
              </a:ext>
            </a:extLst>
          </p:cNvPr>
          <p:cNvGrpSpPr>
            <a:grpSpLocks/>
          </p:cNvGrpSpPr>
          <p:nvPr/>
        </p:nvGrpSpPr>
        <p:grpSpPr bwMode="auto">
          <a:xfrm>
            <a:off x="348159" y="400969"/>
            <a:ext cx="150468" cy="2731645"/>
            <a:chOff x="0" y="0"/>
            <a:chExt cx="188" cy="3413"/>
          </a:xfrm>
        </p:grpSpPr>
        <p:sp>
          <p:nvSpPr>
            <p:cNvPr id="46162" name="Rectangle 96">
              <a:extLst>
                <a:ext uri="{FF2B5EF4-FFF2-40B4-BE49-F238E27FC236}">
                  <a16:creationId xmlns:a16="http://schemas.microsoft.com/office/drawing/2014/main" id="{C31CB765-ADB3-63CB-6F3A-46E66EE184B4}"/>
                </a:ext>
              </a:extLst>
            </p:cNvPr>
            <p:cNvSpPr>
              <a:spLocks noChangeArrowheads="1"/>
            </p:cNvSpPr>
            <p:nvPr/>
          </p:nvSpPr>
          <p:spPr bwMode="auto">
            <a:xfrm>
              <a:off x="93" y="3209"/>
              <a:ext cx="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0</a:t>
              </a:r>
              <a:endParaRPr lang="en-US" altLang="zh-CN" sz="908">
                <a:solidFill>
                  <a:srgbClr val="000000"/>
                </a:solidFill>
                <a:ea typeface="宋体" panose="02010600030101010101" pitchFamily="2" charset="-122"/>
              </a:endParaRPr>
            </a:p>
          </p:txBody>
        </p:sp>
        <p:sp>
          <p:nvSpPr>
            <p:cNvPr id="46163" name="Rectangle 97">
              <a:extLst>
                <a:ext uri="{FF2B5EF4-FFF2-40B4-BE49-F238E27FC236}">
                  <a16:creationId xmlns:a16="http://schemas.microsoft.com/office/drawing/2014/main" id="{D61059B6-8FF9-FAB1-267F-3A178F4BD1CC}"/>
                </a:ext>
              </a:extLst>
            </p:cNvPr>
            <p:cNvSpPr>
              <a:spLocks noChangeArrowheads="1"/>
            </p:cNvSpPr>
            <p:nvPr/>
          </p:nvSpPr>
          <p:spPr bwMode="auto">
            <a:xfrm>
              <a:off x="93" y="2672"/>
              <a:ext cx="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2</a:t>
              </a:r>
              <a:endParaRPr lang="en-US" altLang="zh-CN" sz="908">
                <a:solidFill>
                  <a:srgbClr val="000000"/>
                </a:solidFill>
                <a:ea typeface="宋体" panose="02010600030101010101" pitchFamily="2" charset="-122"/>
              </a:endParaRPr>
            </a:p>
          </p:txBody>
        </p:sp>
        <p:sp>
          <p:nvSpPr>
            <p:cNvPr id="46164" name="Rectangle 98">
              <a:extLst>
                <a:ext uri="{FF2B5EF4-FFF2-40B4-BE49-F238E27FC236}">
                  <a16:creationId xmlns:a16="http://schemas.microsoft.com/office/drawing/2014/main" id="{E598C54E-5F42-D373-64CE-C69997A6A030}"/>
                </a:ext>
              </a:extLst>
            </p:cNvPr>
            <p:cNvSpPr>
              <a:spLocks noChangeArrowheads="1"/>
            </p:cNvSpPr>
            <p:nvPr/>
          </p:nvSpPr>
          <p:spPr bwMode="auto">
            <a:xfrm>
              <a:off x="93" y="2142"/>
              <a:ext cx="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4</a:t>
              </a:r>
              <a:endParaRPr lang="en-US" altLang="zh-CN" sz="908">
                <a:solidFill>
                  <a:srgbClr val="000000"/>
                </a:solidFill>
                <a:ea typeface="宋体" panose="02010600030101010101" pitchFamily="2" charset="-122"/>
              </a:endParaRPr>
            </a:p>
          </p:txBody>
        </p:sp>
        <p:sp>
          <p:nvSpPr>
            <p:cNvPr id="46165" name="Rectangle 99">
              <a:extLst>
                <a:ext uri="{FF2B5EF4-FFF2-40B4-BE49-F238E27FC236}">
                  <a16:creationId xmlns:a16="http://schemas.microsoft.com/office/drawing/2014/main" id="{1FF0C792-D993-003D-5D38-2D14C40B1787}"/>
                </a:ext>
              </a:extLst>
            </p:cNvPr>
            <p:cNvSpPr>
              <a:spLocks noChangeArrowheads="1"/>
            </p:cNvSpPr>
            <p:nvPr/>
          </p:nvSpPr>
          <p:spPr bwMode="auto">
            <a:xfrm>
              <a:off x="93" y="1605"/>
              <a:ext cx="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6</a:t>
              </a:r>
              <a:endParaRPr lang="en-US" altLang="zh-CN" sz="908">
                <a:solidFill>
                  <a:srgbClr val="000000"/>
                </a:solidFill>
                <a:ea typeface="宋体" panose="02010600030101010101" pitchFamily="2" charset="-122"/>
              </a:endParaRPr>
            </a:p>
          </p:txBody>
        </p:sp>
        <p:sp>
          <p:nvSpPr>
            <p:cNvPr id="46166" name="Rectangle 100">
              <a:extLst>
                <a:ext uri="{FF2B5EF4-FFF2-40B4-BE49-F238E27FC236}">
                  <a16:creationId xmlns:a16="http://schemas.microsoft.com/office/drawing/2014/main" id="{4846117A-E54D-29E3-41A2-3631C1C3B53E}"/>
                </a:ext>
              </a:extLst>
            </p:cNvPr>
            <p:cNvSpPr>
              <a:spLocks noChangeArrowheads="1"/>
            </p:cNvSpPr>
            <p:nvPr/>
          </p:nvSpPr>
          <p:spPr bwMode="auto">
            <a:xfrm>
              <a:off x="93" y="1067"/>
              <a:ext cx="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8</a:t>
              </a:r>
              <a:endParaRPr lang="en-US" altLang="zh-CN" sz="908">
                <a:solidFill>
                  <a:srgbClr val="000000"/>
                </a:solidFill>
                <a:ea typeface="宋体" panose="02010600030101010101" pitchFamily="2" charset="-122"/>
              </a:endParaRPr>
            </a:p>
          </p:txBody>
        </p:sp>
        <p:sp>
          <p:nvSpPr>
            <p:cNvPr id="46167" name="Rectangle 101">
              <a:extLst>
                <a:ext uri="{FF2B5EF4-FFF2-40B4-BE49-F238E27FC236}">
                  <a16:creationId xmlns:a16="http://schemas.microsoft.com/office/drawing/2014/main" id="{A816CF6E-A139-384B-F2BE-AEC3AB12EDCE}"/>
                </a:ext>
              </a:extLst>
            </p:cNvPr>
            <p:cNvSpPr>
              <a:spLocks noChangeArrowheads="1"/>
            </p:cNvSpPr>
            <p:nvPr/>
          </p:nvSpPr>
          <p:spPr bwMode="auto">
            <a:xfrm>
              <a:off x="0" y="538"/>
              <a:ext cx="18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10</a:t>
              </a:r>
              <a:endParaRPr lang="en-US" altLang="zh-CN" sz="908">
                <a:solidFill>
                  <a:srgbClr val="000000"/>
                </a:solidFill>
                <a:ea typeface="宋体" panose="02010600030101010101" pitchFamily="2" charset="-122"/>
              </a:endParaRPr>
            </a:p>
          </p:txBody>
        </p:sp>
        <p:sp>
          <p:nvSpPr>
            <p:cNvPr id="46168" name="Rectangle 102">
              <a:extLst>
                <a:ext uri="{FF2B5EF4-FFF2-40B4-BE49-F238E27FC236}">
                  <a16:creationId xmlns:a16="http://schemas.microsoft.com/office/drawing/2014/main" id="{C365AD0F-8A3E-4BAD-B914-A6C81385EFFA}"/>
                </a:ext>
              </a:extLst>
            </p:cNvPr>
            <p:cNvSpPr>
              <a:spLocks noChangeArrowheads="1"/>
            </p:cNvSpPr>
            <p:nvPr/>
          </p:nvSpPr>
          <p:spPr bwMode="auto">
            <a:xfrm>
              <a:off x="0" y="0"/>
              <a:ext cx="18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12</a:t>
              </a:r>
              <a:endParaRPr lang="en-US" altLang="zh-CN" sz="908">
                <a:solidFill>
                  <a:srgbClr val="000000"/>
                </a:solidFill>
                <a:ea typeface="宋体" panose="02010600030101010101" pitchFamily="2" charset="-122"/>
              </a:endParaRPr>
            </a:p>
          </p:txBody>
        </p:sp>
      </p:grpSp>
      <p:grpSp>
        <p:nvGrpSpPr>
          <p:cNvPr id="46169" name="Group 89">
            <a:extLst>
              <a:ext uri="{FF2B5EF4-FFF2-40B4-BE49-F238E27FC236}">
                <a16:creationId xmlns:a16="http://schemas.microsoft.com/office/drawing/2014/main" id="{D34E5657-C989-5770-BD24-1237268F28D3}"/>
              </a:ext>
            </a:extLst>
          </p:cNvPr>
          <p:cNvGrpSpPr>
            <a:grpSpLocks/>
          </p:cNvGrpSpPr>
          <p:nvPr/>
        </p:nvGrpSpPr>
        <p:grpSpPr bwMode="auto">
          <a:xfrm>
            <a:off x="434598" y="3129412"/>
            <a:ext cx="3892973" cy="163275"/>
            <a:chOff x="0" y="0"/>
            <a:chExt cx="4864" cy="204"/>
          </a:xfrm>
        </p:grpSpPr>
        <p:sp>
          <p:nvSpPr>
            <p:cNvPr id="46170" name="Rectangle 103">
              <a:extLst>
                <a:ext uri="{FF2B5EF4-FFF2-40B4-BE49-F238E27FC236}">
                  <a16:creationId xmlns:a16="http://schemas.microsoft.com/office/drawing/2014/main" id="{37F193EF-3711-1FE6-C8A3-F312D8AE7308}"/>
                </a:ext>
              </a:extLst>
            </p:cNvPr>
            <p:cNvSpPr>
              <a:spLocks noChangeArrowheads="1"/>
            </p:cNvSpPr>
            <p:nvPr/>
          </p:nvSpPr>
          <p:spPr bwMode="auto">
            <a:xfrm>
              <a:off x="0"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1960</a:t>
              </a:r>
              <a:endParaRPr lang="en-US" altLang="zh-CN" sz="908">
                <a:solidFill>
                  <a:srgbClr val="000000"/>
                </a:solidFill>
                <a:ea typeface="宋体" panose="02010600030101010101" pitchFamily="2" charset="-122"/>
              </a:endParaRPr>
            </a:p>
          </p:txBody>
        </p:sp>
        <p:sp>
          <p:nvSpPr>
            <p:cNvPr id="46171" name="Rectangle 104">
              <a:extLst>
                <a:ext uri="{FF2B5EF4-FFF2-40B4-BE49-F238E27FC236}">
                  <a16:creationId xmlns:a16="http://schemas.microsoft.com/office/drawing/2014/main" id="{72421EF4-A7E7-E096-5DC6-44C550EA2BEB}"/>
                </a:ext>
              </a:extLst>
            </p:cNvPr>
            <p:cNvSpPr>
              <a:spLocks noChangeArrowheads="1"/>
            </p:cNvSpPr>
            <p:nvPr/>
          </p:nvSpPr>
          <p:spPr bwMode="auto">
            <a:xfrm>
              <a:off x="496"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1965</a:t>
              </a:r>
              <a:endParaRPr lang="en-US" altLang="zh-CN" sz="908">
                <a:solidFill>
                  <a:srgbClr val="000000"/>
                </a:solidFill>
                <a:ea typeface="宋体" panose="02010600030101010101" pitchFamily="2" charset="-122"/>
              </a:endParaRPr>
            </a:p>
          </p:txBody>
        </p:sp>
        <p:sp>
          <p:nvSpPr>
            <p:cNvPr id="46172" name="Rectangle 105">
              <a:extLst>
                <a:ext uri="{FF2B5EF4-FFF2-40B4-BE49-F238E27FC236}">
                  <a16:creationId xmlns:a16="http://schemas.microsoft.com/office/drawing/2014/main" id="{0923A52D-93F3-C918-D15D-F0F1EECC3EF2}"/>
                </a:ext>
              </a:extLst>
            </p:cNvPr>
            <p:cNvSpPr>
              <a:spLocks noChangeArrowheads="1"/>
            </p:cNvSpPr>
            <p:nvPr/>
          </p:nvSpPr>
          <p:spPr bwMode="auto">
            <a:xfrm>
              <a:off x="1000"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1970</a:t>
              </a:r>
              <a:endParaRPr lang="en-US" altLang="zh-CN" sz="908">
                <a:solidFill>
                  <a:srgbClr val="000000"/>
                </a:solidFill>
                <a:ea typeface="宋体" panose="02010600030101010101" pitchFamily="2" charset="-122"/>
              </a:endParaRPr>
            </a:p>
          </p:txBody>
        </p:sp>
        <p:sp>
          <p:nvSpPr>
            <p:cNvPr id="46173" name="Rectangle 106">
              <a:extLst>
                <a:ext uri="{FF2B5EF4-FFF2-40B4-BE49-F238E27FC236}">
                  <a16:creationId xmlns:a16="http://schemas.microsoft.com/office/drawing/2014/main" id="{6BFB719D-674A-6CD0-5646-261E67CAEC77}"/>
                </a:ext>
              </a:extLst>
            </p:cNvPr>
            <p:cNvSpPr>
              <a:spLocks noChangeArrowheads="1"/>
            </p:cNvSpPr>
            <p:nvPr/>
          </p:nvSpPr>
          <p:spPr bwMode="auto">
            <a:xfrm>
              <a:off x="1496"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1975</a:t>
              </a:r>
              <a:endParaRPr lang="en-US" altLang="zh-CN" sz="908">
                <a:solidFill>
                  <a:srgbClr val="000000"/>
                </a:solidFill>
                <a:ea typeface="宋体" panose="02010600030101010101" pitchFamily="2" charset="-122"/>
              </a:endParaRPr>
            </a:p>
          </p:txBody>
        </p:sp>
        <p:sp>
          <p:nvSpPr>
            <p:cNvPr id="46174" name="Rectangle 107">
              <a:extLst>
                <a:ext uri="{FF2B5EF4-FFF2-40B4-BE49-F238E27FC236}">
                  <a16:creationId xmlns:a16="http://schemas.microsoft.com/office/drawing/2014/main" id="{3F8B9EB9-2E3B-7918-FBB0-38BFE617D824}"/>
                </a:ext>
              </a:extLst>
            </p:cNvPr>
            <p:cNvSpPr>
              <a:spLocks noChangeArrowheads="1"/>
            </p:cNvSpPr>
            <p:nvPr/>
          </p:nvSpPr>
          <p:spPr bwMode="auto">
            <a:xfrm>
              <a:off x="2000"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1980</a:t>
              </a:r>
              <a:endParaRPr lang="en-US" altLang="zh-CN" sz="908">
                <a:solidFill>
                  <a:srgbClr val="000000"/>
                </a:solidFill>
                <a:ea typeface="宋体" panose="02010600030101010101" pitchFamily="2" charset="-122"/>
              </a:endParaRPr>
            </a:p>
          </p:txBody>
        </p:sp>
        <p:sp>
          <p:nvSpPr>
            <p:cNvPr id="46175" name="Rectangle 108">
              <a:extLst>
                <a:ext uri="{FF2B5EF4-FFF2-40B4-BE49-F238E27FC236}">
                  <a16:creationId xmlns:a16="http://schemas.microsoft.com/office/drawing/2014/main" id="{E2EC0637-23C1-252C-3A7E-B08B036DEA77}"/>
                </a:ext>
              </a:extLst>
            </p:cNvPr>
            <p:cNvSpPr>
              <a:spLocks noChangeArrowheads="1"/>
            </p:cNvSpPr>
            <p:nvPr/>
          </p:nvSpPr>
          <p:spPr bwMode="auto">
            <a:xfrm>
              <a:off x="2495"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1985</a:t>
              </a:r>
              <a:endParaRPr lang="en-US" altLang="zh-CN" sz="908">
                <a:solidFill>
                  <a:srgbClr val="000000"/>
                </a:solidFill>
                <a:ea typeface="宋体" panose="02010600030101010101" pitchFamily="2" charset="-122"/>
              </a:endParaRPr>
            </a:p>
          </p:txBody>
        </p:sp>
        <p:sp>
          <p:nvSpPr>
            <p:cNvPr id="46176" name="Rectangle 109">
              <a:extLst>
                <a:ext uri="{FF2B5EF4-FFF2-40B4-BE49-F238E27FC236}">
                  <a16:creationId xmlns:a16="http://schemas.microsoft.com/office/drawing/2014/main" id="{10552308-2F8A-25EC-EA95-635C06DE09D3}"/>
                </a:ext>
              </a:extLst>
            </p:cNvPr>
            <p:cNvSpPr>
              <a:spLocks noChangeArrowheads="1"/>
            </p:cNvSpPr>
            <p:nvPr/>
          </p:nvSpPr>
          <p:spPr bwMode="auto">
            <a:xfrm>
              <a:off x="2991"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1990</a:t>
              </a:r>
              <a:endParaRPr lang="en-US" altLang="zh-CN" sz="908">
                <a:solidFill>
                  <a:srgbClr val="000000"/>
                </a:solidFill>
                <a:ea typeface="宋体" panose="02010600030101010101" pitchFamily="2" charset="-122"/>
              </a:endParaRPr>
            </a:p>
          </p:txBody>
        </p:sp>
        <p:sp>
          <p:nvSpPr>
            <p:cNvPr id="46177" name="Rectangle 110">
              <a:extLst>
                <a:ext uri="{FF2B5EF4-FFF2-40B4-BE49-F238E27FC236}">
                  <a16:creationId xmlns:a16="http://schemas.microsoft.com/office/drawing/2014/main" id="{40D00893-0498-622A-087C-113BB3B2B02E}"/>
                </a:ext>
              </a:extLst>
            </p:cNvPr>
            <p:cNvSpPr>
              <a:spLocks noChangeArrowheads="1"/>
            </p:cNvSpPr>
            <p:nvPr/>
          </p:nvSpPr>
          <p:spPr bwMode="auto">
            <a:xfrm>
              <a:off x="3495"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1995</a:t>
              </a:r>
              <a:endParaRPr lang="en-US" altLang="zh-CN" sz="908">
                <a:solidFill>
                  <a:srgbClr val="000000"/>
                </a:solidFill>
                <a:ea typeface="宋体" panose="02010600030101010101" pitchFamily="2" charset="-122"/>
              </a:endParaRPr>
            </a:p>
          </p:txBody>
        </p:sp>
        <p:sp>
          <p:nvSpPr>
            <p:cNvPr id="46178" name="Rectangle 111">
              <a:extLst>
                <a:ext uri="{FF2B5EF4-FFF2-40B4-BE49-F238E27FC236}">
                  <a16:creationId xmlns:a16="http://schemas.microsoft.com/office/drawing/2014/main" id="{6A7A3EB2-0113-2761-08C3-914AB66DEF9D}"/>
                </a:ext>
              </a:extLst>
            </p:cNvPr>
            <p:cNvSpPr>
              <a:spLocks noChangeArrowheads="1"/>
            </p:cNvSpPr>
            <p:nvPr/>
          </p:nvSpPr>
          <p:spPr bwMode="auto">
            <a:xfrm>
              <a:off x="3991"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2000</a:t>
              </a:r>
              <a:endParaRPr lang="en-US" altLang="zh-CN" sz="908">
                <a:solidFill>
                  <a:srgbClr val="000000"/>
                </a:solidFill>
                <a:ea typeface="宋体" panose="02010600030101010101" pitchFamily="2" charset="-122"/>
              </a:endParaRPr>
            </a:p>
          </p:txBody>
        </p:sp>
        <p:sp>
          <p:nvSpPr>
            <p:cNvPr id="46179" name="Rectangle 112">
              <a:extLst>
                <a:ext uri="{FF2B5EF4-FFF2-40B4-BE49-F238E27FC236}">
                  <a16:creationId xmlns:a16="http://schemas.microsoft.com/office/drawing/2014/main" id="{904E90D2-85ED-181B-83DD-5903C82E8CD9}"/>
                </a:ext>
              </a:extLst>
            </p:cNvPr>
            <p:cNvSpPr>
              <a:spLocks noChangeArrowheads="1"/>
            </p:cNvSpPr>
            <p:nvPr/>
          </p:nvSpPr>
          <p:spPr bwMode="auto">
            <a:xfrm>
              <a:off x="4487" y="0"/>
              <a:ext cx="37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en-US" altLang="zh-CN" sz="1059">
                  <a:solidFill>
                    <a:srgbClr val="000000"/>
                  </a:solidFill>
                  <a:ea typeface="宋体" panose="02010600030101010101" pitchFamily="2" charset="-122"/>
                </a:rPr>
                <a:t>2005</a:t>
              </a:r>
              <a:endParaRPr lang="en-US" altLang="zh-CN" sz="908">
                <a:solidFill>
                  <a:srgbClr val="000000"/>
                </a:solidFill>
                <a:ea typeface="宋体" panose="02010600030101010101" pitchFamily="2" charset="-122"/>
              </a:endParaRPr>
            </a:p>
          </p:txBody>
        </p:sp>
      </p:grpSp>
      <p:sp>
        <p:nvSpPr>
          <p:cNvPr id="46180" name="Rectangle 2">
            <a:extLst>
              <a:ext uri="{FF2B5EF4-FFF2-40B4-BE49-F238E27FC236}">
                <a16:creationId xmlns:a16="http://schemas.microsoft.com/office/drawing/2014/main" id="{005D116C-101A-40AB-A836-BD3B5BA7E80D}"/>
              </a:ext>
            </a:extLst>
          </p:cNvPr>
          <p:cNvSpPr>
            <a:spLocks noGrp="1" noChangeArrowheads="1"/>
          </p:cNvSpPr>
          <p:nvPr>
            <p:ph type="title" idx="4294967295"/>
          </p:nvPr>
        </p:nvSpPr>
        <p:spPr>
          <a:xfrm>
            <a:off x="252915" y="89628"/>
            <a:ext cx="4149090" cy="327349"/>
          </a:xfrm>
        </p:spPr>
        <p:txBody>
          <a:bodyPr/>
          <a:lstStyle/>
          <a:p>
            <a:r>
              <a:rPr lang="zh-CN" altLang="zh-CN" sz="1815">
                <a:ea typeface="宋体" panose="02010600030101010101" pitchFamily="2" charset="-122"/>
              </a:rPr>
              <a:t>美国的失业：</a:t>
            </a:r>
            <a:r>
              <a:rPr lang="en-US" altLang="zh-CN" sz="1563">
                <a:ea typeface="宋体" panose="02010600030101010101" pitchFamily="2" charset="-122"/>
              </a:rPr>
              <a:t>1960-2007</a:t>
            </a:r>
            <a:r>
              <a:rPr lang="zh-CN" altLang="zh-CN" sz="1563">
                <a:ea typeface="宋体" panose="02010600030101010101" pitchFamily="2" charset="-122"/>
              </a:rPr>
              <a:t>年</a:t>
            </a:r>
          </a:p>
        </p:txBody>
      </p:sp>
      <p:grpSp>
        <p:nvGrpSpPr>
          <p:cNvPr id="46181" name="Group 101">
            <a:extLst>
              <a:ext uri="{FF2B5EF4-FFF2-40B4-BE49-F238E27FC236}">
                <a16:creationId xmlns:a16="http://schemas.microsoft.com/office/drawing/2014/main" id="{D344839F-9680-5296-2720-100331D9A04B}"/>
              </a:ext>
            </a:extLst>
          </p:cNvPr>
          <p:cNvGrpSpPr>
            <a:grpSpLocks/>
          </p:cNvGrpSpPr>
          <p:nvPr/>
        </p:nvGrpSpPr>
        <p:grpSpPr bwMode="auto">
          <a:xfrm>
            <a:off x="1811225" y="1797606"/>
            <a:ext cx="1149324" cy="571460"/>
            <a:chOff x="0" y="0"/>
            <a:chExt cx="1436" cy="714"/>
          </a:xfrm>
        </p:grpSpPr>
        <p:sp>
          <p:nvSpPr>
            <p:cNvPr id="46182" name="Text Box 5">
              <a:extLst>
                <a:ext uri="{FF2B5EF4-FFF2-40B4-BE49-F238E27FC236}">
                  <a16:creationId xmlns:a16="http://schemas.microsoft.com/office/drawing/2014/main" id="{5E1380E2-00C4-AE50-2FD7-36B7F131556F}"/>
                </a:ext>
              </a:extLst>
            </p:cNvPr>
            <p:cNvSpPr txBox="1">
              <a:spLocks noChangeArrowheads="1"/>
            </p:cNvSpPr>
            <p:nvPr/>
          </p:nvSpPr>
          <p:spPr bwMode="auto">
            <a:xfrm>
              <a:off x="0" y="366"/>
              <a:ext cx="1436"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210">
                  <a:solidFill>
                    <a:srgbClr val="000000"/>
                  </a:solidFill>
                  <a:ea typeface="宋体" panose="02010600030101010101" pitchFamily="2" charset="-122"/>
                </a:rPr>
                <a:t>自然失业率</a:t>
              </a:r>
            </a:p>
          </p:txBody>
        </p:sp>
        <p:sp>
          <p:nvSpPr>
            <p:cNvPr id="46183" name="Line 6">
              <a:extLst>
                <a:ext uri="{FF2B5EF4-FFF2-40B4-BE49-F238E27FC236}">
                  <a16:creationId xmlns:a16="http://schemas.microsoft.com/office/drawing/2014/main" id="{4596A512-BCB7-1FEA-C57E-2C805C4F3DA3}"/>
                </a:ext>
              </a:extLst>
            </p:cNvPr>
            <p:cNvSpPr>
              <a:spLocks noChangeShapeType="1"/>
            </p:cNvSpPr>
            <p:nvPr/>
          </p:nvSpPr>
          <p:spPr bwMode="auto">
            <a:xfrm flipH="1">
              <a:off x="755" y="0"/>
              <a:ext cx="112"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nvGrpSpPr>
          <p:cNvPr id="46184" name="Group 104">
            <a:extLst>
              <a:ext uri="{FF2B5EF4-FFF2-40B4-BE49-F238E27FC236}">
                <a16:creationId xmlns:a16="http://schemas.microsoft.com/office/drawing/2014/main" id="{E1D4FA0F-00D9-A1D6-5CAD-E8F72A8DF154}"/>
              </a:ext>
            </a:extLst>
          </p:cNvPr>
          <p:cNvGrpSpPr>
            <a:grpSpLocks/>
          </p:cNvGrpSpPr>
          <p:nvPr/>
        </p:nvGrpSpPr>
        <p:grpSpPr bwMode="auto">
          <a:xfrm>
            <a:off x="2525151" y="639479"/>
            <a:ext cx="1444658" cy="453006"/>
            <a:chOff x="0" y="0"/>
            <a:chExt cx="1805" cy="566"/>
          </a:xfrm>
        </p:grpSpPr>
        <p:sp>
          <p:nvSpPr>
            <p:cNvPr id="46185" name="Text Box 4">
              <a:extLst>
                <a:ext uri="{FF2B5EF4-FFF2-40B4-BE49-F238E27FC236}">
                  <a16:creationId xmlns:a16="http://schemas.microsoft.com/office/drawing/2014/main" id="{608B31EC-0277-0251-0179-9BD9D6953A5F}"/>
                </a:ext>
              </a:extLst>
            </p:cNvPr>
            <p:cNvSpPr txBox="1">
              <a:spLocks noChangeArrowheads="1"/>
            </p:cNvSpPr>
            <p:nvPr/>
          </p:nvSpPr>
          <p:spPr bwMode="auto">
            <a:xfrm>
              <a:off x="10" y="0"/>
              <a:ext cx="179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zh-CN" altLang="zh-CN" sz="1210">
                  <a:solidFill>
                    <a:srgbClr val="000000"/>
                  </a:solidFill>
                  <a:ea typeface="宋体" panose="02010600030101010101" pitchFamily="2" charset="-122"/>
                </a:rPr>
                <a:t>失业率</a:t>
              </a:r>
            </a:p>
          </p:txBody>
        </p:sp>
        <p:sp>
          <p:nvSpPr>
            <p:cNvPr id="46186" name="Line 7">
              <a:extLst>
                <a:ext uri="{FF2B5EF4-FFF2-40B4-BE49-F238E27FC236}">
                  <a16:creationId xmlns:a16="http://schemas.microsoft.com/office/drawing/2014/main" id="{B3E4ED86-3878-3153-05BF-E43FA1A25FB5}"/>
                </a:ext>
              </a:extLst>
            </p:cNvPr>
            <p:cNvSpPr>
              <a:spLocks noChangeShapeType="1"/>
            </p:cNvSpPr>
            <p:nvPr/>
          </p:nvSpPr>
          <p:spPr bwMode="auto">
            <a:xfrm flipH="1">
              <a:off x="0" y="259"/>
              <a:ext cx="322" cy="3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6187" name="FlagCount" hidden="1">
            <a:hlinkClick r:id="rId3" action="ppaction://hlinkfile"/>
            <a:extLst>
              <a:ext uri="{FF2B5EF4-FFF2-40B4-BE49-F238E27FC236}">
                <a16:creationId xmlns:a16="http://schemas.microsoft.com/office/drawing/2014/main" id="{D707228D-C892-98D9-F637-885CA9DCB53D}"/>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46188" name="Text Box 13">
            <a:extLst>
              <a:ext uri="{FF2B5EF4-FFF2-40B4-BE49-F238E27FC236}">
                <a16:creationId xmlns:a16="http://schemas.microsoft.com/office/drawing/2014/main" id="{CD53F85E-8593-CADD-6B2C-984B8ABC4D15}"/>
              </a:ext>
            </a:extLst>
          </p:cNvPr>
          <p:cNvSpPr txBox="1">
            <a:spLocks noChangeArrowheads="1"/>
          </p:cNvSpPr>
          <p:nvPr/>
        </p:nvSpPr>
        <p:spPr bwMode="auto">
          <a:xfrm rot="16200000">
            <a:off x="-264120" y="1446471"/>
            <a:ext cx="976445" cy="44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a:solidFill>
                  <a:srgbClr val="000000"/>
                </a:solidFill>
                <a:ea typeface="宋体" panose="02010600030101010101" pitchFamily="2" charset="-122"/>
              </a:rPr>
              <a:t>劳动力百分比</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159"/>
                                        </p:tgtEl>
                                        <p:attrNameLst>
                                          <p:attrName>style.visibility</p:attrName>
                                        </p:attrNameLst>
                                      </p:cBhvr>
                                      <p:to>
                                        <p:strVal val="visible"/>
                                      </p:to>
                                    </p:set>
                                    <p:animEffect transition="in" filter="wipe(left)">
                                      <p:cBhvr>
                                        <p:cTn id="7" dur="500"/>
                                        <p:tgtEl>
                                          <p:spTgt spid="46159"/>
                                        </p:tgtEl>
                                      </p:cBhvr>
                                    </p:animEffect>
                                  </p:childTnLst>
                                </p:cTn>
                              </p:par>
                              <p:par>
                                <p:cTn id="8" presetID="22" presetClass="entr" presetSubtype="8" fill="hold" nodeType="withEffect">
                                  <p:stCondLst>
                                    <p:cond delay="0"/>
                                  </p:stCondLst>
                                  <p:childTnLst>
                                    <p:set>
                                      <p:cBhvr>
                                        <p:cTn id="9" dur="1" fill="hold">
                                          <p:stCondLst>
                                            <p:cond delay="0"/>
                                          </p:stCondLst>
                                        </p:cTn>
                                        <p:tgtEl>
                                          <p:spTgt spid="46184"/>
                                        </p:tgtEl>
                                        <p:attrNameLst>
                                          <p:attrName>style.visibility</p:attrName>
                                        </p:attrNameLst>
                                      </p:cBhvr>
                                      <p:to>
                                        <p:strVal val="visible"/>
                                      </p:to>
                                    </p:set>
                                    <p:animEffect transition="in" filter="wipe(left)">
                                      <p:cBhvr>
                                        <p:cTn id="10" dur="500"/>
                                        <p:tgtEl>
                                          <p:spTgt spid="4618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6160"/>
                                        </p:tgtEl>
                                        <p:attrNameLst>
                                          <p:attrName>style.visibility</p:attrName>
                                        </p:attrNameLst>
                                      </p:cBhvr>
                                      <p:to>
                                        <p:strVal val="visible"/>
                                      </p:to>
                                    </p:set>
                                    <p:animEffect transition="in" filter="wipe(left)">
                                      <p:cBhvr>
                                        <p:cTn id="15" dur="500"/>
                                        <p:tgtEl>
                                          <p:spTgt spid="46160"/>
                                        </p:tgtEl>
                                      </p:cBhvr>
                                    </p:animEffect>
                                  </p:childTnLst>
                                </p:cTn>
                              </p:par>
                              <p:par>
                                <p:cTn id="16" presetID="22" presetClass="entr" presetSubtype="8" fill="hold" nodeType="withEffect">
                                  <p:stCondLst>
                                    <p:cond delay="0"/>
                                  </p:stCondLst>
                                  <p:childTnLst>
                                    <p:set>
                                      <p:cBhvr>
                                        <p:cTn id="17" dur="1" fill="hold">
                                          <p:stCondLst>
                                            <p:cond delay="0"/>
                                          </p:stCondLst>
                                        </p:cTn>
                                        <p:tgtEl>
                                          <p:spTgt spid="46181"/>
                                        </p:tgtEl>
                                        <p:attrNameLst>
                                          <p:attrName>style.visibility</p:attrName>
                                        </p:attrNameLst>
                                      </p:cBhvr>
                                      <p:to>
                                        <p:strVal val="visible"/>
                                      </p:to>
                                    </p:set>
                                    <p:animEffect transition="in" filter="wipe(left)">
                                      <p:cBhvr>
                                        <p:cTn id="18" dur="500"/>
                                        <p:tgtEl>
                                          <p:spTgt spid="4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59" grpId="0" animBg="1" autoUpdateAnimBg="0"/>
      <p:bldP spid="4616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91EAF9D-4502-25DF-64F0-5DCC18852F78}"/>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493118D3-638B-368C-9624-AC841682993B}"/>
              </a:ext>
            </a:extLst>
          </p:cNvPr>
          <p:cNvSpPr>
            <a:spLocks noGrp="1"/>
          </p:cNvSpPr>
          <p:nvPr>
            <p:ph type="sldNum" sz="quarter" idx="11"/>
          </p:nvPr>
        </p:nvSpPr>
        <p:spPr/>
        <p:txBody>
          <a:bodyPr/>
          <a:lstStyle/>
          <a:p>
            <a:pPr defTabSz="461040" fontAlgn="base">
              <a:spcBef>
                <a:spcPct val="0"/>
              </a:spcBef>
              <a:spcAft>
                <a:spcPct val="0"/>
              </a:spcAft>
            </a:pPr>
            <a:fld id="{DAF9D89C-FEB4-2049-90FB-C4DDE0726B82}" type="slidenum">
              <a:rPr lang="zh-CN" altLang="zh-CN">
                <a:latin typeface="Arial" panose="020B0604020202020204" pitchFamily="34" charset="0"/>
              </a:rPr>
              <a:pPr defTabSz="461040" fontAlgn="base">
                <a:spcBef>
                  <a:spcPct val="0"/>
                </a:spcBef>
                <a:spcAft>
                  <a:spcPct val="0"/>
                </a:spcAft>
              </a:pPr>
              <a:t>24</a:t>
            </a:fld>
            <a:endParaRPr lang="en-US" altLang="zh-CN">
              <a:latin typeface="Arial" panose="020B0604020202020204" pitchFamily="34" charset="0"/>
            </a:endParaRPr>
          </a:p>
        </p:txBody>
      </p:sp>
      <p:sp>
        <p:nvSpPr>
          <p:cNvPr id="48130" name="Rectangle 2">
            <a:extLst>
              <a:ext uri="{FF2B5EF4-FFF2-40B4-BE49-F238E27FC236}">
                <a16:creationId xmlns:a16="http://schemas.microsoft.com/office/drawing/2014/main" id="{53E932EC-6F2B-E560-704A-63861FB3549D}"/>
              </a:ext>
            </a:extLst>
          </p:cNvPr>
          <p:cNvSpPr>
            <a:spLocks noGrp="1" noChangeArrowheads="1"/>
          </p:cNvSpPr>
          <p:nvPr>
            <p:ph type="title" idx="4294967295"/>
          </p:nvPr>
        </p:nvSpPr>
        <p:spPr>
          <a:xfrm>
            <a:off x="0" y="128846"/>
            <a:ext cx="4610100" cy="327349"/>
          </a:xfrm>
        </p:spPr>
        <p:txBody>
          <a:bodyPr/>
          <a:lstStyle/>
          <a:p>
            <a:r>
              <a:rPr lang="zh-CN" altLang="zh-CN" sz="1815">
                <a:ea typeface="宋体" panose="02010600030101010101" pitchFamily="2" charset="-122"/>
              </a:rPr>
              <a:t>对自然失业率的解释：一个概述</a:t>
            </a:r>
          </a:p>
        </p:txBody>
      </p:sp>
      <p:sp>
        <p:nvSpPr>
          <p:cNvPr id="48131" name="Rectangle 3">
            <a:extLst>
              <a:ext uri="{FF2B5EF4-FFF2-40B4-BE49-F238E27FC236}">
                <a16:creationId xmlns:a16="http://schemas.microsoft.com/office/drawing/2014/main" id="{F583675B-E74E-5302-8C5D-7F955B7D57F0}"/>
              </a:ext>
            </a:extLst>
          </p:cNvPr>
          <p:cNvSpPr>
            <a:spLocks noGrp="1" noChangeArrowheads="1"/>
          </p:cNvSpPr>
          <p:nvPr>
            <p:ph type="body" idx="4294967295"/>
          </p:nvPr>
        </p:nvSpPr>
        <p:spPr/>
        <p:txBody>
          <a:bodyPr/>
          <a:lstStyle/>
          <a:p>
            <a:pPr marL="0" indent="0">
              <a:spcBef>
                <a:spcPct val="10000"/>
              </a:spcBef>
              <a:buNone/>
            </a:pPr>
            <a:r>
              <a:rPr lang="zh-CN" altLang="zh-CN" dirty="0">
                <a:ea typeface="宋体" panose="02010600030101010101" pitchFamily="2" charset="-122"/>
              </a:rPr>
              <a:t>即使经济状况很好，失业总是存在，包括：</a:t>
            </a:r>
          </a:p>
          <a:p>
            <a:pPr marL="0" indent="0">
              <a:spcBef>
                <a:spcPct val="50000"/>
              </a:spcBef>
              <a:buNone/>
            </a:pPr>
            <a:r>
              <a:rPr lang="zh-CN" altLang="zh-CN" b="1" dirty="0">
                <a:solidFill>
                  <a:srgbClr val="CC0000"/>
                </a:solidFill>
                <a:ea typeface="宋体" panose="02010600030101010101" pitchFamily="2" charset="-122"/>
              </a:rPr>
              <a:t>摩擦性失业</a:t>
            </a:r>
            <a:endParaRPr lang="zh-CN" altLang="zh-CN" dirty="0">
              <a:ea typeface="宋体" panose="02010600030101010101" pitchFamily="2" charset="-122"/>
            </a:endParaRPr>
          </a:p>
          <a:p>
            <a:pPr marL="201705" lvl="1">
              <a:lnSpc>
                <a:spcPct val="105000"/>
              </a:lnSpc>
              <a:spcBef>
                <a:spcPct val="10000"/>
              </a:spcBef>
              <a:buClr>
                <a:srgbClr val="339966"/>
              </a:buClr>
            </a:pPr>
            <a:r>
              <a:rPr lang="zh-CN" altLang="zh-CN" dirty="0">
                <a:ea typeface="宋体" panose="02010600030101010101" pitchFamily="2" charset="-122"/>
              </a:rPr>
              <a:t>由于工人寻找最适合自己嗜好和技能的工作需要时间而引起的失业</a:t>
            </a:r>
          </a:p>
          <a:p>
            <a:pPr marL="201705" lvl="1">
              <a:lnSpc>
                <a:spcPct val="105000"/>
              </a:lnSpc>
              <a:spcBef>
                <a:spcPct val="10000"/>
              </a:spcBef>
              <a:buClr>
                <a:srgbClr val="339966"/>
              </a:buClr>
            </a:pPr>
            <a:r>
              <a:rPr lang="zh-CN" altLang="zh-CN" dirty="0">
                <a:ea typeface="宋体" panose="02010600030101010101" pitchFamily="2" charset="-122"/>
              </a:rPr>
              <a:t>对大多数工人而言，失业持续时间较短</a:t>
            </a:r>
          </a:p>
          <a:p>
            <a:pPr marL="0" indent="0">
              <a:spcBef>
                <a:spcPct val="50000"/>
              </a:spcBef>
              <a:buNone/>
            </a:pPr>
            <a:r>
              <a:rPr lang="zh-CN" altLang="zh-CN" b="1" dirty="0">
                <a:solidFill>
                  <a:srgbClr val="CC0000"/>
                </a:solidFill>
                <a:ea typeface="宋体" panose="02010600030101010101" pitchFamily="2" charset="-122"/>
              </a:rPr>
              <a:t>结构性失业</a:t>
            </a:r>
            <a:endParaRPr lang="zh-CN" altLang="zh-CN" dirty="0">
              <a:ea typeface="宋体" panose="02010600030101010101" pitchFamily="2" charset="-122"/>
            </a:endParaRPr>
          </a:p>
          <a:p>
            <a:pPr marL="201705" lvl="1">
              <a:lnSpc>
                <a:spcPct val="105000"/>
              </a:lnSpc>
              <a:spcBef>
                <a:spcPct val="10000"/>
              </a:spcBef>
              <a:buClr>
                <a:srgbClr val="339966"/>
              </a:buClr>
            </a:pPr>
            <a:r>
              <a:rPr lang="zh-CN" altLang="zh-CN" dirty="0">
                <a:ea typeface="宋体" panose="02010600030101010101" pitchFamily="2" charset="-122"/>
              </a:rPr>
              <a:t>由于某些劳动市场上可提供的工作岗位数量不足以为每个想工作的人提供工作而引起的失业</a:t>
            </a:r>
          </a:p>
          <a:p>
            <a:pPr marL="201705" lvl="1">
              <a:lnSpc>
                <a:spcPct val="105000"/>
              </a:lnSpc>
              <a:spcBef>
                <a:spcPct val="10000"/>
              </a:spcBef>
              <a:buClr>
                <a:srgbClr val="339966"/>
              </a:buClr>
            </a:pPr>
            <a:r>
              <a:rPr lang="zh-CN" altLang="zh-CN" dirty="0">
                <a:ea typeface="宋体" panose="02010600030101010101" pitchFamily="2" charset="-122"/>
              </a:rPr>
              <a:t>通常持续时间较长</a:t>
            </a:r>
          </a:p>
        </p:txBody>
      </p:sp>
      <p:sp>
        <p:nvSpPr>
          <p:cNvPr id="48132" name="FlagCount" hidden="1">
            <a:hlinkClick r:id="rId3" action="ppaction://hlinkfile"/>
            <a:extLst>
              <a:ext uri="{FF2B5EF4-FFF2-40B4-BE49-F238E27FC236}">
                <a16:creationId xmlns:a16="http://schemas.microsoft.com/office/drawing/2014/main" id="{DC756D7D-D235-04DA-67C3-36FC58C5636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92B781D-7A20-7656-62DE-C6F050E3A951}"/>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AAD70A9A-4130-7FAE-5DB4-9BC7F67B5F88}"/>
              </a:ext>
            </a:extLst>
          </p:cNvPr>
          <p:cNvSpPr>
            <a:spLocks noGrp="1"/>
          </p:cNvSpPr>
          <p:nvPr>
            <p:ph type="sldNum" sz="quarter" idx="11"/>
          </p:nvPr>
        </p:nvSpPr>
        <p:spPr/>
        <p:txBody>
          <a:bodyPr/>
          <a:lstStyle/>
          <a:p>
            <a:pPr defTabSz="461040" fontAlgn="base">
              <a:spcBef>
                <a:spcPct val="0"/>
              </a:spcBef>
              <a:spcAft>
                <a:spcPct val="0"/>
              </a:spcAft>
            </a:pPr>
            <a:fld id="{B2FCDE56-F273-BA45-9B84-7BEF07E4111C}" type="slidenum">
              <a:rPr lang="zh-CN" altLang="zh-CN">
                <a:latin typeface="Arial" panose="020B0604020202020204" pitchFamily="34" charset="0"/>
              </a:rPr>
              <a:pPr defTabSz="461040" fontAlgn="base">
                <a:spcBef>
                  <a:spcPct val="0"/>
                </a:spcBef>
                <a:spcAft>
                  <a:spcPct val="0"/>
                </a:spcAft>
              </a:pPr>
              <a:t>25</a:t>
            </a:fld>
            <a:endParaRPr lang="en-US" altLang="zh-CN">
              <a:latin typeface="Arial" panose="020B0604020202020204" pitchFamily="34" charset="0"/>
            </a:endParaRPr>
          </a:p>
        </p:txBody>
      </p:sp>
      <p:sp>
        <p:nvSpPr>
          <p:cNvPr id="50178" name="Rectangle 2">
            <a:extLst>
              <a:ext uri="{FF2B5EF4-FFF2-40B4-BE49-F238E27FC236}">
                <a16:creationId xmlns:a16="http://schemas.microsoft.com/office/drawing/2014/main" id="{E8CE51FB-3DF7-53C8-A798-E26AB0B74643}"/>
              </a:ext>
            </a:extLst>
          </p:cNvPr>
          <p:cNvSpPr>
            <a:spLocks noGrp="1" noChangeArrowheads="1"/>
          </p:cNvSpPr>
          <p:nvPr>
            <p:ph type="title" idx="4294967295"/>
          </p:nvPr>
        </p:nvSpPr>
        <p:spPr/>
        <p:txBody>
          <a:bodyPr/>
          <a:lstStyle/>
          <a:p>
            <a:r>
              <a:rPr lang="zh-CN" altLang="zh-CN" sz="1815">
                <a:ea typeface="宋体" panose="02010600030101010101" pitchFamily="2" charset="-122"/>
              </a:rPr>
              <a:t>寻找工作</a:t>
            </a:r>
          </a:p>
        </p:txBody>
      </p:sp>
      <p:sp>
        <p:nvSpPr>
          <p:cNvPr id="50179" name="Rectangle 3">
            <a:extLst>
              <a:ext uri="{FF2B5EF4-FFF2-40B4-BE49-F238E27FC236}">
                <a16:creationId xmlns:a16="http://schemas.microsoft.com/office/drawing/2014/main" id="{E1210D60-2E60-FE1B-8EB9-8638B738FD8B}"/>
              </a:ext>
            </a:extLst>
          </p:cNvPr>
          <p:cNvSpPr>
            <a:spLocks noGrp="1" noChangeArrowheads="1"/>
          </p:cNvSpPr>
          <p:nvPr>
            <p:ph type="body" idx="4294967295"/>
          </p:nvPr>
        </p:nvSpPr>
        <p:spPr>
          <a:xfrm>
            <a:off x="185685" y="441788"/>
            <a:ext cx="4281150" cy="2915728"/>
          </a:xfrm>
        </p:spPr>
        <p:txBody>
          <a:bodyPr/>
          <a:lstStyle/>
          <a:p>
            <a:pPr>
              <a:spcBef>
                <a:spcPct val="35000"/>
              </a:spcBef>
            </a:pPr>
            <a:r>
              <a:rPr lang="zh-CN" altLang="zh-CN">
                <a:ea typeface="宋体" panose="02010600030101010101" pitchFamily="2" charset="-122"/>
              </a:rPr>
              <a:t>工人有不同的嗜好与技能，不同的工作有不同的要求  </a:t>
            </a:r>
          </a:p>
          <a:p>
            <a:pPr>
              <a:spcBef>
                <a:spcPct val="35000"/>
              </a:spcBef>
            </a:pPr>
            <a:r>
              <a:rPr lang="zh-CN" altLang="zh-CN" b="1">
                <a:solidFill>
                  <a:srgbClr val="CC0000"/>
                </a:solidFill>
                <a:ea typeface="宋体" panose="02010600030101010101" pitchFamily="2" charset="-122"/>
              </a:rPr>
              <a:t>寻找工作</a:t>
            </a:r>
            <a:r>
              <a:rPr lang="zh-CN" altLang="zh-CN">
                <a:ea typeface="宋体" panose="02010600030101010101" pitchFamily="2" charset="-122"/>
              </a:rPr>
              <a:t>是使工人与合适的工作相匹配的过程  </a:t>
            </a:r>
          </a:p>
          <a:p>
            <a:pPr>
              <a:spcBef>
                <a:spcPct val="35000"/>
              </a:spcBef>
            </a:pPr>
            <a:r>
              <a:rPr lang="zh-CN" altLang="zh-CN" b="1">
                <a:solidFill>
                  <a:srgbClr val="800080"/>
                </a:solidFill>
                <a:ea typeface="宋体" panose="02010600030101010101" pitchFamily="2" charset="-122"/>
              </a:rPr>
              <a:t>部门转移</a:t>
            </a:r>
            <a:r>
              <a:rPr lang="zh-CN" altLang="zh-CN">
                <a:ea typeface="宋体" panose="02010600030101010101" pitchFamily="2" charset="-122"/>
              </a:rPr>
              <a:t>是各行业或各地区之间的需求构成变动</a:t>
            </a:r>
          </a:p>
          <a:p>
            <a:pPr>
              <a:spcBef>
                <a:spcPct val="35000"/>
              </a:spcBef>
            </a:pPr>
            <a:r>
              <a:rPr lang="zh-CN" altLang="zh-CN">
                <a:ea typeface="宋体" panose="02010600030101010101" pitchFamily="2" charset="-122"/>
              </a:rPr>
              <a:t>这样的部门转移会清退一些工人，他们必须重新寻找适合他们技能与嗜好的新工作</a:t>
            </a:r>
          </a:p>
          <a:p>
            <a:pPr>
              <a:spcBef>
                <a:spcPct val="35000"/>
              </a:spcBef>
            </a:pPr>
            <a:r>
              <a:rPr lang="zh-CN" altLang="zh-CN">
                <a:ea typeface="宋体" panose="02010600030101010101" pitchFamily="2" charset="-122"/>
              </a:rPr>
              <a:t>由于经济一直在变动，摩擦性失业不可避免</a:t>
            </a:r>
          </a:p>
        </p:txBody>
      </p:sp>
      <p:sp>
        <p:nvSpPr>
          <p:cNvPr id="50180" name="FlagCount" hidden="1">
            <a:hlinkClick r:id="rId2" action="ppaction://hlinkfile"/>
            <a:extLst>
              <a:ext uri="{FF2B5EF4-FFF2-40B4-BE49-F238E27FC236}">
                <a16:creationId xmlns:a16="http://schemas.microsoft.com/office/drawing/2014/main" id="{1331E269-DFF4-EC81-6996-28819FF29FC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9B66C2B-C025-313D-0043-C434513CF9C1}"/>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2E83B4D3-B92E-D2FE-5F03-DC9BBA5919F2}"/>
              </a:ext>
            </a:extLst>
          </p:cNvPr>
          <p:cNvSpPr>
            <a:spLocks noGrp="1"/>
          </p:cNvSpPr>
          <p:nvPr>
            <p:ph type="sldNum" sz="quarter" idx="11"/>
          </p:nvPr>
        </p:nvSpPr>
        <p:spPr/>
        <p:txBody>
          <a:bodyPr/>
          <a:lstStyle/>
          <a:p>
            <a:pPr defTabSz="461040" fontAlgn="base">
              <a:spcBef>
                <a:spcPct val="0"/>
              </a:spcBef>
              <a:spcAft>
                <a:spcPct val="0"/>
              </a:spcAft>
            </a:pPr>
            <a:fld id="{71C56E17-76D4-4C49-83E8-E1059E88C1C4}" type="slidenum">
              <a:rPr lang="zh-CN" altLang="zh-CN">
                <a:latin typeface="Arial" panose="020B0604020202020204" pitchFamily="34" charset="0"/>
              </a:rPr>
              <a:pPr defTabSz="461040" fontAlgn="base">
                <a:spcBef>
                  <a:spcPct val="0"/>
                </a:spcBef>
                <a:spcAft>
                  <a:spcPct val="0"/>
                </a:spcAft>
              </a:pPr>
              <a:t>26</a:t>
            </a:fld>
            <a:endParaRPr lang="en-US" altLang="zh-CN">
              <a:latin typeface="Arial" panose="020B0604020202020204" pitchFamily="34" charset="0"/>
            </a:endParaRPr>
          </a:p>
        </p:txBody>
      </p:sp>
      <p:sp>
        <p:nvSpPr>
          <p:cNvPr id="51202" name="Rectangle 2">
            <a:extLst>
              <a:ext uri="{FF2B5EF4-FFF2-40B4-BE49-F238E27FC236}">
                <a16:creationId xmlns:a16="http://schemas.microsoft.com/office/drawing/2014/main" id="{E6F34E09-866A-95CF-62C8-40355ED1440E}"/>
              </a:ext>
            </a:extLst>
          </p:cNvPr>
          <p:cNvSpPr>
            <a:spLocks noGrp="1" noChangeArrowheads="1"/>
          </p:cNvSpPr>
          <p:nvPr>
            <p:ph type="title" idx="4294967295"/>
          </p:nvPr>
        </p:nvSpPr>
        <p:spPr/>
        <p:txBody>
          <a:bodyPr/>
          <a:lstStyle/>
          <a:p>
            <a:r>
              <a:rPr lang="zh-CN" altLang="zh-CN" sz="1815">
                <a:ea typeface="宋体" panose="02010600030101010101" pitchFamily="2" charset="-122"/>
              </a:rPr>
              <a:t>公共政策和寻找工作</a:t>
            </a:r>
          </a:p>
        </p:txBody>
      </p:sp>
      <p:sp>
        <p:nvSpPr>
          <p:cNvPr id="51203" name="Rectangle 3">
            <a:extLst>
              <a:ext uri="{FF2B5EF4-FFF2-40B4-BE49-F238E27FC236}">
                <a16:creationId xmlns:a16="http://schemas.microsoft.com/office/drawing/2014/main" id="{17AF762F-5222-74DF-02F4-2277D77958EF}"/>
              </a:ext>
            </a:extLst>
          </p:cNvPr>
          <p:cNvSpPr>
            <a:spLocks noGrp="1" noChangeArrowheads="1"/>
          </p:cNvSpPr>
          <p:nvPr>
            <p:ph type="body" idx="4294967295"/>
          </p:nvPr>
        </p:nvSpPr>
        <p:spPr/>
        <p:txBody>
          <a:bodyPr/>
          <a:lstStyle/>
          <a:p>
            <a:pPr>
              <a:spcBef>
                <a:spcPct val="60000"/>
              </a:spcBef>
            </a:pPr>
            <a:r>
              <a:rPr lang="zh-CN" altLang="zh-CN">
                <a:ea typeface="宋体" panose="02010600030101010101" pitchFamily="2" charset="-122"/>
              </a:rPr>
              <a:t>政府管理的就业机构</a:t>
            </a:r>
          </a:p>
          <a:p>
            <a:pPr>
              <a:spcBef>
                <a:spcPct val="60000"/>
              </a:spcBef>
              <a:buFont typeface="Wingdings" pitchFamily="2" charset="2"/>
              <a:buNone/>
            </a:pPr>
            <a:r>
              <a:rPr lang="zh-CN" altLang="zh-CN">
                <a:ea typeface="宋体" panose="02010600030101010101" pitchFamily="2" charset="-122"/>
              </a:rPr>
              <a:t>   发布有关职位空缺的信息，加快工人与工作的匹配</a:t>
            </a:r>
          </a:p>
          <a:p>
            <a:pPr>
              <a:spcBef>
                <a:spcPct val="60000"/>
              </a:spcBef>
            </a:pPr>
            <a:r>
              <a:rPr lang="zh-CN" altLang="zh-CN">
                <a:ea typeface="宋体" panose="02010600030101010101" pitchFamily="2" charset="-122"/>
              </a:rPr>
              <a:t>公共培训计划 </a:t>
            </a:r>
            <a:br>
              <a:rPr lang="zh-CN" altLang="zh-CN">
                <a:ea typeface="宋体" panose="02010600030101010101" pitchFamily="2" charset="-122"/>
              </a:rPr>
            </a:br>
            <a:r>
              <a:rPr lang="zh-CN" altLang="zh-CN">
                <a:ea typeface="宋体" panose="02010600030101010101" pitchFamily="2" charset="-122"/>
              </a:rPr>
              <a:t>其目的是使处于衰落行业的工人学到转移到增长行业所需的技能</a:t>
            </a:r>
          </a:p>
        </p:txBody>
      </p:sp>
      <p:sp>
        <p:nvSpPr>
          <p:cNvPr id="51204" name="FlagCount" hidden="1">
            <a:hlinkClick r:id="rId2" action="ppaction://hlinkfile"/>
            <a:extLst>
              <a:ext uri="{FF2B5EF4-FFF2-40B4-BE49-F238E27FC236}">
                <a16:creationId xmlns:a16="http://schemas.microsoft.com/office/drawing/2014/main" id="{A77151E5-9387-EF46-CA96-E03B329AD29B}"/>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0218810-5160-4961-4C7D-2AC63C20DF05}"/>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43AFF9B0-F5ED-ACFD-5845-5E03C8ABAD0E}"/>
              </a:ext>
            </a:extLst>
          </p:cNvPr>
          <p:cNvSpPr>
            <a:spLocks noGrp="1"/>
          </p:cNvSpPr>
          <p:nvPr>
            <p:ph type="sldNum" sz="quarter" idx="11"/>
          </p:nvPr>
        </p:nvSpPr>
        <p:spPr/>
        <p:txBody>
          <a:bodyPr/>
          <a:lstStyle/>
          <a:p>
            <a:pPr defTabSz="461040" fontAlgn="base">
              <a:spcBef>
                <a:spcPct val="0"/>
              </a:spcBef>
              <a:spcAft>
                <a:spcPct val="0"/>
              </a:spcAft>
            </a:pPr>
            <a:fld id="{1FE4EE91-1F94-0846-A95C-3D53A173FBFF}" type="slidenum">
              <a:rPr lang="zh-CN" altLang="zh-CN">
                <a:latin typeface="Arial" panose="020B0604020202020204" pitchFamily="34" charset="0"/>
              </a:rPr>
              <a:pPr defTabSz="461040" fontAlgn="base">
                <a:spcBef>
                  <a:spcPct val="0"/>
                </a:spcBef>
                <a:spcAft>
                  <a:spcPct val="0"/>
                </a:spcAft>
              </a:pPr>
              <a:t>27</a:t>
            </a:fld>
            <a:endParaRPr lang="en-US" altLang="zh-CN">
              <a:latin typeface="Arial" panose="020B0604020202020204" pitchFamily="34" charset="0"/>
            </a:endParaRPr>
          </a:p>
        </p:txBody>
      </p:sp>
      <p:sp>
        <p:nvSpPr>
          <p:cNvPr id="52226" name="Rectangle 2">
            <a:extLst>
              <a:ext uri="{FF2B5EF4-FFF2-40B4-BE49-F238E27FC236}">
                <a16:creationId xmlns:a16="http://schemas.microsoft.com/office/drawing/2014/main" id="{80BA0514-5556-1F13-E32A-8F05896B8FB2}"/>
              </a:ext>
            </a:extLst>
          </p:cNvPr>
          <p:cNvSpPr>
            <a:spLocks noGrp="1" noChangeArrowheads="1"/>
          </p:cNvSpPr>
          <p:nvPr>
            <p:ph type="title" idx="4294967295"/>
          </p:nvPr>
        </p:nvSpPr>
        <p:spPr/>
        <p:txBody>
          <a:bodyPr/>
          <a:lstStyle/>
          <a:p>
            <a:r>
              <a:rPr lang="zh-CN" altLang="zh-CN" sz="1815">
                <a:ea typeface="宋体" panose="02010600030101010101" pitchFamily="2" charset="-122"/>
              </a:rPr>
              <a:t>失业保险</a:t>
            </a:r>
          </a:p>
        </p:txBody>
      </p:sp>
      <p:sp>
        <p:nvSpPr>
          <p:cNvPr id="52227" name="Rectangle 3">
            <a:extLst>
              <a:ext uri="{FF2B5EF4-FFF2-40B4-BE49-F238E27FC236}">
                <a16:creationId xmlns:a16="http://schemas.microsoft.com/office/drawing/2014/main" id="{DC3D6A1D-9F5C-86BC-0AA3-562ADB5F40A3}"/>
              </a:ext>
            </a:extLst>
          </p:cNvPr>
          <p:cNvSpPr>
            <a:spLocks noGrp="1" noChangeArrowheads="1"/>
          </p:cNvSpPr>
          <p:nvPr>
            <p:ph type="body" idx="4294967295"/>
          </p:nvPr>
        </p:nvSpPr>
        <p:spPr>
          <a:xfrm>
            <a:off x="188086" y="509819"/>
            <a:ext cx="4191509" cy="1820829"/>
          </a:xfrm>
        </p:spPr>
        <p:txBody>
          <a:bodyPr/>
          <a:lstStyle/>
          <a:p>
            <a:r>
              <a:rPr lang="zh-CN" altLang="zh-CN" b="1">
                <a:solidFill>
                  <a:srgbClr val="CC0000"/>
                </a:solidFill>
                <a:ea typeface="宋体" panose="02010600030101010101" pitchFamily="2" charset="-122"/>
              </a:rPr>
              <a:t>失业保险：</a:t>
            </a:r>
            <a:r>
              <a:rPr lang="zh-CN" altLang="zh-CN">
                <a:ea typeface="宋体" panose="02010600030101010101" pitchFamily="2" charset="-122"/>
              </a:rPr>
              <a:t>  </a:t>
            </a:r>
            <a:br>
              <a:rPr lang="zh-CN" altLang="zh-CN">
                <a:ea typeface="宋体" panose="02010600030101010101" pitchFamily="2" charset="-122"/>
              </a:rPr>
            </a:br>
            <a:r>
              <a:rPr lang="zh-CN" altLang="zh-CN">
                <a:ea typeface="宋体" panose="02010600030101010101" pitchFamily="2" charset="-122"/>
              </a:rPr>
              <a:t>当工人失业时为他们提供部分收入保障的政府计划 </a:t>
            </a:r>
          </a:p>
          <a:p>
            <a:r>
              <a:rPr lang="zh-CN" altLang="zh-CN">
                <a:ea typeface="宋体" panose="02010600030101010101" pitchFamily="2" charset="-122"/>
              </a:rPr>
              <a:t>失业保险增加了摩擦性失业 </a:t>
            </a:r>
            <a:br>
              <a:rPr lang="zh-CN" altLang="zh-CN">
                <a:ea typeface="宋体" panose="02010600030101010101" pitchFamily="2" charset="-122"/>
              </a:rPr>
            </a:br>
            <a:r>
              <a:rPr lang="zh-CN" altLang="zh-CN">
                <a:ea typeface="宋体" panose="02010600030101010101" pitchFamily="2" charset="-122"/>
              </a:rPr>
              <a:t>想知道为什么，想想经济学的十大原理之一：  </a:t>
            </a:r>
            <a:br>
              <a:rPr lang="zh-CN" altLang="zh-CN">
                <a:ea typeface="宋体" panose="02010600030101010101" pitchFamily="2" charset="-122"/>
              </a:rPr>
            </a:br>
            <a:r>
              <a:rPr lang="zh-CN" altLang="zh-CN">
                <a:ea typeface="宋体" panose="02010600030101010101" pitchFamily="2" charset="-122"/>
              </a:rPr>
              <a:t>   </a:t>
            </a:r>
            <a:r>
              <a:rPr lang="zh-CN" altLang="zh-CN" b="1">
                <a:solidFill>
                  <a:srgbClr val="996633"/>
                </a:solidFill>
                <a:ea typeface="宋体" panose="02010600030101010101" pitchFamily="2" charset="-122"/>
              </a:rPr>
              <a:t>人们会对激励做出反应</a:t>
            </a:r>
            <a:r>
              <a:rPr lang="zh-CN" altLang="zh-CN" i="1">
                <a:ea typeface="宋体" panose="02010600030101010101" pitchFamily="2" charset="-122"/>
              </a:rPr>
              <a:t>  </a:t>
            </a:r>
          </a:p>
        </p:txBody>
      </p:sp>
      <p:sp>
        <p:nvSpPr>
          <p:cNvPr id="52228" name="Rectangle 5">
            <a:extLst>
              <a:ext uri="{FF2B5EF4-FFF2-40B4-BE49-F238E27FC236}">
                <a16:creationId xmlns:a16="http://schemas.microsoft.com/office/drawing/2014/main" id="{7B5CF448-084B-7F9A-173C-D72627B16AE1}"/>
              </a:ext>
            </a:extLst>
          </p:cNvPr>
          <p:cNvSpPr>
            <a:spLocks noChangeArrowheads="1"/>
          </p:cNvSpPr>
          <p:nvPr/>
        </p:nvSpPr>
        <p:spPr bwMode="auto">
          <a:xfrm>
            <a:off x="228904" y="2281026"/>
            <a:ext cx="3915384" cy="79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72890" indent="-172890" defTabSz="461040" fontAlgn="base">
              <a:lnSpc>
                <a:spcPct val="105000"/>
              </a:lnSpc>
              <a:spcBef>
                <a:spcPct val="45000"/>
              </a:spcBef>
              <a:spcAft>
                <a:spcPct val="0"/>
              </a:spcAft>
              <a:buClr>
                <a:srgbClr val="00B85C"/>
              </a:buClr>
              <a:buSzPct val="120000"/>
            </a:pPr>
            <a:r>
              <a:rPr lang="zh-CN" altLang="zh-CN" sz="1412">
                <a:solidFill>
                  <a:srgbClr val="000000"/>
                </a:solidFill>
                <a:ea typeface="宋体" panose="02010600030101010101" pitchFamily="2" charset="-122"/>
              </a:rPr>
              <a:t>   当工人找到一份新工作时，失业补助停止发放。所以当还可以享受失业补助时，失业者不会努力地找工作</a:t>
            </a:r>
          </a:p>
        </p:txBody>
      </p:sp>
      <p:sp>
        <p:nvSpPr>
          <p:cNvPr id="52229" name="FlagCount" hidden="1">
            <a:hlinkClick r:id="rId2" action="ppaction://hlinkfile"/>
            <a:extLst>
              <a:ext uri="{FF2B5EF4-FFF2-40B4-BE49-F238E27FC236}">
                <a16:creationId xmlns:a16="http://schemas.microsoft.com/office/drawing/2014/main" id="{9961C426-B4D9-0D77-9275-42B8E02282F4}"/>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wipe(left)">
                                      <p:cBhvr>
                                        <p:cTn id="7" dur="5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10EB6D4-AFEC-2D6B-0764-B8FBB11D6F23}"/>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87F0B7A9-61CD-FB13-AA28-2105A9162E2A}"/>
              </a:ext>
            </a:extLst>
          </p:cNvPr>
          <p:cNvSpPr>
            <a:spLocks noGrp="1"/>
          </p:cNvSpPr>
          <p:nvPr>
            <p:ph type="sldNum" sz="quarter" idx="11"/>
          </p:nvPr>
        </p:nvSpPr>
        <p:spPr/>
        <p:txBody>
          <a:bodyPr/>
          <a:lstStyle/>
          <a:p>
            <a:pPr defTabSz="461040" fontAlgn="base">
              <a:spcBef>
                <a:spcPct val="0"/>
              </a:spcBef>
              <a:spcAft>
                <a:spcPct val="0"/>
              </a:spcAft>
            </a:pPr>
            <a:fld id="{9F9FA36C-B246-7347-83D6-832E7A67EA67}" type="slidenum">
              <a:rPr lang="zh-CN" altLang="zh-CN">
                <a:latin typeface="Arial" panose="020B0604020202020204" pitchFamily="34" charset="0"/>
              </a:rPr>
              <a:pPr defTabSz="461040" fontAlgn="base">
                <a:spcBef>
                  <a:spcPct val="0"/>
                </a:spcBef>
                <a:spcAft>
                  <a:spcPct val="0"/>
                </a:spcAft>
              </a:pPr>
              <a:t>28</a:t>
            </a:fld>
            <a:endParaRPr lang="en-US" altLang="zh-CN">
              <a:latin typeface="Arial" panose="020B0604020202020204" pitchFamily="34" charset="0"/>
            </a:endParaRPr>
          </a:p>
        </p:txBody>
      </p:sp>
      <p:sp>
        <p:nvSpPr>
          <p:cNvPr id="53250" name="Rectangle 2">
            <a:extLst>
              <a:ext uri="{FF2B5EF4-FFF2-40B4-BE49-F238E27FC236}">
                <a16:creationId xmlns:a16="http://schemas.microsoft.com/office/drawing/2014/main" id="{725EE64C-4C5D-7F28-1FF6-B9FEE0517A06}"/>
              </a:ext>
            </a:extLst>
          </p:cNvPr>
          <p:cNvSpPr>
            <a:spLocks noGrp="1" noChangeArrowheads="1"/>
          </p:cNvSpPr>
          <p:nvPr>
            <p:ph type="title" idx="4294967295"/>
          </p:nvPr>
        </p:nvSpPr>
        <p:spPr/>
        <p:txBody>
          <a:bodyPr/>
          <a:lstStyle/>
          <a:p>
            <a:r>
              <a:rPr lang="zh-CN" altLang="zh-CN" sz="1815">
                <a:ea typeface="宋体" panose="02010600030101010101" pitchFamily="2" charset="-122"/>
              </a:rPr>
              <a:t>失业保险</a:t>
            </a:r>
          </a:p>
        </p:txBody>
      </p:sp>
      <p:sp>
        <p:nvSpPr>
          <p:cNvPr id="53251" name="Rectangle 3">
            <a:extLst>
              <a:ext uri="{FF2B5EF4-FFF2-40B4-BE49-F238E27FC236}">
                <a16:creationId xmlns:a16="http://schemas.microsoft.com/office/drawing/2014/main" id="{182CB8A8-8E7B-3420-0A86-ECBE59C09598}"/>
              </a:ext>
            </a:extLst>
          </p:cNvPr>
          <p:cNvSpPr>
            <a:spLocks noGrp="1" noChangeArrowheads="1"/>
          </p:cNvSpPr>
          <p:nvPr>
            <p:ph type="body" idx="4294967295"/>
          </p:nvPr>
        </p:nvSpPr>
        <p:spPr>
          <a:xfrm>
            <a:off x="230505" y="506618"/>
            <a:ext cx="4149090" cy="2601185"/>
          </a:xfrm>
        </p:spPr>
        <p:txBody>
          <a:bodyPr/>
          <a:lstStyle/>
          <a:p>
            <a:pPr>
              <a:buFont typeface="Wingdings" pitchFamily="2" charset="2"/>
              <a:buNone/>
            </a:pPr>
            <a:r>
              <a:rPr lang="zh-CN" altLang="zh-CN">
                <a:ea typeface="宋体" panose="02010600030101010101" pitchFamily="2" charset="-122"/>
              </a:rPr>
              <a:t>失业保险补助：</a:t>
            </a:r>
          </a:p>
          <a:p>
            <a:r>
              <a:rPr lang="zh-CN" altLang="zh-CN">
                <a:ea typeface="宋体" panose="02010600030101010101" pitchFamily="2" charset="-122"/>
              </a:rPr>
              <a:t>减少收入的不确定性</a:t>
            </a:r>
          </a:p>
          <a:p>
            <a:r>
              <a:rPr lang="zh-CN" altLang="zh-CN">
                <a:ea typeface="宋体" panose="02010600030101010101" pitchFamily="2" charset="-122"/>
              </a:rPr>
              <a:t>给失业者更多的时间去寻找工作，并使他们与工作更好地匹配，进而提高生产率  </a:t>
            </a:r>
          </a:p>
        </p:txBody>
      </p:sp>
      <p:sp>
        <p:nvSpPr>
          <p:cNvPr id="53252" name="FlagCount" hidden="1">
            <a:hlinkClick r:id="rId2" action="ppaction://hlinkfile"/>
            <a:extLst>
              <a:ext uri="{FF2B5EF4-FFF2-40B4-BE49-F238E27FC236}">
                <a16:creationId xmlns:a16="http://schemas.microsoft.com/office/drawing/2014/main" id="{EDEA48AF-0593-8983-6DFF-422C70D223E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7F2B305-D613-CB52-2730-3A718800A331}"/>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61F50C68-FE63-3C83-8D60-B72D199417B3}"/>
              </a:ext>
            </a:extLst>
          </p:cNvPr>
          <p:cNvSpPr>
            <a:spLocks noGrp="1"/>
          </p:cNvSpPr>
          <p:nvPr>
            <p:ph type="sldNum" sz="quarter" idx="11"/>
          </p:nvPr>
        </p:nvSpPr>
        <p:spPr/>
        <p:txBody>
          <a:bodyPr/>
          <a:lstStyle/>
          <a:p>
            <a:pPr defTabSz="461040" fontAlgn="base">
              <a:spcBef>
                <a:spcPct val="0"/>
              </a:spcBef>
              <a:spcAft>
                <a:spcPct val="0"/>
              </a:spcAft>
            </a:pPr>
            <a:fld id="{212AECF4-391C-5C4C-98B4-DF5E6FF92A50}" type="slidenum">
              <a:rPr lang="zh-CN" altLang="zh-CN">
                <a:latin typeface="Arial" panose="020B0604020202020204" pitchFamily="34" charset="0"/>
              </a:rPr>
              <a:pPr defTabSz="461040" fontAlgn="base">
                <a:spcBef>
                  <a:spcPct val="0"/>
                </a:spcBef>
                <a:spcAft>
                  <a:spcPct val="0"/>
                </a:spcAft>
              </a:pPr>
              <a:t>29</a:t>
            </a:fld>
            <a:endParaRPr lang="en-US" altLang="zh-CN">
              <a:latin typeface="Arial" panose="020B0604020202020204" pitchFamily="34" charset="0"/>
            </a:endParaRPr>
          </a:p>
        </p:txBody>
      </p:sp>
      <p:sp>
        <p:nvSpPr>
          <p:cNvPr id="54274" name="Rectangle 2">
            <a:extLst>
              <a:ext uri="{FF2B5EF4-FFF2-40B4-BE49-F238E27FC236}">
                <a16:creationId xmlns:a16="http://schemas.microsoft.com/office/drawing/2014/main" id="{DB0A47AD-A3D8-928E-2624-58452307A726}"/>
              </a:ext>
            </a:extLst>
          </p:cNvPr>
          <p:cNvSpPr>
            <a:spLocks noGrp="1" noChangeArrowheads="1"/>
          </p:cNvSpPr>
          <p:nvPr>
            <p:ph type="title" idx="4294967295"/>
          </p:nvPr>
        </p:nvSpPr>
        <p:spPr/>
        <p:txBody>
          <a:bodyPr/>
          <a:lstStyle/>
          <a:p>
            <a:r>
              <a:rPr lang="zh-CN" altLang="zh-CN" sz="1815">
                <a:ea typeface="宋体" panose="02010600030101010101" pitchFamily="2" charset="-122"/>
              </a:rPr>
              <a:t>结构性失业的解释</a:t>
            </a:r>
          </a:p>
        </p:txBody>
      </p:sp>
      <p:sp>
        <p:nvSpPr>
          <p:cNvPr id="54275" name="Rectangle 3">
            <a:extLst>
              <a:ext uri="{FF2B5EF4-FFF2-40B4-BE49-F238E27FC236}">
                <a16:creationId xmlns:a16="http://schemas.microsoft.com/office/drawing/2014/main" id="{29D2F9BB-F3C5-3439-5ACB-F4C3B4BE3AFD}"/>
              </a:ext>
            </a:extLst>
          </p:cNvPr>
          <p:cNvSpPr>
            <a:spLocks noGrp="1" noChangeArrowheads="1"/>
          </p:cNvSpPr>
          <p:nvPr>
            <p:ph type="body" idx="4294967295"/>
          </p:nvPr>
        </p:nvSpPr>
        <p:spPr>
          <a:xfrm>
            <a:off x="237708" y="706709"/>
            <a:ext cx="1632744" cy="1133316"/>
          </a:xfrm>
        </p:spPr>
        <p:txBody>
          <a:bodyPr/>
          <a:lstStyle/>
          <a:p>
            <a:pPr marL="0" indent="0">
              <a:lnSpc>
                <a:spcPct val="85000"/>
              </a:lnSpc>
              <a:buNone/>
            </a:pPr>
            <a:r>
              <a:rPr lang="zh-CN" altLang="zh-CN">
                <a:ea typeface="宋体" panose="02010600030101010101" pitchFamily="2" charset="-122"/>
              </a:rPr>
              <a:t>当工作岗位数量不足以为每个想工作的人提供工作时，便会产生结构性失业</a:t>
            </a:r>
            <a:endParaRPr lang="zh-CN" altLang="zh-CN">
              <a:solidFill>
                <a:srgbClr val="FF0000"/>
              </a:solidFill>
              <a:ea typeface="宋体" panose="02010600030101010101" pitchFamily="2" charset="-122"/>
            </a:endParaRPr>
          </a:p>
        </p:txBody>
      </p:sp>
      <p:grpSp>
        <p:nvGrpSpPr>
          <p:cNvPr id="54276" name="Group 4">
            <a:extLst>
              <a:ext uri="{FF2B5EF4-FFF2-40B4-BE49-F238E27FC236}">
                <a16:creationId xmlns:a16="http://schemas.microsoft.com/office/drawing/2014/main" id="{0389F08F-760A-6A62-054C-DBAA484441B1}"/>
              </a:ext>
            </a:extLst>
          </p:cNvPr>
          <p:cNvGrpSpPr>
            <a:grpSpLocks/>
          </p:cNvGrpSpPr>
          <p:nvPr/>
        </p:nvGrpSpPr>
        <p:grpSpPr bwMode="auto">
          <a:xfrm>
            <a:off x="2142576" y="870784"/>
            <a:ext cx="2246623" cy="2000111"/>
            <a:chOff x="0" y="0"/>
            <a:chExt cx="2807" cy="2499"/>
          </a:xfrm>
        </p:grpSpPr>
        <p:grpSp>
          <p:nvGrpSpPr>
            <p:cNvPr id="54277" name="Group 5">
              <a:extLst>
                <a:ext uri="{FF2B5EF4-FFF2-40B4-BE49-F238E27FC236}">
                  <a16:creationId xmlns:a16="http://schemas.microsoft.com/office/drawing/2014/main" id="{2EE41A50-46DB-3C66-36A3-111FA56FA592}"/>
                </a:ext>
              </a:extLst>
            </p:cNvPr>
            <p:cNvGrpSpPr>
              <a:grpSpLocks/>
            </p:cNvGrpSpPr>
            <p:nvPr/>
          </p:nvGrpSpPr>
          <p:grpSpPr bwMode="auto">
            <a:xfrm>
              <a:off x="139" y="252"/>
              <a:ext cx="2409" cy="2049"/>
              <a:chOff x="0" y="0"/>
              <a:chExt cx="2116" cy="2027"/>
            </a:xfrm>
          </p:grpSpPr>
          <p:sp>
            <p:nvSpPr>
              <p:cNvPr id="54278" name="Line 6">
                <a:extLst>
                  <a:ext uri="{FF2B5EF4-FFF2-40B4-BE49-F238E27FC236}">
                    <a16:creationId xmlns:a16="http://schemas.microsoft.com/office/drawing/2014/main" id="{3E33C0F2-A206-89C0-38A4-A2A3691528B2}"/>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4279" name="Line 7">
                <a:extLst>
                  <a:ext uri="{FF2B5EF4-FFF2-40B4-BE49-F238E27FC236}">
                    <a16:creationId xmlns:a16="http://schemas.microsoft.com/office/drawing/2014/main" id="{FB63FD3D-99C2-EC4B-AEA4-BCE70EF99D4C}"/>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54280" name="Text Box 8">
              <a:extLst>
                <a:ext uri="{FF2B5EF4-FFF2-40B4-BE49-F238E27FC236}">
                  <a16:creationId xmlns:a16="http://schemas.microsoft.com/office/drawing/2014/main" id="{C8C1A9B9-E8CE-933A-E2E7-0E6D2B2E255D}"/>
                </a:ext>
              </a:extLst>
            </p:cNvPr>
            <p:cNvSpPr txBox="1">
              <a:spLocks noChangeArrowheads="1"/>
            </p:cNvSpPr>
            <p:nvPr/>
          </p:nvSpPr>
          <p:spPr bwMode="auto">
            <a:xfrm>
              <a:off x="0" y="0"/>
              <a:ext cx="26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210" b="1" i="1">
                  <a:solidFill>
                    <a:srgbClr val="000000"/>
                  </a:solidFill>
                  <a:ea typeface="宋体" panose="02010600030101010101" pitchFamily="2" charset="-122"/>
                </a:rPr>
                <a:t>W</a:t>
              </a:r>
            </a:p>
          </p:txBody>
        </p:sp>
        <p:sp>
          <p:nvSpPr>
            <p:cNvPr id="54281" name="Text Box 9">
              <a:extLst>
                <a:ext uri="{FF2B5EF4-FFF2-40B4-BE49-F238E27FC236}">
                  <a16:creationId xmlns:a16="http://schemas.microsoft.com/office/drawing/2014/main" id="{640819C2-7C2B-25B8-090C-6D7A06A06251}"/>
                </a:ext>
              </a:extLst>
            </p:cNvPr>
            <p:cNvSpPr txBox="1">
              <a:spLocks noChangeArrowheads="1"/>
            </p:cNvSpPr>
            <p:nvPr/>
          </p:nvSpPr>
          <p:spPr bwMode="auto">
            <a:xfrm>
              <a:off x="2517" y="2151"/>
              <a:ext cx="29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210" b="1" i="1" dirty="0">
                  <a:solidFill>
                    <a:srgbClr val="000000"/>
                  </a:solidFill>
                  <a:ea typeface="宋体" panose="02010600030101010101" pitchFamily="2" charset="-122"/>
                </a:rPr>
                <a:t>L</a:t>
              </a:r>
            </a:p>
          </p:txBody>
        </p:sp>
      </p:grpSp>
      <p:grpSp>
        <p:nvGrpSpPr>
          <p:cNvPr id="54282" name="Group 10">
            <a:extLst>
              <a:ext uri="{FF2B5EF4-FFF2-40B4-BE49-F238E27FC236}">
                <a16:creationId xmlns:a16="http://schemas.microsoft.com/office/drawing/2014/main" id="{CA21DAF4-ACD9-ABE3-2B42-2290118F6FFC}"/>
              </a:ext>
            </a:extLst>
          </p:cNvPr>
          <p:cNvGrpSpPr>
            <a:grpSpLocks/>
          </p:cNvGrpSpPr>
          <p:nvPr/>
        </p:nvGrpSpPr>
        <p:grpSpPr bwMode="auto">
          <a:xfrm>
            <a:off x="2688425" y="1099688"/>
            <a:ext cx="1319801" cy="1663158"/>
            <a:chOff x="0" y="0"/>
            <a:chExt cx="1649" cy="2078"/>
          </a:xfrm>
        </p:grpSpPr>
        <p:sp>
          <p:nvSpPr>
            <p:cNvPr id="54283" name="Line 11">
              <a:extLst>
                <a:ext uri="{FF2B5EF4-FFF2-40B4-BE49-F238E27FC236}">
                  <a16:creationId xmlns:a16="http://schemas.microsoft.com/office/drawing/2014/main" id="{EE560BD9-E0DC-FD49-CE0A-AE3044031962}"/>
                </a:ext>
              </a:extLst>
            </p:cNvPr>
            <p:cNvSpPr>
              <a:spLocks noChangeShapeType="1"/>
            </p:cNvSpPr>
            <p:nvPr/>
          </p:nvSpPr>
          <p:spPr bwMode="auto">
            <a:xfrm>
              <a:off x="0" y="0"/>
              <a:ext cx="1417" cy="184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4284" name="Text Box 12">
              <a:extLst>
                <a:ext uri="{FF2B5EF4-FFF2-40B4-BE49-F238E27FC236}">
                  <a16:creationId xmlns:a16="http://schemas.microsoft.com/office/drawing/2014/main" id="{D50CC3C5-1E28-0749-7E09-92F695A28C29}"/>
                </a:ext>
              </a:extLst>
            </p:cNvPr>
            <p:cNvSpPr txBox="1">
              <a:spLocks noChangeArrowheads="1"/>
            </p:cNvSpPr>
            <p:nvPr/>
          </p:nvSpPr>
          <p:spPr bwMode="auto">
            <a:xfrm>
              <a:off x="1329" y="1730"/>
              <a:ext cx="3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210" b="1" i="1">
                  <a:solidFill>
                    <a:srgbClr val="000000"/>
                  </a:solidFill>
                  <a:ea typeface="宋体" panose="02010600030101010101" pitchFamily="2" charset="-122"/>
                </a:rPr>
                <a:t>D</a:t>
              </a:r>
            </a:p>
          </p:txBody>
        </p:sp>
      </p:grpSp>
      <p:grpSp>
        <p:nvGrpSpPr>
          <p:cNvPr id="54285" name="Group 13">
            <a:extLst>
              <a:ext uri="{FF2B5EF4-FFF2-40B4-BE49-F238E27FC236}">
                <a16:creationId xmlns:a16="http://schemas.microsoft.com/office/drawing/2014/main" id="{7D29C7AC-1C9A-7CFF-0189-5F08724B675A}"/>
              </a:ext>
            </a:extLst>
          </p:cNvPr>
          <p:cNvGrpSpPr>
            <a:grpSpLocks/>
          </p:cNvGrpSpPr>
          <p:nvPr/>
        </p:nvGrpSpPr>
        <p:grpSpPr bwMode="auto">
          <a:xfrm>
            <a:off x="2758857" y="934013"/>
            <a:ext cx="858791" cy="1695172"/>
            <a:chOff x="0" y="0"/>
            <a:chExt cx="1073" cy="2118"/>
          </a:xfrm>
        </p:grpSpPr>
        <p:sp>
          <p:nvSpPr>
            <p:cNvPr id="54286" name="Line 14">
              <a:extLst>
                <a:ext uri="{FF2B5EF4-FFF2-40B4-BE49-F238E27FC236}">
                  <a16:creationId xmlns:a16="http://schemas.microsoft.com/office/drawing/2014/main" id="{52923663-F3A3-605A-453F-C2DA7459431E}"/>
                </a:ext>
              </a:extLst>
            </p:cNvPr>
            <p:cNvSpPr>
              <a:spLocks noChangeShapeType="1"/>
            </p:cNvSpPr>
            <p:nvPr/>
          </p:nvSpPr>
          <p:spPr bwMode="auto">
            <a:xfrm flipV="1">
              <a:off x="0" y="232"/>
              <a:ext cx="872" cy="188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4287" name="Text Box 15">
              <a:extLst>
                <a:ext uri="{FF2B5EF4-FFF2-40B4-BE49-F238E27FC236}">
                  <a16:creationId xmlns:a16="http://schemas.microsoft.com/office/drawing/2014/main" id="{3C2B368E-818B-9D33-4510-C7950447EFE8}"/>
                </a:ext>
              </a:extLst>
            </p:cNvPr>
            <p:cNvSpPr txBox="1">
              <a:spLocks noChangeArrowheads="1"/>
            </p:cNvSpPr>
            <p:nvPr/>
          </p:nvSpPr>
          <p:spPr bwMode="auto">
            <a:xfrm>
              <a:off x="753" y="0"/>
              <a:ext cx="3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210" b="1" i="1">
                  <a:solidFill>
                    <a:srgbClr val="000000"/>
                  </a:solidFill>
                  <a:ea typeface="宋体" panose="02010600030101010101" pitchFamily="2" charset="-122"/>
                </a:rPr>
                <a:t>S</a:t>
              </a:r>
            </a:p>
          </p:txBody>
        </p:sp>
      </p:grpSp>
      <p:grpSp>
        <p:nvGrpSpPr>
          <p:cNvPr id="54288" name="Group 16">
            <a:extLst>
              <a:ext uri="{FF2B5EF4-FFF2-40B4-BE49-F238E27FC236}">
                <a16:creationId xmlns:a16="http://schemas.microsoft.com/office/drawing/2014/main" id="{4220C8A4-2997-3B47-FE42-1F389E0C1B3B}"/>
              </a:ext>
            </a:extLst>
          </p:cNvPr>
          <p:cNvGrpSpPr>
            <a:grpSpLocks/>
          </p:cNvGrpSpPr>
          <p:nvPr/>
        </p:nvGrpSpPr>
        <p:grpSpPr bwMode="auto">
          <a:xfrm>
            <a:off x="1736791" y="1642335"/>
            <a:ext cx="1472671" cy="186485"/>
            <a:chOff x="0" y="0"/>
            <a:chExt cx="1840" cy="233"/>
          </a:xfrm>
        </p:grpSpPr>
        <p:sp>
          <p:nvSpPr>
            <p:cNvPr id="54289" name="Line 17">
              <a:extLst>
                <a:ext uri="{FF2B5EF4-FFF2-40B4-BE49-F238E27FC236}">
                  <a16:creationId xmlns:a16="http://schemas.microsoft.com/office/drawing/2014/main" id="{A8E50211-8BD7-BB18-F9FB-1CA70C92184A}"/>
                </a:ext>
              </a:extLst>
            </p:cNvPr>
            <p:cNvSpPr>
              <a:spLocks noChangeShapeType="1"/>
            </p:cNvSpPr>
            <p:nvPr/>
          </p:nvSpPr>
          <p:spPr bwMode="auto">
            <a:xfrm>
              <a:off x="651" y="118"/>
              <a:ext cx="114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4290" name="Oval 18">
              <a:extLst>
                <a:ext uri="{FF2B5EF4-FFF2-40B4-BE49-F238E27FC236}">
                  <a16:creationId xmlns:a16="http://schemas.microsoft.com/office/drawing/2014/main" id="{EC03AB77-0147-14F2-70E5-58379DE24216}"/>
                </a:ext>
              </a:extLst>
            </p:cNvPr>
            <p:cNvSpPr>
              <a:spLocks noChangeArrowheads="1"/>
            </p:cNvSpPr>
            <p:nvPr/>
          </p:nvSpPr>
          <p:spPr bwMode="auto">
            <a:xfrm>
              <a:off x="1752"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54291" name="Text Box 19">
              <a:extLst>
                <a:ext uri="{FF2B5EF4-FFF2-40B4-BE49-F238E27FC236}">
                  <a16:creationId xmlns:a16="http://schemas.microsoft.com/office/drawing/2014/main" id="{3E547208-5BB7-F57F-4A40-D2590FF6CD52}"/>
                </a:ext>
              </a:extLst>
            </p:cNvPr>
            <p:cNvSpPr txBox="1">
              <a:spLocks noChangeArrowheads="1"/>
            </p:cNvSpPr>
            <p:nvPr/>
          </p:nvSpPr>
          <p:spPr bwMode="auto">
            <a:xfrm>
              <a:off x="0" y="0"/>
              <a:ext cx="5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defTabSz="461040" fontAlgn="base">
                <a:spcBef>
                  <a:spcPct val="50000"/>
                </a:spcBef>
                <a:spcAft>
                  <a:spcPct val="0"/>
                </a:spcAft>
              </a:pPr>
              <a:r>
                <a:rPr lang="en-US" altLang="zh-CN" sz="1210" b="1" i="1">
                  <a:solidFill>
                    <a:srgbClr val="000000"/>
                  </a:solidFill>
                  <a:ea typeface="宋体" panose="02010600030101010101" pitchFamily="2" charset="-122"/>
                </a:rPr>
                <a:t>W</a:t>
              </a:r>
              <a:r>
                <a:rPr lang="en-US" altLang="zh-CN" sz="1210" b="1" i="1" baseline="-25000">
                  <a:solidFill>
                    <a:srgbClr val="000000"/>
                  </a:solidFill>
                  <a:ea typeface="宋体" panose="02010600030101010101" pitchFamily="2" charset="-122"/>
                </a:rPr>
                <a:t>E</a:t>
              </a:r>
            </a:p>
          </p:txBody>
        </p:sp>
      </p:grpSp>
      <p:grpSp>
        <p:nvGrpSpPr>
          <p:cNvPr id="54292" name="Group 20">
            <a:extLst>
              <a:ext uri="{FF2B5EF4-FFF2-40B4-BE49-F238E27FC236}">
                <a16:creationId xmlns:a16="http://schemas.microsoft.com/office/drawing/2014/main" id="{C19BDF42-696A-C5AF-411F-60A50210555C}"/>
              </a:ext>
            </a:extLst>
          </p:cNvPr>
          <p:cNvGrpSpPr>
            <a:grpSpLocks/>
          </p:cNvGrpSpPr>
          <p:nvPr/>
        </p:nvGrpSpPr>
        <p:grpSpPr bwMode="auto">
          <a:xfrm>
            <a:off x="1756000" y="1068474"/>
            <a:ext cx="2726042" cy="465012"/>
            <a:chOff x="0" y="0"/>
            <a:chExt cx="3406" cy="581"/>
          </a:xfrm>
        </p:grpSpPr>
        <p:sp>
          <p:nvSpPr>
            <p:cNvPr id="54293" name="Line 21">
              <a:extLst>
                <a:ext uri="{FF2B5EF4-FFF2-40B4-BE49-F238E27FC236}">
                  <a16:creationId xmlns:a16="http://schemas.microsoft.com/office/drawing/2014/main" id="{CCEE7B05-3717-A157-28F1-BE2522034FFC}"/>
                </a:ext>
              </a:extLst>
            </p:cNvPr>
            <p:cNvSpPr>
              <a:spLocks noChangeShapeType="1"/>
            </p:cNvSpPr>
            <p:nvPr/>
          </p:nvSpPr>
          <p:spPr bwMode="auto">
            <a:xfrm>
              <a:off x="644" y="265"/>
              <a:ext cx="1888" cy="0"/>
            </a:xfrm>
            <a:prstGeom prst="line">
              <a:avLst/>
            </a:prstGeom>
            <a:noFill/>
            <a:ln w="28575">
              <a:solidFill>
                <a:srgbClr val="DE84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4294" name="Text Box 22">
              <a:extLst>
                <a:ext uri="{FF2B5EF4-FFF2-40B4-BE49-F238E27FC236}">
                  <a16:creationId xmlns:a16="http://schemas.microsoft.com/office/drawing/2014/main" id="{3F21A2F6-8952-92A3-700E-D56573CA5FD4}"/>
                </a:ext>
              </a:extLst>
            </p:cNvPr>
            <p:cNvSpPr txBox="1">
              <a:spLocks noChangeArrowheads="1"/>
            </p:cNvSpPr>
            <p:nvPr/>
          </p:nvSpPr>
          <p:spPr bwMode="auto">
            <a:xfrm>
              <a:off x="2701" y="0"/>
              <a:ext cx="705"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210">
                  <a:solidFill>
                    <a:srgbClr val="000000"/>
                  </a:solidFill>
                  <a:ea typeface="宋体" panose="02010600030101010101" pitchFamily="2" charset="-122"/>
                </a:rPr>
                <a:t>实际工资</a:t>
              </a:r>
            </a:p>
          </p:txBody>
        </p:sp>
        <p:sp>
          <p:nvSpPr>
            <p:cNvPr id="54295" name="AutoShape 23">
              <a:extLst>
                <a:ext uri="{FF2B5EF4-FFF2-40B4-BE49-F238E27FC236}">
                  <a16:creationId xmlns:a16="http://schemas.microsoft.com/office/drawing/2014/main" id="{DA086B7D-3682-E5CB-12A7-A055517B4E6A}"/>
                </a:ext>
              </a:extLst>
            </p:cNvPr>
            <p:cNvSpPr>
              <a:spLocks/>
            </p:cNvSpPr>
            <p:nvPr/>
          </p:nvSpPr>
          <p:spPr bwMode="auto">
            <a:xfrm>
              <a:off x="2589" y="37"/>
              <a:ext cx="156" cy="453"/>
            </a:xfrm>
            <a:prstGeom prst="leftBrace">
              <a:avLst>
                <a:gd name="adj1" fmla="val 3859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54296" name="Text Box 24">
              <a:extLst>
                <a:ext uri="{FF2B5EF4-FFF2-40B4-BE49-F238E27FC236}">
                  <a16:creationId xmlns:a16="http://schemas.microsoft.com/office/drawing/2014/main" id="{650A34DC-9B6B-6D72-E658-57C2547ECA0D}"/>
                </a:ext>
              </a:extLst>
            </p:cNvPr>
            <p:cNvSpPr txBox="1">
              <a:spLocks noChangeArrowheads="1"/>
            </p:cNvSpPr>
            <p:nvPr/>
          </p:nvSpPr>
          <p:spPr bwMode="auto">
            <a:xfrm>
              <a:off x="0" y="148"/>
              <a:ext cx="5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defTabSz="461040" fontAlgn="base">
                <a:spcBef>
                  <a:spcPct val="50000"/>
                </a:spcBef>
                <a:spcAft>
                  <a:spcPct val="0"/>
                </a:spcAft>
              </a:pPr>
              <a:r>
                <a:rPr lang="en-US" altLang="zh-CN" sz="1210" b="1" i="1">
                  <a:solidFill>
                    <a:srgbClr val="000000"/>
                  </a:solidFill>
                  <a:ea typeface="宋体" panose="02010600030101010101" pitchFamily="2" charset="-122"/>
                </a:rPr>
                <a:t>W</a:t>
              </a:r>
              <a:r>
                <a:rPr lang="en-US" altLang="zh-CN" sz="1210" b="1" i="1" baseline="-25000">
                  <a:solidFill>
                    <a:srgbClr val="000000"/>
                  </a:solidFill>
                  <a:ea typeface="宋体" panose="02010600030101010101" pitchFamily="2" charset="-122"/>
                </a:rPr>
                <a:t>1</a:t>
              </a:r>
            </a:p>
          </p:txBody>
        </p:sp>
      </p:grpSp>
      <p:grpSp>
        <p:nvGrpSpPr>
          <p:cNvPr id="54297" name="Group 25">
            <a:extLst>
              <a:ext uri="{FF2B5EF4-FFF2-40B4-BE49-F238E27FC236}">
                <a16:creationId xmlns:a16="http://schemas.microsoft.com/office/drawing/2014/main" id="{C759C00E-60BC-4EA2-8927-C6B63D8DAD07}"/>
              </a:ext>
            </a:extLst>
          </p:cNvPr>
          <p:cNvGrpSpPr>
            <a:grpSpLocks/>
          </p:cNvGrpSpPr>
          <p:nvPr/>
        </p:nvGrpSpPr>
        <p:grpSpPr bwMode="auto">
          <a:xfrm>
            <a:off x="2765260" y="725118"/>
            <a:ext cx="622684" cy="533843"/>
            <a:chOff x="0" y="0"/>
            <a:chExt cx="778" cy="667"/>
          </a:xfrm>
        </p:grpSpPr>
        <p:sp>
          <p:nvSpPr>
            <p:cNvPr id="54298" name="AutoShape 26">
              <a:extLst>
                <a:ext uri="{FF2B5EF4-FFF2-40B4-BE49-F238E27FC236}">
                  <a16:creationId xmlns:a16="http://schemas.microsoft.com/office/drawing/2014/main" id="{14BA4927-726D-A18E-6166-8B448094F97B}"/>
                </a:ext>
              </a:extLst>
            </p:cNvPr>
            <p:cNvSpPr>
              <a:spLocks/>
            </p:cNvSpPr>
            <p:nvPr/>
          </p:nvSpPr>
          <p:spPr bwMode="auto">
            <a:xfrm rot="5400000">
              <a:off x="319" y="224"/>
              <a:ext cx="196" cy="689"/>
            </a:xfrm>
            <a:prstGeom prst="leftBrace">
              <a:avLst>
                <a:gd name="adj1" fmla="val 61648"/>
                <a:gd name="adj2" fmla="val 50000"/>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54299" name="Text Box 27">
              <a:extLst>
                <a:ext uri="{FF2B5EF4-FFF2-40B4-BE49-F238E27FC236}">
                  <a16:creationId xmlns:a16="http://schemas.microsoft.com/office/drawing/2014/main" id="{2DD30425-9081-336F-8AA5-85157D6B0EB7}"/>
                </a:ext>
              </a:extLst>
            </p:cNvPr>
            <p:cNvSpPr txBox="1">
              <a:spLocks noChangeArrowheads="1"/>
            </p:cNvSpPr>
            <p:nvPr/>
          </p:nvSpPr>
          <p:spPr bwMode="auto">
            <a:xfrm>
              <a:off x="0" y="0"/>
              <a:ext cx="7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210">
                  <a:solidFill>
                    <a:srgbClr val="0000FF"/>
                  </a:solidFill>
                  <a:ea typeface="宋体" panose="02010600030101010101" pitchFamily="2" charset="-122"/>
                </a:rPr>
                <a:t>失业量</a:t>
              </a:r>
            </a:p>
          </p:txBody>
        </p:sp>
      </p:grpSp>
      <p:sp>
        <p:nvSpPr>
          <p:cNvPr id="54300" name="Rectangle 34">
            <a:extLst>
              <a:ext uri="{FF2B5EF4-FFF2-40B4-BE49-F238E27FC236}">
                <a16:creationId xmlns:a16="http://schemas.microsoft.com/office/drawing/2014/main" id="{A529C764-E663-0F69-3A5E-E392D51D8F13}"/>
              </a:ext>
            </a:extLst>
          </p:cNvPr>
          <p:cNvSpPr>
            <a:spLocks noChangeArrowheads="1"/>
          </p:cNvSpPr>
          <p:nvPr/>
        </p:nvSpPr>
        <p:spPr bwMode="auto">
          <a:xfrm>
            <a:off x="251315" y="1826419"/>
            <a:ext cx="1856046" cy="12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45000"/>
              </a:spcBef>
              <a:spcAft>
                <a:spcPct val="0"/>
              </a:spcAft>
              <a:buClr>
                <a:srgbClr val="00B85C"/>
              </a:buClr>
              <a:buSzPct val="120000"/>
            </a:pPr>
            <a:r>
              <a:rPr lang="zh-CN" altLang="zh-CN" sz="1412">
                <a:solidFill>
                  <a:srgbClr val="000000"/>
                </a:solidFill>
                <a:ea typeface="宋体" panose="02010600030101010101" pitchFamily="2" charset="-122"/>
              </a:rPr>
              <a:t>当工资高于均衡工资时，就会产生结构性失业</a:t>
            </a:r>
          </a:p>
          <a:p>
            <a:pPr defTabSz="461040" fontAlgn="base">
              <a:lnSpc>
                <a:spcPct val="105000"/>
              </a:lnSpc>
              <a:spcBef>
                <a:spcPct val="45000"/>
              </a:spcBef>
              <a:spcAft>
                <a:spcPct val="0"/>
              </a:spcAft>
              <a:buClr>
                <a:srgbClr val="00B85C"/>
              </a:buClr>
              <a:buSzPct val="120000"/>
            </a:pPr>
            <a:r>
              <a:rPr lang="zh-CN" altLang="zh-CN" sz="1412">
                <a:solidFill>
                  <a:srgbClr val="000000"/>
                </a:solidFill>
                <a:ea typeface="宋体" panose="02010600030101010101" pitchFamily="2" charset="-122"/>
              </a:rPr>
              <a:t>这其中有三个原因</a:t>
            </a:r>
            <a:r>
              <a:rPr lang="en-US" altLang="zh-CN" sz="1412">
                <a:solidFill>
                  <a:srgbClr val="000000"/>
                </a:solidFill>
                <a:ea typeface="宋体" panose="02010600030101010101" pitchFamily="2" charset="-122"/>
              </a:rPr>
              <a:t>……</a:t>
            </a:r>
          </a:p>
        </p:txBody>
      </p:sp>
      <p:sp>
        <p:nvSpPr>
          <p:cNvPr id="54301" name="FlagCount" hidden="1">
            <a:hlinkClick r:id="rId3" action="ppaction://hlinkfile"/>
            <a:extLst>
              <a:ext uri="{FF2B5EF4-FFF2-40B4-BE49-F238E27FC236}">
                <a16:creationId xmlns:a16="http://schemas.microsoft.com/office/drawing/2014/main" id="{31E7E85A-45A8-7B3D-70DF-4003FA56ACC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strips(downRight)">
                                      <p:cBhvr>
                                        <p:cTn id="7" dur="500"/>
                                        <p:tgtEl>
                                          <p:spTgt spid="542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4282"/>
                                        </p:tgtEl>
                                        <p:attrNameLst>
                                          <p:attrName>style.visibility</p:attrName>
                                        </p:attrNameLst>
                                      </p:cBhvr>
                                      <p:to>
                                        <p:strVal val="visible"/>
                                      </p:to>
                                    </p:set>
                                    <p:animEffect transition="in" filter="strips(downRight)">
                                      <p:cBhvr>
                                        <p:cTn id="12" dur="500"/>
                                        <p:tgtEl>
                                          <p:spTgt spid="542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54285"/>
                                        </p:tgtEl>
                                        <p:attrNameLst>
                                          <p:attrName>style.visibility</p:attrName>
                                        </p:attrNameLst>
                                      </p:cBhvr>
                                      <p:to>
                                        <p:strVal val="visible"/>
                                      </p:to>
                                    </p:set>
                                    <p:animEffect transition="in" filter="strips(downLeft)">
                                      <p:cBhvr>
                                        <p:cTn id="17" dur="500"/>
                                        <p:tgtEl>
                                          <p:spTgt spid="542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54288"/>
                                        </p:tgtEl>
                                        <p:attrNameLst>
                                          <p:attrName>style.visibility</p:attrName>
                                        </p:attrNameLst>
                                      </p:cBhvr>
                                      <p:to>
                                        <p:strVal val="visible"/>
                                      </p:to>
                                    </p:set>
                                    <p:animEffect transition="in" filter="wipe(right)">
                                      <p:cBhvr>
                                        <p:cTn id="22" dur="500"/>
                                        <p:tgtEl>
                                          <p:spTgt spid="542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4275">
                                            <p:txEl>
                                              <p:pRg st="0" end="0"/>
                                            </p:txEl>
                                          </p:spTgt>
                                        </p:tgtEl>
                                        <p:attrNameLst>
                                          <p:attrName>style.visibility</p:attrName>
                                        </p:attrNameLst>
                                      </p:cBhvr>
                                      <p:to>
                                        <p:strVal val="visible"/>
                                      </p:to>
                                    </p:set>
                                    <p:animEffect transition="in" filter="wipe(left)">
                                      <p:cBhvr>
                                        <p:cTn id="27" dur="500"/>
                                        <p:tgtEl>
                                          <p:spTgt spid="5427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4300">
                                            <p:txEl>
                                              <p:pRg st="0" end="0"/>
                                            </p:txEl>
                                          </p:spTgt>
                                        </p:tgtEl>
                                        <p:attrNameLst>
                                          <p:attrName>style.visibility</p:attrName>
                                        </p:attrNameLst>
                                      </p:cBhvr>
                                      <p:to>
                                        <p:strVal val="visible"/>
                                      </p:to>
                                    </p:set>
                                    <p:animEffect transition="in" filter="wipe(left)">
                                      <p:cBhvr>
                                        <p:cTn id="32" dur="500"/>
                                        <p:tgtEl>
                                          <p:spTgt spid="54300">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4300">
                                            <p:txEl>
                                              <p:pRg st="1" end="1"/>
                                            </p:txEl>
                                          </p:spTgt>
                                        </p:tgtEl>
                                        <p:attrNameLst>
                                          <p:attrName>style.visibility</p:attrName>
                                        </p:attrNameLst>
                                      </p:cBhvr>
                                      <p:to>
                                        <p:strVal val="visible"/>
                                      </p:to>
                                    </p:set>
                                    <p:animEffect transition="in" filter="wipe(left)">
                                      <p:cBhvr>
                                        <p:cTn id="37" dur="500"/>
                                        <p:tgtEl>
                                          <p:spTgt spid="54300">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4292"/>
                                        </p:tgtEl>
                                        <p:attrNameLst>
                                          <p:attrName>style.visibility</p:attrName>
                                        </p:attrNameLst>
                                      </p:cBhvr>
                                      <p:to>
                                        <p:strVal val="visible"/>
                                      </p:to>
                                    </p:set>
                                    <p:animEffect transition="in" filter="wipe(left)">
                                      <p:cBhvr>
                                        <p:cTn id="42" dur="500"/>
                                        <p:tgtEl>
                                          <p:spTgt spid="542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4297"/>
                                        </p:tgtEl>
                                        <p:attrNameLst>
                                          <p:attrName>style.visibility</p:attrName>
                                        </p:attrNameLst>
                                      </p:cBhvr>
                                      <p:to>
                                        <p:strVal val="visible"/>
                                      </p:to>
                                    </p:set>
                                    <p:animEffect transition="in" filter="wipe(left)">
                                      <p:cBhvr>
                                        <p:cTn id="47" dur="500"/>
                                        <p:tgtEl>
                                          <p:spTgt spid="54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bldLvl="5" autoUpdateAnimBg="0"/>
      <p:bldP spid="54300"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B10695F-8BFE-E466-BE84-43B55674A909}"/>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1D7930E5-2007-0B8E-958E-FD6DFBEC4E5C}"/>
              </a:ext>
            </a:extLst>
          </p:cNvPr>
          <p:cNvSpPr>
            <a:spLocks noGrp="1"/>
          </p:cNvSpPr>
          <p:nvPr>
            <p:ph type="sldNum" sz="quarter" idx="11"/>
          </p:nvPr>
        </p:nvSpPr>
        <p:spPr/>
        <p:txBody>
          <a:bodyPr/>
          <a:lstStyle/>
          <a:p>
            <a:pPr defTabSz="461040" fontAlgn="base">
              <a:spcBef>
                <a:spcPct val="0"/>
              </a:spcBef>
              <a:spcAft>
                <a:spcPct val="0"/>
              </a:spcAft>
            </a:pPr>
            <a:fld id="{993A4311-6D42-7049-A0C0-EB47210716DB}" type="slidenum">
              <a:rPr lang="zh-CN" altLang="zh-CN">
                <a:latin typeface="Arial" panose="020B0604020202020204" pitchFamily="34" charset="0"/>
              </a:rPr>
              <a:pPr defTabSz="461040" fontAlgn="base">
                <a:spcBef>
                  <a:spcPct val="0"/>
                </a:spcBef>
                <a:spcAft>
                  <a:spcPct val="0"/>
                </a:spcAft>
              </a:pPr>
              <a:t>30</a:t>
            </a:fld>
            <a:endParaRPr lang="en-US" altLang="zh-CN">
              <a:latin typeface="Arial" panose="020B0604020202020204" pitchFamily="34" charset="0"/>
            </a:endParaRPr>
          </a:p>
        </p:txBody>
      </p:sp>
      <p:sp>
        <p:nvSpPr>
          <p:cNvPr id="56322" name="Rectangle 2">
            <a:extLst>
              <a:ext uri="{FF2B5EF4-FFF2-40B4-BE49-F238E27FC236}">
                <a16:creationId xmlns:a16="http://schemas.microsoft.com/office/drawing/2014/main" id="{B328A889-8AC2-1F8B-9180-3AB8249C35B3}"/>
              </a:ext>
            </a:extLst>
          </p:cNvPr>
          <p:cNvSpPr>
            <a:spLocks noGrp="1" noChangeArrowheads="1"/>
          </p:cNvSpPr>
          <p:nvPr>
            <p:ph type="title" idx="4294967295"/>
          </p:nvPr>
        </p:nvSpPr>
        <p:spPr/>
        <p:txBody>
          <a:bodyPr/>
          <a:lstStyle/>
          <a:p>
            <a:r>
              <a:rPr lang="en-US" altLang="zh-CN" sz="1815">
                <a:ea typeface="宋体" panose="02010600030101010101" pitchFamily="2" charset="-122"/>
              </a:rPr>
              <a:t>1.  </a:t>
            </a:r>
            <a:r>
              <a:rPr lang="zh-CN" altLang="en-US" sz="1815">
                <a:ea typeface="宋体" panose="02010600030101010101" pitchFamily="2" charset="-122"/>
              </a:rPr>
              <a:t>最低工资法</a:t>
            </a:r>
          </a:p>
        </p:txBody>
      </p:sp>
      <p:sp>
        <p:nvSpPr>
          <p:cNvPr id="56323" name="Rectangle 3">
            <a:extLst>
              <a:ext uri="{FF2B5EF4-FFF2-40B4-BE49-F238E27FC236}">
                <a16:creationId xmlns:a16="http://schemas.microsoft.com/office/drawing/2014/main" id="{987C7CBD-D7CA-2B18-D39E-981185FCB998}"/>
              </a:ext>
            </a:extLst>
          </p:cNvPr>
          <p:cNvSpPr>
            <a:spLocks noGrp="1" noChangeArrowheads="1"/>
          </p:cNvSpPr>
          <p:nvPr>
            <p:ph type="body" idx="4294967295"/>
          </p:nvPr>
        </p:nvSpPr>
        <p:spPr/>
        <p:txBody>
          <a:bodyPr/>
          <a:lstStyle/>
          <a:p>
            <a:r>
              <a:rPr lang="zh-CN" altLang="zh-CN">
                <a:ea typeface="宋体" panose="02010600030101010101" pitchFamily="2" charset="-122"/>
              </a:rPr>
              <a:t>对低技能或缺乏经验的工人而言，最低工资超过均衡工资，这会导致结构性失业</a:t>
            </a:r>
          </a:p>
          <a:p>
            <a:endParaRPr lang="zh-CN" altLang="zh-CN">
              <a:ea typeface="宋体" panose="02010600030101010101" pitchFamily="2" charset="-122"/>
            </a:endParaRPr>
          </a:p>
          <a:p>
            <a:r>
              <a:rPr lang="zh-CN" altLang="zh-CN">
                <a:ea typeface="宋体" panose="02010600030101010101" pitchFamily="2" charset="-122"/>
              </a:rPr>
              <a:t>但这部分工人只是劳动力的一小部分，因此最低工资不能解释大部分的失业</a:t>
            </a:r>
          </a:p>
          <a:p>
            <a:endParaRPr lang="zh-CN" altLang="zh-CN">
              <a:ea typeface="宋体" panose="02010600030101010101" pitchFamily="2" charset="-122"/>
            </a:endParaRPr>
          </a:p>
        </p:txBody>
      </p:sp>
      <p:sp>
        <p:nvSpPr>
          <p:cNvPr id="56324" name="FlagCount" hidden="1">
            <a:hlinkClick r:id="rId3" action="ppaction://hlinkfile"/>
            <a:extLst>
              <a:ext uri="{FF2B5EF4-FFF2-40B4-BE49-F238E27FC236}">
                <a16:creationId xmlns:a16="http://schemas.microsoft.com/office/drawing/2014/main" id="{67F7EA0D-3F2F-C135-3A6D-089C95BD08B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F941BF66-DF7A-40D5-2EA7-031DC009A69A}"/>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13E8D4AA-647C-4890-41B2-DF490DDE77BF}"/>
              </a:ext>
            </a:extLst>
          </p:cNvPr>
          <p:cNvSpPr>
            <a:spLocks noGrp="1"/>
          </p:cNvSpPr>
          <p:nvPr>
            <p:ph type="sldNum" sz="quarter" idx="11"/>
          </p:nvPr>
        </p:nvSpPr>
        <p:spPr/>
        <p:txBody>
          <a:bodyPr/>
          <a:lstStyle/>
          <a:p>
            <a:pPr defTabSz="461040" fontAlgn="base">
              <a:spcBef>
                <a:spcPct val="0"/>
              </a:spcBef>
              <a:spcAft>
                <a:spcPct val="0"/>
              </a:spcAft>
            </a:pPr>
            <a:fld id="{A7A03E6E-95AB-BB4C-9218-6204282A13DC}" type="slidenum">
              <a:rPr lang="zh-CN" altLang="zh-CN">
                <a:latin typeface="Arial" panose="020B0604020202020204" pitchFamily="34" charset="0"/>
              </a:rPr>
              <a:pPr defTabSz="461040" fontAlgn="base">
                <a:spcBef>
                  <a:spcPct val="0"/>
                </a:spcBef>
                <a:spcAft>
                  <a:spcPct val="0"/>
                </a:spcAft>
              </a:pPr>
              <a:t>31</a:t>
            </a:fld>
            <a:endParaRPr lang="en-US" altLang="zh-CN">
              <a:latin typeface="Arial" panose="020B0604020202020204" pitchFamily="34" charset="0"/>
            </a:endParaRPr>
          </a:p>
        </p:txBody>
      </p:sp>
      <p:sp>
        <p:nvSpPr>
          <p:cNvPr id="58370" name="Rectangle 2">
            <a:extLst>
              <a:ext uri="{FF2B5EF4-FFF2-40B4-BE49-F238E27FC236}">
                <a16:creationId xmlns:a16="http://schemas.microsoft.com/office/drawing/2014/main" id="{858E29A8-943A-7CF0-24B7-2B328732D4B1}"/>
              </a:ext>
            </a:extLst>
          </p:cNvPr>
          <p:cNvSpPr>
            <a:spLocks noGrp="1" noChangeArrowheads="1"/>
          </p:cNvSpPr>
          <p:nvPr>
            <p:ph type="title" idx="4294967295"/>
          </p:nvPr>
        </p:nvSpPr>
        <p:spPr/>
        <p:txBody>
          <a:bodyPr/>
          <a:lstStyle/>
          <a:p>
            <a:r>
              <a:rPr lang="en-US" altLang="zh-CN" sz="1815">
                <a:ea typeface="宋体" panose="02010600030101010101" pitchFamily="2" charset="-122"/>
              </a:rPr>
              <a:t>2.  </a:t>
            </a:r>
            <a:r>
              <a:rPr lang="zh-CN" altLang="en-US" sz="1815">
                <a:ea typeface="宋体" panose="02010600030101010101" pitchFamily="2" charset="-122"/>
              </a:rPr>
              <a:t>工会</a:t>
            </a:r>
          </a:p>
        </p:txBody>
      </p:sp>
      <p:sp>
        <p:nvSpPr>
          <p:cNvPr id="58371" name="Rectangle 3">
            <a:extLst>
              <a:ext uri="{FF2B5EF4-FFF2-40B4-BE49-F238E27FC236}">
                <a16:creationId xmlns:a16="http://schemas.microsoft.com/office/drawing/2014/main" id="{A7CB5E30-3826-0FDA-1311-F1C19181446C}"/>
              </a:ext>
            </a:extLst>
          </p:cNvPr>
          <p:cNvSpPr>
            <a:spLocks noGrp="1" noChangeArrowheads="1"/>
          </p:cNvSpPr>
          <p:nvPr>
            <p:ph type="body" idx="4294967295"/>
          </p:nvPr>
        </p:nvSpPr>
        <p:spPr/>
        <p:txBody>
          <a:bodyPr/>
          <a:lstStyle/>
          <a:p>
            <a:r>
              <a:rPr lang="zh-CN" altLang="zh-CN" b="1">
                <a:solidFill>
                  <a:srgbClr val="CC0000"/>
                </a:solidFill>
                <a:ea typeface="宋体" panose="02010600030101010101" pitchFamily="2" charset="-122"/>
              </a:rPr>
              <a:t>工会：</a:t>
            </a:r>
            <a:r>
              <a:rPr lang="zh-CN" altLang="zh-CN">
                <a:ea typeface="宋体" panose="02010600030101010101" pitchFamily="2" charset="-122"/>
              </a:rPr>
              <a:t>与雇主就工资、津贴和工作条件进行谈判的工人协会  </a:t>
            </a:r>
          </a:p>
          <a:p>
            <a:endParaRPr lang="zh-CN" altLang="zh-CN">
              <a:ea typeface="宋体" panose="02010600030101010101" pitchFamily="2" charset="-122"/>
            </a:endParaRPr>
          </a:p>
          <a:p>
            <a:r>
              <a:rPr lang="zh-CN" altLang="zh-CN">
                <a:ea typeface="宋体" panose="02010600030101010101" pitchFamily="2" charset="-122"/>
              </a:rPr>
              <a:t>工会用它们的市场势力来为工人争取更高的工资</a:t>
            </a:r>
          </a:p>
          <a:p>
            <a:r>
              <a:rPr lang="zh-CN" altLang="zh-CN">
                <a:ea typeface="宋体" panose="02010600030101010101" pitchFamily="2" charset="-122"/>
              </a:rPr>
              <a:t>  </a:t>
            </a:r>
          </a:p>
          <a:p>
            <a:r>
              <a:rPr lang="zh-CN" altLang="zh-CN">
                <a:ea typeface="宋体" panose="02010600030101010101" pitchFamily="2" charset="-122"/>
              </a:rPr>
              <a:t>参加工会的工人的工资比不属于工会的类似工人的工资要高20%，并且参加工会的工人还能得到更多的其他好处 </a:t>
            </a:r>
          </a:p>
        </p:txBody>
      </p:sp>
      <p:sp>
        <p:nvSpPr>
          <p:cNvPr id="58372" name="FlagCount" hidden="1">
            <a:hlinkClick r:id="rId3" action="ppaction://hlinkfile"/>
            <a:extLst>
              <a:ext uri="{FF2B5EF4-FFF2-40B4-BE49-F238E27FC236}">
                <a16:creationId xmlns:a16="http://schemas.microsoft.com/office/drawing/2014/main" id="{5D3D3747-618B-C7D7-3F6B-441D88E52B4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0EB721AF-621A-9F58-4CB2-F8D2DAB92B5C}"/>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6DA6F72E-BBD9-EDE3-F47C-B1A7374F2B94}"/>
              </a:ext>
            </a:extLst>
          </p:cNvPr>
          <p:cNvSpPr>
            <a:spLocks noGrp="1"/>
          </p:cNvSpPr>
          <p:nvPr>
            <p:ph type="sldNum" sz="quarter" idx="11"/>
          </p:nvPr>
        </p:nvSpPr>
        <p:spPr/>
        <p:txBody>
          <a:bodyPr/>
          <a:lstStyle/>
          <a:p>
            <a:pPr defTabSz="461040" fontAlgn="base">
              <a:spcBef>
                <a:spcPct val="0"/>
              </a:spcBef>
              <a:spcAft>
                <a:spcPct val="0"/>
              </a:spcAft>
            </a:pPr>
            <a:fld id="{4CBF4CA7-9EF8-FE48-A17F-F0378BDDE9DE}" type="slidenum">
              <a:rPr lang="zh-CN" altLang="zh-CN">
                <a:latin typeface="Arial" panose="020B0604020202020204" pitchFamily="34" charset="0"/>
              </a:rPr>
              <a:pPr defTabSz="461040" fontAlgn="base">
                <a:spcBef>
                  <a:spcPct val="0"/>
                </a:spcBef>
                <a:spcAft>
                  <a:spcPct val="0"/>
                </a:spcAft>
              </a:pPr>
              <a:t>32</a:t>
            </a:fld>
            <a:endParaRPr lang="en-US" altLang="zh-CN">
              <a:latin typeface="Arial" panose="020B0604020202020204" pitchFamily="34" charset="0"/>
            </a:endParaRPr>
          </a:p>
        </p:txBody>
      </p:sp>
      <p:sp>
        <p:nvSpPr>
          <p:cNvPr id="60418" name="Rectangle 2">
            <a:extLst>
              <a:ext uri="{FF2B5EF4-FFF2-40B4-BE49-F238E27FC236}">
                <a16:creationId xmlns:a16="http://schemas.microsoft.com/office/drawing/2014/main" id="{08095629-9D71-4543-5CD0-0573642A7811}"/>
              </a:ext>
            </a:extLst>
          </p:cNvPr>
          <p:cNvSpPr>
            <a:spLocks noGrp="1" noChangeArrowheads="1"/>
          </p:cNvSpPr>
          <p:nvPr>
            <p:ph type="title" idx="4294967295"/>
          </p:nvPr>
        </p:nvSpPr>
        <p:spPr/>
        <p:txBody>
          <a:bodyPr/>
          <a:lstStyle/>
          <a:p>
            <a:r>
              <a:rPr lang="en-US" altLang="zh-CN" sz="1815">
                <a:ea typeface="宋体" panose="02010600030101010101" pitchFamily="2" charset="-122"/>
              </a:rPr>
              <a:t>2.  </a:t>
            </a:r>
            <a:r>
              <a:rPr lang="zh-CN" altLang="en-US" sz="1815">
                <a:ea typeface="宋体" panose="02010600030101010101" pitchFamily="2" charset="-122"/>
              </a:rPr>
              <a:t>工会</a:t>
            </a:r>
          </a:p>
        </p:txBody>
      </p:sp>
      <p:sp>
        <p:nvSpPr>
          <p:cNvPr id="60419" name="Rectangle 3">
            <a:extLst>
              <a:ext uri="{FF2B5EF4-FFF2-40B4-BE49-F238E27FC236}">
                <a16:creationId xmlns:a16="http://schemas.microsoft.com/office/drawing/2014/main" id="{C06C345E-B4CA-76A2-54C0-2FE4811C08A2}"/>
              </a:ext>
            </a:extLst>
          </p:cNvPr>
          <p:cNvSpPr>
            <a:spLocks noGrp="1" noChangeArrowheads="1"/>
          </p:cNvSpPr>
          <p:nvPr>
            <p:ph type="body" idx="4294967295"/>
          </p:nvPr>
        </p:nvSpPr>
        <p:spPr>
          <a:xfrm>
            <a:off x="230505" y="506618"/>
            <a:ext cx="4149090" cy="2631599"/>
          </a:xfrm>
        </p:spPr>
        <p:txBody>
          <a:bodyPr/>
          <a:lstStyle/>
          <a:p>
            <a:r>
              <a:rPr lang="zh-CN" altLang="zh-CN" dirty="0">
                <a:ea typeface="宋体" panose="02010600030101010101" pitchFamily="2" charset="-122"/>
              </a:rPr>
              <a:t>当工会把工资提高到均衡水平以上时，劳动需求量减少，引起失业</a:t>
            </a:r>
          </a:p>
          <a:p>
            <a:r>
              <a:rPr lang="zh-CN" altLang="zh-CN" dirty="0">
                <a:ea typeface="宋体" panose="02010600030101010101" pitchFamily="2" charset="-122"/>
              </a:rPr>
              <a:t> “局内人”--仍然就业的工人，他们的状况变好了</a:t>
            </a:r>
          </a:p>
          <a:p>
            <a:r>
              <a:rPr lang="zh-CN" altLang="zh-CN" dirty="0">
                <a:ea typeface="宋体" panose="02010600030101010101" pitchFamily="2" charset="-122"/>
              </a:rPr>
              <a:t>“局外人” –以前有工作而现在失业的工人，他们的状况变坏了</a:t>
            </a:r>
          </a:p>
          <a:p>
            <a:r>
              <a:rPr lang="zh-CN" altLang="zh-CN" dirty="0">
                <a:ea typeface="宋体" panose="02010600030101010101" pitchFamily="2" charset="-122"/>
              </a:rPr>
              <a:t>一些局外人会去没有工会的劳动市场，增加那些市场的劳动供给，并减少均衡工资</a:t>
            </a:r>
          </a:p>
        </p:txBody>
      </p:sp>
      <p:sp>
        <p:nvSpPr>
          <p:cNvPr id="60420" name="FlagCount" hidden="1">
            <a:hlinkClick r:id="rId3" action="ppaction://hlinkfile"/>
            <a:extLst>
              <a:ext uri="{FF2B5EF4-FFF2-40B4-BE49-F238E27FC236}">
                <a16:creationId xmlns:a16="http://schemas.microsoft.com/office/drawing/2014/main" id="{C5829267-24D6-B355-D16E-71B0896091DB}"/>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472594-4D58-6339-9607-FD55B52EFE91}"/>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96BC6AAD-49D0-0CE1-3055-31FC3B1A02BB}"/>
              </a:ext>
            </a:extLst>
          </p:cNvPr>
          <p:cNvSpPr>
            <a:spLocks noGrp="1"/>
          </p:cNvSpPr>
          <p:nvPr>
            <p:ph type="sldNum" sz="quarter" idx="11"/>
          </p:nvPr>
        </p:nvSpPr>
        <p:spPr/>
        <p:txBody>
          <a:bodyPr/>
          <a:lstStyle/>
          <a:p>
            <a:pPr defTabSz="461040" fontAlgn="base">
              <a:spcBef>
                <a:spcPct val="0"/>
              </a:spcBef>
              <a:spcAft>
                <a:spcPct val="0"/>
              </a:spcAft>
            </a:pPr>
            <a:fld id="{9136FE08-389A-5C44-AFF8-0DA5AA9D8148}" type="slidenum">
              <a:rPr lang="zh-CN" altLang="zh-CN">
                <a:latin typeface="Arial" panose="020B0604020202020204" pitchFamily="34" charset="0"/>
              </a:rPr>
              <a:pPr defTabSz="461040" fontAlgn="base">
                <a:spcBef>
                  <a:spcPct val="0"/>
                </a:spcBef>
                <a:spcAft>
                  <a:spcPct val="0"/>
                </a:spcAft>
              </a:pPr>
              <a:t>33</a:t>
            </a:fld>
            <a:endParaRPr lang="en-US" altLang="zh-CN">
              <a:latin typeface="Arial" panose="020B0604020202020204" pitchFamily="34" charset="0"/>
            </a:endParaRPr>
          </a:p>
        </p:txBody>
      </p:sp>
      <p:sp>
        <p:nvSpPr>
          <p:cNvPr id="62466" name="Rectangle 2">
            <a:extLst>
              <a:ext uri="{FF2B5EF4-FFF2-40B4-BE49-F238E27FC236}">
                <a16:creationId xmlns:a16="http://schemas.microsoft.com/office/drawing/2014/main" id="{A0443857-AFED-E1D1-C05B-32FB6E964555}"/>
              </a:ext>
            </a:extLst>
          </p:cNvPr>
          <p:cNvSpPr>
            <a:spLocks noGrp="1" noChangeArrowheads="1"/>
          </p:cNvSpPr>
          <p:nvPr>
            <p:ph type="title" idx="4294967295"/>
          </p:nvPr>
        </p:nvSpPr>
        <p:spPr/>
        <p:txBody>
          <a:bodyPr/>
          <a:lstStyle/>
          <a:p>
            <a:r>
              <a:rPr lang="en-US" altLang="zh-CN" sz="1815">
                <a:ea typeface="宋体" panose="02010600030101010101" pitchFamily="2" charset="-122"/>
              </a:rPr>
              <a:t>2.  </a:t>
            </a:r>
            <a:r>
              <a:rPr lang="zh-CN" altLang="en-US" sz="1815">
                <a:ea typeface="宋体" panose="02010600030101010101" pitchFamily="2" charset="-122"/>
              </a:rPr>
              <a:t>工会</a:t>
            </a:r>
          </a:p>
        </p:txBody>
      </p:sp>
      <p:sp>
        <p:nvSpPr>
          <p:cNvPr id="62467" name="Rectangle 3">
            <a:extLst>
              <a:ext uri="{FF2B5EF4-FFF2-40B4-BE49-F238E27FC236}">
                <a16:creationId xmlns:a16="http://schemas.microsoft.com/office/drawing/2014/main" id="{63D082B2-1448-AE0A-5435-818B9EA1B035}"/>
              </a:ext>
            </a:extLst>
          </p:cNvPr>
          <p:cNvSpPr>
            <a:spLocks noGrp="1" noChangeArrowheads="1"/>
          </p:cNvSpPr>
          <p:nvPr>
            <p:ph type="body" idx="4294967295"/>
          </p:nvPr>
        </p:nvSpPr>
        <p:spPr/>
        <p:txBody>
          <a:bodyPr/>
          <a:lstStyle/>
          <a:p>
            <a:pPr>
              <a:lnSpc>
                <a:spcPct val="95000"/>
              </a:lnSpc>
              <a:buFont typeface="Wingdings" pitchFamily="2" charset="2"/>
              <a:buNone/>
            </a:pPr>
            <a:r>
              <a:rPr lang="zh-CN" altLang="zh-CN" sz="1613" dirty="0">
                <a:ea typeface="宋体" panose="02010600030101010101" pitchFamily="2" charset="-122"/>
              </a:rPr>
              <a:t>   </a:t>
            </a:r>
            <a:r>
              <a:rPr lang="zh-CN" altLang="zh-CN" dirty="0">
                <a:ea typeface="宋体" panose="02010600030101010101" pitchFamily="2" charset="-122"/>
              </a:rPr>
              <a:t>工会对经济是好还是坏？经济学家对此的看法并不一致</a:t>
            </a:r>
          </a:p>
          <a:p>
            <a:pPr>
              <a:lnSpc>
                <a:spcPct val="95000"/>
              </a:lnSpc>
            </a:pPr>
            <a:r>
              <a:rPr lang="zh-CN" altLang="zh-CN" dirty="0">
                <a:ea typeface="宋体" panose="02010600030101010101" pitchFamily="2" charset="-122"/>
              </a:rPr>
              <a:t>批评者：  </a:t>
            </a:r>
            <a:br>
              <a:rPr lang="zh-CN" altLang="zh-CN" dirty="0">
                <a:ea typeface="宋体" panose="02010600030101010101" pitchFamily="2" charset="-122"/>
              </a:rPr>
            </a:br>
            <a:r>
              <a:rPr lang="zh-CN" altLang="zh-CN" dirty="0">
                <a:ea typeface="宋体" panose="02010600030101010101" pitchFamily="2" charset="-122"/>
              </a:rPr>
              <a:t>工会是一种卡特尔，它们把工资提高到均衡水平以上，引起失业并降低了其他没有工会的劳动市场的工资 </a:t>
            </a:r>
          </a:p>
          <a:p>
            <a:pPr>
              <a:lnSpc>
                <a:spcPct val="95000"/>
              </a:lnSpc>
            </a:pPr>
            <a:r>
              <a:rPr lang="zh-CN" altLang="zh-CN" dirty="0">
                <a:ea typeface="宋体" panose="02010600030101010101" pitchFamily="2" charset="-122"/>
              </a:rPr>
              <a:t>支持者：  </a:t>
            </a:r>
            <a:br>
              <a:rPr lang="zh-CN" altLang="zh-CN" dirty="0">
                <a:ea typeface="宋体" panose="02010600030101010101" pitchFamily="2" charset="-122"/>
              </a:rPr>
            </a:br>
            <a:r>
              <a:rPr lang="zh-CN" altLang="zh-CN" dirty="0">
                <a:ea typeface="宋体" panose="02010600030101010101" pitchFamily="2" charset="-122"/>
              </a:rPr>
              <a:t>工会与大企业的市场势力相抗衡，并使企业对工人的要求更积极地做出回应</a:t>
            </a:r>
          </a:p>
        </p:txBody>
      </p:sp>
      <p:sp>
        <p:nvSpPr>
          <p:cNvPr id="62468" name="FlagCount" hidden="1">
            <a:hlinkClick r:id="rId2" action="ppaction://hlinkfile"/>
            <a:extLst>
              <a:ext uri="{FF2B5EF4-FFF2-40B4-BE49-F238E27FC236}">
                <a16:creationId xmlns:a16="http://schemas.microsoft.com/office/drawing/2014/main" id="{1962BA8C-F269-F3B8-2086-3485B5801EB0}"/>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4FD9C324-7AE3-0435-0F4E-D0D1331538EA}"/>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93F2907C-AB69-FFF8-4EAD-CF16776A3B0A}"/>
              </a:ext>
            </a:extLst>
          </p:cNvPr>
          <p:cNvSpPr>
            <a:spLocks noGrp="1"/>
          </p:cNvSpPr>
          <p:nvPr>
            <p:ph type="sldNum" sz="quarter" idx="11"/>
          </p:nvPr>
        </p:nvSpPr>
        <p:spPr/>
        <p:txBody>
          <a:bodyPr/>
          <a:lstStyle/>
          <a:p>
            <a:pPr defTabSz="461040" fontAlgn="base">
              <a:spcBef>
                <a:spcPct val="0"/>
              </a:spcBef>
              <a:spcAft>
                <a:spcPct val="0"/>
              </a:spcAft>
            </a:pPr>
            <a:fld id="{A7A94E1F-D01B-D349-A585-E407DB06E1A8}" type="slidenum">
              <a:rPr lang="zh-CN" altLang="zh-CN">
                <a:latin typeface="Arial" panose="020B0604020202020204" pitchFamily="34" charset="0"/>
              </a:rPr>
              <a:pPr defTabSz="461040" fontAlgn="base">
                <a:spcBef>
                  <a:spcPct val="0"/>
                </a:spcBef>
                <a:spcAft>
                  <a:spcPct val="0"/>
                </a:spcAft>
              </a:pPr>
              <a:t>34</a:t>
            </a:fld>
            <a:endParaRPr lang="en-US" altLang="zh-CN">
              <a:latin typeface="Arial" panose="020B0604020202020204" pitchFamily="34" charset="0"/>
            </a:endParaRPr>
          </a:p>
        </p:txBody>
      </p:sp>
      <p:sp>
        <p:nvSpPr>
          <p:cNvPr id="63490" name="Rectangle 2">
            <a:extLst>
              <a:ext uri="{FF2B5EF4-FFF2-40B4-BE49-F238E27FC236}">
                <a16:creationId xmlns:a16="http://schemas.microsoft.com/office/drawing/2014/main" id="{3B9E0D3E-49B6-A54D-058E-F5D025D0C466}"/>
              </a:ext>
            </a:extLst>
          </p:cNvPr>
          <p:cNvSpPr>
            <a:spLocks noGrp="1" noChangeArrowheads="1"/>
          </p:cNvSpPr>
          <p:nvPr>
            <p:ph type="title" idx="4294967295"/>
          </p:nvPr>
        </p:nvSpPr>
        <p:spPr/>
        <p:txBody>
          <a:bodyPr/>
          <a:lstStyle/>
          <a:p>
            <a:r>
              <a:rPr lang="en-US" altLang="zh-CN" sz="1815">
                <a:ea typeface="宋体" panose="02010600030101010101" pitchFamily="2" charset="-122"/>
              </a:rPr>
              <a:t>3.  </a:t>
            </a:r>
            <a:r>
              <a:rPr lang="zh-CN" altLang="en-US" sz="1815">
                <a:ea typeface="宋体" panose="02010600030101010101" pitchFamily="2" charset="-122"/>
              </a:rPr>
              <a:t>效率工资</a:t>
            </a:r>
          </a:p>
        </p:txBody>
      </p:sp>
      <p:sp>
        <p:nvSpPr>
          <p:cNvPr id="63491" name="Rectangle 3">
            <a:extLst>
              <a:ext uri="{FF2B5EF4-FFF2-40B4-BE49-F238E27FC236}">
                <a16:creationId xmlns:a16="http://schemas.microsoft.com/office/drawing/2014/main" id="{AA5F9552-2EE4-4FA0-6947-A0E2DC35FA9B}"/>
              </a:ext>
            </a:extLst>
          </p:cNvPr>
          <p:cNvSpPr>
            <a:spLocks noGrp="1" noChangeArrowheads="1"/>
          </p:cNvSpPr>
          <p:nvPr>
            <p:ph type="body" idx="4294967295"/>
          </p:nvPr>
        </p:nvSpPr>
        <p:spPr>
          <a:xfrm>
            <a:off x="230505" y="506618"/>
            <a:ext cx="4149090" cy="2762859"/>
          </a:xfrm>
        </p:spPr>
        <p:txBody>
          <a:bodyPr/>
          <a:lstStyle/>
          <a:p>
            <a:r>
              <a:rPr lang="zh-CN" altLang="zh-CN" b="1">
                <a:solidFill>
                  <a:srgbClr val="CC0000"/>
                </a:solidFill>
                <a:ea typeface="宋体" panose="02010600030101010101" pitchFamily="2" charset="-122"/>
              </a:rPr>
              <a:t>效率工资</a:t>
            </a:r>
            <a:r>
              <a:rPr lang="zh-CN" altLang="zh-CN">
                <a:ea typeface="宋体" panose="02010600030101010101" pitchFamily="2" charset="-122"/>
              </a:rPr>
              <a:t>理论： </a:t>
            </a:r>
            <a:br>
              <a:rPr lang="zh-CN" altLang="zh-CN">
                <a:ea typeface="宋体" panose="02010600030101010101" pitchFamily="2" charset="-122"/>
              </a:rPr>
            </a:br>
            <a:r>
              <a:rPr lang="zh-CN" altLang="zh-CN">
                <a:ea typeface="宋体" panose="02010600030101010101" pitchFamily="2" charset="-122"/>
              </a:rPr>
              <a:t>企业为了提高工人生产率而自愿地支付高于均衡水平的工资</a:t>
            </a:r>
          </a:p>
          <a:p>
            <a:endParaRPr lang="zh-CN" altLang="zh-CN">
              <a:ea typeface="宋体" panose="02010600030101010101" pitchFamily="2" charset="-122"/>
            </a:endParaRPr>
          </a:p>
          <a:p>
            <a:r>
              <a:rPr lang="zh-CN" altLang="zh-CN">
                <a:ea typeface="宋体" panose="02010600030101010101" pitchFamily="2" charset="-122"/>
              </a:rPr>
              <a:t>不同的效率工资理论对企业为什么想支付高工资给出了不同的解释</a:t>
            </a:r>
          </a:p>
        </p:txBody>
      </p:sp>
      <p:sp>
        <p:nvSpPr>
          <p:cNvPr id="63492" name="FlagCount" hidden="1">
            <a:hlinkClick r:id="rId3" action="ppaction://hlinkfile"/>
            <a:extLst>
              <a:ext uri="{FF2B5EF4-FFF2-40B4-BE49-F238E27FC236}">
                <a16:creationId xmlns:a16="http://schemas.microsoft.com/office/drawing/2014/main" id="{2E3CA9FA-2550-9339-8DBB-7D924866D5BD}"/>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0CC3DFF-7A63-1409-7CC3-8B5EDDEFD541}"/>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0A490109-A3F9-D279-59C7-064B3A454688}"/>
              </a:ext>
            </a:extLst>
          </p:cNvPr>
          <p:cNvSpPr>
            <a:spLocks noGrp="1"/>
          </p:cNvSpPr>
          <p:nvPr>
            <p:ph type="sldNum" sz="quarter" idx="11"/>
          </p:nvPr>
        </p:nvSpPr>
        <p:spPr/>
        <p:txBody>
          <a:bodyPr/>
          <a:lstStyle/>
          <a:p>
            <a:pPr defTabSz="461040" fontAlgn="base">
              <a:spcBef>
                <a:spcPct val="0"/>
              </a:spcBef>
              <a:spcAft>
                <a:spcPct val="0"/>
              </a:spcAft>
            </a:pPr>
            <a:fld id="{01990949-6D2D-4047-876F-6D1BEE663F32}" type="slidenum">
              <a:rPr lang="zh-CN" altLang="zh-CN">
                <a:latin typeface="Arial" panose="020B0604020202020204" pitchFamily="34" charset="0"/>
              </a:rPr>
              <a:pPr defTabSz="461040" fontAlgn="base">
                <a:spcBef>
                  <a:spcPct val="0"/>
                </a:spcBef>
                <a:spcAft>
                  <a:spcPct val="0"/>
                </a:spcAft>
              </a:pPr>
              <a:t>35</a:t>
            </a:fld>
            <a:endParaRPr lang="en-US" altLang="zh-CN">
              <a:latin typeface="Arial" panose="020B0604020202020204" pitchFamily="34" charset="0"/>
            </a:endParaRPr>
          </a:p>
        </p:txBody>
      </p:sp>
      <p:sp>
        <p:nvSpPr>
          <p:cNvPr id="65538" name="Rectangle 2">
            <a:extLst>
              <a:ext uri="{FF2B5EF4-FFF2-40B4-BE49-F238E27FC236}">
                <a16:creationId xmlns:a16="http://schemas.microsoft.com/office/drawing/2014/main" id="{23A3FF01-B5EB-D03D-0BDF-AC3B6627531D}"/>
              </a:ext>
            </a:extLst>
          </p:cNvPr>
          <p:cNvSpPr>
            <a:spLocks noGrp="1" noChangeArrowheads="1"/>
          </p:cNvSpPr>
          <p:nvPr>
            <p:ph type="title" idx="4294967295"/>
          </p:nvPr>
        </p:nvSpPr>
        <p:spPr/>
        <p:txBody>
          <a:bodyPr/>
          <a:lstStyle/>
          <a:p>
            <a:r>
              <a:rPr lang="en-US" altLang="zh-CN" sz="1815">
                <a:ea typeface="宋体" panose="02010600030101010101" pitchFamily="2" charset="-122"/>
              </a:rPr>
              <a:t>3.  </a:t>
            </a:r>
            <a:r>
              <a:rPr lang="zh-CN" altLang="en-US" sz="1815">
                <a:ea typeface="宋体" panose="02010600030101010101" pitchFamily="2" charset="-122"/>
              </a:rPr>
              <a:t>效率工资</a:t>
            </a:r>
          </a:p>
        </p:txBody>
      </p:sp>
      <p:sp>
        <p:nvSpPr>
          <p:cNvPr id="65539" name="Rectangle 3">
            <a:extLst>
              <a:ext uri="{FF2B5EF4-FFF2-40B4-BE49-F238E27FC236}">
                <a16:creationId xmlns:a16="http://schemas.microsoft.com/office/drawing/2014/main" id="{EE9DAF20-AF57-3D3F-091B-947B31DBBBD9}"/>
              </a:ext>
            </a:extLst>
          </p:cNvPr>
          <p:cNvSpPr>
            <a:spLocks noGrp="1" noChangeArrowheads="1"/>
          </p:cNvSpPr>
          <p:nvPr>
            <p:ph type="body" idx="4294967295"/>
          </p:nvPr>
        </p:nvSpPr>
        <p:spPr>
          <a:xfrm>
            <a:off x="202492" y="757132"/>
            <a:ext cx="4149090" cy="2355473"/>
          </a:xfrm>
        </p:spPr>
        <p:txBody>
          <a:bodyPr/>
          <a:lstStyle/>
          <a:p>
            <a:pPr marL="268940" indent="-268940">
              <a:buFont typeface="Wingdings" pitchFamily="2" charset="2"/>
              <a:buAutoNum type="arabicPeriod"/>
            </a:pPr>
            <a:r>
              <a:rPr lang="zh-CN" altLang="zh-CN" b="1">
                <a:solidFill>
                  <a:srgbClr val="339966"/>
                </a:solidFill>
                <a:ea typeface="宋体" panose="02010600030101010101" pitchFamily="2" charset="-122"/>
              </a:rPr>
              <a:t>工人健康</a:t>
            </a:r>
            <a:br>
              <a:rPr lang="zh-CN" altLang="zh-CN" b="1">
                <a:solidFill>
                  <a:srgbClr val="996633"/>
                </a:solidFill>
                <a:ea typeface="宋体" panose="02010600030101010101" pitchFamily="2" charset="-122"/>
              </a:rPr>
            </a:br>
            <a:r>
              <a:rPr lang="zh-CN" altLang="zh-CN">
                <a:ea typeface="宋体" panose="02010600030101010101" pitchFamily="2" charset="-122"/>
              </a:rPr>
              <a:t>在一些欠发达国家，营养不良是一个很普遍的问题 。支付更高的工资可以使工人吃好，更健康，更有生产率</a:t>
            </a:r>
          </a:p>
          <a:p>
            <a:pPr marL="268940" indent="-268940">
              <a:buFont typeface="Wingdings" pitchFamily="2" charset="2"/>
              <a:buAutoNum type="arabicPeriod"/>
            </a:pPr>
            <a:r>
              <a:rPr lang="zh-CN" altLang="zh-CN" b="1">
                <a:solidFill>
                  <a:srgbClr val="339966"/>
                </a:solidFill>
                <a:ea typeface="宋体" panose="02010600030101010101" pitchFamily="2" charset="-122"/>
              </a:rPr>
              <a:t>工人流动率</a:t>
            </a:r>
            <a:br>
              <a:rPr lang="zh-CN" altLang="zh-CN">
                <a:ea typeface="宋体" panose="02010600030101010101" pitchFamily="2" charset="-122"/>
              </a:rPr>
            </a:br>
            <a:r>
              <a:rPr lang="zh-CN" altLang="zh-CN">
                <a:ea typeface="宋体" panose="02010600030101010101" pitchFamily="2" charset="-122"/>
              </a:rPr>
              <a:t>企业雇佣并培训新工人是有成本的。支付高工资可以鼓励工人留在原企业，减少流动率</a:t>
            </a:r>
          </a:p>
        </p:txBody>
      </p:sp>
      <p:sp>
        <p:nvSpPr>
          <p:cNvPr id="65540" name="Rectangle 4">
            <a:extLst>
              <a:ext uri="{FF2B5EF4-FFF2-40B4-BE49-F238E27FC236}">
                <a16:creationId xmlns:a16="http://schemas.microsoft.com/office/drawing/2014/main" id="{C201B717-8DDD-3BD9-1263-EB5FEFDD6BFC}"/>
              </a:ext>
            </a:extLst>
          </p:cNvPr>
          <p:cNvSpPr>
            <a:spLocks noChangeArrowheads="1"/>
          </p:cNvSpPr>
          <p:nvPr/>
        </p:nvSpPr>
        <p:spPr bwMode="auto">
          <a:xfrm>
            <a:off x="230505" y="473003"/>
            <a:ext cx="4149090" cy="31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72890" indent="-172890" defTabSz="461040" fontAlgn="base">
              <a:lnSpc>
                <a:spcPct val="105000"/>
              </a:lnSpc>
              <a:spcBef>
                <a:spcPct val="45000"/>
              </a:spcBef>
              <a:spcAft>
                <a:spcPct val="0"/>
              </a:spcAft>
              <a:buClr>
                <a:srgbClr val="00B85C"/>
              </a:buClr>
              <a:buSzPct val="120000"/>
            </a:pPr>
            <a:r>
              <a:rPr lang="zh-CN" altLang="zh-CN" sz="1361">
                <a:solidFill>
                  <a:srgbClr val="000000"/>
                </a:solidFill>
                <a:ea typeface="宋体" panose="02010600030101010101" pitchFamily="2" charset="-122"/>
              </a:rPr>
              <a:t>企业支付效率工资的四个原因：</a:t>
            </a:r>
          </a:p>
        </p:txBody>
      </p:sp>
      <p:sp>
        <p:nvSpPr>
          <p:cNvPr id="65541" name="FlagCount" hidden="1">
            <a:hlinkClick r:id="rId3" action="ppaction://hlinkfile"/>
            <a:extLst>
              <a:ext uri="{FF2B5EF4-FFF2-40B4-BE49-F238E27FC236}">
                <a16:creationId xmlns:a16="http://schemas.microsoft.com/office/drawing/2014/main" id="{076D6DA3-0EEC-A5A3-BE64-6D5EDBAB4012}"/>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D25F6AC-9463-4673-EE5F-B99AF28C20C0}"/>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A4E0F285-E524-3F9A-E5F3-664C324EFFAB}"/>
              </a:ext>
            </a:extLst>
          </p:cNvPr>
          <p:cNvSpPr>
            <a:spLocks noGrp="1"/>
          </p:cNvSpPr>
          <p:nvPr>
            <p:ph type="sldNum" sz="quarter" idx="11"/>
          </p:nvPr>
        </p:nvSpPr>
        <p:spPr/>
        <p:txBody>
          <a:bodyPr/>
          <a:lstStyle/>
          <a:p>
            <a:pPr defTabSz="461040" fontAlgn="base">
              <a:spcBef>
                <a:spcPct val="0"/>
              </a:spcBef>
              <a:spcAft>
                <a:spcPct val="0"/>
              </a:spcAft>
            </a:pPr>
            <a:fld id="{209D5225-60B7-3747-964A-D445A85FE54C}" type="slidenum">
              <a:rPr lang="zh-CN" altLang="zh-CN">
                <a:latin typeface="Arial" panose="020B0604020202020204" pitchFamily="34" charset="0"/>
              </a:rPr>
              <a:pPr defTabSz="461040" fontAlgn="base">
                <a:spcBef>
                  <a:spcPct val="0"/>
                </a:spcBef>
                <a:spcAft>
                  <a:spcPct val="0"/>
                </a:spcAft>
              </a:pPr>
              <a:t>36</a:t>
            </a:fld>
            <a:endParaRPr lang="en-US" altLang="zh-CN">
              <a:latin typeface="Arial" panose="020B0604020202020204" pitchFamily="34" charset="0"/>
            </a:endParaRPr>
          </a:p>
        </p:txBody>
      </p:sp>
      <p:sp>
        <p:nvSpPr>
          <p:cNvPr id="67586" name="Rectangle 2">
            <a:extLst>
              <a:ext uri="{FF2B5EF4-FFF2-40B4-BE49-F238E27FC236}">
                <a16:creationId xmlns:a16="http://schemas.microsoft.com/office/drawing/2014/main" id="{981CBA5D-2C49-BAA9-D7D2-268AE5AD89FE}"/>
              </a:ext>
            </a:extLst>
          </p:cNvPr>
          <p:cNvSpPr>
            <a:spLocks noGrp="1" noChangeArrowheads="1"/>
          </p:cNvSpPr>
          <p:nvPr>
            <p:ph type="title" idx="4294967295"/>
          </p:nvPr>
        </p:nvSpPr>
        <p:spPr/>
        <p:txBody>
          <a:bodyPr/>
          <a:lstStyle/>
          <a:p>
            <a:r>
              <a:rPr lang="en-US" altLang="zh-CN" sz="1815">
                <a:ea typeface="宋体" panose="02010600030101010101" pitchFamily="2" charset="-122"/>
              </a:rPr>
              <a:t>3.  </a:t>
            </a:r>
            <a:r>
              <a:rPr lang="zh-CN" altLang="en-US" sz="1815">
                <a:ea typeface="宋体" panose="02010600030101010101" pitchFamily="2" charset="-122"/>
              </a:rPr>
              <a:t>效率工资</a:t>
            </a:r>
          </a:p>
        </p:txBody>
      </p:sp>
      <p:sp>
        <p:nvSpPr>
          <p:cNvPr id="67587" name="Rectangle 3">
            <a:extLst>
              <a:ext uri="{FF2B5EF4-FFF2-40B4-BE49-F238E27FC236}">
                <a16:creationId xmlns:a16="http://schemas.microsoft.com/office/drawing/2014/main" id="{40098366-798C-3AC0-BA98-2598E28D7FEE}"/>
              </a:ext>
            </a:extLst>
          </p:cNvPr>
          <p:cNvSpPr>
            <a:spLocks noGrp="1" noChangeArrowheads="1"/>
          </p:cNvSpPr>
          <p:nvPr>
            <p:ph type="body" idx="4294967295"/>
          </p:nvPr>
        </p:nvSpPr>
        <p:spPr>
          <a:xfrm>
            <a:off x="185685" y="757132"/>
            <a:ext cx="4316366" cy="2541158"/>
          </a:xfrm>
        </p:spPr>
        <p:txBody>
          <a:bodyPr/>
          <a:lstStyle/>
          <a:p>
            <a:pPr marL="233722" indent="-233722">
              <a:buNone/>
            </a:pPr>
            <a:r>
              <a:rPr lang="zh-CN" altLang="zh-CN" b="1">
                <a:solidFill>
                  <a:srgbClr val="339966"/>
                </a:solidFill>
                <a:ea typeface="宋体" panose="02010600030101010101" pitchFamily="2" charset="-122"/>
              </a:rPr>
              <a:t>3.	工人素质</a:t>
            </a:r>
            <a:br>
              <a:rPr lang="zh-CN" altLang="zh-CN" b="1">
                <a:solidFill>
                  <a:srgbClr val="996633"/>
                </a:solidFill>
                <a:ea typeface="宋体" panose="02010600030101010101" pitchFamily="2" charset="-122"/>
              </a:rPr>
            </a:br>
            <a:r>
              <a:rPr lang="zh-CN" altLang="zh-CN">
                <a:ea typeface="宋体" panose="02010600030101010101" pitchFamily="2" charset="-122"/>
              </a:rPr>
              <a:t>支付高工资可以吸引更好的求职者，从而提高劳动者的素质</a:t>
            </a:r>
          </a:p>
          <a:p>
            <a:pPr marL="233722" indent="-233722">
              <a:spcBef>
                <a:spcPct val="50000"/>
              </a:spcBef>
              <a:buNone/>
            </a:pPr>
            <a:r>
              <a:rPr lang="zh-CN" altLang="zh-CN" b="1">
                <a:solidFill>
                  <a:srgbClr val="339966"/>
                </a:solidFill>
                <a:ea typeface="宋体" panose="02010600030101010101" pitchFamily="2" charset="-122"/>
              </a:rPr>
              <a:t>4.	工人努力程度</a:t>
            </a:r>
            <a:br>
              <a:rPr lang="zh-CN" altLang="zh-CN" b="1">
                <a:solidFill>
                  <a:srgbClr val="996633"/>
                </a:solidFill>
                <a:ea typeface="宋体" panose="02010600030101010101" pitchFamily="2" charset="-122"/>
              </a:rPr>
            </a:br>
            <a:r>
              <a:rPr lang="zh-CN" altLang="zh-CN">
                <a:ea typeface="宋体" panose="02010600030101010101" pitchFamily="2" charset="-122"/>
              </a:rPr>
              <a:t>工人可以努力工作或偷懒。偷懒者如果被抓住，会被解雇。解雇偷懒者这种威胁管用吗？</a:t>
            </a:r>
          </a:p>
          <a:p>
            <a:pPr marL="233722" indent="-233722">
              <a:spcBef>
                <a:spcPct val="20000"/>
              </a:spcBef>
              <a:buNone/>
            </a:pPr>
            <a:r>
              <a:rPr lang="zh-CN" altLang="zh-CN">
                <a:ea typeface="宋体" panose="02010600030101010101" pitchFamily="2" charset="-122"/>
              </a:rPr>
              <a:t>	这取决于找到另一个工作的难易程度。如果市场工资高于均衡工资，市场上便不会有足够的工作岗位给想要工作的工人。因此工人会更加努力工作，而不偷懒</a:t>
            </a:r>
          </a:p>
        </p:txBody>
      </p:sp>
      <p:sp>
        <p:nvSpPr>
          <p:cNvPr id="67588" name="Rectangle 4">
            <a:extLst>
              <a:ext uri="{FF2B5EF4-FFF2-40B4-BE49-F238E27FC236}">
                <a16:creationId xmlns:a16="http://schemas.microsoft.com/office/drawing/2014/main" id="{8E3322D1-9FB0-DCAA-4F4F-AE3FAAED0CBD}"/>
              </a:ext>
            </a:extLst>
          </p:cNvPr>
          <p:cNvSpPr>
            <a:spLocks noChangeArrowheads="1"/>
          </p:cNvSpPr>
          <p:nvPr/>
        </p:nvSpPr>
        <p:spPr bwMode="auto">
          <a:xfrm>
            <a:off x="230505" y="473003"/>
            <a:ext cx="4149090" cy="314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72890" indent="-172890" defTabSz="461040" fontAlgn="base">
              <a:lnSpc>
                <a:spcPct val="105000"/>
              </a:lnSpc>
              <a:spcBef>
                <a:spcPct val="45000"/>
              </a:spcBef>
              <a:spcAft>
                <a:spcPct val="0"/>
              </a:spcAft>
              <a:buClr>
                <a:srgbClr val="00B85C"/>
              </a:buClr>
              <a:buSzPct val="120000"/>
            </a:pPr>
            <a:r>
              <a:rPr lang="zh-CN" altLang="zh-CN" sz="1361">
                <a:solidFill>
                  <a:srgbClr val="000000"/>
                </a:solidFill>
                <a:ea typeface="宋体" panose="02010600030101010101" pitchFamily="2" charset="-122"/>
              </a:rPr>
              <a:t>企业支付效率工资的四个原因：</a:t>
            </a:r>
          </a:p>
        </p:txBody>
      </p:sp>
      <p:sp>
        <p:nvSpPr>
          <p:cNvPr id="67589" name="FlagCount" hidden="1">
            <a:hlinkClick r:id="rId3" action="ppaction://hlinkfile"/>
            <a:extLst>
              <a:ext uri="{FF2B5EF4-FFF2-40B4-BE49-F238E27FC236}">
                <a16:creationId xmlns:a16="http://schemas.microsoft.com/office/drawing/2014/main" id="{4588C803-1B1C-B14B-9772-53D86916A07D}"/>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8">
            <a:extLst>
              <a:ext uri="{FF2B5EF4-FFF2-40B4-BE49-F238E27FC236}">
                <a16:creationId xmlns:a16="http://schemas.microsoft.com/office/drawing/2014/main" id="{94F67F39-8A65-0FC4-E957-2CB76FCC9823}"/>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69635" name="Rectangle 4">
            <a:extLst>
              <a:ext uri="{FF2B5EF4-FFF2-40B4-BE49-F238E27FC236}">
                <a16:creationId xmlns:a16="http://schemas.microsoft.com/office/drawing/2014/main" id="{38D9D918-B520-D468-00ED-1724652DF4E3}"/>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概念的应用</a:t>
            </a:r>
          </a:p>
        </p:txBody>
      </p:sp>
      <p:grpSp>
        <p:nvGrpSpPr>
          <p:cNvPr id="69636" name="Group 4">
            <a:extLst>
              <a:ext uri="{FF2B5EF4-FFF2-40B4-BE49-F238E27FC236}">
                <a16:creationId xmlns:a16="http://schemas.microsoft.com/office/drawing/2014/main" id="{3AF160FB-B8D6-337B-5972-004437E10ED7}"/>
              </a:ext>
            </a:extLst>
          </p:cNvPr>
          <p:cNvGrpSpPr>
            <a:grpSpLocks/>
          </p:cNvGrpSpPr>
          <p:nvPr/>
        </p:nvGrpSpPr>
        <p:grpSpPr bwMode="auto">
          <a:xfrm>
            <a:off x="299336" y="148055"/>
            <a:ext cx="4139486" cy="529041"/>
            <a:chOff x="0" y="0"/>
            <a:chExt cx="5000" cy="661"/>
          </a:xfrm>
        </p:grpSpPr>
        <p:sp>
          <p:nvSpPr>
            <p:cNvPr id="69637" name="Line 9">
              <a:extLst>
                <a:ext uri="{FF2B5EF4-FFF2-40B4-BE49-F238E27FC236}">
                  <a16:creationId xmlns:a16="http://schemas.microsoft.com/office/drawing/2014/main" id="{60225AE2-3611-C468-6423-E9B672D40B2B}"/>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69638" name="Line 10">
              <a:extLst>
                <a:ext uri="{FF2B5EF4-FFF2-40B4-BE49-F238E27FC236}">
                  <a16:creationId xmlns:a16="http://schemas.microsoft.com/office/drawing/2014/main" id="{28B4570B-A748-1B16-399C-7E9DA0896ED1}"/>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69639" name="Rectangle 7">
            <a:extLst>
              <a:ext uri="{FF2B5EF4-FFF2-40B4-BE49-F238E27FC236}">
                <a16:creationId xmlns:a16="http://schemas.microsoft.com/office/drawing/2014/main" id="{486DC96B-04B2-2D45-DDCF-DDB1157C51E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88753B7C-FA38-4A46-A08E-09A81C2B08B9}"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37</a:t>
            </a:fld>
            <a:endParaRPr lang="zh-CN" altLang="zh-CN" sz="857">
              <a:solidFill>
                <a:srgbClr val="777777"/>
              </a:solidFill>
              <a:latin typeface="Tahoma" panose="020B0604030504040204" pitchFamily="34" charset="0"/>
              <a:ea typeface="宋体" panose="02010600030101010101" pitchFamily="2" charset="-122"/>
            </a:endParaRPr>
          </a:p>
        </p:txBody>
      </p:sp>
      <p:sp>
        <p:nvSpPr>
          <p:cNvPr id="69640" name="Rectangle 6">
            <a:extLst>
              <a:ext uri="{FF2B5EF4-FFF2-40B4-BE49-F238E27FC236}">
                <a16:creationId xmlns:a16="http://schemas.microsoft.com/office/drawing/2014/main" id="{7689E37D-04E5-DA36-7103-088319F1169E}"/>
              </a:ext>
            </a:extLst>
          </p:cNvPr>
          <p:cNvSpPr>
            <a:spLocks noChangeArrowheads="1"/>
          </p:cNvSpPr>
          <p:nvPr/>
        </p:nvSpPr>
        <p:spPr bwMode="auto">
          <a:xfrm>
            <a:off x="280928" y="693903"/>
            <a:ext cx="4149090" cy="529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669900"/>
              </a:buClr>
              <a:buNone/>
            </a:pPr>
            <a:r>
              <a:rPr lang="zh-CN" altLang="zh-CN" sz="1361" dirty="0">
                <a:solidFill>
                  <a:srgbClr val="000000"/>
                </a:solidFill>
                <a:ea typeface="宋体" panose="02010600030101010101" pitchFamily="2" charset="-122"/>
              </a:rPr>
              <a:t>下面哪个最有可能减少</a:t>
            </a:r>
            <a:r>
              <a:rPr lang="zh-CN" altLang="zh-CN" sz="1361" u="sng" dirty="0">
                <a:solidFill>
                  <a:srgbClr val="000000"/>
                </a:solidFill>
                <a:ea typeface="宋体" panose="02010600030101010101" pitchFamily="2" charset="-122"/>
              </a:rPr>
              <a:t>摩擦性</a:t>
            </a:r>
            <a:r>
              <a:rPr lang="zh-CN" altLang="zh-CN" sz="1361" dirty="0">
                <a:solidFill>
                  <a:srgbClr val="000000"/>
                </a:solidFill>
                <a:ea typeface="宋体" panose="02010600030101010101" pitchFamily="2" charset="-122"/>
              </a:rPr>
              <a:t>失业？</a:t>
            </a:r>
          </a:p>
        </p:txBody>
      </p:sp>
      <p:sp>
        <p:nvSpPr>
          <p:cNvPr id="69641" name="Rectangle 8">
            <a:extLst>
              <a:ext uri="{FF2B5EF4-FFF2-40B4-BE49-F238E27FC236}">
                <a16:creationId xmlns:a16="http://schemas.microsoft.com/office/drawing/2014/main" id="{8907C221-9956-79C9-0EA0-8CAFC8B0E90E}"/>
              </a:ext>
            </a:extLst>
          </p:cNvPr>
          <p:cNvSpPr>
            <a:spLocks noChangeArrowheads="1"/>
          </p:cNvSpPr>
          <p:nvPr/>
        </p:nvSpPr>
        <p:spPr bwMode="auto">
          <a:xfrm>
            <a:off x="303339" y="1184526"/>
            <a:ext cx="4119476" cy="216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3550" indent="-4635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33722" indent="-233722" defTabSz="461040" fontAlgn="base">
              <a:lnSpc>
                <a:spcPct val="105000"/>
              </a:lnSpc>
              <a:spcBef>
                <a:spcPct val="40000"/>
              </a:spcBef>
              <a:spcAft>
                <a:spcPct val="0"/>
              </a:spcAft>
              <a:buClr>
                <a:srgbClr val="00B85C"/>
              </a:buClr>
              <a:buSzPct val="120000"/>
            </a:pPr>
            <a:r>
              <a:rPr lang="zh-CN" altLang="zh-CN" sz="1261" b="1" dirty="0">
                <a:solidFill>
                  <a:srgbClr val="339966"/>
                </a:solidFill>
                <a:ea typeface="宋体" panose="02010600030101010101" pitchFamily="2" charset="-122"/>
              </a:rPr>
              <a:t>A</a:t>
            </a:r>
            <a:r>
              <a:rPr lang="zh-CN" altLang="zh-CN" sz="126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政府取消最低工资</a:t>
            </a:r>
          </a:p>
          <a:p>
            <a:pPr marL="233722" indent="-233722" defTabSz="461040" fontAlgn="base">
              <a:lnSpc>
                <a:spcPct val="105000"/>
              </a:lnSpc>
              <a:spcBef>
                <a:spcPct val="40000"/>
              </a:spcBef>
              <a:spcAft>
                <a:spcPct val="0"/>
              </a:spcAft>
              <a:buClr>
                <a:srgbClr val="00B85C"/>
              </a:buClr>
              <a:buSzPct val="120000"/>
            </a:pPr>
            <a:r>
              <a:rPr lang="zh-CN" altLang="zh-CN" sz="1261" b="1" dirty="0">
                <a:solidFill>
                  <a:srgbClr val="339966"/>
                </a:solidFill>
                <a:ea typeface="宋体" panose="02010600030101010101" pitchFamily="2" charset="-122"/>
              </a:rPr>
              <a:t>B</a:t>
            </a:r>
            <a:r>
              <a:rPr lang="zh-CN" altLang="zh-CN" sz="126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政府增加失业保险补助</a:t>
            </a:r>
          </a:p>
          <a:p>
            <a:pPr marL="233722" indent="-233722" defTabSz="461040" fontAlgn="base">
              <a:lnSpc>
                <a:spcPct val="105000"/>
              </a:lnSpc>
              <a:spcBef>
                <a:spcPct val="40000"/>
              </a:spcBef>
              <a:spcAft>
                <a:spcPct val="0"/>
              </a:spcAft>
              <a:buClr>
                <a:srgbClr val="00B85C"/>
              </a:buClr>
              <a:buSzPct val="120000"/>
            </a:pPr>
            <a:r>
              <a:rPr lang="zh-CN" altLang="zh-CN" sz="1261" b="1" dirty="0">
                <a:solidFill>
                  <a:srgbClr val="339966"/>
                </a:solidFill>
                <a:ea typeface="宋体" panose="02010600030101010101" pitchFamily="2" charset="-122"/>
              </a:rPr>
              <a:t>C</a:t>
            </a:r>
            <a:r>
              <a:rPr lang="zh-CN" altLang="zh-CN" sz="126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颁布取缔工会的新法</a:t>
            </a:r>
          </a:p>
          <a:p>
            <a:pPr marL="233722" indent="-233722" defTabSz="461040" fontAlgn="base">
              <a:lnSpc>
                <a:spcPct val="105000"/>
              </a:lnSpc>
              <a:spcBef>
                <a:spcPct val="40000"/>
              </a:spcBef>
              <a:spcAft>
                <a:spcPct val="0"/>
              </a:spcAft>
              <a:buClr>
                <a:srgbClr val="00B85C"/>
              </a:buClr>
              <a:buSzPct val="120000"/>
            </a:pPr>
            <a:r>
              <a:rPr lang="zh-CN" altLang="zh-CN" sz="1261" b="1" dirty="0">
                <a:solidFill>
                  <a:srgbClr val="339966"/>
                </a:solidFill>
                <a:ea typeface="宋体" panose="02010600030101010101" pitchFamily="2" charset="-122"/>
              </a:rPr>
              <a:t>D</a:t>
            </a:r>
            <a:r>
              <a:rPr lang="zh-CN" altLang="zh-CN" sz="126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更多的工人将他们的简历发到巨兽（Monster.com）网站，更多的雇主通过巨兽网站寻找合适的工人</a:t>
            </a:r>
          </a:p>
          <a:p>
            <a:pPr marL="233722" indent="-233722" defTabSz="461040" fontAlgn="base">
              <a:lnSpc>
                <a:spcPct val="105000"/>
              </a:lnSpc>
              <a:spcBef>
                <a:spcPct val="40000"/>
              </a:spcBef>
              <a:spcAft>
                <a:spcPct val="0"/>
              </a:spcAft>
              <a:buClr>
                <a:srgbClr val="00B85C"/>
              </a:buClr>
              <a:buSzPct val="120000"/>
            </a:pPr>
            <a:r>
              <a:rPr lang="zh-CN" altLang="zh-CN" sz="1261" b="1" dirty="0">
                <a:solidFill>
                  <a:srgbClr val="339966"/>
                </a:solidFill>
                <a:ea typeface="宋体" panose="02010600030101010101" pitchFamily="2" charset="-122"/>
              </a:rPr>
              <a:t>E</a:t>
            </a:r>
            <a:r>
              <a:rPr lang="zh-CN" altLang="zh-CN" sz="1261" dirty="0">
                <a:solidFill>
                  <a:srgbClr val="339966"/>
                </a:solidFill>
                <a:ea typeface="宋体" panose="02010600030101010101" pitchFamily="2" charset="-122"/>
              </a:rPr>
              <a:t>.	</a:t>
            </a:r>
            <a:r>
              <a:rPr lang="zh-CN" altLang="zh-CN" sz="1311" dirty="0">
                <a:solidFill>
                  <a:srgbClr val="000000"/>
                </a:solidFill>
                <a:ea typeface="宋体" panose="02010600030101010101" pitchFamily="2" charset="-122"/>
              </a:rPr>
              <a:t>部门转移更加频繁</a:t>
            </a:r>
          </a:p>
        </p:txBody>
      </p:sp>
    </p:spTree>
    <p:extLst>
      <p:ext uri="{BB962C8B-B14F-4D97-AF65-F5344CB8AC3E}">
        <p14:creationId xmlns:p14="http://schemas.microsoft.com/office/powerpoint/2010/main" val="328385376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41">
                                            <p:txEl>
                                              <p:pRg st="0" end="0"/>
                                            </p:txEl>
                                          </p:spTgt>
                                        </p:tgtEl>
                                        <p:attrNameLst>
                                          <p:attrName>style.visibility</p:attrName>
                                        </p:attrNameLst>
                                      </p:cBhvr>
                                      <p:to>
                                        <p:strVal val="visible"/>
                                      </p:to>
                                    </p:set>
                                    <p:animEffect transition="in" filter="wipe(left)">
                                      <p:cBhvr>
                                        <p:cTn id="7" dur="500"/>
                                        <p:tgtEl>
                                          <p:spTgt spid="6964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641">
                                            <p:txEl>
                                              <p:pRg st="1" end="1"/>
                                            </p:txEl>
                                          </p:spTgt>
                                        </p:tgtEl>
                                        <p:attrNameLst>
                                          <p:attrName>style.visibility</p:attrName>
                                        </p:attrNameLst>
                                      </p:cBhvr>
                                      <p:to>
                                        <p:strVal val="visible"/>
                                      </p:to>
                                    </p:set>
                                    <p:animEffect transition="in" filter="wipe(left)">
                                      <p:cBhvr>
                                        <p:cTn id="12" dur="500"/>
                                        <p:tgtEl>
                                          <p:spTgt spid="6964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9641">
                                            <p:txEl>
                                              <p:pRg st="2" end="2"/>
                                            </p:txEl>
                                          </p:spTgt>
                                        </p:tgtEl>
                                        <p:attrNameLst>
                                          <p:attrName>style.visibility</p:attrName>
                                        </p:attrNameLst>
                                      </p:cBhvr>
                                      <p:to>
                                        <p:strVal val="visible"/>
                                      </p:to>
                                    </p:set>
                                    <p:animEffect transition="in" filter="wipe(left)">
                                      <p:cBhvr>
                                        <p:cTn id="17" dur="500"/>
                                        <p:tgtEl>
                                          <p:spTgt spid="6964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9641">
                                            <p:txEl>
                                              <p:pRg st="3" end="3"/>
                                            </p:txEl>
                                          </p:spTgt>
                                        </p:tgtEl>
                                        <p:attrNameLst>
                                          <p:attrName>style.visibility</p:attrName>
                                        </p:attrNameLst>
                                      </p:cBhvr>
                                      <p:to>
                                        <p:strVal val="visible"/>
                                      </p:to>
                                    </p:set>
                                    <p:animEffect transition="in" filter="wipe(left)">
                                      <p:cBhvr>
                                        <p:cTn id="22" dur="500"/>
                                        <p:tgtEl>
                                          <p:spTgt spid="6964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9641">
                                            <p:txEl>
                                              <p:pRg st="4" end="4"/>
                                            </p:txEl>
                                          </p:spTgt>
                                        </p:tgtEl>
                                        <p:attrNameLst>
                                          <p:attrName>style.visibility</p:attrName>
                                        </p:attrNameLst>
                                      </p:cBhvr>
                                      <p:to>
                                        <p:strVal val="visible"/>
                                      </p:to>
                                    </p:set>
                                    <p:animEffect transition="in" filter="wipe(left)">
                                      <p:cBhvr>
                                        <p:cTn id="27" dur="500"/>
                                        <p:tgtEl>
                                          <p:spTgt spid="696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8">
            <a:extLst>
              <a:ext uri="{FF2B5EF4-FFF2-40B4-BE49-F238E27FC236}">
                <a16:creationId xmlns:a16="http://schemas.microsoft.com/office/drawing/2014/main" id="{525B902C-BFDD-4CCE-EF81-BB95AFAB3B80}"/>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71683" name="Rectangle 4">
            <a:extLst>
              <a:ext uri="{FF2B5EF4-FFF2-40B4-BE49-F238E27FC236}">
                <a16:creationId xmlns:a16="http://schemas.microsoft.com/office/drawing/2014/main" id="{320FD023-A407-D045-F22D-CF976D8DD8EF}"/>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71684" name="Group 4">
            <a:extLst>
              <a:ext uri="{FF2B5EF4-FFF2-40B4-BE49-F238E27FC236}">
                <a16:creationId xmlns:a16="http://schemas.microsoft.com/office/drawing/2014/main" id="{50BB8433-F270-0DF8-52BE-BDDB0325DE20}"/>
              </a:ext>
            </a:extLst>
          </p:cNvPr>
          <p:cNvGrpSpPr>
            <a:grpSpLocks/>
          </p:cNvGrpSpPr>
          <p:nvPr/>
        </p:nvGrpSpPr>
        <p:grpSpPr bwMode="auto">
          <a:xfrm>
            <a:off x="299336" y="148055"/>
            <a:ext cx="4139486" cy="529041"/>
            <a:chOff x="0" y="0"/>
            <a:chExt cx="5000" cy="661"/>
          </a:xfrm>
        </p:grpSpPr>
        <p:sp>
          <p:nvSpPr>
            <p:cNvPr id="71685" name="Line 9">
              <a:extLst>
                <a:ext uri="{FF2B5EF4-FFF2-40B4-BE49-F238E27FC236}">
                  <a16:creationId xmlns:a16="http://schemas.microsoft.com/office/drawing/2014/main" id="{9C1ED3D1-7EFD-4A6A-447C-DD28DD88690B}"/>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1686" name="Line 10">
              <a:extLst>
                <a:ext uri="{FF2B5EF4-FFF2-40B4-BE49-F238E27FC236}">
                  <a16:creationId xmlns:a16="http://schemas.microsoft.com/office/drawing/2014/main" id="{8C73857F-B54A-A4A9-3217-E66FD0ECEA7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71687" name="Rectangle 7">
            <a:extLst>
              <a:ext uri="{FF2B5EF4-FFF2-40B4-BE49-F238E27FC236}">
                <a16:creationId xmlns:a16="http://schemas.microsoft.com/office/drawing/2014/main" id="{2DFCD75C-7DFB-134A-FC79-BE0D2E1A510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FE6FC93-959C-7E46-82A4-5FAB66ABCA7B}"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38</a:t>
            </a:fld>
            <a:endParaRPr lang="zh-CN" altLang="zh-CN" sz="857">
              <a:solidFill>
                <a:srgbClr val="777777"/>
              </a:solidFill>
              <a:latin typeface="Tahoma" panose="020B0604030504040204" pitchFamily="34" charset="0"/>
              <a:ea typeface="宋体" panose="02010600030101010101" pitchFamily="2" charset="-122"/>
            </a:endParaRPr>
          </a:p>
        </p:txBody>
      </p:sp>
      <p:sp>
        <p:nvSpPr>
          <p:cNvPr id="71688" name="Rectangle 17">
            <a:extLst>
              <a:ext uri="{FF2B5EF4-FFF2-40B4-BE49-F238E27FC236}">
                <a16:creationId xmlns:a16="http://schemas.microsoft.com/office/drawing/2014/main" id="{A86E2A91-EEAD-1FE6-A21E-8792B72B73BE}"/>
              </a:ext>
            </a:extLst>
          </p:cNvPr>
          <p:cNvSpPr>
            <a:spLocks noChangeArrowheads="1"/>
          </p:cNvSpPr>
          <p:nvPr/>
        </p:nvSpPr>
        <p:spPr bwMode="auto">
          <a:xfrm>
            <a:off x="381774" y="1246155"/>
            <a:ext cx="3777721" cy="6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412" b="1">
                <a:solidFill>
                  <a:srgbClr val="339966"/>
                </a:solidFill>
              </a:rPr>
              <a:t>A</a:t>
            </a:r>
            <a:r>
              <a:rPr lang="zh-CN" altLang="zh-CN" sz="1412">
                <a:solidFill>
                  <a:srgbClr val="339966"/>
                </a:solidFill>
              </a:rPr>
              <a:t>.	</a:t>
            </a:r>
            <a:r>
              <a:rPr lang="zh-CN" altLang="zh-CN" sz="1412">
                <a:solidFill>
                  <a:srgbClr val="000000"/>
                </a:solidFill>
                <a:ea typeface="宋体" panose="02010600030101010101" pitchFamily="2" charset="-122"/>
              </a:rPr>
              <a:t>政府取消最低工资</a:t>
            </a:r>
          </a:p>
          <a:p>
            <a:pPr marL="257734" indent="-257734" defTabSz="461040" fontAlgn="base">
              <a:lnSpc>
                <a:spcPct val="105000"/>
              </a:lnSpc>
              <a:spcBef>
                <a:spcPct val="50000"/>
              </a:spcBef>
              <a:spcAft>
                <a:spcPct val="0"/>
              </a:spcAft>
              <a:buClr>
                <a:srgbClr val="00B85C"/>
              </a:buClr>
              <a:buSzPct val="120000"/>
            </a:pPr>
            <a:r>
              <a:rPr lang="zh-CN" altLang="zh-CN" sz="1412" b="1">
                <a:solidFill>
                  <a:srgbClr val="339966"/>
                </a:solidFill>
              </a:rPr>
              <a:t>C</a:t>
            </a:r>
            <a:r>
              <a:rPr lang="zh-CN" altLang="zh-CN" sz="1412">
                <a:solidFill>
                  <a:srgbClr val="339966"/>
                </a:solidFill>
              </a:rPr>
              <a:t>.	</a:t>
            </a:r>
            <a:r>
              <a:rPr lang="zh-CN" altLang="zh-CN" sz="1412">
                <a:solidFill>
                  <a:srgbClr val="000000"/>
                </a:solidFill>
                <a:ea typeface="宋体" panose="02010600030101010101" pitchFamily="2" charset="-122"/>
              </a:rPr>
              <a:t>颁布取缔工会的新法</a:t>
            </a:r>
          </a:p>
        </p:txBody>
      </p:sp>
      <p:sp>
        <p:nvSpPr>
          <p:cNvPr id="71689" name="Rectangle 18">
            <a:extLst>
              <a:ext uri="{FF2B5EF4-FFF2-40B4-BE49-F238E27FC236}">
                <a16:creationId xmlns:a16="http://schemas.microsoft.com/office/drawing/2014/main" id="{D6F5EA5E-BB74-AE13-8175-F25EE0C42E41}"/>
              </a:ext>
            </a:extLst>
          </p:cNvPr>
          <p:cNvSpPr>
            <a:spLocks noChangeArrowheads="1"/>
          </p:cNvSpPr>
          <p:nvPr/>
        </p:nvSpPr>
        <p:spPr bwMode="auto">
          <a:xfrm>
            <a:off x="310542" y="1913659"/>
            <a:ext cx="4083460" cy="779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10000"/>
              </a:lnSpc>
              <a:spcBef>
                <a:spcPct val="50000"/>
              </a:spcBef>
              <a:spcAft>
                <a:spcPct val="0"/>
              </a:spcAft>
              <a:buClr>
                <a:srgbClr val="00B85C"/>
              </a:buClr>
              <a:buSzPct val="120000"/>
            </a:pPr>
            <a:r>
              <a:rPr lang="zh-CN" altLang="zh-CN" sz="1361">
                <a:solidFill>
                  <a:srgbClr val="FF0000"/>
                </a:solidFill>
                <a:ea typeface="宋体" panose="02010600030101010101" pitchFamily="2" charset="-122"/>
              </a:rPr>
              <a:t>这些可能减少</a:t>
            </a:r>
            <a:r>
              <a:rPr lang="zh-CN" altLang="zh-CN" sz="1361" u="sng">
                <a:solidFill>
                  <a:srgbClr val="FF0000"/>
                </a:solidFill>
                <a:ea typeface="宋体" panose="02010600030101010101" pitchFamily="2" charset="-122"/>
              </a:rPr>
              <a:t>结构性</a:t>
            </a:r>
            <a:r>
              <a:rPr lang="zh-CN" altLang="zh-CN" sz="1361">
                <a:solidFill>
                  <a:srgbClr val="FF0000"/>
                </a:solidFill>
                <a:ea typeface="宋体" panose="02010600030101010101" pitchFamily="2" charset="-122"/>
              </a:rPr>
              <a:t>失业， </a:t>
            </a:r>
            <a:br>
              <a:rPr lang="zh-CN" altLang="zh-CN" sz="1361">
                <a:solidFill>
                  <a:srgbClr val="FF0000"/>
                </a:solidFill>
                <a:ea typeface="宋体" panose="02010600030101010101" pitchFamily="2" charset="-122"/>
              </a:rPr>
            </a:br>
            <a:r>
              <a:rPr lang="zh-CN" altLang="zh-CN" sz="1361">
                <a:solidFill>
                  <a:srgbClr val="FF0000"/>
                </a:solidFill>
                <a:ea typeface="宋体" panose="02010600030101010101" pitchFamily="2" charset="-122"/>
              </a:rPr>
              <a:t>而不是</a:t>
            </a:r>
            <a:r>
              <a:rPr lang="zh-CN" altLang="zh-CN" sz="1361" u="sng">
                <a:solidFill>
                  <a:srgbClr val="FF0000"/>
                </a:solidFill>
                <a:ea typeface="宋体" panose="02010600030101010101" pitchFamily="2" charset="-122"/>
              </a:rPr>
              <a:t>摩擦性</a:t>
            </a:r>
            <a:r>
              <a:rPr lang="zh-CN" altLang="zh-CN" sz="1361">
                <a:solidFill>
                  <a:srgbClr val="FF0000"/>
                </a:solidFill>
                <a:ea typeface="宋体" panose="02010600030101010101" pitchFamily="2" charset="-122"/>
              </a:rPr>
              <a:t>失业</a:t>
            </a:r>
          </a:p>
        </p:txBody>
      </p:sp>
      <p:sp>
        <p:nvSpPr>
          <p:cNvPr id="71690" name="Rectangle 21">
            <a:extLst>
              <a:ext uri="{FF2B5EF4-FFF2-40B4-BE49-F238E27FC236}">
                <a16:creationId xmlns:a16="http://schemas.microsoft.com/office/drawing/2014/main" id="{CC2F851E-190B-9867-52BD-9AAA73D106F6}"/>
              </a:ext>
            </a:extLst>
          </p:cNvPr>
          <p:cNvSpPr>
            <a:spLocks noChangeArrowheads="1"/>
          </p:cNvSpPr>
          <p:nvPr/>
        </p:nvSpPr>
        <p:spPr bwMode="auto">
          <a:xfrm>
            <a:off x="280928" y="693903"/>
            <a:ext cx="4149090" cy="499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669900"/>
              </a:buClr>
              <a:buNone/>
            </a:pPr>
            <a:r>
              <a:rPr lang="zh-CN" altLang="zh-CN" sz="1361">
                <a:solidFill>
                  <a:srgbClr val="000000"/>
                </a:solidFill>
                <a:ea typeface="宋体" panose="02010600030101010101" pitchFamily="2" charset="-122"/>
              </a:rPr>
              <a:t>下面哪个最有可能减少</a:t>
            </a:r>
            <a:r>
              <a:rPr lang="zh-CN" altLang="zh-CN" sz="1361" u="sng">
                <a:solidFill>
                  <a:srgbClr val="000000"/>
                </a:solidFill>
                <a:ea typeface="宋体" panose="02010600030101010101" pitchFamily="2" charset="-122"/>
              </a:rPr>
              <a:t>摩擦性</a:t>
            </a:r>
            <a:r>
              <a:rPr lang="zh-CN" altLang="zh-CN" sz="1361">
                <a:solidFill>
                  <a:srgbClr val="000000"/>
                </a:solidFill>
                <a:ea typeface="宋体" panose="02010600030101010101" pitchFamily="2" charset="-122"/>
              </a:rPr>
              <a:t>失业？</a:t>
            </a:r>
          </a:p>
        </p:txBody>
      </p:sp>
    </p:spTree>
    <p:extLst>
      <p:ext uri="{BB962C8B-B14F-4D97-AF65-F5344CB8AC3E}">
        <p14:creationId xmlns:p14="http://schemas.microsoft.com/office/powerpoint/2010/main" val="3674770500"/>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89"/>
                                        </p:tgtEl>
                                        <p:attrNameLst>
                                          <p:attrName>style.visibility</p:attrName>
                                        </p:attrNameLst>
                                      </p:cBhvr>
                                      <p:to>
                                        <p:strVal val="visible"/>
                                      </p:to>
                                    </p:set>
                                    <p:animEffect transition="in" filter="wipe(left)">
                                      <p:cBhvr>
                                        <p:cTn id="7" dur="500"/>
                                        <p:tgtEl>
                                          <p:spTgt spid="71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8">
            <a:extLst>
              <a:ext uri="{FF2B5EF4-FFF2-40B4-BE49-F238E27FC236}">
                <a16:creationId xmlns:a16="http://schemas.microsoft.com/office/drawing/2014/main" id="{AF7F28F3-79B3-BE80-C2DC-6E20AD0DDDA5}"/>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73731" name="Rectangle 4">
            <a:extLst>
              <a:ext uri="{FF2B5EF4-FFF2-40B4-BE49-F238E27FC236}">
                <a16:creationId xmlns:a16="http://schemas.microsoft.com/office/drawing/2014/main" id="{11B345D0-F3EA-B2D3-37AF-0B47718A0849}"/>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73732" name="Group 4">
            <a:extLst>
              <a:ext uri="{FF2B5EF4-FFF2-40B4-BE49-F238E27FC236}">
                <a16:creationId xmlns:a16="http://schemas.microsoft.com/office/drawing/2014/main" id="{D8DDC496-F7E6-2455-8445-6F3E13EFEA0C}"/>
              </a:ext>
            </a:extLst>
          </p:cNvPr>
          <p:cNvGrpSpPr>
            <a:grpSpLocks/>
          </p:cNvGrpSpPr>
          <p:nvPr/>
        </p:nvGrpSpPr>
        <p:grpSpPr bwMode="auto">
          <a:xfrm>
            <a:off x="299336" y="148055"/>
            <a:ext cx="4139486" cy="529041"/>
            <a:chOff x="0" y="0"/>
            <a:chExt cx="5000" cy="661"/>
          </a:xfrm>
        </p:grpSpPr>
        <p:sp>
          <p:nvSpPr>
            <p:cNvPr id="73733" name="Line 9">
              <a:extLst>
                <a:ext uri="{FF2B5EF4-FFF2-40B4-BE49-F238E27FC236}">
                  <a16:creationId xmlns:a16="http://schemas.microsoft.com/office/drawing/2014/main" id="{F2F70CCD-0E9A-67ED-8288-C965774E4D5D}"/>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3734" name="Line 10">
              <a:extLst>
                <a:ext uri="{FF2B5EF4-FFF2-40B4-BE49-F238E27FC236}">
                  <a16:creationId xmlns:a16="http://schemas.microsoft.com/office/drawing/2014/main" id="{3216DFBA-3A72-991C-4CA2-59092CDE16B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73735" name="Rectangle 7">
            <a:extLst>
              <a:ext uri="{FF2B5EF4-FFF2-40B4-BE49-F238E27FC236}">
                <a16:creationId xmlns:a16="http://schemas.microsoft.com/office/drawing/2014/main" id="{D7FD9D3B-4CA4-6302-8DFB-4A056F30DE3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58F69B5C-9404-B34A-BAB2-EC7194C83130}"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39</a:t>
            </a:fld>
            <a:endParaRPr lang="zh-CN" altLang="zh-CN" sz="857">
              <a:solidFill>
                <a:srgbClr val="777777"/>
              </a:solidFill>
              <a:latin typeface="Tahoma" panose="020B0604030504040204" pitchFamily="34" charset="0"/>
              <a:ea typeface="宋体" panose="02010600030101010101" pitchFamily="2" charset="-122"/>
            </a:endParaRPr>
          </a:p>
        </p:txBody>
      </p:sp>
      <p:sp>
        <p:nvSpPr>
          <p:cNvPr id="73736" name="Rectangle 21">
            <a:extLst>
              <a:ext uri="{FF2B5EF4-FFF2-40B4-BE49-F238E27FC236}">
                <a16:creationId xmlns:a16="http://schemas.microsoft.com/office/drawing/2014/main" id="{22CDA934-D054-B24F-81FA-98151D98D894}"/>
              </a:ext>
            </a:extLst>
          </p:cNvPr>
          <p:cNvSpPr>
            <a:spLocks noChangeArrowheads="1"/>
          </p:cNvSpPr>
          <p:nvPr/>
        </p:nvSpPr>
        <p:spPr bwMode="auto">
          <a:xfrm>
            <a:off x="280928" y="693903"/>
            <a:ext cx="4149090" cy="499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669900"/>
              </a:buClr>
              <a:buNone/>
            </a:pPr>
            <a:r>
              <a:rPr lang="zh-CN" altLang="zh-CN" sz="1361">
                <a:solidFill>
                  <a:srgbClr val="000000"/>
                </a:solidFill>
                <a:ea typeface="宋体" panose="02010600030101010101" pitchFamily="2" charset="-122"/>
              </a:rPr>
              <a:t>下面哪个最有可能减少</a:t>
            </a:r>
            <a:r>
              <a:rPr lang="zh-CN" altLang="zh-CN" sz="1361" u="sng">
                <a:solidFill>
                  <a:srgbClr val="000000"/>
                </a:solidFill>
                <a:ea typeface="宋体" panose="02010600030101010101" pitchFamily="2" charset="-122"/>
              </a:rPr>
              <a:t>摩擦性</a:t>
            </a:r>
            <a:r>
              <a:rPr lang="zh-CN" altLang="zh-CN" sz="1361">
                <a:solidFill>
                  <a:srgbClr val="000000"/>
                </a:solidFill>
                <a:ea typeface="宋体" panose="02010600030101010101" pitchFamily="2" charset="-122"/>
              </a:rPr>
              <a:t>失业？</a:t>
            </a:r>
          </a:p>
        </p:txBody>
      </p:sp>
      <p:sp>
        <p:nvSpPr>
          <p:cNvPr id="73737" name="Rectangle 10">
            <a:extLst>
              <a:ext uri="{FF2B5EF4-FFF2-40B4-BE49-F238E27FC236}">
                <a16:creationId xmlns:a16="http://schemas.microsoft.com/office/drawing/2014/main" id="{76B46B12-0D3A-887C-BB7F-31AD67426AE4}"/>
              </a:ext>
            </a:extLst>
          </p:cNvPr>
          <p:cNvSpPr>
            <a:spLocks noChangeArrowheads="1"/>
          </p:cNvSpPr>
          <p:nvPr/>
        </p:nvSpPr>
        <p:spPr bwMode="auto">
          <a:xfrm>
            <a:off x="336954" y="1212539"/>
            <a:ext cx="4173101" cy="82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buFont typeface="Wingdings" pitchFamily="2" charset="2"/>
              <a:buAutoNum type="alphaUcPeriod" startAt="2"/>
            </a:pPr>
            <a:r>
              <a:rPr lang="zh-CN" altLang="zh-CN" sz="1361">
                <a:solidFill>
                  <a:srgbClr val="000000"/>
                </a:solidFill>
                <a:ea typeface="宋体" panose="02010600030101010101" pitchFamily="2" charset="-122"/>
              </a:rPr>
              <a:t>政府增加失业保险补助</a:t>
            </a:r>
          </a:p>
          <a:p>
            <a:pPr marL="257734" indent="-257734" defTabSz="461040" fontAlgn="base">
              <a:lnSpc>
                <a:spcPct val="105000"/>
              </a:lnSpc>
              <a:spcBef>
                <a:spcPct val="50000"/>
              </a:spcBef>
              <a:spcAft>
                <a:spcPct val="0"/>
              </a:spcAft>
              <a:buClr>
                <a:srgbClr val="00B85C"/>
              </a:buClr>
              <a:buSzPct val="120000"/>
            </a:pPr>
            <a:r>
              <a:rPr lang="zh-CN" altLang="zh-CN" sz="1361" b="1">
                <a:solidFill>
                  <a:srgbClr val="339966"/>
                </a:solidFill>
                <a:ea typeface="宋体" panose="02010600030101010101" pitchFamily="2" charset="-122"/>
              </a:rPr>
              <a:t>E. </a:t>
            </a:r>
            <a:r>
              <a:rPr lang="zh-CN" altLang="zh-CN" sz="1361">
                <a:solidFill>
                  <a:srgbClr val="000000"/>
                </a:solidFill>
                <a:ea typeface="宋体" panose="02010600030101010101" pitchFamily="2" charset="-122"/>
              </a:rPr>
              <a:t>部门转移更加频繁 </a:t>
            </a:r>
            <a:endParaRPr lang="zh-CN" altLang="zh-CN" sz="1361">
              <a:solidFill>
                <a:srgbClr val="000000"/>
              </a:solidFill>
            </a:endParaRPr>
          </a:p>
        </p:txBody>
      </p:sp>
      <p:sp>
        <p:nvSpPr>
          <p:cNvPr id="73738" name="Rectangle 11">
            <a:extLst>
              <a:ext uri="{FF2B5EF4-FFF2-40B4-BE49-F238E27FC236}">
                <a16:creationId xmlns:a16="http://schemas.microsoft.com/office/drawing/2014/main" id="{70A05AE1-0079-B46A-D81F-8CBDB82A6372}"/>
              </a:ext>
            </a:extLst>
          </p:cNvPr>
          <p:cNvSpPr>
            <a:spLocks noChangeArrowheads="1"/>
          </p:cNvSpPr>
          <p:nvPr/>
        </p:nvSpPr>
        <p:spPr bwMode="auto">
          <a:xfrm>
            <a:off x="265721" y="2313841"/>
            <a:ext cx="4121878" cy="424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10000"/>
              </a:lnSpc>
              <a:spcBef>
                <a:spcPct val="50000"/>
              </a:spcBef>
              <a:spcAft>
                <a:spcPct val="0"/>
              </a:spcAft>
              <a:buClr>
                <a:srgbClr val="00B85C"/>
              </a:buClr>
              <a:buSzPct val="120000"/>
            </a:pPr>
            <a:r>
              <a:rPr lang="zh-CN" altLang="zh-CN" sz="1361">
                <a:solidFill>
                  <a:srgbClr val="FF0000"/>
                </a:solidFill>
                <a:ea typeface="宋体" panose="02010600030101010101" pitchFamily="2" charset="-122"/>
              </a:rPr>
              <a:t>这些可能</a:t>
            </a:r>
            <a:r>
              <a:rPr lang="zh-CN" altLang="zh-CN" sz="1361" u="sng">
                <a:solidFill>
                  <a:srgbClr val="FF0000"/>
                </a:solidFill>
                <a:ea typeface="宋体" panose="02010600030101010101" pitchFamily="2" charset="-122"/>
              </a:rPr>
              <a:t>增加</a:t>
            </a:r>
            <a:r>
              <a:rPr lang="zh-CN" altLang="zh-CN" sz="1361">
                <a:solidFill>
                  <a:srgbClr val="FF0000"/>
                </a:solidFill>
                <a:ea typeface="宋体" panose="02010600030101010101" pitchFamily="2" charset="-122"/>
              </a:rPr>
              <a:t>而不是减少摩擦性失业</a:t>
            </a:r>
          </a:p>
        </p:txBody>
      </p:sp>
    </p:spTree>
    <p:extLst>
      <p:ext uri="{BB962C8B-B14F-4D97-AF65-F5344CB8AC3E}">
        <p14:creationId xmlns:p14="http://schemas.microsoft.com/office/powerpoint/2010/main" val="252079978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738"/>
                                        </p:tgtEl>
                                        <p:attrNameLst>
                                          <p:attrName>style.visibility</p:attrName>
                                        </p:attrNameLst>
                                      </p:cBhvr>
                                      <p:to>
                                        <p:strVal val="visible"/>
                                      </p:to>
                                    </p:set>
                                    <p:animEffect transition="in" filter="wipe(left)">
                                      <p:cBhvr>
                                        <p:cTn id="7" dur="500"/>
                                        <p:tgtEl>
                                          <p:spTgt spid="73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8">
            <a:extLst>
              <a:ext uri="{FF2B5EF4-FFF2-40B4-BE49-F238E27FC236}">
                <a16:creationId xmlns:a16="http://schemas.microsoft.com/office/drawing/2014/main" id="{FE650F41-8CC2-7FDB-72C0-7AFB37099920}"/>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75779" name="Rectangle 4">
            <a:extLst>
              <a:ext uri="{FF2B5EF4-FFF2-40B4-BE49-F238E27FC236}">
                <a16:creationId xmlns:a16="http://schemas.microsoft.com/office/drawing/2014/main" id="{0D9EBC8B-8599-A5A3-B2E4-DC844A0AC3BD}"/>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75780" name="Group 4">
            <a:extLst>
              <a:ext uri="{FF2B5EF4-FFF2-40B4-BE49-F238E27FC236}">
                <a16:creationId xmlns:a16="http://schemas.microsoft.com/office/drawing/2014/main" id="{356BB274-3FFE-266A-37D4-6F453C9FC556}"/>
              </a:ext>
            </a:extLst>
          </p:cNvPr>
          <p:cNvGrpSpPr>
            <a:grpSpLocks/>
          </p:cNvGrpSpPr>
          <p:nvPr/>
        </p:nvGrpSpPr>
        <p:grpSpPr bwMode="auto">
          <a:xfrm>
            <a:off x="299336" y="148055"/>
            <a:ext cx="4139486" cy="529041"/>
            <a:chOff x="0" y="0"/>
            <a:chExt cx="5000" cy="661"/>
          </a:xfrm>
        </p:grpSpPr>
        <p:sp>
          <p:nvSpPr>
            <p:cNvPr id="75781" name="Line 9">
              <a:extLst>
                <a:ext uri="{FF2B5EF4-FFF2-40B4-BE49-F238E27FC236}">
                  <a16:creationId xmlns:a16="http://schemas.microsoft.com/office/drawing/2014/main" id="{AE1F94A3-9538-8668-9EEF-417AAE251BB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5782" name="Line 10">
              <a:extLst>
                <a:ext uri="{FF2B5EF4-FFF2-40B4-BE49-F238E27FC236}">
                  <a16:creationId xmlns:a16="http://schemas.microsoft.com/office/drawing/2014/main" id="{15AE0385-8015-E0CB-0AB6-640E0E8F9FF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75783" name="Rectangle 7">
            <a:extLst>
              <a:ext uri="{FF2B5EF4-FFF2-40B4-BE49-F238E27FC236}">
                <a16:creationId xmlns:a16="http://schemas.microsoft.com/office/drawing/2014/main" id="{3AE7DE7A-1E3C-F784-07D9-7DED9A118DA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F6442144-FFAF-3144-A3BD-7AFD14DF050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40</a:t>
            </a:fld>
            <a:endParaRPr lang="zh-CN" altLang="zh-CN" sz="857">
              <a:solidFill>
                <a:srgbClr val="777777"/>
              </a:solidFill>
              <a:latin typeface="Tahoma" panose="020B0604030504040204" pitchFamily="34" charset="0"/>
              <a:ea typeface="宋体" panose="02010600030101010101" pitchFamily="2" charset="-122"/>
            </a:endParaRPr>
          </a:p>
        </p:txBody>
      </p:sp>
      <p:sp>
        <p:nvSpPr>
          <p:cNvPr id="75784" name="Rectangle 21">
            <a:extLst>
              <a:ext uri="{FF2B5EF4-FFF2-40B4-BE49-F238E27FC236}">
                <a16:creationId xmlns:a16="http://schemas.microsoft.com/office/drawing/2014/main" id="{9E95B7E7-8A6F-3394-B34D-1B5AF4C3961D}"/>
              </a:ext>
            </a:extLst>
          </p:cNvPr>
          <p:cNvSpPr>
            <a:spLocks noChangeArrowheads="1"/>
          </p:cNvSpPr>
          <p:nvPr/>
        </p:nvSpPr>
        <p:spPr bwMode="auto">
          <a:xfrm>
            <a:off x="280928" y="693903"/>
            <a:ext cx="4149090" cy="49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Aft>
                <a:spcPct val="0"/>
              </a:spcAft>
              <a:buClr>
                <a:srgbClr val="669900"/>
              </a:buClr>
              <a:buNone/>
            </a:pPr>
            <a:r>
              <a:rPr lang="zh-CN" altLang="zh-CN" sz="1361">
                <a:solidFill>
                  <a:srgbClr val="000000"/>
                </a:solidFill>
                <a:ea typeface="宋体" panose="02010600030101010101" pitchFamily="2" charset="-122"/>
              </a:rPr>
              <a:t>下面哪个最有可能减少</a:t>
            </a:r>
            <a:r>
              <a:rPr lang="zh-CN" altLang="zh-CN" sz="1361" u="sng">
                <a:solidFill>
                  <a:srgbClr val="000000"/>
                </a:solidFill>
                <a:ea typeface="宋体" panose="02010600030101010101" pitchFamily="2" charset="-122"/>
              </a:rPr>
              <a:t>摩擦性</a:t>
            </a:r>
            <a:r>
              <a:rPr lang="zh-CN" altLang="zh-CN" sz="1361">
                <a:solidFill>
                  <a:srgbClr val="000000"/>
                </a:solidFill>
                <a:ea typeface="宋体" panose="02010600030101010101" pitchFamily="2" charset="-122"/>
              </a:rPr>
              <a:t>失业？</a:t>
            </a:r>
          </a:p>
        </p:txBody>
      </p:sp>
      <p:sp>
        <p:nvSpPr>
          <p:cNvPr id="75785" name="Rectangle 10">
            <a:extLst>
              <a:ext uri="{FF2B5EF4-FFF2-40B4-BE49-F238E27FC236}">
                <a16:creationId xmlns:a16="http://schemas.microsoft.com/office/drawing/2014/main" id="{84C5DA8A-3B46-7534-D44B-B4A3742F003D}"/>
              </a:ext>
            </a:extLst>
          </p:cNvPr>
          <p:cNvSpPr>
            <a:spLocks noChangeArrowheads="1"/>
          </p:cNvSpPr>
          <p:nvPr/>
        </p:nvSpPr>
        <p:spPr bwMode="auto">
          <a:xfrm>
            <a:off x="308941" y="1212539"/>
            <a:ext cx="4173101" cy="72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57734" indent="-257734" defTabSz="461040" fontAlgn="base">
              <a:lnSpc>
                <a:spcPct val="105000"/>
              </a:lnSpc>
              <a:spcBef>
                <a:spcPct val="50000"/>
              </a:spcBef>
              <a:spcAft>
                <a:spcPct val="0"/>
              </a:spcAft>
              <a:buClr>
                <a:srgbClr val="00B85C"/>
              </a:buClr>
              <a:buSzPct val="120000"/>
            </a:pPr>
            <a:r>
              <a:rPr lang="zh-CN" altLang="zh-CN" sz="1261" b="1">
                <a:solidFill>
                  <a:srgbClr val="339966"/>
                </a:solidFill>
                <a:ea typeface="宋体" panose="02010600030101010101" pitchFamily="2" charset="-122"/>
              </a:rPr>
              <a:t>D</a:t>
            </a:r>
            <a:r>
              <a:rPr lang="zh-CN" altLang="zh-CN" sz="1261">
                <a:solidFill>
                  <a:srgbClr val="339966"/>
                </a:solidFill>
                <a:ea typeface="宋体" panose="02010600030101010101" pitchFamily="2" charset="-122"/>
              </a:rPr>
              <a:t>.	</a:t>
            </a:r>
            <a:r>
              <a:rPr lang="zh-CN" altLang="zh-CN" sz="1311">
                <a:solidFill>
                  <a:srgbClr val="000000"/>
                </a:solidFill>
                <a:ea typeface="宋体" panose="02010600030101010101" pitchFamily="2" charset="-122"/>
              </a:rPr>
              <a:t>更多的工人将他们的简历发到巨兽（Monster.com）网站，更多的雇主通过巨兽网站寻找合适的工人</a:t>
            </a:r>
          </a:p>
        </p:txBody>
      </p:sp>
      <p:sp>
        <p:nvSpPr>
          <p:cNvPr id="75786" name="Rectangle 11">
            <a:extLst>
              <a:ext uri="{FF2B5EF4-FFF2-40B4-BE49-F238E27FC236}">
                <a16:creationId xmlns:a16="http://schemas.microsoft.com/office/drawing/2014/main" id="{D7430675-7F95-6C59-4139-FD2168394B88}"/>
              </a:ext>
            </a:extLst>
          </p:cNvPr>
          <p:cNvSpPr>
            <a:spLocks noChangeArrowheads="1"/>
          </p:cNvSpPr>
          <p:nvPr/>
        </p:nvSpPr>
        <p:spPr bwMode="auto">
          <a:xfrm>
            <a:off x="725131" y="1916060"/>
            <a:ext cx="3122222" cy="80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10000"/>
              </a:lnSpc>
              <a:spcBef>
                <a:spcPct val="50000"/>
              </a:spcBef>
              <a:spcAft>
                <a:spcPct val="0"/>
              </a:spcAft>
              <a:buClr>
                <a:srgbClr val="00B85C"/>
              </a:buClr>
              <a:buSzPct val="120000"/>
            </a:pPr>
            <a:r>
              <a:rPr lang="zh-CN" altLang="zh-CN" sz="1361">
                <a:solidFill>
                  <a:srgbClr val="FF0000"/>
                </a:solidFill>
                <a:ea typeface="宋体" panose="02010600030101010101" pitchFamily="2" charset="-122"/>
              </a:rPr>
              <a:t>这会加快工人与工作之间的匹配过程，减少摩擦性失业</a:t>
            </a:r>
          </a:p>
        </p:txBody>
      </p:sp>
    </p:spTree>
    <p:extLst>
      <p:ext uri="{BB962C8B-B14F-4D97-AF65-F5344CB8AC3E}">
        <p14:creationId xmlns:p14="http://schemas.microsoft.com/office/powerpoint/2010/main" val="395269714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786"/>
                                        </p:tgtEl>
                                        <p:attrNameLst>
                                          <p:attrName>style.visibility</p:attrName>
                                        </p:attrNameLst>
                                      </p:cBhvr>
                                      <p:to>
                                        <p:strVal val="visible"/>
                                      </p:to>
                                    </p:set>
                                    <p:animEffect transition="in" filter="wipe(left)">
                                      <p:cBhvr>
                                        <p:cTn id="7" dur="500"/>
                                        <p:tgtEl>
                                          <p:spTgt spid="75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E4BA4F18-1FA0-A646-5B63-1D6F0A1B30BB}"/>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失业</a:t>
            </a:r>
          </a:p>
        </p:txBody>
      </p:sp>
      <p:sp>
        <p:nvSpPr>
          <p:cNvPr id="3" name="灯片编号占位符 2">
            <a:extLst>
              <a:ext uri="{FF2B5EF4-FFF2-40B4-BE49-F238E27FC236}">
                <a16:creationId xmlns:a16="http://schemas.microsoft.com/office/drawing/2014/main" id="{39EBC1C5-317B-BA2A-0705-DDA43032D347}"/>
              </a:ext>
            </a:extLst>
          </p:cNvPr>
          <p:cNvSpPr>
            <a:spLocks noGrp="1"/>
          </p:cNvSpPr>
          <p:nvPr>
            <p:ph type="sldNum" sz="quarter" idx="11"/>
          </p:nvPr>
        </p:nvSpPr>
        <p:spPr/>
        <p:txBody>
          <a:bodyPr/>
          <a:lstStyle/>
          <a:p>
            <a:pPr defTabSz="461040" fontAlgn="base">
              <a:spcBef>
                <a:spcPct val="0"/>
              </a:spcBef>
              <a:spcAft>
                <a:spcPct val="0"/>
              </a:spcAft>
            </a:pPr>
            <a:fld id="{E9F8D2EA-41F2-234C-9012-A57E44B487E9}" type="slidenum">
              <a:rPr lang="zh-CN" altLang="zh-CN">
                <a:latin typeface="Arial" panose="020B0604020202020204" pitchFamily="34" charset="0"/>
              </a:rPr>
              <a:pPr defTabSz="461040" fontAlgn="base">
                <a:spcBef>
                  <a:spcPct val="0"/>
                </a:spcBef>
                <a:spcAft>
                  <a:spcPct val="0"/>
                </a:spcAft>
              </a:pPr>
              <a:t>41</a:t>
            </a:fld>
            <a:endParaRPr lang="en-US" altLang="zh-CN">
              <a:latin typeface="Arial" panose="020B0604020202020204" pitchFamily="34" charset="0"/>
            </a:endParaRPr>
          </a:p>
        </p:txBody>
      </p:sp>
      <p:sp>
        <p:nvSpPr>
          <p:cNvPr id="76802" name="Rectangle 2">
            <a:extLst>
              <a:ext uri="{FF2B5EF4-FFF2-40B4-BE49-F238E27FC236}">
                <a16:creationId xmlns:a16="http://schemas.microsoft.com/office/drawing/2014/main" id="{83559207-17C0-AA58-0675-BB5F0A7A3C33}"/>
              </a:ext>
            </a:extLst>
          </p:cNvPr>
          <p:cNvSpPr>
            <a:spLocks noGrp="1" noChangeArrowheads="1"/>
          </p:cNvSpPr>
          <p:nvPr>
            <p:ph type="title" idx="4294967295"/>
          </p:nvPr>
        </p:nvSpPr>
        <p:spPr>
          <a:xfrm>
            <a:off x="230505" y="134448"/>
            <a:ext cx="4149090" cy="477017"/>
          </a:xfrm>
        </p:spPr>
        <p:txBody>
          <a:bodyPr/>
          <a:lstStyle/>
          <a:p>
            <a:r>
              <a:rPr lang="zh-CN" altLang="zh-CN" sz="1815">
                <a:ea typeface="宋体" panose="02010600030101010101" pitchFamily="2" charset="-122"/>
              </a:rPr>
              <a:t>自然失业率的解释：一个总结</a:t>
            </a:r>
          </a:p>
        </p:txBody>
      </p:sp>
      <p:sp>
        <p:nvSpPr>
          <p:cNvPr id="76803" name="Rectangle 3">
            <a:extLst>
              <a:ext uri="{FF2B5EF4-FFF2-40B4-BE49-F238E27FC236}">
                <a16:creationId xmlns:a16="http://schemas.microsoft.com/office/drawing/2014/main" id="{2545DD6A-EFA2-6C78-8929-49D1C0F27B52}"/>
              </a:ext>
            </a:extLst>
          </p:cNvPr>
          <p:cNvSpPr>
            <a:spLocks noGrp="1" noChangeArrowheads="1"/>
          </p:cNvSpPr>
          <p:nvPr>
            <p:ph type="body" idx="4294967295"/>
          </p:nvPr>
        </p:nvSpPr>
        <p:spPr>
          <a:xfrm>
            <a:off x="155271" y="667491"/>
            <a:ext cx="4297958" cy="2618793"/>
          </a:xfrm>
        </p:spPr>
        <p:txBody>
          <a:bodyPr/>
          <a:lstStyle/>
          <a:p>
            <a:pPr marL="0" indent="0">
              <a:buNone/>
            </a:pPr>
            <a:r>
              <a:rPr lang="zh-CN" altLang="zh-CN">
                <a:ea typeface="宋体" panose="02010600030101010101" pitchFamily="2" charset="-122"/>
              </a:rPr>
              <a:t>自然失业率由以下组成：</a:t>
            </a:r>
          </a:p>
          <a:p>
            <a:pPr marL="0" indent="0">
              <a:spcBef>
                <a:spcPct val="20000"/>
              </a:spcBef>
            </a:pPr>
            <a:r>
              <a:rPr lang="zh-CN" altLang="zh-CN">
                <a:ea typeface="宋体" panose="02010600030101010101" pitchFamily="2" charset="-122"/>
              </a:rPr>
              <a:t>摩擦性失业 </a:t>
            </a:r>
          </a:p>
          <a:p>
            <a:pPr marL="314564" lvl="1">
              <a:lnSpc>
                <a:spcPct val="105000"/>
              </a:lnSpc>
              <a:spcBef>
                <a:spcPct val="10000"/>
              </a:spcBef>
            </a:pPr>
            <a:r>
              <a:rPr lang="zh-CN" altLang="zh-CN" sz="1462">
                <a:ea typeface="宋体" panose="02010600030101010101" pitchFamily="2" charset="-122"/>
              </a:rPr>
              <a:t>寻找合适的工作需要时间 </a:t>
            </a:r>
          </a:p>
          <a:p>
            <a:pPr marL="314564" lvl="1">
              <a:lnSpc>
                <a:spcPct val="105000"/>
              </a:lnSpc>
              <a:spcBef>
                <a:spcPct val="10000"/>
              </a:spcBef>
            </a:pPr>
            <a:r>
              <a:rPr lang="zh-CN" altLang="zh-CN" sz="1462">
                <a:ea typeface="宋体" panose="02010600030101010101" pitchFamily="2" charset="-122"/>
              </a:rPr>
              <a:t>供选择的工作足够多时，更有可能出现</a:t>
            </a:r>
          </a:p>
          <a:p>
            <a:pPr marL="0" indent="0">
              <a:spcBef>
                <a:spcPct val="20000"/>
              </a:spcBef>
            </a:pPr>
            <a:r>
              <a:rPr lang="zh-CN" altLang="zh-CN">
                <a:ea typeface="宋体" panose="02010600030101010101" pitchFamily="2" charset="-122"/>
              </a:rPr>
              <a:t>结构性失业 </a:t>
            </a:r>
          </a:p>
          <a:p>
            <a:pPr marL="314564" lvl="1">
              <a:lnSpc>
                <a:spcPct val="105000"/>
              </a:lnSpc>
              <a:spcBef>
                <a:spcPct val="10000"/>
              </a:spcBef>
            </a:pPr>
            <a:r>
              <a:rPr lang="zh-CN" altLang="zh-CN" sz="1462">
                <a:ea typeface="宋体" panose="02010600030101010101" pitchFamily="2" charset="-122"/>
              </a:rPr>
              <a:t>工资高于均衡工资，没有足够的工作</a:t>
            </a:r>
          </a:p>
          <a:p>
            <a:pPr marL="314564" lvl="1">
              <a:lnSpc>
                <a:spcPct val="105000"/>
              </a:lnSpc>
              <a:spcBef>
                <a:spcPct val="10000"/>
              </a:spcBef>
            </a:pPr>
            <a:r>
              <a:rPr lang="zh-CN" altLang="zh-CN" sz="1462">
                <a:ea typeface="宋体" panose="02010600030101010101" pitchFamily="2" charset="-122"/>
              </a:rPr>
              <a:t>最低工资，工会，效率工资</a:t>
            </a:r>
          </a:p>
          <a:p>
            <a:pPr marL="0" indent="0">
              <a:spcBef>
                <a:spcPct val="55000"/>
              </a:spcBef>
              <a:buNone/>
            </a:pPr>
            <a:r>
              <a:rPr lang="zh-CN" altLang="zh-CN">
                <a:ea typeface="宋体" panose="02010600030101010101" pitchFamily="2" charset="-122"/>
              </a:rPr>
              <a:t>在接下来的章节中，我们将学习周期性失业和受商业周期影响的失业的短期波动</a:t>
            </a:r>
          </a:p>
        </p:txBody>
      </p:sp>
      <p:sp>
        <p:nvSpPr>
          <p:cNvPr id="76804" name="FlagCount" hidden="1">
            <a:hlinkClick r:id="rId3" action="ppaction://hlinkfile"/>
            <a:extLst>
              <a:ext uri="{FF2B5EF4-FFF2-40B4-BE49-F238E27FC236}">
                <a16:creationId xmlns:a16="http://schemas.microsoft.com/office/drawing/2014/main" id="{7F46CD78-B88E-B191-8B00-978286AF94B2}"/>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2" name="Rectangle 4">
            <a:extLst>
              <a:ext uri="{FF2B5EF4-FFF2-40B4-BE49-F238E27FC236}">
                <a16:creationId xmlns:a16="http://schemas.microsoft.com/office/drawing/2014/main" id="{1938B50C-DB81-AA18-EC9B-BCA4CAB836D0}"/>
              </a:ext>
            </a:extLst>
          </p:cNvPr>
          <p:cNvSpPr>
            <a:spLocks noGrp="1" noChangeArrowheads="1"/>
          </p:cNvSpPr>
          <p:nvPr>
            <p:ph type="body" idx="1"/>
          </p:nvPr>
        </p:nvSpPr>
        <p:spPr>
          <a:xfrm>
            <a:off x="188086" y="986036"/>
            <a:ext cx="4191509" cy="2346669"/>
          </a:xfrm>
        </p:spPr>
        <p:txBody>
          <a:bodyPr/>
          <a:lstStyle/>
          <a:p>
            <a:pPr>
              <a:buClr>
                <a:srgbClr val="996633"/>
              </a:buClr>
            </a:pPr>
            <a:r>
              <a:rPr lang="zh-CN" altLang="zh-CN" dirty="0">
                <a:ea typeface="宋体" panose="02010600030101010101" pitchFamily="2" charset="-122"/>
              </a:rPr>
              <a:t>失业率是那些想要工作但没有工作的人所占的百分比</a:t>
            </a:r>
          </a:p>
          <a:p>
            <a:pPr>
              <a:buClr>
                <a:srgbClr val="996633"/>
              </a:buClr>
            </a:pPr>
            <a:r>
              <a:rPr lang="zh-CN" altLang="zh-CN" dirty="0">
                <a:ea typeface="宋体" panose="02010600030101010101" pitchFamily="2" charset="-122"/>
              </a:rPr>
              <a:t>不同人口群体的失业和劳工参与状况差别很大</a:t>
            </a:r>
          </a:p>
          <a:p>
            <a:pPr>
              <a:buClr>
                <a:srgbClr val="996633"/>
              </a:buClr>
            </a:pPr>
            <a:r>
              <a:rPr lang="zh-CN" altLang="zh-CN" dirty="0">
                <a:ea typeface="宋体" panose="02010600030101010101" pitchFamily="2" charset="-122"/>
              </a:rPr>
              <a:t>自然失业率是指失业率围绕它而波动的正常失业率。周期性失业是失业率对自然失业率的背离，</a:t>
            </a:r>
            <a:r>
              <a:rPr lang="zh-CN" altLang="zh-CN" u="sng" dirty="0">
                <a:ea typeface="宋体" panose="02010600030101010101" pitchFamily="2" charset="-122"/>
              </a:rPr>
              <a:t>和短期经济波动相关</a:t>
            </a:r>
          </a:p>
        </p:txBody>
      </p:sp>
      <p:sp>
        <p:nvSpPr>
          <p:cNvPr id="78853" name="Rectangle 5">
            <a:extLst>
              <a:ext uri="{FF2B5EF4-FFF2-40B4-BE49-F238E27FC236}">
                <a16:creationId xmlns:a16="http://schemas.microsoft.com/office/drawing/2014/main" id="{C1F04F93-F223-B58E-AB13-AECFB2F85BFD}"/>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7CEE9B0B-4642-2F4A-A6B2-C4F4BA001AD6}"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42</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D722A86-1D83-48A2-9AE5-902E05C1B72F}"/>
              </a:ext>
            </a:extLst>
          </p:cNvPr>
          <p:cNvSpPr>
            <a:spLocks noGrp="1"/>
          </p:cNvSpPr>
          <p:nvPr>
            <p:ph type="title"/>
          </p:nvPr>
        </p:nvSpPr>
        <p:spPr/>
        <p:txBody>
          <a:bodyPr/>
          <a:lstStyle/>
          <a:p>
            <a:r>
              <a:rPr kumimoji="1" lang="zh-CN" altLang="en-US" dirty="0"/>
              <a:t>本节总结</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6" name="Rectangle 4">
            <a:extLst>
              <a:ext uri="{FF2B5EF4-FFF2-40B4-BE49-F238E27FC236}">
                <a16:creationId xmlns:a16="http://schemas.microsoft.com/office/drawing/2014/main" id="{26C873C7-E3A2-D9E1-FDA1-FE0EC428F507}"/>
              </a:ext>
            </a:extLst>
          </p:cNvPr>
          <p:cNvSpPr>
            <a:spLocks noGrp="1" noChangeArrowheads="1"/>
          </p:cNvSpPr>
          <p:nvPr>
            <p:ph type="body" idx="1"/>
          </p:nvPr>
        </p:nvSpPr>
        <p:spPr>
          <a:xfrm>
            <a:off x="188086" y="986036"/>
            <a:ext cx="4191509" cy="2148979"/>
          </a:xfrm>
        </p:spPr>
        <p:txBody>
          <a:bodyPr/>
          <a:lstStyle/>
          <a:p>
            <a:pPr>
              <a:buClr>
                <a:srgbClr val="996633"/>
              </a:buClr>
            </a:pPr>
            <a:r>
              <a:rPr lang="zh-CN" altLang="zh-CN" u="sng" dirty="0">
                <a:ea typeface="宋体" panose="02010600030101010101" pitchFamily="2" charset="-122"/>
              </a:rPr>
              <a:t>自然失业率包括摩擦性失业和结构性失业</a:t>
            </a:r>
          </a:p>
          <a:p>
            <a:pPr>
              <a:buClr>
                <a:srgbClr val="996633"/>
              </a:buClr>
            </a:pPr>
            <a:r>
              <a:rPr lang="zh-CN" altLang="zh-CN" dirty="0">
                <a:ea typeface="宋体" panose="02010600030101010101" pitchFamily="2" charset="-122"/>
              </a:rPr>
              <a:t>当工人花时间去寻找合适的工作时，就会产生摩擦性失业</a:t>
            </a:r>
          </a:p>
          <a:p>
            <a:pPr>
              <a:buClr>
                <a:srgbClr val="996633"/>
              </a:buClr>
            </a:pPr>
            <a:r>
              <a:rPr lang="zh-CN" altLang="zh-CN" dirty="0">
                <a:ea typeface="宋体" panose="02010600030101010101" pitchFamily="2" charset="-122"/>
              </a:rPr>
              <a:t>当实际工资高于均衡工资导致劳动过剩时，便会产生结构性失业  </a:t>
            </a:r>
          </a:p>
          <a:p>
            <a:pPr>
              <a:buClr>
                <a:srgbClr val="996633"/>
              </a:buClr>
            </a:pPr>
            <a:r>
              <a:rPr lang="zh-CN" altLang="zh-CN" dirty="0">
                <a:ea typeface="宋体" panose="02010600030101010101" pitchFamily="2" charset="-122"/>
              </a:rPr>
              <a:t>实际工资高于均衡工资的三个原因：</a:t>
            </a:r>
            <a:r>
              <a:rPr lang="zh-CN" altLang="zh-CN" u="sng" dirty="0">
                <a:ea typeface="宋体" panose="02010600030101010101" pitchFamily="2" charset="-122"/>
              </a:rPr>
              <a:t>最低工资法，工会和效率工资</a:t>
            </a:r>
          </a:p>
        </p:txBody>
      </p:sp>
      <p:sp>
        <p:nvSpPr>
          <p:cNvPr id="79877" name="Rectangle 5">
            <a:extLst>
              <a:ext uri="{FF2B5EF4-FFF2-40B4-BE49-F238E27FC236}">
                <a16:creationId xmlns:a16="http://schemas.microsoft.com/office/drawing/2014/main" id="{A7B82BCF-6E36-1614-CC7B-F253693227E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209BF336-89D8-3A4E-9CCD-220DA413F934}"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43</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309B286-B88E-F5A1-31A6-847A1DFDDDF5}"/>
              </a:ext>
            </a:extLst>
          </p:cNvPr>
          <p:cNvSpPr>
            <a:spLocks noGrp="1"/>
          </p:cNvSpPr>
          <p:nvPr>
            <p:ph type="title"/>
          </p:nvPr>
        </p:nvSpPr>
        <p:spPr/>
        <p:txBody>
          <a:bodyPr/>
          <a:lstStyle/>
          <a:p>
            <a:r>
              <a:rPr kumimoji="1" lang="zh-CN" altLang="en-US" dirty="0"/>
              <a:t>本节总结</a:t>
            </a: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07_MRM_Further_Issues" id="{24B43B47-24CB-46F7-B8C9-C4EBF626B1D6}" vid="{43F0D2F8-6075-47B2-B32A-3346D0B039E8}"/>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6186</TotalTime>
  <Words>5139</Words>
  <Application>Microsoft Office PowerPoint</Application>
  <PresentationFormat>自定义</PresentationFormat>
  <Paragraphs>523</Paragraphs>
  <Slides>44</Slides>
  <Notes>29</Notes>
  <HiddenSlides>0</HiddenSlides>
  <MMClips>0</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44</vt:i4>
      </vt:variant>
    </vt:vector>
  </HeadingPairs>
  <TitlesOfParts>
    <vt:vector size="60" baseType="lpstr">
      <vt:lpstr>等线</vt:lpstr>
      <vt:lpstr>等线</vt:lpstr>
      <vt:lpstr>宋体</vt:lpstr>
      <vt:lpstr>Microsoft YaHei</vt:lpstr>
      <vt:lpstr>Arial</vt:lpstr>
      <vt:lpstr>Book Antiqua</vt:lpstr>
      <vt:lpstr>Calibri</vt:lpstr>
      <vt:lpstr>Garamond</vt:lpstr>
      <vt:lpstr>Tahoma</vt:lpstr>
      <vt:lpstr>Times New Roman</vt:lpstr>
      <vt:lpstr>Wingdings</vt:lpstr>
      <vt:lpstr>Office 主题​​</vt:lpstr>
      <vt:lpstr>Custom Design</vt:lpstr>
      <vt:lpstr>1_Custom Design</vt:lpstr>
      <vt:lpstr>2_Custom Design</vt:lpstr>
      <vt:lpstr>3_Custom Design</vt:lpstr>
      <vt:lpstr>宏观经济学</vt:lpstr>
      <vt:lpstr>PowerPoint 演示文稿</vt:lpstr>
      <vt:lpstr>劳动力数据</vt:lpstr>
      <vt:lpstr>劳动力数据</vt:lpstr>
      <vt:lpstr>劳动力数据</vt:lpstr>
      <vt:lpstr>主动学习  1    计算劳动力数据</vt:lpstr>
      <vt:lpstr>主动学习  1    参考答案</vt:lpstr>
      <vt:lpstr>主动学习  1    参考答案</vt:lpstr>
      <vt:lpstr>PowerPoint 演示文稿</vt:lpstr>
      <vt:lpstr>不同人口群体的劳动力市场数据</vt:lpstr>
      <vt:lpstr>白人与黑人的劳动力市场数据：2008年6月</vt:lpstr>
      <vt:lpstr>白人与黑人的劳动力市场数据：2008年6月</vt:lpstr>
      <vt:lpstr>其他群体的劳动力市场数据：2008年6月</vt:lpstr>
      <vt:lpstr>不同受教育程度的劳动力市场数据：2008年6月</vt:lpstr>
      <vt:lpstr>男性与女性的劳动力参工率，1950-2007年</vt:lpstr>
      <vt:lpstr>主动学习  2    失业率的局限</vt:lpstr>
      <vt:lpstr>主动学习  2    参考答案</vt:lpstr>
      <vt:lpstr>主动学习  2    参考答案</vt:lpstr>
      <vt:lpstr>主动学习  2    参考答案</vt:lpstr>
      <vt:lpstr>失业率真的衡量什么？</vt:lpstr>
      <vt:lpstr>失业的持续时间</vt:lpstr>
      <vt:lpstr>周期性失业与自然失业率</vt:lpstr>
      <vt:lpstr>美国的失业：1960-2007年</vt:lpstr>
      <vt:lpstr>对自然失业率的解释：一个概述</vt:lpstr>
      <vt:lpstr>寻找工作</vt:lpstr>
      <vt:lpstr>公共政策和寻找工作</vt:lpstr>
      <vt:lpstr>失业保险</vt:lpstr>
      <vt:lpstr>失业保险</vt:lpstr>
      <vt:lpstr>结构性失业的解释</vt:lpstr>
      <vt:lpstr>1.  最低工资法</vt:lpstr>
      <vt:lpstr>2.  工会</vt:lpstr>
      <vt:lpstr>2.  工会</vt:lpstr>
      <vt:lpstr>2.  工会</vt:lpstr>
      <vt:lpstr>3.  效率工资</vt:lpstr>
      <vt:lpstr>3.  效率工资</vt:lpstr>
      <vt:lpstr>3.  效率工资</vt:lpstr>
      <vt:lpstr>主动学习  3    概念的应用</vt:lpstr>
      <vt:lpstr>主动学习  3    参考答案</vt:lpstr>
      <vt:lpstr>主动学习  3    参考答案</vt:lpstr>
      <vt:lpstr>主动学习  3    参考答案</vt:lpstr>
      <vt:lpstr>自然失业率的解释：一个总结</vt:lpstr>
      <vt:lpstr>本节总结</vt:lpstr>
      <vt:lpstr>本节总结</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shiyu fang</cp:lastModifiedBy>
  <cp:revision>1455</cp:revision>
  <dcterms:created xsi:type="dcterms:W3CDTF">2022-08-17T03:42:51Z</dcterms:created>
  <dcterms:modified xsi:type="dcterms:W3CDTF">2025-05-09T14:10:42Z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