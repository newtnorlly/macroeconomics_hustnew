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31" r:id="rId5"/>
    <p:sldMasterId id="2147483757" r:id="rId6"/>
    <p:sldMasterId id="2147483769" r:id="rId7"/>
    <p:sldMasterId id="2147483794" r:id="rId8"/>
    <p:sldMasterId id="2147483806" r:id="rId9"/>
  </p:sldMasterIdLst>
  <p:notesMasterIdLst>
    <p:notesMasterId r:id="rId99"/>
  </p:notesMasterIdLst>
  <p:sldIdLst>
    <p:sldId id="1097" r:id="rId10"/>
    <p:sldId id="962" r:id="rId11"/>
    <p:sldId id="1204" r:id="rId12"/>
    <p:sldId id="1290" r:id="rId13"/>
    <p:sldId id="1201" r:id="rId14"/>
    <p:sldId id="278" r:id="rId15"/>
    <p:sldId id="1190" r:id="rId16"/>
    <p:sldId id="1191" r:id="rId17"/>
    <p:sldId id="1192" r:id="rId18"/>
    <p:sldId id="1193" r:id="rId19"/>
    <p:sldId id="1194" r:id="rId20"/>
    <p:sldId id="1195" r:id="rId21"/>
    <p:sldId id="1118" r:id="rId22"/>
    <p:sldId id="1196" r:id="rId23"/>
    <p:sldId id="1121" r:id="rId24"/>
    <p:sldId id="448" r:id="rId25"/>
    <p:sldId id="1197" r:id="rId26"/>
    <p:sldId id="1198" r:id="rId27"/>
    <p:sldId id="1199" r:id="rId28"/>
    <p:sldId id="1200" r:id="rId29"/>
    <p:sldId id="340" r:id="rId30"/>
    <p:sldId id="1205" r:id="rId31"/>
    <p:sldId id="1219" r:id="rId32"/>
    <p:sldId id="1221" r:id="rId33"/>
    <p:sldId id="1220" r:id="rId34"/>
    <p:sldId id="1222" r:id="rId35"/>
    <p:sldId id="1223" r:id="rId36"/>
    <p:sldId id="1224" r:id="rId37"/>
    <p:sldId id="1206" r:id="rId38"/>
    <p:sldId id="1207" r:id="rId39"/>
    <p:sldId id="1208" r:id="rId40"/>
    <p:sldId id="1211" r:id="rId41"/>
    <p:sldId id="1212" r:id="rId42"/>
    <p:sldId id="1216" r:id="rId43"/>
    <p:sldId id="1246" r:id="rId44"/>
    <p:sldId id="1247" r:id="rId45"/>
    <p:sldId id="1248" r:id="rId46"/>
    <p:sldId id="1227" r:id="rId47"/>
    <p:sldId id="1143" r:id="rId48"/>
    <p:sldId id="1225" r:id="rId49"/>
    <p:sldId id="1239" r:id="rId50"/>
    <p:sldId id="1228" r:id="rId51"/>
    <p:sldId id="1149" r:id="rId52"/>
    <p:sldId id="1249" r:id="rId53"/>
    <p:sldId id="1251" r:id="rId54"/>
    <p:sldId id="1150" r:id="rId55"/>
    <p:sldId id="1252" r:id="rId56"/>
    <p:sldId id="1250" r:id="rId57"/>
    <p:sldId id="1254" r:id="rId58"/>
    <p:sldId id="1255" r:id="rId59"/>
    <p:sldId id="1256" r:id="rId60"/>
    <p:sldId id="1229" r:id="rId61"/>
    <p:sldId id="1257" r:id="rId62"/>
    <p:sldId id="1258" r:id="rId63"/>
    <p:sldId id="1259" r:id="rId64"/>
    <p:sldId id="1293" r:id="rId65"/>
    <p:sldId id="1294" r:id="rId66"/>
    <p:sldId id="1262" r:id="rId67"/>
    <p:sldId id="1261" r:id="rId68"/>
    <p:sldId id="1260" r:id="rId69"/>
    <p:sldId id="1292" r:id="rId70"/>
    <p:sldId id="1170" r:id="rId71"/>
    <p:sldId id="1171" r:id="rId72"/>
    <p:sldId id="1172" r:id="rId73"/>
    <p:sldId id="1173" r:id="rId74"/>
    <p:sldId id="1304" r:id="rId75"/>
    <p:sldId id="1175" r:id="rId76"/>
    <p:sldId id="1176" r:id="rId77"/>
    <p:sldId id="1178" r:id="rId78"/>
    <p:sldId id="1179" r:id="rId79"/>
    <p:sldId id="1306" r:id="rId80"/>
    <p:sldId id="1180" r:id="rId81"/>
    <p:sldId id="1307" r:id="rId82"/>
    <p:sldId id="1181" r:id="rId83"/>
    <p:sldId id="1182" r:id="rId84"/>
    <p:sldId id="1295" r:id="rId85"/>
    <p:sldId id="1297" r:id="rId86"/>
    <p:sldId id="1296" r:id="rId87"/>
    <p:sldId id="1184" r:id="rId88"/>
    <p:sldId id="1305" r:id="rId89"/>
    <p:sldId id="1185" r:id="rId90"/>
    <p:sldId id="1298" r:id="rId91"/>
    <p:sldId id="1299" r:id="rId92"/>
    <p:sldId id="1300" r:id="rId93"/>
    <p:sldId id="1301" r:id="rId94"/>
    <p:sldId id="1308" r:id="rId95"/>
    <p:sldId id="1309" r:id="rId96"/>
    <p:sldId id="1310" r:id="rId97"/>
    <p:sldId id="367" r:id="rId98"/>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1204"/>
          </p14:sldIdLst>
        </p14:section>
        <p14:section name="经济循环" id="{4136150C-581C-EF40-81FA-CC69820A71C9}">
          <p14:sldIdLst>
            <p14:sldId id="1290"/>
            <p14:sldId id="1201"/>
            <p14:sldId id="278"/>
            <p14:sldId id="1190"/>
            <p14:sldId id="1191"/>
            <p14:sldId id="1192"/>
            <p14:sldId id="1193"/>
            <p14:sldId id="1194"/>
            <p14:sldId id="1195"/>
            <p14:sldId id="1118"/>
            <p14:sldId id="1196"/>
            <p14:sldId id="1121"/>
            <p14:sldId id="448"/>
            <p14:sldId id="1197"/>
            <p14:sldId id="1198"/>
            <p14:sldId id="1199"/>
            <p14:sldId id="1200"/>
            <p14:sldId id="340"/>
          </p14:sldIdLst>
        </p14:section>
        <p14:section name="均衡产出的条件" id="{E6249817-2F0E-46AA-B52A-2E0B9167087C}">
          <p14:sldIdLst>
            <p14:sldId id="1205"/>
            <p14:sldId id="1219"/>
            <p14:sldId id="1221"/>
            <p14:sldId id="1220"/>
            <p14:sldId id="1222"/>
            <p14:sldId id="1223"/>
            <p14:sldId id="1224"/>
            <p14:sldId id="1206"/>
            <p14:sldId id="1207"/>
            <p14:sldId id="1208"/>
            <p14:sldId id="1211"/>
            <p14:sldId id="1212"/>
            <p14:sldId id="1216"/>
          </p14:sldIdLst>
        </p14:section>
        <p14:section name="消费函数" id="{122C411D-D009-8E44-AEB5-4CABCCB03C88}">
          <p14:sldIdLst>
            <p14:sldId id="1246"/>
            <p14:sldId id="1247"/>
            <p14:sldId id="1248"/>
            <p14:sldId id="1227"/>
            <p14:sldId id="1143"/>
            <p14:sldId id="1225"/>
            <p14:sldId id="1239"/>
            <p14:sldId id="1228"/>
            <p14:sldId id="1149"/>
            <p14:sldId id="1249"/>
            <p14:sldId id="1251"/>
            <p14:sldId id="1150"/>
            <p14:sldId id="1252"/>
            <p14:sldId id="1250"/>
            <p14:sldId id="1254"/>
            <p14:sldId id="1255"/>
            <p14:sldId id="1256"/>
          </p14:sldIdLst>
        </p14:section>
        <p14:section name="凯恩斯交叉" id="{A0772F44-2E93-F049-92EC-330148DF7BB5}">
          <p14:sldIdLst>
            <p14:sldId id="1229"/>
            <p14:sldId id="1257"/>
            <p14:sldId id="1258"/>
            <p14:sldId id="1259"/>
            <p14:sldId id="1293"/>
            <p14:sldId id="1294"/>
            <p14:sldId id="1262"/>
            <p14:sldId id="1261"/>
            <p14:sldId id="1260"/>
          </p14:sldIdLst>
        </p14:section>
        <p14:section name="乘数论" id="{500FB684-5CD4-854E-BFCF-1845B8C39135}">
          <p14:sldIdLst>
            <p14:sldId id="1292"/>
            <p14:sldId id="1170"/>
            <p14:sldId id="1171"/>
            <p14:sldId id="1172"/>
            <p14:sldId id="1173"/>
            <p14:sldId id="1304"/>
            <p14:sldId id="1175"/>
            <p14:sldId id="1176"/>
            <p14:sldId id="1178"/>
            <p14:sldId id="1179"/>
            <p14:sldId id="1306"/>
            <p14:sldId id="1180"/>
            <p14:sldId id="1307"/>
            <p14:sldId id="1181"/>
            <p14:sldId id="1182"/>
            <p14:sldId id="1295"/>
            <p14:sldId id="1297"/>
            <p14:sldId id="1296"/>
            <p14:sldId id="1184"/>
            <p14:sldId id="1305"/>
            <p14:sldId id="1185"/>
            <p14:sldId id="1298"/>
            <p14:sldId id="1299"/>
            <p14:sldId id="1300"/>
            <p14:sldId id="1301"/>
            <p14:sldId id="1308"/>
            <p14:sldId id="1309"/>
            <p14:sldId id="1310"/>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p:restoredTop sz="95659"/>
  </p:normalViewPr>
  <p:slideViewPr>
    <p:cSldViewPr>
      <p:cViewPr varScale="1">
        <p:scale>
          <a:sx n="159" d="100"/>
          <a:sy n="159" d="100"/>
        </p:scale>
        <p:origin x="1248" y="110"/>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theme" Target="theme/theme1.xml"/><Relationship Id="rId5" Type="http://schemas.openxmlformats.org/officeDocument/2006/relationships/slideMaster" Target="slideMasters/slideMaster5.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slide" Target="slides/slide79.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slide" Target="slides/slide85.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2025/5/9</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FFFBBD5-78B9-388B-0FC6-068E983C52E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19FE7FF-6CBD-0C48-A86F-A4F0B28E0DE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Rectangle 2">
            <a:extLst>
              <a:ext uri="{FF2B5EF4-FFF2-40B4-BE49-F238E27FC236}">
                <a16:creationId xmlns:a16="http://schemas.microsoft.com/office/drawing/2014/main" id="{21A2B47C-2C02-6CAF-5658-27B74DA1DF4B}"/>
              </a:ext>
            </a:extLst>
          </p:cNvPr>
          <p:cNvSpPr>
            <a:spLocks noGrp="1" noRot="1" noChangeAspect="1" noChangeArrowheads="1" noTextEdit="1"/>
          </p:cNvSpPr>
          <p:nvPr>
            <p:ph type="sldImg"/>
          </p:nvPr>
        </p:nvSpPr>
        <p:spPr/>
      </p:sp>
      <p:sp>
        <p:nvSpPr>
          <p:cNvPr id="13316" name="Rectangle 3">
            <a:extLst>
              <a:ext uri="{FF2B5EF4-FFF2-40B4-BE49-F238E27FC236}">
                <a16:creationId xmlns:a16="http://schemas.microsoft.com/office/drawing/2014/main" id="{8D9A2C46-7E79-695E-F8CA-73700A5BFADF}"/>
              </a:ext>
            </a:extLst>
          </p:cNvPr>
          <p:cNvSpPr>
            <a:spLocks noGrp="1" noChangeArrowheads="1"/>
          </p:cNvSpPr>
          <p:nvPr>
            <p:ph type="body" idx="1"/>
          </p:nvPr>
        </p:nvSpPr>
        <p:spPr/>
        <p:txBody>
          <a:bodyPr anchor="t"/>
          <a:lstStyle/>
          <a:p>
            <a:r>
              <a:rPr lang="en-US" altLang="zh-CN">
                <a:ea typeface="宋体" panose="02010600030101010101" pitchFamily="2" charset="-122"/>
              </a:rPr>
              <a:t>In case anyone asks, “T” here (and in general) is net of transfer payments.  </a:t>
            </a:r>
          </a:p>
          <a:p>
            <a:endParaRPr lang="en-US" altLang="zh-CN">
              <a:ea typeface="宋体" panose="02010600030101010101" pitchFamily="2" charset="-122"/>
            </a:endParaRPr>
          </a:p>
          <a:p>
            <a:r>
              <a:rPr lang="en-US" altLang="zh-CN">
                <a:ea typeface="宋体" panose="02010600030101010101" pitchFamily="2" charset="-122"/>
              </a:rPr>
              <a:t>After presenting this slide and the next, it might be useful to point out the following: </a:t>
            </a:r>
          </a:p>
          <a:p>
            <a:endParaRPr lang="en-US" altLang="zh-CN">
              <a:ea typeface="宋体" panose="02010600030101010101" pitchFamily="2" charset="-122"/>
            </a:endParaRPr>
          </a:p>
          <a:p>
            <a:r>
              <a:rPr lang="en-US" altLang="zh-CN">
                <a:ea typeface="宋体" panose="02010600030101010101" pitchFamily="2" charset="-122"/>
              </a:rPr>
              <a:t>In general, “saving” is just some measure of income minus some measure of expenditure. </a:t>
            </a:r>
          </a:p>
          <a:p>
            <a:endParaRPr lang="en-US" altLang="zh-CN">
              <a:ea typeface="宋体" panose="02010600030101010101" pitchFamily="2" charset="-122"/>
            </a:endParaRPr>
          </a:p>
          <a:p>
            <a:r>
              <a:rPr lang="en-US" altLang="zh-CN">
                <a:ea typeface="宋体" panose="02010600030101010101" pitchFamily="2" charset="-122"/>
              </a:rPr>
              <a:t>For private (household) saving, the measure of income is “disposable income,” or gross income minus taxes (“take-home pay.”)  The measure of expenditure is consumption.  </a:t>
            </a:r>
          </a:p>
          <a:p>
            <a:endParaRPr lang="en-US" altLang="zh-CN">
              <a:ea typeface="宋体" panose="02010600030101010101" pitchFamily="2" charset="-122"/>
            </a:endParaRPr>
          </a:p>
          <a:p>
            <a:r>
              <a:rPr lang="en-US" altLang="zh-CN">
                <a:ea typeface="宋体" panose="02010600030101010101" pitchFamily="2" charset="-122"/>
              </a:rPr>
              <a:t>For public (government) saving, the measure of income is T, total taxes, which is the government’s source of “income.”  The measure of expenditure is simply G, government purchases.  </a:t>
            </a:r>
          </a:p>
          <a:p>
            <a:endParaRPr lang="en-US" altLang="zh-CN">
              <a:ea typeface="宋体" panose="02010600030101010101" pitchFamily="2" charset="-122"/>
            </a:endParaRPr>
          </a:p>
          <a:p>
            <a:r>
              <a:rPr lang="en-US" altLang="zh-CN">
                <a:ea typeface="宋体" panose="02010600030101010101" pitchFamily="2" charset="-122"/>
              </a:rPr>
              <a:t>In the case of national saving (covered on the next slide), the measure of income is GDP, and the measure of expenditure is C+G.  </a:t>
            </a:r>
          </a:p>
          <a:p>
            <a:endParaRPr lang="zh-CN" altLang="zh-CN">
              <a:ea typeface="宋体" panose="02010600030101010101" pitchFamily="2" charset="-122"/>
            </a:endParaRPr>
          </a:p>
        </p:txBody>
      </p:sp>
    </p:spTree>
    <p:extLst>
      <p:ext uri="{BB962C8B-B14F-4D97-AF65-F5344CB8AC3E}">
        <p14:creationId xmlns:p14="http://schemas.microsoft.com/office/powerpoint/2010/main" val="1248861821"/>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192AFA3-3404-4DD8-CA3D-1E04B97DC185}"/>
              </a:ext>
            </a:extLst>
          </p:cNvPr>
          <p:cNvSpPr>
            <a:spLocks noGrp="1" noRot="1" noChangeAspect="1" noChangeArrowheads="1" noTextEdit="1"/>
          </p:cNvSpPr>
          <p:nvPr>
            <p:ph type="sldImg"/>
          </p:nvPr>
        </p:nvSpPr>
        <p:spPr/>
      </p:sp>
      <p:sp>
        <p:nvSpPr>
          <p:cNvPr id="43011" name="Rectangle 3">
            <a:extLst>
              <a:ext uri="{FF2B5EF4-FFF2-40B4-BE49-F238E27FC236}">
                <a16:creationId xmlns:a16="http://schemas.microsoft.com/office/drawing/2014/main" id="{11E96309-5A5E-1F2A-CFAE-6E8C840A7D15}"/>
              </a:ext>
            </a:extLst>
          </p:cNvPr>
          <p:cNvSpPr>
            <a:spLocks noGrp="1" noRot="1" noChangeArrowheads="1"/>
          </p:cNvSpPr>
          <p:nvPr>
            <p:ph type="body" idx="1"/>
          </p:nvPr>
        </p:nvSpPr>
        <p:spPr/>
        <p:txBody>
          <a:bodyPr/>
          <a:lstStyle/>
          <a:p>
            <a:r>
              <a:rPr lang="en-US" altLang="zh-CN">
                <a:ea typeface="宋体" panose="02010600030101010101" pitchFamily="2" charset="-122"/>
              </a:rPr>
              <a:t>Suggestion:  Show these questions, and give your students 1-3 minutes to formulate their answers.  When you are ready to discuss the answers, go to the next slide….</a:t>
            </a:r>
          </a:p>
        </p:txBody>
      </p:sp>
    </p:spTree>
    <p:extLst>
      <p:ext uri="{BB962C8B-B14F-4D97-AF65-F5344CB8AC3E}">
        <p14:creationId xmlns:p14="http://schemas.microsoft.com/office/powerpoint/2010/main" val="546376333"/>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192AFA3-3404-4DD8-CA3D-1E04B97DC185}"/>
              </a:ext>
            </a:extLst>
          </p:cNvPr>
          <p:cNvSpPr>
            <a:spLocks noGrp="1" noRot="1" noChangeAspect="1" noChangeArrowheads="1" noTextEdit="1"/>
          </p:cNvSpPr>
          <p:nvPr>
            <p:ph type="sldImg"/>
          </p:nvPr>
        </p:nvSpPr>
        <p:spPr/>
      </p:sp>
      <p:sp>
        <p:nvSpPr>
          <p:cNvPr id="43011" name="Rectangle 3">
            <a:extLst>
              <a:ext uri="{FF2B5EF4-FFF2-40B4-BE49-F238E27FC236}">
                <a16:creationId xmlns:a16="http://schemas.microsoft.com/office/drawing/2014/main" id="{11E96309-5A5E-1F2A-CFAE-6E8C840A7D15}"/>
              </a:ext>
            </a:extLst>
          </p:cNvPr>
          <p:cNvSpPr>
            <a:spLocks noGrp="1" noRot="1" noChangeArrowheads="1"/>
          </p:cNvSpPr>
          <p:nvPr>
            <p:ph type="body" idx="1"/>
          </p:nvPr>
        </p:nvSpPr>
        <p:spPr/>
        <p:txBody>
          <a:bodyPr/>
          <a:lstStyle/>
          <a:p>
            <a:r>
              <a:rPr lang="en-US" altLang="zh-CN">
                <a:ea typeface="宋体" panose="02010600030101010101" pitchFamily="2" charset="-122"/>
              </a:rPr>
              <a:t>Suggestion:  Show these questions, and give your students 1-3 minutes to formulate their answers.  When you are ready to discuss the answers, go to the next slide….</a:t>
            </a:r>
          </a:p>
        </p:txBody>
      </p:sp>
    </p:spTree>
    <p:extLst>
      <p:ext uri="{BB962C8B-B14F-4D97-AF65-F5344CB8AC3E}">
        <p14:creationId xmlns:p14="http://schemas.microsoft.com/office/powerpoint/2010/main" val="3568293747"/>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solidFill>
                  <a:srgbClr val="C00000"/>
                </a:solidFill>
                <a:latin typeface="Garamond" panose="02020404030301010803" pitchFamily="18" charset="0"/>
                <a:ea typeface="SimSun" panose="02010600030101010101" pitchFamily="2"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E0717907-4000-4848-859E-92EAEFBB09E5}" type="datetime1">
              <a:rPr lang="zh-CN" altLang="en-US" smtClean="0"/>
              <a:t>2025/5/9</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pPr>
                <a:defRPr/>
              </a:pPr>
              <a:t>‹#›</a:t>
            </a:fld>
            <a:endParaRPr lang="zh-CN" altLang="en-US"/>
          </a:p>
        </p:txBody>
      </p:sp>
    </p:spTree>
    <p:extLst>
      <p:ext uri="{BB962C8B-B14F-4D97-AF65-F5344CB8AC3E}">
        <p14:creationId xmlns:p14="http://schemas.microsoft.com/office/powerpoint/2010/main" val="19113387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3C1DD118-5890-49BE-99BE-BB5FEBFAC173}" type="datetime1">
              <a:rPr lang="zh-CN" altLang="en-US" smtClean="0"/>
              <a:t>2025/5/9</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pPr>
                <a:defRPr/>
              </a:pPr>
              <a:t>‹#›</a:t>
            </a:fld>
            <a:endParaRPr lang="zh-CN" altLang="en-US"/>
          </a:p>
        </p:txBody>
      </p:sp>
    </p:spTree>
    <p:extLst>
      <p:ext uri="{BB962C8B-B14F-4D97-AF65-F5344CB8AC3E}">
        <p14:creationId xmlns:p14="http://schemas.microsoft.com/office/powerpoint/2010/main" val="16572070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p:nvPr>
        </p:nvSpPr>
        <p:spPr>
          <a:xfrm>
            <a:off x="314544" y="2315980"/>
            <a:ext cx="3976211" cy="757039"/>
          </a:xfrm>
        </p:spPr>
        <p:txBody>
          <a:bodyPr/>
          <a:lstStyle>
            <a:lvl1pPr marL="0" indent="0">
              <a:buNone/>
              <a:defRPr sz="1210">
                <a:solidFill>
                  <a:schemeClr val="tx1"/>
                </a:solidFill>
              </a:defRPr>
            </a:lvl1pPr>
            <a:lvl2pPr marL="230520" indent="0">
              <a:buNone/>
              <a:defRPr sz="1008">
                <a:solidFill>
                  <a:schemeClr val="tx1">
                    <a:tint val="75000"/>
                  </a:schemeClr>
                </a:solidFill>
              </a:defRPr>
            </a:lvl2pPr>
            <a:lvl3pPr marL="461040" indent="0">
              <a:buNone/>
              <a:defRPr sz="908">
                <a:solidFill>
                  <a:schemeClr val="tx1">
                    <a:tint val="75000"/>
                  </a:schemeClr>
                </a:solidFill>
              </a:defRPr>
            </a:lvl3pPr>
            <a:lvl4pPr marL="691561" indent="0">
              <a:buNone/>
              <a:defRPr sz="807">
                <a:solidFill>
                  <a:schemeClr val="tx1">
                    <a:tint val="75000"/>
                  </a:schemeClr>
                </a:solidFill>
              </a:defRPr>
            </a:lvl4pPr>
            <a:lvl5pPr marL="922081" indent="0">
              <a:buNone/>
              <a:defRPr sz="807">
                <a:solidFill>
                  <a:schemeClr val="tx1">
                    <a:tint val="75000"/>
                  </a:schemeClr>
                </a:solidFill>
              </a:defRPr>
            </a:lvl5pPr>
            <a:lvl6pPr marL="1152601" indent="0">
              <a:buNone/>
              <a:defRPr sz="807">
                <a:solidFill>
                  <a:schemeClr val="tx1">
                    <a:tint val="75000"/>
                  </a:schemeClr>
                </a:solidFill>
              </a:defRPr>
            </a:lvl6pPr>
            <a:lvl7pPr marL="1383121" indent="0">
              <a:buNone/>
              <a:defRPr sz="807">
                <a:solidFill>
                  <a:schemeClr val="tx1">
                    <a:tint val="75000"/>
                  </a:schemeClr>
                </a:solidFill>
              </a:defRPr>
            </a:lvl7pPr>
            <a:lvl8pPr marL="1613642" indent="0">
              <a:buNone/>
              <a:defRPr sz="807">
                <a:solidFill>
                  <a:schemeClr val="tx1">
                    <a:tint val="75000"/>
                  </a:schemeClr>
                </a:solidFill>
              </a:defRPr>
            </a:lvl8pPr>
            <a:lvl9pPr marL="1844162" indent="0">
              <a:buNone/>
              <a:defRPr sz="80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84E2CD93-5C73-4564-9D5D-2BA1109C02B2}" type="datetime1">
              <a:rPr lang="zh-CN" altLang="en-US" smtClean="0"/>
              <a:t>2025/5/9</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pPr>
                <a:defRPr/>
              </a:pPr>
              <a:t>‹#›</a:t>
            </a:fld>
            <a:endParaRPr lang="zh-CN" altLang="en-US"/>
          </a:p>
        </p:txBody>
      </p:sp>
    </p:spTree>
    <p:extLst>
      <p:ext uri="{BB962C8B-B14F-4D97-AF65-F5344CB8AC3E}">
        <p14:creationId xmlns:p14="http://schemas.microsoft.com/office/powerpoint/2010/main" val="2811848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FD61B8AF-C163-4629-AADE-0B407E4AD744}" type="datetime1">
              <a:rPr lang="zh-CN" altLang="en-US" smtClean="0"/>
              <a:t>2025/5/9</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pPr>
                <a:defRPr/>
              </a:pPr>
              <a:t>‹#›</a:t>
            </a:fld>
            <a:endParaRPr lang="zh-CN" altLang="en-US"/>
          </a:p>
        </p:txBody>
      </p:sp>
    </p:spTree>
    <p:extLst>
      <p:ext uri="{BB962C8B-B14F-4D97-AF65-F5344CB8AC3E}">
        <p14:creationId xmlns:p14="http://schemas.microsoft.com/office/powerpoint/2010/main" val="5809711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17545" y="848365"/>
            <a:ext cx="19502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4" name="Content Placeholder 3"/>
          <p:cNvSpPr>
            <a:spLocks noGrp="1"/>
          </p:cNvSpPr>
          <p:nvPr>
            <p:ph sz="half" idx="2"/>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2333863" y="848365"/>
            <a:ext cx="19598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6" name="Content Placeholder 5"/>
          <p:cNvSpPr>
            <a:spLocks noGrp="1"/>
          </p:cNvSpPr>
          <p:nvPr>
            <p:ph sz="quarter" idx="4"/>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1D2CBBFE-F0A2-4DA6-A3D8-7555D963EE69}" type="datetime1">
              <a:rPr lang="zh-CN" altLang="en-US" smtClean="0"/>
              <a:t>2025/5/9</a:t>
            </a:fld>
            <a:endParaRPr lang="zh-CN" altLang="en-US"/>
          </a:p>
        </p:txBody>
      </p:sp>
      <p:sp>
        <p:nvSpPr>
          <p:cNvPr id="8"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pPr>
                <a:defRPr/>
              </a:pPr>
              <a:t>‹#›</a:t>
            </a:fld>
            <a:endParaRPr lang="zh-CN" altLang="en-US"/>
          </a:p>
        </p:txBody>
      </p:sp>
    </p:spTree>
    <p:extLst>
      <p:ext uri="{BB962C8B-B14F-4D97-AF65-F5344CB8AC3E}">
        <p14:creationId xmlns:p14="http://schemas.microsoft.com/office/powerpoint/2010/main" val="38318557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889CF19F-E5C3-4817-9343-88CD27FBF3E0}" type="datetime1">
              <a:rPr lang="zh-CN" altLang="en-US" smtClean="0"/>
              <a:t>2025/5/9</a:t>
            </a:fld>
            <a:endParaRPr lang="zh-CN" altLang="en-US"/>
          </a:p>
        </p:txBody>
      </p:sp>
      <p:sp>
        <p:nvSpPr>
          <p:cNvPr id="4"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pPr>
                <a:defRPr/>
              </a:pPr>
              <a:t>‹#›</a:t>
            </a:fld>
            <a:endParaRPr lang="zh-CN" altLang="en-US"/>
          </a:p>
        </p:txBody>
      </p:sp>
    </p:spTree>
    <p:extLst>
      <p:ext uri="{BB962C8B-B14F-4D97-AF65-F5344CB8AC3E}">
        <p14:creationId xmlns:p14="http://schemas.microsoft.com/office/powerpoint/2010/main" val="2314061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73F6EFB-730A-47E5-A5C2-4668C163DA6B}" type="datetime1">
              <a:rPr lang="zh-CN" altLang="en-US" smtClean="0"/>
              <a:t>2025/5/9</a:t>
            </a:fld>
            <a:endParaRPr lang="zh-CN" altLang="en-US"/>
          </a:p>
        </p:txBody>
      </p:sp>
      <p:sp>
        <p:nvSpPr>
          <p:cNvPr id="3"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pPr>
                <a:defRPr/>
              </a:pPr>
              <a:t>‹#›</a:t>
            </a:fld>
            <a:endParaRPr lang="zh-CN" altLang="en-US"/>
          </a:p>
        </p:txBody>
      </p:sp>
    </p:spTree>
    <p:extLst>
      <p:ext uri="{BB962C8B-B14F-4D97-AF65-F5344CB8AC3E}">
        <p14:creationId xmlns:p14="http://schemas.microsoft.com/office/powerpoint/2010/main" val="25841527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Content Placeholder 2"/>
          <p:cNvSpPr>
            <a:spLocks noGrp="1"/>
          </p:cNvSpPr>
          <p:nvPr>
            <p:ph idx="1"/>
          </p:nvPr>
        </p:nvSpPr>
        <p:spPr>
          <a:xfrm>
            <a:off x="19598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5755972E-1A7F-4721-B0B2-9FE2CA01B53B}" type="datetime1">
              <a:rPr lang="zh-CN" altLang="en-US" smtClean="0"/>
              <a:t>2025/5/9</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pPr>
                <a:defRPr/>
              </a:pPr>
              <a:t>‹#›</a:t>
            </a:fld>
            <a:endParaRPr lang="zh-CN" altLang="en-US"/>
          </a:p>
        </p:txBody>
      </p:sp>
    </p:spTree>
    <p:extLst>
      <p:ext uri="{BB962C8B-B14F-4D97-AF65-F5344CB8AC3E}">
        <p14:creationId xmlns:p14="http://schemas.microsoft.com/office/powerpoint/2010/main" val="4068212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07A7919C-243A-418B-8F91-31D3F1F4EAE0}" type="datetime1">
              <a:rPr lang="zh-CN" altLang="en-US" smtClean="0"/>
              <a:t>2025/5/9</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pPr>
                <a:defRPr/>
              </a:pPr>
              <a:t>‹#›</a:t>
            </a:fld>
            <a:endParaRPr lang="zh-CN" altLang="en-US"/>
          </a:p>
        </p:txBody>
      </p:sp>
    </p:spTree>
    <p:extLst>
      <p:ext uri="{BB962C8B-B14F-4D97-AF65-F5344CB8AC3E}">
        <p14:creationId xmlns:p14="http://schemas.microsoft.com/office/powerpoint/2010/main" val="33897896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F4F6EC1-0C7F-4D60-BAFF-1151C51CB5E6}" type="datetime1">
              <a:rPr lang="zh-CN" altLang="en-US" smtClean="0"/>
              <a:t>2025/5/9</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pPr>
                <a:defRPr/>
              </a:pPr>
              <a:t>‹#›</a:t>
            </a:fld>
            <a:endParaRPr lang="zh-CN" altLang="en-US"/>
          </a:p>
        </p:txBody>
      </p:sp>
    </p:spTree>
    <p:extLst>
      <p:ext uri="{BB962C8B-B14F-4D97-AF65-F5344CB8AC3E}">
        <p14:creationId xmlns:p14="http://schemas.microsoft.com/office/powerpoint/2010/main" val="27496251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E37F267-0B34-4A2A-BDDF-8CDCC5B69520}" type="datetime1">
              <a:rPr lang="zh-CN" altLang="en-US" smtClean="0"/>
              <a:t>2025/5/9</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pPr>
                <a:defRPr/>
              </a:pPr>
              <a:t>‹#›</a:t>
            </a:fld>
            <a:endParaRPr lang="zh-CN" altLang="en-US"/>
          </a:p>
        </p:txBody>
      </p:sp>
    </p:spTree>
    <p:extLst>
      <p:ext uri="{BB962C8B-B14F-4D97-AF65-F5344CB8AC3E}">
        <p14:creationId xmlns:p14="http://schemas.microsoft.com/office/powerpoint/2010/main" val="10858123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671" y="38454"/>
            <a:ext cx="4264343" cy="422981"/>
          </a:xfrm>
        </p:spPr>
        <p:txBody>
          <a:bodyPr/>
          <a:lstStyle/>
          <a:p>
            <a:r>
              <a:rPr lang="zh-CN" altLang="en-US"/>
              <a:t>单击此处编辑母版标题样式</a:t>
            </a:r>
          </a:p>
        </p:txBody>
      </p:sp>
      <p:sp>
        <p:nvSpPr>
          <p:cNvPr id="3" name="表格占位符 2"/>
          <p:cNvSpPr>
            <a:spLocks noGrp="1"/>
          </p:cNvSpPr>
          <p:nvPr>
            <p:ph type="tbl" idx="1"/>
          </p:nvPr>
        </p:nvSpPr>
        <p:spPr>
          <a:xfrm>
            <a:off x="230505" y="581600"/>
            <a:ext cx="4149090" cy="2648435"/>
          </a:xfrm>
        </p:spPr>
        <p:txBody>
          <a:bodyPr/>
          <a:lstStyle/>
          <a:p>
            <a:endParaRPr lang="zh-CN" altLang="en-US"/>
          </a:p>
        </p:txBody>
      </p:sp>
      <p:sp>
        <p:nvSpPr>
          <p:cNvPr id="4" name="页脚占位符 3"/>
          <p:cNvSpPr>
            <a:spLocks noGrp="1"/>
          </p:cNvSpPr>
          <p:nvPr>
            <p:ph type="ftr" sz="quarter" idx="10"/>
          </p:nvPr>
        </p:nvSpPr>
        <p:spPr>
          <a:xfrm>
            <a:off x="1920875" y="3260475"/>
            <a:ext cx="2497138" cy="161822"/>
          </a:xfrm>
        </p:spPr>
        <p:txBody>
          <a:bodyPr/>
          <a:lstStyle>
            <a:lvl1pPr>
              <a:defRPr/>
            </a:lvl1pPr>
          </a:lstStyle>
          <a:p>
            <a:pPr algn="ctr" defTabSz="230520">
              <a:defRPr/>
            </a:pPr>
            <a:r>
              <a:rPr lang="zh-CN" altLang="en-US" sz="605" i="0">
                <a:solidFill>
                  <a:prstClr val="black">
                    <a:tint val="75000"/>
                  </a:prstClr>
                </a:solidFill>
                <a:latin typeface="Calibri" panose="020F0502020204030204"/>
                <a:ea typeface="等线" panose="02010600030101010101" pitchFamily="2" charset="-122"/>
              </a:rPr>
              <a:t>宏观经济学</a:t>
            </a:r>
            <a:r>
              <a:rPr lang="en-US" altLang="zh-CN" sz="605" i="0">
                <a:solidFill>
                  <a:prstClr val="black">
                    <a:tint val="75000"/>
                  </a:prstClr>
                </a:solidFill>
                <a:latin typeface="Calibri" panose="020F0502020204030204"/>
                <a:ea typeface="等线" panose="02010600030101010101" pitchFamily="2" charset="-122"/>
              </a:rPr>
              <a:t>/Yang Zhiqing</a:t>
            </a:r>
            <a:endParaRPr lang="zh-CN" altLang="en-US" sz="605" i="0">
              <a:solidFill>
                <a:prstClr val="black">
                  <a:tint val="75000"/>
                </a:prstClr>
              </a:solidFill>
              <a:latin typeface="Calibri" panose="020F0502020204030204"/>
              <a:ea typeface="等线" panose="02010600030101010101" pitchFamily="2" charset="-122"/>
            </a:endParaRPr>
          </a:p>
        </p:txBody>
      </p:sp>
      <p:sp>
        <p:nvSpPr>
          <p:cNvPr id="5" name="日期占位符 4"/>
          <p:cNvSpPr>
            <a:spLocks noGrp="1"/>
          </p:cNvSpPr>
          <p:nvPr>
            <p:ph type="dt" sz="half" idx="11"/>
          </p:nvPr>
        </p:nvSpPr>
        <p:spPr>
          <a:xfrm>
            <a:off x="1" y="461434"/>
            <a:ext cx="4264343" cy="115358"/>
          </a:xfrm>
        </p:spPr>
        <p:txBody>
          <a:bodyPr/>
          <a:lstStyle>
            <a:lvl1pPr>
              <a:defRPr/>
            </a:lvl1pPr>
          </a:lstStyle>
          <a:p>
            <a:pPr defTabSz="230520">
              <a:defRPr/>
            </a:pPr>
            <a:fld id="{33ACA6DB-E184-4768-B508-8EA00BF0EC69}" type="datetime1">
              <a:rPr lang="zh-CN" altLang="en-US" sz="605" smtClean="0">
                <a:solidFill>
                  <a:prstClr val="black">
                    <a:tint val="75000"/>
                  </a:prstClr>
                </a:solidFill>
                <a:latin typeface="Calibri" panose="020F0502020204030204"/>
                <a:ea typeface="等线" panose="02010600030101010101" pitchFamily="2" charset="-122"/>
              </a:rPr>
              <a:pPr defTabSz="230520">
                <a:defRPr/>
              </a:pPr>
              <a:t>2025/5/9</a:t>
            </a:fld>
            <a:endParaRPr lang="en-US" altLang="zh-CN" sz="605">
              <a:solidFill>
                <a:prstClr val="black">
                  <a:tint val="75000"/>
                </a:prstClr>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968454768"/>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7.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5DDF8B5E-781A-40CC-9EC9-5F86CF8F000F}" type="datetime1">
              <a:rPr lang="zh-CN" altLang="en-US" smtClean="0"/>
              <a:t>2025/5/9</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pPr>
                <a:defRPr/>
              </a:pPr>
              <a:t>‹#›</a:t>
            </a:fld>
            <a:endParaRPr lang="zh-CN" altLang="en-US"/>
          </a:p>
        </p:txBody>
      </p:sp>
    </p:spTree>
    <p:extLst>
      <p:ext uri="{BB962C8B-B14F-4D97-AF65-F5344CB8AC3E}">
        <p14:creationId xmlns:p14="http://schemas.microsoft.com/office/powerpoint/2010/main" val="218339851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rtl="0" eaLnBrk="0" fontAlgn="base" hangingPunct="0">
        <a:lnSpc>
          <a:spcPct val="90000"/>
        </a:lnSpc>
        <a:spcBef>
          <a:spcPct val="0"/>
        </a:spcBef>
        <a:spcAft>
          <a:spcPct val="0"/>
        </a:spcAft>
        <a:defRPr sz="2218" b="0" kern="1200" cap="none" spc="0">
          <a:ln w="0"/>
          <a:solidFill>
            <a:srgbClr val="C00000"/>
          </a:solidFill>
          <a:effectLst>
            <a:outerShdw blurRad="38100" dist="25400" dir="5400000" algn="ctr" rotWithShape="0">
              <a:srgbClr val="6E747A">
                <a:alpha val="43000"/>
              </a:srgbClr>
            </a:outerShdw>
          </a:effectLst>
          <a:latin typeface="Garamond" panose="02020404030301010803" pitchFamily="18" charset="0"/>
          <a:ea typeface="+mj-ea"/>
          <a:cs typeface="+mj-cs"/>
        </a:defRPr>
      </a:lvl1pPr>
      <a:lvl2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5pPr>
      <a:lvl6pPr marL="230520" algn="l" rtl="0" fontAlgn="base">
        <a:lnSpc>
          <a:spcPct val="90000"/>
        </a:lnSpc>
        <a:spcBef>
          <a:spcPct val="0"/>
        </a:spcBef>
        <a:spcAft>
          <a:spcPct val="0"/>
        </a:spcAft>
        <a:defRPr sz="2218">
          <a:solidFill>
            <a:schemeClr val="tx1"/>
          </a:solidFill>
          <a:latin typeface="Calibri Light" panose="020F0302020204030204" pitchFamily="34" charset="0"/>
        </a:defRPr>
      </a:lvl6pPr>
      <a:lvl7pPr marL="461040" algn="l" rtl="0" fontAlgn="base">
        <a:lnSpc>
          <a:spcPct val="90000"/>
        </a:lnSpc>
        <a:spcBef>
          <a:spcPct val="0"/>
        </a:spcBef>
        <a:spcAft>
          <a:spcPct val="0"/>
        </a:spcAft>
        <a:defRPr sz="2218">
          <a:solidFill>
            <a:schemeClr val="tx1"/>
          </a:solidFill>
          <a:latin typeface="Calibri Light" panose="020F0302020204030204" pitchFamily="34" charset="0"/>
        </a:defRPr>
      </a:lvl7pPr>
      <a:lvl8pPr marL="691561" algn="l" rtl="0" fontAlgn="base">
        <a:lnSpc>
          <a:spcPct val="90000"/>
        </a:lnSpc>
        <a:spcBef>
          <a:spcPct val="0"/>
        </a:spcBef>
        <a:spcAft>
          <a:spcPct val="0"/>
        </a:spcAft>
        <a:defRPr sz="2218">
          <a:solidFill>
            <a:schemeClr val="tx1"/>
          </a:solidFill>
          <a:latin typeface="Calibri Light" panose="020F0302020204030204" pitchFamily="34" charset="0"/>
        </a:defRPr>
      </a:lvl8pPr>
      <a:lvl9pPr marL="922081" algn="l" rtl="0" fontAlgn="base">
        <a:lnSpc>
          <a:spcPct val="90000"/>
        </a:lnSpc>
        <a:spcBef>
          <a:spcPct val="0"/>
        </a:spcBef>
        <a:spcAft>
          <a:spcPct val="0"/>
        </a:spcAft>
        <a:defRPr sz="2218">
          <a:solidFill>
            <a:schemeClr val="tx1"/>
          </a:solidFill>
          <a:latin typeface="Calibri Light" panose="020F0302020204030204" pitchFamily="34" charset="0"/>
        </a:defRPr>
      </a:lvl9pPr>
    </p:titleStyle>
    <p:bodyStyle>
      <a:lvl1pPr marL="115260" indent="-115260" algn="l" rtl="0" eaLnBrk="0" fontAlgn="base" hangingPunct="0">
        <a:lnSpc>
          <a:spcPct val="90000"/>
        </a:lnSpc>
        <a:spcBef>
          <a:spcPts val="504"/>
        </a:spcBef>
        <a:spcAft>
          <a:spcPct val="0"/>
        </a:spcAft>
        <a:buFont typeface="Arial" panose="020B0604020202020204" pitchFamily="34" charset="0"/>
        <a:buChar char="•"/>
        <a:defRPr sz="1412" kern="1200">
          <a:solidFill>
            <a:schemeClr val="tx1"/>
          </a:solidFill>
          <a:latin typeface="+mn-lt"/>
          <a:ea typeface="+mn-ea"/>
          <a:cs typeface="+mn-cs"/>
        </a:defRPr>
      </a:lvl1pPr>
      <a:lvl2pPr marL="345780" indent="-115260" algn="l" rtl="0" eaLnBrk="0" fontAlgn="base" hangingPunct="0">
        <a:lnSpc>
          <a:spcPct val="90000"/>
        </a:lnSpc>
        <a:spcBef>
          <a:spcPts val="252"/>
        </a:spcBef>
        <a:spcAft>
          <a:spcPct val="0"/>
        </a:spcAft>
        <a:buFont typeface="Arial" panose="020B0604020202020204" pitchFamily="34" charset="0"/>
        <a:buChar char="•"/>
        <a:defRPr sz="1210" kern="1200">
          <a:solidFill>
            <a:schemeClr val="tx1"/>
          </a:solidFill>
          <a:latin typeface="+mn-lt"/>
          <a:ea typeface="+mn-ea"/>
          <a:cs typeface="+mn-cs"/>
        </a:defRPr>
      </a:lvl2pPr>
      <a:lvl3pPr marL="576301" indent="-115260" algn="l" rtl="0" eaLnBrk="0" fontAlgn="base" hangingPunct="0">
        <a:lnSpc>
          <a:spcPct val="90000"/>
        </a:lnSpc>
        <a:spcBef>
          <a:spcPts val="252"/>
        </a:spcBef>
        <a:spcAft>
          <a:spcPct val="0"/>
        </a:spcAft>
        <a:buFont typeface="Arial" panose="020B0604020202020204" pitchFamily="34" charset="0"/>
        <a:buChar char="•"/>
        <a:defRPr sz="1008" kern="1200">
          <a:solidFill>
            <a:schemeClr val="tx1"/>
          </a:solidFill>
          <a:latin typeface="+mn-lt"/>
          <a:ea typeface="+mn-ea"/>
          <a:cs typeface="+mn-cs"/>
        </a:defRPr>
      </a:lvl3pPr>
      <a:lvl4pPr marL="80682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4pPr>
      <a:lvl5pPr marL="103734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5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0.png"/><Relationship Id="rId1" Type="http://schemas.openxmlformats.org/officeDocument/2006/relationships/slideLayout" Target="../slideLayouts/slideLayout73.xml"/><Relationship Id="rId4"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73.xml"/><Relationship Id="rId6" Type="http://schemas.openxmlformats.org/officeDocument/2006/relationships/image" Target="../media/image360.png"/><Relationship Id="rId5" Type="http://schemas.openxmlformats.org/officeDocument/2006/relationships/image" Target="../media/image4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68.xml"/><Relationship Id="rId4" Type="http://schemas.openxmlformats.org/officeDocument/2006/relationships/image" Target="../media/image380.png"/></Relationships>
</file>

<file path=ppt/slides/_rels/slide4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68.xml"/></Relationships>
</file>

<file path=ppt/slides/_rels/slide4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6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47.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400.png"/><Relationship Id="rId7" Type="http://schemas.openxmlformats.org/officeDocument/2006/relationships/image" Target="../media/image440.png"/><Relationship Id="rId2" Type="http://schemas.openxmlformats.org/officeDocument/2006/relationships/image" Target="../media/image390.png"/><Relationship Id="rId1" Type="http://schemas.openxmlformats.org/officeDocument/2006/relationships/slideLayout" Target="../slideLayouts/slideLayout68.xml"/><Relationship Id="rId6" Type="http://schemas.openxmlformats.org/officeDocument/2006/relationships/image" Target="../media/image430.png"/><Relationship Id="rId5" Type="http://schemas.openxmlformats.org/officeDocument/2006/relationships/image" Target="../media/image420.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8.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8.xml"/></Relationships>
</file>

<file path=ppt/slides/_rels/slide51.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68.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8.xml"/></Relationships>
</file>

<file path=ppt/slides/_rels/slide53.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6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56.xml.rels><?xml version="1.0" encoding="UTF-8" standalone="yes"?>
<Relationships xmlns="http://schemas.openxmlformats.org/package/2006/relationships"><Relationship Id="rId2" Type="http://schemas.openxmlformats.org/officeDocument/2006/relationships/image" Target="../media/image501.png"/><Relationship Id="rId1" Type="http://schemas.openxmlformats.org/officeDocument/2006/relationships/slideLayout" Target="../slideLayouts/slideLayout68.xml"/></Relationships>
</file>

<file path=ppt/slides/_rels/slide57.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52.png"/><Relationship Id="rId1" Type="http://schemas.openxmlformats.org/officeDocument/2006/relationships/slideLayout" Target="../slideLayouts/slideLayout68.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5.png"/><Relationship Id="rId1" Type="http://schemas.openxmlformats.org/officeDocument/2006/relationships/slideLayout" Target="../slideLayouts/slideLayout68.xml"/></Relationships>
</file>

<file path=ppt/slides/_rels/slide59.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6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8.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8.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8.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8.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8.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8.xml"/></Relationships>
</file>

<file path=ppt/slides/_rels/slide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8.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8.xml"/></Relationships>
</file>

<file path=ppt/slides/_rels/slide8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8.xml"/></Relationships>
</file>

<file path=ppt/slides/_rels/slide8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3.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8.xml"/></Relationships>
</file>

<file path=ppt/slides/_rels/slide88.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6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292709"/>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600" b="1" spc="-15" dirty="0">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18713"/>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均衡国民收入的决定</a:t>
            </a:r>
            <a:endParaRPr lang="en-US" altLang="zh-CN" sz="1200" kern="0" dirty="0">
              <a:latin typeface="Garamond" panose="02020404030301010803" pitchFamily="18" charset="0"/>
              <a:ea typeface="KaiTi" panose="02010609060101010101" pitchFamily="49" charset="-122"/>
            </a:endParaRP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短期国民收入的决定因素：消费需求和储蓄</a:t>
            </a: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3</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短期国民收入的决定因素：投资需求</a:t>
            </a: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4</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短期国民收入的决定因素：政府需求</a:t>
            </a:r>
            <a:endParaRPr lang="en-US" altLang="zh-CN" sz="1200" kern="0" dirty="0">
              <a:solidFill>
                <a:schemeClr val="tx1">
                  <a:lumMod val="50000"/>
                  <a:lumOff val="50000"/>
                </a:schemeClr>
              </a:solidFill>
              <a:latin typeface="Garamond" panose="02020404030301010803" pitchFamily="18" charset="0"/>
              <a:ea typeface="KaiTi" panose="02010609060101010101" pitchFamily="49" charset="-122"/>
            </a:endParaRP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5</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短期国民收入的决定因素：国外需求</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6</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影响需求的重要因素：乘数</a:t>
            </a:r>
            <a:endParaRPr lang="en-US" altLang="zh-CN" sz="1200" kern="0"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slide(fromBottom)">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slide(fromBottom)">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slide(fromBottom)">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slide(fromBottom)">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slide(fromBottom)">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16D33D-9AD0-96D6-7FE0-3ADC88F52A1F}"/>
              </a:ext>
            </a:extLst>
          </p:cNvPr>
          <p:cNvSpPr>
            <a:spLocks noGrp="1"/>
          </p:cNvSpPr>
          <p:nvPr>
            <p:ph type="sldNum" sz="quarter" idx="11"/>
          </p:nvPr>
        </p:nvSpPr>
        <p:spPr/>
        <p:txBody>
          <a:bodyPr/>
          <a:lstStyle/>
          <a:p>
            <a:pPr marL="0" marR="0" lvl="0" indent="0" algn="r" defTabSz="461040" rtl="0" eaLnBrk="1" fontAlgn="base" latinLnBrk="0" hangingPunct="1">
              <a:lnSpc>
                <a:spcPct val="100000"/>
              </a:lnSpc>
              <a:spcBef>
                <a:spcPct val="0"/>
              </a:spcBef>
              <a:spcAft>
                <a:spcPct val="0"/>
              </a:spcAft>
              <a:buClrTx/>
              <a:buSzTx/>
              <a:buFontTx/>
              <a:buNone/>
              <a:tabLst/>
              <a:defRPr/>
            </a:pPr>
            <a:fld id="{5F29D802-9977-DB49-B2F7-003DFC871645}"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3</a:t>
            </a:fld>
            <a:endParaRPr kumimoji="0" lang="en-US"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2290" name="Rectangle 2">
            <a:extLst>
              <a:ext uri="{FF2B5EF4-FFF2-40B4-BE49-F238E27FC236}">
                <a16:creationId xmlns:a16="http://schemas.microsoft.com/office/drawing/2014/main" id="{18BFC437-1F24-3543-F330-B91B1615E4E3}"/>
              </a:ext>
            </a:extLst>
          </p:cNvPr>
          <p:cNvSpPr>
            <a:spLocks noGrp="1" noChangeArrowheads="1"/>
          </p:cNvSpPr>
          <p:nvPr>
            <p:ph type="title" idx="4294967295"/>
          </p:nvPr>
        </p:nvSpPr>
        <p:spPr/>
        <p:txBody>
          <a:bodyPr/>
          <a:lstStyle/>
          <a:p>
            <a:r>
              <a:rPr lang="zh-CN" altLang="en-US" sz="1815" b="0" dirty="0">
                <a:latin typeface="Microsoft YaHei" panose="020B0503020204020204" pitchFamily="34" charset="-122"/>
                <a:ea typeface="Microsoft YaHei" panose="020B0503020204020204" pitchFamily="34" charset="-122"/>
              </a:rPr>
              <a:t>本章假设</a:t>
            </a:r>
            <a:endParaRPr lang="zh-CN" altLang="zh-CN" sz="1815" b="0" dirty="0">
              <a:latin typeface="Microsoft YaHei" panose="020B0503020204020204" pitchFamily="34" charset="-122"/>
              <a:ea typeface="Microsoft YaHei" panose="020B0503020204020204" pitchFamily="34" charset="-122"/>
            </a:endParaRPr>
          </a:p>
        </p:txBody>
      </p:sp>
      <p:sp>
        <p:nvSpPr>
          <p:cNvPr id="12291" name="Rectangle 3">
            <a:extLst>
              <a:ext uri="{FF2B5EF4-FFF2-40B4-BE49-F238E27FC236}">
                <a16:creationId xmlns:a16="http://schemas.microsoft.com/office/drawing/2014/main" id="{011EDE44-8033-68EF-2BE3-82AE6A931918}"/>
              </a:ext>
            </a:extLst>
          </p:cNvPr>
          <p:cNvSpPr>
            <a:spLocks noGrp="1" noChangeArrowheads="1"/>
          </p:cNvSpPr>
          <p:nvPr>
            <p:ph type="body" idx="4294967295"/>
          </p:nvPr>
        </p:nvSpPr>
        <p:spPr>
          <a:xfrm>
            <a:off x="269723" y="523425"/>
            <a:ext cx="3999422" cy="2583577"/>
          </a:xfrm>
        </p:spPr>
        <p:txBody>
          <a:bodyPr/>
          <a:lstStyle/>
          <a:p>
            <a:r>
              <a:rPr lang="zh-CN" altLang="en-US" sz="1412" dirty="0">
                <a:latin typeface="SimSun" panose="02010600030101010101" pitchFamily="2" charset="-122"/>
                <a:ea typeface="SimSun" panose="02010600030101010101" pitchFamily="2" charset="-122"/>
              </a:rPr>
              <a:t>企业投资是外生变量，即不随利率和产量变化而变动</a:t>
            </a:r>
          </a:p>
          <a:p>
            <a:r>
              <a:rPr lang="zh-CN" altLang="en-US" sz="1412" dirty="0">
                <a:latin typeface="SimSun" panose="02010600030101010101" pitchFamily="2" charset="-122"/>
                <a:ea typeface="SimSun" panose="02010600030101010101" pitchFamily="2" charset="-122"/>
              </a:rPr>
              <a:t>不论需求量为多少，经济制度均能以不变的价格提供相应的供给量（价格黏性）</a:t>
            </a:r>
            <a:endParaRPr lang="en-US" altLang="zh-CN" sz="1412" dirty="0">
              <a:latin typeface="SimSun" panose="02010600030101010101" pitchFamily="2" charset="-122"/>
              <a:ea typeface="SimSun" panose="02010600030101010101" pitchFamily="2" charset="-122"/>
            </a:endParaRPr>
          </a:p>
          <a:p>
            <a:r>
              <a:rPr lang="zh-CN" altLang="en-US" sz="1412" dirty="0">
                <a:latin typeface="SimSun" panose="02010600030101010101" pitchFamily="2" charset="-122"/>
                <a:ea typeface="SimSun" panose="02010600030101010101" pitchFamily="2" charset="-122"/>
              </a:rPr>
              <a:t>折旧和公司未分配利润为零</a:t>
            </a:r>
          </a:p>
          <a:p>
            <a:r>
              <a:rPr lang="zh-CN" altLang="en-US" sz="1412" dirty="0">
                <a:latin typeface="SimSun" panose="02010600030101010101" pitchFamily="2" charset="-122"/>
                <a:ea typeface="SimSun" panose="02010600030101010101" pitchFamily="2" charset="-122"/>
              </a:rPr>
              <a:t>只考虑短期内的国民收入的决定</a:t>
            </a:r>
          </a:p>
          <a:p>
            <a:endParaRPr lang="zh-CN" altLang="en-US" sz="1412"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273337507"/>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pPr defTabSz="230520"/>
            <a:endParaRPr sz="1798">
              <a:solidFill>
                <a:prstClr val="black"/>
              </a:solidFill>
              <a:latin typeface="Calibri" panose="020F0502020204030204"/>
            </a:endParaRPr>
          </a:p>
        </p:txBody>
      </p:sp>
      <p:sp>
        <p:nvSpPr>
          <p:cNvPr id="33" name="object 33"/>
          <p:cNvSpPr/>
          <p:nvPr/>
        </p:nvSpPr>
        <p:spPr>
          <a:xfrm>
            <a:off x="4449426" y="1234800"/>
            <a:ext cx="122125" cy="125186"/>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pPr defTabSz="230520"/>
            <a:endParaRPr sz="1798">
              <a:solidFill>
                <a:prstClr val="black"/>
              </a:solidFill>
              <a:latin typeface="Calibri" panose="020F0502020204030204"/>
            </a:endParaRPr>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pPr defTabSz="230520"/>
            <a:endParaRPr sz="1798">
              <a:solidFill>
                <a:prstClr val="black"/>
              </a:solidFill>
              <a:latin typeface="Calibri" panose="020F0502020204030204"/>
            </a:endParaRPr>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pPr defTabSz="230520"/>
            <a:endParaRPr sz="1798">
              <a:solidFill>
                <a:prstClr val="black"/>
              </a:solidFill>
              <a:latin typeface="Calibri" panose="020F0502020204030204"/>
            </a:endParaRPr>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pPr defTabSz="230520"/>
            <a:endParaRPr sz="1798">
              <a:solidFill>
                <a:prstClr val="black"/>
              </a:solidFill>
              <a:latin typeface="Calibri" panose="020F0502020204030204"/>
            </a:endParaRPr>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pPr defTabSz="230520"/>
            <a:endParaRPr sz="1798">
              <a:solidFill>
                <a:prstClr val="black"/>
              </a:solidFill>
              <a:latin typeface="Calibri" panose="020F0502020204030204"/>
            </a:endParaRPr>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pPr defTabSz="230520"/>
            <a:endParaRPr sz="1798">
              <a:solidFill>
                <a:prstClr val="black"/>
              </a:solidFill>
              <a:latin typeface="Calibri" panose="020F0502020204030204"/>
            </a:endParaRPr>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pPr defTabSz="230520"/>
            <a:endParaRPr sz="1798">
              <a:solidFill>
                <a:prstClr val="black"/>
              </a:solidFill>
              <a:latin typeface="Calibri" panose="020F0502020204030204"/>
            </a:endParaRPr>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pPr defTabSz="230520"/>
            <a:endParaRPr sz="1798">
              <a:solidFill>
                <a:prstClr val="black"/>
              </a:solidFill>
              <a:latin typeface="Calibri" panose="020F0502020204030204"/>
            </a:endParaRPr>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pPr defTabSz="230520"/>
            <a:endParaRPr sz="1798">
              <a:solidFill>
                <a:prstClr val="black"/>
              </a:solidFill>
              <a:latin typeface="Calibri" panose="020F0502020204030204"/>
            </a:endParaRPr>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pPr defTabSz="230520"/>
            <a:endParaRPr sz="1798">
              <a:solidFill>
                <a:prstClr val="black"/>
              </a:solidFill>
              <a:latin typeface="Calibri" panose="020F0502020204030204"/>
            </a:endParaRPr>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pPr defTabSz="230520"/>
            <a:endParaRPr sz="1798">
              <a:solidFill>
                <a:prstClr val="black"/>
              </a:solidFill>
              <a:latin typeface="Calibri" panose="020F0502020204030204"/>
            </a:endParaRPr>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pPr defTabSz="230520"/>
            <a:endParaRPr sz="1798">
              <a:solidFill>
                <a:prstClr val="black"/>
              </a:solidFill>
              <a:latin typeface="Calibri" panose="020F0502020204030204"/>
            </a:endParaRPr>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pPr defTabSz="230520"/>
            <a:endParaRPr sz="1798">
              <a:solidFill>
                <a:prstClr val="black"/>
              </a:solidFill>
              <a:latin typeface="Calibri" panose="020F0502020204030204"/>
            </a:endParaRPr>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pPr defTabSz="230520"/>
            <a:endParaRPr sz="1798">
              <a:solidFill>
                <a:prstClr val="black"/>
              </a:solidFill>
              <a:latin typeface="Calibri" panose="020F0502020204030204"/>
            </a:endParaRPr>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pPr defTabSz="230520"/>
            <a:endParaRPr sz="1798">
              <a:solidFill>
                <a:prstClr val="black"/>
              </a:solidFill>
              <a:latin typeface="Calibri" panose="020F0502020204030204"/>
            </a:endParaRPr>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pPr defTabSz="230520"/>
            <a:endParaRPr sz="1798">
              <a:solidFill>
                <a:prstClr val="black"/>
              </a:solidFill>
              <a:latin typeface="Calibri" panose="020F0502020204030204"/>
            </a:endParaRPr>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pPr defTabSz="230520"/>
            <a:endParaRPr sz="1798">
              <a:solidFill>
                <a:prstClr val="black"/>
              </a:solidFill>
              <a:latin typeface="Calibri" panose="020F0502020204030204"/>
            </a:endParaRPr>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pPr defTabSz="230520"/>
            <a:endParaRPr sz="1798">
              <a:solidFill>
                <a:prstClr val="black"/>
              </a:solidFill>
              <a:latin typeface="Calibri" panose="020F0502020204030204"/>
            </a:endParaRPr>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pPr defTabSz="230520"/>
            <a:endParaRPr sz="1798">
              <a:solidFill>
                <a:prstClr val="black"/>
              </a:solidFill>
              <a:latin typeface="Calibri" panose="020F0502020204030204"/>
            </a:endParaRPr>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pPr defTabSz="230520"/>
            <a:endParaRPr sz="1798">
              <a:solidFill>
                <a:prstClr val="black"/>
              </a:solidFill>
              <a:latin typeface="Calibri" panose="020F0502020204030204"/>
            </a:endParaRPr>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pPr defTabSz="230520"/>
            <a:endParaRPr sz="1798">
              <a:solidFill>
                <a:prstClr val="black"/>
              </a:solidFill>
              <a:latin typeface="Calibri" panose="020F0502020204030204"/>
            </a:endParaRPr>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pPr defTabSz="230520"/>
            <a:endParaRPr sz="1798">
              <a:solidFill>
                <a:prstClr val="black"/>
              </a:solidFill>
              <a:latin typeface="Calibri" panose="020F0502020204030204"/>
            </a:endParaRPr>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pPr defTabSz="230520"/>
            <a:endParaRPr sz="1798">
              <a:solidFill>
                <a:prstClr val="black"/>
              </a:solidFill>
              <a:latin typeface="Calibri" panose="020F0502020204030204"/>
            </a:endParaRPr>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pPr defTabSz="230520"/>
            <a:endParaRPr sz="1798">
              <a:solidFill>
                <a:prstClr val="black"/>
              </a:solidFill>
              <a:latin typeface="Calibri" panose="020F0502020204030204"/>
            </a:endParaRPr>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pPr defTabSz="230520"/>
            <a:endParaRPr sz="1798">
              <a:solidFill>
                <a:prstClr val="black"/>
              </a:solidFill>
              <a:latin typeface="Calibri" panose="020F0502020204030204"/>
            </a:endParaRPr>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pPr defTabSz="230520"/>
            <a:endParaRPr sz="1798">
              <a:solidFill>
                <a:prstClr val="black"/>
              </a:solidFill>
              <a:latin typeface="Calibri" panose="020F0502020204030204"/>
            </a:endParaRPr>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pPr defTabSz="230520"/>
            <a:endParaRPr sz="1798">
              <a:solidFill>
                <a:prstClr val="black"/>
              </a:solidFill>
              <a:latin typeface="Calibri" panose="020F0502020204030204"/>
            </a:endParaRPr>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pPr defTabSz="230520"/>
            <a:endParaRPr sz="1798">
              <a:solidFill>
                <a:prstClr val="black"/>
              </a:solidFill>
              <a:latin typeface="Calibri" panose="020F0502020204030204"/>
            </a:endParaRPr>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pPr defTabSz="230520"/>
            <a:endParaRPr sz="1798">
              <a:solidFill>
                <a:prstClr val="black"/>
              </a:solidFill>
              <a:latin typeface="Calibri" panose="020F0502020204030204"/>
            </a:endParaRPr>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pPr defTabSz="230520"/>
            <a:endParaRPr sz="1798">
              <a:solidFill>
                <a:prstClr val="black"/>
              </a:solidFill>
              <a:latin typeface="Calibri" panose="020F0502020204030204"/>
            </a:endParaRPr>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pPr defTabSz="230520"/>
            <a:endParaRPr sz="1798">
              <a:solidFill>
                <a:prstClr val="black"/>
              </a:solidFill>
              <a:latin typeface="Calibri" panose="020F0502020204030204"/>
            </a:endParaRPr>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pPr defTabSz="230520"/>
            <a:endParaRPr sz="1798">
              <a:solidFill>
                <a:prstClr val="black"/>
              </a:solidFill>
              <a:latin typeface="Calibri" panose="020F0502020204030204"/>
            </a:endParaRPr>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pPr defTabSz="230520"/>
            <a:endParaRPr sz="1798">
              <a:solidFill>
                <a:prstClr val="black"/>
              </a:solidFill>
              <a:latin typeface="Calibri" panose="020F0502020204030204"/>
            </a:endParaRPr>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pPr defTabSz="230520"/>
            <a:endParaRPr sz="1798">
              <a:solidFill>
                <a:prstClr val="black"/>
              </a:solidFill>
              <a:latin typeface="Calibri" panose="020F0502020204030204"/>
            </a:endParaRPr>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pPr defTabSz="230520"/>
            <a:endParaRPr sz="1798">
              <a:solidFill>
                <a:prstClr val="black"/>
              </a:solidFill>
              <a:latin typeface="Calibri" panose="020F0502020204030204"/>
            </a:endParaRPr>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pPr defTabSz="230520"/>
            <a:endParaRPr sz="1798">
              <a:solidFill>
                <a:prstClr val="black"/>
              </a:solidFill>
              <a:latin typeface="Calibri" panose="020F0502020204030204"/>
            </a:endParaRPr>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pPr defTabSz="230520"/>
            <a:endParaRPr sz="1798">
              <a:solidFill>
                <a:prstClr val="black"/>
              </a:solidFill>
              <a:latin typeface="Calibri" panose="020F0502020204030204"/>
            </a:endParaRPr>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pPr defTabSz="230520"/>
            <a:endParaRPr sz="1798">
              <a:solidFill>
                <a:prstClr val="black"/>
              </a:solidFill>
              <a:latin typeface="Calibri" panose="020F0502020204030204"/>
            </a:endParaRPr>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pPr defTabSz="230520"/>
            <a:endParaRPr sz="1798">
              <a:solidFill>
                <a:prstClr val="black"/>
              </a:solidFill>
              <a:latin typeface="Calibri" panose="020F0502020204030204"/>
            </a:endParaRPr>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pPr defTabSz="230520"/>
            <a:endParaRPr sz="1798">
              <a:solidFill>
                <a:prstClr val="black"/>
              </a:solidFill>
              <a:latin typeface="Calibri" panose="020F0502020204030204"/>
            </a:endParaRPr>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pPr defTabSz="230520"/>
            <a:endParaRPr sz="1798">
              <a:solidFill>
                <a:prstClr val="black"/>
              </a:solidFill>
              <a:latin typeface="Calibri" panose="020F0502020204030204"/>
            </a:endParaRPr>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pPr defTabSz="230520"/>
            <a:endParaRPr sz="1798">
              <a:solidFill>
                <a:prstClr val="black"/>
              </a:solidFill>
              <a:latin typeface="Calibri" panose="020F0502020204030204"/>
            </a:endParaRPr>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pPr defTabSz="230520"/>
            <a:endParaRPr sz="1798">
              <a:solidFill>
                <a:prstClr val="black"/>
              </a:solidFill>
              <a:latin typeface="Calibri" panose="020F0502020204030204"/>
            </a:endParaRPr>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pPr defTabSz="230520"/>
            <a:endParaRPr sz="1798">
              <a:solidFill>
                <a:prstClr val="black"/>
              </a:solidFill>
              <a:latin typeface="Calibri" panose="020F0502020204030204"/>
            </a:endParaRPr>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pPr defTabSz="230520"/>
            <a:endParaRPr sz="1798">
              <a:solidFill>
                <a:prstClr val="black"/>
              </a:solidFill>
              <a:latin typeface="Calibri" panose="020F0502020204030204"/>
            </a:endParaRPr>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pPr defTabSz="230520"/>
            <a:endParaRPr sz="1798">
              <a:solidFill>
                <a:prstClr val="black"/>
              </a:solidFill>
              <a:latin typeface="Calibri" panose="020F0502020204030204"/>
            </a:endParaRPr>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pPr defTabSz="230520"/>
            <a:endParaRPr sz="1798">
              <a:solidFill>
                <a:prstClr val="black"/>
              </a:solidFill>
              <a:latin typeface="Calibri" panose="020F0502020204030204"/>
            </a:endParaRPr>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pPr defTabSz="230520"/>
            <a:endParaRPr sz="1798">
              <a:solidFill>
                <a:prstClr val="black"/>
              </a:solidFill>
              <a:latin typeface="Calibri" panose="020F0502020204030204"/>
            </a:endParaRPr>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defTabSz="230520"/>
            <a:r>
              <a:rPr sz="100" i="1" spc="60" dirty="0">
                <a:solidFill>
                  <a:prstClr val="black"/>
                </a:solidFill>
                <a:latin typeface="Times New Roman"/>
                <a:cs typeface="Times New Roman"/>
              </a:rPr>
              <a:t>  </a:t>
            </a:r>
            <a:endParaRPr sz="100">
              <a:solidFill>
                <a:prstClr val="black"/>
              </a:solidFill>
              <a:latin typeface="Times New Roman"/>
              <a:cs typeface="Times New Roman"/>
            </a:endParaRPr>
          </a:p>
        </p:txBody>
      </p:sp>
      <p:sp>
        <p:nvSpPr>
          <p:cNvPr id="94" name="object 94"/>
          <p:cNvSpPr txBox="1"/>
          <p:nvPr/>
        </p:nvSpPr>
        <p:spPr>
          <a:xfrm>
            <a:off x="78226" y="673587"/>
            <a:ext cx="4383299" cy="785664"/>
          </a:xfrm>
          <a:prstGeom prst="rect">
            <a:avLst/>
          </a:prstGeom>
        </p:spPr>
        <p:txBody>
          <a:bodyPr vert="horz" wrap="square" lIns="0" tIns="0" rIns="0" bIns="0" rtlCol="0">
            <a:spAutoFit/>
          </a:bodyPr>
          <a:lstStyle/>
          <a:p>
            <a:pPr marL="634" algn="ctr" defTabSz="230520">
              <a:lnSpc>
                <a:spcPct val="130000"/>
              </a:lnSpc>
            </a:pPr>
            <a:r>
              <a:rPr lang="zh-CN" altLang="en-US" sz="1599" b="1" spc="-15" dirty="0">
                <a:solidFill>
                  <a:srgbClr val="C00000"/>
                </a:solidFill>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solidFill>
                <a:srgbClr val="C00000"/>
              </a:solidFill>
              <a:latin typeface="Garamond" panose="02020404030301010803" pitchFamily="18" charset="0"/>
              <a:ea typeface="KaiTi" panose="02010609060101010101" pitchFamily="49" charset="-122"/>
              <a:cs typeface="Times New Roman"/>
            </a:endParaRPr>
          </a:p>
          <a:p>
            <a:pPr marL="634" algn="ctr" defTabSz="230520">
              <a:lnSpc>
                <a:spcPct val="130000"/>
              </a:lnSpc>
            </a:pPr>
            <a:r>
              <a:rPr lang="zh-CN" altLang="en-US" sz="1399" b="1" dirty="0">
                <a:latin typeface="Garamond" panose="02020404030301010803" pitchFamily="18" charset="0"/>
                <a:ea typeface="KaiTi" panose="02010609060101010101" pitchFamily="49" charset="-122"/>
              </a:rPr>
              <a:t>第</a:t>
            </a:r>
            <a:r>
              <a:rPr lang="en-US" altLang="zh-CN" sz="1399" b="1" dirty="0">
                <a:latin typeface="Garamond" panose="02020404030301010803" pitchFamily="18" charset="0"/>
                <a:ea typeface="KaiTi" panose="02010609060101010101" pitchFamily="49" charset="-122"/>
              </a:rPr>
              <a:t>1</a:t>
            </a:r>
            <a:r>
              <a:rPr lang="zh-CN" altLang="en-US" sz="1399" b="1" dirty="0">
                <a:latin typeface="Garamond" panose="02020404030301010803" pitchFamily="18" charset="0"/>
                <a:ea typeface="KaiTi" panose="02010609060101010101" pitchFamily="49" charset="-122"/>
              </a:rPr>
              <a:t>节 均衡国民收入决定理论</a:t>
            </a:r>
            <a:endParaRPr lang="en-US" altLang="zh-CN" sz="1399" b="1" dirty="0">
              <a:latin typeface="Garamond" panose="02020404030301010803" pitchFamily="18" charset="0"/>
              <a:ea typeface="KaiTi" panose="02010609060101010101" pitchFamily="49" charset="-122"/>
            </a:endParaRPr>
          </a:p>
          <a:p>
            <a:pPr marL="634" algn="ctr" defTabSz="230520">
              <a:lnSpc>
                <a:spcPct val="130000"/>
              </a:lnSpc>
            </a:pPr>
            <a:endParaRPr sz="999" b="1" dirty="0">
              <a:solidFill>
                <a:prstClr val="black"/>
              </a:solidFill>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4"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2" name="文本框 1">
            <a:extLst>
              <a:ext uri="{FF2B5EF4-FFF2-40B4-BE49-F238E27FC236}">
                <a16:creationId xmlns:a16="http://schemas.microsoft.com/office/drawing/2014/main" id="{214EB552-41E9-EAB0-533D-D748796F6D3D}"/>
              </a:ext>
            </a:extLst>
          </p:cNvPr>
          <p:cNvSpPr txBox="1"/>
          <p:nvPr/>
        </p:nvSpPr>
        <p:spPr>
          <a:xfrm>
            <a:off x="182236" y="1318065"/>
            <a:ext cx="4236441" cy="293607"/>
          </a:xfrm>
          <a:prstGeom prst="rect">
            <a:avLst/>
          </a:prstGeom>
          <a:noFill/>
        </p:spPr>
        <p:txBody>
          <a:bodyPr wrap="square">
            <a:spAutoFit/>
          </a:bodyPr>
          <a:lstStyle/>
          <a:p>
            <a:pPr marL="634" algn="ctr" defTabSz="230520">
              <a:lnSpc>
                <a:spcPct val="130000"/>
              </a:lnSpc>
            </a:pPr>
            <a:r>
              <a:rPr lang="zh-CN" altLang="en-US" sz="1100" b="1" dirty="0">
                <a:latin typeface="Garamond" panose="02020404030301010803" pitchFamily="18" charset="0"/>
                <a:ea typeface="KaiTi" panose="02010609060101010101" pitchFamily="49" charset="-122"/>
              </a:rPr>
              <a:t>总供给如何决定于总需求？</a:t>
            </a:r>
            <a:endParaRPr lang="en-US" altLang="zh-CN" sz="1100" b="1"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383958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5</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国民收入核算方法</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172890" indent="-172890">
              <a:lnSpc>
                <a:spcPct val="105000"/>
              </a:lnSpc>
              <a:spcBef>
                <a:spcPct val="45000"/>
              </a:spcBef>
              <a:buClr>
                <a:srgbClr val="339966"/>
              </a:buClr>
              <a:buSzPct val="120000"/>
              <a:buFont typeface="Wingdings" pitchFamily="2" charset="2"/>
              <a:buChar char="§"/>
            </a:pPr>
            <a:r>
              <a:rPr lang="zh-CN" altLang="en-US" b="1" dirty="0">
                <a:solidFill>
                  <a:srgbClr val="CC0000"/>
                </a:solidFill>
                <a:ea typeface="宋体" panose="02010600030101010101" pitchFamily="2" charset="-122"/>
              </a:rPr>
              <a:t>总产出、总收入、总支出的定义</a:t>
            </a:r>
            <a:endParaRPr lang="en-US" altLang="zh-CN" b="1" dirty="0">
              <a:solidFill>
                <a:srgbClr val="CC0000"/>
              </a:solidFill>
              <a:ea typeface="宋体" panose="02010600030101010101" pitchFamily="2" charset="-122"/>
            </a:endParaRP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总产出</a:t>
            </a:r>
            <a:r>
              <a:rPr lang="zh-CN" altLang="en-US" dirty="0">
                <a:ea typeface="宋体" panose="02010600030101010101" pitchFamily="2" charset="-122"/>
              </a:rPr>
              <a:t>：就是</a:t>
            </a:r>
            <a:r>
              <a:rPr lang="en-US" altLang="zh-CN" dirty="0">
                <a:ea typeface="宋体" panose="02010600030101010101" pitchFamily="2" charset="-122"/>
              </a:rPr>
              <a:t>GDP</a:t>
            </a:r>
            <a:r>
              <a:rPr lang="zh-CN" altLang="en-US" dirty="0">
                <a:ea typeface="宋体" panose="02010600030101010101" pitchFamily="2" charset="-122"/>
              </a:rPr>
              <a:t>，即是一国或一定地区在一定时间内运用生产要素所生产的全部最终产品（物品和劳务）的市场价值</a:t>
            </a: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总收入</a:t>
            </a:r>
            <a:r>
              <a:rPr lang="zh-CN" altLang="en-US" dirty="0">
                <a:ea typeface="宋体" panose="02010600030101010101" pitchFamily="2" charset="-122"/>
              </a:rPr>
              <a:t>：生产</a:t>
            </a:r>
            <a:r>
              <a:rPr lang="en-US" altLang="zh-CN" dirty="0">
                <a:ea typeface="宋体" panose="02010600030101010101" pitchFamily="2" charset="-122"/>
              </a:rPr>
              <a:t>GDP</a:t>
            </a:r>
            <a:r>
              <a:rPr lang="zh-CN" altLang="en-US" dirty="0">
                <a:ea typeface="宋体" panose="02010600030101010101" pitchFamily="2" charset="-122"/>
              </a:rPr>
              <a:t>的要素所有者的全部收入（工资、利息、租金、正常利润）</a:t>
            </a: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总支出</a:t>
            </a:r>
            <a:r>
              <a:rPr lang="zh-CN" altLang="en-US" dirty="0">
                <a:ea typeface="宋体" panose="02010600030101010101" pitchFamily="2" charset="-122"/>
              </a:rPr>
              <a:t>：全社会购买最终产品</a:t>
            </a:r>
            <a:r>
              <a:rPr lang="en-US" altLang="zh-CN" dirty="0">
                <a:ea typeface="宋体" panose="02010600030101010101" pitchFamily="2" charset="-122"/>
              </a:rPr>
              <a:t>GDP</a:t>
            </a:r>
            <a:r>
              <a:rPr lang="zh-CN" altLang="en-US" dirty="0">
                <a:ea typeface="宋体" panose="02010600030101010101" pitchFamily="2" charset="-122"/>
              </a:rPr>
              <a:t>的总支出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36025206"/>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6</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0" indent="0" eaLnBrk="1" hangingPunct="1">
              <a:buSzTx/>
              <a:buNone/>
            </a:pPr>
            <a:r>
              <a:rPr lang="zh-CN" altLang="en-US" b="1" u="sng" dirty="0">
                <a:ea typeface="宋体" panose="02010600030101010101" pitchFamily="2" charset="-122"/>
              </a:rPr>
              <a:t>循环流量图复习：总产出、总收入、总支出的关系</a:t>
            </a:r>
          </a:p>
          <a:p>
            <a:pPr marL="268940" indent="-268940" eaLnBrk="1" hangingPunct="1">
              <a:buSzTx/>
              <a:buFont typeface="Wingdings" pitchFamily="2" charset="2"/>
              <a:buAutoNum type="arabicPeriod"/>
            </a:pPr>
            <a:r>
              <a:rPr lang="zh-CN" altLang="en-US" b="1" dirty="0">
                <a:ea typeface="宋体" panose="02010600030101010101" pitchFamily="2" charset="-122"/>
              </a:rPr>
              <a:t>（总）产出</a:t>
            </a:r>
            <a:r>
              <a:rPr lang="en-US" altLang="zh-CN" b="1" dirty="0">
                <a:ea typeface="宋体" panose="02010600030101010101" pitchFamily="2" charset="-122"/>
              </a:rPr>
              <a:t>=</a:t>
            </a:r>
            <a:r>
              <a:rPr lang="zh-CN" altLang="en-US" b="1" dirty="0">
                <a:ea typeface="宋体" panose="02010600030101010101" pitchFamily="2" charset="-122"/>
              </a:rPr>
              <a:t>（总）收入</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产出是生产要素共同创造的，产出值自然要转化为要素提供者的收入。</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一个企业的产出总等于收入，一个国家的总产出也必然等于总收入。</a:t>
            </a:r>
            <a:endParaRPr lang="zh-CN" altLang="zh-CN" dirty="0">
              <a:ea typeface="宋体" panose="02010600030101010101" pitchFamily="2"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3" name="页脚占位符 1">
            <a:extLst>
              <a:ext uri="{FF2B5EF4-FFF2-40B4-BE49-F238E27FC236}">
                <a16:creationId xmlns:a16="http://schemas.microsoft.com/office/drawing/2014/main" id="{F46E35B2-851E-7689-FB77-9D796F0D648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7</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0" indent="0" eaLnBrk="1" hangingPunct="1">
              <a:buSzTx/>
              <a:buNone/>
            </a:pPr>
            <a:r>
              <a:rPr lang="zh-CN" altLang="en-US" b="1" dirty="0">
                <a:ea typeface="宋体" panose="02010600030101010101" pitchFamily="2" charset="-122"/>
              </a:rPr>
              <a:t>循环流量图复习：总产出、总收入、总支出的关系</a:t>
            </a:r>
          </a:p>
          <a:p>
            <a:pPr marL="0" indent="0" eaLnBrk="1" hangingPunct="1">
              <a:buSzTx/>
              <a:buNone/>
            </a:pPr>
            <a:r>
              <a:rPr lang="en-US" altLang="zh-CN" b="1" dirty="0">
                <a:ea typeface="宋体" panose="02010600030101010101" pitchFamily="2" charset="-122"/>
              </a:rPr>
              <a:t>2.</a:t>
            </a:r>
            <a:r>
              <a:rPr lang="zh-CN" altLang="en-US" b="1" dirty="0">
                <a:ea typeface="宋体" panose="02010600030101010101" pitchFamily="2" charset="-122"/>
              </a:rPr>
              <a:t> （总）产出</a:t>
            </a:r>
            <a:r>
              <a:rPr lang="en-US" altLang="zh-CN" b="1" dirty="0">
                <a:ea typeface="宋体" panose="02010600030101010101" pitchFamily="2" charset="-122"/>
              </a:rPr>
              <a:t>=</a:t>
            </a:r>
            <a:r>
              <a:rPr lang="zh-CN" altLang="en-US" b="1" dirty="0">
                <a:ea typeface="宋体" panose="02010600030101010101" pitchFamily="2" charset="-122"/>
              </a:rPr>
              <a:t>（总）支出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产出是为购买者而生产的，自然最终产品的销售收入，就是最终产品购买者的支出。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具体地说，总产出=市场购买总支出+存货总投资（支出）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用公式表示即为：总收入=总产出=总支出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3" name="页脚占位符 1">
            <a:extLst>
              <a:ext uri="{FF2B5EF4-FFF2-40B4-BE49-F238E27FC236}">
                <a16:creationId xmlns:a16="http://schemas.microsoft.com/office/drawing/2014/main" id="{B4DD9EC1-F978-BD96-A93B-B3675B3D8935}"/>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86266729"/>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8</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SimSun" panose="02010600030101010101" pitchFamily="2" charset="-122"/>
                <a:ea typeface="SimSun" panose="02010600030101010101" pitchFamily="2" charset="-122"/>
              </a:rPr>
              <a:t>认识总“收入</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总产出</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总支出”这一公式对于弄清如何核算</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有重大意义。</a:t>
            </a:r>
          </a:p>
          <a:p>
            <a:r>
              <a:rPr lang="zh-CN" altLang="en-US" dirty="0">
                <a:latin typeface="SimSun" panose="02010600030101010101" pitchFamily="2" charset="-122"/>
                <a:ea typeface="SimSun" panose="02010600030101010101" pitchFamily="2" charset="-122"/>
              </a:rPr>
              <a:t>⑴从理论上说，</a:t>
            </a:r>
            <a:r>
              <a:rPr lang="en-US" altLang="zh-CN" dirty="0">
                <a:latin typeface="SimSun" panose="02010600030101010101" pitchFamily="2" charset="-122"/>
                <a:ea typeface="SimSun" panose="02010600030101010101" pitchFamily="2" charset="-122"/>
              </a:rPr>
              <a:t>GDP=∑</a:t>
            </a:r>
            <a:r>
              <a:rPr lang="en-US" altLang="zh-CN" dirty="0" err="1">
                <a:latin typeface="SimSun" panose="02010600030101010101" pitchFamily="2" charset="-122"/>
                <a:ea typeface="SimSun" panose="02010600030101010101" pitchFamily="2" charset="-122"/>
              </a:rPr>
              <a:t>PiQi</a:t>
            </a:r>
            <a:r>
              <a:rPr lang="zh-CN" altLang="en-US" dirty="0">
                <a:latin typeface="SimSun" panose="02010600030101010101" pitchFamily="2" charset="-122"/>
                <a:ea typeface="SimSun" panose="02010600030101010101" pitchFamily="2" charset="-122"/>
              </a:rPr>
              <a:t>。如果用（</a:t>
            </a:r>
            <a:r>
              <a:rPr lang="en-US" altLang="zh-CN" dirty="0">
                <a:latin typeface="SimSun" panose="02010600030101010101" pitchFamily="2" charset="-122"/>
                <a:ea typeface="SimSun" panose="02010600030101010101" pitchFamily="2" charset="-122"/>
              </a:rPr>
              <a:t>Q1</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Q2</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……Qi</a:t>
            </a:r>
            <a:r>
              <a:rPr lang="zh-CN" altLang="en-US" dirty="0">
                <a:latin typeface="SimSun" panose="02010600030101010101" pitchFamily="2" charset="-122"/>
                <a:ea typeface="SimSun" panose="02010600030101010101" pitchFamily="2" charset="-122"/>
              </a:rPr>
              <a:t>代表各种最终产品的数量，用</a:t>
            </a:r>
            <a:r>
              <a:rPr lang="en-US" altLang="zh-CN" dirty="0">
                <a:latin typeface="SimSun" panose="02010600030101010101" pitchFamily="2" charset="-122"/>
                <a:ea typeface="SimSun" panose="02010600030101010101" pitchFamily="2" charset="-122"/>
              </a:rPr>
              <a:t>P1</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P2</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……Pi</a:t>
            </a:r>
            <a:r>
              <a:rPr lang="zh-CN" altLang="en-US" dirty="0">
                <a:latin typeface="SimSun" panose="02010600030101010101" pitchFamily="2" charset="-122"/>
                <a:ea typeface="SimSun" panose="02010600030101010101" pitchFamily="2" charset="-122"/>
              </a:rPr>
              <a:t>代表各种最终产品的价格，则</a:t>
            </a:r>
            <a:r>
              <a:rPr lang="en-US" altLang="zh-CN" dirty="0">
                <a:latin typeface="SimSun" panose="02010600030101010101" pitchFamily="2" charset="-122"/>
                <a:ea typeface="SimSun" panose="02010600030101010101" pitchFamily="2" charset="-122"/>
              </a:rPr>
              <a:t>Q1P1+Q2P2+……+</a:t>
            </a:r>
            <a:r>
              <a:rPr lang="en-US" altLang="zh-CN" dirty="0" err="1">
                <a:latin typeface="SimSun" panose="02010600030101010101" pitchFamily="2" charset="-122"/>
                <a:ea typeface="SimSun" panose="02010600030101010101" pitchFamily="2" charset="-122"/>
              </a:rPr>
              <a:t>QiPi</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。但实际上，这种计算不可能。</a:t>
            </a:r>
          </a:p>
          <a:p>
            <a:r>
              <a:rPr lang="zh-CN" altLang="en-US" dirty="0">
                <a:latin typeface="SimSun" panose="02010600030101010101" pitchFamily="2" charset="-122"/>
                <a:ea typeface="SimSun" panose="02010600030101010101" pitchFamily="2" charset="-122"/>
              </a:rPr>
              <a:t>⑵通过“收入</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总产出</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总支出”这一公式，我们就可以通过其它比较简单的方法（支出法、收入法）来计算清楚</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92848357"/>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9</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dirty="0">
                <a:ea typeface="宋体" panose="02010600030101010101" pitchFamily="2" charset="-122"/>
              </a:rPr>
              <a:t>支出法</a:t>
            </a:r>
            <a:r>
              <a:rPr lang="en-US" altLang="zh-CN" sz="1400" b="1" dirty="0"/>
              <a:t>expenditure </a:t>
            </a:r>
            <a:r>
              <a:rPr lang="en-US" altLang="zh-CN" sz="1400" b="1" dirty="0" err="1"/>
              <a:t>approch</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SimSun" panose="02010600030101010101" pitchFamily="2" charset="-122"/>
                <a:ea typeface="SimSun" panose="02010600030101010101" pitchFamily="2" charset="-122"/>
              </a:rPr>
              <a:t>又称产品支出法、产品流动法、最终产品法</a:t>
            </a:r>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把一年内购买的各种最终产品支出加总起来，计算出该年内生产出来的产品和劳务的市场价值。</a:t>
            </a:r>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消费</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投资</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政府购买</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净出口</a:t>
            </a:r>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GDP=C+I+G+(X-M)</a:t>
            </a:r>
          </a:p>
          <a:p>
            <a:endParaRPr lang="en-US" altLang="zh-CN" dirty="0">
              <a:latin typeface="SimSun" panose="02010600030101010101" pitchFamily="2" charset="-122"/>
              <a:ea typeface="SimSun" panose="02010600030101010101" pitchFamily="2" charset="-122"/>
            </a:endParaRPr>
          </a:p>
          <a:p>
            <a:r>
              <a:rPr lang="zh-CN" altLang="en-US" b="1" dirty="0">
                <a:solidFill>
                  <a:schemeClr val="accent2">
                    <a:lumMod val="75000"/>
                  </a:schemeClr>
                </a:solidFill>
                <a:latin typeface="SimSun" panose="02010600030101010101" pitchFamily="2" charset="-122"/>
                <a:ea typeface="SimSun" panose="02010600030101010101" pitchFamily="2" charset="-122"/>
              </a:rPr>
              <a:t>概念理解：消费和投资</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91912402"/>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10</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又称所得法、要素支付法</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把生产过程中各种生产要素所得到的收入，即工资、利润、利息和租金相加起来。</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1</a:t>
            </a:r>
            <a:r>
              <a:rPr lang="zh-CN" altLang="en-US" dirty="0">
                <a:latin typeface="Garamond" panose="02020404030301010803" pitchFamily="18" charset="0"/>
                <a:ea typeface="SimSun" panose="02010600030101010101" pitchFamily="2" charset="-122"/>
              </a:rPr>
              <a:t>）工资、利息和租金等生产报酬</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2</a:t>
            </a:r>
            <a:r>
              <a:rPr lang="zh-CN" altLang="en-US" dirty="0">
                <a:latin typeface="Garamond" panose="02020404030301010803" pitchFamily="18" charset="0"/>
                <a:ea typeface="SimSun" panose="02010600030101010101" pitchFamily="2" charset="-122"/>
              </a:rPr>
              <a:t>）非公司企业主收入</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3</a:t>
            </a:r>
            <a:r>
              <a:rPr lang="zh-CN" altLang="en-US" dirty="0">
                <a:latin typeface="Garamond" panose="02020404030301010803" pitchFamily="18" charset="0"/>
                <a:ea typeface="SimSun" panose="02010600030101010101" pitchFamily="2" charset="-122"/>
              </a:rPr>
              <a:t>）公司税前利润</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4</a:t>
            </a:r>
            <a:r>
              <a:rPr lang="zh-CN" altLang="en-US" dirty="0">
                <a:latin typeface="Garamond" panose="02020404030301010803" pitchFamily="18" charset="0"/>
                <a:ea typeface="SimSun" panose="02010600030101010101" pitchFamily="2" charset="-122"/>
              </a:rPr>
              <a:t>）企业转移支付及企业间接税</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5</a:t>
            </a:r>
            <a:r>
              <a:rPr lang="zh-CN" altLang="en-US" dirty="0">
                <a:latin typeface="Garamond" panose="02020404030301010803" pitchFamily="18" charset="0"/>
                <a:ea typeface="SimSun" panose="02010600030101010101" pitchFamily="2" charset="-122"/>
              </a:rPr>
              <a:t>）资本折旧</a:t>
            </a:r>
            <a:endParaRPr lang="en-US" altLang="zh-CN" dirty="0">
              <a:latin typeface="Garamond" panose="02020404030301010803" pitchFamily="18" charset="0"/>
              <a:ea typeface="SimSun" panose="02010600030101010101" pitchFamily="2"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77738770"/>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11</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收入法是从生产要素收入的角度，把生产要素在生产中所得到的各种收入相加来计算的</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即把劳动所得到的工资、土地所有者得到的地租、资本所得到的利息以及企业家才能得到的利润相加来计算</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但不能仅从字面上狭隘理解成只包括</a:t>
            </a:r>
            <a:r>
              <a:rPr lang="zh-CN" altLang="en-US" u="sng" dirty="0">
                <a:latin typeface="Garamond" panose="02020404030301010803" pitchFamily="18" charset="0"/>
                <a:ea typeface="SimSun" panose="02010600030101010101" pitchFamily="2" charset="-122"/>
              </a:rPr>
              <a:t>工资、地租、利息、企业家才能</a:t>
            </a:r>
            <a:r>
              <a:rPr lang="zh-CN" altLang="en-US" dirty="0">
                <a:latin typeface="Garamond" panose="02020404030301010803" pitchFamily="18" charset="0"/>
                <a:ea typeface="SimSun" panose="02010600030101010101" pitchFamily="2" charset="-122"/>
              </a:rPr>
              <a:t>四个项目。</a:t>
            </a:r>
            <a:endParaRPr lang="zh-CN" altLang="e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严格地说，最终产品市场价值除了生产要素构成的成本，还有间接税、折旧、公司未分配的利润等内容</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22095119"/>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12</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用收入法核算</a:t>
            </a:r>
            <a:r>
              <a:rPr lang="en"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应包括以下项目：</a:t>
            </a:r>
          </a:p>
          <a:p>
            <a:r>
              <a:rPr lang="en"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工资</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利息</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利润</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租金</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间接税和企业转移支付</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折旧</a:t>
            </a:r>
          </a:p>
          <a:p>
            <a:r>
              <a:rPr lang="zh-CN" altLang="en-US" b="1" dirty="0">
                <a:latin typeface="Garamond" panose="02020404030301010803" pitchFamily="18" charset="0"/>
                <a:ea typeface="SimSun" panose="02010600030101010101" pitchFamily="2" charset="-122"/>
              </a:rPr>
              <a:t>间接税与直接税说明：</a:t>
            </a:r>
          </a:p>
          <a:p>
            <a:r>
              <a:rPr lang="zh-CN" altLang="en-US" dirty="0">
                <a:latin typeface="Garamond" panose="02020404030301010803" pitchFamily="18" charset="0"/>
                <a:ea typeface="SimSun" panose="02010600030101010101" pitchFamily="2" charset="-122"/>
              </a:rPr>
              <a:t>⑴间接税：对商品和劳务征收的税，特点是税负不由纳税人直接承担，可以转嫁出去。</a:t>
            </a:r>
          </a:p>
          <a:p>
            <a:r>
              <a:rPr lang="zh-CN" altLang="en-US" dirty="0">
                <a:latin typeface="Garamond" panose="02020404030301010803" pitchFamily="18" charset="0"/>
                <a:ea typeface="SimSun" panose="02010600030101010101" pitchFamily="2" charset="-122"/>
              </a:rPr>
              <a:t>⑵直接税：对财产和收入征收的税，特点是税负不能转嫁，由纳税人直接承担。 </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09110410"/>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228065"/>
            <a:ext cx="3976211" cy="2862289"/>
          </a:xfrm>
        </p:spPr>
        <p:txBody>
          <a:bodyPr/>
          <a:lstStyle/>
          <a:p>
            <a:pPr marL="0" indent="0" eaLnBrk="1" hangingPunct="1">
              <a:spcBef>
                <a:spcPct val="20000"/>
              </a:spcBef>
              <a:buClr>
                <a:srgbClr val="6699FF"/>
              </a:buClr>
              <a:buNone/>
            </a:pPr>
            <a:r>
              <a:rPr lang="zh-CN" altLang="en-US" sz="908" dirty="0">
                <a:latin typeface="+mn-ea"/>
              </a:rPr>
              <a:t>在美国的国民收入统计中，按收入法主要包括以下几个项目：</a:t>
            </a:r>
          </a:p>
          <a:p>
            <a:pPr marL="0" indent="0" eaLnBrk="1" hangingPunct="1">
              <a:spcBef>
                <a:spcPct val="20000"/>
              </a:spcBef>
              <a:buClr>
                <a:srgbClr val="6699FF"/>
              </a:buClr>
              <a:buNone/>
            </a:pPr>
            <a:r>
              <a:rPr lang="zh-CN" altLang="en-US" sz="908" dirty="0">
                <a:latin typeface="+mn-ea"/>
              </a:rPr>
              <a:t>         工资和其它补助</a:t>
            </a:r>
            <a:endParaRPr lang="en-US" altLang="zh-CN" sz="908" dirty="0">
              <a:latin typeface="+mn-ea"/>
            </a:endParaRPr>
          </a:p>
          <a:p>
            <a:pPr marL="0" indent="0" eaLnBrk="1" hangingPunct="1">
              <a:spcBef>
                <a:spcPct val="20000"/>
              </a:spcBef>
              <a:buClr>
                <a:srgbClr val="6699FF"/>
              </a:buClr>
              <a:buNone/>
            </a:pPr>
            <a:r>
              <a:rPr lang="en-US" altLang="zh-CN" sz="908" dirty="0">
                <a:latin typeface="+mn-ea"/>
              </a:rPr>
              <a:t>         </a:t>
            </a:r>
            <a:r>
              <a:rPr lang="zh-CN" altLang="en-US" sz="908" dirty="0">
                <a:latin typeface="+mn-ea"/>
              </a:rPr>
              <a:t>净利息</a:t>
            </a:r>
          </a:p>
          <a:p>
            <a:pPr marL="0" indent="0" eaLnBrk="1" hangingPunct="1">
              <a:spcBef>
                <a:spcPct val="20000"/>
              </a:spcBef>
              <a:buClr>
                <a:srgbClr val="6699FF"/>
              </a:buClr>
              <a:buNone/>
            </a:pPr>
            <a:r>
              <a:rPr lang="zh-CN" altLang="en-US" sz="908" dirty="0">
                <a:latin typeface="+mn-ea"/>
              </a:rPr>
              <a:t>         租金收入</a:t>
            </a:r>
          </a:p>
          <a:p>
            <a:pPr marL="0" indent="0" eaLnBrk="1" hangingPunct="1">
              <a:spcBef>
                <a:spcPct val="20000"/>
              </a:spcBef>
              <a:buClr>
                <a:srgbClr val="6699FF"/>
              </a:buClr>
              <a:buNone/>
            </a:pPr>
            <a:r>
              <a:rPr lang="zh-CN" altLang="en-US" sz="908" dirty="0">
                <a:latin typeface="+mn-ea"/>
              </a:rPr>
              <a:t>         利润</a:t>
            </a:r>
          </a:p>
          <a:p>
            <a:pPr marL="0" indent="0" eaLnBrk="1" hangingPunct="1">
              <a:spcBef>
                <a:spcPct val="20000"/>
              </a:spcBef>
              <a:buClr>
                <a:srgbClr val="6699FF"/>
              </a:buClr>
              <a:buNone/>
            </a:pPr>
            <a:r>
              <a:rPr lang="zh-CN" altLang="en-US" sz="908" dirty="0">
                <a:latin typeface="+mn-ea"/>
              </a:rPr>
              <a:t>         公司利润</a:t>
            </a:r>
          </a:p>
          <a:p>
            <a:pPr marL="0" indent="0" eaLnBrk="1" hangingPunct="1">
              <a:spcBef>
                <a:spcPct val="20000"/>
              </a:spcBef>
              <a:buClr>
                <a:srgbClr val="6699FF"/>
              </a:buClr>
              <a:buNone/>
            </a:pPr>
            <a:r>
              <a:rPr lang="zh-CN" altLang="en-US" sz="908" dirty="0">
                <a:latin typeface="+mn-ea"/>
              </a:rPr>
              <a:t>             红利</a:t>
            </a:r>
            <a:endParaRPr lang="en-US" altLang="zh-CN" sz="908" dirty="0">
              <a:latin typeface="+mn-ea"/>
            </a:endParaRPr>
          </a:p>
          <a:p>
            <a:pPr marL="0" indent="0" eaLnBrk="1" hangingPunct="1">
              <a:spcBef>
                <a:spcPct val="20000"/>
              </a:spcBef>
              <a:buClr>
                <a:srgbClr val="6699FF"/>
              </a:buClr>
              <a:buNone/>
            </a:pPr>
            <a:r>
              <a:rPr lang="zh-CN" altLang="en-US" sz="908" dirty="0">
                <a:latin typeface="+mn-ea"/>
              </a:rPr>
              <a:t>             未分配利润</a:t>
            </a:r>
          </a:p>
          <a:p>
            <a:pPr marL="0" indent="0" eaLnBrk="1" hangingPunct="1">
              <a:spcBef>
                <a:spcPct val="20000"/>
              </a:spcBef>
              <a:buClr>
                <a:srgbClr val="6699FF"/>
              </a:buClr>
              <a:buNone/>
            </a:pPr>
            <a:r>
              <a:rPr lang="zh-CN" altLang="en-US" sz="908" dirty="0">
                <a:latin typeface="+mn-ea"/>
              </a:rPr>
              <a:t>         非公司利润</a:t>
            </a:r>
          </a:p>
          <a:p>
            <a:pPr marL="0" indent="0" eaLnBrk="1" hangingPunct="1">
              <a:spcBef>
                <a:spcPct val="20000"/>
              </a:spcBef>
              <a:buClr>
                <a:srgbClr val="6699FF"/>
              </a:buClr>
              <a:buNone/>
            </a:pPr>
            <a:r>
              <a:rPr lang="en-US" altLang="zh-CN" sz="908" dirty="0">
                <a:latin typeface="+mn-ea"/>
              </a:rPr>
              <a:t>             </a:t>
            </a:r>
            <a:r>
              <a:rPr lang="zh-CN" altLang="en-US" sz="908" dirty="0">
                <a:latin typeface="+mn-ea"/>
              </a:rPr>
              <a:t>全营企业</a:t>
            </a:r>
          </a:p>
          <a:p>
            <a:pPr marL="0" indent="0" eaLnBrk="1" hangingPunct="1">
              <a:spcBef>
                <a:spcPct val="20000"/>
              </a:spcBef>
              <a:buClr>
                <a:srgbClr val="6699FF"/>
              </a:buClr>
              <a:buNone/>
            </a:pPr>
            <a:r>
              <a:rPr lang="zh-CN" altLang="en-US" sz="908" dirty="0">
                <a:latin typeface="+mn-ea"/>
              </a:rPr>
              <a:t>             农民</a:t>
            </a:r>
          </a:p>
          <a:p>
            <a:pPr marL="0" indent="0" eaLnBrk="1" hangingPunct="1">
              <a:spcBef>
                <a:spcPct val="20000"/>
              </a:spcBef>
              <a:buClr>
                <a:srgbClr val="6699FF"/>
              </a:buClr>
              <a:buNone/>
            </a:pPr>
            <a:r>
              <a:rPr lang="zh-CN" altLang="en-US" sz="908" dirty="0">
                <a:latin typeface="+mn-ea"/>
              </a:rPr>
              <a:t>     企业税</a:t>
            </a:r>
            <a:endParaRPr lang="en-US" altLang="zh-CN" sz="908" dirty="0">
              <a:latin typeface="+mn-ea"/>
            </a:endParaRPr>
          </a:p>
          <a:p>
            <a:pPr marL="0" indent="0" eaLnBrk="1" hangingPunct="1">
              <a:spcBef>
                <a:spcPct val="20000"/>
              </a:spcBef>
              <a:buClr>
                <a:srgbClr val="6699FF"/>
              </a:buClr>
              <a:buNone/>
            </a:pPr>
            <a:r>
              <a:rPr lang="en-US" altLang="zh-CN" sz="908" dirty="0">
                <a:latin typeface="+mn-ea"/>
              </a:rPr>
              <a:t>             </a:t>
            </a:r>
            <a:r>
              <a:rPr lang="zh-CN" altLang="en-US" sz="908" dirty="0">
                <a:latin typeface="+mn-ea"/>
              </a:rPr>
              <a:t>间接税</a:t>
            </a:r>
          </a:p>
          <a:p>
            <a:pPr marL="0" indent="0" eaLnBrk="1" hangingPunct="1">
              <a:spcBef>
                <a:spcPct val="20000"/>
              </a:spcBef>
              <a:buClr>
                <a:srgbClr val="6699FF"/>
              </a:buClr>
              <a:buNone/>
            </a:pPr>
            <a:r>
              <a:rPr lang="zh-CN" altLang="en-US" sz="908" dirty="0">
                <a:latin typeface="+mn-ea"/>
              </a:rPr>
              <a:t>             公司税</a:t>
            </a:r>
          </a:p>
          <a:p>
            <a:pPr marL="0" indent="0" eaLnBrk="1" hangingPunct="1">
              <a:spcBef>
                <a:spcPct val="20000"/>
              </a:spcBef>
              <a:buClr>
                <a:srgbClr val="6699FF"/>
              </a:buClr>
              <a:buNone/>
            </a:pPr>
            <a:r>
              <a:rPr lang="zh-CN" altLang="en-US" sz="908" dirty="0">
                <a:latin typeface="+mn-ea"/>
              </a:rPr>
              <a:t>     资本折旧</a:t>
            </a:r>
          </a:p>
          <a:p>
            <a:pPr marL="0" indent="0" eaLnBrk="1" hangingPunct="1">
              <a:spcBef>
                <a:spcPct val="20000"/>
              </a:spcBef>
              <a:buClr>
                <a:srgbClr val="6699FF"/>
              </a:buClr>
              <a:buNone/>
            </a:pPr>
            <a:r>
              <a:rPr lang="zh-CN" altLang="en-US" sz="908" dirty="0">
                <a:latin typeface="+mn-ea"/>
              </a:rPr>
              <a:t>     误差调整</a:t>
            </a:r>
          </a:p>
          <a:p>
            <a:pPr marL="0" indent="0" eaLnBrk="1" hangingPunct="1">
              <a:spcBef>
                <a:spcPct val="20000"/>
              </a:spcBef>
              <a:buClr>
                <a:srgbClr val="6699FF"/>
              </a:buClr>
              <a:buNone/>
            </a:pPr>
            <a:r>
              <a:rPr lang="en-US" altLang="zh-CN" sz="908" dirty="0">
                <a:latin typeface="+mn-ea"/>
              </a:rPr>
              <a:t>————————————</a:t>
            </a:r>
            <a:r>
              <a:rPr lang="zh-CN" altLang="en-US" sz="908" dirty="0">
                <a:latin typeface="+mn-ea"/>
              </a:rPr>
              <a:t>        </a:t>
            </a:r>
          </a:p>
          <a:p>
            <a:pPr marL="0" indent="0" eaLnBrk="1" hangingPunct="1">
              <a:spcBef>
                <a:spcPct val="20000"/>
              </a:spcBef>
              <a:buClr>
                <a:srgbClr val="6699FF"/>
              </a:buClr>
              <a:buNone/>
            </a:pPr>
            <a:r>
              <a:rPr lang="zh-CN" altLang="en-US" sz="908" dirty="0">
                <a:latin typeface="+mn-ea"/>
              </a:rPr>
              <a:t> 总计：</a:t>
            </a:r>
            <a:r>
              <a:rPr lang="en-US" altLang="zh-CN" sz="908" dirty="0">
                <a:latin typeface="+mn-ea"/>
              </a:rPr>
              <a:t>GDP</a:t>
            </a:r>
          </a:p>
          <a:p>
            <a:pPr marL="0" indent="0">
              <a:buNone/>
            </a:pPr>
            <a:endParaRPr lang="zh-CN" altLang="en-US" dirty="0">
              <a:latin typeface="+mn-ea"/>
            </a:endParaRPr>
          </a:p>
        </p:txBody>
      </p:sp>
    </p:spTree>
    <p:extLst>
      <p:ext uri="{BB962C8B-B14F-4D97-AF65-F5344CB8AC3E}">
        <p14:creationId xmlns:p14="http://schemas.microsoft.com/office/powerpoint/2010/main" val="861152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14</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部门法（</a:t>
            </a:r>
            <a:r>
              <a:rPr lang="en" altLang="zh-CN" sz="1800" b="1" dirty="0"/>
              <a:t>sector approach</a:t>
            </a:r>
            <a:r>
              <a:rPr lang="zh-CN" altLang="en" sz="1800" b="1" dirty="0"/>
              <a:t>）</a:t>
            </a:r>
            <a:r>
              <a:rPr lang="en-US" altLang="zh-CN" sz="1800" dirty="0"/>
              <a:t>/</a:t>
            </a:r>
            <a:r>
              <a:rPr lang="zh-CN" altLang="en-US" sz="1800" b="1" dirty="0"/>
              <a:t>生产法</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部门法核算</a:t>
            </a:r>
            <a:r>
              <a:rPr lang="en-US"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是按提供产品和劳务的各部门的产值来计算</a:t>
            </a:r>
          </a:p>
          <a:p>
            <a:r>
              <a:rPr lang="zh-CN" altLang="en-US" dirty="0">
                <a:latin typeface="Garamond" panose="02020404030301010803" pitchFamily="18" charset="0"/>
                <a:ea typeface="SimSun" panose="02010600030101010101" pitchFamily="2" charset="-122"/>
              </a:rPr>
              <a:t>用生产法核算</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是指按提供物质产品与劳务的各个部门的新增产值来计算国内生产总值。生产法又叫部门法。</a:t>
            </a:r>
          </a:p>
          <a:p>
            <a:r>
              <a:rPr lang="zh-CN" altLang="en-US" dirty="0">
                <a:latin typeface="Garamond" panose="02020404030301010803" pitchFamily="18" charset="0"/>
                <a:ea typeface="SimSun" panose="02010600030101010101" pitchFamily="2" charset="-122"/>
              </a:rPr>
              <a:t>运用这种方法进行计算时，各生产部门要把使用的中间产品的产值扣除，只计算所增加的价值。商业和服务等部门也按增值法计算。卫生、教育、行政、家庭服务等部门无法计算其增值，就按工资收入来计算其服务的价值。</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68084502"/>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6944" y="185672"/>
            <a:ext cx="3667153" cy="317764"/>
          </a:xfrm>
        </p:spPr>
        <p:txBody>
          <a:bodyPr/>
          <a:lstStyle/>
          <a:p>
            <a:pPr>
              <a:lnSpc>
                <a:spcPct val="100000"/>
              </a:lnSpc>
            </a:pPr>
            <a:r>
              <a:rPr lang="zh-CN" altLang="en-US" sz="1008" b="1" dirty="0"/>
              <a:t>国内生产总值构成（来源：国家统计局）：部门法</a:t>
            </a:r>
            <a:r>
              <a:rPr lang="en-US" altLang="zh-CN" sz="1008" b="1" dirty="0"/>
              <a:t>/</a:t>
            </a:r>
            <a:r>
              <a:rPr lang="zh-CN" altLang="en-US" sz="1008" b="1" dirty="0"/>
              <a:t>生产法</a:t>
            </a:r>
          </a:p>
        </p:txBody>
      </p:sp>
      <p:sp>
        <p:nvSpPr>
          <p:cNvPr id="3" name="内容占位符 2"/>
          <p:cNvSpPr>
            <a:spLocks noGrp="1"/>
          </p:cNvSpPr>
          <p:nvPr>
            <p:ph idx="1"/>
          </p:nvPr>
        </p:nvSpPr>
        <p:spPr/>
        <p:txBody>
          <a:bodyPr/>
          <a:lstStyle/>
          <a:p>
            <a:endParaRPr lang="zh-CN" altLang="en-US" dirty="0"/>
          </a:p>
        </p:txBody>
      </p:sp>
      <p:pic>
        <p:nvPicPr>
          <p:cNvPr id="9" name="图片 8"/>
          <p:cNvPicPr>
            <a:picLocks noChangeAspect="1"/>
          </p:cNvPicPr>
          <p:nvPr/>
        </p:nvPicPr>
        <p:blipFill>
          <a:blip r:embed="rId2"/>
          <a:stretch>
            <a:fillRect/>
          </a:stretch>
        </p:blipFill>
        <p:spPr>
          <a:xfrm>
            <a:off x="80053" y="503435"/>
            <a:ext cx="4449994" cy="2612371"/>
          </a:xfrm>
          <a:prstGeom prst="rect">
            <a:avLst/>
          </a:prstGeom>
        </p:spPr>
      </p:pic>
    </p:spTree>
    <p:extLst>
      <p:ext uri="{BB962C8B-B14F-4D97-AF65-F5344CB8AC3E}">
        <p14:creationId xmlns:p14="http://schemas.microsoft.com/office/powerpoint/2010/main" val="2694270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pic>
        <p:nvPicPr>
          <p:cNvPr id="7" name="图片 6"/>
          <p:cNvPicPr>
            <a:picLocks noChangeAspect="1"/>
          </p:cNvPicPr>
          <p:nvPr/>
        </p:nvPicPr>
        <p:blipFill>
          <a:blip r:embed="rId2"/>
          <a:stretch>
            <a:fillRect/>
          </a:stretch>
        </p:blipFill>
        <p:spPr>
          <a:xfrm>
            <a:off x="37367" y="728316"/>
            <a:ext cx="4535366" cy="2411747"/>
          </a:xfrm>
          <a:prstGeom prst="rect">
            <a:avLst/>
          </a:prstGeom>
        </p:spPr>
      </p:pic>
      <p:sp>
        <p:nvSpPr>
          <p:cNvPr id="8" name="标题 1"/>
          <p:cNvSpPr>
            <a:spLocks noGrp="1"/>
          </p:cNvSpPr>
          <p:nvPr>
            <p:ph type="title"/>
          </p:nvPr>
        </p:nvSpPr>
        <p:spPr>
          <a:xfrm>
            <a:off x="241727" y="313707"/>
            <a:ext cx="3494880" cy="317764"/>
          </a:xfrm>
        </p:spPr>
        <p:txBody>
          <a:bodyPr/>
          <a:lstStyle/>
          <a:p>
            <a:pPr>
              <a:lnSpc>
                <a:spcPct val="100000"/>
              </a:lnSpc>
            </a:pPr>
            <a:r>
              <a:rPr lang="zh-CN" altLang="en-US" sz="1008" b="1" dirty="0"/>
              <a:t>国内生产总值构成（来源：国家统计局）：部门法</a:t>
            </a:r>
            <a:r>
              <a:rPr lang="en-US" altLang="zh-CN" sz="1008" b="1" dirty="0"/>
              <a:t>/</a:t>
            </a:r>
            <a:r>
              <a:rPr lang="zh-CN" altLang="en-US" sz="1008" b="1" dirty="0"/>
              <a:t>生产法</a:t>
            </a:r>
          </a:p>
        </p:txBody>
      </p:sp>
    </p:spTree>
    <p:extLst>
      <p:ext uri="{BB962C8B-B14F-4D97-AF65-F5344CB8AC3E}">
        <p14:creationId xmlns:p14="http://schemas.microsoft.com/office/powerpoint/2010/main" val="1697994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17</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lang="zh-CN" altLang="en-US" sz="1800" dirty="0"/>
              <a:t>三种核算方法的关系</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3" name="Text Box 4">
            <a:extLst>
              <a:ext uri="{FF2B5EF4-FFF2-40B4-BE49-F238E27FC236}">
                <a16:creationId xmlns:a16="http://schemas.microsoft.com/office/drawing/2014/main" id="{261285DC-8242-4F8D-95E4-C17DC267487B}"/>
              </a:ext>
            </a:extLst>
          </p:cNvPr>
          <p:cNvSpPr txBox="1">
            <a:spLocks noChangeArrowheads="1"/>
          </p:cNvSpPr>
          <p:nvPr/>
        </p:nvSpPr>
        <p:spPr bwMode="auto">
          <a:xfrm>
            <a:off x="1446989" y="707998"/>
            <a:ext cx="2044224" cy="447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lnSpc>
                <a:spcPct val="85000"/>
              </a:lnSpc>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最终产品的价值的形成过程：</a:t>
            </a:r>
          </a:p>
          <a:p>
            <a:pPr algn="ctr" defTabSz="230520" fontAlgn="base">
              <a:lnSpc>
                <a:spcPct val="85000"/>
              </a:lnSpc>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所有企业资产增值的总和</a:t>
            </a:r>
          </a:p>
        </p:txBody>
      </p:sp>
      <p:sp>
        <p:nvSpPr>
          <p:cNvPr id="4" name="Text Box 6">
            <a:extLst>
              <a:ext uri="{FF2B5EF4-FFF2-40B4-BE49-F238E27FC236}">
                <a16:creationId xmlns:a16="http://schemas.microsoft.com/office/drawing/2014/main" id="{3AAA9ED3-7899-3B1A-DA0D-5EA355B921B6}"/>
              </a:ext>
            </a:extLst>
          </p:cNvPr>
          <p:cNvSpPr txBox="1">
            <a:spLocks noChangeArrowheads="1"/>
          </p:cNvSpPr>
          <p:nvPr/>
        </p:nvSpPr>
        <p:spPr bwMode="auto">
          <a:xfrm>
            <a:off x="1979689" y="1334778"/>
            <a:ext cx="588623" cy="61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生产法</a:t>
            </a:r>
          </a:p>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概念</a:t>
            </a:r>
          </a:p>
        </p:txBody>
      </p:sp>
      <p:sp>
        <p:nvSpPr>
          <p:cNvPr id="5" name="Oval 7">
            <a:extLst>
              <a:ext uri="{FF2B5EF4-FFF2-40B4-BE49-F238E27FC236}">
                <a16:creationId xmlns:a16="http://schemas.microsoft.com/office/drawing/2014/main" id="{F7B6934E-5117-F5C5-DD7C-5495C926CDC0}"/>
              </a:ext>
            </a:extLst>
          </p:cNvPr>
          <p:cNvSpPr>
            <a:spLocks noChangeArrowheads="1"/>
          </p:cNvSpPr>
          <p:nvPr/>
        </p:nvSpPr>
        <p:spPr bwMode="auto">
          <a:xfrm>
            <a:off x="1771995" y="1868333"/>
            <a:ext cx="998855" cy="614680"/>
          </a:xfrm>
          <a:prstGeom prst="ellipse">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6" name="Text Box 8">
            <a:extLst>
              <a:ext uri="{FF2B5EF4-FFF2-40B4-BE49-F238E27FC236}">
                <a16:creationId xmlns:a16="http://schemas.microsoft.com/office/drawing/2014/main" id="{634B4B54-9BD9-65DD-7A25-BA0CA86D7388}"/>
              </a:ext>
            </a:extLst>
          </p:cNvPr>
          <p:cNvSpPr txBox="1">
            <a:spLocks noChangeArrowheads="1"/>
          </p:cNvSpPr>
          <p:nvPr/>
        </p:nvSpPr>
        <p:spPr bwMode="auto">
          <a:xfrm>
            <a:off x="1918946" y="2062857"/>
            <a:ext cx="71472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最终产品</a:t>
            </a:r>
          </a:p>
        </p:txBody>
      </p:sp>
      <p:sp>
        <p:nvSpPr>
          <p:cNvPr id="7" name="Text Box 9">
            <a:extLst>
              <a:ext uri="{FF2B5EF4-FFF2-40B4-BE49-F238E27FC236}">
                <a16:creationId xmlns:a16="http://schemas.microsoft.com/office/drawing/2014/main" id="{CD1B7FDA-8CAD-0C29-7FC5-87BE630FCFD7}"/>
              </a:ext>
            </a:extLst>
          </p:cNvPr>
          <p:cNvSpPr txBox="1">
            <a:spLocks noChangeArrowheads="1"/>
          </p:cNvSpPr>
          <p:nvPr/>
        </p:nvSpPr>
        <p:spPr bwMode="auto">
          <a:xfrm>
            <a:off x="208095" y="1685154"/>
            <a:ext cx="972443"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居民</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消费</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企业</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投资</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政府</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购买</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国外</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净出口</a:t>
            </a:r>
            <a:r>
              <a:rPr lang="en-US" altLang="zh-CN" sz="1050" dirty="0">
                <a:solidFill>
                  <a:prstClr val="black"/>
                </a:solidFill>
                <a:latin typeface="SimSun" panose="02010600030101010101" pitchFamily="2" charset="-122"/>
                <a:ea typeface="SimSun" panose="02010600030101010101" pitchFamily="2" charset="-122"/>
              </a:rPr>
              <a:t>)</a:t>
            </a:r>
          </a:p>
        </p:txBody>
      </p:sp>
      <p:sp>
        <p:nvSpPr>
          <p:cNvPr id="8" name="AutoShape 10">
            <a:extLst>
              <a:ext uri="{FF2B5EF4-FFF2-40B4-BE49-F238E27FC236}">
                <a16:creationId xmlns:a16="http://schemas.microsoft.com/office/drawing/2014/main" id="{A765D3D5-2D12-D107-DC54-2122185F7083}"/>
              </a:ext>
            </a:extLst>
          </p:cNvPr>
          <p:cNvSpPr>
            <a:spLocks/>
          </p:cNvSpPr>
          <p:nvPr/>
        </p:nvSpPr>
        <p:spPr bwMode="auto">
          <a:xfrm>
            <a:off x="1080480" y="1720266"/>
            <a:ext cx="153670" cy="943630"/>
          </a:xfrm>
          <a:prstGeom prst="rightBrace">
            <a:avLst>
              <a:gd name="adj1" fmla="val 51172"/>
              <a:gd name="adj2" fmla="val 50000"/>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9" name="Line 11">
            <a:extLst>
              <a:ext uri="{FF2B5EF4-FFF2-40B4-BE49-F238E27FC236}">
                <a16:creationId xmlns:a16="http://schemas.microsoft.com/office/drawing/2014/main" id="{4B8BF4B9-DDED-95F7-B213-F61C642AE9DF}"/>
              </a:ext>
            </a:extLst>
          </p:cNvPr>
          <p:cNvSpPr>
            <a:spLocks noChangeShapeType="1"/>
          </p:cNvSpPr>
          <p:nvPr/>
        </p:nvSpPr>
        <p:spPr bwMode="auto">
          <a:xfrm>
            <a:off x="1272567" y="2178074"/>
            <a:ext cx="461010"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
        <p:nvSpPr>
          <p:cNvPr id="10" name="Text Box 12">
            <a:extLst>
              <a:ext uri="{FF2B5EF4-FFF2-40B4-BE49-F238E27FC236}">
                <a16:creationId xmlns:a16="http://schemas.microsoft.com/office/drawing/2014/main" id="{A61B8F09-B59C-EFC7-1BCE-B17EB83AD536}"/>
              </a:ext>
            </a:extLst>
          </p:cNvPr>
          <p:cNvSpPr txBox="1">
            <a:spLocks noChangeArrowheads="1"/>
          </p:cNvSpPr>
          <p:nvPr/>
        </p:nvSpPr>
        <p:spPr bwMode="auto">
          <a:xfrm>
            <a:off x="1236234" y="1920086"/>
            <a:ext cx="644294" cy="49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流向</a:t>
            </a:r>
          </a:p>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支出法</a:t>
            </a:r>
          </a:p>
        </p:txBody>
      </p:sp>
      <p:sp>
        <p:nvSpPr>
          <p:cNvPr id="11" name="Line 13">
            <a:extLst>
              <a:ext uri="{FF2B5EF4-FFF2-40B4-BE49-F238E27FC236}">
                <a16:creationId xmlns:a16="http://schemas.microsoft.com/office/drawing/2014/main" id="{D5045F97-E164-ABB0-5019-D1F6C0DD406B}"/>
              </a:ext>
            </a:extLst>
          </p:cNvPr>
          <p:cNvSpPr>
            <a:spLocks noChangeShapeType="1"/>
          </p:cNvSpPr>
          <p:nvPr/>
        </p:nvSpPr>
        <p:spPr bwMode="auto">
          <a:xfrm>
            <a:off x="2809267" y="2187678"/>
            <a:ext cx="537845"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
        <p:nvSpPr>
          <p:cNvPr id="12" name="Text Box 14">
            <a:extLst>
              <a:ext uri="{FF2B5EF4-FFF2-40B4-BE49-F238E27FC236}">
                <a16:creationId xmlns:a16="http://schemas.microsoft.com/office/drawing/2014/main" id="{BE4F842B-C97D-35D3-F8F7-C75FA9AEF669}"/>
              </a:ext>
            </a:extLst>
          </p:cNvPr>
          <p:cNvSpPr txBox="1">
            <a:spLocks noChangeArrowheads="1"/>
          </p:cNvSpPr>
          <p:nvPr/>
        </p:nvSpPr>
        <p:spPr bwMode="auto">
          <a:xfrm>
            <a:off x="2809267" y="1920086"/>
            <a:ext cx="666704" cy="49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渊源</a:t>
            </a:r>
          </a:p>
          <a:p>
            <a:pPr algn="ctr" defTabSz="230520" fontAlgn="base">
              <a:spcBef>
                <a:spcPct val="50000"/>
              </a:spcBef>
              <a:spcAft>
                <a:spcPct val="0"/>
              </a:spcAft>
              <a:buClr>
                <a:srgbClr val="44546A"/>
              </a:buClr>
              <a:buSzPct val="65000"/>
              <a:buNone/>
            </a:pPr>
            <a:r>
              <a:rPr lang="zh-CN" altLang="en-US" sz="105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收入法</a:t>
            </a:r>
          </a:p>
        </p:txBody>
      </p:sp>
      <p:sp>
        <p:nvSpPr>
          <p:cNvPr id="13" name="Text Box 15">
            <a:extLst>
              <a:ext uri="{FF2B5EF4-FFF2-40B4-BE49-F238E27FC236}">
                <a16:creationId xmlns:a16="http://schemas.microsoft.com/office/drawing/2014/main" id="{ACF21A76-6D19-5BE0-11A5-9CAB42448C91}"/>
              </a:ext>
            </a:extLst>
          </p:cNvPr>
          <p:cNvSpPr txBox="1">
            <a:spLocks noChangeArrowheads="1"/>
          </p:cNvSpPr>
          <p:nvPr/>
        </p:nvSpPr>
        <p:spPr bwMode="auto">
          <a:xfrm>
            <a:off x="3493591" y="1730375"/>
            <a:ext cx="1037273"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劳动工资</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资本利息</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土地租金</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企业家利润</a:t>
            </a:r>
          </a:p>
        </p:txBody>
      </p:sp>
      <p:sp>
        <p:nvSpPr>
          <p:cNvPr id="14" name="AutoShape 16">
            <a:extLst>
              <a:ext uri="{FF2B5EF4-FFF2-40B4-BE49-F238E27FC236}">
                <a16:creationId xmlns:a16="http://schemas.microsoft.com/office/drawing/2014/main" id="{2FEB0CC4-0F4C-0E70-8491-CD8E40EBF2C5}"/>
              </a:ext>
            </a:extLst>
          </p:cNvPr>
          <p:cNvSpPr>
            <a:spLocks/>
          </p:cNvSpPr>
          <p:nvPr/>
        </p:nvSpPr>
        <p:spPr bwMode="auto">
          <a:xfrm>
            <a:off x="3385530" y="1749079"/>
            <a:ext cx="153670" cy="943630"/>
          </a:xfrm>
          <a:prstGeom prst="leftBrace">
            <a:avLst>
              <a:gd name="adj1" fmla="val 51172"/>
              <a:gd name="adj2" fmla="val 50000"/>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15" name="Line 17">
            <a:extLst>
              <a:ext uri="{FF2B5EF4-FFF2-40B4-BE49-F238E27FC236}">
                <a16:creationId xmlns:a16="http://schemas.microsoft.com/office/drawing/2014/main" id="{3F721BA5-D24D-ED96-4369-602FB434C792}"/>
              </a:ext>
            </a:extLst>
          </p:cNvPr>
          <p:cNvSpPr>
            <a:spLocks noChangeShapeType="1"/>
          </p:cNvSpPr>
          <p:nvPr/>
        </p:nvSpPr>
        <p:spPr bwMode="auto">
          <a:xfrm>
            <a:off x="2277025" y="1284867"/>
            <a:ext cx="0" cy="54424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695083910"/>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18</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b="1" dirty="0"/>
              <a:t>三种核算</a:t>
            </a:r>
            <a:r>
              <a:rPr lang="en-US" altLang="zh-CN" sz="1800" b="1" dirty="0"/>
              <a:t>GDP</a:t>
            </a:r>
            <a:r>
              <a:rPr lang="zh-CN" altLang="en-US" sz="1800" b="1" dirty="0"/>
              <a:t>的方法的比较</a:t>
            </a: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b="1" dirty="0">
                <a:latin typeface="SimSun" panose="02010600030101010101" pitchFamily="2" charset="-122"/>
                <a:ea typeface="SimSun" panose="02010600030101010101" pitchFamily="2" charset="-122"/>
              </a:rPr>
              <a:t>生产法最准确。</a:t>
            </a:r>
            <a:r>
              <a:rPr lang="zh-CN" altLang="en-US" dirty="0">
                <a:latin typeface="SimSun" panose="02010600030101010101" pitchFamily="2" charset="-122"/>
                <a:ea typeface="SimSun" panose="02010600030101010101" pitchFamily="2" charset="-122"/>
              </a:rPr>
              <a:t>但这种方法的可操作性不强；</a:t>
            </a:r>
          </a:p>
          <a:p>
            <a:r>
              <a:rPr lang="zh-CN" altLang="en-US" b="1" dirty="0">
                <a:latin typeface="SimSun" panose="02010600030101010101" pitchFamily="2" charset="-122"/>
                <a:ea typeface="SimSun" panose="02010600030101010101" pitchFamily="2" charset="-122"/>
              </a:rPr>
              <a:t>支出法</a:t>
            </a:r>
            <a:r>
              <a:rPr lang="zh-CN" altLang="en-US" dirty="0">
                <a:latin typeface="SimSun" panose="02010600030101010101" pitchFamily="2" charset="-122"/>
                <a:ea typeface="SimSun" panose="02010600030101010101" pitchFamily="2" charset="-122"/>
              </a:rPr>
              <a:t>最具可操作性，但不尽准确。</a:t>
            </a:r>
          </a:p>
          <a:p>
            <a:r>
              <a:rPr lang="zh-CN" altLang="en-US" b="1" dirty="0">
                <a:latin typeface="SimSun" panose="02010600030101010101" pitchFamily="2" charset="-122"/>
                <a:ea typeface="SimSun" panose="02010600030101010101" pitchFamily="2" charset="-122"/>
              </a:rPr>
              <a:t>收入法</a:t>
            </a:r>
            <a:r>
              <a:rPr lang="zh-CN" altLang="en-US" dirty="0">
                <a:latin typeface="SimSun" panose="02010600030101010101" pitchFamily="2" charset="-122"/>
                <a:ea typeface="SimSun" panose="02010600030101010101" pitchFamily="2" charset="-122"/>
              </a:rPr>
              <a:t>介乎于一、二种方法之间。</a:t>
            </a:r>
          </a:p>
          <a:p>
            <a:r>
              <a:rPr lang="zh-CN" altLang="en-US" dirty="0">
                <a:latin typeface="SimSun" panose="02010600030101010101" pitchFamily="2" charset="-122"/>
                <a:ea typeface="SimSun" panose="02010600030101010101" pitchFamily="2" charset="-122"/>
              </a:rPr>
              <a:t>常用的是支出法与生产法。尤其是</a:t>
            </a:r>
            <a:r>
              <a:rPr lang="zh-CN" altLang="en-US" u="sng" dirty="0">
                <a:latin typeface="SimSun" panose="02010600030101010101" pitchFamily="2" charset="-122"/>
                <a:ea typeface="SimSun" panose="02010600030101010101" pitchFamily="2" charset="-122"/>
              </a:rPr>
              <a:t>支出法。现在各国一般都把它作为核算国民收入最基本的方法</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22891587"/>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19</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dirty="0"/>
              <a:t>国民收入核算中其他总量的核算</a:t>
            </a:r>
            <a:endParaRPr lang="zh-CN" altLang="en-US" sz="1800" b="1" dirty="0"/>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graphicFrame>
        <p:nvGraphicFramePr>
          <p:cNvPr id="3" name="内容占位符 7">
            <a:extLst>
              <a:ext uri="{FF2B5EF4-FFF2-40B4-BE49-F238E27FC236}">
                <a16:creationId xmlns:a16="http://schemas.microsoft.com/office/drawing/2014/main" id="{F4C29F7B-1E87-F2CA-8A54-4C3B0E29E7A2}"/>
              </a:ext>
            </a:extLst>
          </p:cNvPr>
          <p:cNvGraphicFramePr>
            <a:graphicFrameLocks/>
          </p:cNvGraphicFramePr>
          <p:nvPr>
            <p:extLst>
              <p:ext uri="{D42A27DB-BD31-4B8C-83A1-F6EECF244321}">
                <p14:modId xmlns:p14="http://schemas.microsoft.com/office/powerpoint/2010/main" val="1482613137"/>
              </p:ext>
            </p:extLst>
          </p:nvPr>
        </p:nvGraphicFramePr>
        <p:xfrm>
          <a:off x="265451" y="471047"/>
          <a:ext cx="3917137" cy="2701682"/>
        </p:xfrm>
        <a:graphic>
          <a:graphicData uri="http://schemas.openxmlformats.org/drawingml/2006/table">
            <a:tbl>
              <a:tblPr firstRow="1" bandRow="1">
                <a:tableStyleId>{5940675A-B579-460E-94D1-54222C63F5DA}</a:tableStyleId>
              </a:tblPr>
              <a:tblGrid>
                <a:gridCol w="3917137">
                  <a:extLst>
                    <a:ext uri="{9D8B030D-6E8A-4147-A177-3AD203B41FA5}">
                      <a16:colId xmlns:a16="http://schemas.microsoft.com/office/drawing/2014/main" val="3849347649"/>
                    </a:ext>
                  </a:extLst>
                </a:gridCol>
              </a:tblGrid>
              <a:tr h="186965">
                <a:tc>
                  <a:txBody>
                    <a:bodyPr/>
                    <a:lstStyle/>
                    <a:p>
                      <a:r>
                        <a:rPr lang="zh-CN" altLang="en-US" sz="1200" dirty="0">
                          <a:latin typeface="Garamond" panose="02020404030301010803" pitchFamily="18" charset="0"/>
                          <a:ea typeface="SimSun" panose="02010600030101010101" pitchFamily="2" charset="-122"/>
                        </a:rPr>
                        <a:t>国内生产总值</a:t>
                      </a:r>
                      <a:r>
                        <a:rPr lang="en-US" altLang="zh-CN" sz="1200" dirty="0">
                          <a:latin typeface="Garamond" panose="02020404030301010803" pitchFamily="18" charset="0"/>
                          <a:ea typeface="SimSun" panose="02010600030101010101" pitchFamily="2" charset="-122"/>
                        </a:rPr>
                        <a:t>(GDP)</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549793461"/>
                  </a:ext>
                </a:extLst>
              </a:tr>
              <a:tr h="186965">
                <a:tc>
                  <a:txBody>
                    <a:bodyPr/>
                    <a:lstStyle/>
                    <a:p>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减：折旧</a:t>
                      </a:r>
                    </a:p>
                  </a:txBody>
                  <a:tcPr marL="46101" marR="46101" marT="23051" marB="23051"/>
                </a:tc>
                <a:extLst>
                  <a:ext uri="{0D108BD9-81ED-4DB2-BD59-A6C34878D82A}">
                    <a16:rowId xmlns:a16="http://schemas.microsoft.com/office/drawing/2014/main" val="1789703098"/>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国内生产净值</a:t>
                      </a:r>
                      <a:r>
                        <a:rPr lang="en-US" altLang="zh-CN" sz="1200" dirty="0">
                          <a:latin typeface="Garamond" panose="02020404030301010803" pitchFamily="18" charset="0"/>
                          <a:ea typeface="SimSun" panose="02010600030101010101" pitchFamily="2" charset="-122"/>
                        </a:rPr>
                        <a:t>(NDP)</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2180354354"/>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减：间接税、企业转移支付</a:t>
                      </a:r>
                    </a:p>
                  </a:txBody>
                  <a:tcPr marL="46101" marR="46101" marT="23051" marB="23051"/>
                </a:tc>
                <a:extLst>
                  <a:ext uri="{0D108BD9-81ED-4DB2-BD59-A6C34878D82A}">
                    <a16:rowId xmlns:a16="http://schemas.microsoft.com/office/drawing/2014/main" val="904636172"/>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加：政府补助金</a:t>
                      </a:r>
                    </a:p>
                  </a:txBody>
                  <a:tcPr marL="46101" marR="46101" marT="23051" marB="23051"/>
                </a:tc>
                <a:extLst>
                  <a:ext uri="{0D108BD9-81ED-4DB2-BD59-A6C34878D82A}">
                    <a16:rowId xmlns:a16="http://schemas.microsoft.com/office/drawing/2014/main" val="3098046245"/>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国民收入</a:t>
                      </a:r>
                      <a:r>
                        <a:rPr lang="en-US" altLang="zh-CN" sz="1200" dirty="0">
                          <a:latin typeface="Garamond" panose="02020404030301010803" pitchFamily="18" charset="0"/>
                          <a:ea typeface="SimSun" panose="02010600030101010101" pitchFamily="2" charset="-122"/>
                        </a:rPr>
                        <a:t>(NI)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778438750"/>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减：企业向政府交纳的所得税、留存收益</a:t>
                      </a:r>
                    </a:p>
                  </a:txBody>
                  <a:tcPr marL="46101" marR="46101" marT="23051" marB="23051"/>
                </a:tc>
                <a:extLst>
                  <a:ext uri="{0D108BD9-81ED-4DB2-BD59-A6C34878D82A}">
                    <a16:rowId xmlns:a16="http://schemas.microsoft.com/office/drawing/2014/main" val="4142205329"/>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加：政府给个人的退伍军人津贴、工人失业救济金、职工养老金等</a:t>
                      </a:r>
                    </a:p>
                  </a:txBody>
                  <a:tcPr marL="46101" marR="46101" marT="23051" marB="23051"/>
                </a:tc>
                <a:extLst>
                  <a:ext uri="{0D108BD9-81ED-4DB2-BD59-A6C34878D82A}">
                    <a16:rowId xmlns:a16="http://schemas.microsoft.com/office/drawing/2014/main" val="991712465"/>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个人收入</a:t>
                      </a:r>
                      <a:r>
                        <a:rPr lang="en-US" altLang="zh-CN" sz="1200" dirty="0">
                          <a:latin typeface="Garamond" panose="02020404030301010803" pitchFamily="18" charset="0"/>
                          <a:ea typeface="SimSun" panose="02010600030101010101" pitchFamily="2" charset="-122"/>
                        </a:rPr>
                        <a:t>(PI)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4189940330"/>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减：个人所得税和其他非税支付</a:t>
                      </a:r>
                    </a:p>
                  </a:txBody>
                  <a:tcPr marL="46101" marR="46101" marT="23051" marB="23051"/>
                </a:tc>
                <a:extLst>
                  <a:ext uri="{0D108BD9-81ED-4DB2-BD59-A6C34878D82A}">
                    <a16:rowId xmlns:a16="http://schemas.microsoft.com/office/drawing/2014/main" val="1468205936"/>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个人可支配收入</a:t>
                      </a:r>
                      <a:r>
                        <a:rPr lang="en-US" altLang="zh-CN" sz="1200" dirty="0">
                          <a:latin typeface="Garamond" panose="02020404030301010803" pitchFamily="18" charset="0"/>
                          <a:ea typeface="SimSun" panose="02010600030101010101" pitchFamily="2" charset="-122"/>
                        </a:rPr>
                        <a:t>(DPI)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935906635"/>
                  </a:ext>
                </a:extLst>
              </a:tr>
            </a:tbl>
          </a:graphicData>
        </a:graphic>
      </p:graphicFrame>
    </p:spTree>
    <p:extLst>
      <p:ext uri="{BB962C8B-B14F-4D97-AF65-F5344CB8AC3E}">
        <p14:creationId xmlns:p14="http://schemas.microsoft.com/office/powerpoint/2010/main" val="2064301313"/>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20</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dirty="0"/>
              <a:t>国民收入核算中其他总量的核算</a:t>
            </a:r>
            <a:endParaRPr lang="zh-CN" altLang="en-US" sz="1800" b="1" dirty="0"/>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4" name="Rectangle 3">
            <a:extLst>
              <a:ext uri="{FF2B5EF4-FFF2-40B4-BE49-F238E27FC236}">
                <a16:creationId xmlns:a16="http://schemas.microsoft.com/office/drawing/2014/main" id="{2996E226-76CD-0123-A7CB-3DF656BCF266}"/>
              </a:ext>
            </a:extLst>
          </p:cNvPr>
          <p:cNvSpPr txBox="1">
            <a:spLocks noChangeArrowheads="1"/>
          </p:cNvSpPr>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a:buNone/>
            </a:pPr>
            <a:r>
              <a:rPr lang="zh-CN" altLang="en-US" dirty="0">
                <a:latin typeface="Garamond" panose="02020404030301010803" pitchFamily="18" charset="0"/>
                <a:ea typeface="SimSun" panose="02010600030101010101" pitchFamily="2" charset="-122"/>
              </a:rPr>
              <a:t>特别说明：</a:t>
            </a:r>
          </a:p>
          <a:p>
            <a:r>
              <a:rPr lang="en-US" altLang="zh-CN" dirty="0">
                <a:latin typeface="Garamond" panose="02020404030301010803" pitchFamily="18" charset="0"/>
                <a:ea typeface="SimSun" panose="02010600030101010101" pitchFamily="2" charset="-122"/>
              </a:rPr>
              <a:t>1</a:t>
            </a:r>
            <a:r>
              <a:rPr lang="zh-CN" altLang="en-US" dirty="0">
                <a:latin typeface="Garamond" panose="02020404030301010803" pitchFamily="18" charset="0"/>
                <a:ea typeface="SimSun" panose="02010600030101010101" pitchFamily="2" charset="-122"/>
              </a:rPr>
              <a:t>、关于国外要素净支付。国内生产总值加上来自国外的要素净支付就可以得到国民生产总值。</a:t>
            </a:r>
          </a:p>
          <a:p>
            <a:r>
              <a:rPr lang="en-US" altLang="zh-CN" dirty="0">
                <a:latin typeface="Garamond" panose="02020404030301010803" pitchFamily="18" charset="0"/>
                <a:ea typeface="SimSun" panose="02010600030101010101" pitchFamily="2" charset="-122"/>
              </a:rPr>
              <a:t>2</a:t>
            </a:r>
            <a:r>
              <a:rPr lang="zh-CN" altLang="en-US" dirty="0">
                <a:latin typeface="Garamond" panose="02020404030301010803" pitchFamily="18" charset="0"/>
                <a:ea typeface="SimSun" panose="02010600030101010101" pitchFamily="2" charset="-122"/>
              </a:rPr>
              <a:t>、国民收入不会都给个人，从中要减去公司保留利润和社会保障缴款。</a:t>
            </a:r>
          </a:p>
          <a:p>
            <a:r>
              <a:rPr lang="en-US" altLang="zh-CN" dirty="0">
                <a:latin typeface="Garamond" panose="02020404030301010803" pitchFamily="18" charset="0"/>
                <a:ea typeface="SimSun" panose="02010600030101010101" pitchFamily="2" charset="-122"/>
              </a:rPr>
              <a:t>3</a:t>
            </a:r>
            <a:r>
              <a:rPr lang="zh-CN" altLang="en-US" dirty="0">
                <a:latin typeface="Garamond" panose="02020404030301010803" pitchFamily="18" charset="0"/>
                <a:ea typeface="SimSun" panose="02010600030101010101" pitchFamily="2" charset="-122"/>
              </a:rPr>
              <a:t>、国民收入可以指上述五个相互联系而又不同的数字表示。但在宏观经济学文献中，除非特别说明，</a:t>
            </a:r>
            <a:r>
              <a:rPr lang="zh-CN" altLang="en-US" u="sng" dirty="0">
                <a:latin typeface="Garamond" panose="02020404030301010803" pitchFamily="18" charset="0"/>
                <a:ea typeface="SimSun" panose="02010600030101010101" pitchFamily="2" charset="-122"/>
              </a:rPr>
              <a:t>国民收入一般是指</a:t>
            </a:r>
            <a:r>
              <a:rPr lang="en" altLang="zh-CN" u="sng" dirty="0">
                <a:latin typeface="Garamond" panose="02020404030301010803" pitchFamily="18" charset="0"/>
                <a:ea typeface="SimSun" panose="02010600030101010101" pitchFamily="2" charset="-122"/>
              </a:rPr>
              <a:t>GDP </a:t>
            </a:r>
            <a:r>
              <a:rPr lang="zh-CN" altLang="en-US" u="sng" dirty="0">
                <a:latin typeface="Garamond" panose="02020404030301010803" pitchFamily="18" charset="0"/>
                <a:ea typeface="SimSun" panose="02010600030101010101" pitchFamily="2" charset="-122"/>
              </a:rPr>
              <a:t>。</a:t>
            </a:r>
          </a:p>
        </p:txBody>
      </p:sp>
    </p:spTree>
    <p:extLst>
      <p:ext uri="{BB962C8B-B14F-4D97-AF65-F5344CB8AC3E}">
        <p14:creationId xmlns:p14="http://schemas.microsoft.com/office/powerpoint/2010/main" val="3289035742"/>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607" name="Group 79">
            <a:extLst>
              <a:ext uri="{FF2B5EF4-FFF2-40B4-BE49-F238E27FC236}">
                <a16:creationId xmlns:a16="http://schemas.microsoft.com/office/drawing/2014/main" id="{E3AAF835-8B12-4DA8-AD57-91F4070DA694}"/>
              </a:ext>
            </a:extLst>
          </p:cNvPr>
          <p:cNvGraphicFramePr>
            <a:graphicFrameLocks noGrp="1"/>
          </p:cNvGraphicFramePr>
          <p:nvPr/>
        </p:nvGraphicFramePr>
        <p:xfrm>
          <a:off x="0" y="84826"/>
          <a:ext cx="4610100" cy="3367935"/>
        </p:xfrm>
        <a:graphic>
          <a:graphicData uri="http://schemas.openxmlformats.org/drawingml/2006/table">
            <a:tbl>
              <a:tblPr/>
              <a:tblGrid>
                <a:gridCol w="922020">
                  <a:extLst>
                    <a:ext uri="{9D8B030D-6E8A-4147-A177-3AD203B41FA5}">
                      <a16:colId xmlns:a16="http://schemas.microsoft.com/office/drawing/2014/main" val="20000"/>
                    </a:ext>
                  </a:extLst>
                </a:gridCol>
                <a:gridCol w="939095">
                  <a:extLst>
                    <a:ext uri="{9D8B030D-6E8A-4147-A177-3AD203B41FA5}">
                      <a16:colId xmlns:a16="http://schemas.microsoft.com/office/drawing/2014/main" val="20001"/>
                    </a:ext>
                  </a:extLst>
                </a:gridCol>
                <a:gridCol w="828110">
                  <a:extLst>
                    <a:ext uri="{9D8B030D-6E8A-4147-A177-3AD203B41FA5}">
                      <a16:colId xmlns:a16="http://schemas.microsoft.com/office/drawing/2014/main" val="20002"/>
                    </a:ext>
                  </a:extLst>
                </a:gridCol>
                <a:gridCol w="1018064">
                  <a:extLst>
                    <a:ext uri="{9D8B030D-6E8A-4147-A177-3AD203B41FA5}">
                      <a16:colId xmlns:a16="http://schemas.microsoft.com/office/drawing/2014/main" val="20003"/>
                    </a:ext>
                  </a:extLst>
                </a:gridCol>
                <a:gridCol w="902811">
                  <a:extLst>
                    <a:ext uri="{9D8B030D-6E8A-4147-A177-3AD203B41FA5}">
                      <a16:colId xmlns:a16="http://schemas.microsoft.com/office/drawing/2014/main" val="20004"/>
                    </a:ext>
                  </a:extLst>
                </a:gridCol>
              </a:tblGrid>
              <a:tr h="261234">
                <a:tc rowSpan="5">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国内生产总值</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(GDP)</a:t>
                      </a:r>
                    </a:p>
                  </a:txBody>
                  <a:tcPr marL="46101" marR="46101" marT="23048" marB="2304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0070C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Depreciation</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a:noFill/>
                    </a:lnR>
                    <a:lnT cap="flat">
                      <a:noFill/>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a:noFill/>
                    </a:lnR>
                    <a:lnT cap="fla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80892">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Gross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Domestic</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Product</a:t>
                      </a:r>
                      <a:endParaRPr kumimoji="0" lang="en-US"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rowSpan="4">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国内生产净值</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(Net Domestic Product)</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00B0F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Indirect tax</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a:noFill/>
                    </a:lnR>
                    <a:lnT>
                      <a:noFill/>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54629">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Net Domestic Product</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国民收入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(National Income)</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76D6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Retained profit</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Corporate profit tax</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Social insurance </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cap="flat">
                      <a:noFill/>
                    </a:lnR>
                    <a:lnT>
                      <a:noFill/>
                    </a:lnT>
                    <a:lnB w="12700" cap="flat" cmpd="sng" algn="ctr">
                      <a:solidFill>
                        <a:schemeClr val="tx1"/>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2563">
                <a:tc vMerge="1">
                  <a:txBody>
                    <a:bodyPr/>
                    <a:lstStyle/>
                    <a:p>
                      <a:endParaRPr lang="zh-CN" altLang="en-US"/>
                    </a:p>
                  </a:txBody>
                  <a:tcPr/>
                </a:tc>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National Income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个人收入</a:t>
                      </a:r>
                      <a:endParaRPr kumimoji="0" lang="en-US" altLang="zh-CN" sz="14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(Personal Income)</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D6FF">
                        <a:alpha val="50196"/>
                      </a:srgb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800" b="0" i="0" u="none" strike="noStrike" cap="none" normalizeH="0" baseline="0" dirty="0">
                          <a:ln>
                            <a:noFill/>
                          </a:ln>
                          <a:solidFill>
                            <a:schemeClr val="tx1"/>
                          </a:solidFill>
                          <a:effectLst/>
                          <a:latin typeface="Times New Roman" pitchFamily="18" charset="0"/>
                          <a:ea typeface="宋体" pitchFamily="2" charset="-122"/>
                        </a:rPr>
                        <a:t>Personal income tax</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800" b="0" i="0" u="none" strike="noStrike" cap="none" normalizeH="0" baseline="0" dirty="0">
                          <a:ln>
                            <a:noFill/>
                          </a:ln>
                          <a:solidFill>
                            <a:schemeClr val="tx1"/>
                          </a:solidFill>
                          <a:effectLst/>
                          <a:latin typeface="Times New Roman" pitchFamily="18" charset="0"/>
                          <a:ea typeface="宋体" pitchFamily="2" charset="-122"/>
                        </a:rPr>
                        <a:t>Non tax payment</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504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Personal Income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CCFF99"/>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个人可支配收入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(Disposable Personal Income)</a:t>
                      </a:r>
                    </a:p>
                  </a:txBody>
                  <a:tcPr marL="46101" marR="46101" marT="23048" marB="2304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6D6FF">
                        <a:alpha val="29804"/>
                      </a:srgbClr>
                    </a:solidFill>
                  </a:tcPr>
                </a:tc>
                <a:extLst>
                  <a:ext uri="{0D108BD9-81ED-4DB2-BD59-A6C34878D82A}">
                    <a16:rowId xmlns:a16="http://schemas.microsoft.com/office/drawing/2014/main" val="10004"/>
                  </a:ext>
                </a:extLst>
              </a:tr>
              <a:tr h="414904">
                <a:tc row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anchor="ctr" horzOverflow="overflow">
                    <a:lnL cap="flat">
                      <a:noFill/>
                    </a:lnL>
                    <a:lnR>
                      <a:noFill/>
                    </a:lnR>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w="12700" cap="flat" cmpd="sng" algn="ctr">
                      <a:solidFill>
                        <a:schemeClr val="tx1"/>
                      </a:solidFill>
                      <a:prstDash val="solid"/>
                      <a:round/>
                      <a:headEnd type="none" w="med" len="med"/>
                      <a:tailEnd type="none" w="med" len="med"/>
                    </a:lnR>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Subsidies to firms</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76D6FF"/>
                    </a:solidFill>
                  </a:tcPr>
                </a:tc>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tc vMerge="1">
                  <a:txBody>
                    <a:bodyPr/>
                    <a:lstStyle/>
                    <a:p>
                      <a:endParaRPr lang="zh-CN" altLang="en-US"/>
                    </a:p>
                  </a:txBody>
                  <a:tcPr/>
                </a:tc>
                <a:extLst>
                  <a:ext uri="{0D108BD9-81ED-4DB2-BD59-A6C34878D82A}">
                    <a16:rowId xmlns:a16="http://schemas.microsoft.com/office/drawing/2014/main" val="10005"/>
                  </a:ext>
                </a:extLst>
              </a:tr>
              <a:tr h="488666">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9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Transfer from gov.</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6D6FF">
                        <a:alpha val="50196"/>
                      </a:srgbClr>
                    </a:solidFill>
                  </a:tcPr>
                </a:tc>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bl>
          </a:graphicData>
        </a:graphic>
      </p:graphicFrame>
      <p:sp>
        <p:nvSpPr>
          <p:cNvPr id="2" name="文本框 1">
            <a:extLst>
              <a:ext uri="{FF2B5EF4-FFF2-40B4-BE49-F238E27FC236}">
                <a16:creationId xmlns:a16="http://schemas.microsoft.com/office/drawing/2014/main" id="{FB7D939D-508B-35B7-0833-64AA133DF647}"/>
              </a:ext>
            </a:extLst>
          </p:cNvPr>
          <p:cNvSpPr txBox="1"/>
          <p:nvPr/>
        </p:nvSpPr>
        <p:spPr>
          <a:xfrm>
            <a:off x="0" y="2606838"/>
            <a:ext cx="3365684" cy="559512"/>
          </a:xfrm>
          <a:prstGeom prst="rect">
            <a:avLst/>
          </a:prstGeom>
          <a:noFill/>
        </p:spPr>
        <p:txBody>
          <a:bodyPr wrap="square">
            <a:spAutoFit/>
          </a:bodyPr>
          <a:lstStyle/>
          <a:p>
            <a:pPr marL="173524" indent="-172890" defTabSz="230520">
              <a:lnSpc>
                <a:spcPct val="130000"/>
              </a:lnSpc>
              <a:buFont typeface="Wingdings" pitchFamily="2" charset="2"/>
              <a:buChar char="u"/>
            </a:pPr>
            <a:r>
              <a:rPr lang="zh-CN" altLang="en-US" sz="1210" b="1" dirty="0">
                <a:solidFill>
                  <a:srgbClr val="000000"/>
                </a:solidFill>
                <a:latin typeface="Garamond" panose="02020404030301010803" pitchFamily="18" charset="0"/>
                <a:ea typeface="KaiTi" panose="02010609060101010101" pitchFamily="49" charset="-122"/>
              </a:rPr>
              <a:t>回顾：</a:t>
            </a:r>
            <a:r>
              <a:rPr lang="en-US" altLang="zh-CN" sz="1210" b="1" dirty="0">
                <a:solidFill>
                  <a:srgbClr val="000000"/>
                </a:solidFill>
                <a:latin typeface="Garamond" panose="02020404030301010803" pitchFamily="18" charset="0"/>
                <a:ea typeface="KaiTi" panose="02010609060101010101" pitchFamily="49" charset="-122"/>
              </a:rPr>
              <a:t>GDP</a:t>
            </a:r>
            <a:r>
              <a:rPr lang="zh-CN" altLang="en-US" sz="1210" b="1" dirty="0">
                <a:solidFill>
                  <a:srgbClr val="000000"/>
                </a:solidFill>
                <a:latin typeface="Garamond" panose="02020404030301010803" pitchFamily="18" charset="0"/>
                <a:ea typeface="KaiTi" panose="02010609060101010101" pitchFamily="49" charset="-122"/>
              </a:rPr>
              <a:t>相关指标</a:t>
            </a:r>
            <a:endParaRPr lang="en-US" altLang="zh-CN" sz="1210" b="1" dirty="0">
              <a:solidFill>
                <a:srgbClr val="000000"/>
              </a:solidFill>
              <a:latin typeface="Garamond" panose="02020404030301010803" pitchFamily="18" charset="0"/>
              <a:ea typeface="KaiTi" panose="02010609060101010101" pitchFamily="49" charset="-122"/>
            </a:endParaRPr>
          </a:p>
          <a:p>
            <a:pPr marL="634" defTabSz="230520">
              <a:lnSpc>
                <a:spcPct val="130000"/>
              </a:lnSpc>
            </a:pPr>
            <a:r>
              <a:rPr lang="zh-CN" altLang="en-US" sz="1210" b="1" dirty="0">
                <a:solidFill>
                  <a:srgbClr val="000000"/>
                </a:solidFill>
                <a:latin typeface="Garamond" panose="02020404030301010803" pitchFamily="18" charset="0"/>
                <a:ea typeface="KaiTi" panose="02010609060101010101" pitchFamily="49" charset="-122"/>
              </a:rPr>
              <a:t>（封闭经济体）</a:t>
            </a:r>
            <a:endParaRPr lang="en-US" altLang="zh-CN" sz="1210" b="1" dirty="0">
              <a:solidFill>
                <a:srgbClr val="000000"/>
              </a:solidFill>
              <a:latin typeface="Garamond" panose="02020404030301010803" pitchFamily="18" charset="0"/>
              <a:ea typeface="KaiTi" panose="02010609060101010101" pitchFamily="49" charset="-122"/>
            </a:endParaRPr>
          </a:p>
        </p:txBody>
      </p:sp>
      <p:sp>
        <p:nvSpPr>
          <p:cNvPr id="3" name="矩形 2">
            <a:extLst>
              <a:ext uri="{FF2B5EF4-FFF2-40B4-BE49-F238E27FC236}">
                <a16:creationId xmlns:a16="http://schemas.microsoft.com/office/drawing/2014/main" id="{C88C19F6-2CAD-83FA-EB53-7F6C203EF065}"/>
              </a:ext>
            </a:extLst>
          </p:cNvPr>
          <p:cNvSpPr/>
          <p:nvPr/>
        </p:nvSpPr>
        <p:spPr>
          <a:xfrm>
            <a:off x="1883109" y="1204902"/>
            <a:ext cx="793093" cy="320363"/>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4" name="矩形 3">
            <a:extLst>
              <a:ext uri="{FF2B5EF4-FFF2-40B4-BE49-F238E27FC236}">
                <a16:creationId xmlns:a16="http://schemas.microsoft.com/office/drawing/2014/main" id="{A5B93BD0-50B9-2CB9-F2B8-72257A6EBD76}"/>
              </a:ext>
            </a:extLst>
          </p:cNvPr>
          <p:cNvSpPr/>
          <p:nvPr/>
        </p:nvSpPr>
        <p:spPr>
          <a:xfrm>
            <a:off x="3741474" y="2016228"/>
            <a:ext cx="813930" cy="52482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5" name="页脚占位符 1">
            <a:extLst>
              <a:ext uri="{FF2B5EF4-FFF2-40B4-BE49-F238E27FC236}">
                <a16:creationId xmlns:a16="http://schemas.microsoft.com/office/drawing/2014/main" id="{BB05C02A-9C8F-8F8D-1F46-B8FA91FE1C74}"/>
              </a:ext>
            </a:extLst>
          </p:cNvPr>
          <p:cNvSpPr>
            <a:spLocks noGrp="1"/>
          </p:cNvSpPr>
          <p:nvPr>
            <p:ph type="ftr" sz="quarter" idx="10"/>
          </p:nvPr>
        </p:nvSpPr>
        <p:spPr>
          <a:xfrm>
            <a:off x="144067" y="3224656"/>
            <a:ext cx="3698485" cy="184884"/>
          </a:xfrm>
        </p:spPr>
        <p:txBody>
          <a:bodyPr/>
          <a:lstStyle/>
          <a:p>
            <a:pPr defTabSz="460659" fontAlgn="base">
              <a:spcBef>
                <a:spcPct val="0"/>
              </a:spcBef>
              <a:spcAft>
                <a:spcPct val="0"/>
              </a:spcAft>
              <a:defRPr/>
            </a:pPr>
            <a:r>
              <a:rPr lang="zh-CN" altLang="en-US" sz="907" dirty="0">
                <a:latin typeface="Arial" panose="020B0604020202020204" pitchFamily="34" charset="0"/>
              </a:rPr>
              <a:t>均衡国民收入的决定</a:t>
            </a:r>
            <a:endParaRPr lang="zh-CN" altLang="zh-CN" sz="907" dirty="0">
              <a:latin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3"/>
                                        </p:tgtEl>
                                      </p:cBhvr>
                                    </p:animEffect>
                                    <p:animScale>
                                      <p:cBhvr>
                                        <p:cTn id="22" dur="250" autoRev="1" fill="hold"/>
                                        <p:tgtEl>
                                          <p:spTgt spid="3"/>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3" grpId="1" animBg="1"/>
      <p:bldP spid="4" grpId="0" animBg="1"/>
      <p:bldP spid="4"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A5177-C3F7-E583-0D40-F8FB9BD6F2A2}"/>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宏观经济循环</a:t>
            </a:r>
          </a:p>
        </p:txBody>
      </p:sp>
      <p:sp>
        <p:nvSpPr>
          <p:cNvPr id="4" name="页脚占位符 3">
            <a:extLst>
              <a:ext uri="{FF2B5EF4-FFF2-40B4-BE49-F238E27FC236}">
                <a16:creationId xmlns:a16="http://schemas.microsoft.com/office/drawing/2014/main" id="{D1D345D8-13EA-BA0E-56F8-56628BB4B2C3}"/>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A5A3A2C9-9B3B-7FD1-9C4C-7D984BAFBA52}"/>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22</a:t>
            </a:fld>
            <a:endParaRPr lang="en-US" altLang="zh-CN">
              <a:latin typeface="Arial"/>
            </a:endParaRPr>
          </a:p>
        </p:txBody>
      </p:sp>
      <p:cxnSp>
        <p:nvCxnSpPr>
          <p:cNvPr id="54" name="AutoShape 4">
            <a:extLst>
              <a:ext uri="{FF2B5EF4-FFF2-40B4-BE49-F238E27FC236}">
                <a16:creationId xmlns:a16="http://schemas.microsoft.com/office/drawing/2014/main" id="{61724670-20AE-527D-15E9-CAA1C19F5010}"/>
              </a:ext>
            </a:extLst>
          </p:cNvPr>
          <p:cNvCxnSpPr>
            <a:cxnSpLocks noChangeShapeType="1"/>
            <a:stCxn id="50" idx="0"/>
            <a:endCxn id="9" idx="3"/>
          </p:cNvCxnSpPr>
          <p:nvPr/>
        </p:nvCxnSpPr>
        <p:spPr bwMode="auto">
          <a:xfrm rot="16200000" flipV="1">
            <a:off x="2954472" y="827372"/>
            <a:ext cx="658444" cy="1203710"/>
          </a:xfrm>
          <a:prstGeom prst="curved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55" name="Text Box 5">
            <a:extLst>
              <a:ext uri="{FF2B5EF4-FFF2-40B4-BE49-F238E27FC236}">
                <a16:creationId xmlns:a16="http://schemas.microsoft.com/office/drawing/2014/main" id="{DA1BDE47-43B6-8902-939F-0575B4A9B0FD}"/>
              </a:ext>
            </a:extLst>
          </p:cNvPr>
          <p:cNvSpPr txBox="1">
            <a:spLocks noChangeArrowheads="1"/>
          </p:cNvSpPr>
          <p:nvPr/>
        </p:nvSpPr>
        <p:spPr bwMode="auto">
          <a:xfrm>
            <a:off x="3147461" y="1187965"/>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企业储蓄</a:t>
            </a:r>
          </a:p>
        </p:txBody>
      </p:sp>
      <p:sp>
        <p:nvSpPr>
          <p:cNvPr id="9" name="Text Box 6">
            <a:extLst>
              <a:ext uri="{FF2B5EF4-FFF2-40B4-BE49-F238E27FC236}">
                <a16:creationId xmlns:a16="http://schemas.microsoft.com/office/drawing/2014/main" id="{6B9CE313-FACF-C053-AA12-19E7E64D2F33}"/>
              </a:ext>
            </a:extLst>
          </p:cNvPr>
          <p:cNvSpPr txBox="1">
            <a:spLocks noChangeArrowheads="1"/>
          </p:cNvSpPr>
          <p:nvPr/>
        </p:nvSpPr>
        <p:spPr bwMode="auto">
          <a:xfrm>
            <a:off x="1734367" y="960736"/>
            <a:ext cx="947472" cy="278538"/>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货币市场</a:t>
            </a:r>
          </a:p>
        </p:txBody>
      </p:sp>
      <p:sp>
        <p:nvSpPr>
          <p:cNvPr id="48" name="AutoShape 8">
            <a:extLst>
              <a:ext uri="{FF2B5EF4-FFF2-40B4-BE49-F238E27FC236}">
                <a16:creationId xmlns:a16="http://schemas.microsoft.com/office/drawing/2014/main" id="{14482736-93A8-5DC1-CC71-729F7BCC660A}"/>
              </a:ext>
            </a:extLst>
          </p:cNvPr>
          <p:cNvSpPr>
            <a:spLocks noChangeArrowheads="1"/>
          </p:cNvSpPr>
          <p:nvPr/>
        </p:nvSpPr>
        <p:spPr bwMode="auto">
          <a:xfrm>
            <a:off x="385659" y="1797354"/>
            <a:ext cx="656511" cy="429326"/>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49" name="AutoShape 9">
            <a:extLst>
              <a:ext uri="{FF2B5EF4-FFF2-40B4-BE49-F238E27FC236}">
                <a16:creationId xmlns:a16="http://schemas.microsoft.com/office/drawing/2014/main" id="{F0390D0A-7693-C8E2-CF24-2A1614A33E9F}"/>
              </a:ext>
            </a:extLst>
          </p:cNvPr>
          <p:cNvSpPr>
            <a:spLocks noChangeArrowheads="1"/>
          </p:cNvSpPr>
          <p:nvPr/>
        </p:nvSpPr>
        <p:spPr bwMode="auto">
          <a:xfrm>
            <a:off x="1916660" y="1798042"/>
            <a:ext cx="656832" cy="428637"/>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50" name="AutoShape 10">
            <a:extLst>
              <a:ext uri="{FF2B5EF4-FFF2-40B4-BE49-F238E27FC236}">
                <a16:creationId xmlns:a16="http://schemas.microsoft.com/office/drawing/2014/main" id="{66116FCA-E892-8170-118F-43084649589D}"/>
              </a:ext>
            </a:extLst>
          </p:cNvPr>
          <p:cNvSpPr>
            <a:spLocks noChangeArrowheads="1"/>
          </p:cNvSpPr>
          <p:nvPr/>
        </p:nvSpPr>
        <p:spPr bwMode="auto">
          <a:xfrm>
            <a:off x="3557293" y="1758449"/>
            <a:ext cx="656511" cy="468230"/>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51" name="Text Box 11">
            <a:extLst>
              <a:ext uri="{FF2B5EF4-FFF2-40B4-BE49-F238E27FC236}">
                <a16:creationId xmlns:a16="http://schemas.microsoft.com/office/drawing/2014/main" id="{20B11ACD-EDDF-4C75-3BE5-BC870CCACA71}"/>
              </a:ext>
            </a:extLst>
          </p:cNvPr>
          <p:cNvSpPr txBox="1">
            <a:spLocks noChangeArrowheads="1"/>
          </p:cNvSpPr>
          <p:nvPr/>
        </p:nvSpPr>
        <p:spPr bwMode="auto">
          <a:xfrm>
            <a:off x="467376" y="1846586"/>
            <a:ext cx="495649"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家庭</a:t>
            </a:r>
          </a:p>
        </p:txBody>
      </p:sp>
      <p:sp>
        <p:nvSpPr>
          <p:cNvPr id="52" name="Text Box 12">
            <a:extLst>
              <a:ext uri="{FF2B5EF4-FFF2-40B4-BE49-F238E27FC236}">
                <a16:creationId xmlns:a16="http://schemas.microsoft.com/office/drawing/2014/main" id="{A27DD192-49E9-1EF2-22B3-CA68E6304CC6}"/>
              </a:ext>
            </a:extLst>
          </p:cNvPr>
          <p:cNvSpPr txBox="1">
            <a:spLocks noChangeArrowheads="1"/>
          </p:cNvSpPr>
          <p:nvPr/>
        </p:nvSpPr>
        <p:spPr bwMode="auto">
          <a:xfrm>
            <a:off x="1978766" y="1843143"/>
            <a:ext cx="495649"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政府</a:t>
            </a:r>
          </a:p>
        </p:txBody>
      </p:sp>
      <p:sp>
        <p:nvSpPr>
          <p:cNvPr id="53" name="Text Box 13">
            <a:extLst>
              <a:ext uri="{FF2B5EF4-FFF2-40B4-BE49-F238E27FC236}">
                <a16:creationId xmlns:a16="http://schemas.microsoft.com/office/drawing/2014/main" id="{A5990DDA-BE5E-C1EE-873E-C3C5D63F514F}"/>
              </a:ext>
            </a:extLst>
          </p:cNvPr>
          <p:cNvSpPr txBox="1">
            <a:spLocks noChangeArrowheads="1"/>
          </p:cNvSpPr>
          <p:nvPr/>
        </p:nvSpPr>
        <p:spPr bwMode="auto">
          <a:xfrm>
            <a:off x="3593302" y="1858292"/>
            <a:ext cx="583530"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企业</a:t>
            </a:r>
          </a:p>
        </p:txBody>
      </p:sp>
      <p:cxnSp>
        <p:nvCxnSpPr>
          <p:cNvPr id="46" name="AutoShape 15">
            <a:extLst>
              <a:ext uri="{FF2B5EF4-FFF2-40B4-BE49-F238E27FC236}">
                <a16:creationId xmlns:a16="http://schemas.microsoft.com/office/drawing/2014/main" id="{48FD0E6B-86B2-3A8C-9856-B680F402355F}"/>
              </a:ext>
            </a:extLst>
          </p:cNvPr>
          <p:cNvCxnSpPr>
            <a:cxnSpLocks noChangeShapeType="1"/>
            <a:stCxn id="48" idx="0"/>
            <a:endCxn id="9" idx="1"/>
          </p:cNvCxnSpPr>
          <p:nvPr/>
        </p:nvCxnSpPr>
        <p:spPr bwMode="auto">
          <a:xfrm rot="5400000" flipH="1" flipV="1">
            <a:off x="875467" y="938454"/>
            <a:ext cx="697349" cy="1020452"/>
          </a:xfrm>
          <a:prstGeom prst="curved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47" name="Text Box 16">
            <a:extLst>
              <a:ext uri="{FF2B5EF4-FFF2-40B4-BE49-F238E27FC236}">
                <a16:creationId xmlns:a16="http://schemas.microsoft.com/office/drawing/2014/main" id="{D7E69DD4-B34F-B164-A3A9-ABAA1F671762}"/>
              </a:ext>
            </a:extLst>
          </p:cNvPr>
          <p:cNvSpPr txBox="1">
            <a:spLocks noChangeArrowheads="1"/>
          </p:cNvSpPr>
          <p:nvPr/>
        </p:nvSpPr>
        <p:spPr bwMode="auto">
          <a:xfrm>
            <a:off x="829670" y="1177333"/>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私人储蓄</a:t>
            </a:r>
          </a:p>
        </p:txBody>
      </p:sp>
      <p:sp>
        <p:nvSpPr>
          <p:cNvPr id="41" name="Line 18">
            <a:extLst>
              <a:ext uri="{FF2B5EF4-FFF2-40B4-BE49-F238E27FC236}">
                <a16:creationId xmlns:a16="http://schemas.microsoft.com/office/drawing/2014/main" id="{7FB2FEDB-083C-C782-369C-C658EE60D42E}"/>
              </a:ext>
            </a:extLst>
          </p:cNvPr>
          <p:cNvSpPr>
            <a:spLocks noChangeShapeType="1"/>
          </p:cNvSpPr>
          <p:nvPr/>
        </p:nvSpPr>
        <p:spPr bwMode="auto">
          <a:xfrm flipH="1">
            <a:off x="2206806" y="1311909"/>
            <a:ext cx="964" cy="47786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2" name="Line 19">
            <a:extLst>
              <a:ext uri="{FF2B5EF4-FFF2-40B4-BE49-F238E27FC236}">
                <a16:creationId xmlns:a16="http://schemas.microsoft.com/office/drawing/2014/main" id="{D37ABF54-87D8-7264-7B6A-EF2D00B4B610}"/>
              </a:ext>
            </a:extLst>
          </p:cNvPr>
          <p:cNvSpPr>
            <a:spLocks noChangeShapeType="1"/>
          </p:cNvSpPr>
          <p:nvPr/>
        </p:nvSpPr>
        <p:spPr bwMode="auto">
          <a:xfrm flipH="1">
            <a:off x="1041527" y="1311909"/>
            <a:ext cx="1166243" cy="4854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3" name="Line 20">
            <a:extLst>
              <a:ext uri="{FF2B5EF4-FFF2-40B4-BE49-F238E27FC236}">
                <a16:creationId xmlns:a16="http://schemas.microsoft.com/office/drawing/2014/main" id="{F1AE79A2-6C08-0EF0-6553-D054130BCA31}"/>
              </a:ext>
            </a:extLst>
          </p:cNvPr>
          <p:cNvSpPr>
            <a:spLocks noChangeShapeType="1"/>
          </p:cNvSpPr>
          <p:nvPr/>
        </p:nvSpPr>
        <p:spPr bwMode="auto">
          <a:xfrm>
            <a:off x="2207770" y="1311908"/>
            <a:ext cx="1348559" cy="468218"/>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4" name="Text Box 21">
            <a:extLst>
              <a:ext uri="{FF2B5EF4-FFF2-40B4-BE49-F238E27FC236}">
                <a16:creationId xmlns:a16="http://schemas.microsoft.com/office/drawing/2014/main" id="{E7C27DFC-E942-6659-A43A-C9022A20AD31}"/>
              </a:ext>
            </a:extLst>
          </p:cNvPr>
          <p:cNvSpPr txBox="1">
            <a:spLocks noChangeArrowheads="1"/>
          </p:cNvSpPr>
          <p:nvPr/>
        </p:nvSpPr>
        <p:spPr bwMode="auto">
          <a:xfrm>
            <a:off x="2787194" y="1387706"/>
            <a:ext cx="218651" cy="37176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借    贷</a:t>
            </a:r>
          </a:p>
        </p:txBody>
      </p:sp>
      <p:sp>
        <p:nvSpPr>
          <p:cNvPr id="45" name="Text Box 22">
            <a:extLst>
              <a:ext uri="{FF2B5EF4-FFF2-40B4-BE49-F238E27FC236}">
                <a16:creationId xmlns:a16="http://schemas.microsoft.com/office/drawing/2014/main" id="{50B0F4F6-7482-38F8-3472-CCF0A161B3D5}"/>
              </a:ext>
            </a:extLst>
          </p:cNvPr>
          <p:cNvSpPr txBox="1">
            <a:spLocks noChangeArrowheads="1"/>
          </p:cNvSpPr>
          <p:nvPr/>
        </p:nvSpPr>
        <p:spPr bwMode="auto">
          <a:xfrm>
            <a:off x="1515805" y="1390117"/>
            <a:ext cx="217686" cy="37176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借     贷</a:t>
            </a:r>
          </a:p>
        </p:txBody>
      </p:sp>
      <p:cxnSp>
        <p:nvCxnSpPr>
          <p:cNvPr id="34" name="AutoShape 25">
            <a:extLst>
              <a:ext uri="{FF2B5EF4-FFF2-40B4-BE49-F238E27FC236}">
                <a16:creationId xmlns:a16="http://schemas.microsoft.com/office/drawing/2014/main" id="{899985C2-5A8A-F36E-C626-10718C84369D}"/>
              </a:ext>
            </a:extLst>
          </p:cNvPr>
          <p:cNvCxnSpPr>
            <a:cxnSpLocks noChangeShapeType="1"/>
            <a:stCxn id="50" idx="0"/>
            <a:endCxn id="39" idx="3"/>
          </p:cNvCxnSpPr>
          <p:nvPr/>
        </p:nvCxnSpPr>
        <p:spPr bwMode="auto">
          <a:xfrm rot="16200000" flipV="1">
            <a:off x="2832633" y="705533"/>
            <a:ext cx="1038937" cy="1066896"/>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39" name="Text Box 27">
            <a:extLst>
              <a:ext uri="{FF2B5EF4-FFF2-40B4-BE49-F238E27FC236}">
                <a16:creationId xmlns:a16="http://schemas.microsoft.com/office/drawing/2014/main" id="{9D8C9045-AB36-0021-1F61-64C88C498A0F}"/>
              </a:ext>
            </a:extLst>
          </p:cNvPr>
          <p:cNvSpPr txBox="1">
            <a:spLocks noChangeArrowheads="1"/>
          </p:cNvSpPr>
          <p:nvPr/>
        </p:nvSpPr>
        <p:spPr bwMode="auto">
          <a:xfrm>
            <a:off x="1502435" y="595792"/>
            <a:ext cx="1316218" cy="247440"/>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生产要素市场</a:t>
            </a:r>
          </a:p>
        </p:txBody>
      </p:sp>
      <p:sp>
        <p:nvSpPr>
          <p:cNvPr id="40" name="Text Box 28">
            <a:extLst>
              <a:ext uri="{FF2B5EF4-FFF2-40B4-BE49-F238E27FC236}">
                <a16:creationId xmlns:a16="http://schemas.microsoft.com/office/drawing/2014/main" id="{882CD2C9-612F-D01C-2D1F-872ED62F19B0}"/>
              </a:ext>
            </a:extLst>
          </p:cNvPr>
          <p:cNvSpPr txBox="1">
            <a:spLocks noChangeArrowheads="1"/>
          </p:cNvSpPr>
          <p:nvPr/>
        </p:nvSpPr>
        <p:spPr bwMode="auto">
          <a:xfrm>
            <a:off x="1431211" y="2765157"/>
            <a:ext cx="1564716" cy="278538"/>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产品与服务市场</a:t>
            </a:r>
          </a:p>
        </p:txBody>
      </p:sp>
      <p:cxnSp>
        <p:nvCxnSpPr>
          <p:cNvPr id="36" name="AutoShape 29">
            <a:extLst>
              <a:ext uri="{FF2B5EF4-FFF2-40B4-BE49-F238E27FC236}">
                <a16:creationId xmlns:a16="http://schemas.microsoft.com/office/drawing/2014/main" id="{D928FCB3-31C3-83F8-85DA-944825496330}"/>
              </a:ext>
            </a:extLst>
          </p:cNvPr>
          <p:cNvCxnSpPr>
            <a:cxnSpLocks noChangeShapeType="1"/>
            <a:stCxn id="39" idx="1"/>
            <a:endCxn id="48" idx="0"/>
          </p:cNvCxnSpPr>
          <p:nvPr/>
        </p:nvCxnSpPr>
        <p:spPr bwMode="auto">
          <a:xfrm rot="10800000" flipV="1">
            <a:off x="713915" y="719512"/>
            <a:ext cx="788520" cy="1077842"/>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cxnSp>
        <p:nvCxnSpPr>
          <p:cNvPr id="37" name="AutoShape 30">
            <a:extLst>
              <a:ext uri="{FF2B5EF4-FFF2-40B4-BE49-F238E27FC236}">
                <a16:creationId xmlns:a16="http://schemas.microsoft.com/office/drawing/2014/main" id="{37618D8F-0445-5AB0-7806-1864B0162A7D}"/>
              </a:ext>
            </a:extLst>
          </p:cNvPr>
          <p:cNvCxnSpPr>
            <a:cxnSpLocks noChangeShapeType="1"/>
            <a:stCxn id="48" idx="2"/>
            <a:endCxn id="40" idx="1"/>
          </p:cNvCxnSpPr>
          <p:nvPr/>
        </p:nvCxnSpPr>
        <p:spPr bwMode="auto">
          <a:xfrm rot="16200000" flipH="1">
            <a:off x="733690" y="2206905"/>
            <a:ext cx="677746" cy="717296"/>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cxnSp>
        <p:nvCxnSpPr>
          <p:cNvPr id="38" name="AutoShape 31">
            <a:extLst>
              <a:ext uri="{FF2B5EF4-FFF2-40B4-BE49-F238E27FC236}">
                <a16:creationId xmlns:a16="http://schemas.microsoft.com/office/drawing/2014/main" id="{EBEFA119-0F3D-C88F-C2E2-151B68E3CAFF}"/>
              </a:ext>
            </a:extLst>
          </p:cNvPr>
          <p:cNvCxnSpPr>
            <a:cxnSpLocks noChangeShapeType="1"/>
            <a:stCxn id="40" idx="3"/>
            <a:endCxn id="50" idx="2"/>
          </p:cNvCxnSpPr>
          <p:nvPr/>
        </p:nvCxnSpPr>
        <p:spPr bwMode="auto">
          <a:xfrm flipV="1">
            <a:off x="2995927" y="2226679"/>
            <a:ext cx="889622" cy="677747"/>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30" name="Text Box 32">
            <a:extLst>
              <a:ext uri="{FF2B5EF4-FFF2-40B4-BE49-F238E27FC236}">
                <a16:creationId xmlns:a16="http://schemas.microsoft.com/office/drawing/2014/main" id="{24335635-0977-3381-47C2-BF6A73CE3339}"/>
              </a:ext>
            </a:extLst>
          </p:cNvPr>
          <p:cNvSpPr txBox="1">
            <a:spLocks noChangeArrowheads="1"/>
          </p:cNvSpPr>
          <p:nvPr/>
        </p:nvSpPr>
        <p:spPr bwMode="auto">
          <a:xfrm>
            <a:off x="312034" y="898463"/>
            <a:ext cx="788790" cy="247440"/>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家庭收入</a:t>
            </a:r>
          </a:p>
        </p:txBody>
      </p:sp>
      <p:sp>
        <p:nvSpPr>
          <p:cNvPr id="31" name="Text Box 33">
            <a:extLst>
              <a:ext uri="{FF2B5EF4-FFF2-40B4-BE49-F238E27FC236}">
                <a16:creationId xmlns:a16="http://schemas.microsoft.com/office/drawing/2014/main" id="{794E8E5C-769E-66DC-916F-A3747403D42B}"/>
              </a:ext>
            </a:extLst>
          </p:cNvPr>
          <p:cNvSpPr txBox="1">
            <a:spLocks noChangeArrowheads="1"/>
          </p:cNvSpPr>
          <p:nvPr/>
        </p:nvSpPr>
        <p:spPr bwMode="auto">
          <a:xfrm>
            <a:off x="3442200" y="909201"/>
            <a:ext cx="886781" cy="232051"/>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生产要素支付</a:t>
            </a:r>
          </a:p>
        </p:txBody>
      </p:sp>
      <p:sp>
        <p:nvSpPr>
          <p:cNvPr id="32" name="Text Box 34">
            <a:extLst>
              <a:ext uri="{FF2B5EF4-FFF2-40B4-BE49-F238E27FC236}">
                <a16:creationId xmlns:a16="http://schemas.microsoft.com/office/drawing/2014/main" id="{074EE7DF-EE8C-B85F-2DD5-61CD5799C8DB}"/>
              </a:ext>
            </a:extLst>
          </p:cNvPr>
          <p:cNvSpPr txBox="1">
            <a:spLocks noChangeArrowheads="1"/>
          </p:cNvSpPr>
          <p:nvPr/>
        </p:nvSpPr>
        <p:spPr bwMode="auto">
          <a:xfrm>
            <a:off x="733378" y="2803075"/>
            <a:ext cx="444352"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消费</a:t>
            </a:r>
          </a:p>
        </p:txBody>
      </p:sp>
      <p:sp>
        <p:nvSpPr>
          <p:cNvPr id="33" name="Text Box 35">
            <a:extLst>
              <a:ext uri="{FF2B5EF4-FFF2-40B4-BE49-F238E27FC236}">
                <a16:creationId xmlns:a16="http://schemas.microsoft.com/office/drawing/2014/main" id="{C72583EF-4D30-AFAD-FF33-9F7C153AA796}"/>
              </a:ext>
            </a:extLst>
          </p:cNvPr>
          <p:cNvSpPr txBox="1">
            <a:spLocks noChangeArrowheads="1"/>
          </p:cNvSpPr>
          <p:nvPr/>
        </p:nvSpPr>
        <p:spPr bwMode="auto">
          <a:xfrm>
            <a:off x="3279426" y="2784284"/>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企业收入</a:t>
            </a:r>
          </a:p>
        </p:txBody>
      </p:sp>
      <p:sp>
        <p:nvSpPr>
          <p:cNvPr id="27" name="Line 37">
            <a:extLst>
              <a:ext uri="{FF2B5EF4-FFF2-40B4-BE49-F238E27FC236}">
                <a16:creationId xmlns:a16="http://schemas.microsoft.com/office/drawing/2014/main" id="{BC362229-009C-DB5F-63FE-2051DB0020C2}"/>
              </a:ext>
            </a:extLst>
          </p:cNvPr>
          <p:cNvSpPr>
            <a:spLocks noChangeShapeType="1"/>
          </p:cNvSpPr>
          <p:nvPr/>
        </p:nvSpPr>
        <p:spPr bwMode="auto">
          <a:xfrm>
            <a:off x="2215016" y="2290373"/>
            <a:ext cx="964" cy="468919"/>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8" name="Text Box 38">
            <a:extLst>
              <a:ext uri="{FF2B5EF4-FFF2-40B4-BE49-F238E27FC236}">
                <a16:creationId xmlns:a16="http://schemas.microsoft.com/office/drawing/2014/main" id="{8F106B46-EF9B-7A63-AB3D-B79EB4F4BFBB}"/>
              </a:ext>
            </a:extLst>
          </p:cNvPr>
          <p:cNvSpPr txBox="1">
            <a:spLocks noChangeArrowheads="1"/>
          </p:cNvSpPr>
          <p:nvPr/>
        </p:nvSpPr>
        <p:spPr bwMode="auto">
          <a:xfrm>
            <a:off x="1861710" y="2328244"/>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政府购买</a:t>
            </a:r>
          </a:p>
        </p:txBody>
      </p:sp>
      <p:sp>
        <p:nvSpPr>
          <p:cNvPr id="25" name="Line 40">
            <a:extLst>
              <a:ext uri="{FF2B5EF4-FFF2-40B4-BE49-F238E27FC236}">
                <a16:creationId xmlns:a16="http://schemas.microsoft.com/office/drawing/2014/main" id="{A35BE428-8440-9468-5A21-850880B391EC}"/>
              </a:ext>
            </a:extLst>
          </p:cNvPr>
          <p:cNvSpPr>
            <a:spLocks noChangeShapeType="1"/>
          </p:cNvSpPr>
          <p:nvPr/>
        </p:nvSpPr>
        <p:spPr bwMode="auto">
          <a:xfrm flipH="1">
            <a:off x="1065998" y="2124488"/>
            <a:ext cx="837196" cy="0"/>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6" name="Text Box 41">
            <a:extLst>
              <a:ext uri="{FF2B5EF4-FFF2-40B4-BE49-F238E27FC236}">
                <a16:creationId xmlns:a16="http://schemas.microsoft.com/office/drawing/2014/main" id="{1DC5C966-E994-1F86-FDE0-93248F047DE7}"/>
              </a:ext>
            </a:extLst>
          </p:cNvPr>
          <p:cNvSpPr txBox="1">
            <a:spLocks noChangeArrowheads="1"/>
          </p:cNvSpPr>
          <p:nvPr/>
        </p:nvSpPr>
        <p:spPr bwMode="auto">
          <a:xfrm>
            <a:off x="1135077" y="2162221"/>
            <a:ext cx="664615"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公共产品与服务</a:t>
            </a:r>
          </a:p>
        </p:txBody>
      </p:sp>
      <p:sp>
        <p:nvSpPr>
          <p:cNvPr id="23" name="Line 43">
            <a:extLst>
              <a:ext uri="{FF2B5EF4-FFF2-40B4-BE49-F238E27FC236}">
                <a16:creationId xmlns:a16="http://schemas.microsoft.com/office/drawing/2014/main" id="{A27FC9DD-9399-224C-002F-7F77C8EAF27A}"/>
              </a:ext>
            </a:extLst>
          </p:cNvPr>
          <p:cNvSpPr>
            <a:spLocks noChangeShapeType="1"/>
          </p:cNvSpPr>
          <p:nvPr/>
        </p:nvSpPr>
        <p:spPr bwMode="auto">
          <a:xfrm>
            <a:off x="2572528" y="2109622"/>
            <a:ext cx="948436" cy="0"/>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4" name="Text Box 44">
            <a:extLst>
              <a:ext uri="{FF2B5EF4-FFF2-40B4-BE49-F238E27FC236}">
                <a16:creationId xmlns:a16="http://schemas.microsoft.com/office/drawing/2014/main" id="{9E8A541A-6C6C-7300-84C9-5F0D4ABF47E5}"/>
              </a:ext>
            </a:extLst>
          </p:cNvPr>
          <p:cNvSpPr txBox="1">
            <a:spLocks noChangeArrowheads="1"/>
          </p:cNvSpPr>
          <p:nvPr/>
        </p:nvSpPr>
        <p:spPr bwMode="auto">
          <a:xfrm>
            <a:off x="2750962" y="2179908"/>
            <a:ext cx="641721" cy="511487"/>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公共产品与服务</a:t>
            </a:r>
          </a:p>
        </p:txBody>
      </p:sp>
      <p:sp>
        <p:nvSpPr>
          <p:cNvPr id="21" name="Line 46">
            <a:extLst>
              <a:ext uri="{FF2B5EF4-FFF2-40B4-BE49-F238E27FC236}">
                <a16:creationId xmlns:a16="http://schemas.microsoft.com/office/drawing/2014/main" id="{1D83EE53-B97C-DDC8-4D46-535CF3D366AA}"/>
              </a:ext>
            </a:extLst>
          </p:cNvPr>
          <p:cNvSpPr>
            <a:spLocks noChangeShapeType="1"/>
          </p:cNvSpPr>
          <p:nvPr/>
        </p:nvSpPr>
        <p:spPr bwMode="auto">
          <a:xfrm flipH="1" flipV="1">
            <a:off x="2572528" y="1936445"/>
            <a:ext cx="911142" cy="3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2" name="Text Box 47">
            <a:extLst>
              <a:ext uri="{FF2B5EF4-FFF2-40B4-BE49-F238E27FC236}">
                <a16:creationId xmlns:a16="http://schemas.microsoft.com/office/drawing/2014/main" id="{0079DF80-78DE-71C1-DB4A-B03B6A8E5206}"/>
              </a:ext>
            </a:extLst>
          </p:cNvPr>
          <p:cNvSpPr txBox="1">
            <a:spLocks noChangeArrowheads="1"/>
          </p:cNvSpPr>
          <p:nvPr/>
        </p:nvSpPr>
        <p:spPr bwMode="auto">
          <a:xfrm>
            <a:off x="2869492" y="1816634"/>
            <a:ext cx="404631"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税收</a:t>
            </a:r>
          </a:p>
        </p:txBody>
      </p:sp>
      <p:sp>
        <p:nvSpPr>
          <p:cNvPr id="19" name="Line 49">
            <a:extLst>
              <a:ext uri="{FF2B5EF4-FFF2-40B4-BE49-F238E27FC236}">
                <a16:creationId xmlns:a16="http://schemas.microsoft.com/office/drawing/2014/main" id="{DCB9DE67-A309-1EAE-FF8F-CA1D8EB8A448}"/>
              </a:ext>
            </a:extLst>
          </p:cNvPr>
          <p:cNvSpPr>
            <a:spLocks noChangeShapeType="1"/>
          </p:cNvSpPr>
          <p:nvPr/>
        </p:nvSpPr>
        <p:spPr bwMode="auto">
          <a:xfrm flipV="1">
            <a:off x="1041527" y="1936445"/>
            <a:ext cx="800866" cy="3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0" name="Text Box 50">
            <a:extLst>
              <a:ext uri="{FF2B5EF4-FFF2-40B4-BE49-F238E27FC236}">
                <a16:creationId xmlns:a16="http://schemas.microsoft.com/office/drawing/2014/main" id="{DACC108D-0009-6A33-2733-3363E0F57002}"/>
              </a:ext>
            </a:extLst>
          </p:cNvPr>
          <p:cNvSpPr txBox="1">
            <a:spLocks noChangeArrowheads="1"/>
          </p:cNvSpPr>
          <p:nvPr/>
        </p:nvSpPr>
        <p:spPr bwMode="auto">
          <a:xfrm>
            <a:off x="1260237" y="1819732"/>
            <a:ext cx="379848"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税收</a:t>
            </a:r>
          </a:p>
        </p:txBody>
      </p:sp>
      <p:sp>
        <p:nvSpPr>
          <p:cNvPr id="57" name="文本框 56">
            <a:extLst>
              <a:ext uri="{FF2B5EF4-FFF2-40B4-BE49-F238E27FC236}">
                <a16:creationId xmlns:a16="http://schemas.microsoft.com/office/drawing/2014/main" id="{4684C389-495F-1E2A-3F9D-477C5BE10BDA}"/>
              </a:ext>
            </a:extLst>
          </p:cNvPr>
          <p:cNvSpPr txBox="1"/>
          <p:nvPr/>
        </p:nvSpPr>
        <p:spPr>
          <a:xfrm>
            <a:off x="94056" y="1437234"/>
            <a:ext cx="659637" cy="278538"/>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总收入</a:t>
            </a:r>
            <a:endParaRPr lang="zh-CN" altLang="en-US" sz="1210" b="1" dirty="0">
              <a:solidFill>
                <a:srgbClr val="FF0000"/>
              </a:solidFill>
              <a:latin typeface="Arial"/>
            </a:endParaRPr>
          </a:p>
        </p:txBody>
      </p:sp>
      <p:sp>
        <p:nvSpPr>
          <p:cNvPr id="58" name="文本框 57">
            <a:extLst>
              <a:ext uri="{FF2B5EF4-FFF2-40B4-BE49-F238E27FC236}">
                <a16:creationId xmlns:a16="http://schemas.microsoft.com/office/drawing/2014/main" id="{2309E9DE-3BCD-E33A-F907-EB4B51F4BC20}"/>
              </a:ext>
            </a:extLst>
          </p:cNvPr>
          <p:cNvSpPr txBox="1"/>
          <p:nvPr/>
        </p:nvSpPr>
        <p:spPr>
          <a:xfrm>
            <a:off x="87279" y="2273009"/>
            <a:ext cx="744880" cy="464743"/>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总需求</a:t>
            </a:r>
            <a:r>
              <a:rPr lang="en-US" altLang="zh-CN" sz="1210" b="1" dirty="0">
                <a:solidFill>
                  <a:srgbClr val="FF0000"/>
                </a:solidFill>
                <a:latin typeface="SimSun" panose="02010600030101010101" pitchFamily="2" charset="-122"/>
                <a:ea typeface="SimSun" panose="02010600030101010101" pitchFamily="2" charset="-122"/>
              </a:rPr>
              <a:t>/</a:t>
            </a:r>
            <a:r>
              <a:rPr lang="zh-CN" altLang="en-US" sz="1210" b="1" dirty="0">
                <a:solidFill>
                  <a:srgbClr val="FF0000"/>
                </a:solidFill>
                <a:latin typeface="SimSun" panose="02010600030101010101" pitchFamily="2" charset="-122"/>
                <a:ea typeface="SimSun" panose="02010600030101010101" pitchFamily="2" charset="-122"/>
              </a:rPr>
              <a:t>总支出</a:t>
            </a:r>
            <a:endParaRPr lang="zh-CN" altLang="en-US" sz="1210" b="1" dirty="0">
              <a:solidFill>
                <a:srgbClr val="FF0000"/>
              </a:solidFill>
              <a:latin typeface="Arial"/>
            </a:endParaRPr>
          </a:p>
        </p:txBody>
      </p:sp>
      <p:sp>
        <p:nvSpPr>
          <p:cNvPr id="59" name="文本框 58">
            <a:extLst>
              <a:ext uri="{FF2B5EF4-FFF2-40B4-BE49-F238E27FC236}">
                <a16:creationId xmlns:a16="http://schemas.microsoft.com/office/drawing/2014/main" id="{728DE3D9-53F1-7A1A-0488-3708BC01AA03}"/>
              </a:ext>
            </a:extLst>
          </p:cNvPr>
          <p:cNvSpPr txBox="1"/>
          <p:nvPr/>
        </p:nvSpPr>
        <p:spPr>
          <a:xfrm>
            <a:off x="3903508" y="2258422"/>
            <a:ext cx="761988" cy="464743"/>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总供给</a:t>
            </a:r>
            <a:r>
              <a:rPr lang="en-US" altLang="zh-CN" sz="1210" b="1" dirty="0">
                <a:solidFill>
                  <a:srgbClr val="FF0000"/>
                </a:solidFill>
                <a:latin typeface="SimSun" panose="02010600030101010101" pitchFamily="2" charset="-122"/>
                <a:ea typeface="SimSun" panose="02010600030101010101" pitchFamily="2" charset="-122"/>
              </a:rPr>
              <a:t>/</a:t>
            </a:r>
            <a:r>
              <a:rPr lang="zh-CN" altLang="en-US" sz="1210" b="1" dirty="0">
                <a:solidFill>
                  <a:srgbClr val="FF0000"/>
                </a:solidFill>
                <a:latin typeface="SimSun" panose="02010600030101010101" pitchFamily="2" charset="-122"/>
                <a:ea typeface="SimSun" panose="02010600030101010101" pitchFamily="2" charset="-122"/>
              </a:rPr>
              <a:t>总产出</a:t>
            </a:r>
            <a:endParaRPr lang="zh-CN" altLang="en-US" sz="1210" b="1" dirty="0">
              <a:solidFill>
                <a:srgbClr val="FF0000"/>
              </a:solidFill>
              <a:latin typeface="Arial"/>
            </a:endParaRPr>
          </a:p>
        </p:txBody>
      </p:sp>
    </p:spTree>
    <p:extLst>
      <p:ext uri="{BB962C8B-B14F-4D97-AF65-F5344CB8AC3E}">
        <p14:creationId xmlns:p14="http://schemas.microsoft.com/office/powerpoint/2010/main" val="229262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7A286-1251-2B83-FB48-5332A295C1C8}"/>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国民收入恒等式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41DC8A9-6D34-64CC-930E-37E3DDC1F0B1}"/>
                  </a:ext>
                </a:extLst>
              </p:cNvPr>
              <p:cNvSpPr>
                <a:spLocks noGrp="1"/>
              </p:cNvSpPr>
              <p:nvPr>
                <p:ph idx="1"/>
              </p:nvPr>
            </p:nvSpPr>
            <p:spPr/>
            <p:txBody>
              <a:bodyPr/>
              <a:lstStyle/>
              <a:p>
                <a:pPr>
                  <a:lnSpc>
                    <a:spcPct val="150000"/>
                  </a:lnSpc>
                </a:pPr>
                <a:r>
                  <a:rPr kumimoji="1" lang="zh-CN" altLang="en-US" dirty="0">
                    <a:latin typeface="Microsoft YaHei" panose="020B0503020204020204" pitchFamily="34" charset="-122"/>
                    <a:ea typeface="Microsoft YaHei" panose="020B0503020204020204" pitchFamily="34" charset="-122"/>
                  </a:rPr>
                  <a:t>总需求（总支出）与均衡总产量</a:t>
                </a:r>
                <a:endParaRPr kumimoji="1" lang="en-US" altLang="zh-CN" dirty="0">
                  <a:latin typeface="Microsoft YaHei" panose="020B0503020204020204" pitchFamily="34" charset="-122"/>
                  <a:ea typeface="Microsoft YaHei" panose="020B0503020204020204" pitchFamily="34" charset="-122"/>
                </a:endParaRPr>
              </a:p>
              <a:p>
                <a:pPr marL="201538" lvl="1" indent="0">
                  <a:lnSpc>
                    <a:spcPct val="110000"/>
                  </a:lnSpc>
                  <a:buNone/>
                </a:pPr>
                <a:r>
                  <a:rPr kumimoji="1" lang="zh-CN" altLang="en-US" dirty="0">
                    <a:ea typeface="Cambria Math" panose="02040503050406030204" pitchFamily="18" charset="0"/>
                  </a:rPr>
                  <a:t>总产量</a:t>
                </a:r>
                <a:r>
                  <a:rPr kumimoji="1" lang="en-US" altLang="zh-CN" dirty="0">
                    <a:ea typeface="Cambria Math" panose="02040503050406030204" pitchFamily="18" charset="0"/>
                  </a:rPr>
                  <a:t>/</a:t>
                </a:r>
                <a:r>
                  <a:rPr kumimoji="1" lang="zh-CN" altLang="en-US" dirty="0">
                    <a:solidFill>
                      <a:srgbClr val="FF0000"/>
                    </a:solidFill>
                    <a:ea typeface="Cambria Math" panose="02040503050406030204" pitchFamily="18" charset="0"/>
                  </a:rPr>
                  <a:t>供给</a:t>
                </a:r>
                <a:r>
                  <a:rPr kumimoji="1" lang="zh-CN" altLang="en-US" dirty="0">
                    <a:ea typeface="Cambria Math" panose="02040503050406030204" pitchFamily="18" charset="0"/>
                  </a:rPr>
                  <a:t>：</a:t>
                </a:r>
                <a14:m>
                  <m:oMath xmlns:m="http://schemas.openxmlformats.org/officeDocument/2006/math">
                    <m:r>
                      <m:rPr>
                        <m:sty m:val="p"/>
                      </m:rPr>
                      <a:rPr kumimoji="1" lang="en-US" altLang="zh-CN">
                        <a:latin typeface="Cambria Math" panose="02040503050406030204" pitchFamily="18" charset="0"/>
                        <a:ea typeface="Cambria Math" panose="02040503050406030204" pitchFamily="18" charset="0"/>
                      </a:rPr>
                      <m:t>Y</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𝐶</m:t>
                    </m:r>
                    <m:r>
                      <a:rPr kumimoji="1" lang="en-US" altLang="zh-CN">
                        <a:latin typeface="Cambria Math" panose="02040503050406030204" pitchFamily="18" charset="0"/>
                        <a:ea typeface="Cambria Math" panose="02040503050406030204" pitchFamily="18" charset="0"/>
                      </a:rPr>
                      <m:t>+</m:t>
                    </m:r>
                    <m:r>
                      <m:rPr>
                        <m:sty m:val="p"/>
                      </m:rPr>
                      <a:rPr kumimoji="1" lang="en-US" altLang="zh-CN" b="0" i="0" smtClean="0">
                        <a:latin typeface="Cambria Math" panose="02040503050406030204" pitchFamily="18" charset="0"/>
                        <a:ea typeface="Cambria Math" panose="02040503050406030204" pitchFamily="18" charset="0"/>
                      </a:rPr>
                      <m:t>I</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𝐺</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𝑁𝑋</m:t>
                    </m:r>
                    <m:r>
                      <a:rPr kumimoji="1" lang="en-US" altLang="zh-CN" i="1" dirty="0" smtClean="0">
                        <a:latin typeface="Cambria Math" panose="02040503050406030204" pitchFamily="18" charset="0"/>
                        <a:ea typeface="Cambria Math" panose="02040503050406030204" pitchFamily="18" charset="0"/>
                      </a:rPr>
                      <m:t> </m:t>
                    </m:r>
                  </m:oMath>
                </a14:m>
                <a:r>
                  <a:rPr kumimoji="1" lang="en-US" altLang="zh-CN" dirty="0">
                    <a:latin typeface="Cambria Math" panose="02040503050406030204" pitchFamily="18" charset="0"/>
                    <a:ea typeface="Cambria Math" panose="02040503050406030204" pitchFamily="18" charset="0"/>
                  </a:rPr>
                  <a:t>----</a:t>
                </a:r>
                <a:r>
                  <a:rPr kumimoji="1" lang="zh-CN" altLang="en-US" dirty="0">
                    <a:latin typeface="Cambria Math" panose="02040503050406030204" pitchFamily="18" charset="0"/>
                    <a:ea typeface="Cambria Math" panose="02040503050406030204" pitchFamily="18" charset="0"/>
                  </a:rPr>
                  <a:t>事后实现支出</a:t>
                </a:r>
                <a:endParaRPr kumimoji="1" lang="en-US" altLang="zh-CN" dirty="0">
                  <a:latin typeface="Cambria Math" panose="02040503050406030204" pitchFamily="18" charset="0"/>
                  <a:ea typeface="Cambria Math" panose="02040503050406030204" pitchFamily="18" charset="0"/>
                </a:endParaRPr>
              </a:p>
              <a:p>
                <a:pPr marL="201538" lvl="1" indent="0">
                  <a:lnSpc>
                    <a:spcPct val="110000"/>
                  </a:lnSpc>
                  <a:buNone/>
                </a:pPr>
                <a:r>
                  <a:rPr kumimoji="1" lang="zh-CN" altLang="en-US" dirty="0">
                    <a:ea typeface="Cambria Math" panose="02040503050406030204" pitchFamily="18" charset="0"/>
                  </a:rPr>
                  <a:t>总支出</a:t>
                </a:r>
                <a:r>
                  <a:rPr kumimoji="1" lang="en-US" altLang="zh-CN" dirty="0">
                    <a:ea typeface="Cambria Math" panose="02040503050406030204" pitchFamily="18" charset="0"/>
                  </a:rPr>
                  <a:t>/</a:t>
                </a:r>
                <a:r>
                  <a:rPr kumimoji="1" lang="zh-CN" altLang="en-US" dirty="0">
                    <a:solidFill>
                      <a:srgbClr val="FF0000"/>
                    </a:solidFill>
                    <a:ea typeface="Cambria Math" panose="02040503050406030204" pitchFamily="18" charset="0"/>
                  </a:rPr>
                  <a:t>需求</a:t>
                </a:r>
                <a:r>
                  <a:rPr kumimoji="1" lang="zh-CN" altLang="en-US" dirty="0">
                    <a:ea typeface="Cambria Math" panose="02040503050406030204" pitchFamily="18" charset="0"/>
                  </a:rPr>
                  <a:t>：</a:t>
                </a:r>
                <a14:m>
                  <m:oMath xmlns:m="http://schemas.openxmlformats.org/officeDocument/2006/math">
                    <m:r>
                      <a:rPr kumimoji="1" lang="en-US" altLang="zh-CN" i="1" dirty="0" smtClean="0">
                        <a:latin typeface="Cambria Math" panose="02040503050406030204" pitchFamily="18" charset="0"/>
                        <a:ea typeface="Cambria Math" panose="02040503050406030204" pitchFamily="18" charset="0"/>
                      </a:rPr>
                      <m:t>𝐴𝐷</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𝑃𝐸</m:t>
                    </m:r>
                    <m:r>
                      <a:rPr kumimoji="1" lang="en-US" altLang="zh-CN" i="1" dirty="0">
                        <a:latin typeface="Cambria Math" panose="02040503050406030204" pitchFamily="18" charset="0"/>
                        <a:ea typeface="Cambria Math" panose="02040503050406030204" pitchFamily="18" charset="0"/>
                      </a:rPr>
                      <m:t>) </m:t>
                    </m:r>
                    <m:r>
                      <a:rPr kumimoji="1" lang="en-US" altLang="zh-CN">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 </m:t>
                    </m:r>
                    <m:r>
                      <a:rPr kumimoji="1" lang="en-US" altLang="zh-CN">
                        <a:latin typeface="Cambria Math" panose="02040503050406030204" pitchFamily="18" charset="0"/>
                        <a:ea typeface="Cambria Math" panose="02040503050406030204" pitchFamily="18" charset="0"/>
                      </a:rPr>
                      <m:t>𝐶</m:t>
                    </m:r>
                    <m:r>
                      <a:rPr kumimoji="1" lang="en-US" altLang="zh-CN">
                        <a:latin typeface="Cambria Math" panose="02040503050406030204" pitchFamily="18" charset="0"/>
                        <a:ea typeface="Cambria Math" panose="02040503050406030204" pitchFamily="18" charset="0"/>
                      </a:rPr>
                      <m:t>+</m:t>
                    </m:r>
                    <m:sSup>
                      <m:sSupPr>
                        <m:ctrlPr>
                          <a:rPr kumimoji="1" lang="en-US" altLang="zh-CN" b="0" i="1" smtClean="0">
                            <a:latin typeface="Cambria Math" panose="02040503050406030204" pitchFamily="18" charset="0"/>
                            <a:ea typeface="Cambria Math" panose="02040503050406030204" pitchFamily="18" charset="0"/>
                          </a:rPr>
                        </m:ctrlPr>
                      </m:sSupPr>
                      <m:e>
                        <m:r>
                          <m:rPr>
                            <m:sty m:val="p"/>
                          </m:rPr>
                          <a:rPr kumimoji="1" lang="en-US" altLang="zh-CN" b="0" i="0" smtClean="0">
                            <a:latin typeface="Cambria Math" panose="02040503050406030204" pitchFamily="18" charset="0"/>
                            <a:ea typeface="Cambria Math" panose="02040503050406030204" pitchFamily="18" charset="0"/>
                          </a:rPr>
                          <m:t>I</m:t>
                        </m:r>
                      </m:e>
                      <m:sup>
                        <m:r>
                          <a:rPr kumimoji="1" lang="en-US" altLang="zh-CN" b="0" i="1" smtClean="0">
                            <a:latin typeface="Cambria Math" panose="02040503050406030204" pitchFamily="18" charset="0"/>
                            <a:ea typeface="Cambria Math" panose="02040503050406030204" pitchFamily="18" charset="0"/>
                          </a:rPr>
                          <m:t>𝑝</m:t>
                        </m:r>
                      </m:sup>
                    </m:sSup>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𝐺</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𝑁𝑋</m:t>
                    </m:r>
                    <m:r>
                      <a:rPr kumimoji="1" lang="zh-CN" altLang="en-US" i="1" dirty="0" smtClean="0">
                        <a:latin typeface="Cambria Math" panose="02040503050406030204" pitchFamily="18" charset="0"/>
                        <a:ea typeface="Cambria Math" panose="02040503050406030204" pitchFamily="18" charset="0"/>
                      </a:rPr>
                      <m:t>  </m:t>
                    </m:r>
                  </m:oMath>
                </a14:m>
                <a:r>
                  <a:rPr kumimoji="1" lang="en-US" altLang="zh-CN" dirty="0">
                    <a:latin typeface="Cambria Math" panose="02040503050406030204" pitchFamily="18" charset="0"/>
                    <a:ea typeface="Cambria Math" panose="02040503050406030204" pitchFamily="18" charset="0"/>
                  </a:rPr>
                  <a:t>----</a:t>
                </a:r>
                <a:r>
                  <a:rPr kumimoji="1" lang="zh-CN" altLang="en-US" dirty="0">
                    <a:latin typeface="Cambria Math" panose="02040503050406030204" pitchFamily="18" charset="0"/>
                    <a:ea typeface="Cambria Math" panose="02040503050406030204" pitchFamily="18" charset="0"/>
                  </a:rPr>
                  <a:t>事前计划支出</a:t>
                </a:r>
                <a:endParaRPr kumimoji="1" lang="en-US" altLang="zh-CN" dirty="0">
                  <a:latin typeface="Cambria Math" panose="02040503050406030204" pitchFamily="18" charset="0"/>
                  <a:ea typeface="Cambria Math" panose="02040503050406030204" pitchFamily="18" charset="0"/>
                </a:endParaRPr>
              </a:p>
              <a:p>
                <a:pPr marL="201538" lvl="1" indent="0">
                  <a:lnSpc>
                    <a:spcPct val="110000"/>
                  </a:lnSpc>
                  <a:buNone/>
                </a:pPr>
                <a:r>
                  <a:rPr kumimoji="1" lang="en-US" altLang="zh-CN" dirty="0">
                    <a:latin typeface="Cambria Math" panose="02040503050406030204" pitchFamily="18" charset="0"/>
                    <a:ea typeface="Cambria Math" panose="02040503050406030204" pitchFamily="18" charset="0"/>
                  </a:rPr>
                  <a:t>Where</a:t>
                </a:r>
                <a:r>
                  <a:rPr kumimoji="1" lang="zh-CN" altLang="en-US" dirty="0">
                    <a:latin typeface="Cambria Math" panose="02040503050406030204" pitchFamily="18" charset="0"/>
                    <a:ea typeface="Cambria Math" panose="02040503050406030204" pitchFamily="18" charset="0"/>
                  </a:rPr>
                  <a:t> </a:t>
                </a:r>
                <a:r>
                  <a:rPr kumimoji="1" lang="en-US" altLang="zh-CN" dirty="0">
                    <a:latin typeface="Cambria Math" panose="02040503050406030204" pitchFamily="18" charset="0"/>
                    <a:ea typeface="Cambria Math" panose="02040503050406030204" pitchFamily="18" charset="0"/>
                  </a:rPr>
                  <a:t>NX=X-M</a:t>
                </a:r>
              </a:p>
            </p:txBody>
          </p:sp>
        </mc:Choice>
        <mc:Fallback xmlns="">
          <p:sp>
            <p:nvSpPr>
              <p:cNvPr id="3" name="内容占位符 2">
                <a:extLst>
                  <a:ext uri="{FF2B5EF4-FFF2-40B4-BE49-F238E27FC236}">
                    <a16:creationId xmlns:a16="http://schemas.microsoft.com/office/drawing/2014/main" id="{B41DC8A9-6D34-64CC-930E-37E3DDC1F0B1}"/>
                  </a:ext>
                </a:extLst>
              </p:cNvPr>
              <p:cNvSpPr>
                <a:spLocks noGrp="1" noRot="1" noChangeAspect="1" noMove="1" noResize="1" noEditPoints="1" noAdjustHandles="1" noChangeArrowheads="1" noChangeShapeType="1" noTextEdit="1"/>
              </p:cNvSpPr>
              <p:nvPr>
                <p:ph idx="1"/>
              </p:nvPr>
            </p:nvSpPr>
            <p:spPr>
              <a:blipFill>
                <a:blip r:embed="rId2"/>
                <a:stretch>
                  <a:fillRect l="-1832" r="-91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49A763B-6A36-5622-0DB8-8E55B9A6B004}"/>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76F322CD-A014-6FB9-B3BB-4991627F2BEB}"/>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23</a:t>
            </a:fld>
            <a:endParaRPr lang="en-US" altLang="zh-CN">
              <a:latin typeface="Arial"/>
            </a:endParaRPr>
          </a:p>
        </p:txBody>
      </p:sp>
      <p:sp>
        <p:nvSpPr>
          <p:cNvPr id="6" name="矩形 5">
            <a:extLst>
              <a:ext uri="{FF2B5EF4-FFF2-40B4-BE49-F238E27FC236}">
                <a16:creationId xmlns:a16="http://schemas.microsoft.com/office/drawing/2014/main" id="{29A84594-5020-65A7-8F63-268BDBDB1ADA}"/>
              </a:ext>
            </a:extLst>
          </p:cNvPr>
          <p:cNvSpPr/>
          <p:nvPr/>
        </p:nvSpPr>
        <p:spPr>
          <a:xfrm>
            <a:off x="2120386" y="866279"/>
            <a:ext cx="187529" cy="250039"/>
          </a:xfrm>
          <a:prstGeom prst="rect">
            <a:avLst/>
          </a:prstGeom>
          <a:noFill/>
          <a:ln w="222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7" name="矩形 6">
            <a:extLst>
              <a:ext uri="{FF2B5EF4-FFF2-40B4-BE49-F238E27FC236}">
                <a16:creationId xmlns:a16="http://schemas.microsoft.com/office/drawing/2014/main" id="{25EB4C8B-91BA-2FDB-4682-46F6B2D22F52}"/>
              </a:ext>
            </a:extLst>
          </p:cNvPr>
          <p:cNvSpPr/>
          <p:nvPr/>
        </p:nvSpPr>
        <p:spPr>
          <a:xfrm>
            <a:off x="2737098" y="1370335"/>
            <a:ext cx="187529" cy="250039"/>
          </a:xfrm>
          <a:prstGeom prst="rect">
            <a:avLst/>
          </a:prstGeom>
          <a:noFill/>
          <a:ln w="222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Tree>
    <p:extLst>
      <p:ext uri="{BB962C8B-B14F-4D97-AF65-F5344CB8AC3E}">
        <p14:creationId xmlns:p14="http://schemas.microsoft.com/office/powerpoint/2010/main" val="151747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0" tmFilter="0, 0; .2, .5; .8, .5; 1, 0"/>
                                        <p:tgtEl>
                                          <p:spTgt spid="6"/>
                                        </p:tgtEl>
                                      </p:cBhvr>
                                    </p:animEffect>
                                    <p:animScale>
                                      <p:cBhvr>
                                        <p:cTn id="12" dur="250" autoRev="1" fill="hold"/>
                                        <p:tgtEl>
                                          <p:spTgt spid="6"/>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1" nodeType="clickEffect">
                                  <p:stCondLst>
                                    <p:cond delay="0"/>
                                  </p:stCondLst>
                                  <p:childTnLst>
                                    <p:animEffect transition="out" filter="fade">
                                      <p:cBhvr>
                                        <p:cTn id="21" dur="500" tmFilter="0, 0; .2, .5; .8, .5; 1, 0"/>
                                        <p:tgtEl>
                                          <p:spTgt spid="7"/>
                                        </p:tgtEl>
                                      </p:cBhvr>
                                    </p:animEffect>
                                    <p:animScale>
                                      <p:cBhvr>
                                        <p:cTn id="2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1888DD-C2B2-B0DD-15DF-723455A9F945}"/>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均衡产出的条件：投资储蓄恒等式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B61F366-A393-DAAE-1C4F-CA525215198C}"/>
                  </a:ext>
                </a:extLst>
              </p:cNvPr>
              <p:cNvSpPr>
                <a:spLocks noGrp="1"/>
              </p:cNvSpPr>
              <p:nvPr>
                <p:ph idx="1"/>
              </p:nvPr>
            </p:nvSpPr>
            <p:spPr/>
            <p:txBody>
              <a:bodyPr/>
              <a:lstStyle/>
              <a:p>
                <a:pPr>
                  <a:lnSpc>
                    <a:spcPct val="150000"/>
                  </a:lnSpc>
                </a:pPr>
                <a:r>
                  <a:rPr kumimoji="1" lang="zh-CN" altLang="en-US" b="1" dirty="0">
                    <a:latin typeface="SimSun" panose="02010600030101010101" pitchFamily="2" charset="-122"/>
                    <a:ea typeface="SimSun" panose="02010600030101010101" pitchFamily="2" charset="-122"/>
                  </a:rPr>
                  <a:t>均衡产出</a:t>
                </a:r>
                <a:r>
                  <a:rPr kumimoji="1" lang="zh-CN" altLang="en-US" dirty="0">
                    <a:latin typeface="SimSun" panose="02010600030101010101" pitchFamily="2" charset="-122"/>
                    <a:ea typeface="SimSun" panose="02010600030101010101" pitchFamily="2" charset="-122"/>
                  </a:rPr>
                  <a:t>是指产出水平和总需求水平相一致时，企业生产保持稳定的一种状态</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dirty="0">
                    <a:solidFill>
                      <a:srgbClr val="FF0000"/>
                    </a:solidFill>
                    <a:latin typeface="Microsoft YaHei" panose="020B0503020204020204" pitchFamily="34" charset="-122"/>
                    <a:ea typeface="Microsoft YaHei" panose="020B0503020204020204" pitchFamily="34" charset="-122"/>
                  </a:rPr>
                  <a:t>均衡总产量的决定：</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marL="201538" lvl="1" indent="0">
                  <a:lnSpc>
                    <a:spcPct val="110000"/>
                  </a:lnSpc>
                  <a:buNone/>
                </a:pPr>
                <a14:m>
                  <m:oMathPara xmlns:m="http://schemas.openxmlformats.org/officeDocument/2006/math">
                    <m:oMathParaPr>
                      <m:jc m:val="centerGroup"/>
                    </m:oMathParaPr>
                    <m:oMath xmlns:m="http://schemas.openxmlformats.org/officeDocument/2006/math">
                      <m:r>
                        <a:rPr kumimoji="1" lang="en-US" altLang="zh-CN" b="0" i="1" dirty="0" smtClean="0">
                          <a:solidFill>
                            <a:schemeClr val="tx1"/>
                          </a:solidFill>
                          <a:latin typeface="Cambria Math" panose="02040503050406030204" pitchFamily="18" charset="0"/>
                          <a:ea typeface="Cambria Math" panose="02040503050406030204" pitchFamily="18" charset="0"/>
                        </a:rPr>
                        <m:t>𝑌</m:t>
                      </m:r>
                      <m:r>
                        <a:rPr kumimoji="1" lang="en-US" altLang="zh-CN" i="1" dirty="0" smtClean="0">
                          <a:solidFill>
                            <a:schemeClr val="tx1"/>
                          </a:solidFill>
                          <a:latin typeface="Cambria Math" panose="02040503050406030204" pitchFamily="18" charset="0"/>
                          <a:ea typeface="SimSun" panose="02010600030101010101" pitchFamily="2" charset="-122"/>
                        </a:rPr>
                        <m:t>= </m:t>
                      </m:r>
                      <m:r>
                        <a:rPr kumimoji="1" lang="en-US" altLang="zh-CN" i="1" dirty="0">
                          <a:solidFill>
                            <a:schemeClr val="tx1"/>
                          </a:solidFill>
                          <a:latin typeface="Cambria Math" panose="02040503050406030204" pitchFamily="18" charset="0"/>
                          <a:ea typeface="SimSun" panose="02010600030101010101" pitchFamily="2" charset="-122"/>
                        </a:rPr>
                        <m:t>𝐴𝐷</m:t>
                      </m:r>
                      <m:d>
                        <m:dPr>
                          <m:ctrlPr>
                            <a:rPr kumimoji="1" lang="en-US" altLang="zh-CN" i="1" dirty="0">
                              <a:solidFill>
                                <a:schemeClr val="tx1"/>
                              </a:solidFill>
                              <a:latin typeface="Cambria Math" panose="02040503050406030204" pitchFamily="18" charset="0"/>
                              <a:ea typeface="SimSun" panose="02010600030101010101" pitchFamily="2" charset="-122"/>
                            </a:rPr>
                          </m:ctrlPr>
                        </m:dPr>
                        <m:e>
                          <m:r>
                            <a:rPr kumimoji="1" lang="en-US" altLang="zh-CN" i="1" dirty="0">
                              <a:solidFill>
                                <a:schemeClr val="tx1"/>
                              </a:solidFill>
                              <a:latin typeface="Cambria Math" panose="02040503050406030204" pitchFamily="18" charset="0"/>
                              <a:ea typeface="SimSun" panose="02010600030101010101" pitchFamily="2" charset="-122"/>
                            </a:rPr>
                            <m:t>𝑃𝐸</m:t>
                          </m:r>
                        </m:e>
                      </m:d>
                      <m:r>
                        <a:rPr kumimoji="1" lang="en-US" altLang="zh-CN" i="1" dirty="0" smtClean="0">
                          <a:solidFill>
                            <a:schemeClr val="tx1"/>
                          </a:solidFill>
                          <a:latin typeface="Cambria Math" panose="02040503050406030204" pitchFamily="18" charset="0"/>
                          <a:ea typeface="Cambria Math" panose="02040503050406030204" pitchFamily="18" charset="0"/>
                        </a:rPr>
                        <m:t>≡</m:t>
                      </m:r>
                      <m:r>
                        <a:rPr kumimoji="1" lang="en-US" altLang="zh-CN" i="1" dirty="0" smtClean="0">
                          <a:solidFill>
                            <a:schemeClr val="tx1"/>
                          </a:solidFill>
                          <a:latin typeface="Cambria Math" panose="02040503050406030204" pitchFamily="18" charset="0"/>
                          <a:ea typeface="SimSun" panose="02010600030101010101" pitchFamily="2" charset="-122"/>
                        </a:rPr>
                        <m:t> </m:t>
                      </m:r>
                      <m:r>
                        <a:rPr kumimoji="1" lang="en-US" altLang="zh-CN" i="1" dirty="0" smtClean="0">
                          <a:solidFill>
                            <a:schemeClr val="tx1"/>
                          </a:solidFill>
                          <a:latin typeface="Cambria Math" panose="02040503050406030204" pitchFamily="18" charset="0"/>
                          <a:ea typeface="Cambria Math" panose="02040503050406030204" pitchFamily="18" charset="0"/>
                        </a:rPr>
                        <m:t>𝐶</m:t>
                      </m:r>
                      <m:r>
                        <a:rPr kumimoji="1" lang="en-US" altLang="zh-CN" i="1" dirty="0" smtClean="0">
                          <a:solidFill>
                            <a:schemeClr val="tx1"/>
                          </a:solidFill>
                          <a:latin typeface="Cambria Math" panose="02040503050406030204" pitchFamily="18" charset="0"/>
                          <a:ea typeface="Cambria Math" panose="02040503050406030204" pitchFamily="18" charset="0"/>
                        </a:rPr>
                        <m:t>+</m:t>
                      </m:r>
                      <m:sSup>
                        <m:sSupPr>
                          <m:ctrlPr>
                            <a:rPr kumimoji="1" lang="en-US" altLang="zh-CN" b="0" i="1" dirty="0" smtClean="0">
                              <a:solidFill>
                                <a:schemeClr val="tx1"/>
                              </a:solidFill>
                              <a:latin typeface="Cambria Math" panose="02040503050406030204" pitchFamily="18" charset="0"/>
                              <a:ea typeface="Cambria Math" panose="02040503050406030204" pitchFamily="18" charset="0"/>
                            </a:rPr>
                          </m:ctrlPr>
                        </m:sSupPr>
                        <m:e>
                          <m:r>
                            <a:rPr kumimoji="1" lang="en-US" altLang="zh-CN" b="0" i="1" dirty="0" smtClean="0">
                              <a:solidFill>
                                <a:schemeClr val="tx1"/>
                              </a:solidFill>
                              <a:latin typeface="Cambria Math" panose="02040503050406030204" pitchFamily="18" charset="0"/>
                              <a:ea typeface="Cambria Math" panose="02040503050406030204" pitchFamily="18" charset="0"/>
                            </a:rPr>
                            <m:t>𝐼</m:t>
                          </m:r>
                        </m:e>
                        <m:sup>
                          <m:r>
                            <a:rPr kumimoji="1" lang="en-US" altLang="zh-CN" b="0" i="1" dirty="0" smtClean="0">
                              <a:solidFill>
                                <a:schemeClr val="tx1"/>
                              </a:solidFill>
                              <a:latin typeface="Cambria Math" panose="02040503050406030204" pitchFamily="18" charset="0"/>
                              <a:ea typeface="Cambria Math" panose="02040503050406030204" pitchFamily="18" charset="0"/>
                            </a:rPr>
                            <m:t>𝑝</m:t>
                          </m:r>
                        </m:sup>
                      </m:sSup>
                      <m:r>
                        <a:rPr kumimoji="1" lang="en-US" altLang="zh-CN" b="0" i="1" dirty="0" smtClean="0">
                          <a:solidFill>
                            <a:schemeClr val="tx1"/>
                          </a:solidFill>
                          <a:latin typeface="Cambria Math" panose="02040503050406030204" pitchFamily="18" charset="0"/>
                          <a:ea typeface="Cambria Math" panose="02040503050406030204" pitchFamily="18" charset="0"/>
                        </a:rPr>
                        <m:t>+</m:t>
                      </m:r>
                      <m:r>
                        <a:rPr kumimoji="1" lang="en-US" altLang="zh-CN" i="1" dirty="0" smtClean="0">
                          <a:solidFill>
                            <a:schemeClr val="tx1"/>
                          </a:solidFill>
                          <a:latin typeface="Cambria Math" panose="02040503050406030204" pitchFamily="18" charset="0"/>
                          <a:ea typeface="Cambria Math" panose="02040503050406030204" pitchFamily="18" charset="0"/>
                        </a:rPr>
                        <m:t>𝐺</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𝑁𝑋</m:t>
                      </m:r>
                      <m:r>
                        <a:rPr kumimoji="1" lang="zh-CN" altLang="en-US" i="1" dirty="0">
                          <a:latin typeface="Cambria Math" panose="02040503050406030204" pitchFamily="18" charset="0"/>
                          <a:ea typeface="SimSun" panose="02010600030101010101" pitchFamily="2" charset="-122"/>
                        </a:rPr>
                        <m:t> </m:t>
                      </m:r>
                    </m:oMath>
                  </m:oMathPara>
                </a14:m>
                <a:endParaRPr kumimoji="1" lang="en-US" altLang="zh-CN" dirty="0">
                  <a:latin typeface="Garamond" panose="02020404030301010803" pitchFamily="18" charset="0"/>
                  <a:ea typeface="SimSun" panose="02010600030101010101" pitchFamily="2" charset="-122"/>
                </a:endParaRPr>
              </a:p>
              <a:p>
                <a:pPr marL="201538" lvl="1" indent="0">
                  <a:lnSpc>
                    <a:spcPct val="110000"/>
                  </a:lnSpc>
                  <a:buNone/>
                </a:pPr>
                <a14:m>
                  <m:oMath xmlns:m="http://schemas.openxmlformats.org/officeDocument/2006/math">
                    <m:r>
                      <m:rPr>
                        <m:sty m:val="p"/>
                      </m:rPr>
                      <a:rPr kumimoji="1" lang="en-US" altLang="zh-CN" b="0" i="0" smtClean="0">
                        <a:latin typeface="Cambria Math" panose="02040503050406030204" pitchFamily="18" charset="0"/>
                        <a:ea typeface="Cambria Math" panose="02040503050406030204" pitchFamily="18" charset="0"/>
                      </a:rPr>
                      <m:t>Y</m:t>
                    </m:r>
                  </m:oMath>
                </a14:m>
                <a:r>
                  <a:rPr kumimoji="1" lang="zh-CN" altLang="en-US" dirty="0">
                    <a:latin typeface="Garamond" panose="02020404030301010803" pitchFamily="18" charset="0"/>
                    <a:ea typeface="SimSun" panose="02010600030101010101" pitchFamily="2" charset="-122"/>
                  </a:rPr>
                  <a:t>是总产量（</a:t>
                </a:r>
                <a:r>
                  <a:rPr kumimoji="1" lang="en-US" altLang="zh-CN" dirty="0">
                    <a:latin typeface="Garamond" panose="02020404030301010803" pitchFamily="18" charset="0"/>
                    <a:ea typeface="SimSun" panose="02010600030101010101" pitchFamily="2" charset="-122"/>
                  </a:rPr>
                  <a:t>GDP</a:t>
                </a:r>
                <a:r>
                  <a:rPr kumimoji="1" lang="zh-CN" altLang="en-US" dirty="0">
                    <a:latin typeface="Garamond" panose="02020404030301010803" pitchFamily="18" charset="0"/>
                    <a:ea typeface="SimSun" panose="02010600030101010101" pitchFamily="2" charset="-122"/>
                  </a:rPr>
                  <a:t>）：对总产量的实际总支出</a:t>
                </a:r>
                <a:endParaRPr kumimoji="1" lang="en-US" altLang="zh-CN" dirty="0">
                  <a:latin typeface="Garamond" panose="02020404030301010803" pitchFamily="18" charset="0"/>
                  <a:ea typeface="SimSun" panose="02010600030101010101" pitchFamily="2" charset="-122"/>
                </a:endParaRPr>
              </a:p>
              <a:p>
                <a:pPr marL="201538" lvl="1" indent="0">
                  <a:lnSpc>
                    <a:spcPct val="110000"/>
                  </a:lnSpc>
                  <a:buNone/>
                </a:pPr>
                <a:r>
                  <a:rPr kumimoji="1" lang="en-US" altLang="zh-CN" dirty="0">
                    <a:latin typeface="Garamond" panose="02020404030301010803" pitchFamily="18" charset="0"/>
                    <a:ea typeface="SimSun" panose="02010600030101010101" pitchFamily="2" charset="-122"/>
                  </a:rPr>
                  <a:t>AD</a:t>
                </a:r>
                <a:r>
                  <a:rPr kumimoji="1" lang="zh-CN" altLang="en-US" dirty="0">
                    <a:latin typeface="Garamond" panose="02020404030301010803" pitchFamily="18" charset="0"/>
                    <a:ea typeface="SimSun" panose="02010600030101010101" pitchFamily="2" charset="-122"/>
                  </a:rPr>
                  <a:t>是总需求：对总产量的计划支出</a:t>
                </a:r>
              </a:p>
            </p:txBody>
          </p:sp>
        </mc:Choice>
        <mc:Fallback xmlns="">
          <p:sp>
            <p:nvSpPr>
              <p:cNvPr id="3" name="内容占位符 2">
                <a:extLst>
                  <a:ext uri="{FF2B5EF4-FFF2-40B4-BE49-F238E27FC236}">
                    <a16:creationId xmlns:a16="http://schemas.microsoft.com/office/drawing/2014/main" id="{6B61F366-A393-DAAE-1C4F-CA525215198C}"/>
                  </a:ext>
                </a:extLst>
              </p:cNvPr>
              <p:cNvSpPr>
                <a:spLocks noGrp="1" noRot="1" noChangeAspect="1" noMove="1" noResize="1" noEditPoints="1" noAdjustHandles="1" noChangeArrowheads="1" noChangeShapeType="1" noTextEdit="1"/>
              </p:cNvSpPr>
              <p:nvPr>
                <p:ph idx="1"/>
              </p:nvPr>
            </p:nvSpPr>
            <p:spPr>
              <a:blipFill>
                <a:blip r:embed="rId2"/>
                <a:stretch>
                  <a:fillRect l="-18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161B42C-4DC7-AFBC-C05F-A8F2AE27B44C}"/>
              </a:ext>
            </a:extLst>
          </p:cNvPr>
          <p:cNvSpPr>
            <a:spLocks noGrp="1"/>
          </p:cNvSpPr>
          <p:nvPr>
            <p:ph type="ftr" sz="quarter" idx="10"/>
          </p:nvPr>
        </p:nvSpPr>
        <p:spPr/>
        <p:txBody>
          <a:bodyPr/>
          <a:lstStyle/>
          <a:p>
            <a:pPr defTabSz="230520"/>
            <a:r>
              <a:rPr lang="zh-CN" altLang="en-US" sz="908">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73C7A3E6-237E-82EA-51B4-4BE6B15400CD}"/>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24</a:t>
            </a:fld>
            <a:endParaRPr lang="en-US" altLang="zh-CN">
              <a:latin typeface="Arial"/>
            </a:endParaRPr>
          </a:p>
        </p:txBody>
      </p:sp>
    </p:spTree>
    <p:extLst>
      <p:ext uri="{BB962C8B-B14F-4D97-AF65-F5344CB8AC3E}">
        <p14:creationId xmlns:p14="http://schemas.microsoft.com/office/powerpoint/2010/main" val="1043004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xf131">
            <a:extLst>
              <a:ext uri="{FF2B5EF4-FFF2-40B4-BE49-F238E27FC236}">
                <a16:creationId xmlns:a16="http://schemas.microsoft.com/office/drawing/2014/main" id="{B1D4C4FA-25CA-B36F-B9B1-CA35C4A74F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366" y="1115132"/>
            <a:ext cx="4261230" cy="20462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88BA4DB-521D-BA94-F712-86AADC953216}"/>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a:t>
            </a:r>
          </a:p>
        </p:txBody>
      </p:sp>
      <p:sp>
        <p:nvSpPr>
          <p:cNvPr id="3" name="内容占位符 2">
            <a:extLst>
              <a:ext uri="{FF2B5EF4-FFF2-40B4-BE49-F238E27FC236}">
                <a16:creationId xmlns:a16="http://schemas.microsoft.com/office/drawing/2014/main" id="{4BF6AD10-AE71-3C8E-6B1F-6341191E441F}"/>
              </a:ext>
            </a:extLst>
          </p:cNvPr>
          <p:cNvSpPr>
            <a:spLocks noGrp="1"/>
          </p:cNvSpPr>
          <p:nvPr>
            <p:ph idx="1"/>
          </p:nvPr>
        </p:nvSpPr>
        <p:spPr/>
        <p:txBody>
          <a:bodyPr/>
          <a:lstStyle/>
          <a:p>
            <a:r>
              <a:rPr kumimoji="1" lang="zh-CN" altLang="en-US" sz="1210" dirty="0">
                <a:solidFill>
                  <a:srgbClr val="FF0000"/>
                </a:solidFill>
                <a:latin typeface="Microsoft YaHei" panose="020B0503020204020204" pitchFamily="34" charset="-122"/>
                <a:ea typeface="Microsoft YaHei" panose="020B0503020204020204" pitchFamily="34" charset="-122"/>
              </a:rPr>
              <a:t>为什么总产量决定于计划总支出即总需求？</a:t>
            </a:r>
            <a:endParaRPr kumimoji="1" lang="en-US" altLang="zh-CN" sz="1210" dirty="0">
              <a:solidFill>
                <a:srgbClr val="FF0000"/>
              </a:solidFill>
              <a:latin typeface="Microsoft YaHei" panose="020B0503020204020204" pitchFamily="34" charset="-122"/>
              <a:ea typeface="Microsoft YaHei" panose="020B0503020204020204" pitchFamily="34" charset="-122"/>
            </a:endParaRPr>
          </a:p>
          <a:p>
            <a:pPr marL="201538" lvl="1" indent="0">
              <a:lnSpc>
                <a:spcPct val="130000"/>
              </a:lnSpc>
              <a:buNone/>
            </a:pPr>
            <a:r>
              <a:rPr kumimoji="1" lang="zh-CN" altLang="en-US" sz="1008" dirty="0">
                <a:latin typeface="Garamond" panose="02020404030301010803" pitchFamily="18" charset="0"/>
                <a:ea typeface="SimSun" panose="02010600030101010101" pitchFamily="2" charset="-122"/>
              </a:rPr>
              <a:t>存货调整机制</a:t>
            </a:r>
            <a:endParaRPr kumimoji="1" lang="en-US" altLang="zh-CN" sz="1008" dirty="0">
              <a:latin typeface="Garamond" panose="02020404030301010803" pitchFamily="18" charset="0"/>
              <a:ea typeface="SimSun" panose="02010600030101010101" pitchFamily="2" charset="-122"/>
            </a:endParaRPr>
          </a:p>
          <a:p>
            <a:pPr marL="201538" lvl="1" indent="0">
              <a:lnSpc>
                <a:spcPct val="130000"/>
              </a:lnSpc>
              <a:buNone/>
            </a:pPr>
            <a:r>
              <a:rPr kumimoji="1" lang="en-US" altLang="zh-CN" sz="1008" dirty="0">
                <a:latin typeface="Garamond" panose="02020404030301010803" pitchFamily="18" charset="0"/>
                <a:ea typeface="SimSun" panose="02010600030101010101" pitchFamily="2" charset="-122"/>
              </a:rPr>
              <a:t>	</a:t>
            </a:r>
            <a:r>
              <a:rPr kumimoji="1" lang="zh-CN" altLang="en-US" sz="1008" dirty="0">
                <a:latin typeface="Garamond" panose="02020404030301010803" pitchFamily="18" charset="0"/>
                <a:ea typeface="SimSun" panose="02010600030101010101" pitchFamily="2" charset="-122"/>
              </a:rPr>
              <a:t>定义非计划存货投资为  </a:t>
            </a:r>
            <a:r>
              <a:rPr kumimoji="1" lang="en-US" altLang="zh-CN" sz="1008" dirty="0">
                <a:latin typeface="Garamond" panose="02020404030301010803" pitchFamily="18" charset="0"/>
                <a:ea typeface="SimSun" panose="02010600030101010101" pitchFamily="2" charset="-122"/>
              </a:rPr>
              <a:t>IU=Y-AD</a:t>
            </a:r>
          </a:p>
        </p:txBody>
      </p:sp>
      <p:sp>
        <p:nvSpPr>
          <p:cNvPr id="4" name="页脚占位符 3">
            <a:extLst>
              <a:ext uri="{FF2B5EF4-FFF2-40B4-BE49-F238E27FC236}">
                <a16:creationId xmlns:a16="http://schemas.microsoft.com/office/drawing/2014/main" id="{E863F3B2-0186-B035-2E3B-717DE88DA246}"/>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4BDA6B4C-2AC5-6BB7-6692-407B96D90D88}"/>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25</a:t>
            </a:fld>
            <a:endParaRPr lang="en-US" altLang="zh-CN">
              <a:latin typeface="Arial"/>
            </a:endParaRPr>
          </a:p>
        </p:txBody>
      </p:sp>
      <p:sp>
        <p:nvSpPr>
          <p:cNvPr id="7" name="文本框 6">
            <a:extLst>
              <a:ext uri="{FF2B5EF4-FFF2-40B4-BE49-F238E27FC236}">
                <a16:creationId xmlns:a16="http://schemas.microsoft.com/office/drawing/2014/main" id="{AB2E1040-37DA-8C01-7F29-9EB371BE17FD}"/>
              </a:ext>
            </a:extLst>
          </p:cNvPr>
          <p:cNvSpPr txBox="1"/>
          <p:nvPr/>
        </p:nvSpPr>
        <p:spPr>
          <a:xfrm>
            <a:off x="121945" y="3027422"/>
            <a:ext cx="4236441" cy="313740"/>
          </a:xfrm>
          <a:prstGeom prst="rect">
            <a:avLst/>
          </a:prstGeom>
          <a:noFill/>
        </p:spPr>
        <p:txBody>
          <a:bodyPr wrap="square">
            <a:spAutoFit/>
          </a:bodyPr>
          <a:lstStyle/>
          <a:p>
            <a:pPr marL="634" algn="ctr" defTabSz="230520">
              <a:lnSpc>
                <a:spcPct val="130000"/>
              </a:lnSpc>
            </a:pPr>
            <a:r>
              <a:rPr lang="zh-CN" altLang="en-US" sz="1210" b="1" dirty="0">
                <a:solidFill>
                  <a:srgbClr val="000000"/>
                </a:solidFill>
                <a:latin typeface="Garamond" panose="02020404030301010803" pitchFamily="18" charset="0"/>
                <a:ea typeface="KaiTi" panose="02010609060101010101" pitchFamily="49" charset="-122"/>
              </a:rPr>
              <a:t>图</a:t>
            </a:r>
            <a:r>
              <a:rPr lang="en-US" altLang="zh-CN" sz="1210" b="1" dirty="0">
                <a:solidFill>
                  <a:srgbClr val="000000"/>
                </a:solidFill>
                <a:latin typeface="Garamond" panose="02020404030301010803" pitchFamily="18" charset="0"/>
                <a:ea typeface="KaiTi" panose="02010609060101010101" pitchFamily="49" charset="-122"/>
              </a:rPr>
              <a:t>2</a:t>
            </a:r>
            <a:r>
              <a:rPr lang="zh-CN" altLang="en-US" sz="1210" b="1" dirty="0">
                <a:solidFill>
                  <a:srgbClr val="000000"/>
                </a:solidFill>
                <a:latin typeface="Garamond" panose="02020404030301010803" pitchFamily="18" charset="0"/>
                <a:ea typeface="KaiTi" panose="02010609060101010101" pitchFamily="49" charset="-122"/>
              </a:rPr>
              <a:t> 均衡产出与经济波动</a:t>
            </a:r>
            <a:endParaRPr lang="en-US" altLang="zh-CN" sz="1210" b="1" dirty="0">
              <a:solidFill>
                <a:srgbClr val="000000"/>
              </a:solidFill>
              <a:latin typeface="Garamond" panose="02020404030301010803" pitchFamily="18" charset="0"/>
              <a:ea typeface="KaiTi" panose="02010609060101010101" pitchFamily="49" charset="-122"/>
            </a:endParaRPr>
          </a:p>
        </p:txBody>
      </p:sp>
      <p:sp>
        <p:nvSpPr>
          <p:cNvPr id="9" name="矩形 8">
            <a:extLst>
              <a:ext uri="{FF2B5EF4-FFF2-40B4-BE49-F238E27FC236}">
                <a16:creationId xmlns:a16="http://schemas.microsoft.com/office/drawing/2014/main" id="{9EA15723-93BE-257B-D1E2-7F5F2CEB5EC0}"/>
              </a:ext>
            </a:extLst>
          </p:cNvPr>
          <p:cNvSpPr/>
          <p:nvPr/>
        </p:nvSpPr>
        <p:spPr>
          <a:xfrm>
            <a:off x="1440954" y="955606"/>
            <a:ext cx="936104" cy="243752"/>
          </a:xfrm>
          <a:prstGeom prst="rect">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Tree>
    <p:extLst>
      <p:ext uri="{BB962C8B-B14F-4D97-AF65-F5344CB8AC3E}">
        <p14:creationId xmlns:p14="http://schemas.microsoft.com/office/powerpoint/2010/main" val="408146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1"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7" grpId="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26</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均衡产出的条件：两部门经济</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
        <p:nvSpPr>
          <p:cNvPr id="4" name="Rectangle 3">
            <a:extLst>
              <a:ext uri="{FF2B5EF4-FFF2-40B4-BE49-F238E27FC236}">
                <a16:creationId xmlns:a16="http://schemas.microsoft.com/office/drawing/2014/main" id="{2996E226-76CD-0123-A7CB-3DF656BCF266}"/>
              </a:ext>
            </a:extLst>
          </p:cNvPr>
          <p:cNvSpPr txBox="1">
            <a:spLocks noChangeArrowheads="1"/>
          </p:cNvSpPr>
          <p:nvPr/>
        </p:nvSpPr>
        <p:spPr bwMode="auto">
          <a:xfrm>
            <a:off x="190028" y="509819"/>
            <a:ext cx="4187664" cy="258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56" tIns="45678" rIns="91356" bIns="45678" numCol="1" anchor="t" anchorCtr="0" compatLnSpc="1">
            <a:prstTxWarp prst="textNoShape">
              <a:avLst/>
            </a:prstTxWarp>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pPr>
            <a:r>
              <a:rPr lang="zh-CN" altLang="en-US" sz="1411" dirty="0">
                <a:solidFill>
                  <a:srgbClr val="000000"/>
                </a:solidFill>
                <a:latin typeface="Garamond" panose="02020404030301010803" pitchFamily="18" charset="0"/>
                <a:ea typeface="SimSun" panose="02010600030101010101" pitchFamily="2" charset="-122"/>
              </a:rPr>
              <a:t>两部门经济（</a:t>
            </a:r>
            <a:r>
              <a:rPr lang="en-US" altLang="zh-CN" sz="1411" dirty="0">
                <a:solidFill>
                  <a:srgbClr val="000000"/>
                </a:solidFill>
                <a:latin typeface="Garamond" panose="02020404030301010803" pitchFamily="18" charset="0"/>
                <a:ea typeface="SimSun" panose="02010600030101010101" pitchFamily="2" charset="-122"/>
              </a:rPr>
              <a:t>two sector economy</a:t>
            </a:r>
            <a:r>
              <a:rPr lang="zh-CN" altLang="en-US" sz="1411" dirty="0">
                <a:solidFill>
                  <a:srgbClr val="000000"/>
                </a:solidFill>
                <a:latin typeface="Garamond" panose="02020404030301010803" pitchFamily="18" charset="0"/>
                <a:ea typeface="SimSun" panose="02010600030101010101" pitchFamily="2" charset="-122"/>
              </a:rPr>
              <a:t>）假设：</a:t>
            </a:r>
          </a:p>
          <a:p>
            <a:pPr marL="172747" indent="-172747" defTabSz="913644"/>
            <a:r>
              <a:rPr lang="zh-CN" altLang="en-US" sz="1411" dirty="0">
                <a:solidFill>
                  <a:srgbClr val="000000"/>
                </a:solidFill>
                <a:latin typeface="Garamond" panose="02020404030301010803" pitchFamily="18" charset="0"/>
                <a:ea typeface="SimSun" panose="02010600030101010101" pitchFamily="2" charset="-122"/>
              </a:rPr>
              <a:t>由厂商和居民户这两种经济单位所组成的经济</a:t>
            </a:r>
            <a:endParaRPr lang="en-US" altLang="zh-CN" sz="1411"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411" dirty="0">
                <a:solidFill>
                  <a:srgbClr val="000000"/>
                </a:solidFill>
                <a:latin typeface="Garamond" panose="02020404030301010803" pitchFamily="18" charset="0"/>
                <a:ea typeface="SimSun" panose="02010600030101010101" pitchFamily="2" charset="-122"/>
              </a:rPr>
              <a:t>没有折旧，没有间接税收，没有政府支出，没有进出口贸易，是一种最简单的经济。</a:t>
            </a:r>
          </a:p>
        </p:txBody>
      </p:sp>
    </p:spTree>
    <p:extLst>
      <p:ext uri="{BB962C8B-B14F-4D97-AF65-F5344CB8AC3E}">
        <p14:creationId xmlns:p14="http://schemas.microsoft.com/office/powerpoint/2010/main" val="2907374577"/>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27</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两部门经济循环</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411" dirty="0">
                <a:solidFill>
                  <a:srgbClr val="000000"/>
                </a:solidFill>
                <a:latin typeface="SimSun" panose="02010600030101010101" pitchFamily="2" charset="-122"/>
                <a:ea typeface="SimSun" panose="02010600030101010101" pitchFamily="2" charset="-122"/>
              </a:rPr>
              <a:t>收入流量循环模型图：</a:t>
            </a: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r>
              <a:rPr lang="zh-CN" altLang="en-US" sz="1411" dirty="0">
                <a:solidFill>
                  <a:srgbClr val="000000"/>
                </a:solidFill>
                <a:latin typeface="SimSun" panose="02010600030101010101" pitchFamily="2" charset="-122"/>
                <a:ea typeface="SimSun" panose="02010600030101010101" pitchFamily="2" charset="-122"/>
              </a:rPr>
              <a:t>从该图中可以看出：只要家户部门把所得到的所有收入都用于购买厂商的产品与劳务，这个循环就可以以原有的规模一直维持下去。</a:t>
            </a:r>
          </a:p>
          <a:p>
            <a:pPr marL="0" indent="0" defTabSz="913644">
              <a:buNone/>
            </a:pPr>
            <a:endParaRPr lang="zh-CN" altLang="en-US" sz="1411" dirty="0">
              <a:solidFill>
                <a:srgbClr val="000000"/>
              </a:solidFill>
              <a:latin typeface="SimSun" panose="02010600030101010101" pitchFamily="2" charset="-122"/>
              <a:ea typeface="SimSun" panose="02010600030101010101" pitchFamily="2" charset="-122"/>
            </a:endParaRPr>
          </a:p>
        </p:txBody>
      </p:sp>
      <p:grpSp>
        <p:nvGrpSpPr>
          <p:cNvPr id="5" name="组合 1">
            <a:extLst>
              <a:ext uri="{FF2B5EF4-FFF2-40B4-BE49-F238E27FC236}">
                <a16:creationId xmlns:a16="http://schemas.microsoft.com/office/drawing/2014/main" id="{3B816011-9C7C-CE39-14DB-7A236A32D96A}"/>
              </a:ext>
            </a:extLst>
          </p:cNvPr>
          <p:cNvGrpSpPr>
            <a:grpSpLocks/>
          </p:cNvGrpSpPr>
          <p:nvPr/>
        </p:nvGrpSpPr>
        <p:grpSpPr bwMode="auto">
          <a:xfrm>
            <a:off x="708809" y="781718"/>
            <a:ext cx="2840287" cy="1080608"/>
            <a:chOff x="1447800" y="1238250"/>
            <a:chExt cx="5638800" cy="2145324"/>
          </a:xfrm>
        </p:grpSpPr>
        <p:sp>
          <p:nvSpPr>
            <p:cNvPr id="6" name="Rectangle 4">
              <a:extLst>
                <a:ext uri="{FF2B5EF4-FFF2-40B4-BE49-F238E27FC236}">
                  <a16:creationId xmlns:a16="http://schemas.microsoft.com/office/drawing/2014/main" id="{2938EFC3-C5E3-1942-4033-54F56D112B33}"/>
                </a:ext>
              </a:extLst>
            </p:cNvPr>
            <p:cNvSpPr>
              <a:spLocks noChangeArrowheads="1"/>
            </p:cNvSpPr>
            <p:nvPr/>
          </p:nvSpPr>
          <p:spPr bwMode="auto">
            <a:xfrm>
              <a:off x="1447800" y="2057400"/>
              <a:ext cx="914400" cy="381000"/>
            </a:xfrm>
            <a:prstGeom prst="rect">
              <a:avLst/>
            </a:prstGeom>
            <a:noFill/>
            <a:ln w="19050">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家户</a:t>
              </a:r>
            </a:p>
          </p:txBody>
        </p:sp>
        <p:sp>
          <p:nvSpPr>
            <p:cNvPr id="7" name="Rectangle 5">
              <a:extLst>
                <a:ext uri="{FF2B5EF4-FFF2-40B4-BE49-F238E27FC236}">
                  <a16:creationId xmlns:a16="http://schemas.microsoft.com/office/drawing/2014/main" id="{B7005203-5B18-5685-87A9-6CB4CCFA8290}"/>
                </a:ext>
              </a:extLst>
            </p:cNvPr>
            <p:cNvSpPr>
              <a:spLocks noChangeArrowheads="1"/>
            </p:cNvSpPr>
            <p:nvPr/>
          </p:nvSpPr>
          <p:spPr bwMode="auto">
            <a:xfrm>
              <a:off x="6172200" y="2057400"/>
              <a:ext cx="914400" cy="381000"/>
            </a:xfrm>
            <a:prstGeom prst="rect">
              <a:avLst/>
            </a:prstGeom>
            <a:noFill/>
            <a:ln w="19050">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a:solidFill>
                    <a:prstClr val="black"/>
                  </a:solidFill>
                  <a:latin typeface="SimSun" panose="02010600030101010101" pitchFamily="2" charset="-122"/>
                  <a:ea typeface="SimSun" panose="02010600030101010101" pitchFamily="2" charset="-122"/>
                </a:rPr>
                <a:t>厂商</a:t>
              </a:r>
            </a:p>
          </p:txBody>
        </p:sp>
        <p:sp>
          <p:nvSpPr>
            <p:cNvPr id="8" name="Text Box 6">
              <a:extLst>
                <a:ext uri="{FF2B5EF4-FFF2-40B4-BE49-F238E27FC236}">
                  <a16:creationId xmlns:a16="http://schemas.microsoft.com/office/drawing/2014/main" id="{D49DF7AA-C7E8-B3C6-7279-B331661F02E8}"/>
                </a:ext>
              </a:extLst>
            </p:cNvPr>
            <p:cNvSpPr txBox="1">
              <a:spLocks noChangeArrowheads="1"/>
            </p:cNvSpPr>
            <p:nvPr/>
          </p:nvSpPr>
          <p:spPr bwMode="auto">
            <a:xfrm>
              <a:off x="1908175" y="1238250"/>
              <a:ext cx="4751386" cy="41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厂商向居民户支付生产要素报酬</a:t>
              </a:r>
            </a:p>
          </p:txBody>
        </p:sp>
        <p:sp>
          <p:nvSpPr>
            <p:cNvPr id="9" name="Text Box 7">
              <a:extLst>
                <a:ext uri="{FF2B5EF4-FFF2-40B4-BE49-F238E27FC236}">
                  <a16:creationId xmlns:a16="http://schemas.microsoft.com/office/drawing/2014/main" id="{D2B8B47D-7097-B6EC-8D60-79BD9228A844}"/>
                </a:ext>
              </a:extLst>
            </p:cNvPr>
            <p:cNvSpPr txBox="1">
              <a:spLocks noChangeArrowheads="1"/>
            </p:cNvSpPr>
            <p:nvPr/>
          </p:nvSpPr>
          <p:spPr bwMode="auto">
            <a:xfrm>
              <a:off x="1763714" y="2971800"/>
              <a:ext cx="4968875" cy="41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居民户向厂商购买各种产品与劳务</a:t>
              </a:r>
            </a:p>
          </p:txBody>
        </p:sp>
        <p:sp>
          <p:nvSpPr>
            <p:cNvPr id="10" name="Line 8">
              <a:extLst>
                <a:ext uri="{FF2B5EF4-FFF2-40B4-BE49-F238E27FC236}">
                  <a16:creationId xmlns:a16="http://schemas.microsoft.com/office/drawing/2014/main" id="{EFD5A139-4565-3AA7-3A09-52AEFB23E488}"/>
                </a:ext>
              </a:extLst>
            </p:cNvPr>
            <p:cNvSpPr>
              <a:spLocks noChangeShapeType="1"/>
            </p:cNvSpPr>
            <p:nvPr/>
          </p:nvSpPr>
          <p:spPr bwMode="auto">
            <a:xfrm>
              <a:off x="1905000" y="1676400"/>
              <a:ext cx="0" cy="30480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1" name="Line 9">
              <a:extLst>
                <a:ext uri="{FF2B5EF4-FFF2-40B4-BE49-F238E27FC236}">
                  <a16:creationId xmlns:a16="http://schemas.microsoft.com/office/drawing/2014/main" id="{F6EDD905-4389-5D98-00C4-676294FBB7A3}"/>
                </a:ext>
              </a:extLst>
            </p:cNvPr>
            <p:cNvSpPr>
              <a:spLocks noChangeShapeType="1"/>
            </p:cNvSpPr>
            <p:nvPr/>
          </p:nvSpPr>
          <p:spPr bwMode="auto">
            <a:xfrm>
              <a:off x="1905000" y="1676400"/>
              <a:ext cx="4724400" cy="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2" name="Line 10">
              <a:extLst>
                <a:ext uri="{FF2B5EF4-FFF2-40B4-BE49-F238E27FC236}">
                  <a16:creationId xmlns:a16="http://schemas.microsoft.com/office/drawing/2014/main" id="{18AADAD5-75D9-373F-84D8-1648A1CAE50E}"/>
                </a:ext>
              </a:extLst>
            </p:cNvPr>
            <p:cNvSpPr>
              <a:spLocks noChangeShapeType="1"/>
            </p:cNvSpPr>
            <p:nvPr/>
          </p:nvSpPr>
          <p:spPr bwMode="auto">
            <a:xfrm>
              <a:off x="6629400" y="1676400"/>
              <a:ext cx="0" cy="30480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3" name="Line 11">
              <a:extLst>
                <a:ext uri="{FF2B5EF4-FFF2-40B4-BE49-F238E27FC236}">
                  <a16:creationId xmlns:a16="http://schemas.microsoft.com/office/drawing/2014/main" id="{58C10750-614F-5ECC-3117-4FED7B3585DA}"/>
                </a:ext>
              </a:extLst>
            </p:cNvPr>
            <p:cNvSpPr>
              <a:spLocks noChangeShapeType="1"/>
            </p:cNvSpPr>
            <p:nvPr/>
          </p:nvSpPr>
          <p:spPr bwMode="auto">
            <a:xfrm>
              <a:off x="1905000" y="2438400"/>
              <a:ext cx="0" cy="45720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4" name="Line 12">
              <a:extLst>
                <a:ext uri="{FF2B5EF4-FFF2-40B4-BE49-F238E27FC236}">
                  <a16:creationId xmlns:a16="http://schemas.microsoft.com/office/drawing/2014/main" id="{8293625C-9CB3-1D93-ECDF-9D7E21F2B612}"/>
                </a:ext>
              </a:extLst>
            </p:cNvPr>
            <p:cNvSpPr>
              <a:spLocks noChangeShapeType="1"/>
            </p:cNvSpPr>
            <p:nvPr/>
          </p:nvSpPr>
          <p:spPr bwMode="auto">
            <a:xfrm>
              <a:off x="1905000" y="2895600"/>
              <a:ext cx="4724400" cy="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5" name="Line 13">
              <a:extLst>
                <a:ext uri="{FF2B5EF4-FFF2-40B4-BE49-F238E27FC236}">
                  <a16:creationId xmlns:a16="http://schemas.microsoft.com/office/drawing/2014/main" id="{35C65301-95B2-81E2-C560-D2F75A36547C}"/>
                </a:ext>
              </a:extLst>
            </p:cNvPr>
            <p:cNvSpPr>
              <a:spLocks noChangeShapeType="1"/>
            </p:cNvSpPr>
            <p:nvPr/>
          </p:nvSpPr>
          <p:spPr bwMode="auto">
            <a:xfrm flipV="1">
              <a:off x="6629400" y="2438400"/>
              <a:ext cx="0" cy="45720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grpSp>
      <p:sp>
        <p:nvSpPr>
          <p:cNvPr id="4" name="页脚占位符 1">
            <a:extLst>
              <a:ext uri="{FF2B5EF4-FFF2-40B4-BE49-F238E27FC236}">
                <a16:creationId xmlns:a16="http://schemas.microsoft.com/office/drawing/2014/main" id="{A9B89E8C-251C-54F0-82D9-EF8C595BF64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563916559"/>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28</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两部门经济条件下的国民收入构成</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579304"/>
            <a:ext cx="1791262" cy="2446026"/>
          </a:xfrm>
          <a:prstGeom prst="rect">
            <a:avLst/>
          </a:prstGeom>
          <a:ln>
            <a:solidFill>
              <a:srgbClr val="00B0F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从支出角度看，由于把企业库存作为存货投资，即</a:t>
            </a: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国内生产总值</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≡消费支出</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投资支出</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≡消费</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即</a:t>
            </a:r>
            <a:r>
              <a:rPr lang="en-US" altLang="zh-CN" sz="1399" dirty="0">
                <a:solidFill>
                  <a:srgbClr val="000000"/>
                </a:solidFill>
                <a:latin typeface="Garamond" panose="02020404030301010803" pitchFamily="18" charset="0"/>
                <a:ea typeface="SimSun" panose="02010600030101010101" pitchFamily="2" charset="-122"/>
              </a:rPr>
              <a:t>Y=C+I</a:t>
            </a:r>
          </a:p>
        </p:txBody>
      </p:sp>
      <p:sp>
        <p:nvSpPr>
          <p:cNvPr id="4" name="页脚占位符 1">
            <a:extLst>
              <a:ext uri="{FF2B5EF4-FFF2-40B4-BE49-F238E27FC236}">
                <a16:creationId xmlns:a16="http://schemas.microsoft.com/office/drawing/2014/main" id="{A47D6DE2-475E-45D7-D161-8A5D635E9EF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
        <p:nvSpPr>
          <p:cNvPr id="2" name="矩形 1"/>
          <p:cNvSpPr/>
          <p:nvPr/>
        </p:nvSpPr>
        <p:spPr>
          <a:xfrm>
            <a:off x="2089025" y="579304"/>
            <a:ext cx="2209619" cy="2601097"/>
          </a:xfrm>
          <a:prstGeom prst="rect">
            <a:avLst/>
          </a:prstGeom>
          <a:ln>
            <a:solidFill>
              <a:srgbClr val="00B0F0"/>
            </a:solidFill>
          </a:ln>
        </p:spPr>
        <p:txBody>
          <a:bodyPr wrap="square">
            <a:spAutoFit/>
          </a:bodyPr>
          <a:lstStyle/>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从收入角度看，国内生产总值就等于总收入，而总收入要么消费，要么储蓄</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 国民收入≡产值的总和</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≡各种生产要素的收入总和</a:t>
            </a: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≡工资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利息</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租金</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利润</a:t>
            </a: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≡消费</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即</a:t>
            </a:r>
            <a:r>
              <a:rPr lang="en-US" altLang="zh-CN" sz="1399" dirty="0">
                <a:solidFill>
                  <a:srgbClr val="000000"/>
                </a:solidFill>
                <a:latin typeface="Garamond" panose="02020404030301010803" pitchFamily="18" charset="0"/>
                <a:ea typeface="SimSun" panose="02010600030101010101" pitchFamily="2" charset="-122"/>
              </a:rPr>
              <a:t>Y=C+S</a:t>
            </a:r>
          </a:p>
        </p:txBody>
      </p:sp>
    </p:spTree>
    <p:extLst>
      <p:ext uri="{BB962C8B-B14F-4D97-AF65-F5344CB8AC3E}">
        <p14:creationId xmlns:p14="http://schemas.microsoft.com/office/powerpoint/2010/main" val="474193353"/>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29</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由  </a:t>
            </a:r>
            <a:r>
              <a:rPr lang="en-US" altLang="zh-CN" sz="1399" dirty="0">
                <a:solidFill>
                  <a:srgbClr val="000000"/>
                </a:solidFill>
                <a:latin typeface="Garamond" panose="02020404030301010803" pitchFamily="18" charset="0"/>
                <a:ea typeface="SimSun" panose="02010600030101010101" pitchFamily="2" charset="-122"/>
              </a:rPr>
              <a:t>C+I ≡ Y ≡ C+S</a:t>
            </a:r>
            <a:r>
              <a:rPr lang="zh-CN" altLang="en-US" sz="1399" dirty="0">
                <a:solidFill>
                  <a:srgbClr val="000000"/>
                </a:solidFill>
                <a:latin typeface="Garamond" panose="02020404030301010803" pitchFamily="18" charset="0"/>
                <a:ea typeface="SimSun" panose="02010600030101010101" pitchFamily="2" charset="-122"/>
              </a:rPr>
              <a:t>，可以得到    </a:t>
            </a:r>
            <a:r>
              <a:rPr lang="en-US" altLang="zh-CN" sz="1399" dirty="0">
                <a:solidFill>
                  <a:srgbClr val="000000"/>
                </a:solidFill>
                <a:latin typeface="Garamond" panose="02020404030301010803" pitchFamily="18" charset="0"/>
                <a:ea typeface="SimSun" panose="02010600030101010101" pitchFamily="2" charset="-122"/>
              </a:rPr>
              <a:t>I ≡ S</a:t>
            </a: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对储蓄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投资恒等式的说明</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⑴恒等式是在假设的两部门经济条件下，根据储蓄与投资的定义得出的，而不是根据经济运行实际得出的。</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⑵恒等式是指整个经济，而不是针对某个人或某个企业而言。</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⑶恒等式是</a:t>
            </a:r>
            <a:r>
              <a:rPr lang="zh-CN" altLang="en-US" sz="1399" dirty="0">
                <a:solidFill>
                  <a:srgbClr val="000000"/>
                </a:solidFill>
                <a:highlight>
                  <a:srgbClr val="FFFF00"/>
                </a:highlight>
                <a:latin typeface="Garamond" panose="02020404030301010803" pitchFamily="18" charset="0"/>
                <a:ea typeface="SimSun" panose="02010600030101010101" pitchFamily="2" charset="-122"/>
              </a:rPr>
              <a:t>事后实际发生</a:t>
            </a:r>
            <a:r>
              <a:rPr lang="zh-CN" altLang="en-US" sz="1399" dirty="0">
                <a:solidFill>
                  <a:srgbClr val="000000"/>
                </a:solidFill>
                <a:latin typeface="Garamond" panose="02020404030301010803" pitchFamily="18" charset="0"/>
                <a:ea typeface="SimSun" panose="02010600030101010101" pitchFamily="2" charset="-122"/>
              </a:rPr>
              <a:t>的国民收入均衡；是按照当年市场价格计算的。</a:t>
            </a:r>
          </a:p>
          <a:p>
            <a:pPr marL="172747" indent="-172747" defTabSz="913644"/>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5EED95CB-64C7-49D4-3A4B-4718DCA6332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1202451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30</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a:xfrm>
            <a:off x="174835" y="128848"/>
            <a:ext cx="4236442" cy="376485"/>
          </a:xfrm>
        </p:spPr>
        <p:txBody>
          <a:bodyPr/>
          <a:lstStyle/>
          <a:p>
            <a:r>
              <a:rPr kumimoji="1" lang="zh-CN" altLang="en-US" b="0" dirty="0">
                <a:latin typeface="Microsoft YaHei" panose="020B0503020204020204" pitchFamily="34" charset="-122"/>
                <a:ea typeface="Microsoft YaHei" panose="020B0503020204020204" pitchFamily="34" charset="-122"/>
              </a:rPr>
              <a:t>三部门经济：储蓄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0971" y="606699"/>
            <a:ext cx="3972563" cy="2302142"/>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三部门经济（</a:t>
            </a:r>
            <a:r>
              <a:rPr lang="en" altLang="zh-CN" sz="1399" dirty="0">
                <a:solidFill>
                  <a:srgbClr val="000000"/>
                </a:solidFill>
                <a:latin typeface="Garamond" panose="02020404030301010803" pitchFamily="18" charset="0"/>
                <a:ea typeface="SimSun" panose="02010600030101010101" pitchFamily="2" charset="-122"/>
              </a:rPr>
              <a:t>three sector economy</a:t>
            </a:r>
            <a:r>
              <a:rPr lang="zh-CN" altLang="e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是指由厂商、居民户与政府这三种经济单位所组成的经济。在这种经济中，政府通过税收与居民户及厂商发生联系。</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收入流量循环模型图：</a:t>
            </a: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p:grpSp>
        <p:nvGrpSpPr>
          <p:cNvPr id="4" name="组合 1">
            <a:extLst>
              <a:ext uri="{FF2B5EF4-FFF2-40B4-BE49-F238E27FC236}">
                <a16:creationId xmlns:a16="http://schemas.microsoft.com/office/drawing/2014/main" id="{CBDA7449-F8A2-826A-071B-2273F368C1A4}"/>
              </a:ext>
            </a:extLst>
          </p:cNvPr>
          <p:cNvGrpSpPr>
            <a:grpSpLocks/>
          </p:cNvGrpSpPr>
          <p:nvPr/>
        </p:nvGrpSpPr>
        <p:grpSpPr bwMode="auto">
          <a:xfrm>
            <a:off x="364347" y="1978380"/>
            <a:ext cx="3881406" cy="1073155"/>
            <a:chOff x="825500" y="3048000"/>
            <a:chExt cx="7175500" cy="2564404"/>
          </a:xfrm>
          <a:solidFill>
            <a:schemeClr val="accent6">
              <a:lumMod val="20000"/>
              <a:lumOff val="80000"/>
            </a:schemeClr>
          </a:solidFill>
        </p:grpSpPr>
        <p:sp>
          <p:nvSpPr>
            <p:cNvPr id="5" name="Rectangle 4">
              <a:extLst>
                <a:ext uri="{FF2B5EF4-FFF2-40B4-BE49-F238E27FC236}">
                  <a16:creationId xmlns:a16="http://schemas.microsoft.com/office/drawing/2014/main" id="{AD0755FE-7D2F-8A52-7F92-EEBB60D4795E}"/>
                </a:ext>
              </a:extLst>
            </p:cNvPr>
            <p:cNvSpPr>
              <a:spLocks noChangeArrowheads="1"/>
            </p:cNvSpPr>
            <p:nvPr/>
          </p:nvSpPr>
          <p:spPr bwMode="auto">
            <a:xfrm>
              <a:off x="3657600" y="3048000"/>
              <a:ext cx="1143000" cy="4572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srgbClr val="000000"/>
                  </a:solidFill>
                  <a:latin typeface="SimSun" panose="02010600030101010101" pitchFamily="2" charset="-122"/>
                  <a:ea typeface="SimSun" panose="02010600030101010101" pitchFamily="2" charset="-122"/>
                </a:rPr>
                <a:t>政   府</a:t>
              </a:r>
            </a:p>
          </p:txBody>
        </p:sp>
        <p:sp>
          <p:nvSpPr>
            <p:cNvPr id="6" name="Rectangle 5">
              <a:extLst>
                <a:ext uri="{FF2B5EF4-FFF2-40B4-BE49-F238E27FC236}">
                  <a16:creationId xmlns:a16="http://schemas.microsoft.com/office/drawing/2014/main" id="{FDFDF632-8FD3-40CB-2EE4-87AFB6B05493}"/>
                </a:ext>
              </a:extLst>
            </p:cNvPr>
            <p:cNvSpPr>
              <a:spLocks noChangeArrowheads="1"/>
            </p:cNvSpPr>
            <p:nvPr/>
          </p:nvSpPr>
          <p:spPr bwMode="auto">
            <a:xfrm>
              <a:off x="6858000" y="5029200"/>
              <a:ext cx="1143000" cy="5334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a:solidFill>
                    <a:srgbClr val="000000"/>
                  </a:solidFill>
                  <a:latin typeface="SimSun" panose="02010600030101010101" pitchFamily="2" charset="-122"/>
                  <a:ea typeface="SimSun" panose="02010600030101010101" pitchFamily="2" charset="-122"/>
                </a:rPr>
                <a:t>厂商</a:t>
              </a:r>
            </a:p>
          </p:txBody>
        </p:sp>
        <p:sp>
          <p:nvSpPr>
            <p:cNvPr id="7" name="Rectangle 6">
              <a:extLst>
                <a:ext uri="{FF2B5EF4-FFF2-40B4-BE49-F238E27FC236}">
                  <a16:creationId xmlns:a16="http://schemas.microsoft.com/office/drawing/2014/main" id="{7B3434A6-6191-3897-5923-5817E0A9EBEE}"/>
                </a:ext>
              </a:extLst>
            </p:cNvPr>
            <p:cNvSpPr>
              <a:spLocks noChangeArrowheads="1"/>
            </p:cNvSpPr>
            <p:nvPr/>
          </p:nvSpPr>
          <p:spPr bwMode="auto">
            <a:xfrm>
              <a:off x="825500" y="5029200"/>
              <a:ext cx="1143000" cy="5334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srgbClr val="000000"/>
                  </a:solidFill>
                  <a:latin typeface="SimSun" panose="02010600030101010101" pitchFamily="2" charset="-122"/>
                  <a:ea typeface="SimSun" panose="02010600030101010101" pitchFamily="2" charset="-122"/>
                </a:rPr>
                <a:t>居民户</a:t>
              </a:r>
            </a:p>
          </p:txBody>
        </p:sp>
        <p:sp>
          <p:nvSpPr>
            <p:cNvPr id="8" name="Line 7">
              <a:extLst>
                <a:ext uri="{FF2B5EF4-FFF2-40B4-BE49-F238E27FC236}">
                  <a16:creationId xmlns:a16="http://schemas.microsoft.com/office/drawing/2014/main" id="{CF07EE74-D79E-BE6F-AFD9-766D5DD1754A}"/>
                </a:ext>
              </a:extLst>
            </p:cNvPr>
            <p:cNvSpPr>
              <a:spLocks noChangeShapeType="1"/>
            </p:cNvSpPr>
            <p:nvPr/>
          </p:nvSpPr>
          <p:spPr bwMode="auto">
            <a:xfrm>
              <a:off x="1066800" y="3200400"/>
              <a:ext cx="0" cy="182880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9" name="Line 8">
              <a:extLst>
                <a:ext uri="{FF2B5EF4-FFF2-40B4-BE49-F238E27FC236}">
                  <a16:creationId xmlns:a16="http://schemas.microsoft.com/office/drawing/2014/main" id="{95FFD061-C27F-1050-A219-CE34B149DFAE}"/>
                </a:ext>
              </a:extLst>
            </p:cNvPr>
            <p:cNvSpPr>
              <a:spLocks noChangeShapeType="1"/>
            </p:cNvSpPr>
            <p:nvPr/>
          </p:nvSpPr>
          <p:spPr bwMode="auto">
            <a:xfrm>
              <a:off x="1066800" y="3200400"/>
              <a:ext cx="2590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0" name="Line 9">
              <a:extLst>
                <a:ext uri="{FF2B5EF4-FFF2-40B4-BE49-F238E27FC236}">
                  <a16:creationId xmlns:a16="http://schemas.microsoft.com/office/drawing/2014/main" id="{4C0B8456-72E7-016C-92F9-7D7885B3D6B5}"/>
                </a:ext>
              </a:extLst>
            </p:cNvPr>
            <p:cNvSpPr>
              <a:spLocks noChangeShapeType="1"/>
            </p:cNvSpPr>
            <p:nvPr/>
          </p:nvSpPr>
          <p:spPr bwMode="auto">
            <a:xfrm flipH="1">
              <a:off x="1752600" y="3429000"/>
              <a:ext cx="1905000" cy="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1" name="Line 10">
              <a:extLst>
                <a:ext uri="{FF2B5EF4-FFF2-40B4-BE49-F238E27FC236}">
                  <a16:creationId xmlns:a16="http://schemas.microsoft.com/office/drawing/2014/main" id="{66AA8748-4C53-BF4C-6DF5-5F547997EF93}"/>
                </a:ext>
              </a:extLst>
            </p:cNvPr>
            <p:cNvSpPr>
              <a:spLocks noChangeShapeType="1"/>
            </p:cNvSpPr>
            <p:nvPr/>
          </p:nvSpPr>
          <p:spPr bwMode="auto">
            <a:xfrm>
              <a:off x="1752600" y="3429000"/>
              <a:ext cx="0" cy="160020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2" name="Line 11">
              <a:extLst>
                <a:ext uri="{FF2B5EF4-FFF2-40B4-BE49-F238E27FC236}">
                  <a16:creationId xmlns:a16="http://schemas.microsoft.com/office/drawing/2014/main" id="{5EB6B665-70F7-9132-6CAD-9AA8C5D07FAD}"/>
                </a:ext>
              </a:extLst>
            </p:cNvPr>
            <p:cNvSpPr>
              <a:spLocks noChangeShapeType="1"/>
            </p:cNvSpPr>
            <p:nvPr/>
          </p:nvSpPr>
          <p:spPr bwMode="auto">
            <a:xfrm>
              <a:off x="4800600" y="3200400"/>
              <a:ext cx="2819400" cy="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3" name="Line 13">
              <a:extLst>
                <a:ext uri="{FF2B5EF4-FFF2-40B4-BE49-F238E27FC236}">
                  <a16:creationId xmlns:a16="http://schemas.microsoft.com/office/drawing/2014/main" id="{146C1F35-3CE3-3882-DA26-20861171A53A}"/>
                </a:ext>
              </a:extLst>
            </p:cNvPr>
            <p:cNvSpPr>
              <a:spLocks noChangeShapeType="1"/>
            </p:cNvSpPr>
            <p:nvPr/>
          </p:nvSpPr>
          <p:spPr bwMode="auto">
            <a:xfrm>
              <a:off x="7620000" y="3200400"/>
              <a:ext cx="0" cy="182880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4" name="Line 14">
              <a:extLst>
                <a:ext uri="{FF2B5EF4-FFF2-40B4-BE49-F238E27FC236}">
                  <a16:creationId xmlns:a16="http://schemas.microsoft.com/office/drawing/2014/main" id="{FB56C458-57F7-D7B9-F1CF-7770D197A98B}"/>
                </a:ext>
              </a:extLst>
            </p:cNvPr>
            <p:cNvSpPr>
              <a:spLocks noChangeShapeType="1"/>
            </p:cNvSpPr>
            <p:nvPr/>
          </p:nvSpPr>
          <p:spPr bwMode="auto">
            <a:xfrm flipV="1">
              <a:off x="7086600" y="3429000"/>
              <a:ext cx="0" cy="160020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5" name="Line 15">
              <a:extLst>
                <a:ext uri="{FF2B5EF4-FFF2-40B4-BE49-F238E27FC236}">
                  <a16:creationId xmlns:a16="http://schemas.microsoft.com/office/drawing/2014/main" id="{6CD7BDE0-8AD2-114C-71C3-5325932C6858}"/>
                </a:ext>
              </a:extLst>
            </p:cNvPr>
            <p:cNvSpPr>
              <a:spLocks noChangeShapeType="1"/>
            </p:cNvSpPr>
            <p:nvPr/>
          </p:nvSpPr>
          <p:spPr bwMode="auto">
            <a:xfrm flipH="1">
              <a:off x="4800600" y="3441700"/>
              <a:ext cx="22860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6" name="Line 16">
              <a:extLst>
                <a:ext uri="{FF2B5EF4-FFF2-40B4-BE49-F238E27FC236}">
                  <a16:creationId xmlns:a16="http://schemas.microsoft.com/office/drawing/2014/main" id="{043C780B-96AF-D600-B2A4-C8C21F8D4FD6}"/>
                </a:ext>
              </a:extLst>
            </p:cNvPr>
            <p:cNvSpPr>
              <a:spLocks noChangeShapeType="1"/>
            </p:cNvSpPr>
            <p:nvPr/>
          </p:nvSpPr>
          <p:spPr bwMode="auto">
            <a:xfrm>
              <a:off x="1981200" y="5473700"/>
              <a:ext cx="4876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7" name="Line 17">
              <a:extLst>
                <a:ext uri="{FF2B5EF4-FFF2-40B4-BE49-F238E27FC236}">
                  <a16:creationId xmlns:a16="http://schemas.microsoft.com/office/drawing/2014/main" id="{8470B0A8-D8AC-7528-2C24-5373E675F6B2}"/>
                </a:ext>
              </a:extLst>
            </p:cNvPr>
            <p:cNvSpPr>
              <a:spLocks noChangeShapeType="1"/>
            </p:cNvSpPr>
            <p:nvPr/>
          </p:nvSpPr>
          <p:spPr bwMode="auto">
            <a:xfrm flipH="1">
              <a:off x="1981200" y="5118100"/>
              <a:ext cx="4876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8" name="Text Box 18">
              <a:extLst>
                <a:ext uri="{FF2B5EF4-FFF2-40B4-BE49-F238E27FC236}">
                  <a16:creationId xmlns:a16="http://schemas.microsoft.com/office/drawing/2014/main" id="{0FC3D44A-57DE-86A4-044C-8AF0B58240EC}"/>
                </a:ext>
              </a:extLst>
            </p:cNvPr>
            <p:cNvSpPr txBox="1">
              <a:spLocks noChangeArrowheads="1"/>
            </p:cNvSpPr>
            <p:nvPr/>
          </p:nvSpPr>
          <p:spPr bwMode="auto">
            <a:xfrm>
              <a:off x="2209800" y="5080000"/>
              <a:ext cx="4267199" cy="532404"/>
            </a:xfrm>
            <a:prstGeom prst="rect">
              <a:avLst/>
            </a:prstGeom>
            <a:grp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1007">
                  <a:solidFill>
                    <a:srgbClr val="000000"/>
                  </a:solidFill>
                  <a:latin typeface="SimSun" panose="02010600030101010101" pitchFamily="2" charset="-122"/>
                  <a:ea typeface="SimSun" panose="02010600030101010101" pitchFamily="2" charset="-122"/>
                </a:rPr>
                <a:t>居民户向厂商购买各种产品与劳务</a:t>
              </a:r>
            </a:p>
          </p:txBody>
        </p:sp>
        <p:sp>
          <p:nvSpPr>
            <p:cNvPr id="19" name="Text Box 19">
              <a:extLst>
                <a:ext uri="{FF2B5EF4-FFF2-40B4-BE49-F238E27FC236}">
                  <a16:creationId xmlns:a16="http://schemas.microsoft.com/office/drawing/2014/main" id="{5EDD74B8-23EC-C5E9-DB5A-F496F349E235}"/>
                </a:ext>
              </a:extLst>
            </p:cNvPr>
            <p:cNvSpPr txBox="1">
              <a:spLocks noChangeArrowheads="1"/>
            </p:cNvSpPr>
            <p:nvPr/>
          </p:nvSpPr>
          <p:spPr bwMode="auto">
            <a:xfrm>
              <a:off x="2222500" y="4699001"/>
              <a:ext cx="4267199" cy="532404"/>
            </a:xfrm>
            <a:prstGeom prst="rect">
              <a:avLst/>
            </a:prstGeom>
            <a:grp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1007">
                  <a:solidFill>
                    <a:srgbClr val="000000"/>
                  </a:solidFill>
                  <a:latin typeface="SimSun" panose="02010600030101010101" pitchFamily="2" charset="-122"/>
                  <a:ea typeface="SimSun" panose="02010600030101010101" pitchFamily="2" charset="-122"/>
                </a:rPr>
                <a:t>厂商向居民支付生产要素报酬</a:t>
              </a:r>
            </a:p>
          </p:txBody>
        </p:sp>
      </p:grpSp>
      <p:sp>
        <p:nvSpPr>
          <p:cNvPr id="20" name="页脚占位符 1">
            <a:extLst>
              <a:ext uri="{FF2B5EF4-FFF2-40B4-BE49-F238E27FC236}">
                <a16:creationId xmlns:a16="http://schemas.microsoft.com/office/drawing/2014/main" id="{1FB1F52E-0612-261E-C67B-ECFBBD7B7FA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71770893"/>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31</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a:xfrm>
            <a:off x="174835" y="128848"/>
            <a:ext cx="4236442" cy="396386"/>
          </a:xfrm>
        </p:spPr>
        <p:txBody>
          <a:bodyPr/>
          <a:lstStyle/>
          <a:p>
            <a:r>
              <a:rPr kumimoji="1" lang="zh-CN" altLang="en-US" b="0" dirty="0">
                <a:latin typeface="Microsoft YaHei" panose="020B0503020204020204" pitchFamily="34" charset="-122"/>
                <a:ea typeface="Microsoft YaHei" panose="020B0503020204020204" pitchFamily="34" charset="-122"/>
              </a:rPr>
              <a:t>三部门经济：储蓄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723188"/>
            <a:ext cx="1983913" cy="2302142"/>
          </a:xfrm>
          <a:prstGeom prst="rect">
            <a:avLst/>
          </a:prstGeom>
          <a:ln>
            <a:solidFill>
              <a:srgbClr val="0070C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87171" indent="-87171" defTabSz="913644">
              <a:buClr>
                <a:srgbClr val="002060"/>
              </a:buClr>
              <a:buFont typeface="Wingdings" pitchFamily="2" charset="2"/>
              <a:buChar char="u"/>
              <a:defRPr/>
            </a:pPr>
            <a:r>
              <a:rPr lang="zh-CN" altLang="en-US" sz="1008" b="1" dirty="0">
                <a:solidFill>
                  <a:srgbClr val="000000"/>
                </a:solidFill>
                <a:latin typeface="Garamond" panose="02020404030301010803" pitchFamily="18" charset="0"/>
                <a:ea typeface="SimSun" panose="02010600030101010101" pitchFamily="2" charset="-122"/>
              </a:rPr>
              <a:t>从支出（总需求）看：</a:t>
            </a: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国内生产总值</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≡消费支出</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投资支出</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政府支出</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投资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政府购买</a:t>
            </a: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即</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Y=C+I+</a:t>
            </a:r>
            <a:r>
              <a:rPr lang="en" altLang="zh-CN" sz="1008" b="1" dirty="0">
                <a:solidFill>
                  <a:srgbClr val="FF0000"/>
                </a:solidFill>
                <a:latin typeface="Garamond" panose="02020404030301010803" pitchFamily="18" charset="0"/>
                <a:ea typeface="SimSun" panose="02010600030101010101" pitchFamily="2" charset="-122"/>
              </a:rPr>
              <a:t>G</a:t>
            </a:r>
          </a:p>
        </p:txBody>
      </p:sp>
      <p:sp>
        <p:nvSpPr>
          <p:cNvPr id="6" name="内容占位符 2">
            <a:extLst>
              <a:ext uri="{FF2B5EF4-FFF2-40B4-BE49-F238E27FC236}">
                <a16:creationId xmlns:a16="http://schemas.microsoft.com/office/drawing/2014/main" id="{0216410C-AAE9-FF88-5F2C-CDDFE9F8192D}"/>
              </a:ext>
            </a:extLst>
          </p:cNvPr>
          <p:cNvSpPr txBox="1">
            <a:spLocks/>
          </p:cNvSpPr>
          <p:nvPr/>
        </p:nvSpPr>
        <p:spPr>
          <a:xfrm>
            <a:off x="2293056" y="718831"/>
            <a:ext cx="2117894" cy="2302142"/>
          </a:xfrm>
          <a:prstGeom prst="rect">
            <a:avLst/>
          </a:prstGeom>
          <a:ln>
            <a:solidFill>
              <a:srgbClr val="0070C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87171" indent="-87171" defTabSz="913644">
              <a:buClr>
                <a:srgbClr val="002060"/>
              </a:buClr>
              <a:buFont typeface="Wingdings" pitchFamily="2" charset="2"/>
              <a:buChar char="u"/>
              <a:defRPr/>
            </a:pPr>
            <a:r>
              <a:rPr lang="zh-CN" altLang="en-US" sz="1008" b="1" dirty="0">
                <a:solidFill>
                  <a:srgbClr val="000000"/>
                </a:solidFill>
                <a:latin typeface="Garamond" panose="02020404030301010803" pitchFamily="18" charset="0"/>
                <a:ea typeface="SimSun" panose="02010600030101010101" pitchFamily="2" charset="-122"/>
              </a:rPr>
              <a:t>从收入（总供给）看：</a:t>
            </a:r>
            <a:endParaRPr lang="en-US" altLang="zh-CN" sz="1008" b="1"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国民收入</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≡各种生产要素的收入总和</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≡工资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利息</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租金</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利润</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储蓄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税收</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即</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 ≡C+S+</a:t>
            </a:r>
            <a:r>
              <a:rPr lang="en" altLang="zh-CN" sz="1008" b="1" dirty="0">
                <a:solidFill>
                  <a:srgbClr val="FF0000"/>
                </a:solidFill>
                <a:latin typeface="Garamond" panose="02020404030301010803" pitchFamily="18" charset="0"/>
                <a:ea typeface="SimSun" panose="02010600030101010101" pitchFamily="2" charset="-122"/>
              </a:rPr>
              <a:t>T</a:t>
            </a: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 ≡C+S</a:t>
            </a:r>
            <a:r>
              <a:rPr lang="en" altLang="zh-CN" sz="1008" b="1" dirty="0">
                <a:solidFill>
                  <a:srgbClr val="FF0000"/>
                </a:solidFill>
                <a:latin typeface="Garamond" panose="02020404030301010803" pitchFamily="18" charset="0"/>
                <a:ea typeface="SimSun" panose="02010600030101010101" pitchFamily="2" charset="-122"/>
              </a:rPr>
              <a:t>+(T</a:t>
            </a:r>
            <a:r>
              <a:rPr lang="en" altLang="zh-CN" sz="1008" b="1" baseline="-25000" dirty="0">
                <a:solidFill>
                  <a:srgbClr val="FF0000"/>
                </a:solidFill>
                <a:latin typeface="Garamond" panose="02020404030301010803" pitchFamily="18" charset="0"/>
                <a:ea typeface="SimSun" panose="02010600030101010101" pitchFamily="2" charset="-122"/>
              </a:rPr>
              <a:t>0 </a:t>
            </a:r>
            <a:r>
              <a:rPr lang="en-US" altLang="zh-CN" sz="1008" b="1" dirty="0">
                <a:solidFill>
                  <a:srgbClr val="FF0000"/>
                </a:solidFill>
                <a:latin typeface="Garamond" panose="02020404030301010803" pitchFamily="18" charset="0"/>
                <a:ea typeface="SimSun" panose="02010600030101010101" pitchFamily="2" charset="-122"/>
              </a:rPr>
              <a:t>-Tr)</a:t>
            </a:r>
            <a:endParaRPr lang="zh-CN" altLang="en-US" sz="1008" b="1" dirty="0">
              <a:solidFill>
                <a:srgbClr val="FF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 sz="908" dirty="0">
                <a:solidFill>
                  <a:srgbClr val="000000"/>
                </a:solidFill>
                <a:latin typeface="Garamond" panose="02020404030301010803" pitchFamily="18" charset="0"/>
                <a:ea typeface="KaiTi" panose="02010609060101010101" pitchFamily="49" charset="-122"/>
              </a:rPr>
              <a:t>其中</a:t>
            </a:r>
            <a:r>
              <a:rPr lang="zh-CN" altLang="en-US" sz="908" dirty="0">
                <a:solidFill>
                  <a:srgbClr val="000000"/>
                </a:solidFill>
                <a:latin typeface="Garamond" panose="02020404030301010803" pitchFamily="18" charset="0"/>
                <a:ea typeface="KaiTi" panose="02010609060101010101" pitchFamily="49" charset="-122"/>
              </a:rPr>
              <a:t>，</a:t>
            </a:r>
            <a:r>
              <a:rPr lang="en" altLang="zh-CN" sz="908" dirty="0">
                <a:solidFill>
                  <a:srgbClr val="000000"/>
                </a:solidFill>
                <a:latin typeface="Garamond" panose="02020404030301010803" pitchFamily="18" charset="0"/>
                <a:ea typeface="KaiTi" panose="02010609060101010101" pitchFamily="49" charset="-122"/>
              </a:rPr>
              <a:t>T0</a:t>
            </a:r>
            <a:r>
              <a:rPr lang="zh-CN" altLang="en-US" sz="908" dirty="0">
                <a:solidFill>
                  <a:srgbClr val="000000"/>
                </a:solidFill>
                <a:latin typeface="Garamond" panose="02020404030301010803" pitchFamily="18" charset="0"/>
                <a:ea typeface="KaiTi" panose="02010609060101010101" pitchFamily="49" charset="-122"/>
              </a:rPr>
              <a:t>表示全部税收，</a:t>
            </a:r>
            <a:r>
              <a:rPr lang="en" altLang="zh-CN" sz="908" dirty="0">
                <a:solidFill>
                  <a:srgbClr val="000000"/>
                </a:solidFill>
                <a:latin typeface="Garamond" panose="02020404030301010803" pitchFamily="18" charset="0"/>
                <a:ea typeface="KaiTi" panose="02010609060101010101" pitchFamily="49" charset="-122"/>
              </a:rPr>
              <a:t>Tr</a:t>
            </a:r>
            <a:r>
              <a:rPr lang="zh-CN" altLang="en-US" sz="908" dirty="0">
                <a:solidFill>
                  <a:srgbClr val="000000"/>
                </a:solidFill>
                <a:latin typeface="Garamond" panose="02020404030301010803" pitchFamily="18" charset="0"/>
                <a:ea typeface="KaiTi" panose="02010609060101010101" pitchFamily="49" charset="-122"/>
              </a:rPr>
              <a:t>表示政府转移支付，用</a:t>
            </a:r>
            <a:r>
              <a:rPr lang="en" altLang="zh-CN" sz="908" dirty="0">
                <a:solidFill>
                  <a:srgbClr val="000000"/>
                </a:solidFill>
                <a:latin typeface="Garamond" panose="02020404030301010803" pitchFamily="18" charset="0"/>
                <a:ea typeface="KaiTi" panose="02010609060101010101" pitchFamily="49" charset="-122"/>
              </a:rPr>
              <a:t>T</a:t>
            </a:r>
            <a:r>
              <a:rPr lang="zh-CN" altLang="en-US" sz="908" dirty="0">
                <a:solidFill>
                  <a:srgbClr val="000000"/>
                </a:solidFill>
                <a:latin typeface="Garamond" panose="02020404030301010803" pitchFamily="18" charset="0"/>
                <a:ea typeface="KaiTi" panose="02010609060101010101" pitchFamily="49" charset="-122"/>
              </a:rPr>
              <a:t>表示政府净收入，</a:t>
            </a:r>
            <a:r>
              <a:rPr lang="en" altLang="zh-CN" sz="908" dirty="0">
                <a:solidFill>
                  <a:srgbClr val="000000"/>
                </a:solidFill>
                <a:latin typeface="Garamond" panose="02020404030301010803" pitchFamily="18" charset="0"/>
                <a:ea typeface="KaiTi" panose="02010609060101010101" pitchFamily="49" charset="-122"/>
              </a:rPr>
              <a:t>T = T</a:t>
            </a:r>
            <a:r>
              <a:rPr lang="en" altLang="zh-CN" sz="908" baseline="-25000" dirty="0">
                <a:solidFill>
                  <a:srgbClr val="000000"/>
                </a:solidFill>
                <a:latin typeface="Garamond" panose="02020404030301010803" pitchFamily="18" charset="0"/>
                <a:ea typeface="KaiTi" panose="02010609060101010101" pitchFamily="49" charset="-122"/>
              </a:rPr>
              <a:t>0</a:t>
            </a:r>
            <a:r>
              <a:rPr lang="en" altLang="zh-CN" sz="908" dirty="0">
                <a:solidFill>
                  <a:srgbClr val="000000"/>
                </a:solidFill>
                <a:latin typeface="Garamond" panose="02020404030301010803" pitchFamily="18" charset="0"/>
                <a:ea typeface="KaiTi" panose="02010609060101010101" pitchFamily="49" charset="-122"/>
              </a:rPr>
              <a:t> - Tr </a:t>
            </a:r>
            <a:r>
              <a:rPr lang="zh-CN" altLang="en" sz="908" dirty="0">
                <a:solidFill>
                  <a:srgbClr val="000000"/>
                </a:solidFill>
                <a:latin typeface="Garamond" panose="02020404030301010803" pitchFamily="18" charset="0"/>
                <a:ea typeface="KaiTi" panose="02010609060101010101" pitchFamily="49" charset="-122"/>
              </a:rPr>
              <a:t>。</a:t>
            </a:r>
            <a:endParaRPr lang="zh-CN" altLang="en-US" sz="1008" dirty="0">
              <a:solidFill>
                <a:srgbClr val="000000"/>
              </a:solidFill>
              <a:latin typeface="Garamond" panose="02020404030301010803" pitchFamily="18" charset="0"/>
              <a:ea typeface="SimSun" panose="02010600030101010101" pitchFamily="2" charset="-122"/>
            </a:endParaRPr>
          </a:p>
        </p:txBody>
      </p:sp>
      <p:sp>
        <p:nvSpPr>
          <p:cNvPr id="7" name="页脚占位符 1">
            <a:extLst>
              <a:ext uri="{FF2B5EF4-FFF2-40B4-BE49-F238E27FC236}">
                <a16:creationId xmlns:a16="http://schemas.microsoft.com/office/drawing/2014/main" id="{FCF264B9-C59C-26D2-3C82-BAD081D1C28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30549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32</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三部门经济循环模型</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三部门经济的储蓄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投资恒等式</a:t>
            </a: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       总需求：</a:t>
            </a:r>
            <a:r>
              <a:rPr lang="en-US" altLang="zh-CN" sz="1399" dirty="0">
                <a:solidFill>
                  <a:srgbClr val="000000"/>
                </a:solidFill>
                <a:latin typeface="Garamond" panose="02020404030301010803" pitchFamily="18" charset="0"/>
                <a:ea typeface="SimSun" panose="02010600030101010101" pitchFamily="2" charset="-122"/>
              </a:rPr>
              <a:t>Y ≡C+I+G</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a:t>
            </a:r>
            <a:r>
              <a:rPr lang="zh-CN" altLang="en-US" sz="1399" dirty="0">
                <a:solidFill>
                  <a:srgbClr val="000000"/>
                </a:solidFill>
                <a:latin typeface="Garamond" panose="02020404030301010803" pitchFamily="18" charset="0"/>
                <a:ea typeface="SimSun" panose="02010600030101010101" pitchFamily="2" charset="-122"/>
              </a:rPr>
              <a:t>总供给：</a:t>
            </a:r>
            <a:r>
              <a:rPr lang="en-US" altLang="zh-CN" sz="1399" dirty="0">
                <a:solidFill>
                  <a:srgbClr val="000000"/>
                </a:solidFill>
                <a:latin typeface="Garamond" panose="02020404030301010803" pitchFamily="18" charset="0"/>
                <a:ea typeface="SimSun" panose="02010600030101010101" pitchFamily="2" charset="-122"/>
              </a:rPr>
              <a:t>Y ≡C+S+T       </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→I+G ≡ S+T</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→I≡S+</a:t>
            </a:r>
            <a:r>
              <a:rPr lang="zh-CN" altLang="en-US" sz="1399" dirty="0">
                <a:solidFill>
                  <a:srgbClr val="000000"/>
                </a:solidFill>
                <a:latin typeface="Garamond" panose="02020404030301010803" pitchFamily="18" charset="0"/>
                <a:ea typeface="SimSun" panose="02010600030101010101" pitchFamily="2" charset="-122"/>
              </a:rPr>
              <a:t>（</a:t>
            </a:r>
            <a:r>
              <a:rPr lang="en-US" altLang="zh-CN" sz="1399" dirty="0">
                <a:solidFill>
                  <a:srgbClr val="000000"/>
                </a:solidFill>
                <a:latin typeface="Garamond" panose="02020404030301010803" pitchFamily="18" charset="0"/>
                <a:ea typeface="SimSun" panose="02010600030101010101" pitchFamily="2" charset="-122"/>
              </a:rPr>
              <a:t>T</a:t>
            </a:r>
            <a:r>
              <a:rPr lang="zh-CN" altLang="en-US" sz="1399" dirty="0">
                <a:solidFill>
                  <a:srgbClr val="000000"/>
                </a:solidFill>
                <a:latin typeface="Garamond" panose="02020404030301010803" pitchFamily="18" charset="0"/>
                <a:ea typeface="SimSun" panose="02010600030101010101" pitchFamily="2" charset="-122"/>
              </a:rPr>
              <a:t>－</a:t>
            </a:r>
            <a:r>
              <a:rPr lang="en-US" altLang="zh-CN" sz="1399" dirty="0">
                <a:solidFill>
                  <a:srgbClr val="000000"/>
                </a:solidFill>
                <a:latin typeface="Garamond" panose="02020404030301010803" pitchFamily="18" charset="0"/>
                <a:ea typeface="SimSun" panose="02010600030101010101" pitchFamily="2" charset="-122"/>
              </a:rPr>
              <a:t>G</a:t>
            </a:r>
            <a:r>
              <a:rPr lang="zh-CN" altLang="en-US" sz="1399" dirty="0">
                <a:solidFill>
                  <a:srgbClr val="000000"/>
                </a:solidFill>
                <a:latin typeface="Garamond" panose="02020404030301010803" pitchFamily="18" charset="0"/>
                <a:ea typeface="SimSun" panose="02010600030101010101" pitchFamily="2" charset="-122"/>
              </a:rPr>
              <a:t>）</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私人储蓄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政府储蓄</a:t>
            </a: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C2FBA354-EB29-F149-D496-F726EC7A14D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91423775"/>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33</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四部门经济循环模型</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四部门经济（</a:t>
            </a:r>
            <a:r>
              <a:rPr lang="en" altLang="zh-CN" sz="1399" dirty="0">
                <a:solidFill>
                  <a:srgbClr val="000000"/>
                </a:solidFill>
                <a:latin typeface="Garamond" panose="02020404030301010803" pitchFamily="18" charset="0"/>
                <a:ea typeface="SimSun" panose="02010600030101010101" pitchFamily="2" charset="-122"/>
              </a:rPr>
              <a:t>four sector economy</a:t>
            </a:r>
            <a:r>
              <a:rPr lang="zh-CN" altLang="e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是指由厂商、居民户、政府和国外这四种经济单位所组成的经济。</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在这种经济中，国外的作用是：</a:t>
            </a: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作为国外生产要素的供给者</a:t>
            </a: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作为国内产品与劳务的需求者</a:t>
            </a: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BCC312BC-B5C5-4632-66EF-EC27434E26C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46551329"/>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34</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四部门经济的储蓄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总需求：</a:t>
            </a:r>
            <a:r>
              <a:rPr lang="en" altLang="zh-CN" sz="1399" dirty="0">
                <a:solidFill>
                  <a:srgbClr val="000000"/>
                </a:solidFill>
                <a:latin typeface="Garamond" panose="02020404030301010803" pitchFamily="18" charset="0"/>
                <a:ea typeface="SimSun" panose="02010600030101010101" pitchFamily="2" charset="-122"/>
              </a:rPr>
              <a:t>Y ≡ C+I+G+</a:t>
            </a:r>
            <a:r>
              <a:rPr lang="zh-CN" altLang="en" sz="1399" dirty="0">
                <a:solidFill>
                  <a:srgbClr val="FF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X</a:t>
            </a:r>
            <a:r>
              <a:rPr lang="zh-CN" altLang="en" sz="1399" dirty="0">
                <a:solidFill>
                  <a:srgbClr val="FF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M</a:t>
            </a:r>
            <a:r>
              <a:rPr lang="zh-CN" altLang="en" sz="1399" dirty="0">
                <a:solidFill>
                  <a:srgbClr val="FF0000"/>
                </a:solidFill>
                <a:latin typeface="Garamond" panose="02020404030301010803" pitchFamily="18" charset="0"/>
                <a:ea typeface="SimSun" panose="02010600030101010101" pitchFamily="2" charset="-122"/>
              </a:rPr>
              <a:t>）</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总供给：</a:t>
            </a:r>
            <a:r>
              <a:rPr lang="en" altLang="zh-CN" sz="1399" dirty="0">
                <a:solidFill>
                  <a:srgbClr val="000000"/>
                </a:solidFill>
                <a:latin typeface="Garamond" panose="02020404030301010803" pitchFamily="18" charset="0"/>
                <a:ea typeface="SimSun" panose="02010600030101010101" pitchFamily="2" charset="-122"/>
              </a:rPr>
              <a:t>Y ≡ </a:t>
            </a:r>
            <a:r>
              <a:rPr lang="en" altLang="zh-CN" sz="1399" dirty="0" err="1">
                <a:solidFill>
                  <a:srgbClr val="000000"/>
                </a:solidFill>
                <a:latin typeface="Garamond" panose="02020404030301010803" pitchFamily="18" charset="0"/>
                <a:ea typeface="SimSun" panose="02010600030101010101" pitchFamily="2" charset="-122"/>
              </a:rPr>
              <a:t>C+S+T+</a:t>
            </a:r>
            <a:r>
              <a:rPr lang="en" altLang="zh-CN" sz="1399" dirty="0" err="1">
                <a:solidFill>
                  <a:srgbClr val="FF0000"/>
                </a:solidFill>
                <a:latin typeface="Garamond" panose="02020404030301010803" pitchFamily="18" charset="0"/>
                <a:ea typeface="SimSun" panose="02010600030101010101" pitchFamily="2" charset="-122"/>
              </a:rPr>
              <a:t>Kr</a:t>
            </a:r>
            <a:endParaRPr lang="en" altLang="zh-CN" sz="1399" dirty="0">
              <a:solidFill>
                <a:srgbClr val="FF0000"/>
              </a:solidFill>
              <a:latin typeface="Garamond" panose="02020404030301010803" pitchFamily="18" charset="0"/>
              <a:ea typeface="SimSun" panose="02010600030101010101" pitchFamily="2" charset="-122"/>
            </a:endParaRPr>
          </a:p>
          <a:p>
            <a:pPr marL="172747" indent="-172747" defTabSz="913644">
              <a:defRPr/>
            </a:pPr>
            <a:r>
              <a:rPr lang="en" altLang="zh-CN" sz="1399" dirty="0">
                <a:solidFill>
                  <a:srgbClr val="000000"/>
                </a:solidFill>
                <a:latin typeface="Garamond" panose="02020404030301010803" pitchFamily="18" charset="0"/>
                <a:ea typeface="SimSun" panose="02010600030101010101" pitchFamily="2" charset="-122"/>
              </a:rPr>
              <a:t>   I+G +</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X-M</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err="1">
                <a:solidFill>
                  <a:srgbClr val="000000"/>
                </a:solidFill>
                <a:latin typeface="Garamond" panose="02020404030301010803" pitchFamily="18" charset="0"/>
                <a:ea typeface="SimSun" panose="02010600030101010101" pitchFamily="2" charset="-122"/>
              </a:rPr>
              <a:t>S+T+Kr</a:t>
            </a:r>
            <a:r>
              <a:rPr lang="en" altLang="zh-CN" sz="1399" dirty="0">
                <a:solidFill>
                  <a:srgbClr val="000000"/>
                </a:solidFill>
                <a:latin typeface="Garamond" panose="02020404030301010803" pitchFamily="18" charset="0"/>
                <a:ea typeface="SimSun" panose="02010600030101010101" pitchFamily="2" charset="-122"/>
              </a:rPr>
              <a:t> </a:t>
            </a:r>
          </a:p>
          <a:p>
            <a:pPr marL="172747" indent="-172747" defTabSz="913644">
              <a:defRPr/>
            </a:pPr>
            <a:r>
              <a:rPr lang="en" altLang="zh-CN" sz="1399" dirty="0">
                <a:solidFill>
                  <a:srgbClr val="000000"/>
                </a:solidFill>
                <a:latin typeface="Garamond" panose="02020404030301010803" pitchFamily="18" charset="0"/>
                <a:ea typeface="SimSun" panose="02010600030101010101" pitchFamily="2" charset="-122"/>
              </a:rPr>
              <a:t>   I ≡S+</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T-G</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[Kr</a:t>
            </a:r>
            <a:r>
              <a:rPr lang="en-US" altLang="zh-CN" sz="1399" dirty="0">
                <a:solidFill>
                  <a:srgbClr val="FF0000"/>
                </a:solidFill>
                <a:latin typeface="Garamond" panose="02020404030301010803" pitchFamily="18" charset="0"/>
                <a:ea typeface="SimSun" panose="02010600030101010101" pitchFamily="2" charset="-122"/>
              </a:rPr>
              <a:t>-(X-M)]</a:t>
            </a:r>
            <a:endParaRPr lang="zh-CN" altLang="en" sz="1399" dirty="0">
              <a:solidFill>
                <a:srgbClr val="FF0000"/>
              </a:solidFill>
              <a:latin typeface="Garamond" panose="02020404030301010803" pitchFamily="18" charset="0"/>
              <a:ea typeface="SimSun" panose="02010600030101010101" pitchFamily="2" charset="-122"/>
            </a:endParaRPr>
          </a:p>
          <a:p>
            <a:pPr marL="172747" indent="-172747" defTabSz="913644">
              <a:defRPr/>
            </a:pPr>
            <a:r>
              <a:rPr lang="zh-CN" altLang="en" sz="1399" dirty="0">
                <a:solidFill>
                  <a:srgbClr val="000000"/>
                </a:solidFill>
                <a:latin typeface="Garamond" panose="02020404030301010803" pitchFamily="18" charset="0"/>
                <a:ea typeface="SimSun" panose="02010600030101010101" pitchFamily="2" charset="-122"/>
              </a:rPr>
              <a:t>  </a:t>
            </a:r>
            <a:r>
              <a:rPr lang="zh-CN" altLang="en-US" sz="1210" dirty="0">
                <a:solidFill>
                  <a:srgbClr val="000000"/>
                </a:solidFill>
                <a:latin typeface="Garamond" panose="02020404030301010803" pitchFamily="18" charset="0"/>
                <a:ea typeface="KaiTi" panose="02010609060101010101" pitchFamily="49" charset="-122"/>
              </a:rPr>
              <a:t>其中：  </a:t>
            </a:r>
            <a:r>
              <a:rPr lang="en" altLang="zh-CN" sz="1210" dirty="0">
                <a:solidFill>
                  <a:srgbClr val="000000"/>
                </a:solidFill>
                <a:latin typeface="Garamond" panose="02020404030301010803" pitchFamily="18" charset="0"/>
                <a:ea typeface="KaiTi" panose="02010609060101010101" pitchFamily="49" charset="-122"/>
              </a:rPr>
              <a:t>S</a:t>
            </a:r>
            <a:r>
              <a:rPr lang="zh-CN" altLang="en-US" sz="1210" dirty="0">
                <a:solidFill>
                  <a:srgbClr val="000000"/>
                </a:solidFill>
                <a:latin typeface="Garamond" panose="02020404030301010803" pitchFamily="18" charset="0"/>
                <a:ea typeface="KaiTi" panose="02010609060101010101" pitchFamily="49" charset="-122"/>
              </a:rPr>
              <a:t>代表居民私人储蓄；（</a:t>
            </a:r>
            <a:r>
              <a:rPr lang="en" altLang="zh-CN" sz="1210" dirty="0">
                <a:solidFill>
                  <a:srgbClr val="000000"/>
                </a:solidFill>
                <a:latin typeface="Garamond" panose="02020404030301010803" pitchFamily="18" charset="0"/>
                <a:ea typeface="KaiTi" panose="02010609060101010101" pitchFamily="49" charset="-122"/>
              </a:rPr>
              <a:t>T</a:t>
            </a:r>
            <a:r>
              <a:rPr lang="zh-CN" altLang="en" sz="1210" dirty="0">
                <a:solidFill>
                  <a:srgbClr val="000000"/>
                </a:solidFill>
                <a:latin typeface="Garamond" panose="02020404030301010803" pitchFamily="18" charset="0"/>
                <a:ea typeface="KaiTi" panose="02010609060101010101" pitchFamily="49" charset="-122"/>
              </a:rPr>
              <a:t>－</a:t>
            </a:r>
            <a:r>
              <a:rPr lang="en" altLang="zh-CN" sz="1210" dirty="0">
                <a:solidFill>
                  <a:srgbClr val="000000"/>
                </a:solidFill>
                <a:latin typeface="Garamond" panose="02020404030301010803" pitchFamily="18" charset="0"/>
                <a:ea typeface="KaiTi" panose="02010609060101010101" pitchFamily="49" charset="-122"/>
              </a:rPr>
              <a:t>G</a:t>
            </a:r>
            <a:r>
              <a:rPr lang="zh-CN" altLang="en" sz="1210" dirty="0">
                <a:solidFill>
                  <a:srgbClr val="000000"/>
                </a:solidFill>
                <a:latin typeface="Garamond" panose="02020404030301010803" pitchFamily="18" charset="0"/>
                <a:ea typeface="KaiTi" panose="02010609060101010101" pitchFamily="49" charset="-122"/>
              </a:rPr>
              <a:t>）</a:t>
            </a:r>
            <a:r>
              <a:rPr lang="zh-CN" altLang="en-US" sz="1210" dirty="0">
                <a:solidFill>
                  <a:srgbClr val="000000"/>
                </a:solidFill>
                <a:latin typeface="Garamond" panose="02020404030301010803" pitchFamily="18" charset="0"/>
                <a:ea typeface="KaiTi" panose="02010609060101010101" pitchFamily="49" charset="-122"/>
              </a:rPr>
              <a:t>代表政府储蓄； </a:t>
            </a:r>
            <a:r>
              <a:rPr lang="en" altLang="zh-CN" sz="1210" dirty="0">
                <a:solidFill>
                  <a:srgbClr val="000000"/>
                </a:solidFill>
                <a:latin typeface="Garamond" panose="02020404030301010803" pitchFamily="18" charset="0"/>
                <a:ea typeface="KaiTi" panose="02010609060101010101" pitchFamily="49" charset="-122"/>
              </a:rPr>
              <a:t>Kr </a:t>
            </a:r>
            <a:r>
              <a:rPr lang="zh-CN" altLang="en" sz="1210" dirty="0">
                <a:solidFill>
                  <a:srgbClr val="000000"/>
                </a:solidFill>
                <a:latin typeface="Garamond" panose="02020404030301010803" pitchFamily="18" charset="0"/>
                <a:ea typeface="KaiTi" panose="02010609060101010101" pitchFamily="49" charset="-122"/>
              </a:rPr>
              <a:t>是</a:t>
            </a:r>
            <a:r>
              <a:rPr lang="zh-CN" altLang="en-US" sz="1210" dirty="0">
                <a:solidFill>
                  <a:srgbClr val="000000"/>
                </a:solidFill>
                <a:latin typeface="Garamond" panose="02020404030301010803" pitchFamily="18" charset="0"/>
                <a:ea typeface="KaiTi" panose="02010609060101010101" pitchFamily="49" charset="-122"/>
              </a:rPr>
              <a:t>要素净流入；</a:t>
            </a:r>
            <a:r>
              <a:rPr lang="en" altLang="zh-CN" sz="1210" dirty="0">
                <a:solidFill>
                  <a:srgbClr val="FF0000"/>
                </a:solidFill>
                <a:latin typeface="Garamond" panose="02020404030301010803" pitchFamily="18" charset="0"/>
                <a:ea typeface="SimSun" panose="02010600030101010101" pitchFamily="2" charset="-122"/>
              </a:rPr>
              <a:t>Kr</a:t>
            </a:r>
            <a:r>
              <a:rPr lang="en-US" altLang="zh-CN" sz="1210" dirty="0">
                <a:solidFill>
                  <a:srgbClr val="FF0000"/>
                </a:solidFill>
                <a:latin typeface="Garamond" panose="02020404030301010803" pitchFamily="18" charset="0"/>
                <a:ea typeface="SimSun" panose="02010600030101010101" pitchFamily="2" charset="-122"/>
              </a:rPr>
              <a:t>-(X-M)</a:t>
            </a:r>
            <a:r>
              <a:rPr lang="zh-CN" altLang="en-US" sz="1210" dirty="0">
                <a:solidFill>
                  <a:srgbClr val="000000"/>
                </a:solidFill>
                <a:latin typeface="Garamond" panose="02020404030301010803" pitchFamily="18" charset="0"/>
                <a:ea typeface="KaiTi" panose="02010609060101010101" pitchFamily="49" charset="-122"/>
              </a:rPr>
              <a:t>代表外国对本国的储蓄</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私人储蓄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政府储蓄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国外储蓄</a:t>
            </a: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E82138A3-AFDC-4BE2-CD15-F614A197EDD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439534272"/>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35119" y="1250660"/>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49426" y="1234800"/>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89917" y="618292"/>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2" name="文本框 1">
            <a:extLst>
              <a:ext uri="{FF2B5EF4-FFF2-40B4-BE49-F238E27FC236}">
                <a16:creationId xmlns:a16="http://schemas.microsoft.com/office/drawing/2014/main" id="{214EB552-41E9-EAB0-533D-D748796F6D3D}"/>
              </a:ext>
            </a:extLst>
          </p:cNvPr>
          <p:cNvSpPr txBox="1"/>
          <p:nvPr/>
        </p:nvSpPr>
        <p:spPr>
          <a:xfrm>
            <a:off x="247495" y="1375180"/>
            <a:ext cx="4236441" cy="348300"/>
          </a:xfrm>
          <a:prstGeom prst="rect">
            <a:avLst/>
          </a:prstGeom>
          <a:noFill/>
        </p:spPr>
        <p:txBody>
          <a:bodyPr wrap="square">
            <a:spAutoFit/>
          </a:bodyPr>
          <a:lstStyle/>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总收入是如何驱动总消费的？</a:t>
            </a:r>
            <a:endParaRPr lang="en-US" altLang="zh-CN" sz="1399" b="1" dirty="0">
              <a:solidFill>
                <a:srgbClr val="333399"/>
              </a:solidFill>
              <a:latin typeface="Garamond" panose="02020404030301010803" pitchFamily="18" charset="0"/>
              <a:ea typeface="KaiTi" panose="02010609060101010101" pitchFamily="49" charset="-122"/>
              <a:cs typeface="+mj-cs"/>
            </a:endParaRPr>
          </a:p>
        </p:txBody>
      </p:sp>
      <p:sp>
        <p:nvSpPr>
          <p:cNvPr id="4" name="object 94">
            <a:extLst>
              <a:ext uri="{FF2B5EF4-FFF2-40B4-BE49-F238E27FC236}">
                <a16:creationId xmlns:a16="http://schemas.microsoft.com/office/drawing/2014/main" id="{4875BD8C-AFDC-896C-3D5C-B151B0DFB7CB}"/>
              </a:ext>
            </a:extLst>
          </p:cNvPr>
          <p:cNvSpPr txBox="1"/>
          <p:nvPr/>
        </p:nvSpPr>
        <p:spPr>
          <a:xfrm>
            <a:off x="133790" y="681295"/>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2</a:t>
            </a:r>
            <a:r>
              <a:rPr lang="zh-CN" altLang="en-US" sz="1399" b="1" dirty="0">
                <a:solidFill>
                  <a:srgbClr val="333399"/>
                </a:solidFill>
                <a:latin typeface="Garamond" panose="02020404030301010803" pitchFamily="18" charset="0"/>
                <a:ea typeface="KaiTi" panose="02010609060101010101" pitchFamily="49" charset="-122"/>
                <a:cs typeface="+mj-cs"/>
              </a:rPr>
              <a:t>节 消费需求与储蓄</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Tree>
    <p:extLst>
      <p:ext uri="{BB962C8B-B14F-4D97-AF65-F5344CB8AC3E}">
        <p14:creationId xmlns:p14="http://schemas.microsoft.com/office/powerpoint/2010/main" val="4243567004"/>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36</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凯恩斯消费理论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6" name="Rectangle 3">
            <a:extLst>
              <a:ext uri="{FF2B5EF4-FFF2-40B4-BE49-F238E27FC236}">
                <a16:creationId xmlns:a16="http://schemas.microsoft.com/office/drawing/2014/main" id="{865B6715-8C44-6790-F2B1-5B2FBF6A61CB}"/>
              </a:ext>
            </a:extLst>
          </p:cNvPr>
          <p:cNvSpPr txBox="1">
            <a:spLocks noChangeArrowheads="1"/>
          </p:cNvSpPr>
          <p:nvPr/>
        </p:nvSpPr>
        <p:spPr>
          <a:xfrm>
            <a:off x="207971" y="577850"/>
            <a:ext cx="4240332" cy="2636639"/>
          </a:xfrm>
          <a:prstGeom prst="rect">
            <a:avLst/>
          </a:prstGeom>
        </p:spPr>
        <p:txBody>
          <a:bodyPr>
            <a:normAutofit/>
          </a:bodyPr>
          <a:lstStyle>
            <a:lvl1pPr marL="342616" indent="-342616" algn="l" rtl="0" eaLnBrk="0" fontAlgn="base" hangingPunct="0">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mn-lt"/>
                <a:ea typeface="+mn-ea"/>
                <a:cs typeface="+mn-cs"/>
              </a:defRPr>
            </a:lvl1pPr>
            <a:lvl2pPr marL="742335" indent="-285513" algn="l" rtl="0" eaLnBrk="0" fontAlgn="base" hangingPunct="0">
              <a:spcBef>
                <a:spcPct val="15000"/>
              </a:spcBef>
              <a:spcAft>
                <a:spcPct val="0"/>
              </a:spcAft>
              <a:buClr>
                <a:srgbClr val="996633"/>
              </a:buClr>
              <a:buSzPct val="120000"/>
              <a:buFont typeface="Wingdings" pitchFamily="2" charset="2"/>
              <a:buChar char="§"/>
              <a:defRPr sz="2697" kern="1200">
                <a:solidFill>
                  <a:schemeClr val="tx1"/>
                </a:solidFill>
                <a:latin typeface="+mn-lt"/>
                <a:ea typeface="+mn-ea"/>
                <a:cs typeface="+mn-cs"/>
              </a:defRPr>
            </a:lvl2pPr>
            <a:lvl3pPr marL="1142056" indent="-228411" algn="l" rtl="0" eaLnBrk="0" fontAlgn="base" hangingPunct="0">
              <a:spcBef>
                <a:spcPct val="15000"/>
              </a:spcBef>
              <a:spcAft>
                <a:spcPct val="0"/>
              </a:spcAft>
              <a:buClr>
                <a:srgbClr val="339966"/>
              </a:buClr>
              <a:buSzPct val="120000"/>
              <a:buFont typeface="Wingdings" pitchFamily="2" charset="2"/>
              <a:buChar char="§"/>
              <a:defRPr sz="2499" kern="1200">
                <a:solidFill>
                  <a:schemeClr val="tx1"/>
                </a:solidFill>
                <a:latin typeface="+mn-lt"/>
                <a:ea typeface="+mn-ea"/>
                <a:cs typeface="+mn-cs"/>
              </a:defRPr>
            </a:lvl3pPr>
            <a:lvl4pPr marL="1598877" indent="-228411" algn="l" rtl="0" eaLnBrk="0" fontAlgn="base" hangingPunct="0">
              <a:spcBef>
                <a:spcPct val="15000"/>
              </a:spcBef>
              <a:spcAft>
                <a:spcPct val="0"/>
              </a:spcAft>
              <a:buChar char="–"/>
              <a:defRPr sz="1998" kern="1200">
                <a:solidFill>
                  <a:schemeClr val="tx1"/>
                </a:solidFill>
                <a:latin typeface="+mn-lt"/>
                <a:ea typeface="+mn-ea"/>
                <a:cs typeface="+mn-cs"/>
              </a:defRPr>
            </a:lvl4pPr>
            <a:lvl5pPr marL="2055699" indent="-228411" algn="l" rtl="0" eaLnBrk="0" fontAlgn="base" hangingPunct="0">
              <a:spcBef>
                <a:spcPct val="20000"/>
              </a:spcBef>
              <a:spcAft>
                <a:spcPct val="0"/>
              </a:spcAft>
              <a:buChar char="»"/>
              <a:defRPr sz="1998" kern="1200">
                <a:solidFill>
                  <a:schemeClr val="tx1"/>
                </a:solidFill>
                <a:latin typeface="+mn-lt"/>
                <a:ea typeface="+mn-ea"/>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a:lstStyle>
          <a:p>
            <a:pPr defTabSz="461040">
              <a:buClr>
                <a:srgbClr val="002060"/>
              </a:buClr>
              <a:buFont typeface="Wingdings" pitchFamily="2" charset="2"/>
              <a:buChar char="u"/>
            </a:pPr>
            <a:r>
              <a:rPr lang="zh-CN" altLang="en-US" sz="1210" dirty="0">
                <a:latin typeface="Microsoft YaHei" panose="020B0503020204020204" pitchFamily="34" charset="-122"/>
                <a:ea typeface="Microsoft YaHei" panose="020B0503020204020204" pitchFamily="34" charset="-122"/>
              </a:rPr>
              <a:t>讨论：你认为消费需求与什么因素有关？</a:t>
            </a:r>
            <a:endParaRPr lang="en-US" altLang="zh-CN" sz="1210" dirty="0">
              <a:latin typeface="Microsoft YaHei" panose="020B0503020204020204" pitchFamily="34" charset="-122"/>
              <a:ea typeface="Microsoft YaHei" panose="020B0503020204020204" pitchFamily="34" charset="-122"/>
            </a:endParaRPr>
          </a:p>
          <a:p>
            <a:pPr defTabSz="461040">
              <a:buClr>
                <a:srgbClr val="002060"/>
              </a:buClr>
              <a:buFont typeface="Wingdings" pitchFamily="2" charset="2"/>
              <a:buChar char="u"/>
            </a:pPr>
            <a:endParaRPr lang="en-US" altLang="zh-CN" sz="1210" dirty="0">
              <a:latin typeface="Microsoft YaHei" panose="020B0503020204020204" pitchFamily="34" charset="-122"/>
              <a:ea typeface="Microsoft YaHei" panose="020B0503020204020204" pitchFamily="34" charset="-122"/>
            </a:endParaRPr>
          </a:p>
          <a:p>
            <a:pPr marL="0" indent="0" defTabSz="461040">
              <a:buClr>
                <a:srgbClr val="002060"/>
              </a:buClr>
              <a:buNone/>
            </a:pPr>
            <a:r>
              <a:rPr lang="zh-CN" altLang="en-US" sz="1008" dirty="0">
                <a:latin typeface="KaiTi" panose="02010609060101010101" pitchFamily="49" charset="-122"/>
                <a:ea typeface="KaiTi" panose="02010609060101010101" pitchFamily="49" charset="-122"/>
              </a:rPr>
              <a:t>提示：消费是指家庭除购买新住房之外用于物品和劳务的总支出</a:t>
            </a:r>
          </a:p>
          <a:p>
            <a:pPr marL="0" indent="0" defTabSz="461040">
              <a:buClr>
                <a:srgbClr val="002060"/>
              </a:buClr>
              <a:buNone/>
            </a:pPr>
            <a:endParaRPr lang="en-US" altLang="zh-CN" sz="1008" dirty="0">
              <a:latin typeface="KaiTi" panose="02010609060101010101" pitchFamily="49" charset="-122"/>
              <a:ea typeface="KaiTi" panose="02010609060101010101" pitchFamily="49" charset="-122"/>
            </a:endParaRPr>
          </a:p>
          <a:p>
            <a:pPr defTabSz="461040">
              <a:buNone/>
            </a:pPr>
            <a:r>
              <a:rPr lang="en-US" altLang="zh-CN" sz="1210" dirty="0">
                <a:latin typeface="SimSun" panose="02010600030101010101" pitchFamily="2" charset="-122"/>
                <a:ea typeface="SimSun" panose="02010600030101010101" pitchFamily="2" charset="-122"/>
              </a:rPr>
              <a:t>              </a:t>
            </a:r>
          </a:p>
        </p:txBody>
      </p:sp>
      <p:sp>
        <p:nvSpPr>
          <p:cNvPr id="2" name="页脚占位符 1">
            <a:extLst>
              <a:ext uri="{FF2B5EF4-FFF2-40B4-BE49-F238E27FC236}">
                <a16:creationId xmlns:a16="http://schemas.microsoft.com/office/drawing/2014/main" id="{5786230B-2B80-C448-0F70-8BAF78435EB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16322476"/>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37</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消费函数</a:t>
            </a:r>
            <a:r>
              <a:rPr kumimoji="1" lang="en" altLang="zh-CN" b="0" dirty="0">
                <a:latin typeface="Microsoft YaHei" panose="020B0503020204020204" pitchFamily="34" charset="-122"/>
                <a:ea typeface="Microsoft YaHei" panose="020B0503020204020204" pitchFamily="34" charset="-122"/>
              </a:rPr>
              <a:t>consumption function</a:t>
            </a:r>
            <a:endParaRPr kumimoji="1" lang="zh-CN" altLang="en-US" b="0" dirty="0">
              <a:latin typeface="Microsoft YaHei" panose="020B0503020204020204" pitchFamily="34" charset="-122"/>
              <a:ea typeface="Microsoft YaHei" panose="020B0503020204020204" pitchFamily="34"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424EDBF-0FFB-6024-1A57-071919C5FAB7}"/>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defRPr/>
                </a:pPr>
                <a:r>
                  <a:rPr lang="zh-CN" altLang="en-US" sz="1210" dirty="0">
                    <a:solidFill>
                      <a:srgbClr val="000000"/>
                    </a:solidFill>
                    <a:latin typeface="Garamond" panose="02020404030301010803" pitchFamily="18" charset="0"/>
                    <a:ea typeface="SimSun" panose="02010600030101010101" pitchFamily="2" charset="-122"/>
                  </a:rPr>
                  <a:t>凯恩斯认为：</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消费依赖于个人可支配收入；</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消费和可支配收入呈正相关；</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当可支配收入变化</a:t>
                </a:r>
                <a:r>
                  <a:rPr lang="en-US" altLang="zh-CN" sz="1210" dirty="0">
                    <a:solidFill>
                      <a:srgbClr val="000000"/>
                    </a:solidFill>
                    <a:latin typeface="Garamond" panose="02020404030301010803" pitchFamily="18" charset="0"/>
                    <a:ea typeface="KaiTi" panose="02010609060101010101" pitchFamily="49" charset="-122"/>
                  </a:rPr>
                  <a:t>1</a:t>
                </a:r>
                <a:r>
                  <a:rPr lang="zh-CN" altLang="en-US" sz="1210" dirty="0">
                    <a:solidFill>
                      <a:srgbClr val="000000"/>
                    </a:solidFill>
                    <a:latin typeface="Garamond" panose="02020404030301010803" pitchFamily="18" charset="0"/>
                    <a:ea typeface="KaiTi" panose="02010609060101010101" pitchFamily="49" charset="-122"/>
                  </a:rPr>
                  <a:t>个单位时，消费的变化量要小于</a:t>
                </a:r>
                <a:r>
                  <a:rPr lang="en-US" altLang="zh-CN" sz="1210" dirty="0">
                    <a:solidFill>
                      <a:srgbClr val="000000"/>
                    </a:solidFill>
                    <a:latin typeface="Garamond" panose="02020404030301010803" pitchFamily="18" charset="0"/>
                    <a:ea typeface="KaiTi" panose="02010609060101010101" pitchFamily="49" charset="-122"/>
                  </a:rPr>
                  <a:t>1</a:t>
                </a:r>
                <a:r>
                  <a:rPr lang="zh-CN" altLang="en-US" sz="1210" dirty="0">
                    <a:solidFill>
                      <a:srgbClr val="000000"/>
                    </a:solidFill>
                    <a:latin typeface="Garamond" panose="02020404030301010803" pitchFamily="18" charset="0"/>
                    <a:ea typeface="KaiTi" panose="02010609060101010101" pitchFamily="49" charset="-122"/>
                  </a:rPr>
                  <a:t>个单位</a:t>
                </a:r>
                <a:endParaRPr lang="en-US" altLang="zh-CN" sz="1210" dirty="0">
                  <a:solidFill>
                    <a:srgbClr val="000000"/>
                  </a:solidFill>
                  <a:latin typeface="Garamond" panose="02020404030301010803" pitchFamily="18" charset="0"/>
                  <a:ea typeface="KaiTi" panose="02010609060101010101" pitchFamily="49" charset="-122"/>
                </a:endParaRPr>
              </a:p>
              <a:p>
                <a:pPr marL="172747" indent="-172747" defTabSz="913644">
                  <a:defRPr/>
                </a:pPr>
                <a:endParaRPr lang="zh-CN" altLang="en-US" sz="1210" dirty="0">
                  <a:solidFill>
                    <a:srgbClr val="000000"/>
                  </a:solidFill>
                  <a:latin typeface="Garamond" panose="02020404030301010803" pitchFamily="18" charset="0"/>
                  <a:ea typeface="KaiTi" panose="02010609060101010101" pitchFamily="49" charset="-122"/>
                </a:endParaRPr>
              </a:p>
              <a:p>
                <a:pPr marL="0" indent="0">
                  <a:buNone/>
                </a:pPr>
                <a:r>
                  <a:rPr lang="zh-CN" altLang="en-US" sz="1210" dirty="0">
                    <a:latin typeface="SimSun" panose="02010600030101010101" pitchFamily="2" charset="-122"/>
                    <a:ea typeface="SimSun" panose="02010600030101010101" pitchFamily="2" charset="-122"/>
                  </a:rPr>
                  <a:t>用公式表达为</a:t>
                </a:r>
                <a:r>
                  <a:rPr lang="zh-CN" altLang="en-US" sz="1210" dirty="0"/>
                  <a:t>：</a:t>
                </a:r>
                <a14:m>
                  <m:oMath xmlns:m="http://schemas.openxmlformats.org/officeDocument/2006/math">
                    <m:r>
                      <a:rPr lang="en-US" altLang="zh-CN" sz="1210" i="1">
                        <a:latin typeface="Cambria Math" panose="02040503050406030204" pitchFamily="18" charset="0"/>
                      </a:rPr>
                      <m:t>𝑐</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&gt;0, 0&lt;</m:t>
                    </m:r>
                    <m:r>
                      <a:rPr lang="zh-CN" altLang="en-US" sz="1210" i="1">
                        <a:latin typeface="Cambria Math" panose="02040503050406030204" pitchFamily="18" charset="0"/>
                      </a:rPr>
                      <m:t>𝛽</m:t>
                    </m:r>
                    <m:r>
                      <a:rPr lang="en-US" altLang="zh-CN" sz="1210" i="1">
                        <a:latin typeface="Cambria Math" panose="02040503050406030204" pitchFamily="18" charset="0"/>
                      </a:rPr>
                      <m:t>&lt;1)</m:t>
                    </m:r>
                  </m:oMath>
                </a14:m>
                <a:endParaRPr lang="en-US" altLang="zh-CN" sz="1210" dirty="0">
                  <a:latin typeface="SimSun" panose="02010600030101010101" pitchFamily="2" charset="-122"/>
                  <a:ea typeface="SimSun" panose="02010600030101010101" pitchFamily="2" charset="-122"/>
                </a:endParaRPr>
              </a:p>
              <a:p>
                <a:r>
                  <a:rPr lang="zh-CN" altLang="en-US" sz="908" dirty="0">
                    <a:latin typeface="Garamond" panose="02020404030301010803" pitchFamily="18" charset="0"/>
                    <a:ea typeface="KaiTi" panose="02010609060101010101" pitchFamily="49" charset="-122"/>
                  </a:rPr>
                  <a:t>其中，</a:t>
                </a:r>
                <a:r>
                  <a:rPr lang="en-US" altLang="zh-CN" sz="908" dirty="0">
                    <a:latin typeface="Garamond" panose="02020404030301010803" pitchFamily="18" charset="0"/>
                    <a:ea typeface="KaiTi" panose="02010609060101010101" pitchFamily="49" charset="-122"/>
                  </a:rPr>
                  <a:t> </a:t>
                </a:r>
                <a14:m>
                  <m:oMath xmlns:m="http://schemas.openxmlformats.org/officeDocument/2006/math">
                    <m:r>
                      <a:rPr lang="en-US" altLang="zh-CN" sz="908" i="1">
                        <a:latin typeface="Cambria Math" panose="02040503050406030204" pitchFamily="18" charset="0"/>
                      </a:rPr>
                      <m:t>𝑐</m:t>
                    </m:r>
                  </m:oMath>
                </a14:m>
                <a:r>
                  <a:rPr lang="zh-CN" altLang="en-US" sz="908" dirty="0">
                    <a:latin typeface="Garamond" panose="02020404030301010803" pitchFamily="18" charset="0"/>
                    <a:ea typeface="KaiTi" panose="02010609060101010101" pitchFamily="49" charset="-122"/>
                  </a:rPr>
                  <a:t>表示消费，它代表着计划消费量或计划消费支出；</a:t>
                </a:r>
                <a14:m>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𝑑</m:t>
                        </m:r>
                      </m:sub>
                    </m:sSub>
                    <m:r>
                      <a:rPr lang="zh-CN" altLang="en-US" sz="908" i="1">
                        <a:latin typeface="Cambria Math" panose="02040503050406030204" pitchFamily="18" charset="0"/>
                      </a:rPr>
                      <m:t>代表</m:t>
                    </m:r>
                  </m:oMath>
                </a14:m>
                <a:r>
                  <a:rPr lang="zh-CN" altLang="en-US" sz="908" dirty="0">
                    <a:latin typeface="Garamond" panose="02020404030301010803" pitchFamily="18" charset="0"/>
                    <a:ea typeface="KaiTi" panose="02010609060101010101" pitchFamily="49" charset="-122"/>
                  </a:rPr>
                  <a:t>（个人）可支配收入；</a:t>
                </a:r>
                <a14:m>
                  <m:oMath xmlns:m="http://schemas.openxmlformats.org/officeDocument/2006/math">
                    <m:r>
                      <a:rPr lang="zh-CN" altLang="en-US" sz="908" i="1">
                        <a:latin typeface="Cambria Math" panose="02040503050406030204" pitchFamily="18" charset="0"/>
                      </a:rPr>
                      <m:t>𝛼</m:t>
                    </m:r>
                  </m:oMath>
                </a14:m>
                <a:r>
                  <a:rPr lang="zh-CN" altLang="en-US" sz="908" dirty="0">
                    <a:latin typeface="Garamond" panose="02020404030301010803" pitchFamily="18" charset="0"/>
                    <a:ea typeface="KaiTi" panose="02010609060101010101" pitchFamily="49" charset="-122"/>
                  </a:rPr>
                  <a:t>代表</a:t>
                </a:r>
                <a:r>
                  <a:rPr lang="zh-CN" altLang="en-US" sz="908" b="1" dirty="0">
                    <a:solidFill>
                      <a:srgbClr val="FF0000"/>
                    </a:solidFill>
                    <a:latin typeface="Garamond" panose="02020404030301010803" pitchFamily="18" charset="0"/>
                    <a:ea typeface="KaiTi" panose="02010609060101010101" pitchFamily="49" charset="-122"/>
                  </a:rPr>
                  <a:t>自发性消费</a:t>
                </a:r>
                <a:r>
                  <a:rPr lang="zh-CN" altLang="en-US" sz="908" dirty="0">
                    <a:latin typeface="Garamond" panose="02020404030301010803" pitchFamily="18" charset="0"/>
                    <a:ea typeface="KaiTi" panose="02010609060101010101" pitchFamily="49" charset="-122"/>
                  </a:rPr>
                  <a:t>；</a:t>
                </a:r>
                <a14:m>
                  <m:oMath xmlns:m="http://schemas.openxmlformats.org/officeDocument/2006/math">
                    <m:r>
                      <a:rPr lang="zh-CN" altLang="en-US" sz="908" i="1">
                        <a:latin typeface="Cambria Math" panose="02040503050406030204" pitchFamily="18" charset="0"/>
                      </a:rPr>
                      <m:t>𝛽</m:t>
                    </m:r>
                  </m:oMath>
                </a14:m>
                <a:r>
                  <a:rPr lang="zh-CN" altLang="en-US" sz="908" dirty="0">
                    <a:latin typeface="Garamond" panose="02020404030301010803" pitchFamily="18" charset="0"/>
                    <a:ea typeface="KaiTi" panose="02010609060101010101" pitchFamily="49" charset="-122"/>
                  </a:rPr>
                  <a:t>是边际消费倾向；</a:t>
                </a:r>
                <a14:m>
                  <m:oMath xmlns:m="http://schemas.openxmlformats.org/officeDocument/2006/math">
                    <m:r>
                      <a:rPr lang="zh-CN" altLang="en-US" sz="908" i="1">
                        <a:latin typeface="Cambria Math" panose="02040503050406030204" pitchFamily="18" charset="0"/>
                      </a:rPr>
                      <m:t>𝛽</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𝑑</m:t>
                        </m:r>
                      </m:sub>
                    </m:sSub>
                    <m:r>
                      <a:rPr lang="en-US" altLang="zh-CN" sz="908" i="1">
                        <a:latin typeface="Cambria Math" panose="02040503050406030204" pitchFamily="18" charset="0"/>
                      </a:rPr>
                      <m:t> </m:t>
                    </m:r>
                  </m:oMath>
                </a14:m>
                <a:r>
                  <a:rPr lang="zh-CN" altLang="en-US" sz="908" dirty="0">
                    <a:latin typeface="Garamond" panose="02020404030301010803" pitchFamily="18" charset="0"/>
                    <a:ea typeface="KaiTi" panose="02010609060101010101" pitchFamily="49" charset="-122"/>
                  </a:rPr>
                  <a:t>是</a:t>
                </a:r>
                <a:r>
                  <a:rPr lang="zh-CN" altLang="en-US" sz="908" b="1" dirty="0">
                    <a:solidFill>
                      <a:srgbClr val="FF0000"/>
                    </a:solidFill>
                    <a:latin typeface="Garamond" panose="02020404030301010803" pitchFamily="18" charset="0"/>
                    <a:ea typeface="KaiTi" panose="02010609060101010101" pitchFamily="49" charset="-122"/>
                  </a:rPr>
                  <a:t>引致消费</a:t>
                </a:r>
                <a:r>
                  <a:rPr lang="zh-CN" altLang="en-US" sz="908" dirty="0">
                    <a:latin typeface="Garamond" panose="02020404030301010803" pitchFamily="18" charset="0"/>
                    <a:ea typeface="KaiTi" panose="02010609060101010101" pitchFamily="49" charset="-122"/>
                  </a:rPr>
                  <a:t>。</a:t>
                </a:r>
                <a:endParaRPr lang="zh-CN" altLang="en-US" sz="1210" dirty="0">
                  <a:solidFill>
                    <a:srgbClr val="000000"/>
                  </a:solidFill>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A424EDBF-0FFB-6024-1A57-071919C5FAB7}"/>
                  </a:ext>
                </a:extLst>
              </p:cNvPr>
              <p:cNvSpPr txBox="1">
                <a:spLocks noRot="1" noChangeAspect="1" noMove="1" noResize="1" noEditPoints="1" noAdjustHandles="1" noChangeArrowheads="1" noChangeShapeType="1" noTextEdit="1"/>
              </p:cNvSpPr>
              <p:nvPr/>
            </p:nvSpPr>
            <p:spPr>
              <a:xfrm>
                <a:off x="225756" y="589982"/>
                <a:ext cx="3972563" cy="2435348"/>
              </a:xfrm>
              <a:prstGeom prst="rect">
                <a:avLst/>
              </a:prstGeom>
              <a:blipFill>
                <a:blip r:embed="rId3"/>
                <a:stretch>
                  <a:fillRect l="-318" t="-518"/>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76135776-B3D7-B0FB-4695-62BAF380E2D0}"/>
              </a:ext>
            </a:extLst>
          </p:cNvPr>
          <p:cNvSpPr/>
          <p:nvPr/>
        </p:nvSpPr>
        <p:spPr>
          <a:xfrm>
            <a:off x="909888" y="1135915"/>
            <a:ext cx="782504"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5" name="矩形 4">
            <a:extLst>
              <a:ext uri="{FF2B5EF4-FFF2-40B4-BE49-F238E27FC236}">
                <a16:creationId xmlns:a16="http://schemas.microsoft.com/office/drawing/2014/main" id="{FB503A6D-C5D6-C5C9-EC7D-851EF42A2DE3}"/>
              </a:ext>
            </a:extLst>
          </p:cNvPr>
          <p:cNvSpPr/>
          <p:nvPr/>
        </p:nvSpPr>
        <p:spPr>
          <a:xfrm>
            <a:off x="1602343" y="2177231"/>
            <a:ext cx="150708"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7" name="矩形 6">
            <a:extLst>
              <a:ext uri="{FF2B5EF4-FFF2-40B4-BE49-F238E27FC236}">
                <a16:creationId xmlns:a16="http://schemas.microsoft.com/office/drawing/2014/main" id="{8DA578AC-1FCA-0CE3-98D8-C26F2124C05D}"/>
              </a:ext>
            </a:extLst>
          </p:cNvPr>
          <p:cNvSpPr/>
          <p:nvPr/>
        </p:nvSpPr>
        <p:spPr>
          <a:xfrm>
            <a:off x="1846931" y="2177231"/>
            <a:ext cx="150708"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6" name="页脚占位符 1">
            <a:extLst>
              <a:ext uri="{FF2B5EF4-FFF2-40B4-BE49-F238E27FC236}">
                <a16:creationId xmlns:a16="http://schemas.microsoft.com/office/drawing/2014/main" id="{D5C944F6-D723-C5F0-0A00-F40EB87EBA0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316242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38</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消费函数</a:t>
            </a:r>
            <a:r>
              <a:rPr kumimoji="1" lang="en" altLang="zh-CN" b="0" dirty="0">
                <a:latin typeface="Microsoft YaHei" panose="020B0503020204020204" pitchFamily="34" charset="-122"/>
                <a:ea typeface="Microsoft YaHei" panose="020B0503020204020204" pitchFamily="34" charset="-122"/>
              </a:rPr>
              <a:t>consumption function</a:t>
            </a:r>
            <a:endParaRPr kumimoji="1" lang="zh-CN" altLang="en-US" b="0" dirty="0">
              <a:latin typeface="Microsoft YaHei" panose="020B0503020204020204" pitchFamily="34" charset="-122"/>
              <a:ea typeface="Microsoft YaHei" panose="020B0503020204020204" pitchFamily="34"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424EDBF-0FFB-6024-1A57-071919C5FAB7}"/>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b="1" dirty="0">
                    <a:solidFill>
                      <a:srgbClr val="000000"/>
                    </a:solidFill>
                    <a:latin typeface="Garamond" panose="02020404030301010803" pitchFamily="18" charset="0"/>
                    <a:ea typeface="SimSun" panose="02010600030101010101" pitchFamily="2" charset="-122"/>
                  </a:rPr>
                  <a:t>边际消费倾向</a:t>
                </a:r>
                <a:r>
                  <a:rPr lang="en-US" altLang="zh-CN" sz="1399" dirty="0">
                    <a:solidFill>
                      <a:srgbClr val="000000"/>
                    </a:solidFill>
                    <a:latin typeface="Garamond" panose="02020404030301010803" pitchFamily="18" charset="0"/>
                    <a:ea typeface="SimSun" panose="02010600030101010101" pitchFamily="2" charset="-122"/>
                  </a:rPr>
                  <a:t>(marginal propensity to consume, MPC)</a:t>
                </a:r>
                <a:r>
                  <a:rPr lang="zh-CN" altLang="en-US" sz="1399" dirty="0">
                    <a:solidFill>
                      <a:srgbClr val="000000"/>
                    </a:solidFill>
                    <a:latin typeface="Garamond" panose="02020404030301010803" pitchFamily="18" charset="0"/>
                    <a:ea typeface="SimSun" panose="02010600030101010101" pitchFamily="2" charset="-122"/>
                  </a:rPr>
                  <a:t>是指收入每增加一个单位所引起的消费的增加量。</a:t>
                </a:r>
              </a:p>
              <a:p>
                <a:pPr marL="172747" indent="-172747" defTabSz="913644">
                  <a:defRPr/>
                </a:pPr>
                <a14:m>
                  <m:oMath xmlns:m="http://schemas.openxmlformats.org/officeDocument/2006/math">
                    <m:r>
                      <a:rPr lang="zh-CN" altLang="en-US" sz="1399" i="1" dirty="0">
                        <a:solidFill>
                          <a:srgbClr val="000000"/>
                        </a:solidFill>
                        <a:latin typeface="Cambria Math" panose="02040503050406030204" pitchFamily="18" charset="0"/>
                        <a:ea typeface="SimSun" panose="02010600030101010101" pitchFamily="2" charset="-122"/>
                      </a:rPr>
                      <m:t>𝑀𝑃𝐶</m:t>
                    </m:r>
                    <m:r>
                      <a:rPr lang="en-US" altLang="zh-CN" sz="1399" i="1" dirty="0">
                        <a:solidFill>
                          <a:srgbClr val="000000"/>
                        </a:solidFill>
                        <a:latin typeface="Cambria Math" panose="02040503050406030204" pitchFamily="18" charset="0"/>
                        <a:ea typeface="SimSun" panose="02010600030101010101" pitchFamily="2" charset="-122"/>
                      </a:rPr>
                      <m:t>=∆</m:t>
                    </m:r>
                    <m:r>
                      <a:rPr lang="en-US" altLang="zh-CN" sz="1399" i="1" dirty="0">
                        <a:solidFill>
                          <a:srgbClr val="000000"/>
                        </a:solidFill>
                        <a:latin typeface="Cambria Math" panose="02040503050406030204" pitchFamily="18" charset="0"/>
                        <a:ea typeface="SimSun" panose="02010600030101010101" pitchFamily="2" charset="-122"/>
                      </a:rPr>
                      <m:t>𝑐</m:t>
                    </m:r>
                    <m:r>
                      <a:rPr lang="en-US" altLang="zh-CN" sz="1399" i="1" dirty="0">
                        <a:solidFill>
                          <a:srgbClr val="000000"/>
                        </a:solidFill>
                        <a:latin typeface="Cambria Math" panose="02040503050406030204" pitchFamily="18" charset="0"/>
                        <a:ea typeface="SimSun" panose="02010600030101010101" pitchFamily="2" charset="-122"/>
                      </a:rPr>
                      <m:t>/∆</m:t>
                    </m:r>
                    <m:sSub>
                      <m:sSubPr>
                        <m:ctrlPr>
                          <a:rPr lang="en-US" altLang="zh-CN" sz="1399" i="1" dirty="0">
                            <a:solidFill>
                              <a:srgbClr val="000000"/>
                            </a:solidFill>
                            <a:latin typeface="Cambria Math" panose="02040503050406030204" pitchFamily="18" charset="0"/>
                            <a:ea typeface="SimSun" panose="02010600030101010101" pitchFamily="2" charset="-122"/>
                          </a:rPr>
                        </m:ctrlPr>
                      </m:sSubPr>
                      <m:e>
                        <m:r>
                          <a:rPr lang="en-US" altLang="zh-CN" sz="1399" i="1" dirty="0">
                            <a:solidFill>
                              <a:srgbClr val="000000"/>
                            </a:solidFill>
                            <a:latin typeface="Cambria Math" panose="02040503050406030204" pitchFamily="18" charset="0"/>
                            <a:ea typeface="SimSun" panose="02010600030101010101" pitchFamily="2" charset="-122"/>
                          </a:rPr>
                          <m:t>𝑦</m:t>
                        </m:r>
                      </m:e>
                      <m:sub>
                        <m:r>
                          <a:rPr lang="en-US" altLang="zh-CN" sz="1399" i="1" dirty="0">
                            <a:solidFill>
                              <a:srgbClr val="000000"/>
                            </a:solidFill>
                            <a:latin typeface="Cambria Math" panose="02040503050406030204" pitchFamily="18" charset="0"/>
                            <a:ea typeface="SimSun" panose="02010600030101010101" pitchFamily="2" charset="-122"/>
                          </a:rPr>
                          <m:t>𝑑</m:t>
                        </m:r>
                      </m:sub>
                    </m:sSub>
                  </m:oMath>
                </a14:m>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r>
                  <a:rPr lang="zh-CN" altLang="en-US" sz="1399" b="1" dirty="0">
                    <a:solidFill>
                      <a:srgbClr val="000000"/>
                    </a:solidFill>
                    <a:latin typeface="Garamond" panose="02020404030301010803" pitchFamily="18" charset="0"/>
                    <a:ea typeface="SimSun" panose="02010600030101010101" pitchFamily="2" charset="-122"/>
                  </a:rPr>
                  <a:t>平均消费倾向</a:t>
                </a:r>
                <a:r>
                  <a:rPr lang="en-US" altLang="zh-CN" sz="1399" dirty="0">
                    <a:solidFill>
                      <a:srgbClr val="000000"/>
                    </a:solidFill>
                    <a:latin typeface="Garamond" panose="02020404030301010803" pitchFamily="18" charset="0"/>
                    <a:ea typeface="SimSun" panose="02010600030101010101" pitchFamily="2" charset="-122"/>
                  </a:rPr>
                  <a:t>(average propensity to consume, APC)</a:t>
                </a:r>
                <a:r>
                  <a:rPr lang="zh-CN" altLang="en-US" sz="1399" dirty="0">
                    <a:solidFill>
                      <a:srgbClr val="000000"/>
                    </a:solidFill>
                    <a:latin typeface="Garamond" panose="02020404030301010803" pitchFamily="18" charset="0"/>
                    <a:ea typeface="SimSun" panose="02010600030101010101" pitchFamily="2" charset="-122"/>
                  </a:rPr>
                  <a:t>是指消费总量与可支配收入总量之比。</a:t>
                </a:r>
              </a:p>
              <a:p>
                <a:pPr marL="172747" indent="-172747" defTabSz="913644">
                  <a:defRPr/>
                </a:pPr>
                <a14:m>
                  <m:oMath xmlns:m="http://schemas.openxmlformats.org/officeDocument/2006/math">
                    <m:r>
                      <a:rPr lang="zh-CN" altLang="en-US" sz="1399" i="1" dirty="0">
                        <a:solidFill>
                          <a:srgbClr val="000000"/>
                        </a:solidFill>
                        <a:latin typeface="Cambria Math" panose="02040503050406030204" pitchFamily="18" charset="0"/>
                        <a:ea typeface="SimSun" panose="02010600030101010101" pitchFamily="2" charset="-122"/>
                      </a:rPr>
                      <m:t>𝐴𝑃𝐶</m:t>
                    </m:r>
                    <m:r>
                      <a:rPr lang="en-US" altLang="zh-CN" sz="1399" i="1" dirty="0">
                        <a:solidFill>
                          <a:srgbClr val="000000"/>
                        </a:solidFill>
                        <a:latin typeface="Cambria Math" panose="02040503050406030204" pitchFamily="18" charset="0"/>
                        <a:ea typeface="SimSun" panose="02010600030101010101" pitchFamily="2" charset="-122"/>
                      </a:rPr>
                      <m:t>=</m:t>
                    </m:r>
                    <m:r>
                      <a:rPr lang="en-US" altLang="zh-CN" sz="1399" i="1" dirty="0">
                        <a:solidFill>
                          <a:srgbClr val="000000"/>
                        </a:solidFill>
                        <a:latin typeface="Cambria Math" panose="02040503050406030204" pitchFamily="18" charset="0"/>
                        <a:ea typeface="SimSun" panose="02010600030101010101" pitchFamily="2" charset="-122"/>
                      </a:rPr>
                      <m:t>𝑐</m:t>
                    </m:r>
                    <m:r>
                      <a:rPr lang="en-US" altLang="zh-CN" sz="1399" i="1" dirty="0">
                        <a:solidFill>
                          <a:srgbClr val="000000"/>
                        </a:solidFill>
                        <a:latin typeface="Cambria Math" panose="02040503050406030204" pitchFamily="18" charset="0"/>
                        <a:ea typeface="SimSun" panose="02010600030101010101" pitchFamily="2" charset="-122"/>
                      </a:rPr>
                      <m:t>/</m:t>
                    </m:r>
                    <m:sSub>
                      <m:sSubPr>
                        <m:ctrlPr>
                          <a:rPr lang="en-US" altLang="zh-CN" sz="1399" i="1" dirty="0">
                            <a:solidFill>
                              <a:srgbClr val="000000"/>
                            </a:solidFill>
                            <a:latin typeface="Cambria Math" panose="02040503050406030204" pitchFamily="18" charset="0"/>
                            <a:ea typeface="SimSun" panose="02010600030101010101" pitchFamily="2" charset="-122"/>
                          </a:rPr>
                        </m:ctrlPr>
                      </m:sSubPr>
                      <m:e>
                        <m:r>
                          <a:rPr lang="en-US" altLang="zh-CN" sz="1399" i="1" dirty="0">
                            <a:solidFill>
                              <a:srgbClr val="000000"/>
                            </a:solidFill>
                            <a:latin typeface="Cambria Math" panose="02040503050406030204" pitchFamily="18" charset="0"/>
                            <a:ea typeface="SimSun" panose="02010600030101010101" pitchFamily="2" charset="-122"/>
                          </a:rPr>
                          <m:t>𝑦</m:t>
                        </m:r>
                      </m:e>
                      <m:sub>
                        <m:r>
                          <a:rPr lang="en-US" altLang="zh-CN" sz="1399" i="1" dirty="0">
                            <a:solidFill>
                              <a:srgbClr val="000000"/>
                            </a:solidFill>
                            <a:latin typeface="Cambria Math" panose="02040503050406030204" pitchFamily="18" charset="0"/>
                            <a:ea typeface="SimSun" panose="02010600030101010101" pitchFamily="2" charset="-122"/>
                          </a:rPr>
                          <m:t>𝑑</m:t>
                        </m:r>
                      </m:sub>
                    </m:sSub>
                  </m:oMath>
                </a14:m>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A424EDBF-0FFB-6024-1A57-071919C5FAB7}"/>
                  </a:ext>
                </a:extLst>
              </p:cNvPr>
              <p:cNvSpPr txBox="1">
                <a:spLocks noRot="1" noChangeAspect="1" noMove="1" noResize="1" noEditPoints="1" noAdjustHandles="1" noChangeArrowheads="1" noChangeShapeType="1" noTextEdit="1"/>
              </p:cNvSpPr>
              <p:nvPr/>
            </p:nvSpPr>
            <p:spPr>
              <a:xfrm>
                <a:off x="225756" y="589982"/>
                <a:ext cx="3972563" cy="2435348"/>
              </a:xfrm>
              <a:prstGeom prst="rect">
                <a:avLst/>
              </a:prstGeom>
              <a:blipFill>
                <a:blip r:embed="rId3"/>
                <a:stretch>
                  <a:fillRect l="-637" t="-1554" r="-318"/>
                </a:stretch>
              </a:blipFill>
            </p:spPr>
            <p:txBody>
              <a:bodyPr/>
              <a:lstStyle/>
              <a:p>
                <a:r>
                  <a:rPr lang="zh-CN" altLang="en-US">
                    <a:noFill/>
                  </a:rPr>
                  <a:t> </a:t>
                </a:r>
              </a:p>
            </p:txBody>
          </p:sp>
        </mc:Fallback>
      </mc:AlternateContent>
      <p:sp>
        <p:nvSpPr>
          <p:cNvPr id="3" name="页脚占位符 1">
            <a:extLst>
              <a:ext uri="{FF2B5EF4-FFF2-40B4-BE49-F238E27FC236}">
                <a16:creationId xmlns:a16="http://schemas.microsoft.com/office/drawing/2014/main" id="{0DB75199-E271-CF7A-825E-646654D6310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35069545"/>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1605085" y="1288950"/>
            <a:ext cx="149752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230520">
              <a:defRPr/>
            </a:pPr>
            <a:r>
              <a:rPr lang="zh-CN" altLang="en-US" sz="907" b="1">
                <a:solidFill>
                  <a:prstClr val="white"/>
                </a:solidFill>
                <a:latin typeface="Calibri" panose="020F0502020204030204"/>
                <a:ea typeface="等线" panose="02010600030101010101" pitchFamily="2" charset="-122"/>
              </a:rPr>
              <a:t>第二节 凯恩斯的消费理论</a:t>
            </a:r>
          </a:p>
        </p:txBody>
      </p:sp>
      <p:graphicFrame>
        <p:nvGraphicFramePr>
          <p:cNvPr id="27701" name="Group 53"/>
          <p:cNvGraphicFramePr>
            <a:graphicFrameLocks noGrp="1"/>
          </p:cNvGraphicFramePr>
          <p:nvPr>
            <p:ph idx="1"/>
          </p:nvPr>
        </p:nvGraphicFramePr>
        <p:xfrm>
          <a:off x="324858" y="673763"/>
          <a:ext cx="3960387" cy="2526252"/>
        </p:xfrm>
        <a:graphic>
          <a:graphicData uri="http://schemas.openxmlformats.org/drawingml/2006/table">
            <a:tbl>
              <a:tblPr/>
              <a:tblGrid>
                <a:gridCol w="330275">
                  <a:extLst>
                    <a:ext uri="{9D8B030D-6E8A-4147-A177-3AD203B41FA5}">
                      <a16:colId xmlns:a16="http://schemas.microsoft.com/office/drawing/2014/main" val="3756052548"/>
                    </a:ext>
                  </a:extLst>
                </a:gridCol>
                <a:gridCol w="907528">
                  <a:extLst>
                    <a:ext uri="{9D8B030D-6E8A-4147-A177-3AD203B41FA5}">
                      <a16:colId xmlns:a16="http://schemas.microsoft.com/office/drawing/2014/main" val="3571782157"/>
                    </a:ext>
                  </a:extLst>
                </a:gridCol>
                <a:gridCol w="907528">
                  <a:extLst>
                    <a:ext uri="{9D8B030D-6E8A-4147-A177-3AD203B41FA5}">
                      <a16:colId xmlns:a16="http://schemas.microsoft.com/office/drawing/2014/main" val="673698497"/>
                    </a:ext>
                  </a:extLst>
                </a:gridCol>
                <a:gridCol w="907528">
                  <a:extLst>
                    <a:ext uri="{9D8B030D-6E8A-4147-A177-3AD203B41FA5}">
                      <a16:colId xmlns:a16="http://schemas.microsoft.com/office/drawing/2014/main" val="3691878377"/>
                    </a:ext>
                  </a:extLst>
                </a:gridCol>
                <a:gridCol w="907528">
                  <a:extLst>
                    <a:ext uri="{9D8B030D-6E8A-4147-A177-3AD203B41FA5}">
                      <a16:colId xmlns:a16="http://schemas.microsoft.com/office/drawing/2014/main" val="1324014156"/>
                    </a:ext>
                  </a:extLst>
                </a:gridCol>
              </a:tblGrid>
              <a:tr h="3503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收入</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2</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消费</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3</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边际消费倾向</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4</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平均消费倾向</a:t>
                      </a:r>
                      <a:endPar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4160617640"/>
                  </a:ext>
                </a:extLst>
              </a:tr>
              <a:tr h="21759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11000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15000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10850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11600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12240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12830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13360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600470"/>
                  </a:ext>
                </a:extLst>
              </a:tr>
            </a:tbl>
          </a:graphicData>
        </a:graphic>
      </p:graphicFrame>
      <p:sp>
        <p:nvSpPr>
          <p:cNvPr id="27700" name="Text Box 52"/>
          <p:cNvSpPr txBox="1">
            <a:spLocks noChangeArrowheads="1"/>
          </p:cNvSpPr>
          <p:nvPr/>
        </p:nvSpPr>
        <p:spPr bwMode="auto">
          <a:xfrm>
            <a:off x="312852" y="426451"/>
            <a:ext cx="396038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表</a:t>
            </a:r>
            <a:r>
              <a:rPr lang="en-US" altLang="zh-CN" sz="1007" b="1" dirty="0">
                <a:solidFill>
                  <a:prstClr val="black"/>
                </a:solidFill>
                <a:latin typeface="KaiTi" panose="02010609060101010101" pitchFamily="49" charset="-122"/>
                <a:ea typeface="KaiTi" panose="02010609060101010101" pitchFamily="49" charset="-122"/>
              </a:rPr>
              <a:t>1:</a:t>
            </a:r>
            <a:r>
              <a:rPr lang="zh-CN" altLang="en-US" sz="1007" b="1" dirty="0">
                <a:solidFill>
                  <a:prstClr val="black"/>
                </a:solidFill>
                <a:latin typeface="KaiTi" panose="02010609060101010101" pitchFamily="49" charset="-122"/>
                <a:ea typeface="KaiTi" panose="02010609060101010101" pitchFamily="49" charset="-122"/>
              </a:rPr>
              <a:t>某家庭消费函数（单位：元）</a:t>
            </a:r>
            <a:endParaRPr lang="en-US" altLang="zh-CN" sz="1007" b="1" dirty="0">
              <a:solidFill>
                <a:prstClr val="black"/>
              </a:solidFill>
              <a:latin typeface="KaiTi" panose="02010609060101010101" pitchFamily="49" charset="-122"/>
              <a:ea typeface="KaiTi" panose="02010609060101010101" pitchFamily="49" charset="-122"/>
            </a:endParaRPr>
          </a:p>
        </p:txBody>
      </p:sp>
      <p:sp>
        <p:nvSpPr>
          <p:cNvPr id="2" name="灯片编号占位符 2">
            <a:extLst>
              <a:ext uri="{FF2B5EF4-FFF2-40B4-BE49-F238E27FC236}">
                <a16:creationId xmlns:a16="http://schemas.microsoft.com/office/drawing/2014/main" id="{6AD332F9-3338-A6D2-83C4-DFC10E26DF7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39</a:t>
            </a:fld>
            <a:endParaRPr lang="zh-CN" altLang="zh-CN" sz="856">
              <a:solidFill>
                <a:srgbClr val="777777"/>
              </a:solidFill>
              <a:ea typeface="宋体" panose="02010600030101010101" pitchFamily="2" charset="-122"/>
            </a:endParaRPr>
          </a:p>
        </p:txBody>
      </p:sp>
      <p:sp>
        <p:nvSpPr>
          <p:cNvPr id="3" name="Rectangle 2">
            <a:extLst>
              <a:ext uri="{FF2B5EF4-FFF2-40B4-BE49-F238E27FC236}">
                <a16:creationId xmlns:a16="http://schemas.microsoft.com/office/drawing/2014/main" id="{CFA78A75-4F10-97A4-5895-F2BDC84BE20C}"/>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边际消费倾向与平均消费倾向</a:t>
            </a:r>
          </a:p>
        </p:txBody>
      </p:sp>
      <p:sp>
        <p:nvSpPr>
          <p:cNvPr id="6" name="文本框 5">
            <a:extLst>
              <a:ext uri="{FF2B5EF4-FFF2-40B4-BE49-F238E27FC236}">
                <a16:creationId xmlns:a16="http://schemas.microsoft.com/office/drawing/2014/main" id="{CB1F99AD-ECCF-53C6-DD23-6F5B07098A32}"/>
              </a:ext>
            </a:extLst>
          </p:cNvPr>
          <p:cNvSpPr txBox="1"/>
          <p:nvPr/>
        </p:nvSpPr>
        <p:spPr>
          <a:xfrm>
            <a:off x="2540916" y="1212116"/>
            <a:ext cx="777284" cy="1908792"/>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0.89</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0.85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0.75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0.64</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0.59</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0.53</a:t>
            </a:r>
          </a:p>
        </p:txBody>
      </p:sp>
      <p:sp>
        <p:nvSpPr>
          <p:cNvPr id="8" name="文本框 7">
            <a:extLst>
              <a:ext uri="{FF2B5EF4-FFF2-40B4-BE49-F238E27FC236}">
                <a16:creationId xmlns:a16="http://schemas.microsoft.com/office/drawing/2014/main" id="{652D23FC-95D9-5822-DD52-CAB44F02CEE1}"/>
              </a:ext>
            </a:extLst>
          </p:cNvPr>
          <p:cNvSpPr txBox="1"/>
          <p:nvPr/>
        </p:nvSpPr>
        <p:spPr>
          <a:xfrm>
            <a:off x="3418440" y="1017272"/>
            <a:ext cx="777284" cy="2244140"/>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1.01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1.00</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0.99</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0.97</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0.94</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0.92</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0.89</a:t>
            </a:r>
          </a:p>
        </p:txBody>
      </p:sp>
      <p:sp>
        <p:nvSpPr>
          <p:cNvPr id="5" name="页脚占位符 1">
            <a:extLst>
              <a:ext uri="{FF2B5EF4-FFF2-40B4-BE49-F238E27FC236}">
                <a16:creationId xmlns:a16="http://schemas.microsoft.com/office/drawing/2014/main" id="{798298B4-91D4-7037-9074-BC903964113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762024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701"/>
                                        </p:tgtEl>
                                        <p:attrNameLst>
                                          <p:attrName>style.visibility</p:attrName>
                                        </p:attrNameLst>
                                      </p:cBhvr>
                                      <p:to>
                                        <p:strVal val="visible"/>
                                      </p:to>
                                    </p:set>
                                    <p:animEffect transition="in" filter="wipe(left)">
                                      <p:cBhvr>
                                        <p:cTn id="7" dur="500"/>
                                        <p:tgtEl>
                                          <p:spTgt spid="277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线性与非线性消费函数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40</a:t>
            </a:fld>
            <a:endParaRPr lang="zh-CN" altLang="zh-CN" sz="856">
              <a:solidFill>
                <a:srgbClr val="777777"/>
              </a:solidFill>
              <a:ea typeface="宋体" panose="02010600030101010101" pitchFamily="2" charset="-122"/>
            </a:endParaRPr>
          </a:p>
        </p:txBody>
      </p:sp>
      <p:sp>
        <p:nvSpPr>
          <p:cNvPr id="13" name="Text Box 52">
            <a:extLst>
              <a:ext uri="{FF2B5EF4-FFF2-40B4-BE49-F238E27FC236}">
                <a16:creationId xmlns:a16="http://schemas.microsoft.com/office/drawing/2014/main" id="{90631A33-677D-6F9B-9C91-6340EE4C2464}"/>
              </a:ext>
            </a:extLst>
          </p:cNvPr>
          <p:cNvSpPr txBox="1">
            <a:spLocks noChangeArrowheads="1"/>
          </p:cNvSpPr>
          <p:nvPr/>
        </p:nvSpPr>
        <p:spPr bwMode="auto">
          <a:xfrm>
            <a:off x="246615" y="2434295"/>
            <a:ext cx="191076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线性消费函数</a:t>
            </a:r>
            <a:endParaRPr lang="en-US" altLang="zh-CN" sz="1007" b="1" dirty="0">
              <a:solidFill>
                <a:prstClr val="black"/>
              </a:solidFill>
              <a:latin typeface="KaiTi" panose="02010609060101010101" pitchFamily="49" charset="-122"/>
              <a:ea typeface="KaiTi" panose="02010609060101010101" pitchFamily="49" charset="-122"/>
            </a:endParaRPr>
          </a:p>
        </p:txBody>
      </p:sp>
      <p:pic>
        <p:nvPicPr>
          <p:cNvPr id="3" name="Picture 4" descr="xf132">
            <a:extLst>
              <a:ext uri="{FF2B5EF4-FFF2-40B4-BE49-F238E27FC236}">
                <a16:creationId xmlns:a16="http://schemas.microsoft.com/office/drawing/2014/main" id="{6C29C9FA-8A4A-8ACA-FE41-8C9A9323B5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109423" y="772060"/>
            <a:ext cx="2203811" cy="160323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52">
            <a:extLst>
              <a:ext uri="{FF2B5EF4-FFF2-40B4-BE49-F238E27FC236}">
                <a16:creationId xmlns:a16="http://schemas.microsoft.com/office/drawing/2014/main" id="{E1694867-03D6-DA72-8AA7-A00FC062A09B}"/>
              </a:ext>
            </a:extLst>
          </p:cNvPr>
          <p:cNvSpPr txBox="1">
            <a:spLocks noChangeArrowheads="1"/>
          </p:cNvSpPr>
          <p:nvPr/>
        </p:nvSpPr>
        <p:spPr bwMode="auto">
          <a:xfrm>
            <a:off x="2255946" y="2434453"/>
            <a:ext cx="191076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非线性消费函数</a:t>
            </a:r>
            <a:endParaRPr lang="en-US" altLang="zh-CN" sz="1007" b="1" dirty="0">
              <a:solidFill>
                <a:prstClr val="black"/>
              </a:solidFill>
              <a:latin typeface="KaiTi" panose="02010609060101010101" pitchFamily="49" charset="-122"/>
              <a:ea typeface="KaiTi" panose="02010609060101010101" pitchFamily="49" charset="-122"/>
            </a:endParaRPr>
          </a:p>
        </p:txBody>
      </p:sp>
      <p:pic>
        <p:nvPicPr>
          <p:cNvPr id="11" name="图片 10">
            <a:extLst>
              <a:ext uri="{FF2B5EF4-FFF2-40B4-BE49-F238E27FC236}">
                <a16:creationId xmlns:a16="http://schemas.microsoft.com/office/drawing/2014/main" id="{CD9826FD-0E53-FAFD-F1D9-DB1A46BE506D}"/>
              </a:ext>
            </a:extLst>
          </p:cNvPr>
          <p:cNvPicPr>
            <a:picLocks noChangeAspect="1"/>
          </p:cNvPicPr>
          <p:nvPr/>
        </p:nvPicPr>
        <p:blipFill>
          <a:blip r:embed="rId3"/>
          <a:stretch>
            <a:fillRect/>
          </a:stretch>
        </p:blipFill>
        <p:spPr>
          <a:xfrm>
            <a:off x="148048" y="770060"/>
            <a:ext cx="2107898" cy="1496607"/>
          </a:xfrm>
          <a:prstGeom prst="rect">
            <a:avLst/>
          </a:prstGeom>
        </p:spPr>
      </p:pic>
      <p:sp>
        <p:nvSpPr>
          <p:cNvPr id="2" name="页脚占位符 1">
            <a:extLst>
              <a:ext uri="{FF2B5EF4-FFF2-40B4-BE49-F238E27FC236}">
                <a16:creationId xmlns:a16="http://schemas.microsoft.com/office/drawing/2014/main" id="{13F06570-4223-7D65-8334-F0565D6BDE9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629693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税收依赖于收入的消费函数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41</a:t>
            </a:fld>
            <a:endParaRPr lang="zh-CN" altLang="zh-CN" sz="856">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DED5035B-9B2F-C470-AED4-33B819BECC05}"/>
                  </a:ext>
                </a:extLst>
              </p:cNvPr>
              <p:cNvSpPr txBox="1">
                <a:spLocks/>
              </p:cNvSpPr>
              <p:nvPr/>
            </p:nvSpPr>
            <p:spPr>
              <a:xfrm>
                <a:off x="188087" y="598537"/>
                <a:ext cx="4191509" cy="2491658"/>
              </a:xfrm>
              <a:prstGeom prst="rect">
                <a:avLst/>
              </a:prstGeom>
            </p:spPr>
            <p:txBody>
              <a:bodyPr/>
              <a:lstStyle>
                <a:lvl1pPr marL="342616" indent="-342616" algn="l" rtl="0" eaLnBrk="0" fontAlgn="base" hangingPunct="0">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mn-lt"/>
                    <a:ea typeface="+mn-ea"/>
                    <a:cs typeface="+mn-cs"/>
                  </a:defRPr>
                </a:lvl1pPr>
                <a:lvl2pPr marL="742335" indent="-285513" algn="l" rtl="0" eaLnBrk="0" fontAlgn="base" hangingPunct="0">
                  <a:spcBef>
                    <a:spcPct val="15000"/>
                  </a:spcBef>
                  <a:spcAft>
                    <a:spcPct val="0"/>
                  </a:spcAft>
                  <a:buClr>
                    <a:srgbClr val="996633"/>
                  </a:buClr>
                  <a:buSzPct val="120000"/>
                  <a:buFont typeface="Wingdings" pitchFamily="2" charset="2"/>
                  <a:buChar char="§"/>
                  <a:defRPr sz="2697" kern="1200">
                    <a:solidFill>
                      <a:schemeClr val="tx1"/>
                    </a:solidFill>
                    <a:latin typeface="+mn-lt"/>
                    <a:ea typeface="+mn-ea"/>
                    <a:cs typeface="+mn-cs"/>
                  </a:defRPr>
                </a:lvl2pPr>
                <a:lvl3pPr marL="1142056" indent="-228411" algn="l" rtl="0" eaLnBrk="0" fontAlgn="base" hangingPunct="0">
                  <a:spcBef>
                    <a:spcPct val="15000"/>
                  </a:spcBef>
                  <a:spcAft>
                    <a:spcPct val="0"/>
                  </a:spcAft>
                  <a:buClr>
                    <a:srgbClr val="339966"/>
                  </a:buClr>
                  <a:buSzPct val="120000"/>
                  <a:buFont typeface="Wingdings" pitchFamily="2" charset="2"/>
                  <a:buChar char="§"/>
                  <a:defRPr sz="2499" kern="1200">
                    <a:solidFill>
                      <a:schemeClr val="tx1"/>
                    </a:solidFill>
                    <a:latin typeface="+mn-lt"/>
                    <a:ea typeface="+mn-ea"/>
                    <a:cs typeface="+mn-cs"/>
                  </a:defRPr>
                </a:lvl3pPr>
                <a:lvl4pPr marL="1598877" indent="-228411" algn="l" rtl="0" eaLnBrk="0" fontAlgn="base" hangingPunct="0">
                  <a:spcBef>
                    <a:spcPct val="15000"/>
                  </a:spcBef>
                  <a:spcAft>
                    <a:spcPct val="0"/>
                  </a:spcAft>
                  <a:buChar char="–"/>
                  <a:defRPr sz="1998" kern="1200">
                    <a:solidFill>
                      <a:schemeClr val="tx1"/>
                    </a:solidFill>
                    <a:latin typeface="+mn-lt"/>
                    <a:ea typeface="+mn-ea"/>
                    <a:cs typeface="+mn-cs"/>
                  </a:defRPr>
                </a:lvl4pPr>
                <a:lvl5pPr marL="2055699" indent="-228411" algn="l" rtl="0" eaLnBrk="0" fontAlgn="base" hangingPunct="0">
                  <a:spcBef>
                    <a:spcPct val="20000"/>
                  </a:spcBef>
                  <a:spcAft>
                    <a:spcPct val="0"/>
                  </a:spcAft>
                  <a:buChar char="»"/>
                  <a:defRPr sz="1998" kern="1200">
                    <a:solidFill>
                      <a:schemeClr val="tx1"/>
                    </a:solidFill>
                    <a:latin typeface="+mn-lt"/>
                    <a:ea typeface="+mn-ea"/>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a:lstStyle>
              <a:p>
                <a:pPr defTabSz="461040"/>
                <a:r>
                  <a:rPr lang="zh-CN" altLang="en-US" sz="1210" dirty="0">
                    <a:latin typeface="Garamond" panose="02020404030301010803" pitchFamily="18" charset="0"/>
                    <a:ea typeface="SimSun" panose="02010600030101010101" pitchFamily="2" charset="-122"/>
                  </a:rPr>
                  <a:t>假设税收</a:t>
                </a:r>
                <a:r>
                  <a:rPr lang="en-US" altLang="zh-CN" sz="1210" dirty="0">
                    <a:latin typeface="Garamond" panose="02020404030301010803" pitchFamily="18" charset="0"/>
                    <a:ea typeface="SimSun" panose="02010600030101010101" pitchFamily="2" charset="-122"/>
                  </a:rPr>
                  <a:t>T=t*Y</a:t>
                </a:r>
                <a:r>
                  <a:rPr lang="zh-CN" altLang="en-US" sz="1210" dirty="0">
                    <a:latin typeface="Garamond" panose="02020404030301010803" pitchFamily="18" charset="0"/>
                    <a:ea typeface="SimSun" panose="02010600030101010101" pitchFamily="2" charset="-122"/>
                  </a:rPr>
                  <a:t>，此时的可支配收入为</a:t>
                </a:r>
                <a:r>
                  <a:rPr lang="en-US" altLang="zh-CN" sz="1210" dirty="0">
                    <a:latin typeface="Garamond" panose="02020404030301010803" pitchFamily="18" charset="0"/>
                    <a:ea typeface="SimSun" panose="02010600030101010101" pitchFamily="2" charset="-122"/>
                  </a:rPr>
                  <a:t>(</a:t>
                </a:r>
                <a:r>
                  <a:rPr lang="en-US" altLang="zh-CN" sz="1210" dirty="0">
                    <a:latin typeface="Garamond" panose="02020404030301010803" pitchFamily="18" charset="0"/>
                    <a:ea typeface="SimSun" panose="02010600030101010101" pitchFamily="2" charset="-122"/>
                    <a:sym typeface="Wingdings" pitchFamily="2" charset="2"/>
                  </a:rPr>
                  <a:t>1-t)Y</a:t>
                </a:r>
              </a:p>
              <a:p>
                <a:pPr defTabSz="461040"/>
                <a:r>
                  <a:rPr lang="zh-CN" altLang="en-US" sz="1210" dirty="0">
                    <a:latin typeface="Garamond" panose="02020404030301010803" pitchFamily="18" charset="0"/>
                    <a:ea typeface="SimSun" panose="02010600030101010101" pitchFamily="2" charset="-122"/>
                    <a:sym typeface="Wingdings" pitchFamily="2" charset="2"/>
                  </a:rPr>
                  <a:t>消费函数：</a:t>
                </a:r>
                <a14:m>
                  <m:oMath xmlns:m="http://schemas.openxmlformats.org/officeDocument/2006/math">
                    <m:r>
                      <a:rPr lang="en-US" altLang="zh-CN" sz="1210" i="1">
                        <a:latin typeface="Cambria Math" panose="02040503050406030204" pitchFamily="18" charset="0"/>
                      </a:rPr>
                      <m:t>𝑐</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1−</m:t>
                        </m:r>
                        <m:r>
                          <a:rPr lang="en-US" altLang="zh-CN" sz="1210" i="1">
                            <a:latin typeface="Cambria Math" panose="02040503050406030204" pitchFamily="18" charset="0"/>
                          </a:rPr>
                          <m:t>𝑡</m:t>
                        </m:r>
                      </m:e>
                    </m:d>
                    <m:r>
                      <a:rPr lang="en-US" altLang="zh-CN" sz="1210" i="1">
                        <a:latin typeface="Cambria Math" panose="02040503050406030204" pitchFamily="18" charset="0"/>
                      </a:rPr>
                      <m:t>𝑌</m:t>
                    </m:r>
                  </m:oMath>
                </a14:m>
                <a:endParaRPr lang="en-US" altLang="zh-CN" sz="1210" dirty="0">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DED5035B-9B2F-C470-AED4-33B819BECC05}"/>
                  </a:ext>
                </a:extLst>
              </p:cNvPr>
              <p:cNvSpPr txBox="1">
                <a:spLocks noRot="1" noChangeAspect="1" noMove="1" noResize="1" noEditPoints="1" noAdjustHandles="1" noChangeArrowheads="1" noChangeShapeType="1" noTextEdit="1"/>
              </p:cNvSpPr>
              <p:nvPr/>
            </p:nvSpPr>
            <p:spPr>
              <a:xfrm>
                <a:off x="188087" y="598537"/>
                <a:ext cx="4191509" cy="2491658"/>
              </a:xfrm>
              <a:prstGeom prst="rect">
                <a:avLst/>
              </a:prstGeom>
              <a:blipFill>
                <a:blip r:embed="rId2"/>
                <a:stretch>
                  <a:fillRect l="-302" t="-152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CEA3C62-A426-9EF3-2B0E-97D99945D94E}"/>
              </a:ext>
            </a:extLst>
          </p:cNvPr>
          <p:cNvSpPr txBox="1"/>
          <p:nvPr/>
        </p:nvSpPr>
        <p:spPr>
          <a:xfrm>
            <a:off x="2060130" y="2593648"/>
            <a:ext cx="321340" cy="278538"/>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y</a:t>
            </a:r>
            <a:endParaRPr lang="zh-CN" altLang="en-US" sz="1210" dirty="0">
              <a:solidFill>
                <a:prstClr val="black"/>
              </a:solidFill>
              <a:latin typeface="Garamond" panose="02020404030301010803" pitchFamily="18" charset="0"/>
              <a:ea typeface="SimSun" panose="02010600030101010101" pitchFamily="2" charset="-122"/>
            </a:endParaRPr>
          </a:p>
        </p:txBody>
      </p:sp>
      <p:grpSp>
        <p:nvGrpSpPr>
          <p:cNvPr id="10" name="组合 9">
            <a:extLst>
              <a:ext uri="{FF2B5EF4-FFF2-40B4-BE49-F238E27FC236}">
                <a16:creationId xmlns:a16="http://schemas.microsoft.com/office/drawing/2014/main" id="{F14BC9EE-9292-26B3-2D95-FDDA2A217D1B}"/>
              </a:ext>
            </a:extLst>
          </p:cNvPr>
          <p:cNvGrpSpPr/>
          <p:nvPr/>
        </p:nvGrpSpPr>
        <p:grpSpPr>
          <a:xfrm>
            <a:off x="232907" y="1189079"/>
            <a:ext cx="2185521" cy="1885946"/>
            <a:chOff x="517058" y="1442740"/>
            <a:chExt cx="4334919" cy="3740720"/>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C20518A-79F9-DF02-C95A-E32176FE375A}"/>
                    </a:ext>
                  </a:extLst>
                </p:cNvPr>
                <p:cNvSpPr txBox="1"/>
                <p:nvPr/>
              </p:nvSpPr>
              <p:spPr>
                <a:xfrm>
                  <a:off x="3011208" y="2504868"/>
                  <a:ext cx="1840769"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𝑘</m:t>
                        </m:r>
                        <m:r>
                          <a:rPr lang="en-US" altLang="zh-CN" sz="1008" i="1">
                            <a:latin typeface="Cambria Math" panose="02040503050406030204" pitchFamily="18" charset="0"/>
                          </a:rPr>
                          <m:t>=</m:t>
                        </m:r>
                        <m:r>
                          <a:rPr lang="zh-CN" altLang="en-US" sz="1008" i="1">
                            <a:latin typeface="Cambria Math" panose="02040503050406030204" pitchFamily="18" charset="0"/>
                          </a:rPr>
                          <m:t>𝛽</m:t>
                        </m:r>
                        <m:r>
                          <a:rPr lang="en-US" altLang="zh-CN" sz="1008" i="1">
                            <a:latin typeface="Cambria Math" panose="02040503050406030204" pitchFamily="18" charset="0"/>
                          </a:rPr>
                          <m:t>(1−</m:t>
                        </m:r>
                        <m:r>
                          <a:rPr lang="en-US" altLang="zh-CN" sz="1008" i="1">
                            <a:latin typeface="Cambria Math" panose="02040503050406030204" pitchFamily="18" charset="0"/>
                          </a:rPr>
                          <m:t>𝑡</m:t>
                        </m:r>
                        <m:r>
                          <a:rPr lang="en-US" altLang="zh-CN" sz="1008" i="1">
                            <a:latin typeface="Cambria Math" panose="02040503050406030204" pitchFamily="18" charset="0"/>
                          </a:rPr>
                          <m:t>)</m:t>
                        </m:r>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12" name="文本框 11">
                  <a:extLst>
                    <a:ext uri="{FF2B5EF4-FFF2-40B4-BE49-F238E27FC236}">
                      <a16:creationId xmlns:a16="http://schemas.microsoft.com/office/drawing/2014/main" id="{4C20518A-79F9-DF02-C95A-E32176FE375A}"/>
                    </a:ext>
                  </a:extLst>
                </p:cNvPr>
                <p:cNvSpPr txBox="1">
                  <a:spLocks noRot="1" noChangeAspect="1" noMove="1" noResize="1" noEditPoints="1" noAdjustHandles="1" noChangeArrowheads="1" noChangeShapeType="1" noTextEdit="1"/>
                </p:cNvSpPr>
                <p:nvPr/>
              </p:nvSpPr>
              <p:spPr>
                <a:xfrm>
                  <a:off x="3011208" y="2504868"/>
                  <a:ext cx="1840769" cy="490790"/>
                </a:xfrm>
                <a:prstGeom prst="rect">
                  <a:avLst/>
                </a:prstGeom>
                <a:blipFill>
                  <a:blip r:embed="rId3"/>
                  <a:stretch>
                    <a:fillRect/>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52901413-6984-48D2-0616-4E32C40C3FD2}"/>
                </a:ext>
              </a:extLst>
            </p:cNvPr>
            <p:cNvGrpSpPr/>
            <p:nvPr/>
          </p:nvGrpSpPr>
          <p:grpSpPr>
            <a:xfrm>
              <a:off x="517058" y="1442740"/>
              <a:ext cx="3917483" cy="3740720"/>
              <a:chOff x="517058" y="1442740"/>
              <a:chExt cx="3917483" cy="3740720"/>
            </a:xfrm>
          </p:grpSpPr>
          <p:sp>
            <p:nvSpPr>
              <p:cNvPr id="15" name="Text Box 52">
                <a:extLst>
                  <a:ext uri="{FF2B5EF4-FFF2-40B4-BE49-F238E27FC236}">
                    <a16:creationId xmlns:a16="http://schemas.microsoft.com/office/drawing/2014/main" id="{9FCDA2E8-371A-C5F5-4E14-7042123EA424}"/>
                  </a:ext>
                </a:extLst>
              </p:cNvPr>
              <p:cNvSpPr txBox="1">
                <a:spLocks noChangeArrowheads="1"/>
              </p:cNvSpPr>
              <p:nvPr/>
            </p:nvSpPr>
            <p:spPr bwMode="auto">
              <a:xfrm>
                <a:off x="644593" y="4692924"/>
                <a:ext cx="3789948"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税收依赖于收入的消费函数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16" name="直接箭头连接符 5">
                <a:extLst>
                  <a:ext uri="{FF2B5EF4-FFF2-40B4-BE49-F238E27FC236}">
                    <a16:creationId xmlns:a16="http://schemas.microsoft.com/office/drawing/2014/main" id="{85F0059B-9407-B8C2-E06D-2E4DF5D7F324}"/>
                  </a:ext>
                </a:extLst>
              </p:cNvPr>
              <p:cNvCxnSpPr/>
              <p:nvPr/>
            </p:nvCxnSpPr>
            <p:spPr>
              <a:xfrm>
                <a:off x="1033250" y="4483993"/>
                <a:ext cx="3170908"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7" name="直接箭头连接符 7">
                <a:extLst>
                  <a:ext uri="{FF2B5EF4-FFF2-40B4-BE49-F238E27FC236}">
                    <a16:creationId xmlns:a16="http://schemas.microsoft.com/office/drawing/2014/main" id="{AEB741FB-5588-0491-EFB2-C98A8813BE01}"/>
                  </a:ext>
                </a:extLst>
              </p:cNvPr>
              <p:cNvCxnSpPr/>
              <p:nvPr/>
            </p:nvCxnSpPr>
            <p:spPr>
              <a:xfrm flipV="1">
                <a:off x="1027939" y="1658329"/>
                <a:ext cx="0" cy="283628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8" name="直接连接符 9">
                <a:extLst>
                  <a:ext uri="{FF2B5EF4-FFF2-40B4-BE49-F238E27FC236}">
                    <a16:creationId xmlns:a16="http://schemas.microsoft.com/office/drawing/2014/main" id="{E095D2B0-B95B-9134-0872-018A216A6FC9}"/>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19" name="直接连接符 11">
                <a:extLst>
                  <a:ext uri="{FF2B5EF4-FFF2-40B4-BE49-F238E27FC236}">
                    <a16:creationId xmlns:a16="http://schemas.microsoft.com/office/drawing/2014/main" id="{6B47B449-0EA1-2069-E75F-6E5F99874EFF}"/>
                  </a:ext>
                </a:extLst>
              </p:cNvPr>
              <p:cNvCxnSpPr>
                <a:cxnSpLocks/>
              </p:cNvCxnSpPr>
              <p:nvPr/>
            </p:nvCxnSpPr>
            <p:spPr>
              <a:xfrm flipV="1">
                <a:off x="1027939" y="2113950"/>
                <a:ext cx="2968046" cy="1273037"/>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893ECD48-FB99-B808-0D24-0B44BD2F5AD2}"/>
                  </a:ext>
                </a:extLst>
              </p:cNvPr>
              <p:cNvSpPr txBox="1"/>
              <p:nvPr/>
            </p:nvSpPr>
            <p:spPr>
              <a:xfrm>
                <a:off x="517058" y="1442740"/>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c</a:t>
                </a:r>
                <a:endParaRPr lang="zh-CN" altLang="en-US" sz="1210" dirty="0">
                  <a:solidFill>
                    <a:prstClr val="black"/>
                  </a:solidFill>
                  <a:latin typeface="Garamond" panose="02020404030301010803" pitchFamily="18" charset="0"/>
                  <a:ea typeface="SimSun" panose="02010600030101010101" pitchFamily="2" charset="-122"/>
                </a:endParaRPr>
              </a:p>
            </p:txBody>
          </p:sp>
          <p:sp>
            <p:nvSpPr>
              <p:cNvPr id="21" name="文本框 20">
                <a:extLst>
                  <a:ext uri="{FF2B5EF4-FFF2-40B4-BE49-F238E27FC236}">
                    <a16:creationId xmlns:a16="http://schemas.microsoft.com/office/drawing/2014/main" id="{E9F3072E-80A2-5516-2CBD-AAE378298E5A}"/>
                  </a:ext>
                </a:extLst>
              </p:cNvPr>
              <p:cNvSpPr txBox="1"/>
              <p:nvPr/>
            </p:nvSpPr>
            <p:spPr>
              <a:xfrm>
                <a:off x="2511447" y="1713840"/>
                <a:ext cx="1047390" cy="798438"/>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22" name="文本框 21">
                <a:extLst>
                  <a:ext uri="{FF2B5EF4-FFF2-40B4-BE49-F238E27FC236}">
                    <a16:creationId xmlns:a16="http://schemas.microsoft.com/office/drawing/2014/main" id="{787E94EA-33B3-23C9-C79D-D9F87E682715}"/>
                  </a:ext>
                </a:extLst>
              </p:cNvPr>
              <p:cNvSpPr txBox="1"/>
              <p:nvPr/>
            </p:nvSpPr>
            <p:spPr>
              <a:xfrm>
                <a:off x="709257" y="4444933"/>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24" name="文本框 23">
            <a:extLst>
              <a:ext uri="{FF2B5EF4-FFF2-40B4-BE49-F238E27FC236}">
                <a16:creationId xmlns:a16="http://schemas.microsoft.com/office/drawing/2014/main" id="{B6DB249A-5F1B-505C-3105-E54985C33892}"/>
              </a:ext>
            </a:extLst>
          </p:cNvPr>
          <p:cNvSpPr txBox="1"/>
          <p:nvPr/>
        </p:nvSpPr>
        <p:spPr>
          <a:xfrm>
            <a:off x="4090857" y="2583675"/>
            <a:ext cx="321340" cy="278538"/>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y</a:t>
            </a:r>
            <a:endParaRPr lang="zh-CN" altLang="en-US" sz="1210" dirty="0">
              <a:solidFill>
                <a:prstClr val="black"/>
              </a:solidFill>
              <a:latin typeface="Garamond" panose="02020404030301010803" pitchFamily="18" charset="0"/>
              <a:ea typeface="SimSun" panose="02010600030101010101" pitchFamily="2" charset="-122"/>
            </a:endParaRPr>
          </a:p>
        </p:txBody>
      </p:sp>
      <p:grpSp>
        <p:nvGrpSpPr>
          <p:cNvPr id="25" name="组合 24">
            <a:extLst>
              <a:ext uri="{FF2B5EF4-FFF2-40B4-BE49-F238E27FC236}">
                <a16:creationId xmlns:a16="http://schemas.microsoft.com/office/drawing/2014/main" id="{277F09ED-92A8-B688-70BA-A8EEBAFDBEC6}"/>
              </a:ext>
            </a:extLst>
          </p:cNvPr>
          <p:cNvGrpSpPr/>
          <p:nvPr/>
        </p:nvGrpSpPr>
        <p:grpSpPr>
          <a:xfrm>
            <a:off x="2278548" y="1189079"/>
            <a:ext cx="2159761" cy="1885045"/>
            <a:chOff x="568153" y="1442741"/>
            <a:chExt cx="4283824" cy="3738932"/>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AD0C96A-4B70-89BA-53B2-C4EED0B6717F}"/>
                    </a:ext>
                  </a:extLst>
                </p:cNvPr>
                <p:cNvSpPr txBox="1"/>
                <p:nvPr/>
              </p:nvSpPr>
              <p:spPr>
                <a:xfrm>
                  <a:off x="3011208" y="2504868"/>
                  <a:ext cx="1840769"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𝑘</m:t>
                        </m:r>
                        <m:r>
                          <a:rPr lang="en-US" altLang="zh-CN" sz="1008" i="1">
                            <a:latin typeface="Cambria Math" panose="02040503050406030204" pitchFamily="18" charset="0"/>
                          </a:rPr>
                          <m:t>=</m:t>
                        </m:r>
                        <m:r>
                          <a:rPr lang="zh-CN" altLang="en-US" sz="1008" i="1">
                            <a:latin typeface="Cambria Math" panose="02040503050406030204" pitchFamily="18" charset="0"/>
                          </a:rPr>
                          <m:t>𝛽</m:t>
                        </m:r>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26" name="文本框 25">
                  <a:extLst>
                    <a:ext uri="{FF2B5EF4-FFF2-40B4-BE49-F238E27FC236}">
                      <a16:creationId xmlns:a16="http://schemas.microsoft.com/office/drawing/2014/main" id="{8AD0C96A-4B70-89BA-53B2-C4EED0B6717F}"/>
                    </a:ext>
                  </a:extLst>
                </p:cNvPr>
                <p:cNvSpPr txBox="1">
                  <a:spLocks noRot="1" noChangeAspect="1" noMove="1" noResize="1" noEditPoints="1" noAdjustHandles="1" noChangeArrowheads="1" noChangeShapeType="1" noTextEdit="1"/>
                </p:cNvSpPr>
                <p:nvPr/>
              </p:nvSpPr>
              <p:spPr>
                <a:xfrm>
                  <a:off x="3011208" y="2504868"/>
                  <a:ext cx="1840769" cy="490790"/>
                </a:xfrm>
                <a:prstGeom prst="rect">
                  <a:avLst/>
                </a:prstGeom>
                <a:blipFill>
                  <a:blip r:embed="rId4"/>
                  <a:stretch>
                    <a:fillRect/>
                  </a:stretch>
                </a:blipFill>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23565EC7-57BF-ABA7-2308-5F9B4B66B6EB}"/>
                </a:ext>
              </a:extLst>
            </p:cNvPr>
            <p:cNvGrpSpPr/>
            <p:nvPr/>
          </p:nvGrpSpPr>
          <p:grpSpPr>
            <a:xfrm>
              <a:off x="568153" y="1442741"/>
              <a:ext cx="3894948" cy="3738932"/>
              <a:chOff x="568153" y="1442741"/>
              <a:chExt cx="3894948" cy="3738932"/>
            </a:xfrm>
          </p:grpSpPr>
          <p:sp>
            <p:nvSpPr>
              <p:cNvPr id="28" name="Text Box 52">
                <a:extLst>
                  <a:ext uri="{FF2B5EF4-FFF2-40B4-BE49-F238E27FC236}">
                    <a16:creationId xmlns:a16="http://schemas.microsoft.com/office/drawing/2014/main" id="{78438E22-C07A-0694-E185-F09F8D14008C}"/>
                  </a:ext>
                </a:extLst>
              </p:cNvPr>
              <p:cNvSpPr txBox="1">
                <a:spLocks noChangeArrowheads="1"/>
              </p:cNvSpPr>
              <p:nvPr/>
            </p:nvSpPr>
            <p:spPr bwMode="auto">
              <a:xfrm>
                <a:off x="673154" y="4691137"/>
                <a:ext cx="3789947"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税收为常量的消费函数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29" name="直接箭头连接符 5">
                <a:extLst>
                  <a:ext uri="{FF2B5EF4-FFF2-40B4-BE49-F238E27FC236}">
                    <a16:creationId xmlns:a16="http://schemas.microsoft.com/office/drawing/2014/main" id="{16252B37-C5D1-95EF-7952-8B91E61AEE5B}"/>
                  </a:ext>
                </a:extLst>
              </p:cNvPr>
              <p:cNvCxnSpPr/>
              <p:nvPr/>
            </p:nvCxnSpPr>
            <p:spPr>
              <a:xfrm>
                <a:off x="1033250" y="4483993"/>
                <a:ext cx="3170908"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0" name="直接箭头连接符 7">
                <a:extLst>
                  <a:ext uri="{FF2B5EF4-FFF2-40B4-BE49-F238E27FC236}">
                    <a16:creationId xmlns:a16="http://schemas.microsoft.com/office/drawing/2014/main" id="{8638950C-7EF0-24DB-EF1A-413E2DCC8C09}"/>
                  </a:ext>
                </a:extLst>
              </p:cNvPr>
              <p:cNvCxnSpPr/>
              <p:nvPr/>
            </p:nvCxnSpPr>
            <p:spPr>
              <a:xfrm flipV="1">
                <a:off x="1027939" y="1658329"/>
                <a:ext cx="0" cy="283628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1" name="直接连接符 9">
                <a:extLst>
                  <a:ext uri="{FF2B5EF4-FFF2-40B4-BE49-F238E27FC236}">
                    <a16:creationId xmlns:a16="http://schemas.microsoft.com/office/drawing/2014/main" id="{8E94CE99-1F61-C5C7-9047-F4FC148A5418}"/>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32" name="直接连接符 11">
                <a:extLst>
                  <a:ext uri="{FF2B5EF4-FFF2-40B4-BE49-F238E27FC236}">
                    <a16:creationId xmlns:a16="http://schemas.microsoft.com/office/drawing/2014/main" id="{3405D08E-CBF8-E17C-295C-32CC9C26FFFD}"/>
                  </a:ext>
                </a:extLst>
              </p:cNvPr>
              <p:cNvCxnSpPr/>
              <p:nvPr/>
            </p:nvCxnSpPr>
            <p:spPr>
              <a:xfrm flipV="1">
                <a:off x="1026910" y="2113950"/>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sp>
            <p:nvSpPr>
              <p:cNvPr id="33" name="文本框 32">
                <a:extLst>
                  <a:ext uri="{FF2B5EF4-FFF2-40B4-BE49-F238E27FC236}">
                    <a16:creationId xmlns:a16="http://schemas.microsoft.com/office/drawing/2014/main" id="{F2193636-38BE-3FCD-47D5-E1171CA36DE5}"/>
                  </a:ext>
                </a:extLst>
              </p:cNvPr>
              <p:cNvSpPr txBox="1"/>
              <p:nvPr/>
            </p:nvSpPr>
            <p:spPr>
              <a:xfrm>
                <a:off x="568153" y="1442741"/>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c</a:t>
                </a:r>
                <a:endParaRPr lang="zh-CN" altLang="en-US" sz="1210" dirty="0">
                  <a:solidFill>
                    <a:prstClr val="black"/>
                  </a:solidFill>
                  <a:latin typeface="Garamond" panose="02020404030301010803" pitchFamily="18" charset="0"/>
                  <a:ea typeface="SimSun" panose="02010600030101010101" pitchFamily="2" charset="-122"/>
                </a:endParaRPr>
              </a:p>
            </p:txBody>
          </p:sp>
          <p:sp>
            <p:nvSpPr>
              <p:cNvPr id="34" name="文本框 33">
                <a:extLst>
                  <a:ext uri="{FF2B5EF4-FFF2-40B4-BE49-F238E27FC236}">
                    <a16:creationId xmlns:a16="http://schemas.microsoft.com/office/drawing/2014/main" id="{82E76212-261F-468C-0EC7-D36667E9BE22}"/>
                  </a:ext>
                </a:extLst>
              </p:cNvPr>
              <p:cNvSpPr txBox="1"/>
              <p:nvPr/>
            </p:nvSpPr>
            <p:spPr>
              <a:xfrm>
                <a:off x="2511447" y="1713840"/>
                <a:ext cx="1047390" cy="798438"/>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35" name="文本框 34">
                <a:extLst>
                  <a:ext uri="{FF2B5EF4-FFF2-40B4-BE49-F238E27FC236}">
                    <a16:creationId xmlns:a16="http://schemas.microsoft.com/office/drawing/2014/main" id="{85B2380F-0889-6CB4-391F-C7167FD80784}"/>
                  </a:ext>
                </a:extLst>
              </p:cNvPr>
              <p:cNvSpPr txBox="1"/>
              <p:nvPr/>
            </p:nvSpPr>
            <p:spPr>
              <a:xfrm>
                <a:off x="709257" y="4444933"/>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3" name="页脚占位符 1">
            <a:extLst>
              <a:ext uri="{FF2B5EF4-FFF2-40B4-BE49-F238E27FC236}">
                <a16:creationId xmlns:a16="http://schemas.microsoft.com/office/drawing/2014/main" id="{D45A5156-720C-67B6-489A-6AB2704B311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099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短期与长期的消费函数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42</a:t>
            </a:fld>
            <a:endParaRPr lang="zh-CN" altLang="zh-CN" sz="856">
              <a:solidFill>
                <a:srgbClr val="777777"/>
              </a:solidFill>
              <a:ea typeface="宋体" panose="02010600030101010101" pitchFamily="2" charset="-122"/>
            </a:endParaRPr>
          </a:p>
        </p:txBody>
      </p:sp>
      <p:grpSp>
        <p:nvGrpSpPr>
          <p:cNvPr id="4" name="组合 3">
            <a:extLst>
              <a:ext uri="{FF2B5EF4-FFF2-40B4-BE49-F238E27FC236}">
                <a16:creationId xmlns:a16="http://schemas.microsoft.com/office/drawing/2014/main" id="{F0EF757C-8D72-1FFB-1663-9B79C3727EC9}"/>
              </a:ext>
            </a:extLst>
          </p:cNvPr>
          <p:cNvGrpSpPr/>
          <p:nvPr/>
        </p:nvGrpSpPr>
        <p:grpSpPr>
          <a:xfrm>
            <a:off x="2335726" y="680898"/>
            <a:ext cx="2193097" cy="1903854"/>
            <a:chOff x="4632845" y="1347393"/>
            <a:chExt cx="4349944" cy="3776240"/>
          </a:xfrm>
        </p:grpSpPr>
        <p:sp>
          <p:nvSpPr>
            <p:cNvPr id="13" name="Text Box 52">
              <a:extLst>
                <a:ext uri="{FF2B5EF4-FFF2-40B4-BE49-F238E27FC236}">
                  <a16:creationId xmlns:a16="http://schemas.microsoft.com/office/drawing/2014/main" id="{90631A33-677D-6F9B-9C91-6340EE4C2464}"/>
                </a:ext>
              </a:extLst>
            </p:cNvPr>
            <p:cNvSpPr txBox="1">
              <a:spLocks noChangeArrowheads="1"/>
            </p:cNvSpPr>
            <p:nvPr/>
          </p:nvSpPr>
          <p:spPr bwMode="auto">
            <a:xfrm>
              <a:off x="4673736" y="4633097"/>
              <a:ext cx="3789947"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长期的消费函数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3" name="直接箭头连接符 5">
              <a:extLst>
                <a:ext uri="{FF2B5EF4-FFF2-40B4-BE49-F238E27FC236}">
                  <a16:creationId xmlns:a16="http://schemas.microsoft.com/office/drawing/2014/main" id="{9EEE5874-F725-9D23-28F2-52FF63E6DE0E}"/>
                </a:ext>
              </a:extLst>
            </p:cNvPr>
            <p:cNvCxnSpPr/>
            <p:nvPr/>
          </p:nvCxnSpPr>
          <p:spPr>
            <a:xfrm>
              <a:off x="4994151" y="4533677"/>
              <a:ext cx="3170908"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7" name="直接箭头连接符 7">
              <a:extLst>
                <a:ext uri="{FF2B5EF4-FFF2-40B4-BE49-F238E27FC236}">
                  <a16:creationId xmlns:a16="http://schemas.microsoft.com/office/drawing/2014/main" id="{95534D48-EAAE-1C16-D915-09EDDCFBAB24}"/>
                </a:ext>
              </a:extLst>
            </p:cNvPr>
            <p:cNvCxnSpPr/>
            <p:nvPr/>
          </p:nvCxnSpPr>
          <p:spPr>
            <a:xfrm flipV="1">
              <a:off x="4988840" y="1708013"/>
              <a:ext cx="0" cy="283628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11" name="直接连接符 9">
              <a:extLst>
                <a:ext uri="{FF2B5EF4-FFF2-40B4-BE49-F238E27FC236}">
                  <a16:creationId xmlns:a16="http://schemas.microsoft.com/office/drawing/2014/main" id="{DB2E2ADC-22EA-EC73-CCCA-05753D102C39}"/>
                </a:ext>
              </a:extLst>
            </p:cNvPr>
            <p:cNvCxnSpPr/>
            <p:nvPr/>
          </p:nvCxnSpPr>
          <p:spPr>
            <a:xfrm flipV="1">
              <a:off x="4994152" y="1904533"/>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00D4791D-2A03-304E-C34E-462E58D51B8C}"/>
                </a:ext>
              </a:extLst>
            </p:cNvPr>
            <p:cNvCxnSpPr/>
            <p:nvPr/>
          </p:nvCxnSpPr>
          <p:spPr>
            <a:xfrm flipV="1">
              <a:off x="4988841" y="2695932"/>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BC4CCFA-3BB1-30BA-D36D-E46C4BCBDE83}"/>
                    </a:ext>
                  </a:extLst>
                </p:cNvPr>
                <p:cNvSpPr txBox="1"/>
                <p:nvPr/>
              </p:nvSpPr>
              <p:spPr>
                <a:xfrm>
                  <a:off x="4632845" y="1347393"/>
                  <a:ext cx="637369"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𝑐</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14" name="文本框 13">
                  <a:extLst>
                    <a:ext uri="{FF2B5EF4-FFF2-40B4-BE49-F238E27FC236}">
                      <a16:creationId xmlns:a16="http://schemas.microsoft.com/office/drawing/2014/main" id="{FBC4CCFA-3BB1-30BA-D36D-E46C4BCBDE83}"/>
                    </a:ext>
                  </a:extLst>
                </p:cNvPr>
                <p:cNvSpPr txBox="1">
                  <a:spLocks noRot="1" noChangeAspect="1" noMove="1" noResize="1" noEditPoints="1" noAdjustHandles="1" noChangeArrowheads="1" noChangeShapeType="1" noTextEdit="1"/>
                </p:cNvSpPr>
                <p:nvPr/>
              </p:nvSpPr>
              <p:spPr>
                <a:xfrm>
                  <a:off x="4632845" y="1347393"/>
                  <a:ext cx="637369" cy="55247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72DE07B-40A0-00FD-D9A4-597424BA7200}"/>
                    </a:ext>
                  </a:extLst>
                </p:cNvPr>
                <p:cNvSpPr txBox="1"/>
                <p:nvPr/>
              </p:nvSpPr>
              <p:spPr>
                <a:xfrm>
                  <a:off x="8078749" y="4544301"/>
                  <a:ext cx="637369"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𝑦</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15" name="文本框 14">
                  <a:extLst>
                    <a:ext uri="{FF2B5EF4-FFF2-40B4-BE49-F238E27FC236}">
                      <a16:creationId xmlns:a16="http://schemas.microsoft.com/office/drawing/2014/main" id="{E72DE07B-40A0-00FD-D9A4-597424BA7200}"/>
                    </a:ext>
                  </a:extLst>
                </p:cNvPr>
                <p:cNvSpPr txBox="1">
                  <a:spLocks noRot="1" noChangeAspect="1" noMove="1" noResize="1" noEditPoints="1" noAdjustHandles="1" noChangeArrowheads="1" noChangeShapeType="1" noTextEdit="1"/>
                </p:cNvSpPr>
                <p:nvPr/>
              </p:nvSpPr>
              <p:spPr>
                <a:xfrm>
                  <a:off x="8078749" y="4544301"/>
                  <a:ext cx="637369" cy="552472"/>
                </a:xfrm>
                <a:prstGeom prst="rect">
                  <a:avLst/>
                </a:prstGeom>
                <a:blipFill>
                  <a:blip r:embed="rId3"/>
                  <a:stretch>
                    <a:fillRect b="-4348"/>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CBBB4118-459B-6F30-9056-C255001D8470}"/>
                </a:ext>
              </a:extLst>
            </p:cNvPr>
            <p:cNvSpPr txBox="1"/>
            <p:nvPr/>
          </p:nvSpPr>
          <p:spPr>
            <a:xfrm>
              <a:off x="6362842" y="1718443"/>
              <a:ext cx="1255950" cy="490790"/>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1E7AD9C-DF6E-CEF1-95CF-61335E0F7A05}"/>
                    </a:ext>
                  </a:extLst>
                </p:cNvPr>
                <p:cNvSpPr txBox="1"/>
                <p:nvPr/>
              </p:nvSpPr>
              <p:spPr>
                <a:xfrm>
                  <a:off x="7424368" y="2759696"/>
                  <a:ext cx="1558421"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prstClr val="black"/>
                            </a:solidFill>
                            <a:latin typeface="Cambria Math" panose="02040503050406030204" pitchFamily="18" charset="0"/>
                            <a:ea typeface="SimSun" panose="02010600030101010101" pitchFamily="2" charset="-122"/>
                          </a:rPr>
                          <m:t>𝑐</m:t>
                        </m:r>
                        <m:r>
                          <a:rPr lang="en-US" altLang="zh-CN" sz="1050" i="1" dirty="0" smtClean="0">
                            <a:solidFill>
                              <a:prstClr val="black"/>
                            </a:solidFill>
                            <a:latin typeface="Cambria Math" panose="02040503050406030204" pitchFamily="18" charset="0"/>
                            <a:ea typeface="SimSun" panose="02010600030101010101" pitchFamily="2" charset="-122"/>
                          </a:rPr>
                          <m:t>=</m:t>
                        </m:r>
                        <m:r>
                          <a:rPr lang="en-US" altLang="zh-CN" sz="1050" i="1" dirty="0" smtClean="0">
                            <a:solidFill>
                              <a:prstClr val="black"/>
                            </a:solidFill>
                            <a:latin typeface="Cambria Math" panose="02040503050406030204" pitchFamily="18" charset="0"/>
                            <a:ea typeface="SimSun" panose="02010600030101010101" pitchFamily="2" charset="-122"/>
                          </a:rPr>
                          <m:t>𝑐</m:t>
                        </m:r>
                        <m:r>
                          <a:rPr lang="en-US" altLang="zh-CN" sz="1050" i="1" dirty="0" smtClean="0">
                            <a:solidFill>
                              <a:prstClr val="black"/>
                            </a:solidFill>
                            <a:latin typeface="Cambria Math" panose="02040503050406030204" pitchFamily="18" charset="0"/>
                            <a:ea typeface="SimSun" panose="02010600030101010101" pitchFamily="2" charset="-122"/>
                          </a:rPr>
                          <m:t>(</m:t>
                        </m:r>
                        <m:r>
                          <a:rPr lang="en-US" altLang="zh-CN" sz="1050" i="1" dirty="0" smtClean="0">
                            <a:solidFill>
                              <a:prstClr val="black"/>
                            </a:solidFill>
                            <a:latin typeface="Cambria Math" panose="02040503050406030204" pitchFamily="18" charset="0"/>
                            <a:ea typeface="SimSun" panose="02010600030101010101" pitchFamily="2" charset="-122"/>
                          </a:rPr>
                          <m:t>𝑦</m:t>
                        </m:r>
                        <m:r>
                          <a:rPr lang="en-US" altLang="zh-CN" sz="1050" i="1" dirty="0" smtClean="0">
                            <a:solidFill>
                              <a:prstClr val="black"/>
                            </a:solidFill>
                            <a:latin typeface="Cambria Math" panose="02040503050406030204" pitchFamily="18" charset="0"/>
                            <a:ea typeface="SimSun" panose="02010600030101010101" pitchFamily="2" charset="-122"/>
                          </a:rPr>
                          <m:t>)</m:t>
                        </m:r>
                      </m:oMath>
                    </m:oMathPara>
                  </a14:m>
                  <a:endParaRPr lang="zh-CN" altLang="en-US" sz="1050" dirty="0">
                    <a:solidFill>
                      <a:prstClr val="black"/>
                    </a:solidFill>
                    <a:latin typeface="Garamond" panose="02020404030301010803" pitchFamily="18" charset="0"/>
                    <a:ea typeface="SimSun" panose="02010600030101010101" pitchFamily="2" charset="-122"/>
                  </a:endParaRPr>
                </a:p>
              </p:txBody>
            </p:sp>
          </mc:Choice>
          <mc:Fallback xmlns="">
            <p:sp>
              <p:nvSpPr>
                <p:cNvPr id="17" name="文本框 16">
                  <a:extLst>
                    <a:ext uri="{FF2B5EF4-FFF2-40B4-BE49-F238E27FC236}">
                      <a16:creationId xmlns:a16="http://schemas.microsoft.com/office/drawing/2014/main" id="{41E7AD9C-DF6E-CEF1-95CF-61335E0F7A05}"/>
                    </a:ext>
                  </a:extLst>
                </p:cNvPr>
                <p:cNvSpPr txBox="1">
                  <a:spLocks noRot="1" noChangeAspect="1" noMove="1" noResize="1" noEditPoints="1" noAdjustHandles="1" noChangeArrowheads="1" noChangeShapeType="1" noTextEdit="1"/>
                </p:cNvSpPr>
                <p:nvPr/>
              </p:nvSpPr>
              <p:spPr>
                <a:xfrm>
                  <a:off x="7424368" y="2759696"/>
                  <a:ext cx="1558421" cy="503635"/>
                </a:xfrm>
                <a:prstGeom prst="rect">
                  <a:avLst/>
                </a:prstGeom>
                <a:blipFill>
                  <a:blip r:embed="rId4"/>
                  <a:stretch>
                    <a:fillRect b="-4762"/>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F2DC05B8-916F-44EF-C4DF-A5DC84A64AFE}"/>
                </a:ext>
              </a:extLst>
            </p:cNvPr>
            <p:cNvSpPr txBox="1"/>
            <p:nvPr/>
          </p:nvSpPr>
          <p:spPr>
            <a:xfrm>
              <a:off x="4670158" y="4494617"/>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9727204-FBFE-AE24-2A5B-9F053D368E96}"/>
                  </a:ext>
                </a:extLst>
              </p:cNvPr>
              <p:cNvSpPr txBox="1"/>
              <p:nvPr/>
            </p:nvSpPr>
            <p:spPr>
              <a:xfrm>
                <a:off x="2076082" y="2267623"/>
                <a:ext cx="321340" cy="278538"/>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𝑦</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24" name="文本框 23">
                <a:extLst>
                  <a:ext uri="{FF2B5EF4-FFF2-40B4-BE49-F238E27FC236}">
                    <a16:creationId xmlns:a16="http://schemas.microsoft.com/office/drawing/2014/main" id="{49727204-FBFE-AE24-2A5B-9F053D368E96}"/>
                  </a:ext>
                </a:extLst>
              </p:cNvPr>
              <p:cNvSpPr txBox="1">
                <a:spLocks noRot="1" noChangeAspect="1" noMove="1" noResize="1" noEditPoints="1" noAdjustHandles="1" noChangeArrowheads="1" noChangeShapeType="1" noTextEdit="1"/>
              </p:cNvSpPr>
              <p:nvPr/>
            </p:nvSpPr>
            <p:spPr>
              <a:xfrm>
                <a:off x="2076082" y="2267623"/>
                <a:ext cx="321340" cy="278538"/>
              </a:xfrm>
              <a:prstGeom prst="rect">
                <a:avLst/>
              </a:prstGeom>
              <a:blipFill>
                <a:blip r:embed="rId5"/>
                <a:stretch>
                  <a:fillRect b="-4348"/>
                </a:stretch>
              </a:blipFill>
            </p:spPr>
            <p:txBody>
              <a:bodyPr/>
              <a:lstStyle/>
              <a:p>
                <a:r>
                  <a:rPr lang="zh-CN" altLang="en-US">
                    <a:noFill/>
                  </a:rPr>
                  <a:t> </a:t>
                </a:r>
              </a:p>
            </p:txBody>
          </p:sp>
        </mc:Fallback>
      </mc:AlternateContent>
      <p:grpSp>
        <p:nvGrpSpPr>
          <p:cNvPr id="28" name="组合 27">
            <a:extLst>
              <a:ext uri="{FF2B5EF4-FFF2-40B4-BE49-F238E27FC236}">
                <a16:creationId xmlns:a16="http://schemas.microsoft.com/office/drawing/2014/main" id="{E658F2E6-5086-1E63-9C69-05E28529A54D}"/>
              </a:ext>
            </a:extLst>
          </p:cNvPr>
          <p:cNvGrpSpPr/>
          <p:nvPr/>
        </p:nvGrpSpPr>
        <p:grpSpPr>
          <a:xfrm>
            <a:off x="215724" y="670367"/>
            <a:ext cx="2230481" cy="1915191"/>
            <a:chOff x="427883" y="1326505"/>
            <a:chExt cx="4424094" cy="3798726"/>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75F997B-FA01-CB07-A970-33E05EFA1BF1}"/>
                    </a:ext>
                  </a:extLst>
                </p:cNvPr>
                <p:cNvSpPr txBox="1"/>
                <p:nvPr/>
              </p:nvSpPr>
              <p:spPr>
                <a:xfrm>
                  <a:off x="3011209" y="2504868"/>
                  <a:ext cx="1840768"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𝑐</m:t>
                        </m:r>
                        <m:r>
                          <a:rPr lang="en-US" altLang="zh-CN" sz="1008" i="1">
                            <a:latin typeface="Cambria Math" panose="02040503050406030204" pitchFamily="18" charset="0"/>
                          </a:rPr>
                          <m:t>=</m:t>
                        </m:r>
                        <m:r>
                          <a:rPr lang="zh-CN" altLang="en-US" sz="1008" i="1">
                            <a:latin typeface="Cambria Math" panose="02040503050406030204" pitchFamily="18" charset="0"/>
                          </a:rPr>
                          <m:t>𝛼</m:t>
                        </m:r>
                        <m:r>
                          <a:rPr lang="en-US" altLang="zh-CN" sz="1008" i="1">
                            <a:latin typeface="Cambria Math" panose="02040503050406030204" pitchFamily="18" charset="0"/>
                          </a:rPr>
                          <m:t>+</m:t>
                        </m:r>
                        <m:r>
                          <a:rPr lang="zh-CN" altLang="en-US" sz="1008" i="1">
                            <a:latin typeface="Cambria Math" panose="02040503050406030204" pitchFamily="18" charset="0"/>
                          </a:rPr>
                          <m:t>𝛽</m:t>
                        </m:r>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𝑑</m:t>
                            </m:r>
                          </m:sub>
                        </m:sSub>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26" name="文本框 25">
                  <a:extLst>
                    <a:ext uri="{FF2B5EF4-FFF2-40B4-BE49-F238E27FC236}">
                      <a16:creationId xmlns:a16="http://schemas.microsoft.com/office/drawing/2014/main" id="{C75F997B-FA01-CB07-A970-33E05EFA1BF1}"/>
                    </a:ext>
                  </a:extLst>
                </p:cNvPr>
                <p:cNvSpPr txBox="1">
                  <a:spLocks noRot="1" noChangeAspect="1" noMove="1" noResize="1" noEditPoints="1" noAdjustHandles="1" noChangeArrowheads="1" noChangeShapeType="1" noTextEdit="1"/>
                </p:cNvSpPr>
                <p:nvPr/>
              </p:nvSpPr>
              <p:spPr>
                <a:xfrm>
                  <a:off x="3011209" y="2504868"/>
                  <a:ext cx="1840768" cy="490790"/>
                </a:xfrm>
                <a:prstGeom prst="rect">
                  <a:avLst/>
                </a:prstGeom>
                <a:blipFill>
                  <a:blip r:embed="rId6"/>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1AF525C2-E36D-5AF9-CE4C-4F2B7B90A2DA}"/>
                </a:ext>
              </a:extLst>
            </p:cNvPr>
            <p:cNvGrpSpPr/>
            <p:nvPr/>
          </p:nvGrpSpPr>
          <p:grpSpPr>
            <a:xfrm>
              <a:off x="427883" y="1326505"/>
              <a:ext cx="3789948" cy="3798726"/>
              <a:chOff x="427883" y="1326505"/>
              <a:chExt cx="3789948" cy="3798726"/>
            </a:xfrm>
          </p:grpSpPr>
          <p:sp>
            <p:nvSpPr>
              <p:cNvPr id="10" name="Text Box 52">
                <a:extLst>
                  <a:ext uri="{FF2B5EF4-FFF2-40B4-BE49-F238E27FC236}">
                    <a16:creationId xmlns:a16="http://schemas.microsoft.com/office/drawing/2014/main" id="{2BAB6F7F-CF71-6A43-D498-AD4F6A32E4E4}"/>
                  </a:ext>
                </a:extLst>
              </p:cNvPr>
              <p:cNvSpPr txBox="1">
                <a:spLocks noChangeArrowheads="1"/>
              </p:cNvSpPr>
              <p:nvPr/>
            </p:nvSpPr>
            <p:spPr bwMode="auto">
              <a:xfrm>
                <a:off x="427883" y="4634695"/>
                <a:ext cx="3789948"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短期的消费函数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19" name="直接箭头连接符 5">
                <a:extLst>
                  <a:ext uri="{FF2B5EF4-FFF2-40B4-BE49-F238E27FC236}">
                    <a16:creationId xmlns:a16="http://schemas.microsoft.com/office/drawing/2014/main" id="{B68653A4-9FB9-AF10-4524-7483000B9D36}"/>
                  </a:ext>
                </a:extLst>
              </p:cNvPr>
              <p:cNvCxnSpPr/>
              <p:nvPr/>
            </p:nvCxnSpPr>
            <p:spPr>
              <a:xfrm>
                <a:off x="1033250" y="4483993"/>
                <a:ext cx="3170908"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0" name="直接箭头连接符 7">
                <a:extLst>
                  <a:ext uri="{FF2B5EF4-FFF2-40B4-BE49-F238E27FC236}">
                    <a16:creationId xmlns:a16="http://schemas.microsoft.com/office/drawing/2014/main" id="{60E2F8AF-E7C4-60E9-88F7-F49FAAB2FE99}"/>
                  </a:ext>
                </a:extLst>
              </p:cNvPr>
              <p:cNvCxnSpPr/>
              <p:nvPr/>
            </p:nvCxnSpPr>
            <p:spPr>
              <a:xfrm flipV="1">
                <a:off x="1027939" y="1658329"/>
                <a:ext cx="0" cy="283628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1" name="直接连接符 9">
                <a:extLst>
                  <a:ext uri="{FF2B5EF4-FFF2-40B4-BE49-F238E27FC236}">
                    <a16:creationId xmlns:a16="http://schemas.microsoft.com/office/drawing/2014/main" id="{5DC659CB-A682-4470-5BDA-CF23A15AEC8D}"/>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22" name="直接连接符 11">
                <a:extLst>
                  <a:ext uri="{FF2B5EF4-FFF2-40B4-BE49-F238E27FC236}">
                    <a16:creationId xmlns:a16="http://schemas.microsoft.com/office/drawing/2014/main" id="{E906D2E4-BAD9-3675-9C73-09839D898CD6}"/>
                  </a:ext>
                </a:extLst>
              </p:cNvPr>
              <p:cNvCxnSpPr/>
              <p:nvPr/>
            </p:nvCxnSpPr>
            <p:spPr>
              <a:xfrm flipV="1">
                <a:off x="1026910" y="2113950"/>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99ECA84-9C47-6886-D661-63A05AC6B990}"/>
                      </a:ext>
                    </a:extLst>
                  </p:cNvPr>
                  <p:cNvSpPr txBox="1"/>
                  <p:nvPr/>
                </p:nvSpPr>
                <p:spPr>
                  <a:xfrm>
                    <a:off x="576165" y="1326505"/>
                    <a:ext cx="637368"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𝑐</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23" name="文本框 22">
                    <a:extLst>
                      <a:ext uri="{FF2B5EF4-FFF2-40B4-BE49-F238E27FC236}">
                        <a16:creationId xmlns:a16="http://schemas.microsoft.com/office/drawing/2014/main" id="{499ECA84-9C47-6886-D661-63A05AC6B990}"/>
                      </a:ext>
                    </a:extLst>
                  </p:cNvPr>
                  <p:cNvSpPr txBox="1">
                    <a:spLocks noRot="1" noChangeAspect="1" noMove="1" noResize="1" noEditPoints="1" noAdjustHandles="1" noChangeArrowheads="1" noChangeShapeType="1" noTextEdit="1"/>
                  </p:cNvSpPr>
                  <p:nvPr/>
                </p:nvSpPr>
                <p:spPr>
                  <a:xfrm>
                    <a:off x="576165" y="1326505"/>
                    <a:ext cx="637368" cy="552472"/>
                  </a:xfrm>
                  <a:prstGeom prst="rect">
                    <a:avLst/>
                  </a:prstGeom>
                  <a:blipFill>
                    <a:blip r:embed="rId7"/>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F1C62AA-FA15-67A0-CA20-CA9E599D5004}"/>
                  </a:ext>
                </a:extLst>
              </p:cNvPr>
              <p:cNvSpPr txBox="1"/>
              <p:nvPr/>
            </p:nvSpPr>
            <p:spPr>
              <a:xfrm>
                <a:off x="2511447" y="1713840"/>
                <a:ext cx="1235930" cy="490790"/>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27" name="文本框 26">
                <a:extLst>
                  <a:ext uri="{FF2B5EF4-FFF2-40B4-BE49-F238E27FC236}">
                    <a16:creationId xmlns:a16="http://schemas.microsoft.com/office/drawing/2014/main" id="{FB8D8E72-ADDB-420E-FDD7-D95662751037}"/>
                  </a:ext>
                </a:extLst>
              </p:cNvPr>
              <p:cNvSpPr txBox="1"/>
              <p:nvPr/>
            </p:nvSpPr>
            <p:spPr>
              <a:xfrm>
                <a:off x="709256" y="4444932"/>
                <a:ext cx="637368"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9" name="矩形 8">
            <a:extLst>
              <a:ext uri="{FF2B5EF4-FFF2-40B4-BE49-F238E27FC236}">
                <a16:creationId xmlns:a16="http://schemas.microsoft.com/office/drawing/2014/main" id="{78AB6F1E-282D-21E3-0018-3960E157A1B7}"/>
              </a:ext>
            </a:extLst>
          </p:cNvPr>
          <p:cNvSpPr/>
          <p:nvPr/>
        </p:nvSpPr>
        <p:spPr>
          <a:xfrm>
            <a:off x="215724" y="639497"/>
            <a:ext cx="2138814" cy="1956612"/>
          </a:xfrm>
          <a:prstGeom prst="rect">
            <a:avLst/>
          </a:prstGeom>
          <a:noFill/>
          <a:ln w="19050">
            <a:solidFill>
              <a:srgbClr val="C000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30" name="文本框 29">
            <a:extLst>
              <a:ext uri="{FF2B5EF4-FFF2-40B4-BE49-F238E27FC236}">
                <a16:creationId xmlns:a16="http://schemas.microsoft.com/office/drawing/2014/main" id="{FABB5DCD-A10E-F5C7-9441-4BEFC6BD6DBA}"/>
              </a:ext>
            </a:extLst>
          </p:cNvPr>
          <p:cNvSpPr txBox="1"/>
          <p:nvPr/>
        </p:nvSpPr>
        <p:spPr>
          <a:xfrm>
            <a:off x="210157" y="2729025"/>
            <a:ext cx="4056951" cy="247440"/>
          </a:xfrm>
          <a:prstGeom prst="rect">
            <a:avLst/>
          </a:prstGeom>
          <a:noFill/>
        </p:spPr>
        <p:txBody>
          <a:bodyPr wrap="square">
            <a:spAutoFit/>
          </a:bodyPr>
          <a:lstStyle/>
          <a:p>
            <a:pPr marL="172890" indent="-172890">
              <a:buFont typeface="Wingdings" pitchFamily="2" charset="2"/>
              <a:buChar char="u"/>
            </a:pPr>
            <a:r>
              <a:rPr lang="zh-CN" altLang="en-US" sz="1008" dirty="0">
                <a:latin typeface="SimSun" panose="02010600030101010101" pitchFamily="2" charset="-122"/>
                <a:ea typeface="SimSun" panose="02010600030101010101" pitchFamily="2" charset="-122"/>
              </a:rPr>
              <a:t>总需求分析是一种短期分析，一般用短期消费函数进行分析。</a:t>
            </a:r>
          </a:p>
        </p:txBody>
      </p:sp>
      <p:sp>
        <p:nvSpPr>
          <p:cNvPr id="29" name="页脚占位符 1">
            <a:extLst>
              <a:ext uri="{FF2B5EF4-FFF2-40B4-BE49-F238E27FC236}">
                <a16:creationId xmlns:a16="http://schemas.microsoft.com/office/drawing/2014/main" id="{C5353BDF-42E7-81DA-2605-AE335CA3C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6689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checkerboard(across)">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个人可支配收入的变化会导致消费量沿着消费曲线移动</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消费曲线的平移主要是非可支配收入（</a:t>
            </a:r>
            <a:r>
              <a:rPr lang="en-US" altLang="zh-CN" sz="1210" dirty="0">
                <a:latin typeface="Garamond" panose="02020404030301010803" pitchFamily="18" charset="0"/>
                <a:ea typeface="SimSun" panose="02010600030101010101" pitchFamily="2" charset="-122"/>
              </a:rPr>
              <a:t>DPI</a:t>
            </a:r>
            <a:r>
              <a:rPr lang="zh-CN" altLang="en-US" sz="1210" dirty="0">
                <a:latin typeface="Garamond" panose="02020404030301010803" pitchFamily="18" charset="0"/>
                <a:ea typeface="SimSun" panose="02010600030101010101" pitchFamily="2" charset="-122"/>
              </a:rPr>
              <a:t>）因素的变动，实际上是对自发消费量</a:t>
            </a:r>
            <a:r>
              <a:rPr lang="el-GR" altLang="zh-CN" sz="1210" dirty="0">
                <a:latin typeface="+mn-ea"/>
              </a:rPr>
              <a:t>α</a:t>
            </a:r>
            <a:r>
              <a:rPr lang="zh-CN" altLang="en-US" sz="1210" dirty="0">
                <a:latin typeface="Garamond" panose="02020404030301010803" pitchFamily="18" charset="0"/>
                <a:ea typeface="SimSun" panose="02010600030101010101" pitchFamily="2" charset="-122"/>
              </a:rPr>
              <a:t>的影响，主要因素包括：</a:t>
            </a:r>
            <a:endParaRPr lang="en-US" altLang="zh-CN" sz="1210" dirty="0">
              <a:latin typeface="Garamond" panose="02020404030301010803" pitchFamily="18" charset="0"/>
              <a:ea typeface="SimSun" panose="02010600030101010101" pitchFamily="2" charset="-122"/>
            </a:endParaRPr>
          </a:p>
        </p:txBody>
      </p:sp>
      <p:sp>
        <p:nvSpPr>
          <p:cNvPr id="7" name="标题 6">
            <a:extLst>
              <a:ext uri="{FF2B5EF4-FFF2-40B4-BE49-F238E27FC236}">
                <a16:creationId xmlns:a16="http://schemas.microsoft.com/office/drawing/2014/main" id="{52C1DD74-01F4-3AAE-2D5A-27CE027E3CDB}"/>
              </a:ext>
            </a:extLst>
          </p:cNvPr>
          <p:cNvSpPr>
            <a:spLocks noGrp="1"/>
          </p:cNvSpPr>
          <p:nvPr>
            <p:ph type="title"/>
          </p:nvPr>
        </p:nvSpPr>
        <p:spPr/>
        <p:txBody>
          <a:bodyPr/>
          <a:lstStyle/>
          <a:p>
            <a:r>
              <a:rPr kumimoji="1" lang="zh-CN" altLang="en-US" dirty="0"/>
              <a:t>消费曲线的移动</a:t>
            </a:r>
          </a:p>
        </p:txBody>
      </p:sp>
      <p:graphicFrame>
        <p:nvGraphicFramePr>
          <p:cNvPr id="8" name="表格 8">
            <a:extLst>
              <a:ext uri="{FF2B5EF4-FFF2-40B4-BE49-F238E27FC236}">
                <a16:creationId xmlns:a16="http://schemas.microsoft.com/office/drawing/2014/main" id="{EAD0066B-617A-31CA-1E6A-2EC65FFEB1FF}"/>
              </a:ext>
            </a:extLst>
          </p:cNvPr>
          <p:cNvGraphicFramePr>
            <a:graphicFrameLocks noGrp="1"/>
          </p:cNvGraphicFramePr>
          <p:nvPr>
            <p:extLst>
              <p:ext uri="{D42A27DB-BD31-4B8C-83A1-F6EECF244321}">
                <p14:modId xmlns:p14="http://schemas.microsoft.com/office/powerpoint/2010/main" val="1801594574"/>
              </p:ext>
            </p:extLst>
          </p:nvPr>
        </p:nvGraphicFramePr>
        <p:xfrm>
          <a:off x="230505" y="1551700"/>
          <a:ext cx="4036518" cy="1335532"/>
        </p:xfrm>
        <a:graphic>
          <a:graphicData uri="http://schemas.openxmlformats.org/drawingml/2006/table">
            <a:tbl>
              <a:tblPr firstRow="1" bandRow="1">
                <a:tableStyleId>{93296810-A885-4BE3-A3E7-6D5BEEA58F35}</a:tableStyleId>
              </a:tblPr>
              <a:tblGrid>
                <a:gridCol w="1522406">
                  <a:extLst>
                    <a:ext uri="{9D8B030D-6E8A-4147-A177-3AD203B41FA5}">
                      <a16:colId xmlns:a16="http://schemas.microsoft.com/office/drawing/2014/main" val="4058797755"/>
                    </a:ext>
                  </a:extLst>
                </a:gridCol>
                <a:gridCol w="2514112">
                  <a:extLst>
                    <a:ext uri="{9D8B030D-6E8A-4147-A177-3AD203B41FA5}">
                      <a16:colId xmlns:a16="http://schemas.microsoft.com/office/drawing/2014/main" val="4155405716"/>
                    </a:ext>
                  </a:extLst>
                </a:gridCol>
              </a:tblGrid>
              <a:tr h="186965">
                <a:tc>
                  <a:txBody>
                    <a:bodyPr/>
                    <a:lstStyle/>
                    <a:p>
                      <a:pPr algn="ctr"/>
                      <a:r>
                        <a:rPr lang="zh-CN" altLang="en-US" sz="1100" dirty="0">
                          <a:latin typeface="Garamond" panose="02020404030301010803" pitchFamily="18" charset="0"/>
                          <a:ea typeface="SimSun" panose="02010600030101010101" pitchFamily="2" charset="-122"/>
                        </a:rPr>
                        <a:t>影响因素</a:t>
                      </a:r>
                      <a:endParaRPr lang="en-US" altLang="zh-CN" sz="1100" dirty="0">
                        <a:latin typeface="Garamond" panose="02020404030301010803" pitchFamily="18" charset="0"/>
                        <a:ea typeface="SimSun" panose="02010600030101010101" pitchFamily="2" charset="-122"/>
                      </a:endParaRPr>
                    </a:p>
                  </a:txBody>
                  <a:tcPr marL="46101" marR="46101" marT="23051" marB="23051"/>
                </a:tc>
                <a:tc>
                  <a:txBody>
                    <a:bodyPr/>
                    <a:lstStyle/>
                    <a:p>
                      <a:pPr algn="ctr"/>
                      <a:r>
                        <a:rPr lang="zh-CN" altLang="en-US" sz="1100" dirty="0">
                          <a:latin typeface="Garamond" panose="02020404030301010803" pitchFamily="18" charset="0"/>
                          <a:ea typeface="SimSun" panose="02010600030101010101" pitchFamily="2" charset="-122"/>
                        </a:rPr>
                        <a:t>消费曲线的移动</a:t>
                      </a:r>
                    </a:p>
                  </a:txBody>
                  <a:tcPr marL="46101" marR="46101" marT="23051" marB="23051"/>
                </a:tc>
                <a:extLst>
                  <a:ext uri="{0D108BD9-81ED-4DB2-BD59-A6C34878D82A}">
                    <a16:rowId xmlns:a16="http://schemas.microsoft.com/office/drawing/2014/main" val="2014262238"/>
                  </a:ext>
                </a:extLst>
              </a:tr>
              <a:tr h="186965">
                <a:tc>
                  <a:txBody>
                    <a:bodyPr/>
                    <a:lstStyle/>
                    <a:p>
                      <a:pPr algn="ctr"/>
                      <a:r>
                        <a:rPr lang="zh-CN" altLang="en-US" sz="900" dirty="0">
                          <a:latin typeface="Garamond" panose="02020404030301010803" pitchFamily="18" charset="0"/>
                          <a:ea typeface="SimSun" panose="02010600030101010101" pitchFamily="2" charset="-122"/>
                        </a:rPr>
                        <a:t>未来财富</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940910580"/>
                  </a:ext>
                </a:extLst>
              </a:tr>
              <a:tr h="186965">
                <a:tc>
                  <a:txBody>
                    <a:bodyPr/>
                    <a:lstStyle/>
                    <a:p>
                      <a:pPr algn="ctr"/>
                      <a:r>
                        <a:rPr lang="zh-CN" altLang="en-US" sz="900" dirty="0">
                          <a:latin typeface="Garamond" panose="02020404030301010803" pitchFamily="18" charset="0"/>
                          <a:ea typeface="SimSun" panose="02010600030101010101" pitchFamily="2" charset="-122"/>
                        </a:rPr>
                        <a:t>对未来价格和收入的预期</a:t>
                      </a:r>
                      <a:endParaRPr lang="zh-CN" altLang="en-US" sz="5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466154108"/>
                  </a:ext>
                </a:extLst>
              </a:tr>
              <a:tr h="186965">
                <a:tc>
                  <a:txBody>
                    <a:bodyPr/>
                    <a:lstStyle/>
                    <a:p>
                      <a:pPr algn="ctr"/>
                      <a:r>
                        <a:rPr lang="zh-CN" altLang="en-US" sz="900" dirty="0">
                          <a:latin typeface="Garamond" panose="02020404030301010803" pitchFamily="18" charset="0"/>
                          <a:ea typeface="SimSun" panose="02010600030101010101" pitchFamily="2" charset="-122"/>
                        </a:rPr>
                        <a:t>价格</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548951585"/>
                  </a:ext>
                </a:extLst>
              </a:tr>
              <a:tr h="186965">
                <a:tc>
                  <a:txBody>
                    <a:bodyPr/>
                    <a:lstStyle/>
                    <a:p>
                      <a:pPr algn="ctr"/>
                      <a:r>
                        <a:rPr lang="zh-CN" altLang="en-US" sz="900" dirty="0">
                          <a:latin typeface="Garamond" panose="02020404030301010803" pitchFamily="18" charset="0"/>
                          <a:ea typeface="SimSun" panose="02010600030101010101" pitchFamily="2" charset="-122"/>
                        </a:rPr>
                        <a:t>收入分配</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2213019093"/>
                  </a:ext>
                </a:extLst>
              </a:tr>
              <a:tr h="186965">
                <a:tc>
                  <a:txBody>
                    <a:bodyPr/>
                    <a:lstStyle/>
                    <a:p>
                      <a:pPr algn="ctr"/>
                      <a:r>
                        <a:rPr lang="zh-CN" altLang="en-US" sz="900" dirty="0">
                          <a:latin typeface="Garamond" panose="02020404030301010803" pitchFamily="18" charset="0"/>
                          <a:ea typeface="SimSun" panose="02010600030101010101" pitchFamily="2" charset="-122"/>
                        </a:rPr>
                        <a:t>税收</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184040744"/>
                  </a:ext>
                </a:extLst>
              </a:tr>
              <a:tr h="186965">
                <a:tc>
                  <a:txBody>
                    <a:bodyPr/>
                    <a:lstStyle/>
                    <a:p>
                      <a:pPr marL="0" marR="0" lvl="0" indent="0" algn="ctr" defTabSz="913643" rtl="0" eaLnBrk="1" fontAlgn="auto" latinLnBrk="0" hangingPunct="1">
                        <a:lnSpc>
                          <a:spcPct val="100000"/>
                        </a:lnSpc>
                        <a:spcBef>
                          <a:spcPts val="0"/>
                        </a:spcBef>
                        <a:spcAft>
                          <a:spcPts val="0"/>
                        </a:spcAft>
                        <a:buClrTx/>
                        <a:buSzTx/>
                        <a:buFontTx/>
                        <a:buNone/>
                        <a:tabLst/>
                        <a:defRPr/>
                      </a:pPr>
                      <a:r>
                        <a:rPr lang="en-US" altLang="zh-CN" sz="500" dirty="0">
                          <a:latin typeface="Garamond" panose="02020404030301010803" pitchFamily="18" charset="0"/>
                          <a:ea typeface="SimSun" panose="02010600030101010101" pitchFamily="2" charset="-122"/>
                        </a:rPr>
                        <a:t>……</a:t>
                      </a:r>
                      <a:endParaRPr lang="zh-CN" altLang="en-US" sz="500" dirty="0">
                        <a:latin typeface="Garamond" panose="02020404030301010803" pitchFamily="18" charset="0"/>
                        <a:ea typeface="SimSun" panose="02010600030101010101" pitchFamily="2" charset="-122"/>
                      </a:endParaRPr>
                    </a:p>
                  </a:txBody>
                  <a:tcPr marL="46101" marR="46101" marT="23051" marB="23051"/>
                </a:tc>
                <a:tc>
                  <a:txBody>
                    <a:bodyPr/>
                    <a:lstStyle/>
                    <a:p>
                      <a:pPr algn="ctr"/>
                      <a:r>
                        <a:rPr lang="en-US" altLang="zh-CN" sz="800" dirty="0">
                          <a:latin typeface="Garamond" panose="02020404030301010803" pitchFamily="18" charset="0"/>
                          <a:ea typeface="SimSun" panose="02010600030101010101" pitchFamily="2" charset="-122"/>
                        </a:rPr>
                        <a:t>……</a:t>
                      </a: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182214433"/>
                  </a:ext>
                </a:extLst>
              </a:tr>
            </a:tbl>
          </a:graphicData>
        </a:graphic>
      </p:graphicFrame>
      <p:sp>
        <p:nvSpPr>
          <p:cNvPr id="10" name="文本框 9">
            <a:extLst>
              <a:ext uri="{FF2B5EF4-FFF2-40B4-BE49-F238E27FC236}">
                <a16:creationId xmlns:a16="http://schemas.microsoft.com/office/drawing/2014/main" id="{07C5B946-8D3F-BA01-C4D0-4BC0ED310468}"/>
              </a:ext>
            </a:extLst>
          </p:cNvPr>
          <p:cNvSpPr txBox="1"/>
          <p:nvPr/>
        </p:nvSpPr>
        <p:spPr>
          <a:xfrm>
            <a:off x="230505" y="1346687"/>
            <a:ext cx="4036518" cy="247440"/>
          </a:xfrm>
          <a:prstGeom prst="rect">
            <a:avLst/>
          </a:prstGeom>
          <a:noFill/>
        </p:spPr>
        <p:txBody>
          <a:bodyPr wrap="square">
            <a:spAutoFit/>
          </a:bodyPr>
          <a:lstStyle/>
          <a:p>
            <a:r>
              <a:rPr lang="zh-CN" altLang="en-US" sz="1008" b="1" dirty="0">
                <a:latin typeface="Garamond" panose="02020404030301010803" pitchFamily="18" charset="0"/>
                <a:ea typeface="KaiTi" panose="02010609060101010101" pitchFamily="49" charset="-122"/>
              </a:rPr>
              <a:t>表</a:t>
            </a:r>
            <a:r>
              <a:rPr lang="en-US" altLang="zh-CN" sz="1008" b="1" dirty="0">
                <a:latin typeface="Garamond" panose="02020404030301010803" pitchFamily="18" charset="0"/>
                <a:ea typeface="KaiTi" panose="02010609060101010101" pitchFamily="49" charset="-122"/>
              </a:rPr>
              <a:t>2</a:t>
            </a:r>
            <a:r>
              <a:rPr lang="zh-CN" altLang="en-US" sz="1008" b="1" dirty="0">
                <a:latin typeface="Garamond" panose="02020404030301010803" pitchFamily="18" charset="0"/>
                <a:ea typeface="KaiTi" panose="02010609060101010101" pitchFamily="49" charset="-122"/>
              </a:rPr>
              <a:t>：消费曲线移动的影响因素</a:t>
            </a:r>
          </a:p>
        </p:txBody>
      </p:sp>
      <p:sp>
        <p:nvSpPr>
          <p:cNvPr id="11" name="灯片编号占位符 2">
            <a:extLst>
              <a:ext uri="{FF2B5EF4-FFF2-40B4-BE49-F238E27FC236}">
                <a16:creationId xmlns:a16="http://schemas.microsoft.com/office/drawing/2014/main" id="{545B8EF4-631A-65CE-B80E-B58F2BA9783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43</a:t>
            </a:fld>
            <a:endParaRPr lang="zh-CN" altLang="zh-CN" sz="856">
              <a:solidFill>
                <a:srgbClr val="777777"/>
              </a:solidFill>
              <a:ea typeface="宋体" panose="02010600030101010101" pitchFamily="2" charset="-122"/>
            </a:endParaRPr>
          </a:p>
        </p:txBody>
      </p:sp>
      <p:graphicFrame>
        <p:nvGraphicFramePr>
          <p:cNvPr id="4" name="表格 3">
            <a:extLst>
              <a:ext uri="{FF2B5EF4-FFF2-40B4-BE49-F238E27FC236}">
                <a16:creationId xmlns:a16="http://schemas.microsoft.com/office/drawing/2014/main" id="{1CCEF034-846E-B4E7-A077-582216C5B4BE}"/>
              </a:ext>
            </a:extLst>
          </p:cNvPr>
          <p:cNvGraphicFramePr>
            <a:graphicFrameLocks noGrp="1"/>
          </p:cNvGraphicFramePr>
          <p:nvPr>
            <p:extLst>
              <p:ext uri="{D42A27DB-BD31-4B8C-83A1-F6EECF244321}">
                <p14:modId xmlns:p14="http://schemas.microsoft.com/office/powerpoint/2010/main" val="1804241371"/>
              </p:ext>
            </p:extLst>
          </p:nvPr>
        </p:nvGraphicFramePr>
        <p:xfrm>
          <a:off x="1993595" y="1773267"/>
          <a:ext cx="1944215" cy="934825"/>
        </p:xfrm>
        <a:graphic>
          <a:graphicData uri="http://schemas.openxmlformats.org/drawingml/2006/table">
            <a:tbl>
              <a:tblPr firstRow="1" bandRow="1">
                <a:tableStyleId>{F5AB1C69-6EDB-4FF4-983F-18BD219EF322}</a:tableStyleId>
              </a:tblPr>
              <a:tblGrid>
                <a:gridCol w="1944215">
                  <a:extLst>
                    <a:ext uri="{9D8B030D-6E8A-4147-A177-3AD203B41FA5}">
                      <a16:colId xmlns:a16="http://schemas.microsoft.com/office/drawing/2014/main" val="3150608213"/>
                    </a:ext>
                  </a:extLst>
                </a:gridCol>
              </a:tblGrid>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财富增加，消费曲线向上移动</a:t>
                      </a:r>
                    </a:p>
                  </a:txBody>
                  <a:tcPr marL="46101" marR="46101" marT="23051" marB="23051">
                    <a:noFill/>
                  </a:tcPr>
                </a:tc>
                <a:extLst>
                  <a:ext uri="{0D108BD9-81ED-4DB2-BD59-A6C34878D82A}">
                    <a16:rowId xmlns:a16="http://schemas.microsoft.com/office/drawing/2014/main" val="3061408596"/>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乐观预期，消费曲线向上移动</a:t>
                      </a:r>
                    </a:p>
                  </a:txBody>
                  <a:tcPr marL="46101" marR="46101" marT="23051" marB="23051">
                    <a:noFill/>
                  </a:tcPr>
                </a:tc>
                <a:extLst>
                  <a:ext uri="{0D108BD9-81ED-4DB2-BD59-A6C34878D82A}">
                    <a16:rowId xmlns:a16="http://schemas.microsoft.com/office/drawing/2014/main" val="1279872104"/>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价格越低，消费曲线向上移动</a:t>
                      </a:r>
                    </a:p>
                  </a:txBody>
                  <a:tcPr marL="46101" marR="46101" marT="23051" marB="23051">
                    <a:noFill/>
                  </a:tcPr>
                </a:tc>
                <a:extLst>
                  <a:ext uri="{0D108BD9-81ED-4DB2-BD59-A6C34878D82A}">
                    <a16:rowId xmlns:a16="http://schemas.microsoft.com/office/drawing/2014/main" val="2604233889"/>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收入分配越公平，消费曲线上右移动</a:t>
                      </a:r>
                    </a:p>
                  </a:txBody>
                  <a:tcPr marL="46101" marR="46101" marT="23051" marB="23051">
                    <a:noFill/>
                  </a:tcPr>
                </a:tc>
                <a:extLst>
                  <a:ext uri="{0D108BD9-81ED-4DB2-BD59-A6C34878D82A}">
                    <a16:rowId xmlns:a16="http://schemas.microsoft.com/office/drawing/2014/main" val="1204135146"/>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减税，消费曲线向上移动</a:t>
                      </a:r>
                    </a:p>
                  </a:txBody>
                  <a:tcPr marL="46101" marR="46101" marT="23051" marB="23051">
                    <a:noFill/>
                  </a:tcPr>
                </a:tc>
                <a:extLst>
                  <a:ext uri="{0D108BD9-81ED-4DB2-BD59-A6C34878D82A}">
                    <a16:rowId xmlns:a16="http://schemas.microsoft.com/office/drawing/2014/main" val="403651365"/>
                  </a:ext>
                </a:extLst>
              </a:tr>
            </a:tbl>
          </a:graphicData>
        </a:graphic>
      </p:graphicFrame>
      <p:sp>
        <p:nvSpPr>
          <p:cNvPr id="5" name="页脚占位符 1">
            <a:extLst>
              <a:ext uri="{FF2B5EF4-FFF2-40B4-BE49-F238E27FC236}">
                <a16:creationId xmlns:a16="http://schemas.microsoft.com/office/drawing/2014/main" id="{BFF6FE40-8FF3-E672-9BD9-894FE3B74C0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11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E51BEE2-9A94-72DB-1447-E52E9A107A74}"/>
              </a:ext>
            </a:extLst>
          </p:cNvPr>
          <p:cNvSpPr>
            <a:spLocks noGrp="1"/>
          </p:cNvSpPr>
          <p:nvPr>
            <p:ph type="title"/>
          </p:nvPr>
        </p:nvSpPr>
        <p:spPr/>
        <p:txBody>
          <a:bodyPr/>
          <a:lstStyle/>
          <a:p>
            <a:r>
              <a:rPr kumimoji="1" lang="zh-CN" altLang="en-US" dirty="0"/>
              <a:t>硬币的另一面：储蓄函数</a:t>
            </a:r>
          </a:p>
        </p:txBody>
      </p:sp>
      <p:pic>
        <p:nvPicPr>
          <p:cNvPr id="29696" name="Picture 4" descr="xf134">
            <a:extLst>
              <a:ext uri="{FF2B5EF4-FFF2-40B4-BE49-F238E27FC236}">
                <a16:creationId xmlns:a16="http://schemas.microsoft.com/office/drawing/2014/main" id="{37D86246-7C21-024E-A486-BEDA0D6B486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910" t="6209" r="4079" b="4343"/>
          <a:stretch/>
        </p:blipFill>
        <p:spPr bwMode="auto">
          <a:xfrm>
            <a:off x="2203811" y="1312629"/>
            <a:ext cx="1989952" cy="1142735"/>
          </a:xfrm>
          <a:prstGeom prst="rect">
            <a:avLst/>
          </a:prstGeom>
          <a:noFill/>
          <a:extLst>
            <a:ext uri="{909E8E84-426E-40DD-AFC4-6F175D3DCCD1}">
              <a14:hiddenFill xmlns:a14="http://schemas.microsoft.com/office/drawing/2010/main">
                <a:solidFill>
                  <a:srgbClr val="FFFFFF"/>
                </a:solidFill>
              </a14:hiddenFill>
            </a:ext>
          </a:extLst>
        </p:spPr>
      </p:pic>
      <p:pic>
        <p:nvPicPr>
          <p:cNvPr id="29697" name="Picture 4" descr="xf132">
            <a:extLst>
              <a:ext uri="{FF2B5EF4-FFF2-40B4-BE49-F238E27FC236}">
                <a16:creationId xmlns:a16="http://schemas.microsoft.com/office/drawing/2014/main" id="{B830E45A-DB7D-3A75-1D43-5CBAE3FE9F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0" y="1227744"/>
            <a:ext cx="2203811" cy="16032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9698" name="内容占位符 2">
                <a:extLst>
                  <a:ext uri="{FF2B5EF4-FFF2-40B4-BE49-F238E27FC236}">
                    <a16:creationId xmlns:a16="http://schemas.microsoft.com/office/drawing/2014/main" id="{64715884-C689-D3B7-1D0F-23244CB77333}"/>
                  </a:ext>
                </a:extLst>
              </p:cNvPr>
              <p:cNvSpPr>
                <a:spLocks noGrp="1"/>
              </p:cNvSpPr>
              <p:nvPr>
                <p:ph idx="1"/>
              </p:nvPr>
            </p:nvSpPr>
            <p:spPr>
              <a:xfrm>
                <a:off x="154823" y="538391"/>
                <a:ext cx="4276443" cy="854274"/>
              </a:xfrm>
            </p:spPr>
            <p:txBody>
              <a:bodyPr/>
              <a:lstStyle/>
              <a:p>
                <a:r>
                  <a:rPr lang="zh-CN" altLang="en-US" sz="1210" dirty="0">
                    <a:latin typeface="SimSun" panose="02010600030101010101" pitchFamily="2" charset="-122"/>
                    <a:ea typeface="SimSun" panose="02010600030101010101" pitchFamily="2" charset="-122"/>
                  </a:rPr>
                  <a:t>储蓄是个人可支配收入中没有用于消费的部分，因此，储蓄函数为：</a:t>
                </a:r>
                <a14:m>
                  <m:oMath xmlns:m="http://schemas.openxmlformats.org/officeDocument/2006/math">
                    <m:r>
                      <a:rPr lang="en-US" altLang="zh-CN" sz="1210" i="1">
                        <a:latin typeface="Cambria Math" panose="02040503050406030204" pitchFamily="18" charset="0"/>
                      </a:rPr>
                      <m:t>𝑠</m:t>
                    </m:r>
                    <m:r>
                      <a:rPr lang="en-US" altLang="zh-CN" sz="1210" i="1">
                        <a:latin typeface="Cambria Math" panose="02040503050406030204" pitchFamily="18" charset="0"/>
                      </a:rPr>
                      <m:t>=</m:t>
                    </m:r>
                    <m:r>
                      <a:rPr lang="en-US" altLang="zh-CN" sz="1210" i="1">
                        <a:latin typeface="Cambria Math" panose="02040503050406030204" pitchFamily="18" charset="0"/>
                      </a:rPr>
                      <m:t>𝑠</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e>
                    </m:d>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r>
                      <a:rPr lang="en-US" altLang="zh-CN" sz="1210" i="1">
                        <a:latin typeface="Cambria Math" panose="02040503050406030204" pitchFamily="18" charset="0"/>
                      </a:rPr>
                      <m:t>𝑐</m:t>
                    </m:r>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e>
                    </m:d>
                  </m:oMath>
                </a14:m>
                <a:endParaRPr lang="en-US" altLang="zh-CN" sz="1210" i="1" dirty="0">
                  <a:latin typeface="Cambria Math" panose="02040503050406030204" pitchFamily="18" charset="0"/>
                </a:endParaRPr>
              </a:p>
              <a:p>
                <a:r>
                  <a:rPr lang="zh-CN" altLang="en-US" sz="1210" dirty="0">
                    <a:latin typeface="SimSun" panose="02010600030101010101" pitchFamily="2" charset="-122"/>
                    <a:ea typeface="SimSun" panose="02010600030101010101" pitchFamily="2" charset="-122"/>
                  </a:rPr>
                  <a:t>即</a:t>
                </a:r>
                <a14:m>
                  <m:oMath xmlns:m="http://schemas.openxmlformats.org/officeDocument/2006/math">
                    <m:r>
                      <a:rPr lang="en-US" altLang="zh-CN" sz="1210" i="1">
                        <a:latin typeface="Cambria Math" panose="02040503050406030204" pitchFamily="18" charset="0"/>
                      </a:rPr>
                      <m:t>𝑠</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1−</m:t>
                        </m:r>
                        <m:r>
                          <a:rPr lang="zh-CN" altLang="en-US" sz="1210" i="1">
                            <a:latin typeface="Cambria Math" panose="02040503050406030204" pitchFamily="18" charset="0"/>
                          </a:rPr>
                          <m:t>𝛽</m:t>
                        </m:r>
                      </m:e>
                    </m:d>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oMath>
                </a14:m>
                <a:endParaRPr lang="en-US" altLang="zh-CN" sz="1210" dirty="0">
                  <a:latin typeface="SimSun" panose="02010600030101010101" pitchFamily="2" charset="-122"/>
                  <a:ea typeface="SimSun" panose="02010600030101010101" pitchFamily="2" charset="-122"/>
                </a:endParaRPr>
              </a:p>
            </p:txBody>
          </p:sp>
        </mc:Choice>
        <mc:Fallback xmlns="">
          <p:sp>
            <p:nvSpPr>
              <p:cNvPr id="29698" name="内容占位符 2">
                <a:extLst>
                  <a:ext uri="{FF2B5EF4-FFF2-40B4-BE49-F238E27FC236}">
                    <a16:creationId xmlns:a16="http://schemas.microsoft.com/office/drawing/2014/main" id="{64715884-C689-D3B7-1D0F-23244CB77333}"/>
                  </a:ext>
                </a:extLst>
              </p:cNvPr>
              <p:cNvSpPr>
                <a:spLocks noGrp="1" noRot="1" noChangeAspect="1" noMove="1" noResize="1" noEditPoints="1" noAdjustHandles="1" noChangeArrowheads="1" noChangeShapeType="1" noTextEdit="1"/>
              </p:cNvSpPr>
              <p:nvPr>
                <p:ph idx="1"/>
              </p:nvPr>
            </p:nvSpPr>
            <p:spPr>
              <a:xfrm>
                <a:off x="154823" y="538391"/>
                <a:ext cx="4276443" cy="854274"/>
              </a:xfrm>
              <a:blipFill>
                <a:blip r:embed="rId4"/>
                <a:stretch>
                  <a:fillRect l="-297" t="-4412"/>
                </a:stretch>
              </a:blipFill>
            </p:spPr>
            <p:txBody>
              <a:bodyPr/>
              <a:lstStyle/>
              <a:p>
                <a:r>
                  <a:rPr lang="zh-CN" altLang="en-US">
                    <a:noFill/>
                  </a:rPr>
                  <a:t> </a:t>
                </a:r>
              </a:p>
            </p:txBody>
          </p:sp>
        </mc:Fallback>
      </mc:AlternateContent>
      <p:sp>
        <p:nvSpPr>
          <p:cNvPr id="29699" name="Text Box 5">
            <a:extLst>
              <a:ext uri="{FF2B5EF4-FFF2-40B4-BE49-F238E27FC236}">
                <a16:creationId xmlns:a16="http://schemas.microsoft.com/office/drawing/2014/main" id="{BACC4D2D-45D9-2D04-037A-4806888DA8BF}"/>
              </a:ext>
            </a:extLst>
          </p:cNvPr>
          <p:cNvSpPr txBox="1">
            <a:spLocks noChangeArrowheads="1"/>
          </p:cNvSpPr>
          <p:nvPr/>
        </p:nvSpPr>
        <p:spPr bwMode="auto">
          <a:xfrm>
            <a:off x="20839" y="2815002"/>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消费曲线</a:t>
            </a:r>
          </a:p>
        </p:txBody>
      </p:sp>
      <p:sp>
        <p:nvSpPr>
          <p:cNvPr id="29700" name="Text Box 5">
            <a:extLst>
              <a:ext uri="{FF2B5EF4-FFF2-40B4-BE49-F238E27FC236}">
                <a16:creationId xmlns:a16="http://schemas.microsoft.com/office/drawing/2014/main" id="{358DC5DA-B099-BA96-280C-2814601D53E9}"/>
              </a:ext>
            </a:extLst>
          </p:cNvPr>
          <p:cNvSpPr txBox="1">
            <a:spLocks noChangeArrowheads="1"/>
          </p:cNvSpPr>
          <p:nvPr/>
        </p:nvSpPr>
        <p:spPr bwMode="auto">
          <a:xfrm>
            <a:off x="1915524" y="2455364"/>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储蓄曲线</a:t>
            </a:r>
          </a:p>
        </p:txBody>
      </p:sp>
      <p:sp>
        <p:nvSpPr>
          <p:cNvPr id="29702" name="灯片编号占位符 2">
            <a:extLst>
              <a:ext uri="{FF2B5EF4-FFF2-40B4-BE49-F238E27FC236}">
                <a16:creationId xmlns:a16="http://schemas.microsoft.com/office/drawing/2014/main" id="{BFBC8B7E-2ADC-AE8B-B5AB-1BB4D22CEBB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44</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9B750806-ADB9-41C4-2083-0BDC2BC2C77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5133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wipe(left)">
                                      <p:cBhvr>
                                        <p:cTn id="7" dur="500"/>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wipe(left)">
                                      <p:cBhvr>
                                        <p:cTn id="12" dur="500"/>
                                        <p:tgtEl>
                                          <p:spTgt spid="296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储蓄曲线上任一点的斜率是</a:t>
                </a:r>
                <a:r>
                  <a:rPr lang="zh-CN" altLang="en-US" b="1" dirty="0">
                    <a:latin typeface="Garamond" panose="02020404030301010803" pitchFamily="18" charset="0"/>
                    <a:ea typeface="SimSun" panose="02010600030101010101" pitchFamily="2" charset="-122"/>
                  </a:rPr>
                  <a:t>边际储蓄倾向</a:t>
                </a:r>
                <a:r>
                  <a:rPr lang="en-US" altLang="zh-CN" dirty="0">
                    <a:latin typeface="Garamond" panose="02020404030301010803" pitchFamily="18" charset="0"/>
                    <a:ea typeface="SimSun" panose="02010600030101010101" pitchFamily="2" charset="-122"/>
                  </a:rPr>
                  <a:t>(MPS)</a:t>
                </a:r>
                <a:r>
                  <a:rPr lang="zh-CN" altLang="en-US" dirty="0">
                    <a:latin typeface="Garamond" panose="02020404030301010803" pitchFamily="18" charset="0"/>
                    <a:ea typeface="SimSun" panose="02010600030101010101" pitchFamily="2" charset="-122"/>
                  </a:rPr>
                  <a:t>，它是该点上的储蓄增量对收入增量的比率：</a:t>
                </a:r>
                <a:endParaRPr lang="en-US" altLang="zh-CN" dirty="0">
                  <a:latin typeface="Garamond" panose="02020404030301010803" pitchFamily="18" charset="0"/>
                  <a:ea typeface="SimSun"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𝑀𝑃𝑆</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oMath>
                  </m:oMathPara>
                </a14:m>
                <a:endParaRPr lang="en-US" altLang="zh-CN" dirty="0">
                  <a:latin typeface="Garamond" panose="02020404030301010803" pitchFamily="18" charset="0"/>
                  <a:ea typeface="SimSun" panose="02010600030101010101" pitchFamily="2" charset="-122"/>
                </a:endParaRPr>
              </a:p>
              <a:p>
                <a:r>
                  <a:rPr lang="zh-CN" altLang="en-US" b="1" dirty="0">
                    <a:latin typeface="Garamond" panose="02020404030301010803" pitchFamily="18" charset="0"/>
                    <a:ea typeface="SimSun" panose="02010600030101010101" pitchFamily="2" charset="-122"/>
                  </a:rPr>
                  <a:t>平均储蓄倾向</a:t>
                </a:r>
                <a:r>
                  <a:rPr lang="en-US" altLang="zh-CN" dirty="0">
                    <a:latin typeface="Garamond" panose="02020404030301010803" pitchFamily="18" charset="0"/>
                    <a:ea typeface="SimSun" panose="02010600030101010101" pitchFamily="2" charset="-122"/>
                  </a:rPr>
                  <a:t>(APS)</a:t>
                </a:r>
                <a:r>
                  <a:rPr lang="zh-CN" altLang="en-US" dirty="0">
                    <a:latin typeface="Garamond" panose="02020404030301010803" pitchFamily="18" charset="0"/>
                    <a:ea typeface="SimSun" panose="02010600030101010101" pitchFamily="2" charset="-122"/>
                  </a:rPr>
                  <a:t>是任一收入水平上储蓄在收入中所占的比率。</a:t>
                </a:r>
                <a:endParaRPr lang="en-US" altLang="zh-CN" dirty="0">
                  <a:latin typeface="Garamond" panose="02020404030301010803" pitchFamily="18" charset="0"/>
                  <a:ea typeface="SimSun"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A</m:t>
                      </m:r>
                      <m:r>
                        <a:rPr lang="en-US" altLang="zh-CN" i="1">
                          <a:latin typeface="Cambria Math" panose="02040503050406030204" pitchFamily="18" charset="0"/>
                        </a:rPr>
                        <m:t>𝑃𝑆</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𝑠</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oMath>
                  </m:oMathPara>
                </a14:m>
                <a:endParaRPr lang="en-US" altLang="zh-CN" dirty="0">
                  <a:latin typeface="Garamond" panose="02020404030301010803" pitchFamily="18" charset="0"/>
                  <a:ea typeface="SimSun" panose="02010600030101010101" pitchFamily="2" charset="-122"/>
                </a:endParaRPr>
              </a:p>
              <a:p>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832" t="-2475"/>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027366D6-4E20-24E6-B395-79314B57152C}"/>
              </a:ext>
            </a:extLst>
          </p:cNvPr>
          <p:cNvSpPr>
            <a:spLocks noGrp="1"/>
          </p:cNvSpPr>
          <p:nvPr>
            <p:ph type="title"/>
          </p:nvPr>
        </p:nvSpPr>
        <p:spPr/>
        <p:txBody>
          <a:bodyPr/>
          <a:lstStyle/>
          <a:p>
            <a:r>
              <a:rPr kumimoji="1" lang="zh-CN" altLang="en-US" dirty="0"/>
              <a:t>储蓄函数</a:t>
            </a:r>
          </a:p>
        </p:txBody>
      </p:sp>
      <p:sp>
        <p:nvSpPr>
          <p:cNvPr id="8" name="灯片编号占位符 2">
            <a:extLst>
              <a:ext uri="{FF2B5EF4-FFF2-40B4-BE49-F238E27FC236}">
                <a16:creationId xmlns:a16="http://schemas.microsoft.com/office/drawing/2014/main" id="{DC609F6A-3574-CD7B-9E99-D59B2E4280C7}"/>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45</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5B87D31A-84A8-1CEB-F0EA-9E1A44B105F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48663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7A1F6E56-B205-6125-49DA-C96311F54CD6}"/>
                  </a:ext>
                </a:extLst>
              </p:cNvPr>
              <p:cNvSpPr txBox="1"/>
              <p:nvPr/>
            </p:nvSpPr>
            <p:spPr>
              <a:xfrm>
                <a:off x="113028" y="2713939"/>
                <a:ext cx="212301" cy="15388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1000" b="0" i="1" smtClean="0">
                          <a:latin typeface="Cambria Math" panose="02040503050406030204" pitchFamily="18" charset="0"/>
                        </a:rPr>
                        <m:t>−</m:t>
                      </m:r>
                      <m:r>
                        <a:rPr kumimoji="1" lang="zh-CN" altLang="en-US" sz="1000" i="1" smtClean="0">
                          <a:latin typeface="Cambria Math" panose="02040503050406030204" pitchFamily="18" charset="0"/>
                        </a:rPr>
                        <m:t>𝛼</m:t>
                      </m:r>
                    </m:oMath>
                  </m:oMathPara>
                </a14:m>
                <a:endParaRPr kumimoji="1" lang="zh-CN" altLang="en-US" sz="1000" dirty="0"/>
              </a:p>
            </p:txBody>
          </p:sp>
        </mc:Choice>
        <mc:Fallback xmlns="">
          <p:sp>
            <p:nvSpPr>
              <p:cNvPr id="56" name="文本框 55">
                <a:extLst>
                  <a:ext uri="{FF2B5EF4-FFF2-40B4-BE49-F238E27FC236}">
                    <a16:creationId xmlns:a16="http://schemas.microsoft.com/office/drawing/2014/main" id="{7A1F6E56-B205-6125-49DA-C96311F54CD6}"/>
                  </a:ext>
                </a:extLst>
              </p:cNvPr>
              <p:cNvSpPr txBox="1">
                <a:spLocks noRot="1" noChangeAspect="1" noMove="1" noResize="1" noEditPoints="1" noAdjustHandles="1" noChangeArrowheads="1" noChangeShapeType="1" noTextEdit="1"/>
              </p:cNvSpPr>
              <p:nvPr/>
            </p:nvSpPr>
            <p:spPr>
              <a:xfrm>
                <a:off x="113028" y="2713939"/>
                <a:ext cx="212301" cy="153888"/>
              </a:xfrm>
              <a:prstGeom prst="rect">
                <a:avLst/>
              </a:prstGeom>
              <a:blipFill>
                <a:blip r:embed="rId2"/>
                <a:stretch>
                  <a:fillRect l="-5882" r="-5882"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E3A7609D-6B2E-5289-6231-69B97631B117}"/>
                  </a:ext>
                </a:extLst>
              </p:cNvPr>
              <p:cNvSpPr txBox="1"/>
              <p:nvPr/>
            </p:nvSpPr>
            <p:spPr>
              <a:xfrm>
                <a:off x="195982" y="2086313"/>
                <a:ext cx="116122" cy="15388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000" i="1" smtClean="0">
                          <a:latin typeface="Cambria Math" panose="02040503050406030204" pitchFamily="18" charset="0"/>
                        </a:rPr>
                        <m:t>𝛼</m:t>
                      </m:r>
                    </m:oMath>
                  </m:oMathPara>
                </a14:m>
                <a:endParaRPr kumimoji="1" lang="zh-CN" altLang="en-US" sz="1000" dirty="0"/>
              </a:p>
            </p:txBody>
          </p:sp>
        </mc:Choice>
        <mc:Fallback xmlns="">
          <p:sp>
            <p:nvSpPr>
              <p:cNvPr id="55" name="文本框 54">
                <a:extLst>
                  <a:ext uri="{FF2B5EF4-FFF2-40B4-BE49-F238E27FC236}">
                    <a16:creationId xmlns:a16="http://schemas.microsoft.com/office/drawing/2014/main" id="{E3A7609D-6B2E-5289-6231-69B97631B117}"/>
                  </a:ext>
                </a:extLst>
              </p:cNvPr>
              <p:cNvSpPr txBox="1">
                <a:spLocks noRot="1" noChangeAspect="1" noMove="1" noResize="1" noEditPoints="1" noAdjustHandles="1" noChangeArrowheads="1" noChangeShapeType="1" noTextEdit="1"/>
              </p:cNvSpPr>
              <p:nvPr/>
            </p:nvSpPr>
            <p:spPr>
              <a:xfrm>
                <a:off x="195982" y="2086313"/>
                <a:ext cx="116122" cy="153888"/>
              </a:xfrm>
              <a:prstGeom prst="rect">
                <a:avLst/>
              </a:prstGeom>
              <a:blipFill>
                <a:blip r:embed="rId3"/>
                <a:stretch>
                  <a:fillRect l="-20000" r="-10000" b="-7692"/>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58EC497A-0B1F-29B6-BD5A-7868B186E285}"/>
              </a:ext>
            </a:extLst>
          </p:cNvPr>
          <p:cNvSpPr>
            <a:spLocks noGrp="1"/>
          </p:cNvSpPr>
          <p:nvPr>
            <p:ph type="title"/>
          </p:nvPr>
        </p:nvSpPr>
        <p:spPr/>
        <p:txBody>
          <a:bodyPr/>
          <a:lstStyle/>
          <a:p>
            <a:r>
              <a:rPr kumimoji="1" lang="zh-CN" altLang="en-US" dirty="0"/>
              <a:t>储蓄曲线与消费曲线</a:t>
            </a:r>
          </a:p>
        </p:txBody>
      </p:sp>
      <p:sp>
        <p:nvSpPr>
          <p:cNvPr id="8" name="灯片编号占位符 2">
            <a:extLst>
              <a:ext uri="{FF2B5EF4-FFF2-40B4-BE49-F238E27FC236}">
                <a16:creationId xmlns:a16="http://schemas.microsoft.com/office/drawing/2014/main" id="{EEA5BD5B-31A8-7968-E2F9-A18E84AC33A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46</a:t>
            </a:fld>
            <a:endParaRPr lang="zh-CN" altLang="zh-CN" sz="856">
              <a:solidFill>
                <a:srgbClr val="777777"/>
              </a:solidFill>
              <a:ea typeface="宋体" panose="02010600030101010101" pitchFamily="2" charset="-122"/>
            </a:endParaRPr>
          </a:p>
        </p:txBody>
      </p:sp>
      <p:grpSp>
        <p:nvGrpSpPr>
          <p:cNvPr id="33" name="组合 32">
            <a:extLst>
              <a:ext uri="{FF2B5EF4-FFF2-40B4-BE49-F238E27FC236}">
                <a16:creationId xmlns:a16="http://schemas.microsoft.com/office/drawing/2014/main" id="{62A75ED1-E819-80E3-261B-9EB6D14E0D87}"/>
              </a:ext>
            </a:extLst>
          </p:cNvPr>
          <p:cNvGrpSpPr/>
          <p:nvPr/>
        </p:nvGrpSpPr>
        <p:grpSpPr>
          <a:xfrm>
            <a:off x="176445" y="661453"/>
            <a:ext cx="2630601" cy="2437074"/>
            <a:chOff x="349974" y="1308825"/>
            <a:chExt cx="5217721" cy="4833865"/>
          </a:xfrm>
        </p:grpSpPr>
        <p:sp>
          <p:nvSpPr>
            <p:cNvPr id="10" name="Text Box 5">
              <a:extLst>
                <a:ext uri="{FF2B5EF4-FFF2-40B4-BE49-F238E27FC236}">
                  <a16:creationId xmlns:a16="http://schemas.microsoft.com/office/drawing/2014/main" id="{BDC467D7-9706-8C8C-A522-491496FBF895}"/>
                </a:ext>
              </a:extLst>
            </p:cNvPr>
            <p:cNvSpPr txBox="1">
              <a:spLocks noChangeArrowheads="1"/>
            </p:cNvSpPr>
            <p:nvPr/>
          </p:nvSpPr>
          <p:spPr bwMode="auto">
            <a:xfrm>
              <a:off x="349974" y="5558482"/>
              <a:ext cx="4731473" cy="490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线性消费曲线与储蓄的关系</a:t>
              </a:r>
            </a:p>
          </p:txBody>
        </p:sp>
        <p:grpSp>
          <p:nvGrpSpPr>
            <p:cNvPr id="29" name="组合 28">
              <a:extLst>
                <a:ext uri="{FF2B5EF4-FFF2-40B4-BE49-F238E27FC236}">
                  <a16:creationId xmlns:a16="http://schemas.microsoft.com/office/drawing/2014/main" id="{2B6AFEAC-F0B0-5F38-8AB6-79D92F0B9B72}"/>
                </a:ext>
              </a:extLst>
            </p:cNvPr>
            <p:cNvGrpSpPr/>
            <p:nvPr/>
          </p:nvGrpSpPr>
          <p:grpSpPr>
            <a:xfrm>
              <a:off x="621227" y="1308825"/>
              <a:ext cx="4946468" cy="4833865"/>
              <a:chOff x="621227" y="1308825"/>
              <a:chExt cx="4946468" cy="4833865"/>
            </a:xfrm>
          </p:grpSpPr>
          <p:cxnSp>
            <p:nvCxnSpPr>
              <p:cNvPr id="11" name="直接箭头连接符 6">
                <a:extLst>
                  <a:ext uri="{FF2B5EF4-FFF2-40B4-BE49-F238E27FC236}">
                    <a16:creationId xmlns:a16="http://schemas.microsoft.com/office/drawing/2014/main" id="{CBB7A2E1-919E-C92D-6A02-BBF690CF5765}"/>
                  </a:ext>
                </a:extLst>
              </p:cNvPr>
              <p:cNvCxnSpPr/>
              <p:nvPr/>
            </p:nvCxnSpPr>
            <p:spPr>
              <a:xfrm>
                <a:off x="621227" y="4996585"/>
                <a:ext cx="3846574" cy="0"/>
              </a:xfrm>
              <a:prstGeom prst="straightConnector1">
                <a:avLst/>
              </a:prstGeom>
              <a:ln w="15875">
                <a:solidFill>
                  <a:schemeClr val="dk1"/>
                </a:solidFill>
                <a:tailEnd type="triangle"/>
              </a:ln>
            </p:spPr>
            <p:style>
              <a:lnRef idx="1">
                <a:schemeClr val="dk1"/>
              </a:lnRef>
              <a:fillRef idx="0">
                <a:schemeClr val="dk1"/>
              </a:fillRef>
              <a:effectRef idx="0">
                <a:schemeClr val="dk1"/>
              </a:effectRef>
              <a:fontRef idx="minor">
                <a:schemeClr val="tx1"/>
              </a:fontRef>
            </p:style>
          </p:cxnSp>
          <p:cxnSp>
            <p:nvCxnSpPr>
              <p:cNvPr id="12" name="直接箭头连接符 8">
                <a:extLst>
                  <a:ext uri="{FF2B5EF4-FFF2-40B4-BE49-F238E27FC236}">
                    <a16:creationId xmlns:a16="http://schemas.microsoft.com/office/drawing/2014/main" id="{77AC7249-33E0-5838-ADAB-6E9FA2B500FC}"/>
                  </a:ext>
                </a:extLst>
              </p:cNvPr>
              <p:cNvCxnSpPr>
                <a:cxnSpLocks/>
              </p:cNvCxnSpPr>
              <p:nvPr/>
            </p:nvCxnSpPr>
            <p:spPr>
              <a:xfrm flipV="1">
                <a:off x="635653" y="1462544"/>
                <a:ext cx="0" cy="4680146"/>
              </a:xfrm>
              <a:prstGeom prst="straightConnector1">
                <a:avLst/>
              </a:prstGeom>
              <a:ln w="15875">
                <a:solidFill>
                  <a:schemeClr val="dk1"/>
                </a:solidFill>
                <a:tailEnd type="triangle"/>
              </a:ln>
            </p:spPr>
            <p:style>
              <a:lnRef idx="1">
                <a:schemeClr val="dk1"/>
              </a:lnRef>
              <a:fillRef idx="0">
                <a:schemeClr val="dk1"/>
              </a:fillRef>
              <a:effectRef idx="0">
                <a:schemeClr val="dk1"/>
              </a:effectRef>
              <a:fontRef idx="minor">
                <a:schemeClr val="tx1"/>
              </a:fontRef>
            </p:style>
          </p:cxnSp>
          <p:cxnSp>
            <p:nvCxnSpPr>
              <p:cNvPr id="13" name="直接连接符 10">
                <a:extLst>
                  <a:ext uri="{FF2B5EF4-FFF2-40B4-BE49-F238E27FC236}">
                    <a16:creationId xmlns:a16="http://schemas.microsoft.com/office/drawing/2014/main" id="{80846E3B-4BDA-D5C4-78CE-B132B22550B1}"/>
                  </a:ext>
                </a:extLst>
              </p:cNvPr>
              <p:cNvCxnSpPr>
                <a:cxnSpLocks/>
              </p:cNvCxnSpPr>
              <p:nvPr/>
            </p:nvCxnSpPr>
            <p:spPr>
              <a:xfrm flipV="1">
                <a:off x="635653" y="2204471"/>
                <a:ext cx="3947546" cy="211561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cxnSp>
            <p:nvCxnSpPr>
              <p:cNvPr id="14" name="直接连接符 12">
                <a:extLst>
                  <a:ext uri="{FF2B5EF4-FFF2-40B4-BE49-F238E27FC236}">
                    <a16:creationId xmlns:a16="http://schemas.microsoft.com/office/drawing/2014/main" id="{521D891C-80C6-44C8-EE51-BBCDA03627EE}"/>
                  </a:ext>
                </a:extLst>
              </p:cNvPr>
              <p:cNvCxnSpPr>
                <a:cxnSpLocks/>
              </p:cNvCxnSpPr>
              <p:nvPr/>
            </p:nvCxnSpPr>
            <p:spPr>
              <a:xfrm flipV="1">
                <a:off x="635653" y="1621321"/>
                <a:ext cx="3667619" cy="3365647"/>
              </a:xfrm>
              <a:prstGeom prst="line">
                <a:avLst/>
              </a:prstGeom>
              <a:ln w="12700">
                <a:solidFill>
                  <a:schemeClr val="dk1"/>
                </a:solidFill>
                <a:prstDash val="soli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65B505-6214-0ED7-FC2C-51C3E54993B1}"/>
                      </a:ext>
                    </a:extLst>
                  </p:cNvPr>
                  <p:cNvSpPr txBox="1"/>
                  <p:nvPr/>
                </p:nvSpPr>
                <p:spPr>
                  <a:xfrm>
                    <a:off x="4343288" y="4789735"/>
                    <a:ext cx="637369"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prstClr val="black"/>
                              </a:solidFill>
                              <a:latin typeface="Cambria Math" panose="02040503050406030204" pitchFamily="18" charset="0"/>
                              <a:ea typeface="等线" panose="02010600030101010101" pitchFamily="2" charset="-122"/>
                            </a:rPr>
                            <m:t>𝑦</m:t>
                          </m:r>
                        </m:oMath>
                      </m:oMathPara>
                    </a14:m>
                    <a:endParaRPr lang="zh-CN" altLang="en-US" sz="1050" dirty="0">
                      <a:solidFill>
                        <a:prstClr val="black"/>
                      </a:solidFill>
                      <a:latin typeface="Garamond" panose="02020404030301010803" pitchFamily="18" charset="0"/>
                      <a:ea typeface="等线" panose="02010600030101010101" pitchFamily="2" charset="-122"/>
                    </a:endParaRPr>
                  </a:p>
                </p:txBody>
              </p:sp>
            </mc:Choice>
            <mc:Fallback xmlns="">
              <p:sp>
                <p:nvSpPr>
                  <p:cNvPr id="16" name="文本框 15">
                    <a:extLst>
                      <a:ext uri="{FF2B5EF4-FFF2-40B4-BE49-F238E27FC236}">
                        <a16:creationId xmlns:a16="http://schemas.microsoft.com/office/drawing/2014/main" id="{D165B505-6214-0ED7-FC2C-51C3E54993B1}"/>
                      </a:ext>
                    </a:extLst>
                  </p:cNvPr>
                  <p:cNvSpPr txBox="1">
                    <a:spLocks noRot="1" noChangeAspect="1" noMove="1" noResize="1" noEditPoints="1" noAdjustHandles="1" noChangeArrowheads="1" noChangeShapeType="1" noTextEdit="1"/>
                  </p:cNvSpPr>
                  <p:nvPr/>
                </p:nvSpPr>
                <p:spPr>
                  <a:xfrm>
                    <a:off x="4343288" y="4789735"/>
                    <a:ext cx="637369" cy="503635"/>
                  </a:xfrm>
                  <a:prstGeom prst="rect">
                    <a:avLst/>
                  </a:prstGeom>
                  <a:blipFill>
                    <a:blip r:embed="rId4"/>
                    <a:stretch>
                      <a:fillRect/>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8218F996-CE35-B36B-7F18-41C67998E276}"/>
                  </a:ext>
                </a:extLst>
              </p:cNvPr>
              <p:cNvSpPr txBox="1"/>
              <p:nvPr/>
            </p:nvSpPr>
            <p:spPr>
              <a:xfrm>
                <a:off x="2972585" y="1308825"/>
                <a:ext cx="1161755" cy="490790"/>
              </a:xfrm>
              <a:prstGeom prst="rect">
                <a:avLst/>
              </a:prstGeom>
              <a:noFill/>
            </p:spPr>
            <p:txBody>
              <a:bodyPr wrap="square" rtlCol="0">
                <a:spAutoFit/>
              </a:bodyPr>
              <a:lstStyle/>
              <a:p>
                <a:pPr defTabSz="230520">
                  <a:defRPr/>
                </a:pPr>
                <a:r>
                  <a:rPr lang="en-US" altLang="zh-CN" sz="1008" dirty="0">
                    <a:solidFill>
                      <a:prstClr val="black"/>
                    </a:solidFill>
                    <a:latin typeface="SimSun" panose="02010600030101010101" pitchFamily="2" charset="-122"/>
                    <a:ea typeface="SimSun" panose="02010600030101010101" pitchFamily="2" charset="-122"/>
                  </a:rPr>
                  <a:t>45</a:t>
                </a:r>
                <a:r>
                  <a:rPr lang="zh-CN" altLang="en-US" sz="1008" dirty="0">
                    <a:solidFill>
                      <a:prstClr val="black"/>
                    </a:solidFill>
                    <a:latin typeface="SimSun" panose="02010600030101010101" pitchFamily="2" charset="-122"/>
                    <a:ea typeface="SimSun" panose="02010600030101010101" pitchFamily="2" charset="-122"/>
                  </a:rPr>
                  <a:t>度线</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E0B054F-CAE6-B0FF-B636-AA4860E3C4F7}"/>
                      </a:ext>
                    </a:extLst>
                  </p:cNvPr>
                  <p:cNvSpPr txBox="1"/>
                  <p:nvPr/>
                </p:nvSpPr>
                <p:spPr>
                  <a:xfrm>
                    <a:off x="4050782" y="1733849"/>
                    <a:ext cx="1516913"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srgbClr val="00B0F0"/>
                              </a:solidFill>
                              <a:latin typeface="Cambria Math" panose="02040503050406030204" pitchFamily="18" charset="0"/>
                              <a:ea typeface="等线" panose="02010600030101010101" pitchFamily="2" charset="-122"/>
                            </a:rPr>
                            <m:t>𝑐</m:t>
                          </m:r>
                          <m:r>
                            <a:rPr lang="en-US" altLang="zh-CN" sz="1050" i="1" dirty="0" smtClean="0">
                              <a:solidFill>
                                <a:srgbClr val="00B0F0"/>
                              </a:solidFill>
                              <a:latin typeface="Cambria Math" panose="02040503050406030204" pitchFamily="18" charset="0"/>
                              <a:ea typeface="等线" panose="02010600030101010101" pitchFamily="2" charset="-122"/>
                            </a:rPr>
                            <m:t>=</m:t>
                          </m:r>
                          <m:r>
                            <a:rPr lang="en-US" altLang="zh-CN" sz="1050" i="1" dirty="0" smtClean="0">
                              <a:solidFill>
                                <a:srgbClr val="00B0F0"/>
                              </a:solidFill>
                              <a:latin typeface="Cambria Math" panose="02040503050406030204" pitchFamily="18" charset="0"/>
                              <a:ea typeface="等线" panose="02010600030101010101" pitchFamily="2" charset="-122"/>
                            </a:rPr>
                            <m:t>𝑐</m:t>
                          </m:r>
                          <m:r>
                            <a:rPr lang="en-US" altLang="zh-CN" sz="1050" i="1" dirty="0" smtClean="0">
                              <a:solidFill>
                                <a:srgbClr val="00B0F0"/>
                              </a:solidFill>
                              <a:latin typeface="Cambria Math" panose="02040503050406030204" pitchFamily="18" charset="0"/>
                              <a:ea typeface="等线" panose="02010600030101010101" pitchFamily="2" charset="-122"/>
                            </a:rPr>
                            <m:t>(</m:t>
                          </m:r>
                          <m:r>
                            <a:rPr lang="en-US" altLang="zh-CN" sz="1050" i="1" dirty="0" smtClean="0">
                              <a:solidFill>
                                <a:srgbClr val="00B0F0"/>
                              </a:solidFill>
                              <a:latin typeface="Cambria Math" panose="02040503050406030204" pitchFamily="18" charset="0"/>
                              <a:ea typeface="等线" panose="02010600030101010101" pitchFamily="2" charset="-122"/>
                            </a:rPr>
                            <m:t>𝑦</m:t>
                          </m:r>
                          <m:r>
                            <a:rPr lang="en-US" altLang="zh-CN" sz="1050" i="1" dirty="0" smtClean="0">
                              <a:solidFill>
                                <a:srgbClr val="00B0F0"/>
                              </a:solidFill>
                              <a:latin typeface="Cambria Math" panose="02040503050406030204" pitchFamily="18" charset="0"/>
                              <a:ea typeface="等线" panose="02010600030101010101" pitchFamily="2" charset="-122"/>
                            </a:rPr>
                            <m:t>)</m:t>
                          </m:r>
                        </m:oMath>
                      </m:oMathPara>
                    </a14:m>
                    <a:endParaRPr lang="zh-CN" altLang="en-US" sz="1050" dirty="0">
                      <a:solidFill>
                        <a:srgbClr val="00B0F0"/>
                      </a:solidFill>
                      <a:latin typeface="Garamond" panose="02020404030301010803" pitchFamily="18" charset="0"/>
                      <a:ea typeface="等线" panose="02010600030101010101" pitchFamily="2" charset="-122"/>
                    </a:endParaRPr>
                  </a:p>
                </p:txBody>
              </p:sp>
            </mc:Choice>
            <mc:Fallback xmlns="">
              <p:sp>
                <p:nvSpPr>
                  <p:cNvPr id="18" name="文本框 17">
                    <a:extLst>
                      <a:ext uri="{FF2B5EF4-FFF2-40B4-BE49-F238E27FC236}">
                        <a16:creationId xmlns:a16="http://schemas.microsoft.com/office/drawing/2014/main" id="{FE0B054F-CAE6-B0FF-B636-AA4860E3C4F7}"/>
                      </a:ext>
                    </a:extLst>
                  </p:cNvPr>
                  <p:cNvSpPr txBox="1">
                    <a:spLocks noRot="1" noChangeAspect="1" noMove="1" noResize="1" noEditPoints="1" noAdjustHandles="1" noChangeArrowheads="1" noChangeShapeType="1" noTextEdit="1"/>
                  </p:cNvSpPr>
                  <p:nvPr/>
                </p:nvSpPr>
                <p:spPr>
                  <a:xfrm>
                    <a:off x="4050782" y="1733849"/>
                    <a:ext cx="1516913" cy="503635"/>
                  </a:xfrm>
                  <a:prstGeom prst="rect">
                    <a:avLst/>
                  </a:prstGeom>
                  <a:blipFill>
                    <a:blip r:embed="rId5"/>
                    <a:stretch>
                      <a:fillRect b="-5000"/>
                    </a:stretch>
                  </a:blipFill>
                </p:spPr>
                <p:txBody>
                  <a:bodyPr/>
                  <a:lstStyle/>
                  <a:p>
                    <a:r>
                      <a:rPr lang="zh-CN" altLang="en-US">
                        <a:noFill/>
                      </a:rPr>
                      <a:t> </a:t>
                    </a:r>
                  </a:p>
                </p:txBody>
              </p:sp>
            </mc:Fallback>
          </mc:AlternateContent>
        </p:grpSp>
      </p:grpSp>
      <p:grpSp>
        <p:nvGrpSpPr>
          <p:cNvPr id="32" name="组合 31">
            <a:extLst>
              <a:ext uri="{FF2B5EF4-FFF2-40B4-BE49-F238E27FC236}">
                <a16:creationId xmlns:a16="http://schemas.microsoft.com/office/drawing/2014/main" id="{FA2B406C-1CDA-6D17-84E7-26A1E29B6C27}"/>
              </a:ext>
            </a:extLst>
          </p:cNvPr>
          <p:cNvGrpSpPr/>
          <p:nvPr/>
        </p:nvGrpSpPr>
        <p:grpSpPr>
          <a:xfrm>
            <a:off x="1197964" y="1672714"/>
            <a:ext cx="779165" cy="231923"/>
            <a:chOff x="1652629" y="3884598"/>
            <a:chExt cx="1545452" cy="460012"/>
          </a:xfrm>
        </p:grpSpPr>
        <p:sp>
          <p:nvSpPr>
            <p:cNvPr id="19" name="椭圆 18">
              <a:extLst>
                <a:ext uri="{FF2B5EF4-FFF2-40B4-BE49-F238E27FC236}">
                  <a16:creationId xmlns:a16="http://schemas.microsoft.com/office/drawing/2014/main" id="{EE030BC8-BF0C-58EE-C7DC-82760E536C74}"/>
                </a:ext>
              </a:extLst>
            </p:cNvPr>
            <p:cNvSpPr/>
            <p:nvPr/>
          </p:nvSpPr>
          <p:spPr>
            <a:xfrm flipV="1">
              <a:off x="1652630" y="3908971"/>
              <a:ext cx="71974"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sz="908"/>
            </a:p>
          </p:txBody>
        </p:sp>
        <p:sp>
          <p:nvSpPr>
            <p:cNvPr id="22" name="文本框 21">
              <a:extLst>
                <a:ext uri="{FF2B5EF4-FFF2-40B4-BE49-F238E27FC236}">
                  <a16:creationId xmlns:a16="http://schemas.microsoft.com/office/drawing/2014/main" id="{48F04B55-3559-90E4-921D-F542A7E48CF4}"/>
                </a:ext>
              </a:extLst>
            </p:cNvPr>
            <p:cNvSpPr txBox="1"/>
            <p:nvPr/>
          </p:nvSpPr>
          <p:spPr>
            <a:xfrm>
              <a:off x="1652629" y="3884598"/>
              <a:ext cx="1545452" cy="460012"/>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c=y, </a:t>
              </a:r>
              <a:r>
                <a:rPr lang="zh-CN" altLang="en-US" sz="907" dirty="0">
                  <a:solidFill>
                    <a:prstClr val="black"/>
                  </a:solidFill>
                  <a:latin typeface="Garamond" panose="02020404030301010803" pitchFamily="18" charset="0"/>
                  <a:ea typeface="SimSun" panose="02010600030101010101" pitchFamily="2" charset="-122"/>
                </a:rPr>
                <a:t>无储蓄</a:t>
              </a:r>
              <a:endParaRPr lang="zh-CN" altLang="en-US" sz="908" dirty="0">
                <a:latin typeface="Garamond" panose="02020404030301010803" pitchFamily="18" charset="0"/>
                <a:ea typeface="SimSun" panose="02010600030101010101" pitchFamily="2" charset="-122"/>
              </a:endParaRPr>
            </a:p>
          </p:txBody>
        </p:sp>
      </p:grpSp>
      <p:grpSp>
        <p:nvGrpSpPr>
          <p:cNvPr id="30" name="组合 29">
            <a:extLst>
              <a:ext uri="{FF2B5EF4-FFF2-40B4-BE49-F238E27FC236}">
                <a16:creationId xmlns:a16="http://schemas.microsoft.com/office/drawing/2014/main" id="{ACC89F91-04CD-FED9-E62C-32647AB2014E}"/>
              </a:ext>
            </a:extLst>
          </p:cNvPr>
          <p:cNvGrpSpPr/>
          <p:nvPr/>
        </p:nvGrpSpPr>
        <p:grpSpPr>
          <a:xfrm>
            <a:off x="547662" y="844452"/>
            <a:ext cx="1423371" cy="440725"/>
            <a:chOff x="1086271" y="1671801"/>
            <a:chExt cx="2823216" cy="874167"/>
          </a:xfrm>
        </p:grpSpPr>
        <p:cxnSp>
          <p:nvCxnSpPr>
            <p:cNvPr id="20" name="直线箭头连接符 19">
              <a:extLst>
                <a:ext uri="{FF2B5EF4-FFF2-40B4-BE49-F238E27FC236}">
                  <a16:creationId xmlns:a16="http://schemas.microsoft.com/office/drawing/2014/main" id="{7CB6DD37-693C-79A6-B6C2-BEDC270E73A7}"/>
                </a:ext>
              </a:extLst>
            </p:cNvPr>
            <p:cNvCxnSpPr>
              <a:cxnSpLocks/>
            </p:cNvCxnSpPr>
            <p:nvPr/>
          </p:nvCxnSpPr>
          <p:spPr>
            <a:xfrm>
              <a:off x="3909487" y="1964060"/>
              <a:ext cx="0" cy="581908"/>
            </a:xfrm>
            <a:prstGeom prst="straightConnector1">
              <a:avLst/>
            </a:prstGeom>
            <a:ln w="6350">
              <a:solidFill>
                <a:schemeClr val="tx1">
                  <a:lumMod val="50000"/>
                  <a:lumOff val="50000"/>
                </a:schemeClr>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3" name="文本框 22">
              <a:extLst>
                <a:ext uri="{FF2B5EF4-FFF2-40B4-BE49-F238E27FC236}">
                  <a16:creationId xmlns:a16="http://schemas.microsoft.com/office/drawing/2014/main" id="{B4B5336E-3755-B9D3-AA40-8815E43A6D94}"/>
                </a:ext>
              </a:extLst>
            </p:cNvPr>
            <p:cNvSpPr txBox="1"/>
            <p:nvPr/>
          </p:nvSpPr>
          <p:spPr>
            <a:xfrm>
              <a:off x="1086271" y="1671801"/>
              <a:ext cx="1840146" cy="460013"/>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c&lt;y, </a:t>
              </a:r>
              <a:r>
                <a:rPr lang="zh-CN" altLang="en-US" sz="907" dirty="0">
                  <a:solidFill>
                    <a:prstClr val="black"/>
                  </a:solidFill>
                  <a:latin typeface="Garamond" panose="02020404030301010803" pitchFamily="18" charset="0"/>
                  <a:ea typeface="SimSun" panose="02010600030101010101" pitchFamily="2" charset="-122"/>
                </a:rPr>
                <a:t>有正储蓄</a:t>
              </a:r>
              <a:endParaRPr lang="zh-CN" altLang="en-US" sz="908" dirty="0">
                <a:latin typeface="Garamond" panose="02020404030301010803" pitchFamily="18" charset="0"/>
                <a:ea typeface="SimSun" panose="02010600030101010101" pitchFamily="2" charset="-122"/>
              </a:endParaRPr>
            </a:p>
          </p:txBody>
        </p:sp>
        <p:cxnSp>
          <p:nvCxnSpPr>
            <p:cNvPr id="24" name="直线连接符 23">
              <a:extLst>
                <a:ext uri="{FF2B5EF4-FFF2-40B4-BE49-F238E27FC236}">
                  <a16:creationId xmlns:a16="http://schemas.microsoft.com/office/drawing/2014/main" id="{5D034DF2-BB7A-AB3F-327D-29228DCBF34A}"/>
                </a:ext>
              </a:extLst>
            </p:cNvPr>
            <p:cNvCxnSpPr>
              <a:cxnSpLocks/>
            </p:cNvCxnSpPr>
            <p:nvPr/>
          </p:nvCxnSpPr>
          <p:spPr>
            <a:xfrm>
              <a:off x="2666816" y="1912843"/>
              <a:ext cx="1161755" cy="398542"/>
            </a:xfrm>
            <a:prstGeom prst="line">
              <a:avLst/>
            </a:prstGeom>
            <a:ln>
              <a:solidFill>
                <a:schemeClr val="tx1">
                  <a:lumMod val="50000"/>
                  <a:lumOff val="50000"/>
                </a:schemeClr>
              </a:solidFill>
            </a:ln>
          </p:spPr>
          <p:style>
            <a:lnRef idx="1">
              <a:schemeClr val="accent2"/>
            </a:lnRef>
            <a:fillRef idx="0">
              <a:schemeClr val="accent2"/>
            </a:fillRef>
            <a:effectRef idx="0">
              <a:schemeClr val="accent2"/>
            </a:effectRef>
            <a:fontRef idx="minor">
              <a:schemeClr val="tx1"/>
            </a:fontRef>
          </p:style>
        </p:cxnSp>
      </p:grpSp>
      <p:grpSp>
        <p:nvGrpSpPr>
          <p:cNvPr id="31" name="组合 30">
            <a:extLst>
              <a:ext uri="{FF2B5EF4-FFF2-40B4-BE49-F238E27FC236}">
                <a16:creationId xmlns:a16="http://schemas.microsoft.com/office/drawing/2014/main" id="{1CB21707-FE41-0063-85AC-93B03CE133B0}"/>
              </a:ext>
            </a:extLst>
          </p:cNvPr>
          <p:cNvGrpSpPr/>
          <p:nvPr/>
        </p:nvGrpSpPr>
        <p:grpSpPr>
          <a:xfrm>
            <a:off x="264560" y="1797512"/>
            <a:ext cx="808518" cy="557767"/>
            <a:chOff x="755406" y="3402638"/>
            <a:chExt cx="1603673" cy="1106313"/>
          </a:xfrm>
        </p:grpSpPr>
        <p:cxnSp>
          <p:nvCxnSpPr>
            <p:cNvPr id="21" name="直线箭头连接符 20">
              <a:extLst>
                <a:ext uri="{FF2B5EF4-FFF2-40B4-BE49-F238E27FC236}">
                  <a16:creationId xmlns:a16="http://schemas.microsoft.com/office/drawing/2014/main" id="{67812A67-6CA2-D168-B5EB-B2EBE1C1A618}"/>
                </a:ext>
              </a:extLst>
            </p:cNvPr>
            <p:cNvCxnSpPr>
              <a:cxnSpLocks/>
            </p:cNvCxnSpPr>
            <p:nvPr/>
          </p:nvCxnSpPr>
          <p:spPr>
            <a:xfrm>
              <a:off x="1187077" y="3992192"/>
              <a:ext cx="0" cy="516759"/>
            </a:xfrm>
            <a:prstGeom prst="straightConnector1">
              <a:avLst/>
            </a:prstGeom>
            <a:ln w="6350">
              <a:solidFill>
                <a:schemeClr val="tx1">
                  <a:lumMod val="50000"/>
                  <a:lumOff val="50000"/>
                </a:schemeClr>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5" name="文本框 24">
              <a:extLst>
                <a:ext uri="{FF2B5EF4-FFF2-40B4-BE49-F238E27FC236}">
                  <a16:creationId xmlns:a16="http://schemas.microsoft.com/office/drawing/2014/main" id="{0BCB3063-F5F9-137C-02F2-0375ACC67BC8}"/>
                </a:ext>
              </a:extLst>
            </p:cNvPr>
            <p:cNvSpPr txBox="1"/>
            <p:nvPr/>
          </p:nvSpPr>
          <p:spPr>
            <a:xfrm>
              <a:off x="755406" y="3402638"/>
              <a:ext cx="1603673" cy="460012"/>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c&gt;y, </a:t>
              </a:r>
              <a:r>
                <a:rPr lang="zh-CN" altLang="en-US" sz="907" dirty="0">
                  <a:solidFill>
                    <a:prstClr val="black"/>
                  </a:solidFill>
                  <a:latin typeface="Garamond" panose="02020404030301010803" pitchFamily="18" charset="0"/>
                  <a:ea typeface="SimSun" panose="02010600030101010101" pitchFamily="2" charset="-122"/>
                </a:rPr>
                <a:t>负储蓄</a:t>
              </a:r>
              <a:endParaRPr lang="zh-CN" altLang="en-US" sz="908" dirty="0">
                <a:latin typeface="Garamond" panose="02020404030301010803" pitchFamily="18" charset="0"/>
                <a:ea typeface="SimSun" panose="02010600030101010101" pitchFamily="2" charset="-122"/>
              </a:endParaRPr>
            </a:p>
          </p:txBody>
        </p:sp>
      </p:grpSp>
      <mc:AlternateContent xmlns:mc="http://schemas.openxmlformats.org/markup-compatibility/2006" xmlns:a14="http://schemas.microsoft.com/office/drawing/2010/main">
        <mc:Choice Requires="a14">
          <p:sp>
            <p:nvSpPr>
              <p:cNvPr id="28" name="Text Box 5">
                <a:extLst>
                  <a:ext uri="{FF2B5EF4-FFF2-40B4-BE49-F238E27FC236}">
                    <a16:creationId xmlns:a16="http://schemas.microsoft.com/office/drawing/2014/main" id="{6BC2384B-EF15-9D49-05C2-A3C3678330C2}"/>
                  </a:ext>
                </a:extLst>
              </p:cNvPr>
              <p:cNvSpPr txBox="1">
                <a:spLocks noChangeArrowheads="1"/>
              </p:cNvSpPr>
              <p:nvPr/>
            </p:nvSpPr>
            <p:spPr bwMode="auto">
              <a:xfrm>
                <a:off x="2690097" y="935951"/>
                <a:ext cx="1830593" cy="149810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square">
                <a:spAutoFit/>
              </a:bodyPr>
              <a:lstStyle/>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在短期，总供给不变的条件下，消费和储蓄犹如一枚硬币的两面：</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消费增加，则储蓄减少；</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消费减少，则储蓄增加</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en-US" altLang="zh-CN" sz="1008" b="1" dirty="0">
                    <a:solidFill>
                      <a:prstClr val="black"/>
                    </a:solidFill>
                    <a:latin typeface="Garamond" panose="02020404030301010803" pitchFamily="18" charset="0"/>
                    <a:ea typeface="KaiTi" panose="02010609060101010101" pitchFamily="49" charset="-122"/>
                  </a:rPr>
                  <a:t>1.MPC+MPS=1</a:t>
                </a:r>
              </a:p>
              <a:p>
                <a:pPr defTabSz="230520">
                  <a:spcBef>
                    <a:spcPct val="50000"/>
                  </a:spcBef>
                  <a:defRPr/>
                </a:pPr>
                <a:r>
                  <a:rPr lang="en-US" altLang="zh-CN" sz="1008" b="1" dirty="0">
                    <a:solidFill>
                      <a:prstClr val="black"/>
                    </a:solidFill>
                    <a:latin typeface="Garamond" panose="02020404030301010803" pitchFamily="18" charset="0"/>
                    <a:ea typeface="KaiTi" panose="02010609060101010101" pitchFamily="49" charset="-122"/>
                  </a:rPr>
                  <a:t>2.</a:t>
                </a:r>
                <a:r>
                  <a:rPr kumimoji="1" lang="en-US" altLang="zh-CN" sz="1050" dirty="0"/>
                  <a:t> </a:t>
                </a:r>
                <a14:m>
                  <m:oMath xmlns:m="http://schemas.openxmlformats.org/officeDocument/2006/math">
                    <m:r>
                      <a:rPr kumimoji="1" lang="en-US" altLang="zh-CN" sz="1050" i="1">
                        <a:latin typeface="Cambria Math" panose="02040503050406030204" pitchFamily="18" charset="0"/>
                      </a:rPr>
                      <m:t>−</m:t>
                    </m:r>
                    <m:r>
                      <a:rPr kumimoji="1" lang="zh-CN" altLang="en-US" sz="1050" i="1">
                        <a:latin typeface="Cambria Math" panose="02040503050406030204" pitchFamily="18" charset="0"/>
                      </a:rPr>
                      <m:t>𝛼</m:t>
                    </m:r>
                    <m:r>
                      <a:rPr kumimoji="1" lang="zh-CN" altLang="en-US" sz="1050" i="1" smtClean="0">
                        <a:latin typeface="Cambria Math" panose="02040503050406030204" pitchFamily="18" charset="0"/>
                      </a:rPr>
                      <m:t>和</m:t>
                    </m:r>
                    <m:sSub>
                      <m:sSubPr>
                        <m:ctrlPr>
                          <a:rPr lang="en-US" altLang="zh-CN" sz="1050" i="1" dirty="0">
                            <a:solidFill>
                              <a:prstClr val="black"/>
                            </a:solidFill>
                            <a:latin typeface="Cambria Math" panose="02040503050406030204" pitchFamily="18" charset="0"/>
                            <a:ea typeface="SimSun" panose="02010600030101010101" pitchFamily="2" charset="-122"/>
                          </a:rPr>
                        </m:ctrlPr>
                      </m:sSubPr>
                      <m:e>
                        <m:r>
                          <a:rPr lang="en-US" altLang="zh-CN" sz="1050" i="1" dirty="0">
                            <a:solidFill>
                              <a:prstClr val="black"/>
                            </a:solidFill>
                            <a:latin typeface="Cambria Math" panose="02040503050406030204" pitchFamily="18" charset="0"/>
                            <a:ea typeface="SimSun" panose="02010600030101010101" pitchFamily="2" charset="-122"/>
                          </a:rPr>
                          <m:t>𝑦</m:t>
                        </m:r>
                      </m:e>
                      <m:sub>
                        <m:r>
                          <a:rPr lang="en-US" altLang="zh-CN" sz="1050" i="1" dirty="0">
                            <a:solidFill>
                              <a:prstClr val="black"/>
                            </a:solidFill>
                            <a:latin typeface="Cambria Math" panose="02040503050406030204" pitchFamily="18" charset="0"/>
                            <a:ea typeface="SimSun" panose="02010600030101010101" pitchFamily="2" charset="-122"/>
                          </a:rPr>
                          <m:t>0</m:t>
                        </m:r>
                      </m:sub>
                    </m:sSub>
                  </m:oMath>
                </a14:m>
                <a:r>
                  <a:rPr lang="zh-CN" altLang="en-US" sz="1008" b="1" dirty="0">
                    <a:solidFill>
                      <a:prstClr val="black"/>
                    </a:solidFill>
                    <a:latin typeface="Garamond" panose="02020404030301010803" pitchFamily="18" charset="0"/>
                    <a:ea typeface="KaiTi" panose="02010609060101010101" pitchFamily="49" charset="-122"/>
                  </a:rPr>
                  <a:t>共同决定储蓄曲线</a:t>
                </a:r>
              </a:p>
            </p:txBody>
          </p:sp>
        </mc:Choice>
        <mc:Fallback xmlns="">
          <p:sp>
            <p:nvSpPr>
              <p:cNvPr id="28" name="Text Box 5">
                <a:extLst>
                  <a:ext uri="{FF2B5EF4-FFF2-40B4-BE49-F238E27FC236}">
                    <a16:creationId xmlns:a16="http://schemas.microsoft.com/office/drawing/2014/main" id="{6BC2384B-EF15-9D49-05C2-A3C3678330C2}"/>
                  </a:ext>
                </a:extLst>
              </p:cNvPr>
              <p:cNvSpPr txBox="1">
                <a:spLocks noRot="1" noChangeAspect="1" noMove="1" noResize="1" noEditPoints="1" noAdjustHandles="1" noChangeArrowheads="1" noChangeShapeType="1" noTextEdit="1"/>
              </p:cNvSpPr>
              <p:nvPr/>
            </p:nvSpPr>
            <p:spPr bwMode="auto">
              <a:xfrm>
                <a:off x="2690097" y="935951"/>
                <a:ext cx="1830593" cy="1498102"/>
              </a:xfrm>
              <a:prstGeom prst="rect">
                <a:avLst/>
              </a:prstGeom>
              <a:blipFill>
                <a:blip r:embed="rId6"/>
                <a:stretch>
                  <a:fillRect b="-1681"/>
                </a:stretch>
              </a:blipFill>
              <a:ln>
                <a:noFill/>
              </a:ln>
              <a:effectLst/>
            </p:spPr>
            <p:txBody>
              <a:bodyPr/>
              <a:lstStyle/>
              <a:p>
                <a:r>
                  <a:rPr lang="zh-CN" altLang="en-US">
                    <a:noFill/>
                  </a:rPr>
                  <a:t> </a:t>
                </a:r>
              </a:p>
            </p:txBody>
          </p:sp>
        </mc:Fallback>
      </mc:AlternateContent>
      <p:cxnSp>
        <p:nvCxnSpPr>
          <p:cNvPr id="3" name="直线连接符 2">
            <a:extLst>
              <a:ext uri="{FF2B5EF4-FFF2-40B4-BE49-F238E27FC236}">
                <a16:creationId xmlns:a16="http://schemas.microsoft.com/office/drawing/2014/main" id="{75745A5C-93AC-16F4-40F0-AA16A488B690}"/>
              </a:ext>
            </a:extLst>
          </p:cNvPr>
          <p:cNvCxnSpPr>
            <a:cxnSpLocks/>
          </p:cNvCxnSpPr>
          <p:nvPr/>
        </p:nvCxnSpPr>
        <p:spPr>
          <a:xfrm>
            <a:off x="1216108" y="1702823"/>
            <a:ext cx="0" cy="813027"/>
          </a:xfrm>
          <a:prstGeom prst="line">
            <a:avLst/>
          </a:prstGeom>
          <a:ln w="158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10">
            <a:extLst>
              <a:ext uri="{FF2B5EF4-FFF2-40B4-BE49-F238E27FC236}">
                <a16:creationId xmlns:a16="http://schemas.microsoft.com/office/drawing/2014/main" id="{F7137FC5-F9A8-273D-F280-588E453D4175}"/>
              </a:ext>
            </a:extLst>
          </p:cNvPr>
          <p:cNvCxnSpPr>
            <a:cxnSpLocks/>
          </p:cNvCxnSpPr>
          <p:nvPr/>
        </p:nvCxnSpPr>
        <p:spPr>
          <a:xfrm flipV="1">
            <a:off x="320475" y="2176438"/>
            <a:ext cx="2077013" cy="622859"/>
          </a:xfrm>
          <a:prstGeom prst="line">
            <a:avLst/>
          </a:prstGeom>
          <a:ln w="15875">
            <a:solidFill>
              <a:srgbClr val="C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A07D0B3-45BC-2D29-AE0F-DFCC751F5BFE}"/>
                  </a:ext>
                </a:extLst>
              </p:cNvPr>
              <p:cNvSpPr txBox="1"/>
              <p:nvPr/>
            </p:nvSpPr>
            <p:spPr>
              <a:xfrm>
                <a:off x="2013567" y="2185283"/>
                <a:ext cx="764777" cy="253916"/>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b="0" i="1" dirty="0" smtClean="0">
                          <a:solidFill>
                            <a:srgbClr val="C00000"/>
                          </a:solidFill>
                          <a:latin typeface="Cambria Math" panose="02040503050406030204" pitchFamily="18" charset="0"/>
                          <a:ea typeface="等线" panose="02010600030101010101" pitchFamily="2" charset="-122"/>
                        </a:rPr>
                        <m:t>𝑠</m:t>
                      </m:r>
                      <m:r>
                        <a:rPr lang="en-US" altLang="zh-CN" sz="1050" i="1" dirty="0" smtClean="0">
                          <a:solidFill>
                            <a:srgbClr val="C00000"/>
                          </a:solidFill>
                          <a:latin typeface="Cambria Math" panose="02040503050406030204" pitchFamily="18" charset="0"/>
                          <a:ea typeface="等线" panose="02010600030101010101" pitchFamily="2" charset="-122"/>
                        </a:rPr>
                        <m:t>=(</m:t>
                      </m:r>
                      <m:r>
                        <a:rPr lang="en-US" altLang="zh-CN" sz="1050" i="1" dirty="0" smtClean="0">
                          <a:solidFill>
                            <a:srgbClr val="C00000"/>
                          </a:solidFill>
                          <a:latin typeface="Cambria Math" panose="02040503050406030204" pitchFamily="18" charset="0"/>
                          <a:ea typeface="等线" panose="02010600030101010101" pitchFamily="2" charset="-122"/>
                        </a:rPr>
                        <m:t>𝑦</m:t>
                      </m:r>
                      <m:r>
                        <a:rPr lang="en-US" altLang="zh-CN" sz="1050" i="1" dirty="0" smtClean="0">
                          <a:solidFill>
                            <a:srgbClr val="C00000"/>
                          </a:solidFill>
                          <a:latin typeface="Cambria Math" panose="02040503050406030204" pitchFamily="18" charset="0"/>
                          <a:ea typeface="等线" panose="02010600030101010101" pitchFamily="2" charset="-122"/>
                        </a:rPr>
                        <m:t>)</m:t>
                      </m:r>
                    </m:oMath>
                  </m:oMathPara>
                </a14:m>
                <a:endParaRPr lang="zh-CN" altLang="en-US" sz="1050" dirty="0">
                  <a:solidFill>
                    <a:srgbClr val="C00000"/>
                  </a:solidFill>
                  <a:latin typeface="Garamond" panose="02020404030301010803" pitchFamily="18" charset="0"/>
                  <a:ea typeface="等线" panose="02010600030101010101" pitchFamily="2" charset="-122"/>
                </a:endParaRPr>
              </a:p>
            </p:txBody>
          </p:sp>
        </mc:Choice>
        <mc:Fallback xmlns="">
          <p:sp>
            <p:nvSpPr>
              <p:cNvPr id="51" name="文本框 50">
                <a:extLst>
                  <a:ext uri="{FF2B5EF4-FFF2-40B4-BE49-F238E27FC236}">
                    <a16:creationId xmlns:a16="http://schemas.microsoft.com/office/drawing/2014/main" id="{5A07D0B3-45BC-2D29-AE0F-DFCC751F5BFE}"/>
                  </a:ext>
                </a:extLst>
              </p:cNvPr>
              <p:cNvSpPr txBox="1">
                <a:spLocks noRot="1" noChangeAspect="1" noMove="1" noResize="1" noEditPoints="1" noAdjustHandles="1" noChangeArrowheads="1" noChangeShapeType="1" noTextEdit="1"/>
              </p:cNvSpPr>
              <p:nvPr/>
            </p:nvSpPr>
            <p:spPr>
              <a:xfrm>
                <a:off x="2013567" y="2185283"/>
                <a:ext cx="764777" cy="253916"/>
              </a:xfrm>
              <a:prstGeom prst="rect">
                <a:avLst/>
              </a:prstGeom>
              <a:blipFill>
                <a:blip r:embed="rId7"/>
                <a:stretch>
                  <a:fillRect b="-4762"/>
                </a:stretch>
              </a:blipFill>
            </p:spPr>
            <p:txBody>
              <a:bodyPr/>
              <a:lstStyle/>
              <a:p>
                <a:r>
                  <a:rPr lang="zh-CN" altLang="en-US">
                    <a:noFill/>
                  </a:rPr>
                  <a:t> </a:t>
                </a:r>
              </a:p>
            </p:txBody>
          </p:sp>
        </mc:Fallback>
      </mc:AlternateContent>
      <p:grpSp>
        <p:nvGrpSpPr>
          <p:cNvPr id="52" name="组合 51">
            <a:extLst>
              <a:ext uri="{FF2B5EF4-FFF2-40B4-BE49-F238E27FC236}">
                <a16:creationId xmlns:a16="http://schemas.microsoft.com/office/drawing/2014/main" id="{AF2BBEBB-8A4B-5240-D0D9-2DB8D7F2DA32}"/>
              </a:ext>
            </a:extLst>
          </p:cNvPr>
          <p:cNvGrpSpPr/>
          <p:nvPr/>
        </p:nvGrpSpPr>
        <p:grpSpPr>
          <a:xfrm>
            <a:off x="1204262" y="2504404"/>
            <a:ext cx="164682" cy="231923"/>
            <a:chOff x="1652630" y="3884598"/>
            <a:chExt cx="326643" cy="460012"/>
          </a:xfrm>
        </p:grpSpPr>
        <p:sp>
          <p:nvSpPr>
            <p:cNvPr id="53" name="椭圆 52">
              <a:extLst>
                <a:ext uri="{FF2B5EF4-FFF2-40B4-BE49-F238E27FC236}">
                  <a16:creationId xmlns:a16="http://schemas.microsoft.com/office/drawing/2014/main" id="{D6A5C3E6-5119-456B-5252-37557A88861E}"/>
                </a:ext>
              </a:extLst>
            </p:cNvPr>
            <p:cNvSpPr/>
            <p:nvPr/>
          </p:nvSpPr>
          <p:spPr>
            <a:xfrm flipV="1">
              <a:off x="1652630" y="3908971"/>
              <a:ext cx="71974"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sz="908"/>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8CD3DDA4-A144-C9F0-41B4-8D8BEEC9F821}"/>
                    </a:ext>
                  </a:extLst>
                </p:cNvPr>
                <p:cNvSpPr txBox="1"/>
                <p:nvPr/>
              </p:nvSpPr>
              <p:spPr>
                <a:xfrm>
                  <a:off x="1652631" y="3884598"/>
                  <a:ext cx="326642" cy="460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907" b="0" i="1" dirty="0" smtClean="0">
                                <a:solidFill>
                                  <a:prstClr val="black"/>
                                </a:solidFill>
                                <a:latin typeface="Cambria Math" panose="02040503050406030204" pitchFamily="18" charset="0"/>
                                <a:ea typeface="SimSun" panose="02010600030101010101" pitchFamily="2" charset="-122"/>
                              </a:rPr>
                            </m:ctrlPr>
                          </m:sSubPr>
                          <m:e>
                            <m:r>
                              <a:rPr lang="en-US" altLang="zh-CN" sz="907" b="0" i="1" dirty="0" smtClean="0">
                                <a:solidFill>
                                  <a:prstClr val="black"/>
                                </a:solidFill>
                                <a:latin typeface="Cambria Math" panose="02040503050406030204" pitchFamily="18" charset="0"/>
                                <a:ea typeface="SimSun" panose="02010600030101010101" pitchFamily="2" charset="-122"/>
                              </a:rPr>
                              <m:t>𝑦</m:t>
                            </m:r>
                          </m:e>
                          <m:sub>
                            <m:r>
                              <a:rPr lang="en-US" altLang="zh-CN" sz="907" b="0" i="1" dirty="0" smtClean="0">
                                <a:solidFill>
                                  <a:prstClr val="black"/>
                                </a:solidFill>
                                <a:latin typeface="Cambria Math" panose="02040503050406030204" pitchFamily="18" charset="0"/>
                                <a:ea typeface="SimSun" panose="02010600030101010101" pitchFamily="2" charset="-122"/>
                              </a:rPr>
                              <m:t>0</m:t>
                            </m:r>
                          </m:sub>
                        </m:sSub>
                      </m:oMath>
                    </m:oMathPara>
                  </a14:m>
                  <a:endParaRPr lang="zh-CN" altLang="en-US" sz="908" dirty="0">
                    <a:latin typeface="Garamond" panose="02020404030301010803" pitchFamily="18" charset="0"/>
                    <a:ea typeface="SimSun" panose="02010600030101010101" pitchFamily="2" charset="-122"/>
                  </a:endParaRPr>
                </a:p>
              </p:txBody>
            </p:sp>
          </mc:Choice>
          <mc:Fallback xmlns="">
            <p:sp>
              <p:nvSpPr>
                <p:cNvPr id="54" name="文本框 53">
                  <a:extLst>
                    <a:ext uri="{FF2B5EF4-FFF2-40B4-BE49-F238E27FC236}">
                      <a16:creationId xmlns:a16="http://schemas.microsoft.com/office/drawing/2014/main" id="{8CD3DDA4-A144-C9F0-41B4-8D8BEEC9F821}"/>
                    </a:ext>
                  </a:extLst>
                </p:cNvPr>
                <p:cNvSpPr txBox="1">
                  <a:spLocks noRot="1" noChangeAspect="1" noMove="1" noResize="1" noEditPoints="1" noAdjustHandles="1" noChangeArrowheads="1" noChangeShapeType="1" noTextEdit="1"/>
                </p:cNvSpPr>
                <p:nvPr/>
              </p:nvSpPr>
              <p:spPr>
                <a:xfrm>
                  <a:off x="1652631" y="3884598"/>
                  <a:ext cx="326642" cy="460012"/>
                </a:xfrm>
                <a:prstGeom prst="rect">
                  <a:avLst/>
                </a:prstGeom>
                <a:blipFill>
                  <a:blip r:embed="rId8"/>
                  <a:stretch>
                    <a:fillRect r="-2857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C00F7A9A-69C7-0219-496B-0E2429A65A4E}"/>
                  </a:ext>
                </a:extLst>
              </p:cNvPr>
              <p:cNvSpPr txBox="1"/>
              <p:nvPr/>
            </p:nvSpPr>
            <p:spPr>
              <a:xfrm>
                <a:off x="-6002" y="632587"/>
                <a:ext cx="441964" cy="2539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i="1" dirty="0" smtClean="0">
                          <a:solidFill>
                            <a:schemeClr val="tx1"/>
                          </a:solidFill>
                          <a:latin typeface="Cambria Math" panose="02040503050406030204" pitchFamily="18" charset="0"/>
                          <a:ea typeface="等线" panose="02010600030101010101" pitchFamily="2" charset="-122"/>
                        </a:rPr>
                        <m:t>𝑐</m:t>
                      </m:r>
                    </m:oMath>
                  </m:oMathPara>
                </a14:m>
                <a:endParaRPr lang="zh-CN" altLang="en-US" sz="1050" dirty="0">
                  <a:solidFill>
                    <a:schemeClr val="tx1"/>
                  </a:solidFill>
                </a:endParaRPr>
              </a:p>
            </p:txBody>
          </p:sp>
        </mc:Choice>
        <mc:Fallback xmlns="">
          <p:sp>
            <p:nvSpPr>
              <p:cNvPr id="58" name="文本框 57">
                <a:extLst>
                  <a:ext uri="{FF2B5EF4-FFF2-40B4-BE49-F238E27FC236}">
                    <a16:creationId xmlns:a16="http://schemas.microsoft.com/office/drawing/2014/main" id="{C00F7A9A-69C7-0219-496B-0E2429A65A4E}"/>
                  </a:ext>
                </a:extLst>
              </p:cNvPr>
              <p:cNvSpPr txBox="1">
                <a:spLocks noRot="1" noChangeAspect="1" noMove="1" noResize="1" noEditPoints="1" noAdjustHandles="1" noChangeArrowheads="1" noChangeShapeType="1" noTextEdit="1"/>
              </p:cNvSpPr>
              <p:nvPr/>
            </p:nvSpPr>
            <p:spPr>
              <a:xfrm>
                <a:off x="-6002" y="632587"/>
                <a:ext cx="441964" cy="253916"/>
              </a:xfrm>
              <a:prstGeom prst="rect">
                <a:avLst/>
              </a:prstGeom>
              <a:blipFill>
                <a:blip r:embed="rId9"/>
                <a:stretch>
                  <a:fillRect/>
                </a:stretch>
              </a:blipFill>
            </p:spPr>
            <p:txBody>
              <a:bodyPr/>
              <a:lstStyle/>
              <a:p>
                <a:r>
                  <a:rPr lang="zh-CN" altLang="en-US">
                    <a:noFill/>
                  </a:rPr>
                  <a:t> </a:t>
                </a:r>
              </a:p>
            </p:txBody>
          </p:sp>
        </mc:Fallback>
      </mc:AlternateContent>
      <p:sp>
        <p:nvSpPr>
          <p:cNvPr id="61" name="页脚占位符 1">
            <a:extLst>
              <a:ext uri="{FF2B5EF4-FFF2-40B4-BE49-F238E27FC236}">
                <a16:creationId xmlns:a16="http://schemas.microsoft.com/office/drawing/2014/main" id="{EB4A9705-C9F7-8986-1883-EE045B20005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3307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righ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32BCCEA1-5A07-C95E-E3CA-4470FC8BAEAF}"/>
              </a:ext>
            </a:extLst>
          </p:cNvPr>
          <p:cNvGrpSpPr/>
          <p:nvPr/>
        </p:nvGrpSpPr>
        <p:grpSpPr>
          <a:xfrm>
            <a:off x="2585668" y="930249"/>
            <a:ext cx="1730771" cy="1446122"/>
            <a:chOff x="5115130" y="1162034"/>
            <a:chExt cx="3432933" cy="2868342"/>
          </a:xfrm>
        </p:grpSpPr>
        <p:cxnSp>
          <p:nvCxnSpPr>
            <p:cNvPr id="8" name="直接箭头连接符 7"/>
            <p:cNvCxnSpPr/>
            <p:nvPr/>
          </p:nvCxnSpPr>
          <p:spPr>
            <a:xfrm>
              <a:off x="5459041" y="3550208"/>
              <a:ext cx="261852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flipV="1">
              <a:off x="5453730" y="1292862"/>
              <a:ext cx="0" cy="224672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 name="任意多边形: 形状 10"/>
            <p:cNvSpPr/>
            <p:nvPr/>
          </p:nvSpPr>
          <p:spPr>
            <a:xfrm>
              <a:off x="5767102" y="1855871"/>
              <a:ext cx="2007710" cy="1322540"/>
            </a:xfrm>
            <a:custGeom>
              <a:avLst/>
              <a:gdLst>
                <a:gd name="connsiteX0" fmla="*/ 0 w 2009554"/>
                <a:gd name="connsiteY0" fmla="*/ 1323754 h 1323754"/>
                <a:gd name="connsiteX1" fmla="*/ 1329070 w 2009554"/>
                <a:gd name="connsiteY1" fmla="*/ 967563 h 1323754"/>
                <a:gd name="connsiteX2" fmla="*/ 2009554 w 2009554"/>
                <a:gd name="connsiteY2" fmla="*/ 0 h 1323754"/>
                <a:gd name="connsiteX3" fmla="*/ 2009554 w 2009554"/>
                <a:gd name="connsiteY3" fmla="*/ 0 h 1323754"/>
              </a:gdLst>
              <a:ahLst/>
              <a:cxnLst>
                <a:cxn ang="0">
                  <a:pos x="connsiteX0" y="connsiteY0"/>
                </a:cxn>
                <a:cxn ang="0">
                  <a:pos x="connsiteX1" y="connsiteY1"/>
                </a:cxn>
                <a:cxn ang="0">
                  <a:pos x="connsiteX2" y="connsiteY2"/>
                </a:cxn>
                <a:cxn ang="0">
                  <a:pos x="connsiteX3" y="connsiteY3"/>
                </a:cxn>
              </a:cxnLst>
              <a:rect l="l" t="t" r="r" b="b"/>
              <a:pathLst>
                <a:path w="2009554" h="1323754">
                  <a:moveTo>
                    <a:pt x="0" y="1323754"/>
                  </a:moveTo>
                  <a:cubicBezTo>
                    <a:pt x="497072" y="1255971"/>
                    <a:pt x="994144" y="1188189"/>
                    <a:pt x="1329070" y="967563"/>
                  </a:cubicBezTo>
                  <a:cubicBezTo>
                    <a:pt x="1663996" y="746937"/>
                    <a:pt x="2009554" y="0"/>
                    <a:pt x="2009554" y="0"/>
                  </a:cubicBezTo>
                  <a:lnTo>
                    <a:pt x="2009554" y="0"/>
                  </a:lnTo>
                </a:path>
              </a:pathLst>
            </a:custGeom>
            <a:ln w="2540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defTabSz="230520">
                <a:defRPr/>
              </a:pPr>
              <a:endParaRPr lang="zh-CN" altLang="en-US" sz="1008"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12" name="矩形 11"/>
                <p:cNvSpPr/>
                <p:nvPr/>
              </p:nvSpPr>
              <p:spPr>
                <a:xfrm>
                  <a:off x="6626439" y="1731259"/>
                  <a:ext cx="1360068"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en-US" altLang="zh-CN" sz="1008" i="1">
                            <a:solidFill>
                              <a:prstClr val="black"/>
                            </a:solidFill>
                            <a:latin typeface="Cambria Math" panose="02040503050406030204" pitchFamily="18" charset="0"/>
                          </a:rPr>
                          <m:t>𝑦</m:t>
                        </m:r>
                        <m:r>
                          <a:rPr lang="en-US" altLang="zh-CN" sz="1008" i="1">
                            <a:solidFill>
                              <a:prstClr val="black"/>
                            </a:solidFill>
                            <a:latin typeface="Cambria Math" panose="02040503050406030204" pitchFamily="18" charset="0"/>
                          </a:rPr>
                          <m:t>)</m:t>
                        </m:r>
                      </m:oMath>
                    </m:oMathPara>
                  </a14:m>
                  <a:endParaRPr lang="en-US" altLang="zh-CN" sz="1008" dirty="0">
                    <a:solidFill>
                      <a:prstClr val="black"/>
                    </a:solidFill>
                    <a:latin typeface="Calibri" panose="020F0502020204030204"/>
                    <a:ea typeface="等线"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6626439" y="1731259"/>
                  <a:ext cx="1360068" cy="49079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977024" y="3539586"/>
                  <a:ext cx="571039"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𝑦</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7977024" y="3539586"/>
                  <a:ext cx="571039" cy="49079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188536" y="3539586"/>
                  <a:ext cx="566590"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0</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5188536" y="3539586"/>
                  <a:ext cx="566590" cy="49079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115130" y="1162034"/>
                  <a:ext cx="54636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5115130" y="1162034"/>
                  <a:ext cx="546367" cy="490790"/>
                </a:xfrm>
                <a:prstGeom prst="rect">
                  <a:avLst/>
                </a:prstGeom>
                <a:blipFill>
                  <a:blip r:embed="rId5"/>
                  <a:stretch>
                    <a:fillRect/>
                  </a:stretch>
                </a:blipFill>
              </p:spPr>
              <p:txBody>
                <a:bodyPr/>
                <a:lstStyle/>
                <a:p>
                  <a:r>
                    <a:rPr lang="zh-CN" altLang="en-US">
                      <a:noFill/>
                    </a:rPr>
                    <a:t> </a:t>
                  </a:r>
                </a:p>
              </p:txBody>
            </p:sp>
          </mc:Fallback>
        </mc:AlternateContent>
      </p:grpSp>
      <p:sp>
        <p:nvSpPr>
          <p:cNvPr id="3" name="标题 2">
            <a:extLst>
              <a:ext uri="{FF2B5EF4-FFF2-40B4-BE49-F238E27FC236}">
                <a16:creationId xmlns:a16="http://schemas.microsoft.com/office/drawing/2014/main" id="{8E2652D7-ABA8-DCB5-128B-862AC5F1FCDB}"/>
              </a:ext>
            </a:extLst>
          </p:cNvPr>
          <p:cNvSpPr>
            <a:spLocks noGrp="1"/>
          </p:cNvSpPr>
          <p:nvPr>
            <p:ph type="title"/>
          </p:nvPr>
        </p:nvSpPr>
        <p:spPr/>
        <p:txBody>
          <a:bodyPr/>
          <a:lstStyle/>
          <a:p>
            <a:r>
              <a:rPr kumimoji="1" lang="zh-CN" altLang="en-US" dirty="0"/>
              <a:t>线性与非线性储蓄曲线</a:t>
            </a:r>
          </a:p>
        </p:txBody>
      </p:sp>
      <p:grpSp>
        <p:nvGrpSpPr>
          <p:cNvPr id="31" name="组合 30">
            <a:extLst>
              <a:ext uri="{FF2B5EF4-FFF2-40B4-BE49-F238E27FC236}">
                <a16:creationId xmlns:a16="http://schemas.microsoft.com/office/drawing/2014/main" id="{4C35CDE6-FC1A-77D4-E389-C1BB2BABEBEB}"/>
              </a:ext>
            </a:extLst>
          </p:cNvPr>
          <p:cNvGrpSpPr/>
          <p:nvPr/>
        </p:nvGrpSpPr>
        <p:grpSpPr>
          <a:xfrm>
            <a:off x="276117" y="995461"/>
            <a:ext cx="2042740" cy="1203267"/>
            <a:chOff x="522479" y="1162034"/>
            <a:chExt cx="4051717" cy="2386645"/>
          </a:xfrm>
        </p:grpSpPr>
        <p:cxnSp>
          <p:nvCxnSpPr>
            <p:cNvPr id="4" name="直接箭头连接符 15">
              <a:extLst>
                <a:ext uri="{FF2B5EF4-FFF2-40B4-BE49-F238E27FC236}">
                  <a16:creationId xmlns:a16="http://schemas.microsoft.com/office/drawing/2014/main" id="{5B705F2A-C52A-0E6A-C751-9C9677D59554}"/>
                </a:ext>
              </a:extLst>
            </p:cNvPr>
            <p:cNvCxnSpPr/>
            <p:nvPr/>
          </p:nvCxnSpPr>
          <p:spPr>
            <a:xfrm>
              <a:off x="1005698" y="2790676"/>
              <a:ext cx="261852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 name="直接箭头连接符 16">
              <a:extLst>
                <a:ext uri="{FF2B5EF4-FFF2-40B4-BE49-F238E27FC236}">
                  <a16:creationId xmlns:a16="http://schemas.microsoft.com/office/drawing/2014/main" id="{1CB19615-3251-8F51-C6B0-BDC637519070}"/>
                </a:ext>
              </a:extLst>
            </p:cNvPr>
            <p:cNvCxnSpPr/>
            <p:nvPr/>
          </p:nvCxnSpPr>
          <p:spPr>
            <a:xfrm flipV="1">
              <a:off x="994910" y="1292862"/>
              <a:ext cx="0" cy="224672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D166210-85C9-02E6-EF58-8EE46111DF2E}"/>
                    </a:ext>
                  </a:extLst>
                </p:cNvPr>
                <p:cNvSpPr/>
                <p:nvPr/>
              </p:nvSpPr>
              <p:spPr>
                <a:xfrm>
                  <a:off x="2066197" y="1329431"/>
                  <a:ext cx="2507999"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zh-CN" altLang="en-US" sz="1008" i="1">
                            <a:solidFill>
                              <a:prstClr val="black"/>
                            </a:solidFill>
                            <a:latin typeface="Cambria Math" panose="02040503050406030204" pitchFamily="18" charset="0"/>
                          </a:rPr>
                          <m:t>𝛼</m:t>
                        </m:r>
                        <m:r>
                          <a:rPr lang="en-US" altLang="zh-CN" sz="1008" i="1">
                            <a:solidFill>
                              <a:prstClr val="black"/>
                            </a:solidFill>
                            <a:latin typeface="Cambria Math" panose="02040503050406030204" pitchFamily="18" charset="0"/>
                          </a:rPr>
                          <m:t>+</m:t>
                        </m:r>
                        <m:d>
                          <m:dPr>
                            <m:ctrlPr>
                              <a:rPr lang="en-US" altLang="zh-CN" sz="1008" i="1">
                                <a:solidFill>
                                  <a:prstClr val="black"/>
                                </a:solidFill>
                                <a:latin typeface="Cambria Math" panose="02040503050406030204" pitchFamily="18" charset="0"/>
                              </a:rPr>
                            </m:ctrlPr>
                          </m:dPr>
                          <m:e>
                            <m:r>
                              <a:rPr lang="en-US" altLang="zh-CN" sz="1008" i="1">
                                <a:solidFill>
                                  <a:prstClr val="black"/>
                                </a:solidFill>
                                <a:latin typeface="Cambria Math" panose="02040503050406030204" pitchFamily="18" charset="0"/>
                              </a:rPr>
                              <m:t>1−</m:t>
                            </m:r>
                            <m:r>
                              <a:rPr lang="zh-CN" altLang="en-US" sz="1008" i="1">
                                <a:solidFill>
                                  <a:prstClr val="black"/>
                                </a:solidFill>
                                <a:latin typeface="Cambria Math" panose="02040503050406030204" pitchFamily="18" charset="0"/>
                              </a:rPr>
                              <m:t>𝛽</m:t>
                            </m:r>
                          </m:e>
                        </m:d>
                        <m:r>
                          <a:rPr lang="en-US" altLang="zh-CN" sz="1008" i="1">
                            <a:solidFill>
                              <a:prstClr val="black"/>
                            </a:solidFill>
                            <a:latin typeface="Cambria Math" panose="02040503050406030204" pitchFamily="18" charset="0"/>
                          </a:rPr>
                          <m:t>𝑦</m:t>
                        </m:r>
                      </m:oMath>
                    </m:oMathPara>
                  </a14:m>
                  <a:endParaRPr lang="en-US" altLang="zh-CN" sz="1008" dirty="0">
                    <a:solidFill>
                      <a:prstClr val="black"/>
                    </a:solidFill>
                    <a:latin typeface="Calibri" panose="020F0502020204030204"/>
                    <a:ea typeface="等线" panose="02010600030101010101" pitchFamily="2" charset="-122"/>
                  </a:endParaRPr>
                </a:p>
              </p:txBody>
            </p:sp>
          </mc:Choice>
          <mc:Fallback xmlns="">
            <p:sp>
              <p:nvSpPr>
                <p:cNvPr id="6" name="矩形 5">
                  <a:extLst>
                    <a:ext uri="{FF2B5EF4-FFF2-40B4-BE49-F238E27FC236}">
                      <a16:creationId xmlns:a16="http://schemas.microsoft.com/office/drawing/2014/main" id="{AD166210-85C9-02E6-EF58-8EE46111DF2E}"/>
                    </a:ext>
                  </a:extLst>
                </p:cNvPr>
                <p:cNvSpPr>
                  <a:spLocks noRot="1" noChangeAspect="1" noMove="1" noResize="1" noEditPoints="1" noAdjustHandles="1" noChangeArrowheads="1" noChangeShapeType="1" noTextEdit="1"/>
                </p:cNvSpPr>
                <p:nvPr/>
              </p:nvSpPr>
              <p:spPr>
                <a:xfrm>
                  <a:off x="2066197" y="1329431"/>
                  <a:ext cx="2507999" cy="49079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5A53036-2EF4-05DC-AC34-60672E34D818}"/>
                    </a:ext>
                  </a:extLst>
                </p:cNvPr>
                <p:cNvSpPr/>
                <p:nvPr/>
              </p:nvSpPr>
              <p:spPr>
                <a:xfrm>
                  <a:off x="3693911" y="2576358"/>
                  <a:ext cx="571040"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𝑦</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7" name="矩形 6">
                  <a:extLst>
                    <a:ext uri="{FF2B5EF4-FFF2-40B4-BE49-F238E27FC236}">
                      <a16:creationId xmlns:a16="http://schemas.microsoft.com/office/drawing/2014/main" id="{05A53036-2EF4-05DC-AC34-60672E34D818}"/>
                    </a:ext>
                  </a:extLst>
                </p:cNvPr>
                <p:cNvSpPr>
                  <a:spLocks noRot="1" noChangeAspect="1" noMove="1" noResize="1" noEditPoints="1" noAdjustHandles="1" noChangeArrowheads="1" noChangeShapeType="1" noTextEdit="1"/>
                </p:cNvSpPr>
                <p:nvPr/>
              </p:nvSpPr>
              <p:spPr>
                <a:xfrm>
                  <a:off x="3693911" y="2576358"/>
                  <a:ext cx="571040" cy="49079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207AB90-7611-8EB2-5426-AD09167AED8F}"/>
                    </a:ext>
                  </a:extLst>
                </p:cNvPr>
                <p:cNvSpPr/>
                <p:nvPr/>
              </p:nvSpPr>
              <p:spPr>
                <a:xfrm>
                  <a:off x="656308" y="2599063"/>
                  <a:ext cx="566591"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0</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9" name="矩形 8">
                  <a:extLst>
                    <a:ext uri="{FF2B5EF4-FFF2-40B4-BE49-F238E27FC236}">
                      <a16:creationId xmlns:a16="http://schemas.microsoft.com/office/drawing/2014/main" id="{3207AB90-7611-8EB2-5426-AD09167AED8F}"/>
                    </a:ext>
                  </a:extLst>
                </p:cNvPr>
                <p:cNvSpPr>
                  <a:spLocks noRot="1" noChangeAspect="1" noMove="1" noResize="1" noEditPoints="1" noAdjustHandles="1" noChangeArrowheads="1" noChangeShapeType="1" noTextEdit="1"/>
                </p:cNvSpPr>
                <p:nvPr/>
              </p:nvSpPr>
              <p:spPr>
                <a:xfrm>
                  <a:off x="656308" y="2599063"/>
                  <a:ext cx="566591" cy="49079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B5A299A9-491E-B20C-A8BF-555889387905}"/>
                    </a:ext>
                  </a:extLst>
                </p:cNvPr>
                <p:cNvSpPr/>
                <p:nvPr/>
              </p:nvSpPr>
              <p:spPr>
                <a:xfrm>
                  <a:off x="656308" y="1162034"/>
                  <a:ext cx="54636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8" name="矩形 17">
                  <a:extLst>
                    <a:ext uri="{FF2B5EF4-FFF2-40B4-BE49-F238E27FC236}">
                      <a16:creationId xmlns:a16="http://schemas.microsoft.com/office/drawing/2014/main" id="{B5A299A9-491E-B20C-A8BF-555889387905}"/>
                    </a:ext>
                  </a:extLst>
                </p:cNvPr>
                <p:cNvSpPr>
                  <a:spLocks noRot="1" noChangeAspect="1" noMove="1" noResize="1" noEditPoints="1" noAdjustHandles="1" noChangeArrowheads="1" noChangeShapeType="1" noTextEdit="1"/>
                </p:cNvSpPr>
                <p:nvPr/>
              </p:nvSpPr>
              <p:spPr>
                <a:xfrm>
                  <a:off x="656308" y="1162034"/>
                  <a:ext cx="546367" cy="490790"/>
                </a:xfrm>
                <a:prstGeom prst="rect">
                  <a:avLst/>
                </a:prstGeom>
                <a:blipFill>
                  <a:blip r:embed="rId9"/>
                  <a:stretch>
                    <a:fillRect/>
                  </a:stretch>
                </a:blipFill>
              </p:spPr>
              <p:txBody>
                <a:bodyPr/>
                <a:lstStyle/>
                <a:p>
                  <a:r>
                    <a:rPr lang="zh-CN" altLang="en-US">
                      <a:noFill/>
                    </a:rPr>
                    <a:t> </a:t>
                  </a:r>
                </a:p>
              </p:txBody>
            </p:sp>
          </mc:Fallback>
        </mc:AlternateContent>
        <p:cxnSp>
          <p:nvCxnSpPr>
            <p:cNvPr id="23" name="直接连接符 23">
              <a:extLst>
                <a:ext uri="{FF2B5EF4-FFF2-40B4-BE49-F238E27FC236}">
                  <a16:creationId xmlns:a16="http://schemas.microsoft.com/office/drawing/2014/main" id="{C3D43A05-9F7C-FBF5-5871-A45463F0AA99}"/>
                </a:ext>
              </a:extLst>
            </p:cNvPr>
            <p:cNvCxnSpPr/>
            <p:nvPr/>
          </p:nvCxnSpPr>
          <p:spPr>
            <a:xfrm flipV="1">
              <a:off x="994911" y="1675283"/>
              <a:ext cx="2434393" cy="155624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E31E58A6-4100-4EA3-3D3E-8A2FFB2DEB27}"/>
                    </a:ext>
                  </a:extLst>
                </p:cNvPr>
                <p:cNvSpPr/>
                <p:nvPr/>
              </p:nvSpPr>
              <p:spPr>
                <a:xfrm>
                  <a:off x="522479" y="3057889"/>
                  <a:ext cx="77465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m:t>
                        </m:r>
                        <m:r>
                          <a:rPr lang="zh-CN" altLang="en-US" sz="1008" i="1">
                            <a:solidFill>
                              <a:prstClr val="black"/>
                            </a:solidFill>
                            <a:latin typeface="Cambria Math" panose="02040503050406030204" pitchFamily="18" charset="0"/>
                          </a:rPr>
                          <m:t>𝛼</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29" name="矩形 28">
                  <a:extLst>
                    <a:ext uri="{FF2B5EF4-FFF2-40B4-BE49-F238E27FC236}">
                      <a16:creationId xmlns:a16="http://schemas.microsoft.com/office/drawing/2014/main" id="{E31E58A6-4100-4EA3-3D3E-8A2FFB2DEB27}"/>
                    </a:ext>
                  </a:extLst>
                </p:cNvPr>
                <p:cNvSpPr>
                  <a:spLocks noRot="1" noChangeAspect="1" noMove="1" noResize="1" noEditPoints="1" noAdjustHandles="1" noChangeArrowheads="1" noChangeShapeType="1" noTextEdit="1"/>
                </p:cNvSpPr>
                <p:nvPr/>
              </p:nvSpPr>
              <p:spPr>
                <a:xfrm>
                  <a:off x="522479" y="3057889"/>
                  <a:ext cx="774657" cy="490790"/>
                </a:xfrm>
                <a:prstGeom prst="rect">
                  <a:avLst/>
                </a:prstGeom>
                <a:blipFill>
                  <a:blip r:embed="rId10"/>
                  <a:stretch>
                    <a:fillRect/>
                  </a:stretch>
                </a:blipFill>
              </p:spPr>
              <p:txBody>
                <a:bodyPr/>
                <a:lstStyle/>
                <a:p>
                  <a:r>
                    <a:rPr lang="zh-CN" altLang="en-US">
                      <a:noFill/>
                    </a:rPr>
                    <a:t> </a:t>
                  </a:r>
                </a:p>
              </p:txBody>
            </p:sp>
          </mc:Fallback>
        </mc:AlternateContent>
      </p:grpSp>
      <p:sp>
        <p:nvSpPr>
          <p:cNvPr id="33" name="Text Box 5">
            <a:extLst>
              <a:ext uri="{FF2B5EF4-FFF2-40B4-BE49-F238E27FC236}">
                <a16:creationId xmlns:a16="http://schemas.microsoft.com/office/drawing/2014/main" id="{F2E4D417-E6B9-DBF6-D49B-D0D46BFFD764}"/>
              </a:ext>
            </a:extLst>
          </p:cNvPr>
          <p:cNvSpPr txBox="1">
            <a:spLocks noChangeArrowheads="1"/>
          </p:cNvSpPr>
          <p:nvPr/>
        </p:nvSpPr>
        <p:spPr bwMode="auto">
          <a:xfrm>
            <a:off x="172879" y="2341589"/>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线性储蓄曲线</a:t>
            </a:r>
          </a:p>
        </p:txBody>
      </p:sp>
      <p:sp>
        <p:nvSpPr>
          <p:cNvPr id="34" name="Text Box 5">
            <a:extLst>
              <a:ext uri="{FF2B5EF4-FFF2-40B4-BE49-F238E27FC236}">
                <a16:creationId xmlns:a16="http://schemas.microsoft.com/office/drawing/2014/main" id="{DF3303BF-9562-7AC7-B36A-598D56EFE047}"/>
              </a:ext>
            </a:extLst>
          </p:cNvPr>
          <p:cNvSpPr txBox="1">
            <a:spLocks noChangeArrowheads="1"/>
          </p:cNvSpPr>
          <p:nvPr/>
        </p:nvSpPr>
        <p:spPr bwMode="auto">
          <a:xfrm>
            <a:off x="2154894" y="2334184"/>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非线性储蓄曲线</a:t>
            </a:r>
          </a:p>
        </p:txBody>
      </p:sp>
      <p:sp>
        <p:nvSpPr>
          <p:cNvPr id="35" name="灯片编号占位符 2">
            <a:extLst>
              <a:ext uri="{FF2B5EF4-FFF2-40B4-BE49-F238E27FC236}">
                <a16:creationId xmlns:a16="http://schemas.microsoft.com/office/drawing/2014/main" id="{A4619B69-94FD-8659-4762-FF7FB0FE914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47</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C97A0305-F5E3-5427-C49F-CBE49D43EE8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0642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left)">
                                      <p:cBhvr>
                                        <p:cTn id="2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32" name="Group 64"/>
          <p:cNvGraphicFramePr>
            <a:graphicFrameLocks noGrp="1"/>
          </p:cNvGraphicFramePr>
          <p:nvPr>
            <p:ph idx="1"/>
            <p:extLst>
              <p:ext uri="{D42A27DB-BD31-4B8C-83A1-F6EECF244321}">
                <p14:modId xmlns:p14="http://schemas.microsoft.com/office/powerpoint/2010/main" val="314730790"/>
              </p:ext>
            </p:extLst>
          </p:nvPr>
        </p:nvGraphicFramePr>
        <p:xfrm>
          <a:off x="230366" y="691935"/>
          <a:ext cx="4206855" cy="2639968"/>
        </p:xfrm>
        <a:graphic>
          <a:graphicData uri="http://schemas.openxmlformats.org/drawingml/2006/table">
            <a:tbl>
              <a:tblPr/>
              <a:tblGrid>
                <a:gridCol w="225496">
                  <a:extLst>
                    <a:ext uri="{9D8B030D-6E8A-4147-A177-3AD203B41FA5}">
                      <a16:colId xmlns:a16="http://schemas.microsoft.com/office/drawing/2014/main" val="3992406436"/>
                    </a:ext>
                  </a:extLst>
                </a:gridCol>
                <a:gridCol w="750852">
                  <a:extLst>
                    <a:ext uri="{9D8B030D-6E8A-4147-A177-3AD203B41FA5}">
                      <a16:colId xmlns:a16="http://schemas.microsoft.com/office/drawing/2014/main" val="2729380484"/>
                    </a:ext>
                  </a:extLst>
                </a:gridCol>
                <a:gridCol w="750853">
                  <a:extLst>
                    <a:ext uri="{9D8B030D-6E8A-4147-A177-3AD203B41FA5}">
                      <a16:colId xmlns:a16="http://schemas.microsoft.com/office/drawing/2014/main" val="446103034"/>
                    </a:ext>
                  </a:extLst>
                </a:gridCol>
                <a:gridCol w="789235">
                  <a:extLst>
                    <a:ext uri="{9D8B030D-6E8A-4147-A177-3AD203B41FA5}">
                      <a16:colId xmlns:a16="http://schemas.microsoft.com/office/drawing/2014/main" val="2422633292"/>
                    </a:ext>
                  </a:extLst>
                </a:gridCol>
                <a:gridCol w="863601">
                  <a:extLst>
                    <a:ext uri="{9D8B030D-6E8A-4147-A177-3AD203B41FA5}">
                      <a16:colId xmlns:a16="http://schemas.microsoft.com/office/drawing/2014/main" val="631388188"/>
                    </a:ext>
                  </a:extLst>
                </a:gridCol>
                <a:gridCol w="826818">
                  <a:extLst>
                    <a:ext uri="{9D8B030D-6E8A-4147-A177-3AD203B41FA5}">
                      <a16:colId xmlns:a16="http://schemas.microsoft.com/office/drawing/2014/main" val="170197805"/>
                    </a:ext>
                  </a:extLst>
                </a:gridCol>
              </a:tblGrid>
              <a:tr h="464042">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收入</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y</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2</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消费</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c</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endPar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3</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储蓄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4</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边际储蓄倾向</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MPS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5</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平均储蓄倾向</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APS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3663860306"/>
                  </a:ext>
                </a:extLst>
              </a:tr>
              <a:tr h="21759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15000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9110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10850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12240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12830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13360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760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1170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1640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19940547"/>
                  </a:ext>
                </a:extLst>
              </a:tr>
            </a:tbl>
          </a:graphicData>
        </a:graphic>
      </p:graphicFrame>
      <p:sp>
        <p:nvSpPr>
          <p:cNvPr id="2" name="文本框 1">
            <a:extLst>
              <a:ext uri="{FF2B5EF4-FFF2-40B4-BE49-F238E27FC236}">
                <a16:creationId xmlns:a16="http://schemas.microsoft.com/office/drawing/2014/main" id="{59B31BCF-2E9D-B644-8463-CC75403F8C9D}"/>
              </a:ext>
            </a:extLst>
          </p:cNvPr>
          <p:cNvSpPr txBox="1"/>
          <p:nvPr/>
        </p:nvSpPr>
        <p:spPr>
          <a:xfrm>
            <a:off x="172879" y="444495"/>
            <a:ext cx="4036518" cy="247440"/>
          </a:xfrm>
          <a:prstGeom prst="rect">
            <a:avLst/>
          </a:prstGeom>
          <a:noFill/>
        </p:spPr>
        <p:txBody>
          <a:bodyPr wrap="square">
            <a:spAutoFit/>
          </a:bodyPr>
          <a:lstStyle/>
          <a:p>
            <a:pPr algn="ctr"/>
            <a:r>
              <a:rPr lang="zh-CN" altLang="en-US" sz="1008" b="1" dirty="0">
                <a:latin typeface="Garamond" panose="02020404030301010803" pitchFamily="18" charset="0"/>
                <a:ea typeface="KaiTi" panose="02010609060101010101" pitchFamily="49" charset="-122"/>
              </a:rPr>
              <a:t>表</a:t>
            </a:r>
            <a:r>
              <a:rPr lang="en-US" altLang="zh-CN" sz="1008" b="1" dirty="0">
                <a:latin typeface="Garamond" panose="02020404030301010803" pitchFamily="18" charset="0"/>
                <a:ea typeface="KaiTi" panose="02010609060101010101" pitchFamily="49" charset="-122"/>
              </a:rPr>
              <a:t>3</a:t>
            </a:r>
            <a:r>
              <a:rPr lang="zh-CN" altLang="en-US" sz="1008" b="1" dirty="0">
                <a:latin typeface="Garamond" panose="02020404030301010803" pitchFamily="18" charset="0"/>
                <a:ea typeface="KaiTi" panose="02010609060101010101" pitchFamily="49" charset="-122"/>
              </a:rPr>
              <a:t>：某家户储蓄表（单位：元）</a:t>
            </a:r>
          </a:p>
        </p:txBody>
      </p:sp>
      <p:sp>
        <p:nvSpPr>
          <p:cNvPr id="6" name="文本框 5">
            <a:extLst>
              <a:ext uri="{FF2B5EF4-FFF2-40B4-BE49-F238E27FC236}">
                <a16:creationId xmlns:a16="http://schemas.microsoft.com/office/drawing/2014/main" id="{CB510D73-211C-07B9-2215-A8DA31084310}"/>
              </a:ext>
            </a:extLst>
          </p:cNvPr>
          <p:cNvSpPr txBox="1"/>
          <p:nvPr/>
        </p:nvSpPr>
        <p:spPr>
          <a:xfrm>
            <a:off x="2806170" y="1284486"/>
            <a:ext cx="718318" cy="1908792"/>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0.11</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0.15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0.25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0.36</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0.41</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0.47</a:t>
            </a:r>
          </a:p>
        </p:txBody>
      </p:sp>
      <p:sp>
        <p:nvSpPr>
          <p:cNvPr id="8" name="文本框 7">
            <a:extLst>
              <a:ext uri="{FF2B5EF4-FFF2-40B4-BE49-F238E27FC236}">
                <a16:creationId xmlns:a16="http://schemas.microsoft.com/office/drawing/2014/main" id="{411D1D00-BA2E-62B2-7BBE-91BAB88C2A7B}"/>
              </a:ext>
            </a:extLst>
          </p:cNvPr>
          <p:cNvSpPr txBox="1"/>
          <p:nvPr/>
        </p:nvSpPr>
        <p:spPr>
          <a:xfrm>
            <a:off x="3677310" y="1156011"/>
            <a:ext cx="718318" cy="2244140"/>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-0.11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0.03</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0.06</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0.08</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0.11</a:t>
            </a:r>
          </a:p>
        </p:txBody>
      </p:sp>
      <p:sp>
        <p:nvSpPr>
          <p:cNvPr id="9" name="Rectangle 2">
            <a:extLst>
              <a:ext uri="{FF2B5EF4-FFF2-40B4-BE49-F238E27FC236}">
                <a16:creationId xmlns:a16="http://schemas.microsoft.com/office/drawing/2014/main" id="{D887D069-38D9-0B76-CD71-82861BEF7C56}"/>
              </a:ext>
            </a:extLst>
          </p:cNvPr>
          <p:cNvSpPr txBox="1">
            <a:spLocks noChangeArrowheads="1"/>
          </p:cNvSpPr>
          <p:nvPr/>
        </p:nvSpPr>
        <p:spPr bwMode="auto">
          <a:xfrm>
            <a:off x="172879" y="128847"/>
            <a:ext cx="4240332" cy="283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613" b="0" dirty="0">
                <a:latin typeface="Microsoft YaHei" panose="020B0503020204020204" pitchFamily="34" charset="-122"/>
                <a:ea typeface="Microsoft YaHei" panose="020B0503020204020204" pitchFamily="34" charset="-122"/>
              </a:rPr>
              <a:t>边际储蓄倾向与平均储蓄倾向</a:t>
            </a:r>
          </a:p>
        </p:txBody>
      </p:sp>
    </p:spTree>
    <p:extLst>
      <p:ext uri="{BB962C8B-B14F-4D97-AF65-F5344CB8AC3E}">
        <p14:creationId xmlns:p14="http://schemas.microsoft.com/office/powerpoint/2010/main" val="296145261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p:txBody>
          <a:bodyPr/>
          <a:lstStyle/>
          <a:p>
            <a:pPr>
              <a:buClr>
                <a:srgbClr val="002060"/>
              </a:buClr>
              <a:buFont typeface="Wingdings" pitchFamily="2" charset="2"/>
              <a:buChar char="u"/>
            </a:pPr>
            <a:r>
              <a:rPr kumimoji="1" lang="zh-CN" altLang="en-US" dirty="0"/>
              <a:t>相对收入消费理论</a:t>
            </a:r>
            <a:endParaRPr lang="zh-CN" altLang="en-US" dirty="0"/>
          </a:p>
        </p:txBody>
      </p:sp>
      <p:pic>
        <p:nvPicPr>
          <p:cNvPr id="38916" name="Picture 4" descr="xf1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97176" y="940028"/>
            <a:ext cx="2433689" cy="127747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72879" y="911717"/>
            <a:ext cx="2132171" cy="1434367"/>
          </a:xfrm>
          <a:prstGeom prst="rect">
            <a:avLst/>
          </a:prstGeom>
          <a:noFill/>
        </p:spPr>
        <p:txBody>
          <a:bodyPr wrap="square" rtlCol="0">
            <a:spAutoFit/>
          </a:bodyPr>
          <a:lstStyle/>
          <a:p>
            <a:pPr marL="143956" indent="-143956" defTabSz="230520">
              <a:lnSpc>
                <a:spcPct val="125000"/>
              </a:lnSpc>
              <a:buFont typeface="Arial" panose="020B0604020202020204" pitchFamily="34" charset="0"/>
              <a:buChar char="•"/>
              <a:defRPr/>
            </a:pPr>
            <a:r>
              <a:rPr lang="zh-CN" altLang="en-US" sz="1008" dirty="0">
                <a:solidFill>
                  <a:prstClr val="black"/>
                </a:solidFill>
                <a:latin typeface="Garamond" panose="02020404030301010803" pitchFamily="18" charset="0"/>
                <a:ea typeface="SimSun" panose="02010600030101010101" pitchFamily="2" charset="-122"/>
              </a:rPr>
              <a:t>美国经济学家杜森贝利</a:t>
            </a:r>
            <a:r>
              <a:rPr lang="en-US" altLang="zh-CN" sz="1008" dirty="0">
                <a:solidFill>
                  <a:prstClr val="black"/>
                </a:solidFill>
                <a:latin typeface="Garamond" panose="02020404030301010803" pitchFamily="18" charset="0"/>
                <a:ea typeface="SimSun" panose="02010600030101010101" pitchFamily="2" charset="-122"/>
              </a:rPr>
              <a:t>(</a:t>
            </a:r>
            <a:r>
              <a:rPr lang="en-US" altLang="zh-CN" sz="1008" dirty="0" err="1">
                <a:solidFill>
                  <a:prstClr val="black"/>
                </a:solidFill>
                <a:latin typeface="Garamond" panose="02020404030301010803" pitchFamily="18" charset="0"/>
                <a:ea typeface="SimSun" panose="02010600030101010101" pitchFamily="2" charset="-122"/>
              </a:rPr>
              <a:t>Duesenberry</a:t>
            </a:r>
            <a:r>
              <a:rPr lang="en-US" altLang="zh-CN" sz="1008" dirty="0">
                <a:solidFill>
                  <a:prstClr val="black"/>
                </a:solidFill>
                <a:latin typeface="Garamond" panose="02020404030301010803" pitchFamily="18" charset="0"/>
                <a:ea typeface="SimSun" panose="02010600030101010101" pitchFamily="2" charset="-122"/>
              </a:rPr>
              <a:t>)</a:t>
            </a:r>
            <a:r>
              <a:rPr lang="zh-CN" altLang="en-US" sz="1008" dirty="0">
                <a:solidFill>
                  <a:prstClr val="black"/>
                </a:solidFill>
                <a:latin typeface="Garamond" panose="02020404030301010803" pitchFamily="18" charset="0"/>
                <a:ea typeface="SimSun" panose="02010600030101010101" pitchFamily="2" charset="-122"/>
              </a:rPr>
              <a:t> 认为消费者依据自己过去的消费习惯以及周围消费水准的影响来决定消费。</a:t>
            </a:r>
            <a:endParaRPr lang="en-US" altLang="zh-CN" sz="1008" dirty="0">
              <a:solidFill>
                <a:prstClr val="black"/>
              </a:solidFill>
              <a:latin typeface="Garamond" panose="02020404030301010803" pitchFamily="18" charset="0"/>
              <a:ea typeface="SimSun" panose="02010600030101010101" pitchFamily="2" charset="-122"/>
            </a:endParaRPr>
          </a:p>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长期消费函数</a:t>
            </a:r>
            <a:r>
              <a:rPr lang="zh-CN" altLang="en-US" sz="1008" dirty="0">
                <a:solidFill>
                  <a:prstClr val="black"/>
                </a:solidFill>
                <a:latin typeface="Garamond" panose="02020404030301010803" pitchFamily="18" charset="0"/>
                <a:ea typeface="SimSun" panose="02010600030101010101" pitchFamily="2" charset="-122"/>
              </a:rPr>
              <a:t>是出自零点的直线，但</a:t>
            </a:r>
            <a:r>
              <a:rPr lang="zh-CN" altLang="en-US" sz="1008" b="1" dirty="0">
                <a:solidFill>
                  <a:prstClr val="black"/>
                </a:solidFill>
                <a:latin typeface="Garamond" panose="02020404030301010803" pitchFamily="18" charset="0"/>
                <a:ea typeface="SimSun" panose="02010600030101010101" pitchFamily="2" charset="-122"/>
              </a:rPr>
              <a:t>短期的消费函数</a:t>
            </a:r>
            <a:r>
              <a:rPr lang="zh-CN" altLang="en-US" sz="1008" dirty="0">
                <a:solidFill>
                  <a:prstClr val="black"/>
                </a:solidFill>
                <a:latin typeface="Garamond" panose="02020404030301010803" pitchFamily="18" charset="0"/>
                <a:ea typeface="SimSun" panose="02010600030101010101" pitchFamily="2" charset="-122"/>
              </a:rPr>
              <a:t>则是具有正截距的曲线。</a:t>
            </a:r>
            <a:endParaRPr lang="en-US" altLang="zh-CN" sz="1008" dirty="0">
              <a:solidFill>
                <a:prstClr val="black"/>
              </a:solidFill>
              <a:latin typeface="Garamond" panose="02020404030301010803" pitchFamily="18" charset="0"/>
              <a:ea typeface="SimSun" panose="02010600030101010101" pitchFamily="2" charset="-122"/>
            </a:endParaRPr>
          </a:p>
        </p:txBody>
      </p:sp>
      <p:sp>
        <p:nvSpPr>
          <p:cNvPr id="6" name="标题 5">
            <a:extLst>
              <a:ext uri="{FF2B5EF4-FFF2-40B4-BE49-F238E27FC236}">
                <a16:creationId xmlns:a16="http://schemas.microsoft.com/office/drawing/2014/main" id="{8A33C25D-0199-6416-4CA4-7BBC12F15B7A}"/>
              </a:ext>
            </a:extLst>
          </p:cNvPr>
          <p:cNvSpPr>
            <a:spLocks noGrp="1"/>
          </p:cNvSpPr>
          <p:nvPr>
            <p:ph type="title"/>
          </p:nvPr>
        </p:nvSpPr>
        <p:spPr/>
        <p:txBody>
          <a:bodyPr/>
          <a:lstStyle/>
          <a:p>
            <a:r>
              <a:rPr kumimoji="1" lang="zh-CN" altLang="en-US" dirty="0"/>
              <a:t>其他消费理论</a:t>
            </a:r>
          </a:p>
        </p:txBody>
      </p:sp>
      <p:sp>
        <p:nvSpPr>
          <p:cNvPr id="8" name="文本框 7">
            <a:extLst>
              <a:ext uri="{FF2B5EF4-FFF2-40B4-BE49-F238E27FC236}">
                <a16:creationId xmlns:a16="http://schemas.microsoft.com/office/drawing/2014/main" id="{4F72F7C4-6377-AA2F-C1B4-D20F272A3737}"/>
              </a:ext>
            </a:extLst>
          </p:cNvPr>
          <p:cNvSpPr txBox="1"/>
          <p:nvPr/>
        </p:nvSpPr>
        <p:spPr>
          <a:xfrm>
            <a:off x="172879" y="2251811"/>
            <a:ext cx="4191509" cy="658770"/>
          </a:xfrm>
          <a:prstGeom prst="rect">
            <a:avLst/>
          </a:prstGeom>
          <a:noFill/>
        </p:spPr>
        <p:txBody>
          <a:bodyPr wrap="square">
            <a:spAutoFit/>
          </a:bodyPr>
          <a:lstStyle/>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棘轮效应：</a:t>
            </a:r>
            <a:r>
              <a:rPr lang="zh-CN" altLang="en-US" sz="1008" dirty="0">
                <a:solidFill>
                  <a:prstClr val="black"/>
                </a:solidFill>
                <a:latin typeface="Garamond" panose="02020404030301010803" pitchFamily="18" charset="0"/>
                <a:ea typeface="SimSun" panose="02010600030101010101" pitchFamily="2" charset="-122"/>
              </a:rPr>
              <a:t>消费者易于随着收入增加而提高消费，但不易随收入减少而降低消费</a:t>
            </a:r>
            <a:endParaRPr lang="en-US" altLang="zh-CN" sz="1008" dirty="0">
              <a:solidFill>
                <a:prstClr val="black"/>
              </a:solidFill>
              <a:latin typeface="Garamond" panose="02020404030301010803" pitchFamily="18" charset="0"/>
              <a:ea typeface="SimSun" panose="02010600030101010101" pitchFamily="2" charset="-122"/>
            </a:endParaRPr>
          </a:p>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示范效应：</a:t>
            </a:r>
            <a:r>
              <a:rPr lang="zh-CN" altLang="en-US" sz="1008" dirty="0">
                <a:solidFill>
                  <a:prstClr val="black"/>
                </a:solidFill>
                <a:latin typeface="Garamond" panose="02020404030301010803" pitchFamily="18" charset="0"/>
                <a:ea typeface="SimSun" panose="02010600030101010101" pitchFamily="2" charset="-122"/>
              </a:rPr>
              <a:t>消费行为还受周围消费水准的影响。</a:t>
            </a:r>
            <a:endParaRPr lang="en-US" altLang="zh-CN" sz="1008" dirty="0">
              <a:solidFill>
                <a:prstClr val="black"/>
              </a:solidFill>
              <a:latin typeface="Garamond" panose="02020404030301010803" pitchFamily="18" charset="0"/>
              <a:ea typeface="SimSun" panose="02010600030101010101" pitchFamily="2" charset="-122"/>
            </a:endParaRPr>
          </a:p>
        </p:txBody>
      </p:sp>
      <p:sp>
        <p:nvSpPr>
          <p:cNvPr id="9" name="灯片编号占位符 2">
            <a:extLst>
              <a:ext uri="{FF2B5EF4-FFF2-40B4-BE49-F238E27FC236}">
                <a16:creationId xmlns:a16="http://schemas.microsoft.com/office/drawing/2014/main" id="{D6330DC2-7E68-3F1D-3466-7812DEC091D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49</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2E6CA54D-DE91-CF74-4FC3-632D68E2D4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24173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b="1" dirty="0">
                    <a:latin typeface="Garamond" panose="02020404030301010803" pitchFamily="18" charset="0"/>
                  </a:rPr>
                  <a:t>美</a:t>
                </a:r>
                <a:r>
                  <a:rPr lang="en-US" altLang="zh-CN" sz="1209" b="1" dirty="0">
                    <a:latin typeface="Garamond" panose="02020404030301010803" pitchFamily="18" charset="0"/>
                  </a:rPr>
                  <a:t>·(Modigliani Franco)--</a:t>
                </a:r>
                <a:r>
                  <a:rPr lang="zh-CN" altLang="en-US" sz="1209" b="1" dirty="0">
                    <a:latin typeface="Garamond" panose="02020404030301010803" pitchFamily="18" charset="0"/>
                  </a:rPr>
                  <a:t>生命周期模型</a:t>
                </a:r>
                <a:r>
                  <a:rPr lang="en-US" altLang="zh-CN" sz="1209" b="1" dirty="0">
                    <a:latin typeface="Garamond" panose="02020404030301010803" pitchFamily="18" charset="0"/>
                  </a:rPr>
                  <a:t>(life-circle model)</a:t>
                </a:r>
              </a:p>
              <a:p>
                <a:r>
                  <a:rPr lang="zh-CN" altLang="en-US" sz="1209" dirty="0">
                    <a:latin typeface="Garamond" panose="02020404030301010803" pitchFamily="18" charset="0"/>
                    <a:ea typeface="楷体" panose="02010609060101010101" pitchFamily="49" charset="-122"/>
                  </a:rPr>
                  <a:t>他认为，人们在特定时期的消费与他们在该时期的可支配收入相联系，强调人们会在一个更长的时间范围内计划他们的生活消费开支，以达到在整个生命周期内的消费最佳配置。</a:t>
                </a:r>
                <a:endParaRPr lang="en-US" altLang="zh-CN" sz="1209" dirty="0">
                  <a:latin typeface="Garamond" panose="02020404030301010803" pitchFamily="18" charset="0"/>
                  <a:ea typeface="楷体" panose="02010609060101010101" pitchFamily="49" charset="-122"/>
                </a:endParaRPr>
              </a:p>
              <a:p>
                <a:r>
                  <a:rPr lang="zh-CN" altLang="en-US" sz="1209" dirty="0">
                    <a:latin typeface="Garamond" panose="02020404030301010803" pitchFamily="18" charset="0"/>
                    <a:ea typeface="楷体" panose="02010609060101010101" pitchFamily="49" charset="-122"/>
                  </a:rPr>
                  <a:t>理性的消费者根据一生的收入来安排自己的消费与储蓄，让一生的收入与消费相等。家庭收入包括劳动收入与财产收入，因此家庭的消费函数是：</a:t>
                </a:r>
                <a:endParaRPr lang="en-US" altLang="zh-CN" sz="1209" dirty="0">
                  <a:latin typeface="Garamond" panose="02020404030301010803" pitchFamily="18" charset="0"/>
                  <a:ea typeface="楷体" panose="02010609060101010101" pitchFamily="49" charset="-122"/>
                </a:endParaRPr>
              </a:p>
              <a:p>
                <a14:m>
                  <m:oMath xmlns:m="http://schemas.openxmlformats.org/officeDocument/2006/math">
                    <m:r>
                      <a:rPr lang="en-US" altLang="zh-CN" sz="1209" i="1">
                        <a:latin typeface="Cambria Math" panose="02040503050406030204" pitchFamily="18" charset="0"/>
                        <a:ea typeface="楷体" panose="02010609060101010101" pitchFamily="49" charset="-122"/>
                      </a:rPr>
                      <m:t>𝐶</m:t>
                    </m:r>
                    <m:r>
                      <a:rPr lang="en-US" altLang="zh-CN" sz="1209" i="1">
                        <a:latin typeface="Cambria Math" panose="02040503050406030204" pitchFamily="18" charset="0"/>
                        <a:ea typeface="楷体" panose="02010609060101010101" pitchFamily="49" charset="-122"/>
                      </a:rPr>
                      <m:t>=</m:t>
                    </m:r>
                    <m:r>
                      <a:rPr lang="zh-CN" altLang="en-US" sz="1209" i="1">
                        <a:latin typeface="Cambria Math" panose="02040503050406030204" pitchFamily="18" charset="0"/>
                        <a:ea typeface="楷体" panose="02010609060101010101" pitchFamily="49" charset="-122"/>
                      </a:rPr>
                      <m:t>𝛼</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𝑊𝑅</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𝑐</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𝑌𝐿</m:t>
                    </m:r>
                  </m:oMath>
                </a14:m>
                <a:endParaRPr lang="en-US" altLang="zh-CN" sz="1209" dirty="0">
                  <a:latin typeface="Garamond" panose="02020404030301010803" pitchFamily="18" charset="0"/>
                  <a:ea typeface="楷体" panose="02010609060101010101" pitchFamily="49" charset="-122"/>
                </a:endParaRPr>
              </a:p>
              <a:p>
                <a:r>
                  <a:rPr lang="en-US" altLang="zh-CN" sz="1209" dirty="0">
                    <a:latin typeface="Garamond" panose="02020404030301010803" pitchFamily="18" charset="0"/>
                    <a:ea typeface="楷体" panose="02010609060101010101" pitchFamily="49" charset="-122"/>
                  </a:rPr>
                  <a:t>WR</a:t>
                </a:r>
                <a:r>
                  <a:rPr lang="zh-CN" altLang="en-US" sz="1209" dirty="0">
                    <a:latin typeface="Garamond" panose="02020404030301010803" pitchFamily="18" charset="0"/>
                    <a:ea typeface="楷体" panose="02010609060101010101" pitchFamily="49" charset="-122"/>
                  </a:rPr>
                  <a:t>是财产收入；</a:t>
                </a:r>
                <a:r>
                  <a:rPr lang="en-US" altLang="zh-CN" sz="1209" dirty="0">
                    <a:latin typeface="Garamond" panose="02020404030301010803" pitchFamily="18" charset="0"/>
                    <a:ea typeface="楷体" panose="02010609060101010101" pitchFamily="49" charset="-122"/>
                  </a:rPr>
                  <a:t>YL</a:t>
                </a:r>
                <a:r>
                  <a:rPr lang="zh-CN" altLang="en-US" sz="1209" dirty="0">
                    <a:latin typeface="Garamond" panose="02020404030301010803" pitchFamily="18" charset="0"/>
                    <a:ea typeface="楷体" panose="02010609060101010101" pitchFamily="49" charset="-122"/>
                  </a:rPr>
                  <a:t>是劳动收入。</a:t>
                </a:r>
                <a:endParaRPr lang="en-US" altLang="zh-CN" sz="1209" dirty="0">
                  <a:latin typeface="Garamond" panose="02020404030301010803" pitchFamily="18" charset="0"/>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D8CF4334-AD99-74AE-BF1D-D59C4CAF0ED2}"/>
              </a:ext>
            </a:extLst>
          </p:cNvPr>
          <p:cNvSpPr>
            <a:spLocks noGrp="1"/>
          </p:cNvSpPr>
          <p:nvPr>
            <p:ph type="title"/>
          </p:nvPr>
        </p:nvSpPr>
        <p:spPr/>
        <p:txBody>
          <a:bodyPr/>
          <a:lstStyle/>
          <a:p>
            <a:r>
              <a:rPr kumimoji="1" lang="zh-CN" altLang="en-US" dirty="0"/>
              <a:t>生命周期消费理论</a:t>
            </a:r>
          </a:p>
        </p:txBody>
      </p:sp>
      <p:sp>
        <p:nvSpPr>
          <p:cNvPr id="8" name="灯片编号占位符 2">
            <a:extLst>
              <a:ext uri="{FF2B5EF4-FFF2-40B4-BE49-F238E27FC236}">
                <a16:creationId xmlns:a16="http://schemas.microsoft.com/office/drawing/2014/main" id="{7A925075-A6A1-3548-61BE-5F34CCE4136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50</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EFED5051-CAED-5BA9-C255-A146374A6D1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34398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美</a:t>
                </a:r>
                <a:r>
                  <a:rPr lang="en-US" altLang="zh-CN" dirty="0">
                    <a:latin typeface="Garamond" panose="02020404030301010803" pitchFamily="18" charset="0"/>
                    <a:ea typeface="SimSun" panose="02010600030101010101" pitchFamily="2" charset="-122"/>
                  </a:rPr>
                  <a:t>·(M Friedman)</a:t>
                </a:r>
              </a:p>
              <a:p>
                <a:r>
                  <a:rPr lang="zh-CN" altLang="en-US" dirty="0">
                    <a:latin typeface="Garamond" panose="02020404030301010803" pitchFamily="18" charset="0"/>
                    <a:ea typeface="SimSun" panose="02010600030101010101" pitchFamily="2" charset="-122"/>
                  </a:rPr>
                  <a:t>他认为，消费支出主要不是由消费者的现期收入决定的，而是由他的持久收入</a:t>
                </a:r>
                <a:r>
                  <a:rPr lang="en-US" altLang="zh-CN" dirty="0">
                    <a:latin typeface="Garamond" panose="02020404030301010803" pitchFamily="18" charset="0"/>
                    <a:ea typeface="SimSun" panose="02010600030101010101" pitchFamily="2" charset="-122"/>
                  </a:rPr>
                  <a:t>(permanent income)</a:t>
                </a:r>
                <a:r>
                  <a:rPr lang="zh-CN" altLang="en-US" dirty="0">
                    <a:latin typeface="Garamond" panose="02020404030301010803" pitchFamily="18" charset="0"/>
                    <a:ea typeface="SimSun" panose="02010600030101010101" pitchFamily="2" charset="-122"/>
                  </a:rPr>
                  <a:t>。</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持久性收入的公式：</a:t>
                </a:r>
                <a:endParaRPr lang="en-US" altLang="zh-CN" b="0" i="1" dirty="0">
                  <a:latin typeface="Garamond" panose="02020404030301010803" pitchFamily="18" charset="0"/>
                  <a:ea typeface="SimSun" panose="02010600030101010101" pitchFamily="2" charset="-122"/>
                </a:endParaRPr>
              </a:p>
              <a:p>
                <a14:m>
                  <m:oMath xmlns:m="http://schemas.openxmlformats.org/officeDocument/2006/math">
                    <m:r>
                      <a:rPr lang="en-US" altLang="zh-CN" b="0" i="1" smtClean="0">
                        <a:latin typeface="Cambria Math" panose="02040503050406030204" pitchFamily="18" charset="0"/>
                      </a:rPr>
                      <m:t>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zh-CN" altLang="en-US" i="1">
                        <a:latin typeface="Cambria Math" panose="02040503050406030204" pitchFamily="18" charset="0"/>
                      </a:rPr>
                      <m:t>𝜃</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+(1−</m:t>
                    </m:r>
                    <m:r>
                      <a:rPr lang="zh-CN" altLang="en-US" i="1">
                        <a:latin typeface="Cambria Math" panose="02040503050406030204" pitchFamily="18" charset="0"/>
                      </a:rPr>
                      <m:t>𝜃</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消费函数：</a:t>
                </a:r>
                <a:endParaRPr lang="en-US" altLang="zh-CN"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zh-CN" altLang="en-US" i="1">
                        <a:latin typeface="Cambria Math" panose="02040503050406030204" pitchFamily="18" charset="0"/>
                      </a:rPr>
                      <m:t>𝜃</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en-US" altLang="zh-CN" b="0" i="1" smtClean="0">
                        <a:latin typeface="Cambria Math" panose="02040503050406030204" pitchFamily="18" charset="0"/>
                      </a:rPr>
                      <m:t>𝑐</m:t>
                    </m:r>
                    <m:r>
                      <a:rPr lang="en-US" altLang="zh-CN" i="1">
                        <a:latin typeface="Cambria Math" panose="02040503050406030204" pitchFamily="18" charset="0"/>
                      </a:rPr>
                      <m:t>(1−</m:t>
                    </m:r>
                    <m:r>
                      <a:rPr lang="zh-CN" altLang="en-US" i="1">
                        <a:latin typeface="Cambria Math" panose="02040503050406030204" pitchFamily="18" charset="0"/>
                      </a:rPr>
                      <m:t>𝜃</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r>
                          <a:rPr lang="en-US" altLang="zh-CN" i="1">
                            <a:latin typeface="Cambria Math" panose="02040503050406030204" pitchFamily="18" charset="0"/>
                          </a:rPr>
                          <m:t>−1</m:t>
                        </m:r>
                      </m:sub>
                    </m:sSub>
                  </m:oMath>
                </a14:m>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832" t="-2475" r="-1527"/>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7AAE04CF-D739-FEF3-17C1-2F3FA29F024B}"/>
              </a:ext>
            </a:extLst>
          </p:cNvPr>
          <p:cNvSpPr>
            <a:spLocks noGrp="1"/>
          </p:cNvSpPr>
          <p:nvPr>
            <p:ph type="title"/>
          </p:nvPr>
        </p:nvSpPr>
        <p:spPr/>
        <p:txBody>
          <a:bodyPr/>
          <a:lstStyle/>
          <a:p>
            <a:r>
              <a:rPr kumimoji="1" lang="zh-CN" altLang="en-US" dirty="0"/>
              <a:t>永久收入消费理论</a:t>
            </a:r>
          </a:p>
        </p:txBody>
      </p:sp>
      <p:sp>
        <p:nvSpPr>
          <p:cNvPr id="8" name="灯片编号占位符 2">
            <a:extLst>
              <a:ext uri="{FF2B5EF4-FFF2-40B4-BE49-F238E27FC236}">
                <a16:creationId xmlns:a16="http://schemas.microsoft.com/office/drawing/2014/main" id="{F1AD782D-B293-F67F-FCA5-CDF2E87D69A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51</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8FCAD55F-0624-AA55-D33B-54D7DDF9E1C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70085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AAE04CF-D739-FEF3-17C1-2F3FA29F024B}"/>
              </a:ext>
            </a:extLst>
          </p:cNvPr>
          <p:cNvSpPr>
            <a:spLocks noGrp="1"/>
          </p:cNvSpPr>
          <p:nvPr>
            <p:ph type="title"/>
          </p:nvPr>
        </p:nvSpPr>
        <p:spPr/>
        <p:txBody>
          <a:bodyPr/>
          <a:lstStyle/>
          <a:p>
            <a:r>
              <a:rPr kumimoji="1" lang="zh-CN" altLang="en-US" dirty="0"/>
              <a:t>使用消费函数决定收入：</a:t>
            </a:r>
            <a:r>
              <a:rPr kumimoji="1" lang="en-US" altLang="zh-CN" dirty="0"/>
              <a:t>AE-NI</a:t>
            </a:r>
            <a:r>
              <a:rPr kumimoji="1" lang="zh-CN" altLang="en-US" dirty="0"/>
              <a:t>模型</a:t>
            </a:r>
          </a:p>
        </p:txBody>
      </p:sp>
      <p:pic>
        <p:nvPicPr>
          <p:cNvPr id="8" name="Picture 4" descr="xf138">
            <a:extLst>
              <a:ext uri="{FF2B5EF4-FFF2-40B4-BE49-F238E27FC236}">
                <a16:creationId xmlns:a16="http://schemas.microsoft.com/office/drawing/2014/main" id="{D48E997B-83E3-ACF4-F80B-50AE817120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789" y="705249"/>
            <a:ext cx="3844623" cy="2050252"/>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0F4FA935-64E2-52EB-1B1D-C023AC024D26}"/>
              </a:ext>
            </a:extLst>
          </p:cNvPr>
          <p:cNvSpPr txBox="1"/>
          <p:nvPr/>
        </p:nvSpPr>
        <p:spPr>
          <a:xfrm>
            <a:off x="667874" y="2755501"/>
            <a:ext cx="3297995" cy="247440"/>
          </a:xfrm>
          <a:prstGeom prst="rect">
            <a:avLst/>
          </a:prstGeom>
          <a:noFill/>
        </p:spPr>
        <p:txBody>
          <a:bodyPr wrap="square">
            <a:spAutoFit/>
          </a:bodyPr>
          <a:lstStyle/>
          <a:p>
            <a:pPr algn="ctr"/>
            <a:r>
              <a:rPr kumimoji="1" lang="zh-CN" altLang="en-US" sz="1008" b="1" dirty="0">
                <a:latin typeface="KaiTi" panose="02010609060101010101" pitchFamily="49" charset="-122"/>
                <a:ea typeface="KaiTi" panose="02010609060101010101" pitchFamily="49" charset="-122"/>
              </a:rPr>
              <a:t>凯恩斯交叉：</a:t>
            </a:r>
            <a:r>
              <a:rPr kumimoji="1" lang="zh-CN" altLang="en-US" sz="1008" dirty="0">
                <a:latin typeface="KaiTi" panose="02010609060101010101" pitchFamily="49" charset="-122"/>
                <a:ea typeface="KaiTi" panose="02010609060101010101" pitchFamily="49" charset="-122"/>
              </a:rPr>
              <a:t>消费加投资曲线和</a:t>
            </a:r>
            <a:r>
              <a:rPr kumimoji="1" lang="en-US" altLang="zh-CN" sz="1008" dirty="0">
                <a:latin typeface="KaiTi" panose="02010609060101010101" pitchFamily="49" charset="-122"/>
                <a:ea typeface="KaiTi" panose="02010609060101010101" pitchFamily="49" charset="-122"/>
              </a:rPr>
              <a:t>45</a:t>
            </a:r>
            <a:r>
              <a:rPr kumimoji="1" lang="zh-CN" altLang="en-US" sz="1008" dirty="0">
                <a:latin typeface="KaiTi" panose="02010609060101010101" pitchFamily="49" charset="-122"/>
                <a:ea typeface="KaiTi" panose="02010609060101010101" pitchFamily="49" charset="-122"/>
              </a:rPr>
              <a:t>度线相交决定收入</a:t>
            </a:r>
            <a:endParaRPr lang="zh-CN" altLang="en-US" sz="1008" dirty="0">
              <a:latin typeface="KaiTi" panose="02010609060101010101" pitchFamily="49" charset="-122"/>
              <a:ea typeface="KaiTi" panose="02010609060101010101" pitchFamily="49" charset="-122"/>
            </a:endParaRPr>
          </a:p>
        </p:txBody>
      </p:sp>
      <p:sp>
        <p:nvSpPr>
          <p:cNvPr id="12" name="文本框 11">
            <a:extLst>
              <a:ext uri="{FF2B5EF4-FFF2-40B4-BE49-F238E27FC236}">
                <a16:creationId xmlns:a16="http://schemas.microsoft.com/office/drawing/2014/main" id="{9B6CFF7E-31BB-856B-95A3-DA34CEACB43D}"/>
              </a:ext>
            </a:extLst>
          </p:cNvPr>
          <p:cNvSpPr txBox="1"/>
          <p:nvPr/>
        </p:nvSpPr>
        <p:spPr>
          <a:xfrm>
            <a:off x="1896963" y="542320"/>
            <a:ext cx="2305050" cy="371768"/>
          </a:xfrm>
          <a:prstGeom prst="rect">
            <a:avLst/>
          </a:prstGeom>
          <a:noFill/>
        </p:spPr>
        <p:txBody>
          <a:bodyPr wrap="square">
            <a:spAutoFit/>
          </a:bodyPr>
          <a:lstStyle/>
          <a:p>
            <a:r>
              <a:rPr lang="zh-CN" altLang="en-US" sz="908" b="1" dirty="0">
                <a:solidFill>
                  <a:srgbClr val="00B0F0"/>
                </a:solidFill>
                <a:latin typeface="SimSun" panose="02010600030101010101" pitchFamily="2" charset="-122"/>
                <a:ea typeface="SimSun" panose="02010600030101010101" pitchFamily="2" charset="-122"/>
              </a:rPr>
              <a:t>意愿支出</a:t>
            </a:r>
            <a:r>
              <a:rPr lang="en-US" altLang="zh-CN" sz="908" dirty="0">
                <a:solidFill>
                  <a:srgbClr val="00B0F0"/>
                </a:solidFill>
                <a:latin typeface="SimSun" panose="02010600030101010101" pitchFamily="2" charset="-122"/>
                <a:ea typeface="SimSun" panose="02010600030101010101" pitchFamily="2" charset="-122"/>
              </a:rPr>
              <a:t>AE</a:t>
            </a:r>
            <a:r>
              <a:rPr lang="zh-CN" altLang="en-US" sz="908" dirty="0">
                <a:solidFill>
                  <a:srgbClr val="00B0F0"/>
                </a:solidFill>
                <a:latin typeface="SimSun" panose="02010600030101010101" pitchFamily="2" charset="-122"/>
                <a:ea typeface="SimSun" panose="02010600030101010101" pitchFamily="2" charset="-122"/>
              </a:rPr>
              <a:t>：由意愿的家庭消费支出</a:t>
            </a:r>
            <a:r>
              <a:rPr lang="en-US" altLang="zh-CN" sz="908" dirty="0">
                <a:solidFill>
                  <a:srgbClr val="00B0F0"/>
                </a:solidFill>
                <a:latin typeface="SimSun" panose="02010600030101010101" pitchFamily="2" charset="-122"/>
                <a:ea typeface="SimSun" panose="02010600030101010101" pitchFamily="2" charset="-122"/>
              </a:rPr>
              <a:t>c</a:t>
            </a:r>
            <a:r>
              <a:rPr lang="zh-CN" altLang="en-US" sz="908" dirty="0">
                <a:solidFill>
                  <a:srgbClr val="00B0F0"/>
                </a:solidFill>
                <a:latin typeface="SimSun" panose="02010600030101010101" pitchFamily="2" charset="-122"/>
                <a:ea typeface="SimSun" panose="02010600030101010101" pitchFamily="2" charset="-122"/>
              </a:rPr>
              <a:t>和企业投资支出</a:t>
            </a:r>
            <a:r>
              <a:rPr lang="en-US" altLang="zh-CN" sz="908" dirty="0" err="1">
                <a:solidFill>
                  <a:srgbClr val="00B0F0"/>
                </a:solidFill>
                <a:latin typeface="SimSun" panose="02010600030101010101" pitchFamily="2" charset="-122"/>
                <a:ea typeface="SimSun" panose="02010600030101010101" pitchFamily="2" charset="-122"/>
              </a:rPr>
              <a:t>i</a:t>
            </a:r>
            <a:r>
              <a:rPr lang="zh-CN" altLang="en-US" sz="908" dirty="0">
                <a:solidFill>
                  <a:srgbClr val="00B0F0"/>
                </a:solidFill>
                <a:latin typeface="SimSun" panose="02010600030101010101" pitchFamily="2" charset="-122"/>
                <a:ea typeface="SimSun" panose="02010600030101010101" pitchFamily="2" charset="-122"/>
              </a:rPr>
              <a:t>构成，即</a:t>
            </a:r>
            <a:r>
              <a:rPr lang="en-US" altLang="zh-CN" sz="908" dirty="0">
                <a:solidFill>
                  <a:srgbClr val="00B0F0"/>
                </a:solidFill>
                <a:latin typeface="SimSun" panose="02010600030101010101" pitchFamily="2" charset="-122"/>
                <a:ea typeface="SimSun" panose="02010600030101010101" pitchFamily="2" charset="-122"/>
              </a:rPr>
              <a:t>y=</a:t>
            </a:r>
            <a:r>
              <a:rPr lang="en-US" altLang="zh-CN" sz="908" dirty="0" err="1">
                <a:solidFill>
                  <a:srgbClr val="00B0F0"/>
                </a:solidFill>
                <a:latin typeface="SimSun" panose="02010600030101010101" pitchFamily="2" charset="-122"/>
                <a:ea typeface="SimSun" panose="02010600030101010101" pitchFamily="2" charset="-122"/>
              </a:rPr>
              <a:t>c+i</a:t>
            </a:r>
            <a:endParaRPr lang="en-US" altLang="zh-CN" sz="908" dirty="0">
              <a:solidFill>
                <a:srgbClr val="00B0F0"/>
              </a:solidFill>
              <a:latin typeface="SimSun" panose="02010600030101010101" pitchFamily="2" charset="-122"/>
              <a:ea typeface="SimSun" panose="02010600030101010101" pitchFamily="2" charset="-122"/>
            </a:endParaRPr>
          </a:p>
        </p:txBody>
      </p:sp>
      <p:sp>
        <p:nvSpPr>
          <p:cNvPr id="14" name="文本框 13">
            <a:extLst>
              <a:ext uri="{FF2B5EF4-FFF2-40B4-BE49-F238E27FC236}">
                <a16:creationId xmlns:a16="http://schemas.microsoft.com/office/drawing/2014/main" id="{B0694583-03E7-3462-EA09-214FDF7EE97F}"/>
              </a:ext>
            </a:extLst>
          </p:cNvPr>
          <p:cNvSpPr txBox="1"/>
          <p:nvPr/>
        </p:nvSpPr>
        <p:spPr>
          <a:xfrm>
            <a:off x="2750035" y="1567445"/>
            <a:ext cx="1103536" cy="511487"/>
          </a:xfrm>
          <a:prstGeom prst="rect">
            <a:avLst/>
          </a:prstGeom>
          <a:noFill/>
        </p:spPr>
        <p:txBody>
          <a:bodyPr wrap="square">
            <a:spAutoFit/>
          </a:bodyPr>
          <a:lstStyle/>
          <a:p>
            <a:r>
              <a:rPr lang="zh-CN" altLang="en-US" sz="908" b="1" dirty="0">
                <a:latin typeface="SimSun" panose="02010600030101010101" pitchFamily="2" charset="-122"/>
                <a:ea typeface="SimSun" panose="02010600030101010101" pitchFamily="2" charset="-122"/>
              </a:rPr>
              <a:t>均衡条件：</a:t>
            </a:r>
            <a:endParaRPr lang="en-US" altLang="zh-CN" sz="908" b="1" dirty="0">
              <a:latin typeface="SimSun" panose="02010600030101010101" pitchFamily="2" charset="-122"/>
              <a:ea typeface="SimSun" panose="02010600030101010101" pitchFamily="2" charset="-122"/>
            </a:endParaRPr>
          </a:p>
          <a:p>
            <a:r>
              <a:rPr lang="zh-CN" altLang="en-US" sz="908" b="1" dirty="0">
                <a:latin typeface="SimSun" panose="02010600030101010101" pitchFamily="2" charset="-122"/>
                <a:ea typeface="SimSun" panose="02010600030101010101" pitchFamily="2" charset="-122"/>
              </a:rPr>
              <a:t>均衡产出</a:t>
            </a:r>
            <a:r>
              <a:rPr lang="en-US" altLang="zh-CN" sz="908" dirty="0">
                <a:latin typeface="SimSun" panose="02010600030101010101" pitchFamily="2" charset="-122"/>
                <a:ea typeface="SimSun" panose="02010600030101010101" pitchFamily="2" charset="-122"/>
              </a:rPr>
              <a:t>=</a:t>
            </a:r>
            <a:r>
              <a:rPr lang="zh-CN" altLang="en-US" sz="908" dirty="0">
                <a:latin typeface="SimSun" panose="02010600030101010101" pitchFamily="2" charset="-122"/>
                <a:ea typeface="SimSun" panose="02010600030101010101" pitchFamily="2" charset="-122"/>
              </a:rPr>
              <a:t>意愿支出</a:t>
            </a:r>
            <a:endParaRPr lang="en-US" altLang="zh-CN" sz="908" dirty="0">
              <a:latin typeface="SimSun" panose="02010600030101010101" pitchFamily="2" charset="-122"/>
              <a:ea typeface="SimSun" panose="02010600030101010101" pitchFamily="2" charset="-122"/>
            </a:endParaRPr>
          </a:p>
        </p:txBody>
      </p:sp>
      <p:sp>
        <p:nvSpPr>
          <p:cNvPr id="15" name="灯片编号占位符 2">
            <a:extLst>
              <a:ext uri="{FF2B5EF4-FFF2-40B4-BE49-F238E27FC236}">
                <a16:creationId xmlns:a16="http://schemas.microsoft.com/office/drawing/2014/main" id="{8DDF71A0-D162-EBF1-3803-FA6D8BED67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52</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9E4CD36C-8548-6C79-9ACE-AFE74BF09E3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27037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收入恒等式与消费函数联立起来：</a:t>
                </a:r>
                <a:endParaRPr lang="en-US" altLang="zh-CN" dirty="0">
                  <a:latin typeface="Garamond" panose="02020404030301010803" pitchFamily="18" charset="0"/>
                  <a:ea typeface="SimSun" panose="02010600030101010101" pitchFamily="2" charset="-122"/>
                </a:endParaRPr>
              </a:p>
              <a:p>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e>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𝛼</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𝛽</m:t>
                            </m:r>
                            <m:r>
                              <a:rPr lang="en-US" altLang="zh-CN" b="0" i="1" smtClean="0">
                                <a:latin typeface="Cambria Math" panose="02040503050406030204" pitchFamily="18" charset="0"/>
                                <a:ea typeface="Cambria Math" panose="02040503050406030204" pitchFamily="18" charset="0"/>
                              </a:rPr>
                              <m:t>𝑦</m:t>
                            </m:r>
                          </m:e>
                        </m:eqArr>
                      </m:e>
                    </m:d>
                  </m:oMath>
                </a14:m>
                <a:r>
                  <a:rPr lang="zh-CN" altLang="en-US" dirty="0">
                    <a:latin typeface="Garamond" panose="02020404030301010803" pitchFamily="18" charset="0"/>
                    <a:ea typeface="SimSun" panose="02010600030101010101" pitchFamily="2" charset="-122"/>
                  </a:rPr>
                  <a:t>               </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求得均衡收入</a:t>
                </a:r>
                <a:r>
                  <a:rPr lang="en-US" altLang="zh-CN" dirty="0">
                    <a:latin typeface="Garamond" panose="02020404030301010803" pitchFamily="18" charset="0"/>
                    <a:ea typeface="SimSun" panose="02010600030101010101" pitchFamily="2" charset="-122"/>
                  </a:rPr>
                  <a:t>:</a:t>
                </a:r>
              </a:p>
              <a:p>
                <a:r>
                  <a:rPr lang="zh-CN" altLang="en-US" dirty="0">
                    <a:latin typeface="Garamond" panose="02020404030301010803" pitchFamily="18" charset="0"/>
                    <a:ea typeface="SimSun" panose="02010600030101010101" pitchFamily="2" charset="-122"/>
                  </a:rPr>
                  <a:t> </a:t>
                </a:r>
                <a14:m>
                  <m:oMath xmlns:m="http://schemas.openxmlformats.org/officeDocument/2006/math">
                    <m:r>
                      <a:rPr lang="en-US" altLang="zh-CN" b="0" i="1" dirty="0" smtClean="0">
                        <a:latin typeface="Cambria Math" panose="02040503050406030204" pitchFamily="18" charset="0"/>
                      </a:rPr>
                      <m:t>𝑦</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zh-CN" altLang="en-US" b="0" i="1" dirty="0" smtClean="0">
                            <a:latin typeface="Cambria Math" panose="02040503050406030204" pitchFamily="18" charset="0"/>
                          </a:rPr>
                          <m:t>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num>
                      <m:den>
                        <m:r>
                          <a:rPr lang="en-US" altLang="zh-CN" b="0" i="1" dirty="0" smtClean="0">
                            <a:latin typeface="Cambria Math" panose="02040503050406030204" pitchFamily="18" charset="0"/>
                          </a:rPr>
                          <m:t>1−</m:t>
                        </m:r>
                        <m:r>
                          <a:rPr lang="zh-CN" altLang="en-US" b="0" i="1" dirty="0" smtClean="0">
                            <a:latin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i="1" dirty="0">
                        <a:latin typeface="Cambria Math" panose="02040503050406030204" pitchFamily="18" charset="0"/>
                      </a:rPr>
                      <m:t>𝑖</m:t>
                    </m:r>
                  </m:oMath>
                </a14:m>
                <a:r>
                  <a:rPr lang="zh-CN" altLang="en-US" dirty="0">
                    <a:latin typeface="Garamond" panose="02020404030301010803" pitchFamily="18" charset="0"/>
                    <a:ea typeface="SimSun" panose="02010600030101010101" pitchFamily="2" charset="-122"/>
                  </a:rPr>
                  <a:t>是自发的计划投资。</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4804" t="-21463"/>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使用消费函数决定收入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53</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D5B9B0F-CF85-0177-0B36-E046EA9EFCD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64645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521C69-06B2-FBA2-1318-8F736BBE4ECE}"/>
              </a:ext>
            </a:extLst>
          </p:cNvPr>
          <p:cNvSpPr>
            <a:spLocks noGrp="1" noChangeArrowheads="1"/>
          </p:cNvSpPr>
          <p:nvPr>
            <p:ph type="body" idx="1"/>
          </p:nvPr>
        </p:nvSpPr>
        <p:spPr>
          <a:xfrm>
            <a:off x="277987" y="682060"/>
            <a:ext cx="4175670" cy="2680361"/>
          </a:xfrm>
        </p:spPr>
        <p:txBody>
          <a:bodyPr/>
          <a:lstStyle/>
          <a:p>
            <a:pPr marL="0" indent="0">
              <a:lnSpc>
                <a:spcPct val="150000"/>
              </a:lnSpc>
              <a:spcBef>
                <a:spcPct val="40000"/>
              </a:spcBef>
              <a:buNone/>
            </a:pPr>
            <a:r>
              <a:rPr lang="zh-CN" altLang="en-US" sz="1412" dirty="0">
                <a:solidFill>
                  <a:srgbClr val="000000"/>
                </a:solidFill>
                <a:latin typeface="Garamond" panose="02020404030301010803" pitchFamily="18" charset="0"/>
                <a:ea typeface="SimSun" panose="02010600030101010101" pitchFamily="2" charset="-122"/>
              </a:rPr>
              <a:t>假定某经济的消费函数为</a:t>
            </a:r>
            <a:r>
              <a:rPr lang="en" altLang="zh-CN" sz="1412" dirty="0">
                <a:solidFill>
                  <a:srgbClr val="000000"/>
                </a:solidFill>
                <a:latin typeface="Garamond" panose="02020404030301010803" pitchFamily="18" charset="0"/>
                <a:ea typeface="SimSun" panose="02010600030101010101" pitchFamily="2" charset="-122"/>
              </a:rPr>
              <a:t>C=100+0.8Y</a:t>
            </a:r>
            <a:r>
              <a:rPr lang="en" altLang="zh-CN" sz="1412" baseline="-25000" dirty="0">
                <a:solidFill>
                  <a:srgbClr val="000000"/>
                </a:solidFill>
                <a:latin typeface="Garamond" panose="02020404030301010803" pitchFamily="18" charset="0"/>
                <a:ea typeface="SimSun" panose="02010600030101010101" pitchFamily="2" charset="-122"/>
              </a:rPr>
              <a:t>d</a:t>
            </a:r>
            <a:r>
              <a:rPr lang="zh-CN" altLang="en-US" sz="1412" baseline="-25000" dirty="0">
                <a:solidFill>
                  <a:srgbClr val="000000"/>
                </a:solidFill>
                <a:latin typeface="Garamond" panose="02020404030301010803" pitchFamily="18" charset="0"/>
                <a:ea typeface="SimSun" panose="02010600030101010101" pitchFamily="2" charset="-122"/>
              </a:rPr>
              <a:t>，</a:t>
            </a:r>
            <a:r>
              <a:rPr lang="en" altLang="zh-CN" sz="1412" dirty="0">
                <a:solidFill>
                  <a:srgbClr val="000000"/>
                </a:solidFill>
                <a:latin typeface="Garamond" panose="02020404030301010803" pitchFamily="18" charset="0"/>
                <a:ea typeface="SimSun" panose="02010600030101010101" pitchFamily="2" charset="-122"/>
              </a:rPr>
              <a:t>Y</a:t>
            </a:r>
            <a:r>
              <a:rPr lang="en" altLang="zh-CN" sz="1412" baseline="-25000" dirty="0">
                <a:solidFill>
                  <a:srgbClr val="000000"/>
                </a:solidFill>
                <a:latin typeface="Garamond" panose="02020404030301010803" pitchFamily="18" charset="0"/>
                <a:ea typeface="SimSun" panose="02010600030101010101" pitchFamily="2" charset="-122"/>
              </a:rPr>
              <a:t>d</a:t>
            </a:r>
            <a:r>
              <a:rPr lang="zh-CN" altLang="en-US" sz="1412" dirty="0">
                <a:solidFill>
                  <a:srgbClr val="000000"/>
                </a:solidFill>
                <a:latin typeface="Garamond" panose="02020404030301010803" pitchFamily="18" charset="0"/>
                <a:ea typeface="SimSun" panose="02010600030101010101" pitchFamily="2" charset="-122"/>
              </a:rPr>
              <a:t>为可支配收入，投资支出为</a:t>
            </a:r>
            <a:r>
              <a:rPr lang="en" altLang="zh-CN" sz="1412" dirty="0">
                <a:solidFill>
                  <a:srgbClr val="000000"/>
                </a:solidFill>
                <a:latin typeface="Garamond" panose="02020404030301010803" pitchFamily="18" charset="0"/>
                <a:ea typeface="SimSun" panose="02010600030101010101" pitchFamily="2" charset="-122"/>
              </a:rPr>
              <a:t>I=50</a:t>
            </a:r>
            <a:r>
              <a:rPr lang="zh-CN" altLang="en-US" sz="1412" dirty="0">
                <a:solidFill>
                  <a:srgbClr val="000000"/>
                </a:solidFill>
                <a:latin typeface="Garamond" panose="02020404030301010803" pitchFamily="18" charset="0"/>
                <a:ea typeface="SimSun" panose="02010600030101010101" pitchFamily="2" charset="-122"/>
              </a:rPr>
              <a:t>，政府购买支出为</a:t>
            </a:r>
            <a:r>
              <a:rPr lang="en" altLang="zh-CN" sz="1412" dirty="0">
                <a:solidFill>
                  <a:srgbClr val="000000"/>
                </a:solidFill>
                <a:latin typeface="Garamond" panose="02020404030301010803" pitchFamily="18" charset="0"/>
                <a:ea typeface="SimSun" panose="02010600030101010101" pitchFamily="2" charset="-122"/>
              </a:rPr>
              <a:t>G=200</a:t>
            </a:r>
            <a:r>
              <a:rPr lang="zh-CN" altLang="en-US" sz="1412" dirty="0">
                <a:solidFill>
                  <a:srgbClr val="000000"/>
                </a:solidFill>
                <a:latin typeface="Garamond" panose="02020404030301010803" pitchFamily="18" charset="0"/>
                <a:ea typeface="SimSun" panose="02010600030101010101" pitchFamily="2" charset="-122"/>
              </a:rPr>
              <a:t>，政府转移支付为</a:t>
            </a:r>
            <a:r>
              <a:rPr lang="en" altLang="zh-CN" sz="1412" dirty="0">
                <a:solidFill>
                  <a:srgbClr val="000000"/>
                </a:solidFill>
                <a:latin typeface="Garamond" panose="02020404030301010803" pitchFamily="18" charset="0"/>
                <a:ea typeface="SimSun" panose="02010600030101010101" pitchFamily="2" charset="-122"/>
              </a:rPr>
              <a:t>TR=62.5</a:t>
            </a:r>
            <a:r>
              <a:rPr lang="zh-CN" altLang="en-US" sz="1412" dirty="0">
                <a:solidFill>
                  <a:srgbClr val="000000"/>
                </a:solidFill>
                <a:latin typeface="Garamond" panose="02020404030301010803" pitchFamily="18" charset="0"/>
                <a:ea typeface="SimSun" panose="02010600030101010101" pitchFamily="2" charset="-122"/>
              </a:rPr>
              <a:t>，税收为</a:t>
            </a:r>
            <a:r>
              <a:rPr lang="en" altLang="zh-CN" sz="1412" dirty="0">
                <a:solidFill>
                  <a:srgbClr val="000000"/>
                </a:solidFill>
                <a:latin typeface="Garamond" panose="02020404030301010803" pitchFamily="18" charset="0"/>
                <a:ea typeface="SimSun" panose="02010600030101010101" pitchFamily="2" charset="-122"/>
              </a:rPr>
              <a:t>T=250</a:t>
            </a:r>
            <a:r>
              <a:rPr lang="zh-CN" altLang="en" sz="1412" dirty="0">
                <a:solidFill>
                  <a:srgbClr val="000000"/>
                </a:solidFill>
                <a:latin typeface="Garamond" panose="02020404030301010803" pitchFamily="18" charset="0"/>
                <a:ea typeface="SimSun" panose="02010600030101010101" pitchFamily="2" charset="-122"/>
              </a:rPr>
              <a:t>。</a:t>
            </a:r>
            <a:endParaRPr lang="en-US" altLang="zh-CN" sz="1412" dirty="0">
              <a:solidFill>
                <a:srgbClr val="000000"/>
              </a:solidFill>
              <a:latin typeface="Garamond" panose="02020404030301010803" pitchFamily="18" charset="0"/>
              <a:ea typeface="SimSun" panose="02010600030101010101" pitchFamily="2" charset="-122"/>
            </a:endParaRPr>
          </a:p>
          <a:p>
            <a:pPr marL="0" indent="0">
              <a:lnSpc>
                <a:spcPct val="150000"/>
              </a:lnSpc>
              <a:spcBef>
                <a:spcPct val="40000"/>
              </a:spcBef>
              <a:buNone/>
            </a:pPr>
            <a:r>
              <a:rPr lang="zh-CN" altLang="en-US" sz="1412" dirty="0">
                <a:solidFill>
                  <a:srgbClr val="000000"/>
                </a:solidFill>
                <a:latin typeface="Garamond" panose="02020404030301010803" pitchFamily="18" charset="0"/>
                <a:ea typeface="SimSun" panose="02010600030101010101" pitchFamily="2" charset="-122"/>
              </a:rPr>
              <a:t>求均衡的国民收入。</a:t>
            </a:r>
            <a:endParaRPr lang="zh-CN" altLang="zh-CN" sz="1412" dirty="0">
              <a:latin typeface="Garamond" panose="02020404030301010803" pitchFamily="18" charset="0"/>
              <a:ea typeface="SimSun" panose="02010600030101010101" pitchFamily="2" charset="-122"/>
            </a:endParaRPr>
          </a:p>
        </p:txBody>
      </p:sp>
      <p:sp>
        <p:nvSpPr>
          <p:cNvPr id="41987" name="Rectangle 8">
            <a:extLst>
              <a:ext uri="{FF2B5EF4-FFF2-40B4-BE49-F238E27FC236}">
                <a16:creationId xmlns:a16="http://schemas.microsoft.com/office/drawing/2014/main" id="{502BABA6-CD3B-42B5-942F-A5E25929E0FA}"/>
              </a:ext>
            </a:extLst>
          </p:cNvPr>
          <p:cNvSpPr>
            <a:spLocks noChangeArrowheads="1"/>
          </p:cNvSpPr>
          <p:nvPr/>
        </p:nvSpPr>
        <p:spPr bwMode="auto">
          <a:xfrm>
            <a:off x="2115" y="3175"/>
            <a:ext cx="191912" cy="3454403"/>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0659" fontAlgn="base">
              <a:spcBef>
                <a:spcPct val="0"/>
              </a:spcBef>
              <a:spcAft>
                <a:spcPct val="0"/>
              </a:spcAft>
            </a:pPr>
            <a:endParaRPr lang="zh-CN" altLang="zh-CN" sz="907">
              <a:solidFill>
                <a:srgbClr val="000000"/>
              </a:solidFill>
              <a:ea typeface="宋体" panose="02010600030101010101" pitchFamily="2" charset="-122"/>
            </a:endParaRPr>
          </a:p>
        </p:txBody>
      </p:sp>
      <p:sp>
        <p:nvSpPr>
          <p:cNvPr id="41988" name="Rectangle 4">
            <a:extLst>
              <a:ext uri="{FF2B5EF4-FFF2-40B4-BE49-F238E27FC236}">
                <a16:creationId xmlns:a16="http://schemas.microsoft.com/office/drawing/2014/main" id="{D80D9230-2A38-D802-73A9-7D561D211A92}"/>
              </a:ext>
            </a:extLst>
          </p:cNvPr>
          <p:cNvSpPr>
            <a:spLocks noGrp="1" noChangeArrowheads="1"/>
          </p:cNvSpPr>
          <p:nvPr>
            <p:ph type="title"/>
          </p:nvPr>
        </p:nvSpPr>
        <p:spPr>
          <a:xfrm>
            <a:off x="297978" y="180693"/>
            <a:ext cx="4134889" cy="480578"/>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356" tIns="0" rIns="91356" bIns="0" numCol="1" anchor="t" anchorCtr="0" compatLnSpc="1">
            <a:prstTxWarp prst="textNoShape">
              <a:avLst/>
            </a:prstTxWarp>
          </a:bodyPr>
          <a:lstStyle/>
          <a:p>
            <a:pPr algn="l"/>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国民收入的决定</a:t>
            </a:r>
            <a:endParaRPr lang="zh-CN" altLang="zh-CN" sz="1611" dirty="0">
              <a:solidFill>
                <a:srgbClr val="339966"/>
              </a:solidFill>
              <a:effectLst>
                <a:outerShdw blurRad="38100" dist="38100" dir="2700000" algn="tl">
                  <a:srgbClr val="C0C0C0"/>
                </a:outerShdw>
              </a:effectLst>
              <a:ea typeface="宋体" panose="02010600030101010101" pitchFamily="2" charset="-122"/>
            </a:endParaRPr>
          </a:p>
        </p:txBody>
      </p:sp>
      <p:grpSp>
        <p:nvGrpSpPr>
          <p:cNvPr id="41989" name="Group 5">
            <a:extLst>
              <a:ext uri="{FF2B5EF4-FFF2-40B4-BE49-F238E27FC236}">
                <a16:creationId xmlns:a16="http://schemas.microsoft.com/office/drawing/2014/main" id="{D0F2F89B-A2A4-B0F2-4461-86A3C45E8E4B}"/>
              </a:ext>
            </a:extLst>
          </p:cNvPr>
          <p:cNvGrpSpPr>
            <a:grpSpLocks/>
          </p:cNvGrpSpPr>
          <p:nvPr/>
        </p:nvGrpSpPr>
        <p:grpSpPr bwMode="auto">
          <a:xfrm>
            <a:off x="301176" y="149507"/>
            <a:ext cx="4135688" cy="528556"/>
            <a:chOff x="0" y="0"/>
            <a:chExt cx="5000" cy="661"/>
          </a:xfrm>
        </p:grpSpPr>
        <p:sp>
          <p:nvSpPr>
            <p:cNvPr id="41990" name="Line 9">
              <a:extLst>
                <a:ext uri="{FF2B5EF4-FFF2-40B4-BE49-F238E27FC236}">
                  <a16:creationId xmlns:a16="http://schemas.microsoft.com/office/drawing/2014/main" id="{4971AC16-41F4-5115-5515-0EBCDAC63B4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sp>
          <p:nvSpPr>
            <p:cNvPr id="41991" name="Line 10">
              <a:extLst>
                <a:ext uri="{FF2B5EF4-FFF2-40B4-BE49-F238E27FC236}">
                  <a16:creationId xmlns:a16="http://schemas.microsoft.com/office/drawing/2014/main" id="{26589169-8610-5C05-3A26-470D45692CF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grpSp>
    </p:spTree>
    <p:extLst>
      <p:ext uri="{BB962C8B-B14F-4D97-AF65-F5344CB8AC3E}">
        <p14:creationId xmlns:p14="http://schemas.microsoft.com/office/powerpoint/2010/main" val="968342573"/>
      </p:ext>
    </p:extLst>
  </p:cSld>
  <p:clrMapOvr>
    <a:masterClrMapping/>
  </p:clrMapOvr>
  <p:transition spd="med">
    <p:diamon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521C69-06B2-FBA2-1318-8F736BBE4ECE}"/>
              </a:ext>
            </a:extLst>
          </p:cNvPr>
          <p:cNvSpPr>
            <a:spLocks noGrp="1" noChangeArrowheads="1"/>
          </p:cNvSpPr>
          <p:nvPr>
            <p:ph type="body" idx="1"/>
          </p:nvPr>
        </p:nvSpPr>
        <p:spPr>
          <a:xfrm>
            <a:off x="277987" y="682060"/>
            <a:ext cx="4175670" cy="2680361"/>
          </a:xfrm>
        </p:spPr>
        <p:txBody>
          <a:bodyPr/>
          <a:lstStyle/>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答：</a:t>
            </a:r>
            <a:endParaRPr lang="en-US" altLang="zh-CN" sz="1412" dirty="0">
              <a:latin typeface="Garamond" panose="02020404030301010803" pitchFamily="18" charset="0"/>
              <a:ea typeface="SimSun" panose="02010600030101010101" pitchFamily="2" charset="-122"/>
            </a:endParaRPr>
          </a:p>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可支配收入：</a:t>
            </a:r>
            <a:r>
              <a:rPr lang="en" altLang="zh-CN" sz="1412" dirty="0">
                <a:solidFill>
                  <a:srgbClr val="000000"/>
                </a:solidFill>
                <a:latin typeface="Garamond" panose="02020404030301010803" pitchFamily="18" charset="0"/>
                <a:ea typeface="SimSun" panose="02010600030101010101" pitchFamily="2" charset="-122"/>
              </a:rPr>
              <a:t>Y</a:t>
            </a:r>
            <a:r>
              <a:rPr lang="en" altLang="zh-CN" sz="1412" baseline="-25000" dirty="0">
                <a:solidFill>
                  <a:srgbClr val="000000"/>
                </a:solidFill>
                <a:latin typeface="Garamond" panose="02020404030301010803" pitchFamily="18" charset="0"/>
                <a:ea typeface="SimSun" panose="02010600030101010101" pitchFamily="2" charset="-122"/>
              </a:rPr>
              <a:t>d</a:t>
            </a:r>
            <a:r>
              <a:rPr lang="en" altLang="zh-CN" sz="1412" dirty="0">
                <a:latin typeface="Garamond" panose="02020404030301010803" pitchFamily="18" charset="0"/>
                <a:ea typeface="SimSun" panose="02010600030101010101" pitchFamily="2" charset="-122"/>
              </a:rPr>
              <a:t>=</a:t>
            </a:r>
            <a:r>
              <a:rPr lang="en" altLang="zh-CN" sz="1412" dirty="0" err="1">
                <a:latin typeface="Garamond" panose="02020404030301010803" pitchFamily="18" charset="0"/>
                <a:ea typeface="SimSun" panose="02010600030101010101" pitchFamily="2" charset="-122"/>
              </a:rPr>
              <a:t>Y-T+Tr</a:t>
            </a:r>
            <a:r>
              <a:rPr lang="en" altLang="zh-CN" sz="1412" dirty="0">
                <a:latin typeface="Garamond" panose="02020404030301010803" pitchFamily="18" charset="0"/>
                <a:ea typeface="SimSun" panose="02010600030101010101" pitchFamily="2" charset="-122"/>
              </a:rPr>
              <a:t>=Y-250+62.5=Y-187.5 </a:t>
            </a:r>
          </a:p>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由收入恒等式得</a:t>
            </a:r>
            <a:endParaRPr lang="en-US" altLang="zh-CN" sz="1412" dirty="0">
              <a:latin typeface="Garamond" panose="02020404030301010803" pitchFamily="18" charset="0"/>
              <a:ea typeface="SimSun" panose="02010600030101010101" pitchFamily="2" charset="-122"/>
            </a:endParaRPr>
          </a:p>
          <a:p>
            <a:pPr marL="0" indent="0">
              <a:lnSpc>
                <a:spcPct val="150000"/>
              </a:lnSpc>
              <a:spcBef>
                <a:spcPct val="40000"/>
              </a:spcBef>
              <a:buNone/>
            </a:pPr>
            <a:r>
              <a:rPr lang="en" altLang="zh-CN" sz="1412" dirty="0">
                <a:latin typeface="Garamond" panose="02020404030301010803" pitchFamily="18" charset="0"/>
                <a:ea typeface="SimSun" panose="02010600030101010101" pitchFamily="2" charset="-122"/>
              </a:rPr>
              <a:t>Y=C+I+G=100+0.8(Y-187.5)+50+200</a:t>
            </a:r>
          </a:p>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所以均衡国民收入</a:t>
            </a:r>
            <a:r>
              <a:rPr lang="en" altLang="zh-CN" sz="1412" dirty="0">
                <a:latin typeface="Garamond" panose="02020404030301010803" pitchFamily="18" charset="0"/>
                <a:ea typeface="SimSun" panose="02010600030101010101" pitchFamily="2" charset="-122"/>
              </a:rPr>
              <a:t>Y=1000 </a:t>
            </a:r>
            <a:endParaRPr lang="zh-CN" altLang="zh-CN" sz="1412" dirty="0">
              <a:latin typeface="Garamond" panose="02020404030301010803" pitchFamily="18" charset="0"/>
              <a:ea typeface="SimSun" panose="02010600030101010101" pitchFamily="2" charset="-122"/>
            </a:endParaRPr>
          </a:p>
        </p:txBody>
      </p:sp>
      <p:sp>
        <p:nvSpPr>
          <p:cNvPr id="41987" name="Rectangle 8">
            <a:extLst>
              <a:ext uri="{FF2B5EF4-FFF2-40B4-BE49-F238E27FC236}">
                <a16:creationId xmlns:a16="http://schemas.microsoft.com/office/drawing/2014/main" id="{502BABA6-CD3B-42B5-942F-A5E25929E0FA}"/>
              </a:ext>
            </a:extLst>
          </p:cNvPr>
          <p:cNvSpPr>
            <a:spLocks noChangeArrowheads="1"/>
          </p:cNvSpPr>
          <p:nvPr/>
        </p:nvSpPr>
        <p:spPr bwMode="auto">
          <a:xfrm>
            <a:off x="2115" y="3175"/>
            <a:ext cx="191912" cy="3454403"/>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0659" fontAlgn="base">
              <a:spcBef>
                <a:spcPct val="0"/>
              </a:spcBef>
              <a:spcAft>
                <a:spcPct val="0"/>
              </a:spcAft>
            </a:pPr>
            <a:endParaRPr lang="zh-CN" altLang="zh-CN" sz="907">
              <a:solidFill>
                <a:srgbClr val="000000"/>
              </a:solidFill>
              <a:ea typeface="宋体" panose="02010600030101010101" pitchFamily="2" charset="-122"/>
            </a:endParaRPr>
          </a:p>
        </p:txBody>
      </p:sp>
      <p:sp>
        <p:nvSpPr>
          <p:cNvPr id="41988" name="Rectangle 4">
            <a:extLst>
              <a:ext uri="{FF2B5EF4-FFF2-40B4-BE49-F238E27FC236}">
                <a16:creationId xmlns:a16="http://schemas.microsoft.com/office/drawing/2014/main" id="{D80D9230-2A38-D802-73A9-7D561D211A92}"/>
              </a:ext>
            </a:extLst>
          </p:cNvPr>
          <p:cNvSpPr>
            <a:spLocks noGrp="1" noChangeArrowheads="1"/>
          </p:cNvSpPr>
          <p:nvPr>
            <p:ph type="title"/>
          </p:nvPr>
        </p:nvSpPr>
        <p:spPr>
          <a:xfrm>
            <a:off x="297978" y="180693"/>
            <a:ext cx="4134889" cy="480578"/>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356" tIns="0" rIns="91356" bIns="0" numCol="1" anchor="t" anchorCtr="0" compatLnSpc="1">
            <a:prstTxWarp prst="textNoShape">
              <a:avLst/>
            </a:prstTxWarp>
          </a:bodyPr>
          <a:lstStyle/>
          <a:p>
            <a:pPr algn="l"/>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1" dirty="0">
                <a:solidFill>
                  <a:srgbClr val="339966"/>
                </a:solidFill>
                <a:effectLst>
                  <a:outerShdw blurRad="38100" dist="38100" dir="2700000" algn="tl">
                    <a:srgbClr val="C0C0C0"/>
                  </a:outerShdw>
                </a:effectLst>
                <a:ea typeface="宋体" panose="02010600030101010101" pitchFamily="2" charset="-122"/>
              </a:rPr>
              <a:t>参考答案</a:t>
            </a:r>
            <a:endParaRPr lang="zh-CN" altLang="zh-CN" sz="1611" dirty="0">
              <a:solidFill>
                <a:srgbClr val="339966"/>
              </a:solidFill>
              <a:effectLst>
                <a:outerShdw blurRad="38100" dist="38100" dir="2700000" algn="tl">
                  <a:srgbClr val="C0C0C0"/>
                </a:outerShdw>
              </a:effectLst>
              <a:ea typeface="宋体" panose="02010600030101010101" pitchFamily="2" charset="-122"/>
            </a:endParaRPr>
          </a:p>
        </p:txBody>
      </p:sp>
      <p:grpSp>
        <p:nvGrpSpPr>
          <p:cNvPr id="41989" name="Group 5">
            <a:extLst>
              <a:ext uri="{FF2B5EF4-FFF2-40B4-BE49-F238E27FC236}">
                <a16:creationId xmlns:a16="http://schemas.microsoft.com/office/drawing/2014/main" id="{D0F2F89B-A2A4-B0F2-4461-86A3C45E8E4B}"/>
              </a:ext>
            </a:extLst>
          </p:cNvPr>
          <p:cNvGrpSpPr>
            <a:grpSpLocks/>
          </p:cNvGrpSpPr>
          <p:nvPr/>
        </p:nvGrpSpPr>
        <p:grpSpPr bwMode="auto">
          <a:xfrm>
            <a:off x="301176" y="149507"/>
            <a:ext cx="4135688" cy="528556"/>
            <a:chOff x="0" y="0"/>
            <a:chExt cx="5000" cy="661"/>
          </a:xfrm>
        </p:grpSpPr>
        <p:sp>
          <p:nvSpPr>
            <p:cNvPr id="41990" name="Line 9">
              <a:extLst>
                <a:ext uri="{FF2B5EF4-FFF2-40B4-BE49-F238E27FC236}">
                  <a16:creationId xmlns:a16="http://schemas.microsoft.com/office/drawing/2014/main" id="{4971AC16-41F4-5115-5515-0EBCDAC63B4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sp>
          <p:nvSpPr>
            <p:cNvPr id="41991" name="Line 10">
              <a:extLst>
                <a:ext uri="{FF2B5EF4-FFF2-40B4-BE49-F238E27FC236}">
                  <a16:creationId xmlns:a16="http://schemas.microsoft.com/office/drawing/2014/main" id="{26589169-8610-5C05-3A26-470D45692CF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grpSp>
    </p:spTree>
    <p:extLst>
      <p:ext uri="{BB962C8B-B14F-4D97-AF65-F5344CB8AC3E}">
        <p14:creationId xmlns:p14="http://schemas.microsoft.com/office/powerpoint/2010/main" val="3284271513"/>
      </p:ext>
    </p:extLst>
  </p:cSld>
  <p:clrMapOvr>
    <a:masterClrMapping/>
  </p:clrMapOvr>
  <p:transition spd="med">
    <p:diamon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56</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a:t>
            </a:r>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652284"/>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14:m>
                  <m:oMath xmlns:m="http://schemas.openxmlformats.org/officeDocument/2006/math">
                    <m:sSub>
                      <m:sSubPr>
                        <m:ctrlPr>
                          <a:rPr lang="en-US" altLang="zh-CN" sz="1210" b="0" i="1" dirty="0"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i="1" dirty="0" smtClean="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𝑑</m:t>
                        </m:r>
                      </m:sub>
                    </m:sSub>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，定量税收𝑡</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652284"/>
                <a:ext cx="4110356" cy="1277752"/>
              </a:xfrm>
              <a:blipFill>
                <a:blip r:embed="rId2"/>
                <a:stretch>
                  <a:fillRect t="-476"/>
                </a:stretch>
              </a:blipFill>
              <a:ln>
                <a:noFill/>
              </a:ln>
            </p:spPr>
            <p:txBody>
              <a:bodyPr/>
              <a:lstStyle/>
              <a:p>
                <a:r>
                  <a:rPr lang="zh-CN" altLang="en-US">
                    <a:noFill/>
                  </a:rPr>
                  <a:t> </a:t>
                </a:r>
              </a:p>
            </p:txBody>
          </p:sp>
        </mc:Fallback>
      </mc:AlternateContent>
      <p:grpSp>
        <p:nvGrpSpPr>
          <p:cNvPr id="9" name="Group 3">
            <a:extLst>
              <a:ext uri="{FF2B5EF4-FFF2-40B4-BE49-F238E27FC236}">
                <a16:creationId xmlns:a16="http://schemas.microsoft.com/office/drawing/2014/main" id="{E8332386-051E-4C38-95E7-24370B833468}"/>
              </a:ext>
            </a:extLst>
          </p:cNvPr>
          <p:cNvGrpSpPr>
            <a:grpSpLocks/>
          </p:cNvGrpSpPr>
          <p:nvPr/>
        </p:nvGrpSpPr>
        <p:grpSpPr bwMode="auto">
          <a:xfrm>
            <a:off x="293782" y="148055"/>
            <a:ext cx="4139486" cy="529041"/>
            <a:chOff x="0" y="0"/>
            <a:chExt cx="5000" cy="661"/>
          </a:xfrm>
        </p:grpSpPr>
        <p:sp>
          <p:nvSpPr>
            <p:cNvPr id="10" name="Line 9">
              <a:extLst>
                <a:ext uri="{FF2B5EF4-FFF2-40B4-BE49-F238E27FC236}">
                  <a16:creationId xmlns:a16="http://schemas.microsoft.com/office/drawing/2014/main" id="{55F13A17-18E1-453A-8597-AF07101AA5B9}"/>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1" name="Line 10">
              <a:extLst>
                <a:ext uri="{FF2B5EF4-FFF2-40B4-BE49-F238E27FC236}">
                  <a16:creationId xmlns:a16="http://schemas.microsoft.com/office/drawing/2014/main" id="{E6DFC3BF-03C3-4106-947A-30B45E8B56DA}"/>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Tree>
    <p:extLst>
      <p:ext uri="{BB962C8B-B14F-4D97-AF65-F5344CB8AC3E}">
        <p14:creationId xmlns:p14="http://schemas.microsoft.com/office/powerpoint/2010/main" val="151801072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r>
                  <a:rPr lang="en-US" altLang="zh-CN" sz="1210" dirty="0">
                    <a:ea typeface="SimSun" panose="02010600030101010101" pitchFamily="2" charset="-122"/>
                    <a:cs typeface="Times New Roman" panose="02020603050405020304" pitchFamily="18" charset="0"/>
                  </a:rPr>
                  <a:t> </a:t>
                </a:r>
                <a14:m>
                  <m:oMath xmlns:m="http://schemas.openxmlformats.org/officeDocument/2006/math">
                    <m:sSub>
                      <m:sSubPr>
                        <m:ctrlPr>
                          <a:rPr lang="en-US" altLang="zh-CN" sz="1210" i="1" dirty="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𝑑</m:t>
                        </m:r>
                      </m:sub>
                    </m:s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 </m:t>
                    </m:r>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1277752"/>
              </a:xfrm>
              <a:blipFill>
                <a:blip r:embed="rId2"/>
                <a:stretch>
                  <a:fillRect t="-9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F918407-6FC9-7A28-9E72-FD88FD708439}"/>
                  </a:ext>
                </a:extLst>
              </p:cNvPr>
              <p:cNvSpPr txBox="1"/>
              <p:nvPr/>
            </p:nvSpPr>
            <p:spPr>
              <a:xfrm>
                <a:off x="323286" y="1574093"/>
                <a:ext cx="3930747" cy="1287597"/>
              </a:xfrm>
              <a:prstGeom prst="rect">
                <a:avLst/>
              </a:prstGeom>
              <a:noFill/>
            </p:spPr>
            <p:txBody>
              <a:bodyPr wrap="square" rtlCol="0">
                <a:spAutoFit/>
              </a:bodyPr>
              <a:lstStyle/>
              <a:p>
                <a:r>
                  <a:rPr lang="zh-CN" altLang="en-US" sz="1050" dirty="0">
                    <a:latin typeface="Garamond" panose="02020404030301010803" pitchFamily="18" charset="0"/>
                    <a:ea typeface="SimSun" panose="02010600030101010101" pitchFamily="2" charset="-122"/>
                  </a:rPr>
                  <a:t>答：</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m:t>
                    </m:r>
                    <m:r>
                      <a:rPr lang="en-US" altLang="zh-CN" sz="1050" i="1">
                        <a:latin typeface="Cambria Math" panose="02040503050406030204" pitchFamily="18" charset="0"/>
                      </a:rPr>
                      <m:t>𝑦</m:t>
                    </m:r>
                    <m:r>
                      <a:rPr lang="en-US" altLang="zh-CN" sz="1050" i="1">
                        <a:latin typeface="Cambria Math" panose="02040503050406030204" pitchFamily="18" charset="0"/>
                      </a:rPr>
                      <m:t>−</m:t>
                    </m:r>
                    <m:r>
                      <a:rPr lang="en-US" altLang="zh-CN" sz="1050" i="1">
                        <a:latin typeface="Cambria Math" panose="02040503050406030204" pitchFamily="18" charset="0"/>
                      </a:rPr>
                      <m:t>𝑡</m:t>
                    </m:r>
                    <m:r>
                      <a:rPr lang="en-US" altLang="zh-CN" sz="1050" i="1">
                        <a:latin typeface="Cambria Math" panose="02040503050406030204" pitchFamily="18" charset="0"/>
                      </a:rPr>
                      <m:t>=</m:t>
                    </m:r>
                    <m:r>
                      <a:rPr lang="en-US" altLang="zh-CN" sz="1050" i="1">
                        <a:latin typeface="Cambria Math" panose="02040503050406030204" pitchFamily="18" charset="0"/>
                      </a:rPr>
                      <m:t>𝑦</m:t>
                    </m:r>
                    <m:r>
                      <a:rPr lang="en-US" altLang="zh-CN" sz="1050" i="1">
                        <a:latin typeface="Cambria Math" panose="02040503050406030204" pitchFamily="18" charset="0"/>
                      </a:rPr>
                      <m:t>−800.</m:t>
                    </m:r>
                  </m:oMath>
                </a14:m>
                <a:endParaRPr lang="en-US" altLang="zh-CN" sz="1050" i="1" dirty="0">
                  <a:latin typeface="Garamond" panose="02020404030301010803" pitchFamily="18" charset="0"/>
                  <a:ea typeface="SimSun"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050" i="1">
                          <a:latin typeface="Cambria Math" panose="02040503050406030204" pitchFamily="18" charset="0"/>
                        </a:rPr>
                        <m:t>𝑠</m:t>
                      </m:r>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m:t>
                      </m:r>
                      <m:r>
                        <a:rPr lang="en-US" altLang="zh-CN" sz="1050" i="1">
                          <a:latin typeface="Cambria Math" panose="02040503050406030204" pitchFamily="18" charset="0"/>
                        </a:rPr>
                        <m:t>𝑐</m:t>
                      </m:r>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m:t>
                      </m:r>
                      <m:d>
                        <m:dPr>
                          <m:ctrlPr>
                            <a:rPr lang="en-US" altLang="zh-CN" sz="1050" i="1">
                              <a:latin typeface="Cambria Math" panose="02040503050406030204" pitchFamily="18" charset="0"/>
                            </a:rPr>
                          </m:ctrlPr>
                        </m:dPr>
                        <m:e>
                          <m:r>
                            <a:rPr lang="zh-CN" altLang="en-US" sz="1050" i="1">
                              <a:latin typeface="Cambria Math" panose="02040503050406030204" pitchFamily="18" charset="0"/>
                            </a:rPr>
                            <m:t>𝛼</m:t>
                          </m:r>
                          <m:r>
                            <a:rPr lang="en-US" altLang="zh-CN" sz="1050" i="1">
                              <a:latin typeface="Cambria Math" panose="02040503050406030204" pitchFamily="18" charset="0"/>
                            </a:rPr>
                            <m:t>+</m:t>
                          </m:r>
                          <m:r>
                            <a:rPr lang="zh-CN" altLang="en-US" sz="1050" i="1">
                              <a:latin typeface="Cambria Math" panose="02040503050406030204" pitchFamily="18" charset="0"/>
                            </a:rPr>
                            <m:t>𝛽</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e>
                      </m:d>
                      <m:r>
                        <a:rPr lang="en-US" altLang="zh-CN" sz="1050" i="1">
                          <a:latin typeface="Cambria Math" panose="02040503050406030204" pitchFamily="18" charset="0"/>
                        </a:rPr>
                        <m:t>=−</m:t>
                      </m:r>
                      <m:r>
                        <a:rPr lang="zh-CN" altLang="en-US" sz="1050" i="1">
                          <a:latin typeface="Cambria Math" panose="02040503050406030204" pitchFamily="18" charset="0"/>
                        </a:rPr>
                        <m:t>𝛼</m:t>
                      </m:r>
                      <m:r>
                        <a:rPr lang="en-US" altLang="zh-CN" sz="1050" i="1">
                          <a:latin typeface="Cambria Math" panose="02040503050406030204" pitchFamily="18" charset="0"/>
                        </a:rPr>
                        <m:t>+</m:t>
                      </m:r>
                      <m:d>
                        <m:dPr>
                          <m:ctrlPr>
                            <a:rPr lang="en-US" altLang="zh-CN" sz="1050" i="1">
                              <a:latin typeface="Cambria Math" panose="02040503050406030204" pitchFamily="18" charset="0"/>
                            </a:rPr>
                          </m:ctrlPr>
                        </m:dPr>
                        <m:e>
                          <m:r>
                            <a:rPr lang="en-US" altLang="zh-CN" sz="1050" i="1">
                              <a:latin typeface="Cambria Math" panose="02040503050406030204" pitchFamily="18" charset="0"/>
                            </a:rPr>
                            <m:t>1−</m:t>
                          </m:r>
                          <m:r>
                            <a:rPr lang="zh-CN" altLang="en-US" sz="1050" i="1">
                              <a:latin typeface="Cambria Math" panose="02040503050406030204" pitchFamily="18" charset="0"/>
                            </a:rPr>
                            <m:t>𝛽</m:t>
                          </m:r>
                        </m:e>
                      </m:d>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=−1600+0.25(</m:t>
                      </m:r>
                      <m:r>
                        <a:rPr lang="en-US" altLang="zh-CN" sz="1050" i="1">
                          <a:latin typeface="Cambria Math" panose="02040503050406030204" pitchFamily="18" charset="0"/>
                        </a:rPr>
                        <m:t>𝑦</m:t>
                      </m:r>
                      <m:r>
                        <a:rPr lang="en-US" altLang="zh-CN" sz="1050" i="1">
                          <a:latin typeface="Cambria Math" panose="02040503050406030204" pitchFamily="18" charset="0"/>
                        </a:rPr>
                        <m:t>−800)</m:t>
                      </m:r>
                    </m:oMath>
                  </m:oMathPara>
                </a14:m>
                <a:endParaRPr lang="en-US" altLang="zh-CN" sz="1050" dirty="0">
                  <a:latin typeface="Garamond" panose="02020404030301010803" pitchFamily="18" charset="0"/>
                  <a:ea typeface="SimSun" panose="02010600030101010101" pitchFamily="2" charset="-122"/>
                </a:endParaRPr>
              </a:p>
              <a:p>
                <a:endParaRPr lang="en-US" altLang="zh-CN" sz="1050" dirty="0">
                  <a:latin typeface="Garamond" panose="02020404030301010803" pitchFamily="18" charset="0"/>
                  <a:ea typeface="SimSun" panose="02010600030101010101" pitchFamily="2" charset="-122"/>
                </a:endParaRPr>
              </a:p>
              <a:p>
                <a:r>
                  <a:rPr lang="zh-CN" altLang="en-US" sz="1050" dirty="0">
                    <a:latin typeface="Garamond" panose="02020404030301010803" pitchFamily="18" charset="0"/>
                    <a:ea typeface="SimSun" panose="02010600030101010101" pitchFamily="2" charset="-122"/>
                  </a:rPr>
                  <a:t>由</a:t>
                </a:r>
                <a14:m>
                  <m:oMath xmlns:m="http://schemas.openxmlformats.org/officeDocument/2006/math">
                    <m:r>
                      <a:rPr lang="en-US" altLang="zh-CN" sz="1050" i="1">
                        <a:latin typeface="Cambria Math" panose="02040503050406030204" pitchFamily="18" charset="0"/>
                      </a:rPr>
                      <m:t>𝑠</m:t>
                    </m:r>
                    <m:r>
                      <a:rPr lang="en-US" altLang="zh-CN" sz="1050" i="1">
                        <a:latin typeface="Cambria Math" panose="02040503050406030204" pitchFamily="18" charset="0"/>
                      </a:rPr>
                      <m:t>+</m:t>
                    </m:r>
                    <m:r>
                      <a:rPr lang="en-US" altLang="zh-CN" sz="1050" i="1">
                        <a:latin typeface="Cambria Math" panose="02040503050406030204" pitchFamily="18" charset="0"/>
                      </a:rPr>
                      <m:t>𝑡</m:t>
                    </m:r>
                    <m:r>
                      <a:rPr lang="en-US" altLang="zh-CN" sz="1050" i="1">
                        <a:latin typeface="Cambria Math" panose="02040503050406030204" pitchFamily="18" charset="0"/>
                      </a:rPr>
                      <m:t>=</m:t>
                    </m:r>
                    <m:r>
                      <a:rPr lang="en-US" altLang="zh-CN" sz="1050" i="1">
                        <a:latin typeface="Cambria Math" panose="02040503050406030204" pitchFamily="18" charset="0"/>
                      </a:rPr>
                      <m:t>𝑖</m:t>
                    </m:r>
                    <m:r>
                      <a:rPr lang="en-US" altLang="zh-CN" sz="1050" i="1">
                        <a:latin typeface="Cambria Math" panose="02040503050406030204" pitchFamily="18" charset="0"/>
                      </a:rPr>
                      <m:t>+</m:t>
                    </m:r>
                    <m:r>
                      <a:rPr lang="en-US" altLang="zh-CN" sz="1050" i="1">
                        <a:latin typeface="Cambria Math" panose="02040503050406030204" pitchFamily="18" charset="0"/>
                      </a:rPr>
                      <m:t>𝑔</m:t>
                    </m:r>
                  </m:oMath>
                </a14:m>
                <a:r>
                  <a:rPr lang="zh-CN" altLang="en-US" sz="1050" dirty="0">
                    <a:latin typeface="Garamond" panose="02020404030301010803" pitchFamily="18" charset="0"/>
                    <a:ea typeface="SimSun" panose="02010600030101010101" pitchFamily="2" charset="-122"/>
                  </a:rPr>
                  <a:t>得，</a:t>
                </a:r>
                <a14:m>
                  <m:oMath xmlns:m="http://schemas.openxmlformats.org/officeDocument/2006/math">
                    <m:r>
                      <a:rPr lang="en-US" altLang="zh-CN" sz="1050" i="1">
                        <a:latin typeface="Cambria Math" panose="02040503050406030204" pitchFamily="18" charset="0"/>
                      </a:rPr>
                      <m:t>0.25</m:t>
                    </m:r>
                    <m:r>
                      <a:rPr lang="en-US" altLang="zh-CN" sz="1050" i="1">
                        <a:latin typeface="Cambria Math" panose="02040503050406030204" pitchFamily="18" charset="0"/>
                      </a:rPr>
                      <m:t>𝑦</m:t>
                    </m:r>
                    <m:r>
                      <a:rPr lang="en-US" altLang="zh-CN" sz="1050" i="1">
                        <a:latin typeface="Cambria Math" panose="02040503050406030204" pitchFamily="18" charset="0"/>
                      </a:rPr>
                      <m:t>−1800+800=1000+2000</m:t>
                    </m:r>
                  </m:oMath>
                </a14:m>
                <a:endParaRPr lang="en-US" altLang="zh-CN" sz="1050" i="1" dirty="0">
                  <a:latin typeface="Garamond" panose="02020404030301010803" pitchFamily="18" charset="0"/>
                  <a:ea typeface="SimSun" panose="02010600030101010101" pitchFamily="2" charset="-122"/>
                </a:endParaRPr>
              </a:p>
              <a:p>
                <a:endParaRPr lang="en-US" altLang="zh-CN" sz="1050" dirty="0">
                  <a:latin typeface="Garamond" panose="02020404030301010803" pitchFamily="18" charset="0"/>
                  <a:ea typeface="SimSun" panose="02010600030101010101" pitchFamily="2" charset="-122"/>
                </a:endParaRPr>
              </a:p>
              <a:p>
                <a:r>
                  <a:rPr lang="zh-CN" altLang="en-US" sz="1050" dirty="0">
                    <a:latin typeface="Garamond" panose="02020404030301010803" pitchFamily="18" charset="0"/>
                    <a:ea typeface="SimSun" panose="02010600030101010101" pitchFamily="2" charset="-122"/>
                  </a:rPr>
                  <a:t>即</a:t>
                </a:r>
                <a14:m>
                  <m:oMath xmlns:m="http://schemas.openxmlformats.org/officeDocument/2006/math">
                    <m:r>
                      <a:rPr lang="zh-CN" altLang="en-US" sz="1050" i="1">
                        <a:latin typeface="Cambria Math" panose="02040503050406030204" pitchFamily="18" charset="0"/>
                      </a:rPr>
                      <m:t>：</m:t>
                    </m:r>
                    <m:r>
                      <a:rPr lang="en-US" altLang="zh-CN" sz="1050" i="1">
                        <a:latin typeface="Cambria Math" panose="02040503050406030204" pitchFamily="18" charset="0"/>
                      </a:rPr>
                      <m:t>𝑦</m:t>
                    </m:r>
                    <m:r>
                      <a:rPr lang="en-US" altLang="zh-CN" sz="1050" i="1">
                        <a:latin typeface="Cambria Math" panose="02040503050406030204" pitchFamily="18" charset="0"/>
                      </a:rPr>
                      <m:t>=</m:t>
                    </m:r>
                    <m:f>
                      <m:fPr>
                        <m:ctrlPr>
                          <a:rPr lang="en-US" altLang="zh-CN" sz="1050" i="1">
                            <a:latin typeface="Cambria Math" panose="02040503050406030204" pitchFamily="18" charset="0"/>
                          </a:rPr>
                        </m:ctrlPr>
                      </m:fPr>
                      <m:num>
                        <m:r>
                          <a:rPr lang="en-US" altLang="zh-CN" sz="1050" i="1">
                            <a:latin typeface="Cambria Math" panose="02040503050406030204" pitchFamily="18" charset="0"/>
                          </a:rPr>
                          <m:t>4000</m:t>
                        </m:r>
                      </m:num>
                      <m:den>
                        <m:r>
                          <a:rPr lang="en-US" altLang="zh-CN" sz="1050" i="1">
                            <a:latin typeface="Cambria Math" panose="02040503050406030204" pitchFamily="18" charset="0"/>
                          </a:rPr>
                          <m:t>0.25</m:t>
                        </m:r>
                      </m:den>
                    </m:f>
                    <m:r>
                      <a:rPr lang="en-US" altLang="zh-CN" sz="1050" i="1">
                        <a:latin typeface="Cambria Math" panose="02040503050406030204" pitchFamily="18" charset="0"/>
                      </a:rPr>
                      <m:t>=16000</m:t>
                    </m:r>
                  </m:oMath>
                </a14:m>
                <a:endParaRPr lang="en-US" altLang="zh-CN" sz="1050" dirty="0">
                  <a:latin typeface="Garamond" panose="02020404030301010803" pitchFamily="18" charset="0"/>
                  <a:ea typeface="SimSun" panose="02010600030101010101" pitchFamily="2" charset="-122"/>
                </a:endParaRPr>
              </a:p>
            </p:txBody>
          </p:sp>
        </mc:Choice>
        <mc:Fallback xmlns="">
          <p:sp>
            <p:nvSpPr>
              <p:cNvPr id="3" name="文本框 2">
                <a:extLst>
                  <a:ext uri="{FF2B5EF4-FFF2-40B4-BE49-F238E27FC236}">
                    <a16:creationId xmlns:a16="http://schemas.microsoft.com/office/drawing/2014/main" id="{EF918407-6FC9-7A28-9E72-FD88FD708439}"/>
                  </a:ext>
                </a:extLst>
              </p:cNvPr>
              <p:cNvSpPr txBox="1">
                <a:spLocks noRot="1" noChangeAspect="1" noMove="1" noResize="1" noEditPoints="1" noAdjustHandles="1" noChangeArrowheads="1" noChangeShapeType="1" noTextEdit="1"/>
              </p:cNvSpPr>
              <p:nvPr/>
            </p:nvSpPr>
            <p:spPr>
              <a:xfrm>
                <a:off x="323286" y="1574093"/>
                <a:ext cx="3930747" cy="1287597"/>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859962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使用储蓄函数决定收入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58</a:t>
            </a:fld>
            <a:endParaRPr lang="zh-CN" altLang="zh-CN" sz="856">
              <a:solidFill>
                <a:srgbClr val="777777"/>
              </a:solidFill>
              <a:ea typeface="宋体" panose="02010600030101010101" pitchFamily="2" charset="-122"/>
            </a:endParaRPr>
          </a:p>
        </p:txBody>
      </p:sp>
      <p:pic>
        <p:nvPicPr>
          <p:cNvPr id="4" name="Picture 4" descr="xf139">
            <a:extLst>
              <a:ext uri="{FF2B5EF4-FFF2-40B4-BE49-F238E27FC236}">
                <a16:creationId xmlns:a16="http://schemas.microsoft.com/office/drawing/2014/main" id="{947183A4-D6AA-21F3-5618-C396111E6E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271" y="882722"/>
            <a:ext cx="3735872" cy="1813562"/>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5">
            <a:extLst>
              <a:ext uri="{FF2B5EF4-FFF2-40B4-BE49-F238E27FC236}">
                <a16:creationId xmlns:a16="http://schemas.microsoft.com/office/drawing/2014/main" id="{4FC12978-8D08-4ADA-6234-8CFD917C96E6}"/>
              </a:ext>
            </a:extLst>
          </p:cNvPr>
          <p:cNvSpPr txBox="1">
            <a:spLocks noChangeArrowheads="1"/>
          </p:cNvSpPr>
          <p:nvPr/>
        </p:nvSpPr>
        <p:spPr bwMode="auto">
          <a:xfrm>
            <a:off x="309972" y="2665431"/>
            <a:ext cx="3990155" cy="27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230520">
              <a:spcBef>
                <a:spcPct val="50000"/>
              </a:spcBef>
              <a:defRPr/>
            </a:pPr>
            <a:r>
              <a:rPr lang="zh-CN" altLang="en-US" sz="1209" dirty="0">
                <a:solidFill>
                  <a:prstClr val="black"/>
                </a:solidFill>
                <a:latin typeface="SimSun" panose="02010600030101010101" pitchFamily="2" charset="-122"/>
                <a:ea typeface="SimSun" panose="02010600030101010101" pitchFamily="2" charset="-122"/>
              </a:rPr>
              <a:t>储蓄曲线和投资曲线相交决定收入</a:t>
            </a:r>
          </a:p>
        </p:txBody>
      </p:sp>
      <p:sp>
        <p:nvSpPr>
          <p:cNvPr id="2" name="页脚占位符 1">
            <a:extLst>
              <a:ext uri="{FF2B5EF4-FFF2-40B4-BE49-F238E27FC236}">
                <a16:creationId xmlns:a16="http://schemas.microsoft.com/office/drawing/2014/main" id="{B26B56D3-66AB-9922-BEF0-518C028DD41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22F8AF4-3DAB-AC09-A790-1EA2E34DFB8F}"/>
                  </a:ext>
                </a:extLst>
              </p:cNvPr>
              <p:cNvSpPr txBox="1"/>
              <p:nvPr/>
            </p:nvSpPr>
            <p:spPr>
              <a:xfrm>
                <a:off x="248720" y="560415"/>
                <a:ext cx="4164491" cy="276999"/>
              </a:xfrm>
              <a:prstGeom prst="rect">
                <a:avLst/>
              </a:prstGeom>
              <a:noFill/>
            </p:spPr>
            <p:txBody>
              <a:bodyPr wrap="square">
                <a:spAutoFit/>
              </a:bodyPr>
              <a:lstStyle/>
              <a:p>
                <a:r>
                  <a:rPr lang="zh-CN" altLang="en-US" sz="1200" b="1" dirty="0">
                    <a:solidFill>
                      <a:srgbClr val="C00000"/>
                    </a:solidFill>
                    <a:latin typeface="SimSun" panose="02010600030101010101" pitchFamily="2" charset="-122"/>
                    <a:ea typeface="SimSun" panose="02010600030101010101" pitchFamily="2" charset="-122"/>
                  </a:rPr>
                  <a:t>均衡条件</a:t>
                </a:r>
                <a:r>
                  <a:rPr lang="zh-CN" altLang="en-US" sz="1200" b="0" dirty="0">
                    <a:latin typeface="SimSun" panose="02010600030101010101" pitchFamily="2" charset="-122"/>
                    <a:ea typeface="SimSun" panose="02010600030101010101" pitchFamily="2" charset="-122"/>
                  </a:rPr>
                  <a:t>：投资储蓄恒等式</a:t>
                </a:r>
                <a14:m>
                  <m:oMath xmlns:m="http://schemas.openxmlformats.org/officeDocument/2006/math">
                    <m:r>
                      <a:rPr lang="en-US" altLang="zh-CN" sz="1200" b="0" i="1" smtClean="0">
                        <a:latin typeface="Cambria Math" panose="02040503050406030204" pitchFamily="18" charset="0"/>
                      </a:rPr>
                      <m:t>𝑖</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𝑠</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𝑐</m:t>
                    </m:r>
                  </m:oMath>
                </a14:m>
                <a:endParaRPr lang="zh-CN" altLang="en-US" sz="1200" dirty="0">
                  <a:latin typeface="SimSun" panose="02010600030101010101" pitchFamily="2" charset="-122"/>
                  <a:ea typeface="SimSun" panose="02010600030101010101" pitchFamily="2" charset="-122"/>
                </a:endParaRPr>
              </a:p>
            </p:txBody>
          </p:sp>
        </mc:Choice>
        <mc:Fallback xmlns="">
          <p:sp>
            <p:nvSpPr>
              <p:cNvPr id="6" name="文本框 5">
                <a:extLst>
                  <a:ext uri="{FF2B5EF4-FFF2-40B4-BE49-F238E27FC236}">
                    <a16:creationId xmlns:a16="http://schemas.microsoft.com/office/drawing/2014/main" id="{322F8AF4-3DAB-AC09-A790-1EA2E34DFB8F}"/>
                  </a:ext>
                </a:extLst>
              </p:cNvPr>
              <p:cNvSpPr txBox="1">
                <a:spLocks noRot="1" noChangeAspect="1" noMove="1" noResize="1" noEditPoints="1" noAdjustHandles="1" noChangeArrowheads="1" noChangeShapeType="1" noTextEdit="1"/>
              </p:cNvSpPr>
              <p:nvPr/>
            </p:nvSpPr>
            <p:spPr>
              <a:xfrm>
                <a:off x="248720" y="560415"/>
                <a:ext cx="4164491" cy="276999"/>
              </a:xfrm>
              <a:prstGeom prst="rect">
                <a:avLst/>
              </a:prstGeom>
              <a:blipFill>
                <a:blip r:embed="rId3"/>
                <a:stretch>
                  <a:fillRect b="-181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2160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计划投资</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计划储蓄即</a:t>
                </a:r>
                <a:r>
                  <a:rPr lang="en-US" altLang="zh-CN" dirty="0" err="1">
                    <a:latin typeface="Garamond" panose="02020404030301010803" pitchFamily="18" charset="0"/>
                    <a:ea typeface="SimSun" panose="02010600030101010101" pitchFamily="2" charset="-122"/>
                  </a:rPr>
                  <a:t>i</a:t>
                </a:r>
                <a:r>
                  <a:rPr lang="en-US" altLang="zh-CN" dirty="0">
                    <a:latin typeface="Garamond" panose="02020404030301010803" pitchFamily="18" charset="0"/>
                    <a:ea typeface="SimSun" panose="02010600030101010101" pitchFamily="2" charset="-122"/>
                  </a:rPr>
                  <a:t>=y-c=s</a:t>
                </a:r>
                <a:r>
                  <a:rPr lang="zh-CN" altLang="en-US" dirty="0">
                    <a:latin typeface="Garamond" panose="02020404030301010803" pitchFamily="18" charset="0"/>
                    <a:ea typeface="SimSun" panose="02010600030101010101" pitchFamily="2" charset="-122"/>
                  </a:rPr>
                  <a:t>，由投资等于储蓄，储蓄函数可得：</a:t>
                </a:r>
                <a:endParaRPr lang="en-US" altLang="zh-CN" dirty="0">
                  <a:latin typeface="Garamond" panose="02020404030301010803" pitchFamily="18" charset="0"/>
                  <a:ea typeface="SimSun" panose="02010600030101010101" pitchFamily="2" charset="-122"/>
                </a:endParaRPr>
              </a:p>
              <a:p>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zh-CN" altLang="en-US" b="0" i="1" smtClean="0">
                                    <a:latin typeface="Cambria Math" panose="02040503050406030204" pitchFamily="18" charset="0"/>
                                  </a:rPr>
                                  <m:t>𝛽</m:t>
                                </m:r>
                              </m:e>
                            </m:d>
                            <m:r>
                              <a:rPr lang="en-US" altLang="zh-CN" b="0" i="1" smtClean="0">
                                <a:latin typeface="Cambria Math" panose="02040503050406030204" pitchFamily="18" charset="0"/>
                              </a:rPr>
                              <m:t>𝑦</m:t>
                            </m:r>
                          </m:e>
                        </m:eqArr>
                      </m:e>
                    </m:d>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均衡的收入：</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i="1"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zh-CN" altLang="en-US" i="1" dirty="0">
                            <a:latin typeface="Cambria Math" panose="02040503050406030204" pitchFamily="18" charset="0"/>
                          </a:rPr>
                          <m:t>𝛼</m:t>
                        </m:r>
                        <m:r>
                          <a:rPr lang="en-US" altLang="zh-CN" i="1" dirty="0">
                            <a:latin typeface="Cambria Math" panose="02040503050406030204" pitchFamily="18" charset="0"/>
                          </a:rPr>
                          <m:t>+</m:t>
                        </m:r>
                        <m:r>
                          <a:rPr lang="en-US" altLang="zh-CN" i="1" dirty="0">
                            <a:latin typeface="Cambria Math" panose="02040503050406030204" pitchFamily="18" charset="0"/>
                          </a:rPr>
                          <m:t>𝑖</m:t>
                        </m:r>
                      </m:num>
                      <m:den>
                        <m:r>
                          <a:rPr lang="en-US" altLang="zh-CN" i="1" dirty="0">
                            <a:latin typeface="Cambria Math" panose="02040503050406030204" pitchFamily="18" charset="0"/>
                          </a:rPr>
                          <m:t>1−</m:t>
                        </m:r>
                        <m:r>
                          <a:rPr lang="zh-CN" altLang="en-US" i="1" dirty="0">
                            <a:latin typeface="Cambria Math" panose="02040503050406030204" pitchFamily="18" charset="0"/>
                          </a:rPr>
                          <m:t>𝛽</m:t>
                        </m:r>
                      </m:den>
                    </m:f>
                  </m:oMath>
                </a14:m>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489" t="-15347" r="-916" b="-8168"/>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使用储蓄函数决定收入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59</a:t>
            </a:fld>
            <a:endParaRPr lang="zh-CN" altLang="zh-CN" sz="856">
              <a:solidFill>
                <a:srgbClr val="777777"/>
              </a:solidFill>
              <a:ea typeface="宋体" panose="02010600030101010101" pitchFamily="2" charset="-122"/>
            </a:endParaRPr>
          </a:p>
        </p:txBody>
      </p:sp>
      <p:sp>
        <p:nvSpPr>
          <p:cNvPr id="4" name="文本框 3">
            <a:extLst>
              <a:ext uri="{FF2B5EF4-FFF2-40B4-BE49-F238E27FC236}">
                <a16:creationId xmlns:a16="http://schemas.microsoft.com/office/drawing/2014/main" id="{294B1306-CD21-5E3E-4557-BCC92C106B26}"/>
              </a:ext>
            </a:extLst>
          </p:cNvPr>
          <p:cNvSpPr txBox="1"/>
          <p:nvPr/>
        </p:nvSpPr>
        <p:spPr>
          <a:xfrm>
            <a:off x="2449066" y="1226319"/>
            <a:ext cx="937143" cy="261610"/>
          </a:xfrm>
          <a:prstGeom prst="rect">
            <a:avLst/>
          </a:prstGeom>
          <a:noFill/>
        </p:spPr>
        <p:txBody>
          <a:bodyPr wrap="square">
            <a:spAutoFit/>
          </a:bodyPr>
          <a:lstStyle/>
          <a:p>
            <a:r>
              <a:rPr lang="zh-CN" altLang="en-US" sz="1100" dirty="0">
                <a:solidFill>
                  <a:srgbClr val="C00000"/>
                </a:solidFill>
                <a:latin typeface="Garamond" panose="02020404030301010803" pitchFamily="18" charset="0"/>
                <a:ea typeface="SimSun" panose="02010600030101010101" pitchFamily="2" charset="-122"/>
              </a:rPr>
              <a:t>均衡条件</a:t>
            </a:r>
            <a:endParaRPr lang="zh-CN" altLang="en-US" sz="1100" dirty="0">
              <a:solidFill>
                <a:srgbClr val="C00000"/>
              </a:solidFill>
            </a:endParaRPr>
          </a:p>
        </p:txBody>
      </p:sp>
      <p:sp>
        <p:nvSpPr>
          <p:cNvPr id="5" name="文本框 4">
            <a:extLst>
              <a:ext uri="{FF2B5EF4-FFF2-40B4-BE49-F238E27FC236}">
                <a16:creationId xmlns:a16="http://schemas.microsoft.com/office/drawing/2014/main" id="{67C36697-5308-DAF6-7F50-889FA62AD766}"/>
              </a:ext>
            </a:extLst>
          </p:cNvPr>
          <p:cNvSpPr txBox="1"/>
          <p:nvPr/>
        </p:nvSpPr>
        <p:spPr>
          <a:xfrm>
            <a:off x="2449065" y="1488966"/>
            <a:ext cx="937143" cy="261610"/>
          </a:xfrm>
          <a:prstGeom prst="rect">
            <a:avLst/>
          </a:prstGeom>
          <a:noFill/>
        </p:spPr>
        <p:txBody>
          <a:bodyPr wrap="square">
            <a:spAutoFit/>
          </a:bodyPr>
          <a:lstStyle/>
          <a:p>
            <a:r>
              <a:rPr lang="zh-CN" altLang="en-US" sz="1100" dirty="0">
                <a:solidFill>
                  <a:srgbClr val="C00000"/>
                </a:solidFill>
                <a:latin typeface="Garamond" panose="02020404030301010803" pitchFamily="18" charset="0"/>
                <a:ea typeface="SimSun" panose="02010600030101010101" pitchFamily="2" charset="-122"/>
              </a:rPr>
              <a:t>储蓄函数</a:t>
            </a:r>
            <a:endParaRPr lang="zh-CN" altLang="en-US" sz="1100" dirty="0">
              <a:solidFill>
                <a:srgbClr val="C00000"/>
              </a:solidFill>
            </a:endParaRPr>
          </a:p>
        </p:txBody>
      </p:sp>
      <p:sp>
        <p:nvSpPr>
          <p:cNvPr id="6" name="页脚占位符 1">
            <a:extLst>
              <a:ext uri="{FF2B5EF4-FFF2-40B4-BE49-F238E27FC236}">
                <a16:creationId xmlns:a16="http://schemas.microsoft.com/office/drawing/2014/main" id="{14B57023-98F3-45BF-5C91-0806446C23E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7391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E2592AD-DA6D-A42B-5DCE-6B691349A2BC}"/>
              </a:ext>
            </a:extLst>
          </p:cNvPr>
          <p:cNvSpPr/>
          <p:nvPr/>
        </p:nvSpPr>
        <p:spPr>
          <a:xfrm>
            <a:off x="0" y="1874391"/>
            <a:ext cx="4610100" cy="184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7" name="Group 29"/>
          <p:cNvGraphicFramePr>
            <a:graphicFrameLocks/>
          </p:cNvGraphicFramePr>
          <p:nvPr>
            <p:extLst>
              <p:ext uri="{D42A27DB-BD31-4B8C-83A1-F6EECF244321}">
                <p14:modId xmlns:p14="http://schemas.microsoft.com/office/powerpoint/2010/main" val="3065612542"/>
              </p:ext>
            </p:extLst>
          </p:nvPr>
        </p:nvGraphicFramePr>
        <p:xfrm>
          <a:off x="242339" y="866279"/>
          <a:ext cx="4170872" cy="1596510"/>
        </p:xfrm>
        <a:graphic>
          <a:graphicData uri="http://schemas.openxmlformats.org/drawingml/2006/table">
            <a:tbl>
              <a:tblPr/>
              <a:tblGrid>
                <a:gridCol w="1042718">
                  <a:extLst>
                    <a:ext uri="{9D8B030D-6E8A-4147-A177-3AD203B41FA5}">
                      <a16:colId xmlns:a16="http://schemas.microsoft.com/office/drawing/2014/main" val="2722108064"/>
                    </a:ext>
                  </a:extLst>
                </a:gridCol>
                <a:gridCol w="1042718">
                  <a:extLst>
                    <a:ext uri="{9D8B030D-6E8A-4147-A177-3AD203B41FA5}">
                      <a16:colId xmlns:a16="http://schemas.microsoft.com/office/drawing/2014/main" val="1538635282"/>
                    </a:ext>
                  </a:extLst>
                </a:gridCol>
                <a:gridCol w="1042718">
                  <a:extLst>
                    <a:ext uri="{9D8B030D-6E8A-4147-A177-3AD203B41FA5}">
                      <a16:colId xmlns:a16="http://schemas.microsoft.com/office/drawing/2014/main" val="3750451807"/>
                    </a:ext>
                  </a:extLst>
                </a:gridCol>
                <a:gridCol w="1042718">
                  <a:extLst>
                    <a:ext uri="{9D8B030D-6E8A-4147-A177-3AD203B41FA5}">
                      <a16:colId xmlns:a16="http://schemas.microsoft.com/office/drawing/2014/main" val="2421988387"/>
                    </a:ext>
                  </a:extLst>
                </a:gridCol>
              </a:tblGrid>
              <a:tr h="184363">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）收入</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）储蓄</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）投资</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1230386"/>
                  </a:ext>
                </a:extLst>
              </a:tr>
              <a:tr h="1412147">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5800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1935194"/>
                  </a:ext>
                </a:extLst>
              </a:tr>
            </a:tbl>
          </a:graphicData>
        </a:graphic>
      </p:graphicFrame>
      <p:sp>
        <p:nvSpPr>
          <p:cNvPr id="8" name="Text Box 30"/>
          <p:cNvSpPr txBox="1">
            <a:spLocks noChangeArrowheads="1"/>
          </p:cNvSpPr>
          <p:nvPr/>
        </p:nvSpPr>
        <p:spPr bwMode="auto">
          <a:xfrm>
            <a:off x="219416" y="583380"/>
            <a:ext cx="3953373"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表</a:t>
            </a:r>
            <a:r>
              <a:rPr lang="en-US" altLang="zh-CN" sz="1007" b="1" dirty="0">
                <a:solidFill>
                  <a:prstClr val="black"/>
                </a:solidFill>
                <a:latin typeface="KaiTi" panose="02010609060101010101" pitchFamily="49" charset="-122"/>
                <a:ea typeface="KaiTi" panose="02010609060101010101" pitchFamily="49" charset="-122"/>
              </a:rPr>
              <a:t>3</a:t>
            </a:r>
            <a:r>
              <a:rPr lang="zh-CN" altLang="en-US" sz="1007" b="1" dirty="0">
                <a:solidFill>
                  <a:prstClr val="black"/>
                </a:solidFill>
                <a:latin typeface="KaiTi" panose="02010609060101010101" pitchFamily="49" charset="-122"/>
                <a:ea typeface="KaiTi" panose="02010609060101010101" pitchFamily="49" charset="-122"/>
              </a:rPr>
              <a:t>：均衡收入的决定</a:t>
            </a:r>
            <a:r>
              <a:rPr lang="en-US" altLang="zh-CN" sz="1007" b="1" dirty="0">
                <a:solidFill>
                  <a:prstClr val="black"/>
                </a:solidFill>
                <a:latin typeface="KaiTi" panose="02010609060101010101" pitchFamily="49" charset="-122"/>
                <a:ea typeface="KaiTi" panose="02010609060101010101" pitchFamily="49" charset="-122"/>
              </a:rPr>
              <a:t>(</a:t>
            </a:r>
            <a:r>
              <a:rPr lang="zh-CN" altLang="en-US" sz="1007" b="1" dirty="0">
                <a:solidFill>
                  <a:prstClr val="black"/>
                </a:solidFill>
                <a:latin typeface="KaiTi" panose="02010609060101010101" pitchFamily="49" charset="-122"/>
                <a:ea typeface="KaiTi" panose="02010609060101010101" pitchFamily="49" charset="-122"/>
              </a:rPr>
              <a:t>单位：亿美元</a:t>
            </a:r>
            <a:r>
              <a:rPr lang="en-US" altLang="zh-CN" sz="1007" b="1" dirty="0">
                <a:solidFill>
                  <a:prstClr val="black"/>
                </a:solidFill>
                <a:latin typeface="KaiTi" panose="02010609060101010101" pitchFamily="49" charset="-122"/>
                <a:ea typeface="KaiTi" panose="02010609060101010101" pitchFamily="49" charset="-122"/>
              </a:rPr>
              <a:t>)</a:t>
            </a:r>
            <a:endParaRPr lang="zh-CN" altLang="en-US" sz="1007" b="1" dirty="0">
              <a:solidFill>
                <a:prstClr val="black"/>
              </a:solidFill>
              <a:latin typeface="KaiTi" panose="02010609060101010101" pitchFamily="49" charset="-122"/>
              <a:ea typeface="KaiTi" panose="02010609060101010101" pitchFamily="49" charset="-122"/>
            </a:endParaRPr>
          </a:p>
        </p:txBody>
      </p:sp>
      <p:sp>
        <p:nvSpPr>
          <p:cNvPr id="3" name="灯片编号占位符 2">
            <a:extLst>
              <a:ext uri="{FF2B5EF4-FFF2-40B4-BE49-F238E27FC236}">
                <a16:creationId xmlns:a16="http://schemas.microsoft.com/office/drawing/2014/main" id="{7A3A5DA9-623E-C1AC-226E-DDFC985D488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60</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6DC7542B-980A-8E96-7D3F-BF496297513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
        <p:nvSpPr>
          <p:cNvPr id="2" name="标题 6">
            <a:extLst>
              <a:ext uri="{FF2B5EF4-FFF2-40B4-BE49-F238E27FC236}">
                <a16:creationId xmlns:a16="http://schemas.microsoft.com/office/drawing/2014/main" id="{7BF4182B-798C-8534-2DB3-C1A406640CED}"/>
              </a:ext>
            </a:extLst>
          </p:cNvPr>
          <p:cNvSpPr>
            <a:spLocks noGrp="1"/>
          </p:cNvSpPr>
          <p:nvPr>
            <p:ph type="title"/>
          </p:nvPr>
        </p:nvSpPr>
        <p:spPr>
          <a:xfrm>
            <a:off x="172879" y="127377"/>
            <a:ext cx="4240332" cy="343671"/>
          </a:xfrm>
        </p:spPr>
        <p:txBody>
          <a:bodyPr/>
          <a:lstStyle/>
          <a:p>
            <a:r>
              <a:rPr kumimoji="1" lang="zh-CN" altLang="en-US" dirty="0"/>
              <a:t>使用储蓄函数决定收入</a:t>
            </a:r>
          </a:p>
        </p:txBody>
      </p:sp>
    </p:spTree>
    <p:extLst>
      <p:ext uri="{BB962C8B-B14F-4D97-AF65-F5344CB8AC3E}">
        <p14:creationId xmlns:p14="http://schemas.microsoft.com/office/powerpoint/2010/main" val="185087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35119" y="1250660"/>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49426" y="1234800"/>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89917" y="618292"/>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1" name="object 91"/>
          <p:cNvSpPr txBox="1">
            <a:spLocks noGrp="1"/>
          </p:cNvSpPr>
          <p:nvPr>
            <p:ph type="title"/>
          </p:nvPr>
        </p:nvSpPr>
        <p:spPr>
          <a:xfrm>
            <a:off x="1230804" y="642073"/>
            <a:ext cx="2146725" cy="307456"/>
          </a:xfrm>
          <a:prstGeom prst="rect">
            <a:avLst/>
          </a:prstGeom>
        </p:spPr>
        <p:txBody>
          <a:bodyPr vert="horz" wrap="square" lIns="0" tIns="0" rIns="0" bIns="0" numCol="1" rtlCol="0" anchor="ctr" anchorCtr="0" compatLnSpc="1">
            <a:prstTxWarp prst="textNoShape">
              <a:avLst/>
            </a:prstTxWarp>
            <a:spAutoFit/>
          </a:bodyPr>
          <a:lstStyle/>
          <a:p>
            <a:pPr marL="12690"/>
            <a:r>
              <a:rPr lang="zh-CN" altLang="en-US" sz="1998" spc="10" dirty="0">
                <a:latin typeface="DengXian" panose="02010600030101010101" pitchFamily="2" charset="-122"/>
                <a:ea typeface="DengXian" panose="02010600030101010101" pitchFamily="2" charset="-122"/>
              </a:rPr>
              <a:t>宏观经济学</a:t>
            </a:r>
            <a:endParaRPr sz="1998" dirty="0">
              <a:latin typeface="DengXian" panose="02010600030101010101" pitchFamily="2" charset="-122"/>
              <a:ea typeface="DengXian" panose="02010600030101010101" pitchFamily="2" charset="-122"/>
            </a:endParaRPr>
          </a:p>
        </p:txBody>
      </p:sp>
      <p:sp>
        <p:nvSpPr>
          <p:cNvPr id="92" name="object 92"/>
          <p:cNvSpPr txBox="1"/>
          <p:nvPr/>
        </p:nvSpPr>
        <p:spPr>
          <a:xfrm>
            <a:off x="1416800" y="1016706"/>
            <a:ext cx="1825853" cy="184538"/>
          </a:xfrm>
          <a:prstGeom prst="rect">
            <a:avLst/>
          </a:prstGeom>
        </p:spPr>
        <p:txBody>
          <a:bodyPr vert="horz" wrap="square" lIns="0" tIns="0" rIns="0" bIns="0" rtlCol="0">
            <a:spAutoFit/>
          </a:bodyPr>
          <a:lstStyle/>
          <a:p>
            <a:pPr marL="12690" algn="ctr"/>
            <a:r>
              <a:rPr lang="en-US" altLang="zh-CN" sz="1199" spc="-10" dirty="0">
                <a:solidFill>
                  <a:srgbClr val="CC0000"/>
                </a:solidFill>
                <a:latin typeface="Times New Roman"/>
                <a:cs typeface="Times New Roman"/>
              </a:rPr>
              <a:t>Macroeconomics</a:t>
            </a:r>
            <a:endParaRPr sz="1399" baseline="27777" dirty="0">
              <a:latin typeface="Times New Roman"/>
              <a:cs typeface="Times New Roman"/>
            </a:endParaRPr>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4038" y="1471950"/>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4</a:t>
            </a:r>
            <a:r>
              <a:rPr lang="zh-CN" altLang="en-US" sz="1399" b="1" dirty="0">
                <a:solidFill>
                  <a:srgbClr val="333399"/>
                </a:solidFill>
                <a:latin typeface="Garamond" panose="02020404030301010803" pitchFamily="18" charset="0"/>
                <a:ea typeface="KaiTi" panose="02010609060101010101" pitchFamily="49" charset="-122"/>
                <a:cs typeface="+mj-cs"/>
              </a:rPr>
              <a:t>节 乘数论</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Tree>
    <p:extLst>
      <p:ext uri="{BB962C8B-B14F-4D97-AF65-F5344CB8AC3E}">
        <p14:creationId xmlns:p14="http://schemas.microsoft.com/office/powerpoint/2010/main" val="3566229986"/>
      </p:ext>
    </p:extLst>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62</a:t>
            </a:fld>
            <a:endParaRPr lang="zh-CN" altLang="en-US"/>
          </a:p>
        </p:txBody>
      </p:sp>
      <p:sp>
        <p:nvSpPr>
          <p:cNvPr id="9" name="内容占位符 2"/>
          <p:cNvSpPr>
            <a:spLocks noGrp="1"/>
          </p:cNvSpPr>
          <p:nvPr>
            <p:ph idx="1"/>
          </p:nvPr>
        </p:nvSpPr>
        <p:spPr>
          <a:xfrm>
            <a:off x="213345" y="634481"/>
            <a:ext cx="3972563" cy="2191787"/>
          </a:xfrm>
        </p:spPr>
        <p:txBody>
          <a:bodyPr/>
          <a:lstStyle/>
          <a:p>
            <a:r>
              <a:rPr lang="zh-CN" altLang="en-US" b="1" dirty="0">
                <a:latin typeface="Garamond" panose="02020404030301010803" pitchFamily="18" charset="0"/>
                <a:ea typeface="SimSun" panose="02010600030101010101" pitchFamily="2" charset="-122"/>
              </a:rPr>
              <a:t>投资乘数</a:t>
            </a:r>
            <a:r>
              <a:rPr lang="zh-CN" altLang="en-US" dirty="0">
                <a:latin typeface="Garamond" panose="02020404030301010803" pitchFamily="18" charset="0"/>
                <a:ea typeface="SimSun" panose="02010600030101010101" pitchFamily="2" charset="-122"/>
              </a:rPr>
              <a:t>是指收入的变化与带来这种变化的投资支出的变化的比率。</a:t>
            </a:r>
            <a:endParaRPr lang="en-US" altLang="zh-CN"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例如，从投资角度看，若自发投资量是</a:t>
            </a:r>
            <a:r>
              <a:rPr lang="en-US" altLang="zh-CN" sz="1209" dirty="0">
                <a:latin typeface="Garamond" panose="02020404030301010803" pitchFamily="18" charset="0"/>
                <a:ea typeface="SimSun" panose="02010600030101010101" pitchFamily="2" charset="-122"/>
              </a:rPr>
              <a:t>600</a:t>
            </a:r>
            <a:r>
              <a:rPr lang="zh-CN" altLang="en-US" sz="1209" dirty="0">
                <a:latin typeface="Garamond" panose="02020404030301010803" pitchFamily="18" charset="0"/>
                <a:ea typeface="SimSun" panose="02010600030101010101" pitchFamily="2" charset="-122"/>
              </a:rPr>
              <a:t>亿美元，均衡的国民收入是</a:t>
            </a:r>
            <a:r>
              <a:rPr lang="en-US" altLang="zh-CN" sz="1209" dirty="0">
                <a:latin typeface="Garamond" panose="02020404030301010803" pitchFamily="18" charset="0"/>
                <a:ea typeface="SimSun" panose="02010600030101010101" pitchFamily="2" charset="-122"/>
              </a:rPr>
              <a:t>8000</a:t>
            </a:r>
            <a:r>
              <a:rPr lang="zh-CN" altLang="en-US" sz="1209" dirty="0">
                <a:latin typeface="Garamond" panose="02020404030301010803" pitchFamily="18" charset="0"/>
                <a:ea typeface="SimSun" panose="02010600030101010101" pitchFamily="2" charset="-122"/>
              </a:rPr>
              <a:t>亿美元；若投资增加到</a:t>
            </a:r>
            <a:r>
              <a:rPr lang="en-US" altLang="zh-CN" sz="1209" dirty="0">
                <a:latin typeface="Garamond" panose="02020404030301010803" pitchFamily="18" charset="0"/>
                <a:ea typeface="SimSun" panose="02010600030101010101" pitchFamily="2" charset="-122"/>
              </a:rPr>
              <a:t>700</a:t>
            </a:r>
            <a:r>
              <a:rPr lang="zh-CN" altLang="en-US" sz="1209" dirty="0">
                <a:latin typeface="Garamond" panose="02020404030301010803" pitchFamily="18" charset="0"/>
                <a:ea typeface="SimSun" panose="02010600030101010101" pitchFamily="2" charset="-122"/>
              </a:rPr>
              <a:t>亿美元，则国民收入会增加到</a:t>
            </a:r>
            <a:r>
              <a:rPr lang="en-US" altLang="zh-CN" sz="1209" dirty="0">
                <a:latin typeface="Garamond" panose="02020404030301010803" pitchFamily="18" charset="0"/>
                <a:ea typeface="SimSun" panose="02010600030101010101" pitchFamily="2" charset="-122"/>
              </a:rPr>
              <a:t>8500</a:t>
            </a:r>
            <a:r>
              <a:rPr lang="zh-CN" altLang="en-US" sz="1209" dirty="0">
                <a:latin typeface="Garamond" panose="02020404030301010803" pitchFamily="18" charset="0"/>
                <a:ea typeface="SimSun" panose="02010600030101010101" pitchFamily="2" charset="-122"/>
              </a:rPr>
              <a:t>亿美元。在这里，投资增加了</a:t>
            </a:r>
            <a:r>
              <a:rPr lang="en-US" altLang="zh-CN" sz="1209" dirty="0">
                <a:latin typeface="Garamond" panose="02020404030301010803" pitchFamily="18" charset="0"/>
                <a:ea typeface="SimSun" panose="02010600030101010101" pitchFamily="2" charset="-122"/>
              </a:rPr>
              <a:t>100</a:t>
            </a:r>
            <a:r>
              <a:rPr lang="zh-CN" altLang="en-US" sz="1209" dirty="0">
                <a:latin typeface="Garamond" panose="02020404030301010803" pitchFamily="18" charset="0"/>
                <a:ea typeface="SimSun" panose="02010600030101010101" pitchFamily="2" charset="-122"/>
              </a:rPr>
              <a:t>亿美元，收入增加</a:t>
            </a:r>
            <a:r>
              <a:rPr lang="en-US" altLang="zh-CN" sz="1209" dirty="0">
                <a:latin typeface="Garamond" panose="02020404030301010803" pitchFamily="18" charset="0"/>
                <a:ea typeface="SimSun" panose="02010600030101010101" pitchFamily="2" charset="-122"/>
              </a:rPr>
              <a:t>500</a:t>
            </a:r>
            <a:r>
              <a:rPr lang="zh-CN" altLang="en-US" sz="1209" dirty="0">
                <a:latin typeface="Garamond" panose="02020404030301010803" pitchFamily="18" charset="0"/>
                <a:ea typeface="SimSun" panose="02010600030101010101" pitchFamily="2" charset="-122"/>
              </a:rPr>
              <a:t>亿美元，增加的收入是增加的投资的</a:t>
            </a:r>
            <a:r>
              <a:rPr lang="en-US" altLang="zh-CN" sz="1209" dirty="0">
                <a:latin typeface="Garamond" panose="02020404030301010803" pitchFamily="18" charset="0"/>
                <a:ea typeface="SimSun" panose="02010600030101010101" pitchFamily="2" charset="-122"/>
              </a:rPr>
              <a:t>5</a:t>
            </a:r>
            <a:r>
              <a:rPr lang="zh-CN" altLang="en-US" sz="1209" dirty="0">
                <a:latin typeface="Garamond" panose="02020404030301010803" pitchFamily="18" charset="0"/>
                <a:ea typeface="SimSun" panose="02010600030101010101" pitchFamily="2" charset="-122"/>
              </a:rPr>
              <a:t>倍。</a:t>
            </a:r>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当总投资增加时，收入的增量将是投资增量的数倍。如果以</a:t>
            </a:r>
            <a:r>
              <a:rPr lang="en-US" altLang="zh-CN" sz="1209" dirty="0">
                <a:latin typeface="Garamond" panose="02020404030301010803" pitchFamily="18" charset="0"/>
                <a:ea typeface="SimSun" panose="02010600030101010101" pitchFamily="2" charset="-122"/>
              </a:rPr>
              <a:t>k</a:t>
            </a:r>
            <a:r>
              <a:rPr lang="zh-CN" altLang="en-US" sz="1209" dirty="0">
                <a:latin typeface="Garamond" panose="02020404030301010803" pitchFamily="18" charset="0"/>
                <a:ea typeface="SimSun" panose="02010600030101010101" pitchFamily="2" charset="-122"/>
              </a:rPr>
              <a:t>代表倍数，则</a:t>
            </a:r>
            <a:r>
              <a:rPr lang="en-US" altLang="zh-CN" sz="1209" dirty="0">
                <a:latin typeface="Garamond" panose="02020404030301010803" pitchFamily="18" charset="0"/>
                <a:ea typeface="SimSun" panose="02010600030101010101" pitchFamily="2" charset="-122"/>
              </a:rPr>
              <a:t>k</a:t>
            </a:r>
            <a:r>
              <a:rPr lang="zh-CN" altLang="en-US" sz="1209" dirty="0">
                <a:latin typeface="Garamond" panose="02020404030301010803" pitchFamily="18" charset="0"/>
                <a:ea typeface="SimSun" panose="02010600030101010101" pitchFamily="2" charset="-122"/>
              </a:rPr>
              <a:t>为投资乘数。</a:t>
            </a:r>
          </a:p>
        </p:txBody>
      </p:sp>
      <p:sp>
        <p:nvSpPr>
          <p:cNvPr id="6" name="标题 5">
            <a:extLst>
              <a:ext uri="{FF2B5EF4-FFF2-40B4-BE49-F238E27FC236}">
                <a16:creationId xmlns:a16="http://schemas.microsoft.com/office/drawing/2014/main" id="{226CE83A-E069-CEF0-6FA2-31CE50C66C02}"/>
              </a:ext>
            </a:extLst>
          </p:cNvPr>
          <p:cNvSpPr>
            <a:spLocks noGrp="1"/>
          </p:cNvSpPr>
          <p:nvPr>
            <p:ph type="title"/>
          </p:nvPr>
        </p:nvSpPr>
        <p:spPr/>
        <p:txBody>
          <a:bodyPr/>
          <a:lstStyle/>
          <a:p>
            <a:r>
              <a:rPr kumimoji="1" lang="zh-CN" altLang="en-US" dirty="0"/>
              <a:t>乘数产生的基本原理</a:t>
            </a:r>
          </a:p>
        </p:txBody>
      </p:sp>
      <p:sp>
        <p:nvSpPr>
          <p:cNvPr id="7" name="灯片编号占位符 2">
            <a:extLst>
              <a:ext uri="{FF2B5EF4-FFF2-40B4-BE49-F238E27FC236}">
                <a16:creationId xmlns:a16="http://schemas.microsoft.com/office/drawing/2014/main" id="{B727B440-7FE0-FB5C-6E8C-098EF9F8A8CB}"/>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62</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B5FDA32C-8F26-6DFC-9E84-D026A12AB1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33613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63</a:t>
            </a:fld>
            <a:endParaRPr lang="zh-CN" altLang="en-US"/>
          </a:p>
        </p:txBody>
      </p:sp>
      <p:grpSp>
        <p:nvGrpSpPr>
          <p:cNvPr id="30" name="组合 29"/>
          <p:cNvGrpSpPr/>
          <p:nvPr/>
        </p:nvGrpSpPr>
        <p:grpSpPr>
          <a:xfrm>
            <a:off x="320082" y="302076"/>
            <a:ext cx="3990898" cy="1293463"/>
            <a:chOff x="748564" y="1984409"/>
            <a:chExt cx="7923100" cy="2567903"/>
          </a:xfrm>
        </p:grpSpPr>
        <p:sp>
          <p:nvSpPr>
            <p:cNvPr id="7" name="文本框 6"/>
            <p:cNvSpPr txBox="1"/>
            <p:nvPr/>
          </p:nvSpPr>
          <p:spPr>
            <a:xfrm>
              <a:off x="2876611" y="2576904"/>
              <a:ext cx="916377" cy="1014687"/>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亿投资品</a:t>
              </a:r>
            </a:p>
          </p:txBody>
        </p:sp>
        <p:sp>
          <p:nvSpPr>
            <p:cNvPr id="9" name="文本框 8"/>
            <p:cNvSpPr txBox="1"/>
            <p:nvPr/>
          </p:nvSpPr>
          <p:spPr>
            <a:xfrm>
              <a:off x="6062712" y="1984409"/>
              <a:ext cx="712265"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工资</a:t>
              </a:r>
            </a:p>
          </p:txBody>
        </p:sp>
        <p:sp>
          <p:nvSpPr>
            <p:cNvPr id="10" name="文本框 9"/>
            <p:cNvSpPr txBox="1"/>
            <p:nvPr/>
          </p:nvSpPr>
          <p:spPr>
            <a:xfrm>
              <a:off x="6062712" y="2594523"/>
              <a:ext cx="712267"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利息</a:t>
              </a:r>
            </a:p>
          </p:txBody>
        </p:sp>
        <p:sp>
          <p:nvSpPr>
            <p:cNvPr id="11" name="文本框 10"/>
            <p:cNvSpPr txBox="1"/>
            <p:nvPr/>
          </p:nvSpPr>
          <p:spPr>
            <a:xfrm>
              <a:off x="6077149" y="3204635"/>
              <a:ext cx="697830"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利润</a:t>
              </a:r>
            </a:p>
          </p:txBody>
        </p:sp>
        <p:sp>
          <p:nvSpPr>
            <p:cNvPr id="12" name="文本框 11"/>
            <p:cNvSpPr txBox="1"/>
            <p:nvPr/>
          </p:nvSpPr>
          <p:spPr>
            <a:xfrm>
              <a:off x="6062710" y="3814752"/>
              <a:ext cx="712267"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租金</a:t>
              </a:r>
            </a:p>
          </p:txBody>
        </p:sp>
        <p:sp>
          <p:nvSpPr>
            <p:cNvPr id="13" name="文本框 12"/>
            <p:cNvSpPr txBox="1"/>
            <p:nvPr/>
          </p:nvSpPr>
          <p:spPr>
            <a:xfrm>
              <a:off x="7151569" y="2767613"/>
              <a:ext cx="1520095" cy="7375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消费者收入增加</a:t>
              </a: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a:t>
              </a:r>
            </a:p>
          </p:txBody>
        </p:sp>
        <p:sp>
          <p:nvSpPr>
            <p:cNvPr id="14" name="左大括号 13"/>
            <p:cNvSpPr/>
            <p:nvPr/>
          </p:nvSpPr>
          <p:spPr>
            <a:xfrm>
              <a:off x="5876223" y="2169075"/>
              <a:ext cx="186487" cy="183034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cxnSp>
          <p:nvCxnSpPr>
            <p:cNvPr id="16" name="直接箭头连接符 15"/>
            <p:cNvCxnSpPr>
              <a:cxnSpLocks/>
              <a:stCxn id="7" idx="3"/>
              <a:endCxn id="14" idx="1"/>
            </p:cNvCxnSpPr>
            <p:nvPr/>
          </p:nvCxnSpPr>
          <p:spPr>
            <a:xfrm>
              <a:off x="3792988" y="3084247"/>
              <a:ext cx="20832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矩形 17"/>
            <p:cNvSpPr/>
            <p:nvPr/>
          </p:nvSpPr>
          <p:spPr>
            <a:xfrm>
              <a:off x="3704202" y="2756380"/>
              <a:ext cx="1996019" cy="675694"/>
            </a:xfrm>
            <a:prstGeom prst="rect">
              <a:avLst/>
            </a:prstGeom>
          </p:spPr>
          <p:txBody>
            <a:bodyPr wrap="none">
              <a:spAutoFit/>
            </a:bodyPr>
            <a:lstStyle/>
            <a:p>
              <a:pPr algn="ctr"/>
              <a:r>
                <a:rPr lang="zh-CN" altLang="en-US" sz="806" dirty="0">
                  <a:latin typeface="Garamond" panose="02020404030301010803" pitchFamily="18" charset="0"/>
                  <a:ea typeface="SimSun" panose="02010600030101010101" pitchFamily="2" charset="-122"/>
                </a:rPr>
                <a:t>制造投资品所需要</a:t>
              </a:r>
              <a:endParaRPr lang="en-US" altLang="zh-CN" sz="806" dirty="0">
                <a:latin typeface="Garamond" panose="02020404030301010803" pitchFamily="18" charset="0"/>
                <a:ea typeface="SimSun" panose="02010600030101010101" pitchFamily="2" charset="-122"/>
              </a:endParaRPr>
            </a:p>
            <a:p>
              <a:pPr algn="ctr"/>
              <a:r>
                <a:rPr lang="zh-CN" altLang="en-US" sz="806" dirty="0">
                  <a:latin typeface="Garamond" panose="02020404030301010803" pitchFamily="18" charset="0"/>
                  <a:ea typeface="SimSun" panose="02010600030101010101" pitchFamily="2" charset="-122"/>
                </a:rPr>
                <a:t>的生产要素</a:t>
              </a:r>
            </a:p>
          </p:txBody>
        </p:sp>
        <p:sp>
          <p:nvSpPr>
            <p:cNvPr id="19" name="右大括号 18"/>
            <p:cNvSpPr/>
            <p:nvPr/>
          </p:nvSpPr>
          <p:spPr>
            <a:xfrm>
              <a:off x="6774979" y="2169075"/>
              <a:ext cx="206945" cy="183034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cxnSp>
          <p:nvCxnSpPr>
            <p:cNvPr id="21" name="直接箭头连接符 20"/>
            <p:cNvCxnSpPr>
              <a:cxnSpLocks/>
              <a:stCxn id="19" idx="1"/>
              <a:endCxn id="13" idx="1"/>
            </p:cNvCxnSpPr>
            <p:nvPr/>
          </p:nvCxnSpPr>
          <p:spPr>
            <a:xfrm>
              <a:off x="6981924" y="3084247"/>
              <a:ext cx="169645" cy="521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文本框 24"/>
            <p:cNvSpPr txBox="1"/>
            <p:nvPr/>
          </p:nvSpPr>
          <p:spPr>
            <a:xfrm>
              <a:off x="748564" y="2676387"/>
              <a:ext cx="1811274" cy="7375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投资增加</a:t>
              </a: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a:t>
              </a:r>
            </a:p>
          </p:txBody>
        </p:sp>
        <p:sp>
          <p:nvSpPr>
            <p:cNvPr id="28" name="箭头: 右 27"/>
            <p:cNvSpPr/>
            <p:nvPr/>
          </p:nvSpPr>
          <p:spPr>
            <a:xfrm>
              <a:off x="2516230" y="3039621"/>
              <a:ext cx="293397" cy="1174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grpSp>
      <p:sp>
        <p:nvSpPr>
          <p:cNvPr id="33" name="文本框 32"/>
          <p:cNvSpPr txBox="1"/>
          <p:nvPr/>
        </p:nvSpPr>
        <p:spPr>
          <a:xfrm>
            <a:off x="1527810" y="1486204"/>
            <a:ext cx="1537384" cy="200824"/>
          </a:xfrm>
          <a:prstGeom prst="rect">
            <a:avLst/>
          </a:prstGeom>
          <a:noFill/>
        </p:spPr>
        <p:txBody>
          <a:bodyPr wrap="square" rtlCol="0">
            <a:spAutoFit/>
          </a:bodyPr>
          <a:lstStyle/>
          <a:p>
            <a:r>
              <a:rPr lang="zh-CN" altLang="en-US" sz="705" b="1" dirty="0">
                <a:latin typeface="Garamond" panose="02020404030301010803" pitchFamily="18" charset="0"/>
                <a:ea typeface="SimSun" panose="02010600030101010101" pitchFamily="2" charset="-122"/>
              </a:rPr>
              <a:t>（投资对国民收入的第一轮增加）</a:t>
            </a:r>
          </a:p>
        </p:txBody>
      </p:sp>
      <p:sp>
        <p:nvSpPr>
          <p:cNvPr id="35" name="文本框 34"/>
          <p:cNvSpPr txBox="1"/>
          <p:nvPr/>
        </p:nvSpPr>
        <p:spPr>
          <a:xfrm>
            <a:off x="1421651" y="2186855"/>
            <a:ext cx="1306405" cy="511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生产消费品的生产要素</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所有者</a:t>
            </a:r>
          </a:p>
        </p:txBody>
      </p:sp>
      <p:sp>
        <p:nvSpPr>
          <p:cNvPr id="36" name="文本框 35"/>
          <p:cNvSpPr txBox="1"/>
          <p:nvPr/>
        </p:nvSpPr>
        <p:spPr>
          <a:xfrm>
            <a:off x="2996840" y="1789592"/>
            <a:ext cx="358772"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工资</a:t>
            </a:r>
          </a:p>
        </p:txBody>
      </p:sp>
      <p:sp>
        <p:nvSpPr>
          <p:cNvPr id="37" name="文本框 36"/>
          <p:cNvSpPr txBox="1"/>
          <p:nvPr/>
        </p:nvSpPr>
        <p:spPr>
          <a:xfrm>
            <a:off x="2996840" y="2096909"/>
            <a:ext cx="358773"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利息</a:t>
            </a:r>
          </a:p>
        </p:txBody>
      </p:sp>
      <p:sp>
        <p:nvSpPr>
          <p:cNvPr id="38" name="文本框 37"/>
          <p:cNvSpPr txBox="1"/>
          <p:nvPr/>
        </p:nvSpPr>
        <p:spPr>
          <a:xfrm>
            <a:off x="3004112" y="2404227"/>
            <a:ext cx="351500"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利润</a:t>
            </a:r>
          </a:p>
        </p:txBody>
      </p:sp>
      <p:sp>
        <p:nvSpPr>
          <p:cNvPr id="39" name="文本框 38"/>
          <p:cNvSpPr txBox="1"/>
          <p:nvPr/>
        </p:nvSpPr>
        <p:spPr>
          <a:xfrm>
            <a:off x="2996839" y="2711544"/>
            <a:ext cx="358773"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租金</a:t>
            </a:r>
          </a:p>
        </p:txBody>
      </p:sp>
      <p:sp>
        <p:nvSpPr>
          <p:cNvPr id="40" name="文本框 39"/>
          <p:cNvSpPr txBox="1"/>
          <p:nvPr/>
        </p:nvSpPr>
        <p:spPr>
          <a:xfrm>
            <a:off x="3620641" y="2180804"/>
            <a:ext cx="603868" cy="511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增加</a:t>
            </a:r>
            <a:r>
              <a:rPr lang="en-US" altLang="zh-CN" sz="907" dirty="0">
                <a:latin typeface="Garamond" panose="02020404030301010803" pitchFamily="18" charset="0"/>
                <a:ea typeface="SimSun" panose="02010600030101010101" pitchFamily="2" charset="-122"/>
              </a:rPr>
              <a:t>80</a:t>
            </a:r>
            <a:r>
              <a:rPr lang="zh-CN" altLang="en-US" sz="907" dirty="0">
                <a:latin typeface="Garamond" panose="02020404030301010803" pitchFamily="18" charset="0"/>
                <a:ea typeface="SimSun" panose="02010600030101010101" pitchFamily="2" charset="-122"/>
              </a:rPr>
              <a:t>亿</a:t>
            </a:r>
          </a:p>
        </p:txBody>
      </p:sp>
      <p:sp>
        <p:nvSpPr>
          <p:cNvPr id="41" name="左大括号 40"/>
          <p:cNvSpPr/>
          <p:nvPr/>
        </p:nvSpPr>
        <p:spPr>
          <a:xfrm>
            <a:off x="2902906" y="1882609"/>
            <a:ext cx="93935" cy="92195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44" name="右大括号 43"/>
          <p:cNvSpPr/>
          <p:nvPr/>
        </p:nvSpPr>
        <p:spPr>
          <a:xfrm>
            <a:off x="3355612" y="1882609"/>
            <a:ext cx="104239" cy="92195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46" name="文本框 45"/>
          <p:cNvSpPr txBox="1"/>
          <p:nvPr/>
        </p:nvSpPr>
        <p:spPr>
          <a:xfrm>
            <a:off x="298116" y="2180805"/>
            <a:ext cx="955902" cy="37151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社会居民收入增加</a:t>
            </a:r>
            <a:r>
              <a:rPr lang="en-US" altLang="zh-CN" sz="907" dirty="0">
                <a:latin typeface="Garamond" panose="02020404030301010803" pitchFamily="18" charset="0"/>
                <a:ea typeface="SimSun" panose="02010600030101010101" pitchFamily="2" charset="-122"/>
              </a:rPr>
              <a:t>80</a:t>
            </a:r>
            <a:r>
              <a:rPr lang="zh-CN" altLang="en-US" sz="907" dirty="0">
                <a:latin typeface="Garamond" panose="02020404030301010803" pitchFamily="18" charset="0"/>
                <a:ea typeface="SimSun" panose="02010600030101010101" pitchFamily="2" charset="-122"/>
              </a:rPr>
              <a:t>亿</a:t>
            </a:r>
          </a:p>
        </p:txBody>
      </p:sp>
      <p:sp>
        <p:nvSpPr>
          <p:cNvPr id="48" name="文本框 47"/>
          <p:cNvSpPr txBox="1"/>
          <p:nvPr/>
        </p:nvSpPr>
        <p:spPr>
          <a:xfrm>
            <a:off x="3809834" y="1023437"/>
            <a:ext cx="293157" cy="117311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vert="eaVert" wrap="square" rtlCol="0">
            <a:spAutoFit/>
          </a:bodyPr>
          <a:lstStyle/>
          <a:p>
            <a:r>
              <a:rPr lang="zh-CN" altLang="en-US" sz="705" dirty="0">
                <a:latin typeface="Garamond" panose="02020404030301010803" pitchFamily="18" charset="0"/>
                <a:ea typeface="SimSun" panose="02010600030101010101" pitchFamily="2" charset="-122"/>
              </a:rPr>
              <a:t>假定社会边际消费倾向为</a:t>
            </a:r>
            <a:r>
              <a:rPr lang="en-US" altLang="zh-CN" sz="705" dirty="0">
                <a:latin typeface="Garamond" panose="02020404030301010803" pitchFamily="18" charset="0"/>
                <a:ea typeface="SimSun" panose="02010600030101010101" pitchFamily="2" charset="-122"/>
              </a:rPr>
              <a:t>0.8</a:t>
            </a:r>
            <a:endParaRPr lang="zh-CN" altLang="en-US" sz="705" dirty="0">
              <a:latin typeface="Garamond" panose="02020404030301010803" pitchFamily="18" charset="0"/>
              <a:ea typeface="SimSun" panose="02010600030101010101" pitchFamily="2" charset="-122"/>
            </a:endParaRPr>
          </a:p>
        </p:txBody>
      </p:sp>
      <p:cxnSp>
        <p:nvCxnSpPr>
          <p:cNvPr id="51" name="直接箭头连接符 50"/>
          <p:cNvCxnSpPr>
            <a:cxnSpLocks/>
          </p:cNvCxnSpPr>
          <p:nvPr/>
        </p:nvCxnSpPr>
        <p:spPr>
          <a:xfrm>
            <a:off x="3928140" y="1022140"/>
            <a:ext cx="0" cy="11688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a:stCxn id="40" idx="1"/>
            <a:endCxn id="44" idx="1"/>
          </p:cNvCxnSpPr>
          <p:nvPr/>
        </p:nvCxnSpPr>
        <p:spPr>
          <a:xfrm flipH="1" flipV="1">
            <a:off x="3459851" y="2343584"/>
            <a:ext cx="160790" cy="927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p:cNvCxnSpPr>
            <a:cxnSpLocks/>
            <a:stCxn id="41" idx="1"/>
            <a:endCxn id="35" idx="3"/>
          </p:cNvCxnSpPr>
          <p:nvPr/>
        </p:nvCxnSpPr>
        <p:spPr>
          <a:xfrm flipH="1">
            <a:off x="2728056" y="2343584"/>
            <a:ext cx="174850" cy="98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箭头: 右 63"/>
          <p:cNvSpPr/>
          <p:nvPr/>
        </p:nvSpPr>
        <p:spPr>
          <a:xfrm rot="10800000">
            <a:off x="1267363" y="2314000"/>
            <a:ext cx="147785" cy="5916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65" name="文本框 64"/>
          <p:cNvSpPr txBox="1"/>
          <p:nvPr/>
        </p:nvSpPr>
        <p:spPr>
          <a:xfrm>
            <a:off x="1527810" y="2894671"/>
            <a:ext cx="1537384" cy="200824"/>
          </a:xfrm>
          <a:prstGeom prst="rect">
            <a:avLst/>
          </a:prstGeom>
          <a:noFill/>
        </p:spPr>
        <p:txBody>
          <a:bodyPr wrap="square" rtlCol="0">
            <a:spAutoFit/>
          </a:bodyPr>
          <a:lstStyle/>
          <a:p>
            <a:r>
              <a:rPr lang="zh-CN" altLang="en-US" sz="705" b="1" dirty="0">
                <a:latin typeface="Garamond" panose="02020404030301010803" pitchFamily="18" charset="0"/>
                <a:ea typeface="SimSun" panose="02010600030101010101" pitchFamily="2" charset="-122"/>
              </a:rPr>
              <a:t>（投资对国民收入的第二轮增加）</a:t>
            </a:r>
          </a:p>
        </p:txBody>
      </p:sp>
      <p:cxnSp>
        <p:nvCxnSpPr>
          <p:cNvPr id="67" name="直接箭头连接符 66"/>
          <p:cNvCxnSpPr>
            <a:stCxn id="46" idx="2"/>
          </p:cNvCxnSpPr>
          <p:nvPr/>
        </p:nvCxnSpPr>
        <p:spPr>
          <a:xfrm>
            <a:off x="776067" y="2552317"/>
            <a:ext cx="0" cy="159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文本框 67"/>
          <p:cNvSpPr txBox="1"/>
          <p:nvPr/>
        </p:nvSpPr>
        <p:spPr>
          <a:xfrm>
            <a:off x="474133" y="2701963"/>
            <a:ext cx="603868" cy="51110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增加</a:t>
            </a:r>
            <a:r>
              <a:rPr lang="en-US" altLang="zh-CN" sz="907" dirty="0">
                <a:latin typeface="Garamond" panose="02020404030301010803" pitchFamily="18" charset="0"/>
                <a:ea typeface="SimSun" panose="02010600030101010101" pitchFamily="2" charset="-122"/>
              </a:rPr>
              <a:t>64</a:t>
            </a:r>
            <a:r>
              <a:rPr lang="zh-CN" altLang="en-US" sz="907" dirty="0">
                <a:latin typeface="Garamond" panose="02020404030301010803" pitchFamily="18" charset="0"/>
                <a:ea typeface="SimSun" panose="02010600030101010101" pitchFamily="2" charset="-122"/>
              </a:rPr>
              <a:t>亿</a:t>
            </a:r>
          </a:p>
        </p:txBody>
      </p:sp>
      <p:cxnSp>
        <p:nvCxnSpPr>
          <p:cNvPr id="70" name="直接箭头连接符 69"/>
          <p:cNvCxnSpPr>
            <a:cxnSpLocks/>
          </p:cNvCxnSpPr>
          <p:nvPr/>
        </p:nvCxnSpPr>
        <p:spPr>
          <a:xfrm>
            <a:off x="1031035" y="2861032"/>
            <a:ext cx="206353" cy="37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文本框 70"/>
          <p:cNvSpPr txBox="1"/>
          <p:nvPr/>
        </p:nvSpPr>
        <p:spPr>
          <a:xfrm>
            <a:off x="1151568" y="2737083"/>
            <a:ext cx="603868" cy="37151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altLang="zh-CN" sz="907" dirty="0">
                <a:latin typeface="Garamond" panose="02020404030301010803" pitchFamily="18" charset="0"/>
                <a:ea typeface="SimSun" panose="02010600030101010101" pitchFamily="2" charset="-122"/>
              </a:rPr>
              <a:t>…………</a:t>
            </a:r>
            <a:endParaRPr lang="zh-CN" altLang="en-US" sz="907" dirty="0">
              <a:latin typeface="Garamond" panose="02020404030301010803" pitchFamily="18" charset="0"/>
              <a:ea typeface="SimSun" panose="02010600030101010101" pitchFamily="2" charset="-122"/>
            </a:endParaRPr>
          </a:p>
        </p:txBody>
      </p:sp>
      <p:sp>
        <p:nvSpPr>
          <p:cNvPr id="17" name="灯片编号占位符 2">
            <a:extLst>
              <a:ext uri="{FF2B5EF4-FFF2-40B4-BE49-F238E27FC236}">
                <a16:creationId xmlns:a16="http://schemas.microsoft.com/office/drawing/2014/main" id="{0464DF4D-D6B8-718C-5125-19B07B0ECAF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63</a:t>
            </a:fld>
            <a:endParaRPr lang="zh-CN" altLang="zh-CN" sz="856" dirty="0">
              <a:solidFill>
                <a:srgbClr val="777777"/>
              </a:solidFill>
              <a:ea typeface="宋体" panose="02010600030101010101" pitchFamily="2" charset="-122"/>
            </a:endParaRPr>
          </a:p>
        </p:txBody>
      </p:sp>
      <p:sp>
        <p:nvSpPr>
          <p:cNvPr id="20" name="页脚占位符 1">
            <a:extLst>
              <a:ext uri="{FF2B5EF4-FFF2-40B4-BE49-F238E27FC236}">
                <a16:creationId xmlns:a16="http://schemas.microsoft.com/office/drawing/2014/main" id="{B6FEF047-A989-A514-FE9D-E755B32C123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112707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国民收入的增加过程为：</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sz="1209" i="1" dirty="0">
                        <a:latin typeface="Cambria Math" panose="02040503050406030204" pitchFamily="18" charset="0"/>
                      </a:rPr>
                      <m:t>100+100</m:t>
                    </m:r>
                    <m:r>
                      <a:rPr lang="zh-CN" altLang="en-US" sz="1209" i="1" dirty="0">
                        <a:latin typeface="Cambria Math" panose="02040503050406030204" pitchFamily="18" charset="0"/>
                      </a:rPr>
                      <m:t>∗</m:t>
                    </m:r>
                    <m:r>
                      <a:rPr lang="en-US" altLang="zh-CN" sz="1209" i="1" dirty="0">
                        <a:latin typeface="Cambria Math" panose="02040503050406030204" pitchFamily="18" charset="0"/>
                      </a:rPr>
                      <m:t>0.8+100</m:t>
                    </m:r>
                    <m:r>
                      <a:rPr lang="zh-CN" altLang="en-US" sz="1209" i="1" dirty="0">
                        <a:latin typeface="Cambria Math" panose="02040503050406030204" pitchFamily="18" charset="0"/>
                      </a:rPr>
                      <m:t>∗</m:t>
                    </m:r>
                    <m:r>
                      <a:rPr lang="en-US" altLang="zh-CN" sz="1209" i="1" dirty="0">
                        <a:latin typeface="Cambria Math" panose="02040503050406030204" pitchFamily="18" charset="0"/>
                      </a:rPr>
                      <m:t>0.8</m:t>
                    </m:r>
                    <m:r>
                      <a:rPr lang="zh-CN" altLang="en-US" sz="1209" i="1" dirty="0">
                        <a:latin typeface="Cambria Math" panose="02040503050406030204" pitchFamily="18" charset="0"/>
                      </a:rPr>
                      <m:t>∗</m:t>
                    </m:r>
                    <m:r>
                      <a:rPr lang="en-US" altLang="zh-CN" sz="1209" i="1" dirty="0">
                        <a:latin typeface="Cambria Math" panose="02040503050406030204" pitchFamily="18" charset="0"/>
                      </a:rPr>
                      <m:t>0.8+…+100</m:t>
                    </m:r>
                    <m:r>
                      <a:rPr lang="zh-CN" altLang="en-US" sz="1209" i="1" dirty="0">
                        <a:latin typeface="Cambria Math" panose="02040503050406030204" pitchFamily="18" charset="0"/>
                      </a:rPr>
                      <m:t>∗</m:t>
                    </m:r>
                    <m:sSup>
                      <m:sSupPr>
                        <m:ctrlPr>
                          <a:rPr lang="en-US" altLang="zh-CN" sz="1209" i="1" dirty="0">
                            <a:latin typeface="Cambria Math" panose="02040503050406030204" pitchFamily="18" charset="0"/>
                          </a:rPr>
                        </m:ctrlPr>
                      </m:sSupPr>
                      <m:e>
                        <m:r>
                          <a:rPr lang="en-US" altLang="zh-CN" sz="1209" i="1" dirty="0">
                            <a:latin typeface="Cambria Math" panose="02040503050406030204" pitchFamily="18" charset="0"/>
                          </a:rPr>
                          <m:t>0.8</m:t>
                        </m:r>
                      </m:e>
                      <m:sup>
                        <m:r>
                          <a:rPr lang="en-US" altLang="zh-CN" sz="1209" i="1" dirty="0">
                            <a:latin typeface="Cambria Math" panose="02040503050406030204" pitchFamily="18" charset="0"/>
                          </a:rPr>
                          <m:t>𝑛</m:t>
                        </m:r>
                        <m:r>
                          <a:rPr lang="en-US" altLang="zh-CN" sz="1209" i="1" dirty="0">
                            <a:latin typeface="Cambria Math" panose="02040503050406030204" pitchFamily="18" charset="0"/>
                          </a:rPr>
                          <m:t>−1</m:t>
                        </m:r>
                      </m:sup>
                    </m:sSup>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=100</m:t>
                    </m:r>
                    <m:d>
                      <m:dPr>
                        <m:ctrlPr>
                          <a:rPr lang="en-US" altLang="zh-CN" sz="1209" i="1">
                            <a:latin typeface="Cambria Math" panose="02040503050406030204" pitchFamily="18" charset="0"/>
                          </a:rPr>
                        </m:ctrlPr>
                      </m:dPr>
                      <m:e>
                        <m:r>
                          <a:rPr lang="en-US" altLang="zh-CN" sz="1209" i="1">
                            <a:latin typeface="Cambria Math" panose="02040503050406030204" pitchFamily="18" charset="0"/>
                          </a:rPr>
                          <m:t>1+0.8+</m:t>
                        </m:r>
                        <m:sSup>
                          <m:sSupPr>
                            <m:ctrlPr>
                              <a:rPr lang="en-US" altLang="zh-CN" sz="1209" i="1">
                                <a:latin typeface="Cambria Math" panose="02040503050406030204" pitchFamily="18" charset="0"/>
                              </a:rPr>
                            </m:ctrlPr>
                          </m:sSupPr>
                          <m:e>
                            <m:r>
                              <a:rPr lang="en-US" altLang="zh-CN" sz="1209" i="1">
                                <a:latin typeface="Cambria Math" panose="02040503050406030204" pitchFamily="18" charset="0"/>
                              </a:rPr>
                              <m:t>0.8</m:t>
                            </m:r>
                          </m:e>
                          <m:sup>
                            <m:r>
                              <a:rPr lang="en-US" altLang="zh-CN" sz="1209" i="1">
                                <a:latin typeface="Cambria Math" panose="02040503050406030204" pitchFamily="18" charset="0"/>
                              </a:rPr>
                              <m:t>2</m:t>
                            </m:r>
                          </m:sup>
                        </m:sSup>
                        <m:r>
                          <a:rPr lang="en-US" altLang="zh-CN" sz="1209" i="1">
                            <a:latin typeface="Cambria Math" panose="02040503050406030204" pitchFamily="18" charset="0"/>
                          </a:rPr>
                          <m:t>+…+</m:t>
                        </m:r>
                        <m:sSup>
                          <m:sSupPr>
                            <m:ctrlPr>
                              <a:rPr lang="en-US" altLang="zh-CN" sz="1209" i="1">
                                <a:latin typeface="Cambria Math" panose="02040503050406030204" pitchFamily="18" charset="0"/>
                              </a:rPr>
                            </m:ctrlPr>
                          </m:sSupPr>
                          <m:e>
                            <m:r>
                              <a:rPr lang="en-US" altLang="zh-CN" sz="1209" i="1">
                                <a:latin typeface="Cambria Math" panose="02040503050406030204" pitchFamily="18" charset="0"/>
                              </a:rPr>
                              <m:t>0.8</m:t>
                            </m:r>
                          </m:e>
                          <m:sup>
                            <m:r>
                              <a:rPr lang="en-US" altLang="zh-CN" sz="1209" i="1">
                                <a:latin typeface="Cambria Math" panose="02040503050406030204" pitchFamily="18" charset="0"/>
                              </a:rPr>
                              <m:t>𝑛</m:t>
                            </m:r>
                            <m:r>
                              <a:rPr lang="en-US" altLang="zh-CN" sz="1209" i="1">
                                <a:latin typeface="Cambria Math" panose="02040503050406030204" pitchFamily="18" charset="0"/>
                              </a:rPr>
                              <m:t>−1</m:t>
                            </m:r>
                          </m:sup>
                        </m:sSup>
                      </m:e>
                    </m:d>
                  </m:oMath>
                </a14:m>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=100∗</m:t>
                    </m:r>
                    <m:d>
                      <m:dPr>
                        <m:ctrlPr>
                          <a:rPr lang="en-US" altLang="zh-CN" sz="1209" i="1">
                            <a:latin typeface="Cambria Math" panose="02040503050406030204" pitchFamily="18" charset="0"/>
                          </a:rPr>
                        </m:ctrlPr>
                      </m:dPr>
                      <m:e>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1−0.8</m:t>
                            </m:r>
                          </m:den>
                        </m:f>
                      </m:e>
                    </m:d>
                  </m:oMath>
                </a14:m>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=500</m:t>
                    </m:r>
                  </m:oMath>
                </a14:m>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即乘数</a:t>
                </a:r>
                <a:r>
                  <a:rPr lang="en-US" altLang="zh-CN" sz="1209" dirty="0">
                    <a:latin typeface="Garamond" panose="02020404030301010803" pitchFamily="18" charset="0"/>
                    <a:ea typeface="SimSun" panose="02010600030101010101" pitchFamily="2" charset="-122"/>
                  </a:rPr>
                  <a:t>=</a:t>
                </a:r>
                <a14:m>
                  <m:oMath xmlns:m="http://schemas.openxmlformats.org/officeDocument/2006/math">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m:t>
                        </m:r>
                        <m:r>
                          <a:rPr lang="zh-CN" altLang="en-US" sz="1209" i="1">
                            <a:latin typeface="Cambria Math" panose="02040503050406030204" pitchFamily="18" charset="0"/>
                          </a:rPr>
                          <m:t>边际消费倾向</m:t>
                        </m:r>
                      </m:den>
                    </m:f>
                    <m:r>
                      <a:rPr lang="zh-CN" altLang="en-US" sz="1209" i="1">
                        <a:latin typeface="Cambria Math" panose="02040503050406030204" pitchFamily="18" charset="0"/>
                      </a:rPr>
                      <m:t>或</m:t>
                    </m:r>
                    <m:r>
                      <a:rPr lang="en-US" altLang="zh-CN" sz="1209" i="1">
                        <a:latin typeface="Cambria Math" panose="02040503050406030204" pitchFamily="18" charset="0"/>
                      </a:rPr>
                      <m:t>𝑘</m:t>
                    </m:r>
                    <m:r>
                      <a:rPr lang="en-US" altLang="zh-CN" sz="1209" i="1">
                        <a:latin typeface="Cambria Math" panose="02040503050406030204" pitchFamily="18" charset="0"/>
                      </a:rPr>
                      <m:t>=</m:t>
                    </m:r>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m:t>
                        </m:r>
                        <m:r>
                          <a:rPr lang="en-US" altLang="zh-CN" sz="1209" i="1">
                            <a:latin typeface="Cambria Math" panose="02040503050406030204" pitchFamily="18" charset="0"/>
                          </a:rPr>
                          <m:t>𝑀𝑃𝐶</m:t>
                        </m:r>
                      </m:den>
                    </m:f>
                    <m:r>
                      <a:rPr lang="en-US" altLang="zh-CN" sz="1209" i="1">
                        <a:latin typeface="Cambria Math" panose="02040503050406030204" pitchFamily="18" charset="0"/>
                      </a:rPr>
                      <m:t>=</m:t>
                    </m:r>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𝑀𝑃𝑆</m:t>
                        </m:r>
                      </m:den>
                    </m:f>
                  </m:oMath>
                </a14:m>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用</a:t>
                </a:r>
                <a14:m>
                  <m:oMath xmlns:m="http://schemas.openxmlformats.org/officeDocument/2006/math">
                    <m:r>
                      <m:rPr>
                        <m:sty m:val="p"/>
                      </m:rPr>
                      <a:rPr lang="zh-CN" altLang="en-US" sz="1209">
                        <a:latin typeface="Cambria Math" panose="02040503050406030204" pitchFamily="18" charset="0"/>
                        <a:ea typeface="Cambria Math" panose="02040503050406030204" pitchFamily="18" charset="0"/>
                      </a:rPr>
                      <m:t>β</m:t>
                    </m:r>
                  </m:oMath>
                </a14:m>
                <a:r>
                  <a:rPr lang="zh-CN" altLang="en-US" sz="1209" dirty="0">
                    <a:latin typeface="Garamond" panose="02020404030301010803" pitchFamily="18" charset="0"/>
                    <a:ea typeface="SimSun" panose="02010600030101010101" pitchFamily="2" charset="-122"/>
                  </a:rPr>
                  <a:t>表示可支配收入的边际消费倾向，则投资乘数</a:t>
                </a:r>
                <a:r>
                  <a:rPr lang="en-US" altLang="zh-CN" sz="1209" dirty="0">
                    <a:latin typeface="Garamond" panose="02020404030301010803" pitchFamily="18" charset="0"/>
                    <a:ea typeface="SimSun" panose="02010600030101010101" pitchFamily="2" charset="-122"/>
                  </a:rPr>
                  <a:t>:</a:t>
                </a:r>
              </a:p>
              <a:p>
                <a14:m>
                  <m:oMath xmlns:m="http://schemas.openxmlformats.org/officeDocument/2006/math">
                    <m:sSub>
                      <m:sSubPr>
                        <m:ctrlPr>
                          <a:rPr lang="en-US" altLang="zh-CN" sz="1209" i="1">
                            <a:latin typeface="Cambria Math" panose="02040503050406030204" pitchFamily="18" charset="0"/>
                            <a:ea typeface="楷体" panose="02010609060101010101" pitchFamily="49" charset="-122"/>
                          </a:rPr>
                        </m:ctrlPr>
                      </m:sSubPr>
                      <m:e>
                        <m:r>
                          <a:rPr lang="en-US" altLang="zh-CN" sz="1209" i="1">
                            <a:latin typeface="Cambria Math" panose="02040503050406030204" pitchFamily="18" charset="0"/>
                            <a:ea typeface="楷体" panose="02010609060101010101" pitchFamily="49" charset="-122"/>
                          </a:rPr>
                          <m:t>𝑘</m:t>
                        </m:r>
                      </m:e>
                      <m:sub>
                        <m:r>
                          <a:rPr lang="en-US" altLang="zh-CN" sz="1209" i="1">
                            <a:latin typeface="Cambria Math" panose="02040503050406030204" pitchFamily="18" charset="0"/>
                            <a:ea typeface="楷体" panose="02010609060101010101" pitchFamily="49" charset="-122"/>
                          </a:rPr>
                          <m:t>𝑖</m:t>
                        </m:r>
                      </m:sub>
                    </m:sSub>
                    <m:r>
                      <a:rPr lang="en-US" altLang="zh-CN" sz="1209" i="1">
                        <a:latin typeface="Cambria Math" panose="02040503050406030204" pitchFamily="18" charset="0"/>
                        <a:ea typeface="楷体" panose="02010609060101010101" pitchFamily="49" charset="-122"/>
                      </a:rPr>
                      <m:t>=</m:t>
                    </m:r>
                    <m:f>
                      <m:fPr>
                        <m:ctrlPr>
                          <a:rPr lang="en-US" altLang="zh-CN" sz="1209" i="1">
                            <a:latin typeface="Cambria Math" panose="02040503050406030204" pitchFamily="18" charset="0"/>
                            <a:ea typeface="楷体" panose="02010609060101010101" pitchFamily="49" charset="-122"/>
                          </a:rPr>
                        </m:ctrlPr>
                      </m:fPr>
                      <m:num>
                        <m:r>
                          <a:rPr lang="en-US" altLang="zh-CN" sz="1209" i="1">
                            <a:latin typeface="Cambria Math" panose="02040503050406030204" pitchFamily="18" charset="0"/>
                            <a:ea typeface="楷体" panose="02010609060101010101" pitchFamily="49" charset="-122"/>
                          </a:rPr>
                          <m:t>1</m:t>
                        </m:r>
                      </m:num>
                      <m:den>
                        <m:r>
                          <a:rPr lang="en-US" altLang="zh-CN" sz="1209" i="1">
                            <a:latin typeface="Cambria Math" panose="02040503050406030204" pitchFamily="18" charset="0"/>
                            <a:ea typeface="楷体" panose="02010609060101010101" pitchFamily="49" charset="-122"/>
                          </a:rPr>
                          <m:t>1−</m:t>
                        </m:r>
                        <m:r>
                          <m:rPr>
                            <m:sty m:val="p"/>
                          </m:rPr>
                          <a:rPr lang="zh-CN" altLang="en-US" sz="1209">
                            <a:latin typeface="Cambria Math" panose="02040503050406030204" pitchFamily="18" charset="0"/>
                            <a:ea typeface="Cambria Math" panose="02040503050406030204" pitchFamily="18" charset="0"/>
                          </a:rPr>
                          <m:t>β</m:t>
                        </m:r>
                      </m:den>
                    </m:f>
                  </m:oMath>
                </a14:m>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b="-487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64</a:t>
            </a:fld>
            <a:endParaRPr lang="zh-CN" altLang="en-US"/>
          </a:p>
        </p:txBody>
      </p:sp>
      <p:sp>
        <p:nvSpPr>
          <p:cNvPr id="7" name="灯片编号占位符 2">
            <a:extLst>
              <a:ext uri="{FF2B5EF4-FFF2-40B4-BE49-F238E27FC236}">
                <a16:creationId xmlns:a16="http://schemas.microsoft.com/office/drawing/2014/main" id="{DB2A5B42-C5E4-CD87-14D3-01CF7D3A83B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64</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70155F3-911B-3349-DAFA-9599389CBEF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1C423FAF-110A-D95A-8618-CB9BAE5DA5AB}"/>
              </a:ext>
            </a:extLst>
          </p:cNvPr>
          <p:cNvSpPr>
            <a:spLocks noGrp="1"/>
          </p:cNvSpPr>
          <p:nvPr>
            <p:ph type="title"/>
          </p:nvPr>
        </p:nvSpPr>
        <p:spPr/>
        <p:txBody>
          <a:bodyPr/>
          <a:lstStyle/>
          <a:p>
            <a:r>
              <a:rPr kumimoji="1" lang="zh-CN" altLang="en-US" dirty="0"/>
              <a:t>公式推导</a:t>
            </a:r>
          </a:p>
        </p:txBody>
      </p:sp>
    </p:spTree>
    <p:extLst>
      <p:ext uri="{BB962C8B-B14F-4D97-AF65-F5344CB8AC3E}">
        <p14:creationId xmlns:p14="http://schemas.microsoft.com/office/powerpoint/2010/main" val="2718289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xf13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101" y="622792"/>
            <a:ext cx="2900504" cy="2005184"/>
          </a:xfrm>
          <a:prstGeom prst="rect">
            <a:avLst/>
          </a:prstGeom>
          <a:noFill/>
          <a:extLst>
            <a:ext uri="{909E8E84-426E-40DD-AFC4-6F175D3DCCD1}">
              <a14:hiddenFill xmlns:a14="http://schemas.microsoft.com/office/drawing/2010/main">
                <a:solidFill>
                  <a:srgbClr val="FFFFFF"/>
                </a:solidFill>
              </a14:hiddenFill>
            </a:ext>
          </a:extLst>
        </p:spPr>
      </p:pic>
      <p:sp>
        <p:nvSpPr>
          <p:cNvPr id="47109" name="Text Box 5"/>
          <p:cNvSpPr txBox="1">
            <a:spLocks noChangeArrowheads="1"/>
          </p:cNvSpPr>
          <p:nvPr/>
        </p:nvSpPr>
        <p:spPr bwMode="auto">
          <a:xfrm>
            <a:off x="593682" y="2640515"/>
            <a:ext cx="3155342" cy="27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209" dirty="0"/>
              <a:t>凯恩斯交叉</a:t>
            </a:r>
          </a:p>
        </p:txBody>
      </p:sp>
      <p:sp>
        <p:nvSpPr>
          <p:cNvPr id="5" name="灯片编号占位符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65</a:t>
            </a:fld>
            <a:endParaRPr lang="zh-CN" altLang="en-US"/>
          </a:p>
        </p:txBody>
      </p:sp>
      <p:sp>
        <p:nvSpPr>
          <p:cNvPr id="6" name="标题 5">
            <a:extLst>
              <a:ext uri="{FF2B5EF4-FFF2-40B4-BE49-F238E27FC236}">
                <a16:creationId xmlns:a16="http://schemas.microsoft.com/office/drawing/2014/main" id="{E89CA3BF-9773-8033-5EF5-FEE7B978A8E8}"/>
              </a:ext>
            </a:extLst>
          </p:cNvPr>
          <p:cNvSpPr>
            <a:spLocks noGrp="1"/>
          </p:cNvSpPr>
          <p:nvPr>
            <p:ph type="title"/>
          </p:nvPr>
        </p:nvSpPr>
        <p:spPr/>
        <p:txBody>
          <a:bodyPr/>
          <a:lstStyle/>
          <a:p>
            <a:r>
              <a:rPr kumimoji="1" lang="zh-CN" altLang="en-US" dirty="0"/>
              <a:t>乘数效应</a:t>
            </a:r>
          </a:p>
        </p:txBody>
      </p:sp>
      <p:sp>
        <p:nvSpPr>
          <p:cNvPr id="7" name="灯片编号占位符 2">
            <a:extLst>
              <a:ext uri="{FF2B5EF4-FFF2-40B4-BE49-F238E27FC236}">
                <a16:creationId xmlns:a16="http://schemas.microsoft.com/office/drawing/2014/main" id="{B04866B2-674D-6DC9-6513-6FF28076C9D5}"/>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65</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9D83DBB-877E-0160-C3AC-CB7DA75AAA5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794368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66</a:t>
            </a:fld>
            <a:endParaRPr lang="zh-CN" altLang="en-US"/>
          </a:p>
        </p:txBody>
      </p:sp>
      <p:sp>
        <p:nvSpPr>
          <p:cNvPr id="8" name="内容占位符 2"/>
          <p:cNvSpPr>
            <a:spLocks noGrp="1"/>
          </p:cNvSpPr>
          <p:nvPr>
            <p:ph idx="1"/>
          </p:nvPr>
        </p:nvSpPr>
        <p:spPr>
          <a:xfrm>
            <a:off x="222559" y="578247"/>
            <a:ext cx="3972563" cy="2191787"/>
          </a:xfrm>
        </p:spPr>
        <p:txBody>
          <a:bodyPr/>
          <a:lstStyle/>
          <a:p>
            <a:r>
              <a:rPr lang="zh-CN" altLang="en-US" sz="1209" dirty="0">
                <a:latin typeface="Garamond" panose="02020404030301010803" pitchFamily="18" charset="0"/>
                <a:ea typeface="SimSun" panose="02010600030101010101" pitchFamily="2" charset="-122"/>
              </a:rPr>
              <a:t>两部门经济的宏观均衡条件：</a:t>
            </a:r>
            <a:r>
              <a:rPr lang="en-US" altLang="zh-CN" sz="1209" dirty="0">
                <a:latin typeface="Garamond" panose="02020404030301010803" pitchFamily="18" charset="0"/>
                <a:ea typeface="SimSun" panose="02010600030101010101" pitchFamily="2" charset="-122"/>
              </a:rPr>
              <a:t> </a:t>
            </a:r>
            <a:r>
              <a:rPr lang="en-US" altLang="zh-CN" sz="1209" dirty="0">
                <a:latin typeface="Garamond" panose="02020404030301010803" pitchFamily="18" charset="0"/>
                <a:ea typeface="SimSun" panose="02010600030101010101" pitchFamily="2" charset="-122"/>
                <a:cs typeface="Times New Roman" panose="02020603050405020304" pitchFamily="18" charset="0"/>
              </a:rPr>
              <a:t>I =S</a:t>
            </a:r>
          </a:p>
          <a:p>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cs typeface="Times New Roman" panose="02020603050405020304" pitchFamily="18" charset="0"/>
            </a:endParaRPr>
          </a:p>
        </p:txBody>
      </p:sp>
      <p:sp>
        <p:nvSpPr>
          <p:cNvPr id="5" name="标题 4">
            <a:extLst>
              <a:ext uri="{FF2B5EF4-FFF2-40B4-BE49-F238E27FC236}">
                <a16:creationId xmlns:a16="http://schemas.microsoft.com/office/drawing/2014/main" id="{BC167B5F-9649-0B1E-A3AF-F8AA44FDE01E}"/>
              </a:ext>
            </a:extLst>
          </p:cNvPr>
          <p:cNvSpPr>
            <a:spLocks noGrp="1"/>
          </p:cNvSpPr>
          <p:nvPr>
            <p:ph type="title"/>
          </p:nvPr>
        </p:nvSpPr>
        <p:spPr/>
        <p:txBody>
          <a:bodyPr/>
          <a:lstStyle/>
          <a:p>
            <a:r>
              <a:rPr kumimoji="1" lang="zh-CN" altLang="en-US" dirty="0"/>
              <a:t>两部门经济的</a:t>
            </a:r>
            <a:r>
              <a:rPr kumimoji="1" lang="en-US" altLang="zh-CN" dirty="0"/>
              <a:t>AE-NI</a:t>
            </a:r>
            <a:r>
              <a:rPr kumimoji="1" lang="zh-CN" altLang="en-US" dirty="0"/>
              <a:t>模型</a:t>
            </a:r>
          </a:p>
        </p:txBody>
      </p:sp>
      <p:sp>
        <p:nvSpPr>
          <p:cNvPr id="6" name="灯片编号占位符 2">
            <a:extLst>
              <a:ext uri="{FF2B5EF4-FFF2-40B4-BE49-F238E27FC236}">
                <a16:creationId xmlns:a16="http://schemas.microsoft.com/office/drawing/2014/main" id="{D64A61C2-6D3F-5C78-7741-DE106DF3360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66</a:t>
            </a:fld>
            <a:endParaRPr lang="zh-CN" altLang="zh-CN" sz="856" dirty="0">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B3691186-F494-073A-0EC0-1DF886FA6F5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277977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67</a:t>
            </a:fld>
            <a:endParaRPr lang="zh-CN" altLang="en-US"/>
          </a:p>
        </p:txBody>
      </p:sp>
      <p:sp>
        <p:nvSpPr>
          <p:cNvPr id="8" name="内容占位符 2"/>
          <p:cNvSpPr>
            <a:spLocks noGrp="1"/>
          </p:cNvSpPr>
          <p:nvPr>
            <p:ph idx="1"/>
          </p:nvPr>
        </p:nvSpPr>
        <p:spPr>
          <a:xfrm>
            <a:off x="222559" y="578247"/>
            <a:ext cx="3972563" cy="2191787"/>
          </a:xfrm>
        </p:spPr>
        <p:txBody>
          <a:bodyPr/>
          <a:lstStyle/>
          <a:p>
            <a:r>
              <a:rPr lang="zh-CN" altLang="en-US" b="1" dirty="0">
                <a:latin typeface="Garamond" panose="02020404030301010803" pitchFamily="18" charset="0"/>
                <a:ea typeface="SimSun" panose="02010600030101010101" pitchFamily="2" charset="-122"/>
              </a:rPr>
              <a:t>加入政府的三部门经济：</a:t>
            </a:r>
            <a:endParaRPr lang="en-US" altLang="zh-CN" b="1"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从总支出角度看，国民收入</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消费</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投资</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政府购买</a:t>
            </a:r>
            <a:endParaRPr lang="en-US" altLang="zh-CN" sz="1209" dirty="0">
              <a:latin typeface="Garamond" panose="02020404030301010803" pitchFamily="18" charset="0"/>
              <a:ea typeface="SimSun" panose="02010600030101010101" pitchFamily="2" charset="-122"/>
            </a:endParaRPr>
          </a:p>
          <a:p>
            <a:r>
              <a:rPr lang="en-US" altLang="zh-CN" sz="1209" dirty="0">
                <a:latin typeface="Garamond" panose="02020404030301010803" pitchFamily="18" charset="0"/>
                <a:ea typeface="SimSun" panose="02010600030101010101" pitchFamily="2" charset="-122"/>
                <a:cs typeface="Times New Roman" panose="02020603050405020304" pitchFamily="18" charset="0"/>
              </a:rPr>
              <a:t>Y=C+I+G</a:t>
            </a:r>
          </a:p>
          <a:p>
            <a:r>
              <a:rPr lang="zh-CN" altLang="en-US" sz="1209" dirty="0">
                <a:latin typeface="Garamond" panose="02020404030301010803" pitchFamily="18" charset="0"/>
                <a:ea typeface="SimSun" panose="02010600030101010101" pitchFamily="2" charset="-122"/>
              </a:rPr>
              <a:t>从总收入角度看，国民收入</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消费</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储蓄</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税收</a:t>
            </a:r>
            <a:endParaRPr lang="en-US" altLang="zh-CN" sz="1209" dirty="0">
              <a:latin typeface="Garamond" panose="02020404030301010803" pitchFamily="18" charset="0"/>
              <a:ea typeface="SimSun" panose="02010600030101010101" pitchFamily="2" charset="-122"/>
            </a:endParaRPr>
          </a:p>
          <a:p>
            <a:r>
              <a:rPr lang="en-US" altLang="zh-CN" sz="1209" dirty="0">
                <a:latin typeface="Garamond" panose="02020404030301010803" pitchFamily="18" charset="0"/>
                <a:ea typeface="SimSun" panose="02010600030101010101" pitchFamily="2" charset="-122"/>
                <a:cs typeface="Times New Roman" panose="02020603050405020304" pitchFamily="18" charset="0"/>
              </a:rPr>
              <a:t>Y=C+S+T</a:t>
            </a:r>
          </a:p>
          <a:p>
            <a:r>
              <a:rPr lang="zh-CN" altLang="en-US" sz="1209" dirty="0">
                <a:latin typeface="Garamond" panose="02020404030301010803" pitchFamily="18" charset="0"/>
                <a:ea typeface="SimSun" panose="02010600030101010101" pitchFamily="2" charset="-122"/>
              </a:rPr>
              <a:t>宏观均衡条件：</a:t>
            </a:r>
            <a:r>
              <a:rPr lang="en-US" altLang="zh-CN" sz="1209" dirty="0">
                <a:latin typeface="Garamond" panose="02020404030301010803" pitchFamily="18" charset="0"/>
                <a:ea typeface="SimSun" panose="02010600030101010101" pitchFamily="2" charset="-122"/>
              </a:rPr>
              <a:t> </a:t>
            </a:r>
            <a:r>
              <a:rPr lang="en-US" altLang="zh-CN" sz="1209" dirty="0">
                <a:latin typeface="Garamond" panose="02020404030301010803" pitchFamily="18" charset="0"/>
                <a:ea typeface="SimSun" panose="02010600030101010101" pitchFamily="2" charset="-122"/>
                <a:cs typeface="Times New Roman" panose="02020603050405020304" pitchFamily="18" charset="0"/>
              </a:rPr>
              <a:t>C+I =C+S</a:t>
            </a:r>
          </a:p>
          <a:p>
            <a:r>
              <a:rPr lang="zh-CN" altLang="en-US" b="1" dirty="0">
                <a:latin typeface="Garamond" panose="02020404030301010803" pitchFamily="18" charset="0"/>
                <a:ea typeface="SimSun" panose="02010600030101010101" pitchFamily="2" charset="-122"/>
              </a:rPr>
              <a:t>考虑税收的情况：</a:t>
            </a:r>
            <a:endParaRPr lang="en-US" altLang="zh-CN" b="1" dirty="0">
              <a:latin typeface="Garamond" panose="02020404030301010803" pitchFamily="18" charset="0"/>
              <a:ea typeface="SimSun" panose="02010600030101010101" pitchFamily="2" charset="-122"/>
            </a:endParaRPr>
          </a:p>
          <a:p>
            <a:r>
              <a:rPr lang="en-US" altLang="zh-CN" sz="1209" b="1" dirty="0">
                <a:latin typeface="Garamond" panose="02020404030301010803" pitchFamily="18" charset="0"/>
                <a:ea typeface="SimSun" panose="02010600030101010101" pitchFamily="2" charset="-122"/>
              </a:rPr>
              <a:t>1</a:t>
            </a:r>
            <a:r>
              <a:rPr lang="zh-CN" altLang="en-US" sz="1209" b="1" dirty="0">
                <a:latin typeface="Garamond" panose="02020404030301010803" pitchFamily="18" charset="0"/>
                <a:ea typeface="SimSun" panose="02010600030101010101" pitchFamily="2" charset="-122"/>
              </a:rPr>
              <a:t>）定量税</a:t>
            </a:r>
            <a:r>
              <a:rPr lang="zh-CN" altLang="en-US" sz="1209" dirty="0">
                <a:latin typeface="Garamond" panose="02020404030301010803" pitchFamily="18" charset="0"/>
                <a:ea typeface="SimSun" panose="02010600030101010101" pitchFamily="2" charset="-122"/>
              </a:rPr>
              <a:t>，即税收量不随收入变动；</a:t>
            </a:r>
            <a:endParaRPr lang="en-US" altLang="zh-CN" sz="1209" dirty="0">
              <a:latin typeface="Garamond" panose="02020404030301010803" pitchFamily="18" charset="0"/>
              <a:ea typeface="SimSun" panose="02010600030101010101" pitchFamily="2" charset="-122"/>
            </a:endParaRPr>
          </a:p>
          <a:p>
            <a:r>
              <a:rPr lang="en-US" altLang="zh-CN" sz="1209" b="1" dirty="0">
                <a:latin typeface="Garamond" panose="02020404030301010803" pitchFamily="18" charset="0"/>
                <a:ea typeface="SimSun" panose="02010600030101010101" pitchFamily="2" charset="-122"/>
              </a:rPr>
              <a:t>2</a:t>
            </a:r>
            <a:r>
              <a:rPr lang="zh-CN" altLang="en-US" sz="1209" b="1" dirty="0">
                <a:latin typeface="Garamond" panose="02020404030301010803" pitchFamily="18" charset="0"/>
                <a:ea typeface="SimSun" panose="02010600030101010101" pitchFamily="2" charset="-122"/>
              </a:rPr>
              <a:t>）比例所得税</a:t>
            </a:r>
            <a:r>
              <a:rPr lang="zh-CN" altLang="en-US" sz="1209" dirty="0">
                <a:latin typeface="Garamond" panose="02020404030301010803" pitchFamily="18" charset="0"/>
                <a:ea typeface="SimSun" panose="02010600030101010101" pitchFamily="2" charset="-122"/>
              </a:rPr>
              <a:t>，即随收入增量增加而增加税收量。</a:t>
            </a:r>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cs typeface="Times New Roman" panose="02020603050405020304" pitchFamily="18" charset="0"/>
            </a:endParaRPr>
          </a:p>
        </p:txBody>
      </p:sp>
      <p:sp>
        <p:nvSpPr>
          <p:cNvPr id="5" name="标题 4">
            <a:extLst>
              <a:ext uri="{FF2B5EF4-FFF2-40B4-BE49-F238E27FC236}">
                <a16:creationId xmlns:a16="http://schemas.microsoft.com/office/drawing/2014/main" id="{BC167B5F-9649-0B1E-A3AF-F8AA44FDE01E}"/>
              </a:ext>
            </a:extLst>
          </p:cNvPr>
          <p:cNvSpPr>
            <a:spLocks noGrp="1"/>
          </p:cNvSpPr>
          <p:nvPr>
            <p:ph type="title"/>
          </p:nvPr>
        </p:nvSpPr>
        <p:spPr/>
        <p:txBody>
          <a:bodyPr/>
          <a:lstStyle/>
          <a:p>
            <a:r>
              <a:rPr kumimoji="1" lang="zh-CN" altLang="en-US" dirty="0"/>
              <a:t>三部门经济的</a:t>
            </a:r>
            <a:r>
              <a:rPr kumimoji="1" lang="en-US" altLang="zh-CN" dirty="0"/>
              <a:t>AE-NI</a:t>
            </a:r>
            <a:r>
              <a:rPr kumimoji="1" lang="zh-CN" altLang="en-US" dirty="0"/>
              <a:t>模型</a:t>
            </a:r>
          </a:p>
        </p:txBody>
      </p:sp>
      <p:sp>
        <p:nvSpPr>
          <p:cNvPr id="6" name="灯片编号占位符 2">
            <a:extLst>
              <a:ext uri="{FF2B5EF4-FFF2-40B4-BE49-F238E27FC236}">
                <a16:creationId xmlns:a16="http://schemas.microsoft.com/office/drawing/2014/main" id="{D64A61C2-6D3F-5C78-7741-DE106DF3360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67</a:t>
            </a:fld>
            <a:endParaRPr lang="zh-CN" altLang="zh-CN" sz="856" dirty="0">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B3691186-F494-073A-0EC0-1DF886FA6F5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1094190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Picture 4" descr="xf13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223" y="40886"/>
            <a:ext cx="3436742" cy="1279474"/>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68</a:t>
            </a:fld>
            <a:endParaRPr lang="zh-CN" altLang="en-US"/>
          </a:p>
        </p:txBody>
      </p:sp>
      <p:sp>
        <p:nvSpPr>
          <p:cNvPr id="7" name="灯片编号占位符 2">
            <a:extLst>
              <a:ext uri="{FF2B5EF4-FFF2-40B4-BE49-F238E27FC236}">
                <a16:creationId xmlns:a16="http://schemas.microsoft.com/office/drawing/2014/main" id="{104B1A72-44C8-10C2-A02F-9498E61302D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68</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D392275B-9FE1-A811-89CD-16FCA0DBF50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pic>
        <p:nvPicPr>
          <p:cNvPr id="11" name="Picture 4" descr="xf1312">
            <a:extLst>
              <a:ext uri="{FF2B5EF4-FFF2-40B4-BE49-F238E27FC236}">
                <a16:creationId xmlns:a16="http://schemas.microsoft.com/office/drawing/2014/main" id="{0428E745-D510-3DE7-D989-7BF90EAD06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834" y="1306477"/>
            <a:ext cx="3632431" cy="1614572"/>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314E52A0-FF2E-6A20-1E08-0B8604BD8567}"/>
              </a:ext>
            </a:extLst>
          </p:cNvPr>
          <p:cNvSpPr/>
          <p:nvPr/>
        </p:nvSpPr>
        <p:spPr>
          <a:xfrm>
            <a:off x="1354548" y="2794091"/>
            <a:ext cx="1645002" cy="253916"/>
          </a:xfrm>
          <a:prstGeom prst="rect">
            <a:avLst/>
          </a:prstGeom>
        </p:spPr>
        <p:txBody>
          <a:bodyPr wrap="none">
            <a:spAutoFit/>
          </a:bodyPr>
          <a:lstStyle/>
          <a:p>
            <a:pPr>
              <a:buFont typeface="Wingdings" panose="05000000000000000000" pitchFamily="2" charset="2"/>
              <a:buNone/>
            </a:pPr>
            <a:r>
              <a:rPr lang="zh-CN" altLang="en-US" sz="1000" dirty="0">
                <a:latin typeface="Garamond" panose="02020404030301010803" pitchFamily="18" charset="0"/>
                <a:ea typeface="SimSun" panose="02010600030101010101" pitchFamily="2" charset="-122"/>
              </a:rPr>
              <a:t>定量税变动改变</a:t>
            </a:r>
            <a:r>
              <a:rPr lang="en-US" altLang="zh-CN" sz="1000" dirty="0" err="1">
                <a:latin typeface="Garamond" panose="02020404030301010803" pitchFamily="18" charset="0"/>
                <a:ea typeface="SimSun" panose="02010600030101010101" pitchFamily="2" charset="-122"/>
                <a:cs typeface="Times New Roman" panose="02020603050405020304" pitchFamily="18" charset="0"/>
              </a:rPr>
              <a:t>s+t</a:t>
            </a:r>
            <a:r>
              <a:rPr lang="zh-CN" altLang="en-US" sz="1000" dirty="0">
                <a:latin typeface="Garamond" panose="02020404030301010803" pitchFamily="18" charset="0"/>
                <a:ea typeface="SimSun" panose="02010600030101010101" pitchFamily="2" charset="-122"/>
              </a:rPr>
              <a:t>的截距</a:t>
            </a:r>
          </a:p>
        </p:txBody>
      </p:sp>
      <p:sp>
        <p:nvSpPr>
          <p:cNvPr id="9" name="矩形 8"/>
          <p:cNvSpPr/>
          <p:nvPr/>
        </p:nvSpPr>
        <p:spPr>
          <a:xfrm>
            <a:off x="72802" y="1134405"/>
            <a:ext cx="4028271" cy="246221"/>
          </a:xfrm>
          <a:prstGeom prst="rect">
            <a:avLst/>
          </a:prstGeom>
        </p:spPr>
        <p:txBody>
          <a:bodyPr wrap="square">
            <a:spAutoFit/>
          </a:bodyPr>
          <a:lstStyle/>
          <a:p>
            <a:pPr algn="ctr">
              <a:buFont typeface="Wingdings" panose="05000000000000000000" pitchFamily="2" charset="2"/>
              <a:buNone/>
            </a:pPr>
            <a:r>
              <a:rPr lang="zh-CN" altLang="en-US" sz="1000" b="1" dirty="0">
                <a:latin typeface="SimSun" panose="02010600030101010101" pitchFamily="2" charset="-122"/>
                <a:ea typeface="SimSun" panose="02010600030101010101" pitchFamily="2" charset="-122"/>
              </a:rPr>
              <a:t>三部门经济收入的决定</a:t>
            </a:r>
          </a:p>
        </p:txBody>
      </p:sp>
    </p:spTree>
    <p:extLst>
      <p:ext uri="{BB962C8B-B14F-4D97-AF65-F5344CB8AC3E}">
        <p14:creationId xmlns:p14="http://schemas.microsoft.com/office/powerpoint/2010/main" val="1281012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加入政府部门之后，不仅投资支出变动有乘数效应，</a:t>
                </a:r>
                <a:r>
                  <a:rPr lang="zh-CN" altLang="en-US" b="1" dirty="0">
                    <a:latin typeface="Garamond" panose="02020404030301010803" pitchFamily="18" charset="0"/>
                    <a:ea typeface="SimSun" panose="02010600030101010101" pitchFamily="2" charset="-122"/>
                  </a:rPr>
                  <a:t>政府购买、税收和政府转移支付</a:t>
                </a:r>
                <a:r>
                  <a:rPr lang="zh-CN" altLang="en-US" dirty="0">
                    <a:latin typeface="Garamond" panose="02020404030301010803" pitchFamily="18" charset="0"/>
                    <a:ea typeface="SimSun" panose="02010600030101010101" pitchFamily="2" charset="-122"/>
                  </a:rPr>
                  <a:t>的变动，都有乘数效应。因为</a:t>
                </a:r>
                <a:r>
                  <a:rPr lang="en-US" altLang="zh-CN" dirty="0">
                    <a:latin typeface="Garamond" panose="02020404030301010803" pitchFamily="18" charset="0"/>
                    <a:ea typeface="SimSun" panose="02010600030101010101" pitchFamily="2" charset="-122"/>
                  </a:rPr>
                  <a:t>G, T, </a:t>
                </a:r>
                <a:r>
                  <a:rPr lang="en-US" altLang="zh-CN" dirty="0" err="1">
                    <a:latin typeface="Garamond" panose="02020404030301010803" pitchFamily="18" charset="0"/>
                    <a:ea typeface="SimSun" panose="02010600030101010101" pitchFamily="2" charset="-122"/>
                  </a:rPr>
                  <a:t>Tr</a:t>
                </a:r>
                <a:r>
                  <a:rPr lang="zh-CN" altLang="en-US" dirty="0">
                    <a:latin typeface="Garamond" panose="02020404030301010803" pitchFamily="18" charset="0"/>
                    <a:ea typeface="SimSun" panose="02010600030101010101" pitchFamily="2" charset="-122"/>
                  </a:rPr>
                  <a:t>都会影响消费。</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由于三部门经济的总支出为：</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m:t>
                    </m:r>
                    <m:r>
                      <a:rPr lang="zh-CN" altLang="en-US" b="0" i="1" smtClean="0">
                        <a:latin typeface="Cambria Math" panose="02040503050406030204" pitchFamily="18" charset="0"/>
                      </a:rPr>
                      <m:t>𝛽</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oMath>
                </a14:m>
                <a:endParaRPr lang="en-US" altLang="zh-CN" dirty="0">
                  <a:latin typeface="Garamond" panose="02020404030301010803" pitchFamily="18" charset="0"/>
                  <a:ea typeface="SimSun" panose="02010600030101010101" pitchFamily="2" charset="-122"/>
                </a:endParaRPr>
              </a:p>
              <a:p>
                <a:r>
                  <a:rPr lang="en-US" altLang="zh-CN" dirty="0">
                    <a:latin typeface="Garamond" panose="02020404030301010803" pitchFamily="18" charset="0"/>
                    <a:ea typeface="SimSun" panose="02010600030101010101" pitchFamily="2" charset="-122"/>
                  </a:rPr>
                  <a:t>t</a:t>
                </a:r>
                <a:r>
                  <a:rPr lang="zh-CN" altLang="en-US" dirty="0">
                    <a:latin typeface="Garamond" panose="02020404030301010803" pitchFamily="18" charset="0"/>
                    <a:ea typeface="SimSun" panose="02010600030101010101" pitchFamily="2" charset="-122"/>
                  </a:rPr>
                  <a:t>是定量税。</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均衡收入为：</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zh-CN" altLang="en-US" i="1">
                            <a:latin typeface="Cambria Math" panose="02040503050406030204" pitchFamily="18" charset="0"/>
                          </a:rPr>
                          <m:t>𝛼</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𝑔</m:t>
                        </m:r>
                        <m:r>
                          <a:rPr lang="en-US" altLang="zh-CN" b="0" i="1" smtClean="0">
                            <a:latin typeface="Cambria Math" panose="02040503050406030204" pitchFamily="18" charset="0"/>
                          </a:rPr>
                          <m:t>−</m:t>
                        </m:r>
                        <m:r>
                          <a:rPr lang="zh-CN" altLang="en-US" i="1">
                            <a:latin typeface="Cambria Math" panose="02040503050406030204" pitchFamily="18" charset="0"/>
                          </a:rPr>
                          <m:t>𝛽</m:t>
                        </m:r>
                        <m:r>
                          <a:rPr lang="en-US" altLang="zh-CN" b="0" i="1" smtClean="0">
                            <a:latin typeface="Cambria Math" panose="02040503050406030204" pitchFamily="18" charset="0"/>
                          </a:rPr>
                          <m:t>𝑡</m:t>
                        </m:r>
                      </m:num>
                      <m:den>
                        <m:r>
                          <a:rPr lang="en-US" altLang="zh-CN" b="0" i="1" smtClean="0">
                            <a:latin typeface="Cambria Math" panose="02040503050406030204" pitchFamily="18" charset="0"/>
                          </a:rPr>
                          <m:t>1−</m:t>
                        </m:r>
                        <m:r>
                          <a:rPr lang="zh-CN" altLang="en-US" i="1">
                            <a:latin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通过这一公式可以得出上述几个乘数。</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b="-2439"/>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69</a:t>
            </a:fld>
            <a:endParaRPr lang="zh-CN" altLang="en-US"/>
          </a:p>
        </p:txBody>
      </p:sp>
      <p:sp>
        <p:nvSpPr>
          <p:cNvPr id="7" name="标题 6">
            <a:extLst>
              <a:ext uri="{FF2B5EF4-FFF2-40B4-BE49-F238E27FC236}">
                <a16:creationId xmlns:a16="http://schemas.microsoft.com/office/drawing/2014/main" id="{3385921D-6C10-7492-DE45-5EE4A2F90518}"/>
              </a:ext>
            </a:extLst>
          </p:cNvPr>
          <p:cNvSpPr>
            <a:spLocks noGrp="1"/>
          </p:cNvSpPr>
          <p:nvPr>
            <p:ph type="title"/>
          </p:nvPr>
        </p:nvSpPr>
        <p:spPr/>
        <p:txBody>
          <a:bodyPr/>
          <a:lstStyle/>
          <a:p>
            <a:r>
              <a:rPr kumimoji="1" lang="zh-CN" altLang="en-US" dirty="0"/>
              <a:t>三部门经济中的各种乘数</a:t>
            </a:r>
          </a:p>
        </p:txBody>
      </p:sp>
      <p:sp>
        <p:nvSpPr>
          <p:cNvPr id="8" name="灯片编号占位符 2">
            <a:extLst>
              <a:ext uri="{FF2B5EF4-FFF2-40B4-BE49-F238E27FC236}">
                <a16:creationId xmlns:a16="http://schemas.microsoft.com/office/drawing/2014/main" id="{6CF62345-5521-4C30-20BE-0247A26EFD7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69</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172570C-F4BD-227E-A941-CD0B0F36E2F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16550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20000"/>
              </a:bodyPr>
              <a:lstStyle/>
              <a:p>
                <a:r>
                  <a:rPr lang="zh-CN" altLang="en-US" sz="1209" b="1" dirty="0">
                    <a:latin typeface="Garamond" panose="02020404030301010803" pitchFamily="18" charset="0"/>
                    <a:ea typeface="SimSun" panose="02010600030101010101" pitchFamily="2" charset="-122"/>
                  </a:rPr>
                  <a:t>政府购买支出乘数，</a:t>
                </a:r>
                <a:r>
                  <a:rPr lang="zh-CN" altLang="en-US" sz="1209" dirty="0">
                    <a:latin typeface="Garamond" panose="02020404030301010803" pitchFamily="18" charset="0"/>
                    <a:ea typeface="SimSun" panose="02010600030101010101" pitchFamily="2" charset="-122"/>
                  </a:rPr>
                  <a:t>是指收入变动对引起这种变动的政府购买支出变动的比率。</a:t>
                </a:r>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𝑘</m:t>
                        </m:r>
                      </m:e>
                      <m:sub>
                        <m:r>
                          <a:rPr lang="en-US" altLang="zh-CN" sz="1209" i="1">
                            <a:latin typeface="Cambria Math" panose="02040503050406030204" pitchFamily="18" charset="0"/>
                          </a:rPr>
                          <m:t>𝑔</m:t>
                        </m:r>
                      </m:sub>
                    </m:sSub>
                    <m:r>
                      <a:rPr lang="en-US" altLang="zh-CN" sz="1209" i="1">
                        <a:latin typeface="Cambria Math" panose="02040503050406030204" pitchFamily="18" charset="0"/>
                      </a:rPr>
                      <m:t>=</m:t>
                    </m:r>
                    <m:f>
                      <m:fPr>
                        <m:ctrlPr>
                          <a:rPr lang="en-US" altLang="zh-CN" sz="1209" i="1">
                            <a:latin typeface="Cambria Math" panose="02040503050406030204" pitchFamily="18" charset="0"/>
                            <a:ea typeface="Cambria Math" panose="02040503050406030204" pitchFamily="18" charset="0"/>
                          </a:rPr>
                        </m:ctrlPr>
                      </m:fPr>
                      <m:num>
                        <m:r>
                          <a:rPr lang="en-US" altLang="zh-CN" sz="1209" i="1">
                            <a:latin typeface="Cambria Math" panose="02040503050406030204" pitchFamily="18" charset="0"/>
                            <a:ea typeface="Cambria Math" panose="02040503050406030204" pitchFamily="18" charset="0"/>
                          </a:rPr>
                          <m:t>∆</m:t>
                        </m:r>
                        <m:r>
                          <a:rPr lang="en-US" altLang="zh-CN" sz="1209" i="1">
                            <a:latin typeface="Cambria Math" panose="02040503050406030204" pitchFamily="18" charset="0"/>
                            <a:ea typeface="Cambria Math" panose="02040503050406030204" pitchFamily="18" charset="0"/>
                          </a:rPr>
                          <m:t>𝑦</m:t>
                        </m:r>
                      </m:num>
                      <m:den>
                        <m:r>
                          <a:rPr lang="en-US" altLang="zh-CN" sz="1209" i="1">
                            <a:latin typeface="Cambria Math" panose="02040503050406030204" pitchFamily="18" charset="0"/>
                            <a:ea typeface="Cambria Math" panose="02040503050406030204" pitchFamily="18" charset="0"/>
                          </a:rPr>
                          <m:t>∆</m:t>
                        </m:r>
                        <m:r>
                          <a:rPr lang="en-US" altLang="zh-CN" sz="1209" i="1">
                            <a:latin typeface="Cambria Math" panose="02040503050406030204" pitchFamily="18" charset="0"/>
                            <a:ea typeface="Cambria Math" panose="02040503050406030204" pitchFamily="18" charset="0"/>
                          </a:rPr>
                          <m:t>𝑔</m:t>
                        </m:r>
                      </m:den>
                    </m:f>
                    <m:r>
                      <a:rPr lang="en-US" altLang="zh-CN" sz="1209" i="1">
                        <a:latin typeface="Cambria Math" panose="02040503050406030204" pitchFamily="18" charset="0"/>
                        <a:ea typeface="Cambria Math" panose="02040503050406030204" pitchFamily="18" charset="0"/>
                      </a:rPr>
                      <m:t>=</m:t>
                    </m:r>
                    <m:f>
                      <m:fPr>
                        <m:ctrlPr>
                          <a:rPr lang="en-US" altLang="zh-CN" sz="1209" i="1">
                            <a:latin typeface="Cambria Math" panose="02040503050406030204" pitchFamily="18" charset="0"/>
                            <a:ea typeface="Cambria Math" panose="02040503050406030204" pitchFamily="18" charset="0"/>
                          </a:rPr>
                        </m:ctrlPr>
                      </m:fPr>
                      <m:num>
                        <m:r>
                          <a:rPr lang="en-US" altLang="zh-CN" sz="1209" i="1">
                            <a:latin typeface="Cambria Math" panose="02040503050406030204" pitchFamily="18" charset="0"/>
                            <a:ea typeface="Cambria Math" panose="02040503050406030204" pitchFamily="18" charset="0"/>
                          </a:rPr>
                          <m:t>1</m:t>
                        </m:r>
                      </m:num>
                      <m:den>
                        <m:r>
                          <a:rPr lang="en-US" altLang="zh-CN" sz="1209" i="1">
                            <a:latin typeface="Cambria Math" panose="02040503050406030204" pitchFamily="18" charset="0"/>
                            <a:ea typeface="Cambria Math" panose="02040503050406030204" pitchFamily="18" charset="0"/>
                          </a:rPr>
                          <m:t>1−</m:t>
                        </m:r>
                        <m:r>
                          <a:rPr lang="zh-CN" altLang="en-US" sz="1209" i="1">
                            <a:latin typeface="Cambria Math" panose="02040503050406030204" pitchFamily="18" charset="0"/>
                            <a:ea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其中，</a:t>
                </a:r>
                <a14:m>
                  <m:oMath xmlns:m="http://schemas.openxmlformats.org/officeDocument/2006/math">
                    <m:r>
                      <m:rPr>
                        <m:sty m:val="p"/>
                      </m:rPr>
                      <a:rPr lang="zh-CN" altLang="en-US" sz="1007">
                        <a:latin typeface="Cambria Math" panose="02040503050406030204" pitchFamily="18" charset="0"/>
                        <a:ea typeface="Cambria Math" panose="02040503050406030204" pitchFamily="18" charset="0"/>
                      </a:rPr>
                      <m:t>β</m:t>
                    </m:r>
                  </m:oMath>
                </a14:m>
                <a:r>
                  <a:rPr lang="zh-CN" altLang="en-US" sz="1007" dirty="0">
                    <a:latin typeface="Garamond" panose="02020404030301010803" pitchFamily="18" charset="0"/>
                    <a:ea typeface="SimSun" panose="02010600030101010101" pitchFamily="2" charset="-122"/>
                  </a:rPr>
                  <a:t>是可支配收入的边际消费倾向。在三部门经济中，政府购买支出乘数和投资乘数相等。</a:t>
                </a:r>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在</a:t>
                </a:r>
                <a14:m>
                  <m:oMath xmlns:m="http://schemas.openxmlformats.org/officeDocument/2006/math">
                    <m:r>
                      <a:rPr lang="zh-CN" altLang="en-US" sz="1007">
                        <a:latin typeface="Cambria Math" panose="02040503050406030204" pitchFamily="18" charset="0"/>
                      </a:rPr>
                      <m:t>公式</m:t>
                    </m:r>
                    <m:r>
                      <a:rPr lang="en-US" altLang="zh-CN" sz="1007" i="1">
                        <a:latin typeface="Cambria Math" panose="02040503050406030204" pitchFamily="18" charset="0"/>
                      </a:rPr>
                      <m:t>𝑦</m:t>
                    </m:r>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𝑡</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zh-CN" altLang="en-US" sz="1007">
                        <a:latin typeface="Cambria Math" panose="02040503050406030204" pitchFamily="18" charset="0"/>
                      </a:rPr>
                      <m:t>中，若</m:t>
                    </m:r>
                  </m:oMath>
                </a14:m>
                <a:r>
                  <a:rPr lang="zh-CN" altLang="en-US" sz="1007" dirty="0">
                    <a:latin typeface="Garamond" panose="02020404030301010803" pitchFamily="18" charset="0"/>
                    <a:ea typeface="SimSun" panose="02010600030101010101" pitchFamily="2" charset="-122"/>
                  </a:rPr>
                  <a:t>其他条件不变，只有政府购买支出</a:t>
                </a:r>
                <a14:m>
                  <m:oMath xmlns:m="http://schemas.openxmlformats.org/officeDocument/2006/math">
                    <m:r>
                      <m:rPr>
                        <m:sty m:val="p"/>
                      </m:rPr>
                      <a:rPr lang="en-US" altLang="zh-CN" sz="1007">
                        <a:latin typeface="Cambria Math" panose="02040503050406030204" pitchFamily="18" charset="0"/>
                      </a:rPr>
                      <m:t>g</m:t>
                    </m:r>
                  </m:oMath>
                </a14:m>
                <a:r>
                  <a:rPr lang="zh-CN" altLang="en-US" sz="1007" dirty="0">
                    <a:latin typeface="Garamond" panose="02020404030301010803" pitchFamily="18" charset="0"/>
                    <a:ea typeface="SimSun" panose="02010600030101010101" pitchFamily="2" charset="-122"/>
                  </a:rPr>
                  <a:t>变动，则政府购买支出为</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oMath>
                </a14:m>
                <a:r>
                  <a:rPr lang="zh-CN" altLang="en-US" sz="1007" dirty="0">
                    <a:latin typeface="Garamond" panose="02020404030301010803" pitchFamily="18" charset="0"/>
                    <a:ea typeface="SimSun" panose="02010600030101010101" pitchFamily="2" charset="-122"/>
                  </a:rPr>
                  <a:t>和</a:t>
                </a:r>
                <a14:m>
                  <m:oMath xmlns:m="http://schemas.openxmlformats.org/officeDocument/2006/math">
                    <m:sSub>
                      <m:sSubPr>
                        <m:ctrlPr>
                          <a:rPr lang="en-US" altLang="zh-CN" sz="1007" i="1" dirty="0">
                            <a:latin typeface="Cambria Math" panose="02040503050406030204" pitchFamily="18" charset="0"/>
                          </a:rPr>
                        </m:ctrlPr>
                      </m:sSubPr>
                      <m:e>
                        <m:r>
                          <a:rPr lang="en-US" altLang="zh-CN" sz="1007" i="1" dirty="0">
                            <a:latin typeface="Cambria Math" panose="02040503050406030204" pitchFamily="18" charset="0"/>
                          </a:rPr>
                          <m:t>𝑔</m:t>
                        </m:r>
                      </m:e>
                      <m:sub>
                        <m:r>
                          <a:rPr lang="en-US" altLang="zh-CN" sz="1007" i="1" dirty="0">
                            <a:latin typeface="Cambria Math" panose="02040503050406030204" pitchFamily="18" charset="0"/>
                          </a:rPr>
                          <m:t>1</m:t>
                        </m:r>
                      </m:sub>
                    </m:sSub>
                  </m:oMath>
                </a14:m>
                <a:r>
                  <a:rPr lang="zh-CN" altLang="en-US" sz="1007" dirty="0">
                    <a:latin typeface="Garamond" panose="02020404030301010803" pitchFamily="18" charset="0"/>
                    <a:ea typeface="SimSun" panose="02010600030101010101" pitchFamily="2" charset="-122"/>
                  </a:rPr>
                  <a:t>时的收入分别为：</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en-US" altLang="zh-CN"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zh-CN" altLang="en-US"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den>
                    </m:f>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r>
                  <a:rPr lang="zh-CN" altLang="en-US" sz="1007" dirty="0">
                    <a:latin typeface="Garamond" panose="02020404030301010803" pitchFamily="18" charset="0"/>
                    <a:ea typeface="SimSun" panose="02010600030101010101" pitchFamily="2" charset="-122"/>
                  </a:rPr>
                  <a:t>  </a:t>
                </a:r>
                <a:endParaRPr lang="en-US" altLang="zh-CN" sz="1007"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&gt;0</m:t>
                    </m:r>
                  </m:oMath>
                </a14:m>
                <a:r>
                  <a:rPr lang="zh-CN" altLang="en-US" sz="1007" dirty="0">
                    <a:latin typeface="Garamond" panose="02020404030301010803" pitchFamily="18" charset="0"/>
                    <a:ea typeface="SimSun" panose="02010600030101010101" pitchFamily="2" charset="-122"/>
                  </a:rPr>
                  <a:t>，表明收入随政府购买支出增加而增加。</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46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70</a:t>
            </a:fld>
            <a:endParaRPr lang="zh-CN" altLang="en-US"/>
          </a:p>
        </p:txBody>
      </p:sp>
      <p:sp>
        <p:nvSpPr>
          <p:cNvPr id="7" name="灯片编号占位符 2">
            <a:extLst>
              <a:ext uri="{FF2B5EF4-FFF2-40B4-BE49-F238E27FC236}">
                <a16:creationId xmlns:a16="http://schemas.microsoft.com/office/drawing/2014/main" id="{0338ABA0-5547-7934-7AAF-43222C7B1B6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70</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B7061395-E5DB-36CF-D110-94959FE4B58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48BD6BFB-3AFC-80F5-9426-E326876ACA67}"/>
              </a:ext>
            </a:extLst>
          </p:cNvPr>
          <p:cNvSpPr>
            <a:spLocks noGrp="1"/>
          </p:cNvSpPr>
          <p:nvPr>
            <p:ph type="title"/>
          </p:nvPr>
        </p:nvSpPr>
        <p:spPr/>
        <p:txBody>
          <a:bodyPr/>
          <a:lstStyle/>
          <a:p>
            <a:r>
              <a:rPr kumimoji="1" lang="zh-CN" altLang="en-US" dirty="0"/>
              <a:t>政府购买乘数</a:t>
            </a:r>
          </a:p>
        </p:txBody>
      </p:sp>
    </p:spTree>
    <p:extLst>
      <p:ext uri="{BB962C8B-B14F-4D97-AF65-F5344CB8AC3E}">
        <p14:creationId xmlns:p14="http://schemas.microsoft.com/office/powerpoint/2010/main" val="7244249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00" b="1" dirty="0">
                <a:latin typeface="Garamond" panose="02020404030301010803" pitchFamily="18" charset="0"/>
                <a:ea typeface="SimSun" panose="02010600030101010101" pitchFamily="2" charset="-122"/>
              </a:rPr>
              <a:t>税收乘数</a:t>
            </a:r>
            <a:r>
              <a:rPr lang="zh-CN" altLang="en-US" sz="1200" dirty="0">
                <a:latin typeface="Garamond" panose="02020404030301010803" pitchFamily="18" charset="0"/>
                <a:ea typeface="SimSun" panose="02010600030101010101" pitchFamily="2" charset="-122"/>
              </a:rPr>
              <a:t>指收入变动与引起这种变动的税收变动的比率</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1</a:t>
            </a:r>
            <a:r>
              <a:rPr lang="zh-CN" altLang="en-US" sz="1200" dirty="0">
                <a:latin typeface="Garamond" panose="02020404030301010803" pitchFamily="18" charset="0"/>
                <a:ea typeface="SimSun" panose="02010600030101010101" pitchFamily="2" charset="-122"/>
              </a:rPr>
              <a:t>）比例税：税率变动对总收入的影响；</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2</a:t>
            </a:r>
            <a:r>
              <a:rPr lang="zh-CN" altLang="en-US" sz="1200" dirty="0">
                <a:latin typeface="Garamond" panose="02020404030301010803" pitchFamily="18" charset="0"/>
                <a:ea typeface="SimSun" panose="02010600030101010101" pitchFamily="2" charset="-122"/>
              </a:rPr>
              <a:t>）定量税：税收绝对量变动对总收入的影响；</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3</a:t>
            </a:r>
            <a:r>
              <a:rPr lang="zh-CN" altLang="en-US" sz="1200" dirty="0">
                <a:latin typeface="Garamond" panose="02020404030301010803" pitchFamily="18" charset="0"/>
                <a:ea typeface="SimSun" panose="02010600030101010101" pitchFamily="2" charset="-122"/>
              </a:rPr>
              <a:t>）比例与定量税同时存在的情形。</a:t>
            </a:r>
            <a:endParaRPr lang="en-US" altLang="zh-CN" sz="1200" dirty="0">
              <a:latin typeface="Garamond" panose="02020404030301010803" pitchFamily="18" charset="0"/>
              <a:ea typeface="SimSun" panose="02010600030101010101" pitchFamily="2" charset="-122"/>
            </a:endParaRPr>
          </a:p>
          <a:p>
            <a:r>
              <a:rPr lang="zh-CN" altLang="en-US" sz="1000" dirty="0">
                <a:solidFill>
                  <a:srgbClr val="C00000"/>
                </a:solidFill>
                <a:latin typeface="Garamond" panose="02020404030301010803" pitchFamily="18" charset="0"/>
                <a:ea typeface="SimSun" panose="02010600030101010101" pitchFamily="2" charset="-122"/>
              </a:rPr>
              <a:t>请同学们计算以上三种不同情形下的税收乘数。</a:t>
            </a:r>
          </a:p>
        </p:txBody>
      </p:sp>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71</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71</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税收乘数</a:t>
            </a:r>
          </a:p>
        </p:txBody>
      </p:sp>
    </p:spTree>
    <p:extLst>
      <p:ext uri="{BB962C8B-B14F-4D97-AF65-F5344CB8AC3E}">
        <p14:creationId xmlns:p14="http://schemas.microsoft.com/office/powerpoint/2010/main" val="5592503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9F743D21-0EEA-F933-7DCB-33B0D30EDD1A}"/>
              </a:ext>
            </a:extLst>
          </p:cNvPr>
          <p:cNvSpPr/>
          <p:nvPr/>
        </p:nvSpPr>
        <p:spPr>
          <a:xfrm>
            <a:off x="432842" y="508698"/>
            <a:ext cx="792088" cy="191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0" b="1" dirty="0">
                    <a:latin typeface="Garamond" panose="02020404030301010803" pitchFamily="18" charset="0"/>
                    <a:ea typeface="SimSun" panose="02010600030101010101" pitchFamily="2" charset="-122"/>
                  </a:rPr>
                  <a:t>定量税情形</a:t>
                </a:r>
                <a:r>
                  <a:rPr lang="zh-CN" altLang="en-US" sz="1000" dirty="0">
                    <a:latin typeface="Garamond" panose="02020404030301010803" pitchFamily="18" charset="0"/>
                    <a:ea typeface="SimSun" panose="02010600030101010101" pitchFamily="2" charset="-122"/>
                  </a:rPr>
                  <a:t>：</a:t>
                </a:r>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假设只有税收为定量税</a:t>
                </a:r>
                <a:r>
                  <a:rPr lang="en-US" altLang="zh-CN" sz="1000" dirty="0">
                    <a:latin typeface="Garamond" panose="02020404030301010803" pitchFamily="18" charset="0"/>
                    <a:ea typeface="SimSun" panose="02010600030101010101" pitchFamily="2" charset="-122"/>
                  </a:rPr>
                  <a:t>T</a:t>
                </a:r>
                <a:r>
                  <a:rPr lang="zh-CN" altLang="en-US" sz="1000" dirty="0">
                    <a:latin typeface="Garamond" panose="02020404030301010803" pitchFamily="18" charset="0"/>
                    <a:ea typeface="SimSun" panose="02010600030101010101" pitchFamily="2" charset="-122"/>
                  </a:rPr>
                  <a:t>，则国民收入的均衡条件为：</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𝑐</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𝛼</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𝛽</m:t>
                    </m:r>
                    <m:d>
                      <m:dPr>
                        <m:ctrlPr>
                          <a:rPr lang="en-US" altLang="zh-CN" sz="1000" b="0" i="1" smtClean="0">
                            <a:latin typeface="Cambria Math" panose="02040503050406030204" pitchFamily="18" charset="0"/>
                          </a:rPr>
                        </m:ctrlPr>
                      </m:dPr>
                      <m:e>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m:rPr>
                            <m:sty m:val="p"/>
                          </m:rPr>
                          <a:rPr lang="en-US" altLang="zh-CN" sz="1000" i="1">
                            <a:latin typeface="Cambria Math" panose="02040503050406030204" pitchFamily="18" charset="0"/>
                          </a:rPr>
                          <m:t>T</m:t>
                        </m:r>
                      </m:e>
                    </m:d>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oMath>
                </a14:m>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均衡国民收入为：</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en-US" altLang="zh-CN" sz="1000" b="0" i="1" smtClean="0">
                        <a:latin typeface="Cambria Math" panose="02040503050406030204" pitchFamily="18" charset="0"/>
                      </a:rPr>
                      <m:t>𝑦</m:t>
                    </m:r>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zh-CN" altLang="en-US" sz="1000" i="1">
                            <a:latin typeface="Cambria Math" panose="02040503050406030204" pitchFamily="18" charset="0"/>
                          </a:rPr>
                          <m:t>𝛼</m:t>
                        </m:r>
                        <m:r>
                          <a:rPr lang="en-US" altLang="zh-CN" sz="1000" i="1">
                            <a:latin typeface="Cambria Math" panose="02040503050406030204" pitchFamily="18" charset="0"/>
                          </a:rPr>
                          <m:t>+</m:t>
                        </m:r>
                        <m:r>
                          <a:rPr lang="en-US" altLang="zh-CN" sz="1000" i="1">
                            <a:latin typeface="Cambria Math" panose="02040503050406030204" pitchFamily="18" charset="0"/>
                          </a:rPr>
                          <m:t>𝑖</m:t>
                        </m:r>
                        <m:r>
                          <a:rPr lang="en-US" altLang="zh-CN" sz="1000" i="1">
                            <a:latin typeface="Cambria Math" panose="02040503050406030204" pitchFamily="18" charset="0"/>
                          </a:rPr>
                          <m:t>+</m:t>
                        </m:r>
                        <m:r>
                          <a:rPr lang="en-US" altLang="zh-CN" sz="1000" b="0" i="1" smtClean="0">
                            <a:latin typeface="Cambria Math" panose="02040503050406030204" pitchFamily="18" charset="0"/>
                          </a:rPr>
                          <m:t>𝑔</m:t>
                        </m:r>
                        <m:r>
                          <a:rPr lang="en-US" altLang="zh-CN" sz="1000" i="1">
                            <a:latin typeface="Cambria Math" panose="02040503050406030204" pitchFamily="18" charset="0"/>
                          </a:rPr>
                          <m:t>−</m:t>
                        </m:r>
                        <m:r>
                          <a:rPr lang="zh-CN" altLang="en-US" sz="1000" i="1">
                            <a:latin typeface="Cambria Math" panose="02040503050406030204" pitchFamily="18" charset="0"/>
                          </a:rPr>
                          <m:t>𝛽</m:t>
                        </m:r>
                        <m:r>
                          <a:rPr lang="en-US" altLang="zh-CN" sz="1000" b="0" i="1" smtClean="0">
                            <a:latin typeface="Cambria Math" panose="02040503050406030204" pitchFamily="18" charset="0"/>
                          </a:rPr>
                          <m:t>𝑇</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den>
                    </m:f>
                  </m:oMath>
                </a14:m>
                <a:endParaRPr lang="en-US" altLang="zh-CN" sz="1000" dirty="0">
                  <a:latin typeface="Garamond" panose="02020404030301010803" pitchFamily="18" charset="0"/>
                  <a:ea typeface="SimSun" panose="02010600030101010101" pitchFamily="2" charset="-122"/>
                </a:endParaRPr>
              </a:p>
              <a:p>
                <a:r>
                  <a:rPr lang="zh-CN" altLang="en-US" sz="1000" dirty="0">
                    <a:latin typeface="Cambria Math" panose="02040503050406030204" pitchFamily="18" charset="0"/>
                  </a:rPr>
                  <a:t>方程两边对定量税</a:t>
                </a:r>
                <a:r>
                  <a:rPr lang="en-US" altLang="zh-CN" sz="1000" dirty="0">
                    <a:latin typeface="Cambria Math" panose="02040503050406030204" pitchFamily="18" charset="0"/>
                  </a:rPr>
                  <a:t>t</a:t>
                </a:r>
                <a:r>
                  <a:rPr lang="zh-CN" altLang="en-US" sz="1000" dirty="0">
                    <a:latin typeface="Cambria Math" panose="02040503050406030204" pitchFamily="18" charset="0"/>
                  </a:rPr>
                  <a:t>求导：</a:t>
                </a:r>
                <a:endParaRPr lang="en-US" altLang="zh-CN" sz="1000" dirty="0">
                  <a:latin typeface="Cambria Math" panose="02040503050406030204" pitchFamily="18" charset="0"/>
                </a:endParaRPr>
              </a:p>
              <a:p>
                <a14:m>
                  <m:oMath xmlns:m="http://schemas.openxmlformats.org/officeDocument/2006/math">
                    <m:r>
                      <a:rPr lang="zh-CN" altLang="en-US" sz="1000" i="1">
                        <a:latin typeface="Cambria Math" panose="02040503050406030204" pitchFamily="18" charset="0"/>
                      </a:rPr>
                      <m:t>∴</m:t>
                    </m:r>
                    <m:r>
                      <a:rPr lang="zh-CN" altLang="en-US" sz="1000" i="1">
                        <a:latin typeface="Cambria Math" panose="02040503050406030204" pitchFamily="18" charset="0"/>
                      </a:rPr>
                      <m:t>定量税下的税收乘数为：</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en-US" altLang="zh-CN" sz="1000" i="1">
                            <a:latin typeface="Cambria Math" panose="02040503050406030204" pitchFamily="18" charset="0"/>
                            <a:ea typeface="Cambria Math" panose="02040503050406030204" pitchFamily="18" charset="0"/>
                          </a:rPr>
                          <m:t>𝑦</m:t>
                        </m:r>
                      </m:num>
                      <m:den>
                        <m:r>
                          <a:rPr lang="en-US" altLang="zh-CN" sz="1000" i="1">
                            <a:latin typeface="Cambria Math" panose="02040503050406030204" pitchFamily="18" charset="0"/>
                            <a:ea typeface="Cambria Math" panose="02040503050406030204" pitchFamily="18" charset="0"/>
                          </a:rPr>
                          <m:t>∆</m:t>
                        </m:r>
                        <m:r>
                          <a:rPr lang="en-US" altLang="zh-CN" sz="1000" b="0" i="1" smtClean="0">
                            <a:latin typeface="Cambria Math" panose="02040503050406030204" pitchFamily="18" charset="0"/>
                            <a:ea typeface="Cambria Math" panose="02040503050406030204" pitchFamily="18" charset="0"/>
                          </a:rPr>
                          <m:t>𝑇</m:t>
                        </m:r>
                      </m:den>
                    </m:f>
                    <m:r>
                      <a:rPr lang="en-US" altLang="zh-CN" sz="1000" i="1">
                        <a:latin typeface="Cambria Math" panose="02040503050406030204" pitchFamily="18" charset="0"/>
                        <a:ea typeface="Cambria Math" panose="02040503050406030204" pitchFamily="18" charset="0"/>
                      </a:rPr>
                      <m:t>=</m:t>
                    </m:r>
                    <m:sSub>
                      <m:sSubPr>
                        <m:ctrlPr>
                          <a:rPr lang="en-US" altLang="zh-CN" sz="1000" i="1">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Cambria Math" panose="02040503050406030204" pitchFamily="18" charset="0"/>
                          </a:rPr>
                          <m:t>𝑘</m:t>
                        </m:r>
                      </m:e>
                      <m:sub>
                        <m:r>
                          <a:rPr lang="en-US" altLang="zh-CN" sz="1000" b="0" i="1" smtClean="0">
                            <a:latin typeface="Cambria Math" panose="02040503050406030204" pitchFamily="18" charset="0"/>
                            <a:ea typeface="Cambria Math" panose="02040503050406030204" pitchFamily="18" charset="0"/>
                          </a:rPr>
                          <m:t>𝑇</m:t>
                        </m:r>
                      </m:sub>
                    </m:sSub>
                    <m:r>
                      <a:rPr lang="en-US" altLang="zh-CN" sz="1000" i="1">
                        <a:latin typeface="Cambria Math" panose="02040503050406030204" pitchFamily="18" charset="0"/>
                        <a:ea typeface="Cambria Math" panose="02040503050406030204" pitchFamily="18" charset="0"/>
                      </a:rPr>
                      <m:t>=</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zh-CN" altLang="en-US" sz="1000" i="1">
                            <a:latin typeface="Cambria Math" panose="02040503050406030204" pitchFamily="18" charset="0"/>
                            <a:ea typeface="Cambria Math" panose="02040503050406030204" pitchFamily="18" charset="0"/>
                          </a:rPr>
                          <m:t>𝛽</m:t>
                        </m:r>
                      </m:num>
                      <m:den>
                        <m:r>
                          <a:rPr lang="en-US" altLang="zh-CN" sz="1000" i="1">
                            <a:latin typeface="Cambria Math" panose="02040503050406030204" pitchFamily="18" charset="0"/>
                            <a:ea typeface="Cambria Math" panose="02040503050406030204" pitchFamily="18" charset="0"/>
                          </a:rPr>
                          <m:t>1−</m:t>
                        </m:r>
                        <m:r>
                          <a:rPr lang="zh-CN" altLang="en-US" sz="1000" i="1">
                            <a:latin typeface="Cambria Math" panose="02040503050406030204" pitchFamily="18" charset="0"/>
                            <a:ea typeface="Cambria Math" panose="02040503050406030204" pitchFamily="18" charset="0"/>
                          </a:rPr>
                          <m:t>𝛽</m:t>
                        </m:r>
                      </m:den>
                    </m:f>
                  </m:oMath>
                </a14:m>
                <a:r>
                  <a:rPr lang="zh-CN" altLang="en-US" sz="1000" dirty="0">
                    <a:latin typeface="Garamond" panose="02020404030301010803" pitchFamily="18" charset="0"/>
                    <a:ea typeface="SimSun" panose="02010600030101010101" pitchFamily="2" charset="-122"/>
                  </a:rPr>
                  <a:t> </a:t>
                </a:r>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此时</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a:latin typeface="Cambria Math" panose="02040503050406030204" pitchFamily="18" charset="0"/>
                          </a:rPr>
                          <m:t>k</m:t>
                        </m:r>
                      </m:e>
                      <m:sub>
                        <m:r>
                          <a:rPr lang="en-US" altLang="zh-CN" sz="1000" i="1">
                            <a:latin typeface="Cambria Math" panose="02040503050406030204" pitchFamily="18" charset="0"/>
                          </a:rPr>
                          <m:t>𝑖</m:t>
                        </m:r>
                      </m:sub>
                    </m:sSub>
                    <m:r>
                      <a:rPr lang="en-US" altLang="zh-CN" sz="1000" i="1">
                        <a:latin typeface="Cambria Math" panose="02040503050406030204" pitchFamily="18" charset="0"/>
                      </a:rPr>
                      <m:t>=</m:t>
                    </m:r>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𝑘</m:t>
                        </m:r>
                      </m:e>
                      <m:sub>
                        <m:r>
                          <a:rPr lang="en-US" altLang="zh-CN" sz="1000" i="1">
                            <a:latin typeface="Cambria Math" panose="02040503050406030204" pitchFamily="18" charset="0"/>
                          </a:rPr>
                          <m:t>𝑔</m:t>
                        </m:r>
                      </m:sub>
                    </m:sSub>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en-US" altLang="zh-CN" sz="1000" i="1">
                            <a:latin typeface="Cambria Math" panose="02040503050406030204" pitchFamily="18" charset="0"/>
                          </a:rPr>
                          <m:t>1</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den>
                    </m:f>
                  </m:oMath>
                </a14:m>
                <a:endParaRPr lang="zh-CN" altLang="en-US" sz="1000" dirty="0">
                  <a:latin typeface="Garamond" panose="02020404030301010803" pitchFamily="18" charset="0"/>
                  <a:ea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72</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72</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税收乘数：定量税</a:t>
            </a:r>
          </a:p>
        </p:txBody>
      </p:sp>
    </p:spTree>
    <p:extLst>
      <p:ext uri="{BB962C8B-B14F-4D97-AF65-F5344CB8AC3E}">
        <p14:creationId xmlns:p14="http://schemas.microsoft.com/office/powerpoint/2010/main" val="1333754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5FA3C435-D62A-AD7A-1F16-FF2FD7878FBD}"/>
              </a:ext>
            </a:extLst>
          </p:cNvPr>
          <p:cNvSpPr/>
          <p:nvPr/>
        </p:nvSpPr>
        <p:spPr>
          <a:xfrm>
            <a:off x="432842" y="1561828"/>
            <a:ext cx="2088232" cy="191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圆角矩形 1">
            <a:extLst>
              <a:ext uri="{FF2B5EF4-FFF2-40B4-BE49-F238E27FC236}">
                <a16:creationId xmlns:a16="http://schemas.microsoft.com/office/drawing/2014/main" id="{A9A57AB3-D98B-3F52-8AA5-789AF66497B8}"/>
              </a:ext>
            </a:extLst>
          </p:cNvPr>
          <p:cNvSpPr/>
          <p:nvPr/>
        </p:nvSpPr>
        <p:spPr>
          <a:xfrm>
            <a:off x="432842" y="530881"/>
            <a:ext cx="1152128" cy="191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0" dirty="0">
                    <a:latin typeface="Garamond" panose="02020404030301010803" pitchFamily="18" charset="0"/>
                    <a:ea typeface="SimSun" panose="02010600030101010101" pitchFamily="2" charset="-122"/>
                  </a:rPr>
                  <a:t>只有比例税的情形：</a:t>
                </a:r>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三部门经济的总支出为：</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𝑐</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𝛼</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𝛽</m:t>
                    </m:r>
                    <m:d>
                      <m:dPr>
                        <m:ctrlPr>
                          <a:rPr lang="en-US" altLang="zh-CN" sz="1000" b="0" i="1" smtClean="0">
                            <a:latin typeface="Cambria Math" panose="02040503050406030204" pitchFamily="18" charset="0"/>
                          </a:rPr>
                        </m:ctrlPr>
                      </m:dPr>
                      <m:e>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𝑡𝑦</m:t>
                        </m:r>
                      </m:e>
                    </m:d>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oMath>
                </a14:m>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zh-CN" altLang="en-US" sz="1000" i="1">
                        <a:latin typeface="Cambria Math" panose="02040503050406030204" pitchFamily="18" charset="0"/>
                      </a:rPr>
                      <m:t>均衡</m:t>
                    </m:r>
                    <m:r>
                      <a:rPr lang="zh-CN" altLang="en-US" sz="1000" i="1" smtClean="0">
                        <a:latin typeface="Cambria Math" panose="02040503050406030204" pitchFamily="18" charset="0"/>
                      </a:rPr>
                      <m:t>收入</m:t>
                    </m:r>
                    <m:r>
                      <a:rPr lang="en-US" altLang="zh-CN" sz="1000" i="1">
                        <a:latin typeface="Cambria Math" panose="02040503050406030204" pitchFamily="18" charset="0"/>
                      </a:rPr>
                      <m:t>𝑦</m:t>
                    </m:r>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zh-CN" altLang="en-US" sz="1000" i="1">
                            <a:latin typeface="Cambria Math" panose="02040503050406030204" pitchFamily="18" charset="0"/>
                          </a:rPr>
                          <m:t>𝛼</m:t>
                        </m:r>
                        <m:r>
                          <a:rPr lang="en-US" altLang="zh-CN" sz="1000" i="1">
                            <a:latin typeface="Cambria Math" panose="02040503050406030204" pitchFamily="18" charset="0"/>
                          </a:rPr>
                          <m:t>+</m:t>
                        </m:r>
                        <m:r>
                          <a:rPr lang="en-US" altLang="zh-CN" sz="1000" i="1">
                            <a:latin typeface="Cambria Math" panose="02040503050406030204" pitchFamily="18" charset="0"/>
                          </a:rPr>
                          <m:t>𝑖</m:t>
                        </m:r>
                        <m:r>
                          <a:rPr lang="en-US" altLang="zh-CN" sz="1000" i="1">
                            <a:latin typeface="Cambria Math" panose="02040503050406030204" pitchFamily="18" charset="0"/>
                          </a:rPr>
                          <m:t>+</m:t>
                        </m:r>
                        <m:r>
                          <a:rPr lang="en-US" altLang="zh-CN" sz="1000" i="1">
                            <a:latin typeface="Cambria Math" panose="02040503050406030204" pitchFamily="18" charset="0"/>
                          </a:rPr>
                          <m:t>𝑔</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b="0" i="1" smtClean="0">
                            <a:latin typeface="Cambria Math" panose="02040503050406030204" pitchFamily="18" charset="0"/>
                          </a:rPr>
                          <m:t>(1−</m:t>
                        </m:r>
                        <m:r>
                          <a:rPr lang="en-US" altLang="zh-CN" sz="1000" b="0" i="1" smtClean="0">
                            <a:latin typeface="Cambria Math" panose="02040503050406030204" pitchFamily="18" charset="0"/>
                          </a:rPr>
                          <m:t>𝑡</m:t>
                        </m:r>
                        <m:r>
                          <a:rPr lang="en-US" altLang="zh-CN" sz="1000" b="0" i="1" smtClean="0">
                            <a:latin typeface="Cambria Math" panose="02040503050406030204" pitchFamily="18" charset="0"/>
                          </a:rPr>
                          <m:t>)</m:t>
                        </m:r>
                      </m:den>
                    </m:f>
                  </m:oMath>
                </a14:m>
                <a:r>
                  <a:rPr lang="zh-CN" altLang="en-US" sz="1000" dirty="0">
                    <a:latin typeface="Garamond" panose="02020404030301010803" pitchFamily="18" charset="0"/>
                    <a:ea typeface="SimSun" panose="02010600030101010101" pitchFamily="2" charset="-122"/>
                  </a:rPr>
                  <a:t>，此时</a:t>
                </a:r>
                <a14:m>
                  <m:oMath xmlns:m="http://schemas.openxmlformats.org/officeDocument/2006/math">
                    <m:sSub>
                      <m:sSubPr>
                        <m:ctrlPr>
                          <a:rPr lang="en-US" altLang="zh-CN" sz="1000" b="0" i="1" smtClean="0">
                            <a:latin typeface="Cambria Math" panose="02040503050406030204" pitchFamily="18" charset="0"/>
                          </a:rPr>
                        </m:ctrlPr>
                      </m:sSubPr>
                      <m:e>
                        <m:r>
                          <m:rPr>
                            <m:sty m:val="p"/>
                          </m:rPr>
                          <a:rPr lang="en-US" altLang="zh-CN" sz="1000" b="0" i="0" smtClean="0">
                            <a:latin typeface="Cambria Math" panose="02040503050406030204" pitchFamily="18" charset="0"/>
                          </a:rPr>
                          <m:t>k</m:t>
                        </m:r>
                      </m:e>
                      <m:sub>
                        <m:r>
                          <a:rPr lang="en-US" altLang="zh-CN" sz="1000" b="0" i="1" smtClean="0">
                            <a:latin typeface="Cambria Math" panose="02040503050406030204" pitchFamily="18" charset="0"/>
                          </a:rPr>
                          <m:t>𝑖</m:t>
                        </m:r>
                      </m:sub>
                    </m:sSub>
                    <m:r>
                      <a:rPr lang="en-US" altLang="zh-CN" sz="1000" b="0" i="1" smtClean="0">
                        <a:latin typeface="Cambria Math" panose="02040503050406030204" pitchFamily="18" charset="0"/>
                      </a:rPr>
                      <m:t>=</m:t>
                    </m:r>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𝑘</m:t>
                        </m:r>
                      </m:e>
                      <m:sub>
                        <m:r>
                          <a:rPr lang="en-US" altLang="zh-CN" sz="1000" b="0" i="1" smtClean="0">
                            <a:latin typeface="Cambria Math" panose="02040503050406030204" pitchFamily="18" charset="0"/>
                          </a:rPr>
                          <m:t>𝑔</m:t>
                        </m:r>
                      </m:sub>
                    </m:sSub>
                    <m:r>
                      <a:rPr lang="en-US" altLang="zh-CN" sz="1000" b="0" i="1" smtClean="0">
                        <a:latin typeface="Cambria Math" panose="02040503050406030204" pitchFamily="18" charset="0"/>
                      </a:rPr>
                      <m:t>=</m:t>
                    </m:r>
                    <m:f>
                      <m:fPr>
                        <m:ctrlPr>
                          <a:rPr lang="en-US" altLang="zh-CN" sz="1000" i="1">
                            <a:latin typeface="Cambria Math" panose="02040503050406030204" pitchFamily="18" charset="0"/>
                          </a:rPr>
                        </m:ctrlPr>
                      </m:fPr>
                      <m:num>
                        <m:r>
                          <a:rPr lang="en-US" altLang="zh-CN" sz="1000" b="0" i="1" smtClean="0">
                            <a:latin typeface="Cambria Math" panose="02040503050406030204" pitchFamily="18" charset="0"/>
                          </a:rPr>
                          <m:t>1</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i="1">
                            <a:latin typeface="Cambria Math" panose="02040503050406030204" pitchFamily="18" charset="0"/>
                          </a:rPr>
                          <m:t>(1−</m:t>
                        </m:r>
                        <m:r>
                          <a:rPr lang="en-US" altLang="zh-CN" sz="1000" i="1">
                            <a:latin typeface="Cambria Math" panose="02040503050406030204" pitchFamily="18" charset="0"/>
                          </a:rPr>
                          <m:t>𝑡</m:t>
                        </m:r>
                        <m:r>
                          <a:rPr lang="en-US" altLang="zh-CN" sz="1000" i="1">
                            <a:latin typeface="Cambria Math" panose="02040503050406030204" pitchFamily="18" charset="0"/>
                          </a:rPr>
                          <m:t>)</m:t>
                        </m:r>
                      </m:den>
                    </m:f>
                  </m:oMath>
                </a14:m>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定量税</a:t>
                </a:r>
                <a:r>
                  <a:rPr lang="en-US" altLang="zh-CN" sz="1000" dirty="0">
                    <a:latin typeface="Garamond" panose="02020404030301010803" pitchFamily="18" charset="0"/>
                    <a:ea typeface="SimSun" panose="02010600030101010101" pitchFamily="2" charset="-122"/>
                  </a:rPr>
                  <a:t>T</a:t>
                </a:r>
                <a:r>
                  <a:rPr lang="zh-CN" altLang="en-US" sz="1000" dirty="0">
                    <a:latin typeface="Garamond" panose="02020404030301010803" pitchFamily="18" charset="0"/>
                    <a:ea typeface="SimSun" panose="02010600030101010101" pitchFamily="2" charset="-122"/>
                  </a:rPr>
                  <a:t>与比例税情同时存在的情形：</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zh-CN" altLang="en-US" sz="1000" i="1">
                        <a:latin typeface="Cambria Math" panose="02040503050406030204" pitchFamily="18" charset="0"/>
                      </a:rPr>
                      <m:t>均衡收入</m:t>
                    </m:r>
                    <m:r>
                      <a:rPr lang="en-US" altLang="zh-CN" sz="1000" i="1">
                        <a:latin typeface="Cambria Math" panose="02040503050406030204" pitchFamily="18" charset="0"/>
                      </a:rPr>
                      <m:t>𝑦</m:t>
                    </m:r>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zh-CN" altLang="en-US" sz="1000" i="1">
                            <a:latin typeface="Cambria Math" panose="02040503050406030204" pitchFamily="18" charset="0"/>
                          </a:rPr>
                          <m:t>𝛼</m:t>
                        </m:r>
                        <m:r>
                          <a:rPr lang="en-US" altLang="zh-CN" sz="1000" i="1">
                            <a:latin typeface="Cambria Math" panose="02040503050406030204" pitchFamily="18" charset="0"/>
                          </a:rPr>
                          <m:t>+</m:t>
                        </m:r>
                        <m:r>
                          <a:rPr lang="en-US" altLang="zh-CN" sz="1000" i="1">
                            <a:latin typeface="Cambria Math" panose="02040503050406030204" pitchFamily="18" charset="0"/>
                          </a:rPr>
                          <m:t>𝑖</m:t>
                        </m:r>
                        <m:r>
                          <a:rPr lang="en-US" altLang="zh-CN" sz="1000" i="1">
                            <a:latin typeface="Cambria Math" panose="02040503050406030204" pitchFamily="18" charset="0"/>
                          </a:rPr>
                          <m:t>+</m:t>
                        </m:r>
                        <m:r>
                          <a:rPr lang="en-US" altLang="zh-CN" sz="1000" i="1">
                            <a:latin typeface="Cambria Math" panose="02040503050406030204" pitchFamily="18" charset="0"/>
                          </a:rPr>
                          <m:t>𝑔</m:t>
                        </m:r>
                        <m:r>
                          <a:rPr lang="en-US" altLang="zh-CN" sz="1000" b="0" i="1" smtClean="0">
                            <a:latin typeface="Cambria Math" panose="02040503050406030204" pitchFamily="18" charset="0"/>
                          </a:rPr>
                          <m:t>−</m:t>
                        </m:r>
                        <m:r>
                          <a:rPr lang="zh-CN" altLang="en-US" sz="1000" i="1">
                            <a:latin typeface="Cambria Math" panose="02040503050406030204" pitchFamily="18" charset="0"/>
                          </a:rPr>
                          <m:t>𝛽</m:t>
                        </m:r>
                        <m:r>
                          <a:rPr lang="en-US" altLang="zh-CN" sz="1000" b="0" i="1" smtClean="0">
                            <a:latin typeface="Cambria Math" panose="02040503050406030204" pitchFamily="18" charset="0"/>
                          </a:rPr>
                          <m:t>𝑇</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i="1">
                            <a:latin typeface="Cambria Math" panose="02040503050406030204" pitchFamily="18" charset="0"/>
                          </a:rPr>
                          <m:t>(1−</m:t>
                        </m:r>
                        <m:r>
                          <a:rPr lang="en-US" altLang="zh-CN" sz="1000" i="1">
                            <a:latin typeface="Cambria Math" panose="02040503050406030204" pitchFamily="18" charset="0"/>
                          </a:rPr>
                          <m:t>𝑡</m:t>
                        </m:r>
                        <m:r>
                          <a:rPr lang="en-US" altLang="zh-CN" sz="1000" i="1">
                            <a:latin typeface="Cambria Math" panose="02040503050406030204" pitchFamily="18" charset="0"/>
                          </a:rPr>
                          <m:t>)</m:t>
                        </m:r>
                      </m:den>
                    </m:f>
                  </m:oMath>
                </a14:m>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zh-CN" altLang="en-US" sz="1000" i="1">
                        <a:latin typeface="Cambria Math" panose="02040503050406030204" pitchFamily="18" charset="0"/>
                      </a:rPr>
                      <m:t>∴</m:t>
                    </m:r>
                    <m:r>
                      <a:rPr lang="zh-CN" altLang="en-US" sz="1000" i="1" smtClean="0">
                        <a:latin typeface="Cambria Math" panose="02040503050406030204" pitchFamily="18" charset="0"/>
                      </a:rPr>
                      <m:t>税收乘数为</m:t>
                    </m:r>
                    <m:r>
                      <a:rPr lang="zh-CN" altLang="en-US" sz="1000" b="0" i="1" smtClean="0">
                        <a:latin typeface="Cambria Math" panose="02040503050406030204" pitchFamily="18" charset="0"/>
                      </a:rPr>
                      <m:t>：</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en-US" altLang="zh-CN" sz="1000" i="1">
                            <a:latin typeface="Cambria Math" panose="02040503050406030204" pitchFamily="18" charset="0"/>
                            <a:ea typeface="Cambria Math" panose="02040503050406030204" pitchFamily="18" charset="0"/>
                          </a:rPr>
                          <m:t>𝑦</m:t>
                        </m:r>
                      </m:num>
                      <m:den>
                        <m:r>
                          <a:rPr lang="en-US" altLang="zh-CN" sz="1000" i="1">
                            <a:latin typeface="Cambria Math" panose="02040503050406030204" pitchFamily="18" charset="0"/>
                            <a:ea typeface="Cambria Math" panose="02040503050406030204" pitchFamily="18" charset="0"/>
                          </a:rPr>
                          <m:t>∆</m:t>
                        </m:r>
                        <m:r>
                          <a:rPr lang="en-US" altLang="zh-CN" sz="1000" b="0" i="1" smtClean="0">
                            <a:latin typeface="Cambria Math" panose="02040503050406030204" pitchFamily="18" charset="0"/>
                            <a:ea typeface="Cambria Math" panose="02040503050406030204" pitchFamily="18" charset="0"/>
                          </a:rPr>
                          <m:t>𝑇</m:t>
                        </m:r>
                      </m:den>
                    </m:f>
                    <m:r>
                      <a:rPr lang="en-US" altLang="zh-CN" sz="1000" i="1">
                        <a:latin typeface="Cambria Math" panose="02040503050406030204" pitchFamily="18" charset="0"/>
                        <a:ea typeface="Cambria Math" panose="02040503050406030204" pitchFamily="18" charset="0"/>
                      </a:rPr>
                      <m:t>=</m:t>
                    </m:r>
                    <m:sSub>
                      <m:sSubPr>
                        <m:ctrlPr>
                          <a:rPr lang="en-US" altLang="zh-CN" sz="1000" i="1">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Cambria Math" panose="02040503050406030204" pitchFamily="18" charset="0"/>
                          </a:rPr>
                          <m:t>𝑘</m:t>
                        </m:r>
                      </m:e>
                      <m:sub>
                        <m:r>
                          <a:rPr lang="en-US" altLang="zh-CN" sz="1000" b="0" i="1" smtClean="0">
                            <a:latin typeface="Cambria Math" panose="02040503050406030204" pitchFamily="18" charset="0"/>
                            <a:ea typeface="Cambria Math" panose="02040503050406030204" pitchFamily="18" charset="0"/>
                          </a:rPr>
                          <m:t>𝑇</m:t>
                        </m:r>
                      </m:sub>
                    </m:sSub>
                    <m:r>
                      <a:rPr lang="en-US" altLang="zh-CN" sz="1000" i="1">
                        <a:latin typeface="Cambria Math" panose="02040503050406030204" pitchFamily="18" charset="0"/>
                        <a:ea typeface="Cambria Math" panose="02040503050406030204" pitchFamily="18" charset="0"/>
                      </a:rPr>
                      <m:t>=</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zh-CN" altLang="en-US" sz="1000" i="1">
                            <a:latin typeface="Cambria Math" panose="02040503050406030204" pitchFamily="18" charset="0"/>
                            <a:ea typeface="Cambria Math" panose="02040503050406030204" pitchFamily="18" charset="0"/>
                          </a:rPr>
                          <m:t>𝛽</m:t>
                        </m:r>
                      </m:num>
                      <m:den>
                        <m:r>
                          <a:rPr lang="en-US" altLang="zh-CN" sz="1000" i="1">
                            <a:latin typeface="Cambria Math" panose="02040503050406030204" pitchFamily="18" charset="0"/>
                            <a:ea typeface="Cambria Math" panose="02040503050406030204" pitchFamily="18" charset="0"/>
                          </a:rPr>
                          <m:t>1−</m:t>
                        </m:r>
                        <m:r>
                          <a:rPr lang="zh-CN" altLang="en-US" sz="1000" i="1">
                            <a:latin typeface="Cambria Math" panose="02040503050406030204" pitchFamily="18" charset="0"/>
                            <a:ea typeface="Cambria Math" panose="02040503050406030204" pitchFamily="18" charset="0"/>
                          </a:rPr>
                          <m:t>𝛽</m:t>
                        </m:r>
                        <m:r>
                          <a:rPr lang="en-US" altLang="zh-CN" sz="1000" i="1">
                            <a:latin typeface="Cambria Math" panose="02040503050406030204" pitchFamily="18" charset="0"/>
                            <a:ea typeface="Cambria Math" panose="02040503050406030204" pitchFamily="18" charset="0"/>
                          </a:rPr>
                          <m:t>(1−</m:t>
                        </m:r>
                        <m:r>
                          <a:rPr lang="en-US" altLang="zh-CN" sz="1000" i="1">
                            <a:latin typeface="Cambria Math" panose="02040503050406030204" pitchFamily="18" charset="0"/>
                            <a:ea typeface="Cambria Math" panose="02040503050406030204" pitchFamily="18" charset="0"/>
                          </a:rPr>
                          <m:t>𝑡</m:t>
                        </m:r>
                        <m:r>
                          <a:rPr lang="en-US" altLang="zh-CN" sz="1000" i="1">
                            <a:latin typeface="Cambria Math" panose="02040503050406030204" pitchFamily="18" charset="0"/>
                            <a:ea typeface="Cambria Math" panose="02040503050406030204" pitchFamily="18" charset="0"/>
                          </a:rPr>
                          <m:t>)</m:t>
                        </m:r>
                      </m:den>
                    </m:f>
                  </m:oMath>
                </a14:m>
                <a:r>
                  <a:rPr lang="zh-CN" altLang="en-US" sz="1000" dirty="0">
                    <a:latin typeface="Garamond" panose="02020404030301010803" pitchFamily="18" charset="0"/>
                    <a:ea typeface="SimSun" panose="02010600030101010101" pitchFamily="2" charset="-122"/>
                  </a:rPr>
                  <a:t> ，此时</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a:latin typeface="Cambria Math" panose="02040503050406030204" pitchFamily="18" charset="0"/>
                          </a:rPr>
                          <m:t>k</m:t>
                        </m:r>
                      </m:e>
                      <m:sub>
                        <m:r>
                          <a:rPr lang="en-US" altLang="zh-CN" sz="1000" i="1">
                            <a:latin typeface="Cambria Math" panose="02040503050406030204" pitchFamily="18" charset="0"/>
                          </a:rPr>
                          <m:t>𝑖</m:t>
                        </m:r>
                      </m:sub>
                    </m:sSub>
                    <m:r>
                      <a:rPr lang="en-US" altLang="zh-CN" sz="1000" i="1">
                        <a:latin typeface="Cambria Math" panose="02040503050406030204" pitchFamily="18" charset="0"/>
                      </a:rPr>
                      <m:t>=</m:t>
                    </m:r>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𝑘</m:t>
                        </m:r>
                      </m:e>
                      <m:sub>
                        <m:r>
                          <a:rPr lang="en-US" altLang="zh-CN" sz="1000" i="1">
                            <a:latin typeface="Cambria Math" panose="02040503050406030204" pitchFamily="18" charset="0"/>
                          </a:rPr>
                          <m:t>𝑔</m:t>
                        </m:r>
                      </m:sub>
                    </m:sSub>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en-US" altLang="zh-CN" sz="1000" i="1">
                            <a:latin typeface="Cambria Math" panose="02040503050406030204" pitchFamily="18" charset="0"/>
                          </a:rPr>
                          <m:t>1</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i="1">
                            <a:latin typeface="Cambria Math" panose="02040503050406030204" pitchFamily="18" charset="0"/>
                          </a:rPr>
                          <m:t>(1−</m:t>
                        </m:r>
                        <m:r>
                          <a:rPr lang="en-US" altLang="zh-CN" sz="1000" i="1">
                            <a:latin typeface="Cambria Math" panose="02040503050406030204" pitchFamily="18" charset="0"/>
                          </a:rPr>
                          <m:t>𝑡</m:t>
                        </m:r>
                        <m:r>
                          <a:rPr lang="en-US" altLang="zh-CN" sz="1000" i="1">
                            <a:latin typeface="Cambria Math" panose="02040503050406030204" pitchFamily="18" charset="0"/>
                          </a:rPr>
                          <m:t>)</m:t>
                        </m:r>
                      </m:den>
                    </m:f>
                  </m:oMath>
                </a14:m>
                <a:endParaRPr lang="zh-CN" altLang="en-US" sz="1000"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73</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73</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比例税</a:t>
            </a:r>
          </a:p>
        </p:txBody>
      </p:sp>
    </p:spTree>
    <p:extLst>
      <p:ext uri="{BB962C8B-B14F-4D97-AF65-F5344CB8AC3E}">
        <p14:creationId xmlns:p14="http://schemas.microsoft.com/office/powerpoint/2010/main" val="3599488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a:bodyPr>
              <a:lstStyle/>
              <a:p>
                <a:r>
                  <a:rPr lang="zh-CN" altLang="en-US" sz="1209" b="1" dirty="0"/>
                  <a:t>政府转移支付乘数</a:t>
                </a:r>
                <a:r>
                  <a:rPr lang="zh-CN" altLang="en-US" sz="1209" dirty="0"/>
                  <a:t>指收入变动与引起这种变动的政府转移支付变动的比率。</a:t>
                </a:r>
                <a:endParaRPr lang="en-US" altLang="zh-CN" sz="1209" dirty="0"/>
              </a:p>
              <a:p>
                <a:r>
                  <a:rPr lang="zh-CN" altLang="en-US" sz="1007" dirty="0"/>
                  <a:t>写入了政府转移支付后，净税收</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𝑛</m:t>
                        </m:r>
                      </m:sub>
                    </m:sSub>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oMath>
                </a14:m>
                <a:endParaRPr lang="en-US" altLang="zh-CN" sz="1007" dirty="0"/>
              </a:p>
              <a:p>
                <a:r>
                  <a:rPr lang="zh-CN" altLang="en-US" sz="1007" dirty="0"/>
                  <a:t>在</a:t>
                </a:r>
                <a14:m>
                  <m:oMath xmlns:m="http://schemas.openxmlformats.org/officeDocument/2006/math">
                    <m:r>
                      <a:rPr lang="en-US" altLang="zh-CN" sz="1007" i="1">
                        <a:latin typeface="Cambria Math" panose="02040503050406030204" pitchFamily="18" charset="0"/>
                      </a:rPr>
                      <m:t>𝑦</m:t>
                    </m:r>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zh-CN" altLang="en-US" sz="1007" dirty="0"/>
                  <a:t>中，只有政府转移支付变动，则转移支付为</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oMath>
                </a14:m>
                <a:r>
                  <a:rPr lang="zh-CN" altLang="en-US" sz="1007" dirty="0"/>
                  <a:t>和</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oMath>
                </a14:m>
                <a:r>
                  <a:rPr lang="zh-CN" altLang="en-US" sz="1007" dirty="0"/>
                  <a:t>时的收入分别为：</a:t>
                </a:r>
                <a:endParaRPr lang="en-US" altLang="zh-CN" sz="1007" dirty="0"/>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r>
                              <a:rPr lang="en-US" altLang="zh-CN" sz="1007" i="1">
                                <a:latin typeface="Cambria Math" panose="02040503050406030204" pitchFamily="18" charset="0"/>
                              </a:rPr>
                              <m:t>−</m:t>
                            </m:r>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en-US" altLang="zh-CN" sz="1007" dirty="0">
                    <a:latin typeface="+mn-ea"/>
                  </a:rPr>
                  <a:t>    </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endParaRPr lang="en-US" altLang="zh-CN" sz="1007" dirty="0">
                  <a:latin typeface="+mn-ea"/>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𝛽</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m:rPr>
                                <m:sty m:val="p"/>
                              </m:rPr>
                              <a:rPr lang="en-US" altLang="zh-CN" sz="1007" i="1">
                                <a:latin typeface="Cambria Math" panose="02040503050406030204" pitchFamily="18" charset="0"/>
                              </a:rPr>
                              <m:t>t</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en-US" altLang="zh-CN"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sz="1007" dirty="0"/>
              </a:p>
              <a:p>
                <a14:m>
                  <m:oMath xmlns:m="http://schemas.openxmlformats.org/officeDocument/2006/math">
                    <m:r>
                      <a:rPr lang="zh-CN" altLang="en-US"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den>
                    </m:f>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sub>
                    </m:sSub>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sz="1007" dirty="0"/>
              </a:p>
              <a:p>
                <a14:m>
                  <m:oMath xmlns:m="http://schemas.openxmlformats.org/officeDocument/2006/math">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sub>
                    </m:sSub>
                    <m:r>
                      <a:rPr lang="en-US" altLang="zh-CN" sz="1007" i="1">
                        <a:latin typeface="Cambria Math" panose="02040503050406030204" pitchFamily="18" charset="0"/>
                        <a:ea typeface="Cambria Math" panose="02040503050406030204" pitchFamily="18" charset="0"/>
                      </a:rPr>
                      <m:t>&gt;0</m:t>
                    </m:r>
                  </m:oMath>
                </a14:m>
                <a:r>
                  <a:rPr lang="zh-CN" altLang="en-US" sz="1007" dirty="0"/>
                  <a:t>，表明政府转移支付增加了人们的可支配收入，因而消费会增加，总支出和国民收入增加。</a:t>
                </a:r>
                <a:endParaRPr lang="en-US" altLang="zh-CN" sz="1007" dirty="0"/>
              </a:p>
              <a:p>
                <a:endParaRPr lang="zh-CN" altLang="en-US" sz="1007"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74</a:t>
            </a:fld>
            <a:endParaRPr lang="zh-CN" altLang="en-US"/>
          </a:p>
        </p:txBody>
      </p:sp>
      <p:sp>
        <p:nvSpPr>
          <p:cNvPr id="7" name="标题 6">
            <a:extLst>
              <a:ext uri="{FF2B5EF4-FFF2-40B4-BE49-F238E27FC236}">
                <a16:creationId xmlns:a16="http://schemas.microsoft.com/office/drawing/2014/main" id="{E8182D30-AFF1-101E-3DDA-9791FD756D79}"/>
              </a:ext>
            </a:extLst>
          </p:cNvPr>
          <p:cNvSpPr>
            <a:spLocks noGrp="1"/>
          </p:cNvSpPr>
          <p:nvPr>
            <p:ph type="title"/>
          </p:nvPr>
        </p:nvSpPr>
        <p:spPr/>
        <p:txBody>
          <a:bodyPr/>
          <a:lstStyle/>
          <a:p>
            <a:r>
              <a:rPr kumimoji="1" lang="zh-CN" altLang="en-US" dirty="0"/>
              <a:t>政府转移支付乘数</a:t>
            </a:r>
          </a:p>
        </p:txBody>
      </p:sp>
      <p:sp>
        <p:nvSpPr>
          <p:cNvPr id="8" name="灯片编号占位符 2">
            <a:extLst>
              <a:ext uri="{FF2B5EF4-FFF2-40B4-BE49-F238E27FC236}">
                <a16:creationId xmlns:a16="http://schemas.microsoft.com/office/drawing/2014/main" id="{88D97709-877C-71B1-7289-F79239CAF88F}"/>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74</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6708095-9288-ABBE-BB18-59E3F6F23FF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483771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b="1" dirty="0">
                    <a:latin typeface="Garamond" panose="02020404030301010803" pitchFamily="18" charset="0"/>
                    <a:ea typeface="SimSun" panose="02010600030101010101" pitchFamily="2" charset="-122"/>
                  </a:rPr>
                  <a:t>平衡预算乘数</a:t>
                </a:r>
                <a:r>
                  <a:rPr lang="zh-CN" altLang="en-US" sz="1209" dirty="0">
                    <a:latin typeface="Garamond" panose="02020404030301010803" pitchFamily="18" charset="0"/>
                    <a:ea typeface="SimSun" panose="02010600030101010101" pitchFamily="2" charset="-122"/>
                  </a:rPr>
                  <a:t>指政府收入与支出同时以相等数量增加或减少时国民收入变动与政府收支变动的比率。</a:t>
                </a:r>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𝑡</m:t>
                        </m:r>
                      </m:sub>
                    </m:sSub>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endParaRPr lang="en-US" altLang="zh-CN" sz="1007" i="1" dirty="0">
                  <a:latin typeface="Garamond" panose="02020404030301010803" pitchFamily="18" charset="0"/>
                  <a:ea typeface="SimSun" panose="02010600030101010101" pitchFamily="2" charset="-122"/>
                </a:endParaRPr>
              </a:p>
              <a:p>
                <a14:m>
                  <m:oMath xmlns:m="http://schemas.openxmlformats.org/officeDocument/2006/math">
                    <m:r>
                      <a:rPr lang="zh-CN" altLang="en-US" sz="1007" i="1" dirty="0">
                        <a:latin typeface="Cambria Math" panose="02040503050406030204" pitchFamily="18" charset="0"/>
                      </a:rPr>
                      <m:t>由于</m:t>
                    </m:r>
                  </m:oMath>
                </a14:m>
                <a:r>
                  <a:rPr lang="zh-CN" altLang="en-US" sz="1007" dirty="0">
                    <a:latin typeface="Garamond" panose="02020404030301010803" pitchFamily="18" charset="0"/>
                    <a:ea typeface="SimSun" panose="02010600030101010101" pitchFamily="2" charset="-122"/>
                  </a:rPr>
                  <a:t>假定</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r>
                  <a:rPr lang="zh-CN" altLang="en-US" sz="1007" dirty="0">
                    <a:latin typeface="Garamond" panose="02020404030301010803" pitchFamily="18" charset="0"/>
                    <a:ea typeface="SimSun" panose="02010600030101010101" pitchFamily="2" charset="-122"/>
                  </a:rPr>
                  <a:t>，因此，</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m:rPr>
                        <m:nor/>
                      </m:rPr>
                      <a:rPr lang="en-US" altLang="zh-CN" sz="1007" dirty="0">
                        <a:latin typeface="Garamond" panose="02020404030301010803" pitchFamily="18" charset="0"/>
                        <a:ea typeface="SimSun" panose="02010600030101010101" pitchFamily="2" charset="-122"/>
                      </a:rPr>
                      <m:t> </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oMath>
                </a14:m>
                <a:endParaRPr lang="en-US" altLang="zh-CN" sz="1007" i="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或</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m:rPr>
                        <m:sty m:val="p"/>
                      </m:rPr>
                      <a:rPr lang="en-US" altLang="zh-CN" sz="1007" i="1">
                        <a:latin typeface="Cambria Math" panose="02040503050406030204" pitchFamily="18" charset="0"/>
                        <a:ea typeface="Cambria Math" panose="02040503050406030204" pitchFamily="18" charset="0"/>
                      </a:rPr>
                      <m:t>t</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m:rPr>
                        <m:nor/>
                      </m:rPr>
                      <a:rPr lang="en-US" altLang="zh-CN" sz="1007" dirty="0">
                        <a:latin typeface="Garamond" panose="02020404030301010803" pitchFamily="18" charset="0"/>
                        <a:ea typeface="SimSun" panose="02010600030101010101" pitchFamily="2" charset="-122"/>
                      </a:rPr>
                      <m:t> </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r>
                      <a:rPr lang="en-US" altLang="zh-CN" sz="1007" i="1">
                        <a:latin typeface="Cambria Math" panose="02040503050406030204" pitchFamily="18" charset="0"/>
                        <a:ea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endParaRPr lang="en-US" altLang="zh-CN" sz="1007" i="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由此可得：</a:t>
                </a:r>
                <a:r>
                  <a:rPr lang="en-US" altLang="zh-CN" sz="1007" dirty="0">
                    <a:latin typeface="Garamond" panose="02020404030301010803" pitchFamily="18" charset="0"/>
                    <a:ea typeface="SimSun" panose="02010600030101010101" pitchFamily="2" charset="-122"/>
                  </a:rPr>
                  <a:t> </a:t>
                </a:r>
                <a14:m>
                  <m:oMath xmlns:m="http://schemas.openxmlformats.org/officeDocument/2006/math">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den>
                    </m:f>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den>
                    </m:f>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=1</m:t>
                    </m:r>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平衡</a:t>
                </a:r>
                <a14:m>
                  <m:oMath xmlns:m="http://schemas.openxmlformats.org/officeDocument/2006/math">
                    <m:r>
                      <a:rPr lang="zh-CN" altLang="en-US" sz="1007" i="1">
                        <a:latin typeface="Cambria Math" panose="02040503050406030204" pitchFamily="18" charset="0"/>
                      </a:rPr>
                      <m:t>预算乘数</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𝑘</m:t>
                        </m:r>
                      </m:e>
                      <m:sub>
                        <m:r>
                          <a:rPr lang="en-US" altLang="zh-CN" sz="1007" i="1">
                            <a:latin typeface="Cambria Math" panose="02040503050406030204" pitchFamily="18" charset="0"/>
                          </a:rPr>
                          <m:t>𝑏</m:t>
                        </m:r>
                      </m:sub>
                    </m:sSub>
                    <m:r>
                      <a:rPr lang="en-US" altLang="zh-CN" sz="1007" i="1">
                        <a:latin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1</a:t>
                </a:r>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75</a:t>
            </a:fld>
            <a:endParaRPr lang="zh-CN" altLang="en-US"/>
          </a:p>
        </p:txBody>
      </p:sp>
      <p:sp>
        <p:nvSpPr>
          <p:cNvPr id="7" name="标题 6">
            <a:extLst>
              <a:ext uri="{FF2B5EF4-FFF2-40B4-BE49-F238E27FC236}">
                <a16:creationId xmlns:a16="http://schemas.microsoft.com/office/drawing/2014/main" id="{3B99D41D-0DDD-1FF4-0F61-FF4CA77301B9}"/>
              </a:ext>
            </a:extLst>
          </p:cNvPr>
          <p:cNvSpPr>
            <a:spLocks noGrp="1"/>
          </p:cNvSpPr>
          <p:nvPr>
            <p:ph type="title"/>
          </p:nvPr>
        </p:nvSpPr>
        <p:spPr/>
        <p:txBody>
          <a:bodyPr/>
          <a:lstStyle/>
          <a:p>
            <a:r>
              <a:rPr kumimoji="1" lang="zh-CN" altLang="en-US" dirty="0"/>
              <a:t>平衡预算乘数</a:t>
            </a:r>
          </a:p>
        </p:txBody>
      </p:sp>
      <p:sp>
        <p:nvSpPr>
          <p:cNvPr id="8" name="灯片编号占位符 2">
            <a:extLst>
              <a:ext uri="{FF2B5EF4-FFF2-40B4-BE49-F238E27FC236}">
                <a16:creationId xmlns:a16="http://schemas.microsoft.com/office/drawing/2014/main" id="{5917C644-DCA0-09A3-FB40-6354003A6B64}"/>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75</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F70A411F-91E8-C404-9831-A5481981163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684103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76</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14:m>
                  <m:oMath xmlns:m="http://schemas.openxmlformats.org/officeDocument/2006/math">
                    <m:sSub>
                      <m:sSubPr>
                        <m:ctrlP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t>𝑑</m:t>
                        </m:r>
                      </m:sub>
                    </m:sSub>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）投资乘数、政府购买乘数、税收乘数、转移支付乘数和平衡预算乘数各为多少？ </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1599883"/>
              </a:xfrm>
              <a:blipFill>
                <a:blip r:embed="rId2"/>
                <a:stretch>
                  <a:fillRect t="-787"/>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12434765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）可支配收入</a:t>
            </a:r>
            <a:r>
              <a:rPr lang="en" altLang="zh-CN" sz="1210" dirty="0">
                <a:latin typeface="Garamond" panose="02020404030301010803" pitchFamily="18" charset="0"/>
                <a:ea typeface="SimSun" panose="02010600030101010101" pitchFamily="2" charset="-122"/>
                <a:cs typeface="Times New Roman" panose="02020603050405020304" pitchFamily="18" charset="0"/>
              </a:rPr>
              <a:t>DI=Y-T =Y-</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endParaRPr lang="en"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en" altLang="zh-CN" sz="1210" dirty="0">
                <a:latin typeface="Garamond" panose="02020404030301010803" pitchFamily="18" charset="0"/>
                <a:ea typeface="SimSun" panose="02010600030101010101" pitchFamily="2" charset="-122"/>
                <a:cs typeface="Times New Roman" panose="02020603050405020304" pitchFamily="18" charset="0"/>
              </a:rPr>
              <a:t>         </a:t>
            </a:r>
            <a:r>
              <a:rPr lang="zh-CN" altLang="en-US" sz="1210" dirty="0">
                <a:latin typeface="Garamond" panose="02020404030301010803" pitchFamily="18" charset="0"/>
                <a:ea typeface="SimSun" panose="02010600030101010101" pitchFamily="2" charset="-122"/>
                <a:cs typeface="Times New Roman" panose="02020603050405020304" pitchFamily="18" charset="0"/>
              </a:rPr>
              <a:t>由收入恒等式</a:t>
            </a:r>
            <a:r>
              <a:rPr lang="en" altLang="zh-CN" sz="1210" dirty="0">
                <a:latin typeface="Garamond" panose="02020404030301010803" pitchFamily="18" charset="0"/>
                <a:ea typeface="SimSun" panose="02010600030101010101" pitchFamily="2" charset="-122"/>
                <a:cs typeface="Times New Roman" panose="02020603050405020304" pitchFamily="18" charset="0"/>
              </a:rPr>
              <a:t>Y=C+I+G=1</a:t>
            </a:r>
            <a:r>
              <a:rPr lang="en-US" altLang="zh-CN" sz="1210" dirty="0">
                <a:latin typeface="Garamond" panose="02020404030301010803" pitchFamily="18" charset="0"/>
                <a:ea typeface="SimSun" panose="02010600030101010101" pitchFamily="2" charset="-122"/>
                <a:cs typeface="Times New Roman" panose="02020603050405020304" pitchFamily="18" charset="0"/>
              </a:rPr>
              <a:t>6</a:t>
            </a:r>
            <a:r>
              <a:rPr lang="en" altLang="zh-CN" sz="1210" dirty="0">
                <a:latin typeface="Garamond" panose="02020404030301010803" pitchFamily="18" charset="0"/>
                <a:ea typeface="SimSun" panose="02010600030101010101" pitchFamily="2" charset="-122"/>
                <a:cs typeface="Times New Roman" panose="02020603050405020304" pitchFamily="18" charset="0"/>
              </a:rPr>
              <a:t>00+0.</a:t>
            </a:r>
            <a:r>
              <a:rPr lang="en-US" altLang="zh-CN" sz="1210" dirty="0">
                <a:latin typeface="Garamond" panose="02020404030301010803" pitchFamily="18" charset="0"/>
                <a:ea typeface="SimSun" panose="02010600030101010101" pitchFamily="2" charset="-122"/>
                <a:cs typeface="Times New Roman" panose="02020603050405020304" pitchFamily="18" charset="0"/>
              </a:rPr>
              <a:t>75</a:t>
            </a:r>
            <a:r>
              <a:rPr lang="en" altLang="zh-CN" sz="1210" dirty="0">
                <a:latin typeface="Garamond" panose="02020404030301010803" pitchFamily="18" charset="0"/>
                <a:ea typeface="SimSun" panose="02010600030101010101" pitchFamily="2" charset="-122"/>
                <a:cs typeface="Times New Roman" panose="02020603050405020304" pitchFamily="18" charset="0"/>
              </a:rPr>
              <a:t>(Y-</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r>
              <a:rPr lang="en" altLang="zh-CN"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en" altLang="zh-CN" sz="1210" dirty="0">
                <a:latin typeface="Garamond" panose="02020404030301010803" pitchFamily="18" charset="0"/>
                <a:ea typeface="SimSun" panose="02010600030101010101" pitchFamily="2" charset="-122"/>
                <a:cs typeface="Times New Roman" panose="02020603050405020304" pitchFamily="18" charset="0"/>
              </a:rPr>
              <a:t>+200</a:t>
            </a:r>
            <a:r>
              <a:rPr lang="en-US" altLang="zh-CN" sz="1210" dirty="0">
                <a:latin typeface="Garamond" panose="02020404030301010803" pitchFamily="18" charset="0"/>
                <a:ea typeface="SimSun" panose="02010600030101010101" pitchFamily="2" charset="-122"/>
                <a:cs typeface="Times New Roman" panose="02020603050405020304" pitchFamily="18" charset="0"/>
              </a:rPr>
              <a:t>0</a:t>
            </a:r>
            <a:endParaRPr lang="en"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en" altLang="zh-CN" sz="1210" dirty="0">
                <a:latin typeface="Garamond" panose="02020404030301010803" pitchFamily="18" charset="0"/>
                <a:ea typeface="SimSun" panose="02010600030101010101" pitchFamily="2" charset="-122"/>
                <a:cs typeface="Times New Roman" panose="02020603050405020304" pitchFamily="18" charset="0"/>
              </a:rPr>
              <a:t>         </a:t>
            </a:r>
            <a:r>
              <a:rPr lang="zh-CN" altLang="en-US" sz="1210" dirty="0">
                <a:latin typeface="Garamond" panose="02020404030301010803" pitchFamily="18" charset="0"/>
                <a:ea typeface="SimSun" panose="02010600030101010101" pitchFamily="2" charset="-122"/>
                <a:cs typeface="Times New Roman" panose="02020603050405020304" pitchFamily="18" charset="0"/>
              </a:rPr>
              <a:t>解得均衡国民收入</a:t>
            </a:r>
            <a:r>
              <a:rPr lang="en" altLang="zh-CN" sz="1210" dirty="0">
                <a:latin typeface="Garamond" panose="02020404030301010803" pitchFamily="18" charset="0"/>
                <a:ea typeface="SimSun" panose="02010600030101010101" pitchFamily="2" charset="-122"/>
                <a:cs typeface="Times New Roman" panose="02020603050405020304" pitchFamily="18" charset="0"/>
              </a:rPr>
              <a:t>Y</a:t>
            </a:r>
            <a:r>
              <a:rPr lang="zh-CN" altLang="en-US" sz="1210" dirty="0">
                <a:latin typeface="Garamond" panose="02020404030301010803" pitchFamily="18" charset="0"/>
                <a:ea typeface="SimSun" panose="02010600030101010101" pitchFamily="2" charset="-122"/>
                <a:cs typeface="Times New Roman" panose="02020603050405020304" pitchFamily="18" charset="0"/>
              </a:rPr>
              <a:t> </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16138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）根据消费函数可知边际消费倾向</a:t>
            </a:r>
            <a:r>
              <a:rPr lang="en" altLang="zh-CN" sz="1210" dirty="0">
                <a:latin typeface="Garamond" panose="02020404030301010803" pitchFamily="18" charset="0"/>
                <a:ea typeface="SimSun" panose="02010600030101010101" pitchFamily="2" charset="-122"/>
                <a:cs typeface="Times New Roman" panose="02020603050405020304" pitchFamily="18" charset="0"/>
              </a:rPr>
              <a:t>MPC=0.75</a:t>
            </a:r>
            <a:r>
              <a:rPr lang="zh-CN" altLang="en" sz="1210" dirty="0">
                <a:latin typeface="Garamond" panose="02020404030301010803" pitchFamily="18" charset="0"/>
                <a:ea typeface="SimSun" panose="02010600030101010101" pitchFamily="2" charset="-122"/>
                <a:cs typeface="Times New Roman" panose="02020603050405020304" pitchFamily="18" charset="0"/>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则：</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=4</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=4</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税收乘数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/1- MPC =-3</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转移支付乘数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/1- MPC </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en" altLang="zh-CN" sz="1210" dirty="0">
                <a:latin typeface="Garamond" panose="02020404030301010803" pitchFamily="18" charset="0"/>
                <a:ea typeface="SimSun" panose="02010600030101010101" pitchFamily="2" charset="-122"/>
                <a:cs typeface="Times New Roman" panose="02020603050405020304" pitchFamily="18" charset="0"/>
              </a:rPr>
              <a:t>3</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平衡预算乘数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 1-</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/1- MPC =1</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4982298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1209" dirty="0">
                    <a:latin typeface="Garamond" panose="02020404030301010803" pitchFamily="18" charset="0"/>
                    <a:ea typeface="SimSun" panose="02010600030101010101" pitchFamily="2" charset="-122"/>
                  </a:rPr>
                  <a:t>进一步放松假设条件，假设在开放经济中，有了国外部门，本国产生进出口方面的影响。</a:t>
                </a:r>
                <a:endParaRPr lang="en-US" altLang="zh-CN" sz="1209"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净出口的决定因素：</a:t>
                </a:r>
                <a:endParaRPr lang="en-US" altLang="zh-CN" sz="1007" dirty="0">
                  <a:latin typeface="Garamond" panose="02020404030301010803" pitchFamily="18" charset="0"/>
                  <a:ea typeface="SimSun" panose="02010600030101010101" pitchFamily="2" charset="-122"/>
                </a:endParaRPr>
              </a:p>
              <a:p>
                <a:r>
                  <a:rPr lang="zh-CN" altLang="en-US" sz="1007" dirty="0">
                    <a:solidFill>
                      <a:srgbClr val="FF0000"/>
                    </a:solidFill>
                    <a:latin typeface="Garamond" panose="02020404030301010803" pitchFamily="18" charset="0"/>
                    <a:ea typeface="SimSun" panose="02010600030101010101" pitchFamily="2" charset="-122"/>
                  </a:rPr>
                  <a:t>出口：</a:t>
                </a:r>
                <a:r>
                  <a:rPr lang="zh-CN" altLang="en-US" sz="1007" dirty="0">
                    <a:latin typeface="Garamond" panose="02020404030301010803" pitchFamily="18" charset="0"/>
                    <a:ea typeface="SimSun" panose="02010600030101010101" pitchFamily="2" charset="-122"/>
                  </a:rPr>
                  <a:t>主要由外国的国民收入水平，特别是人均收入水平决定，因此不取决于本国的经济变量，假定为外生变量</a:t>
                </a:r>
                <a:endParaRPr lang="en-US" altLang="zh-CN" sz="1007" dirty="0">
                  <a:latin typeface="Garamond" panose="02020404030301010803" pitchFamily="18" charset="0"/>
                  <a:ea typeface="SimSun" panose="02010600030101010101" pitchFamily="2" charset="-122"/>
                </a:endParaRPr>
              </a:p>
              <a:p>
                <a:r>
                  <a:rPr lang="zh-CN" altLang="en-US" sz="1007" dirty="0">
                    <a:solidFill>
                      <a:srgbClr val="FF0000"/>
                    </a:solidFill>
                    <a:latin typeface="Garamond" panose="02020404030301010803" pitchFamily="18" charset="0"/>
                    <a:ea typeface="SimSun" panose="02010600030101010101" pitchFamily="2" charset="-122"/>
                  </a:rPr>
                  <a:t>进口：</a:t>
                </a:r>
                <a:r>
                  <a:rPr lang="zh-CN" altLang="en-US" sz="1007" dirty="0">
                    <a:latin typeface="Garamond" panose="02020404030301010803" pitchFamily="18" charset="0"/>
                    <a:ea typeface="SimSun" panose="02010600030101010101" pitchFamily="2" charset="-122"/>
                  </a:rPr>
                  <a:t>主要由本国的居民收入水平来决定，假设进口函数为：</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rPr>
                      <m:t>𝑚</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i="1">
                        <a:latin typeface="Cambria Math" panose="02040503050406030204" pitchFamily="18" charset="0"/>
                      </a:rPr>
                      <m:t>𝑦</m:t>
                    </m:r>
                  </m:oMath>
                </a14:m>
                <a:endParaRPr lang="en-US" altLang="zh-CN" sz="907" dirty="0">
                  <a:latin typeface="Garamond" panose="02020404030301010803" pitchFamily="18" charset="0"/>
                  <a:ea typeface="SimSun" panose="02010600030101010101" pitchFamily="2" charset="-122"/>
                </a:endParaRPr>
              </a:p>
              <a:p>
                <a:r>
                  <a:rPr lang="zh-CN" altLang="en-US" sz="800" dirty="0">
                    <a:latin typeface="Garamond" panose="02020404030301010803" pitchFamily="18" charset="0"/>
                    <a:ea typeface="KaiTi" panose="02010609060101010101" pitchFamily="49" charset="-122"/>
                  </a:rPr>
                  <a:t>其中，</a:t>
                </a:r>
                <a14:m>
                  <m:oMath xmlns:m="http://schemas.openxmlformats.org/officeDocument/2006/math">
                    <m:sSub>
                      <m:sSubPr>
                        <m:ctrlPr>
                          <a:rPr lang="en-US" altLang="zh-CN" sz="800" i="1">
                            <a:latin typeface="Cambria Math" panose="02040503050406030204" pitchFamily="18" charset="0"/>
                          </a:rPr>
                        </m:ctrlPr>
                      </m:sSubPr>
                      <m:e>
                        <m:r>
                          <m:rPr>
                            <m:sty m:val="p"/>
                          </m:rPr>
                          <a:rPr lang="en-US" altLang="zh-CN" sz="800">
                            <a:latin typeface="Cambria Math" panose="02040503050406030204" pitchFamily="18" charset="0"/>
                          </a:rPr>
                          <m:t>m</m:t>
                        </m:r>
                      </m:e>
                      <m:sub>
                        <m:r>
                          <a:rPr lang="en-US" altLang="zh-CN" sz="800">
                            <a:latin typeface="Cambria Math" panose="02040503050406030204" pitchFamily="18" charset="0"/>
                          </a:rPr>
                          <m:t>0</m:t>
                        </m:r>
                      </m:sub>
                    </m:sSub>
                  </m:oMath>
                </a14:m>
                <a:r>
                  <a:rPr lang="zh-CN" altLang="en-US" sz="800" dirty="0">
                    <a:latin typeface="Garamond" panose="02020404030301010803" pitchFamily="18" charset="0"/>
                    <a:ea typeface="KaiTi" panose="02010609060101010101" pitchFamily="49" charset="-122"/>
                  </a:rPr>
                  <a:t>是自发性进口，即和收入没有关系或者说不取决于收入的进口部分，如本国不能生产但又为本国国民生计所必需的的产品；</a:t>
                </a:r>
                <a14:m>
                  <m:oMath xmlns:m="http://schemas.openxmlformats.org/officeDocument/2006/math">
                    <m:r>
                      <m:rPr>
                        <m:sty m:val="p"/>
                      </m:rPr>
                      <a:rPr lang="zh-CN" altLang="en-US" sz="800">
                        <a:latin typeface="Cambria Math" panose="02040503050406030204" pitchFamily="18" charset="0"/>
                      </a:rPr>
                      <m:t>γ</m:t>
                    </m:r>
                  </m:oMath>
                </a14:m>
                <a:r>
                  <a:rPr lang="zh-CN" altLang="en-US" sz="800" dirty="0">
                    <a:latin typeface="Garamond" panose="02020404030301010803" pitchFamily="18" charset="0"/>
                    <a:ea typeface="KaiTi" panose="02010609060101010101" pitchFamily="49" charset="-122"/>
                  </a:rPr>
                  <a:t>是边际进口倾向，即收入增加</a:t>
                </a:r>
                <a:r>
                  <a:rPr lang="en-US" altLang="zh-CN" sz="800" dirty="0">
                    <a:latin typeface="Garamond" panose="02020404030301010803" pitchFamily="18" charset="0"/>
                    <a:ea typeface="KaiTi" panose="02010609060101010101" pitchFamily="49" charset="-122"/>
                  </a:rPr>
                  <a:t>1</a:t>
                </a:r>
                <a:r>
                  <a:rPr lang="zh-CN" altLang="en-US" sz="800" dirty="0">
                    <a:latin typeface="Garamond" panose="02020404030301010803" pitchFamily="18" charset="0"/>
                    <a:ea typeface="KaiTi" panose="02010609060101010101" pitchFamily="49" charset="-122"/>
                  </a:rPr>
                  <a:t>单位时进口的增加量。</a:t>
                </a:r>
                <a:endParaRPr lang="en-US" altLang="zh-CN" sz="1007" dirty="0">
                  <a:latin typeface="Garamond" panose="02020404030301010803" pitchFamily="18" charset="0"/>
                  <a:ea typeface="SimSun" panose="02010600030101010101" pitchFamily="2" charset="-122"/>
                </a:endParaRPr>
              </a:p>
              <a:p>
                <a:endParaRPr lang="en-US" altLang="zh-CN" sz="1007" dirty="0">
                  <a:latin typeface="Garamond" panose="02020404030301010803" pitchFamily="18" charset="0"/>
                  <a:ea typeface="SimSun" panose="02010600030101010101" pitchFamily="2" charset="-122"/>
                </a:endParaRPr>
              </a:p>
              <a:p>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79</a:t>
            </a:fld>
            <a:endParaRPr lang="zh-CN" altLang="en-US"/>
          </a:p>
        </p:txBody>
      </p:sp>
      <p:sp>
        <p:nvSpPr>
          <p:cNvPr id="8" name="标题 7">
            <a:extLst>
              <a:ext uri="{FF2B5EF4-FFF2-40B4-BE49-F238E27FC236}">
                <a16:creationId xmlns:a16="http://schemas.microsoft.com/office/drawing/2014/main" id="{1A696808-4BD9-F07F-308B-1743ADB9FF36}"/>
              </a:ext>
            </a:extLst>
          </p:cNvPr>
          <p:cNvSpPr>
            <a:spLocks noGrp="1"/>
          </p:cNvSpPr>
          <p:nvPr>
            <p:ph type="title"/>
          </p:nvPr>
        </p:nvSpPr>
        <p:spPr/>
        <p:txBody>
          <a:bodyPr/>
          <a:lstStyle/>
          <a:p>
            <a:r>
              <a:rPr kumimoji="1" lang="zh-CN" altLang="en-US" dirty="0"/>
              <a:t>四部门经济中的</a:t>
            </a:r>
            <a:r>
              <a:rPr kumimoji="1" lang="en-US" altLang="zh-CN" dirty="0"/>
              <a:t>AE- NI</a:t>
            </a:r>
            <a:r>
              <a:rPr kumimoji="1" lang="zh-CN" altLang="en-US" dirty="0"/>
              <a:t>模型</a:t>
            </a:r>
          </a:p>
        </p:txBody>
      </p:sp>
      <p:sp>
        <p:nvSpPr>
          <p:cNvPr id="9" name="灯片编号占位符 2">
            <a:extLst>
              <a:ext uri="{FF2B5EF4-FFF2-40B4-BE49-F238E27FC236}">
                <a16:creationId xmlns:a16="http://schemas.microsoft.com/office/drawing/2014/main" id="{0AD84198-0672-D1FD-A691-B1E4B290E642}"/>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79</a:t>
            </a:fld>
            <a:endParaRPr lang="zh-CN" altLang="zh-CN" sz="856" dirty="0">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A1A6FD59-F3DE-4ED3-9A10-8CEE69C82CE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8618272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sz="1007" dirty="0">
                    <a:latin typeface="Garamond" panose="02020404030301010803" pitchFamily="18" charset="0"/>
                    <a:ea typeface="SimSun" panose="02010600030101010101" pitchFamily="2" charset="-122"/>
                  </a:rPr>
                  <a:t>四部门经济中的国民收入决定模型如下：</a:t>
                </a:r>
                <a:endParaRPr lang="en-US" altLang="zh-CN" sz="1007" dirty="0">
                  <a:latin typeface="Garamond" panose="02020404030301010803" pitchFamily="18" charset="0"/>
                  <a:ea typeface="SimSun" panose="02010600030101010101" pitchFamily="2" charset="-122"/>
                </a:endParaRPr>
              </a:p>
              <a:p>
                <a:pPr marL="0" indent="0">
                  <a:spcBef>
                    <a:spcPts val="0"/>
                  </a:spcBef>
                </a:pPr>
                <a14:m>
                  <m:oMath xmlns:m="http://schemas.openxmlformats.org/officeDocument/2006/math">
                    <m:d>
                      <m:dPr>
                        <m:begChr m:val="{"/>
                        <m:endChr m:val=""/>
                        <m:ctrlPr>
                          <a:rPr lang="en-US" altLang="zh-CN" sz="1007" i="1">
                            <a:latin typeface="Cambria Math" panose="02040503050406030204" pitchFamily="18" charset="0"/>
                          </a:rPr>
                        </m:ctrlPr>
                      </m:dPr>
                      <m:e>
                        <m:eqArr>
                          <m:eqArrPr>
                            <m:ctrlPr>
                              <a:rPr lang="en-US" altLang="zh-CN" sz="1007" i="1">
                                <a:latin typeface="Cambria Math" panose="02040503050406030204" pitchFamily="18" charset="0"/>
                              </a:rPr>
                            </m:ctrlPr>
                          </m:eqArrPr>
                          <m:e>
                            <m:r>
                              <a:rPr lang="en-US" altLang="zh-CN" sz="1007" i="1">
                                <a:latin typeface="Cambria Math" panose="02040503050406030204" pitchFamily="18" charset="0"/>
                              </a:rPr>
                              <m:t>𝑦</m:t>
                            </m:r>
                            <m:r>
                              <a:rPr lang="en-US" altLang="zh-CN" sz="1007" i="1">
                                <a:latin typeface="Cambria Math" panose="02040503050406030204" pitchFamily="18" charset="0"/>
                              </a:rPr>
                              <m:t>=</m:t>
                            </m:r>
                            <m:r>
                              <a:rPr lang="en-US" altLang="zh-CN" sz="1007" i="1">
                                <a:latin typeface="Cambria Math" panose="02040503050406030204" pitchFamily="18" charset="0"/>
                              </a:rPr>
                              <m:t>𝑐</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en-US" altLang="zh-CN" sz="1007" i="1">
                                <a:latin typeface="Cambria Math" panose="02040503050406030204" pitchFamily="18" charset="0"/>
                              </a:rPr>
                              <m:t>𝑥</m:t>
                            </m:r>
                            <m:r>
                              <a:rPr lang="en-US" altLang="zh-CN" sz="1007" i="1">
                                <a:latin typeface="Cambria Math" panose="02040503050406030204" pitchFamily="18" charset="0"/>
                              </a:rPr>
                              <m:t>−</m:t>
                            </m:r>
                            <m:r>
                              <a:rPr lang="en-US" altLang="zh-CN" sz="1007" i="1">
                                <a:latin typeface="Cambria Math" panose="02040503050406030204" pitchFamily="18" charset="0"/>
                              </a:rPr>
                              <m:t>𝑚</m:t>
                            </m:r>
                          </m:e>
                          <m:e>
                            <m:r>
                              <a:rPr lang="en-US" altLang="zh-CN" sz="1007" i="1">
                                <a:latin typeface="Cambria Math" panose="02040503050406030204" pitchFamily="18" charset="0"/>
                              </a:rPr>
                              <m:t>𝑐</m:t>
                            </m:r>
                            <m:r>
                              <a:rPr lang="en-US" altLang="zh-CN" sz="1007" i="1">
                                <a:latin typeface="Cambria Math" panose="02040503050406030204" pitchFamily="18" charset="0"/>
                              </a:rPr>
                              <m:t>=</m:t>
                            </m:r>
                            <m:r>
                              <a:rPr lang="zh-CN" altLang="en-US" sz="1007" i="1">
                                <a:latin typeface="Cambria Math" panose="02040503050406030204" pitchFamily="18" charset="0"/>
                              </a:rPr>
                              <m:t>𝛼</m:t>
                            </m:r>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𝑑</m:t>
                                </m:r>
                              </m:sub>
                            </m:sSub>
                          </m:e>
                          <m:e>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𝑑</m:t>
                                </m:r>
                              </m:sub>
                            </m:sSub>
                            <m:r>
                              <a:rPr lang="en-US" altLang="zh-CN" sz="1007" i="1">
                                <a:latin typeface="Cambria Math" panose="02040503050406030204" pitchFamily="18" charset="0"/>
                              </a:rPr>
                              <m:t>=</m:t>
                            </m:r>
                            <m:r>
                              <a:rPr lang="en-US" altLang="zh-CN" sz="1007" i="1">
                                <a:latin typeface="Cambria Math" panose="02040503050406030204" pitchFamily="18" charset="0"/>
                              </a:rPr>
                              <m:t>𝑦</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e>
                          <m:e>
                            <m:r>
                              <a:rPr lang="en-US" altLang="zh-CN" sz="1007" i="1">
                                <a:latin typeface="Cambria Math" panose="02040503050406030204" pitchFamily="18" charset="0"/>
                              </a:rPr>
                              <m:t>𝑚</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𝑜</m:t>
                                </m:r>
                              </m:sub>
                            </m:sSub>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i="1">
                                <a:latin typeface="Cambria Math" panose="02040503050406030204" pitchFamily="18" charset="0"/>
                              </a:rPr>
                              <m:t>𝑦</m:t>
                            </m:r>
                          </m:e>
                        </m:eqArr>
                      </m:e>
                    </m:d>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rPr>
                  <a:t>则</a:t>
                </a:r>
                <a14:m>
                  <m:oMath xmlns:m="http://schemas.openxmlformats.org/officeDocument/2006/math">
                    <m:sSub>
                      <m:sSubPr>
                        <m:ctrlPr>
                          <a:rPr lang="en-US" altLang="zh-CN" sz="1007" i="1" dirty="0" smtClean="0">
                            <a:latin typeface="Cambria Math" panose="02040503050406030204" pitchFamily="18" charset="0"/>
                          </a:rPr>
                        </m:ctrlPr>
                      </m:sSubPr>
                      <m:e>
                        <m:r>
                          <a:rPr lang="en-US" altLang="zh-CN" sz="1007" i="1" dirty="0">
                            <a:latin typeface="Cambria Math" panose="02040503050406030204" pitchFamily="18" charset="0"/>
                          </a:rPr>
                          <m:t>𝑦</m:t>
                        </m:r>
                      </m:e>
                      <m:sub>
                        <m:r>
                          <a:rPr lang="en-US" altLang="zh-CN" sz="1007" i="1" dirty="0">
                            <a:latin typeface="Cambria Math" panose="02040503050406030204" pitchFamily="18" charset="0"/>
                          </a:rPr>
                          <m:t>0</m:t>
                        </m:r>
                      </m:sub>
                    </m:sSub>
                    <m:r>
                      <a:rPr lang="en-US" altLang="zh-CN" sz="1007" i="1" dirty="0">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𝑡</m:t>
                        </m:r>
                        <m:r>
                          <a:rPr lang="en-US" altLang="zh-CN" sz="1007" i="1">
                            <a:latin typeface="Cambria Math" panose="02040503050406030204" pitchFamily="18" charset="0"/>
                          </a:rPr>
                          <m:t>+</m:t>
                        </m:r>
                        <m:r>
                          <a:rPr lang="en-US" altLang="zh-CN" sz="1007" i="1">
                            <a:latin typeface="Cambria Math" panose="02040503050406030204" pitchFamily="18" charset="0"/>
                          </a:rPr>
                          <m:t>𝑥</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endParaRPr lang="en-US" altLang="zh-CN" sz="1007" dirty="0">
                  <a:latin typeface="Garamond" panose="02020404030301010803" pitchFamily="18" charset="0"/>
                  <a:ea typeface="SimSun" panose="02010600030101010101" pitchFamily="2" charset="-122"/>
                </a:endParaRPr>
              </a:p>
              <a:p>
                <a:r>
                  <a:rPr lang="zh-CN" altLang="en-US" sz="1007" b="1" dirty="0">
                    <a:latin typeface="Garamond" panose="02020404030301010803" pitchFamily="18" charset="0"/>
                    <a:ea typeface="SimSun" panose="02010600030101010101" pitchFamily="2" charset="-122"/>
                  </a:rPr>
                  <a:t>此时的乘数分别为：</a:t>
                </a:r>
                <a:endParaRPr lang="en-US" altLang="zh-CN" sz="1007" b="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投资乘数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𝑖</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en-US" altLang="zh-CN" sz="1007" b="0" i="1" smtClean="0">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r>
                  <a:rPr lang="zh-CN" altLang="en-US" sz="1007" dirty="0">
                    <a:latin typeface="Garamond" panose="02020404030301010803" pitchFamily="18" charset="0"/>
                    <a:ea typeface="SimSun" panose="02010600030101010101" pitchFamily="2" charset="-122"/>
                  </a:rPr>
                  <a:t>，政府购买乘数</a:t>
                </a:r>
                <a14:m>
                  <m:oMath xmlns:m="http://schemas.openxmlformats.org/officeDocument/2006/math">
                    <m:sSub>
                      <m:sSubPr>
                        <m:ctrlPr>
                          <a:rPr lang="en-US" altLang="zh-CN" sz="1007" i="1">
                            <a:latin typeface="Cambria Math" panose="02040503050406030204" pitchFamily="18" charset="0"/>
                          </a:rPr>
                        </m:ctrlPr>
                      </m:sSubPr>
                      <m:e>
                        <m:r>
                          <m:rPr>
                            <m:sty m:val="p"/>
                          </m:rPr>
                          <a:rPr lang="en-US" altLang="zh-CN" sz="1007">
                            <a:latin typeface="Cambria Math" panose="02040503050406030204" pitchFamily="18" charset="0"/>
                          </a:rPr>
                          <m:t>k</m:t>
                        </m:r>
                      </m:e>
                      <m:sub>
                        <m:r>
                          <a:rPr lang="en-US" altLang="zh-CN" sz="1007" b="0" i="1" smtClean="0">
                            <a:latin typeface="Cambria Math" panose="02040503050406030204" pitchFamily="18" charset="0"/>
                          </a:rPr>
                          <m:t>𝑔</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en-US" altLang="zh-CN" sz="1007" i="1">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政府转移支付乘数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𝑡𝑟</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zh-CN" altLang="en-US" sz="1007" i="1">
                            <a:latin typeface="Cambria Math" panose="02040503050406030204" pitchFamily="18" charset="0"/>
                          </a:rPr>
                          <m:t>𝛽</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r>
                      <a:rPr lang="zh-CN" altLang="en-US" sz="1007" i="1">
                        <a:latin typeface="Cambria Math" panose="02040503050406030204" pitchFamily="18" charset="0"/>
                      </a:rPr>
                      <m:t> </m:t>
                    </m:r>
                  </m:oMath>
                </a14:m>
                <a:r>
                  <a:rPr lang="zh-CN" altLang="en-US" sz="1007" dirty="0">
                    <a:latin typeface="Garamond" panose="02020404030301010803" pitchFamily="18" charset="0"/>
                    <a:ea typeface="SimSun" panose="02010600030101010101" pitchFamily="2" charset="-122"/>
                  </a:rPr>
                  <a:t>，税收乘数</a:t>
                </a:r>
                <a14:m>
                  <m:oMath xmlns:m="http://schemas.openxmlformats.org/officeDocument/2006/math">
                    <m:sSub>
                      <m:sSubPr>
                        <m:ctrlPr>
                          <a:rPr lang="en-US" altLang="zh-CN" sz="1007" i="1">
                            <a:latin typeface="Cambria Math" panose="02040503050406030204" pitchFamily="18" charset="0"/>
                          </a:rPr>
                        </m:ctrlPr>
                      </m:sSubPr>
                      <m:e>
                        <m:r>
                          <m:rPr>
                            <m:sty m:val="p"/>
                          </m:rPr>
                          <a:rPr lang="en-US" altLang="zh-CN" sz="1007">
                            <a:latin typeface="Cambria Math" panose="02040503050406030204" pitchFamily="18" charset="0"/>
                          </a:rPr>
                          <m:t>k</m:t>
                        </m:r>
                      </m:e>
                      <m:sub>
                        <m:r>
                          <a:rPr lang="en-US" altLang="zh-CN" sz="1007" i="1">
                            <a:latin typeface="Cambria Math" panose="02040503050406030204" pitchFamily="18" charset="0"/>
                          </a:rPr>
                          <m:t>𝑡</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en-US" altLang="zh-CN" sz="1007" b="0" i="1" smtClean="0">
                            <a:latin typeface="Cambria Math" panose="02040503050406030204" pitchFamily="18" charset="0"/>
                          </a:rPr>
                          <m:t>−</m:t>
                        </m:r>
                        <m:r>
                          <a:rPr lang="zh-CN" altLang="en-US" sz="1007" i="1">
                            <a:latin typeface="Cambria Math" panose="02040503050406030204" pitchFamily="18" charset="0"/>
                          </a:rPr>
                          <m:t>𝛽</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r>
                      <a:rPr lang="zh-CN" altLang="en-US" sz="1007" i="1">
                        <a:latin typeface="Cambria Math" panose="02040503050406030204" pitchFamily="18" charset="0"/>
                      </a:rPr>
                      <m:t> </m:t>
                    </m:r>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对外贸易乘数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𝑥</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en-US" altLang="zh-CN" sz="1007" b="0" i="1" smtClean="0">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b="0" i="1" smtClean="0">
                            <a:latin typeface="Cambria Math" panose="02040503050406030204" pitchFamily="18" charset="0"/>
                          </a:rPr>
                          <m:t> </m:t>
                        </m:r>
                      </m:den>
                    </m:f>
                  </m:oMath>
                </a14:m>
                <a:r>
                  <a:rPr lang="en-US" altLang="zh-CN" sz="1007" dirty="0">
                    <a:latin typeface="Garamond" panose="02020404030301010803" pitchFamily="18" charset="0"/>
                    <a:ea typeface="SimSun" panose="02010600030101010101" pitchFamily="2" charset="-122"/>
                  </a:rPr>
                  <a:t> (</a:t>
                </a:r>
                <a:r>
                  <a:rPr lang="zh-CN" altLang="en-US" sz="700" dirty="0">
                    <a:latin typeface="KaiTi" panose="02010609060101010101" pitchFamily="49" charset="-122"/>
                    <a:ea typeface="KaiTi" panose="02010609060101010101" pitchFamily="49" charset="-122"/>
                  </a:rPr>
                  <a:t>收入变动与引起这种变动的出口变化的比率</a:t>
                </a:r>
                <a:r>
                  <a:rPr lang="en-US" altLang="zh-CN" sz="1007" dirty="0">
                    <a:latin typeface="Garamond" panose="02020404030301010803" pitchFamily="18" charset="0"/>
                    <a:ea typeface="SimSun" panose="02010600030101010101" pitchFamily="2" charset="-122"/>
                  </a:rPr>
                  <a:t>)</a:t>
                </a:r>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80</a:t>
            </a:fld>
            <a:endParaRPr lang="zh-CN" altLang="en-US"/>
          </a:p>
        </p:txBody>
      </p:sp>
      <p:sp>
        <p:nvSpPr>
          <p:cNvPr id="8" name="标题 7">
            <a:extLst>
              <a:ext uri="{FF2B5EF4-FFF2-40B4-BE49-F238E27FC236}">
                <a16:creationId xmlns:a16="http://schemas.microsoft.com/office/drawing/2014/main" id="{1A696808-4BD9-F07F-308B-1743ADB9FF36}"/>
              </a:ext>
            </a:extLst>
          </p:cNvPr>
          <p:cNvSpPr>
            <a:spLocks noGrp="1"/>
          </p:cNvSpPr>
          <p:nvPr>
            <p:ph type="title"/>
          </p:nvPr>
        </p:nvSpPr>
        <p:spPr/>
        <p:txBody>
          <a:bodyPr/>
          <a:lstStyle/>
          <a:p>
            <a:r>
              <a:rPr kumimoji="1" lang="zh-CN" altLang="en-US" dirty="0"/>
              <a:t>四部门经济中的</a:t>
            </a:r>
            <a:r>
              <a:rPr kumimoji="1" lang="en-US" altLang="zh-CN" dirty="0"/>
              <a:t>AE- NI</a:t>
            </a:r>
            <a:r>
              <a:rPr kumimoji="1" lang="zh-CN" altLang="en-US" dirty="0"/>
              <a:t>模型</a:t>
            </a:r>
          </a:p>
        </p:txBody>
      </p:sp>
      <p:sp>
        <p:nvSpPr>
          <p:cNvPr id="9" name="灯片编号占位符 2">
            <a:extLst>
              <a:ext uri="{FF2B5EF4-FFF2-40B4-BE49-F238E27FC236}">
                <a16:creationId xmlns:a16="http://schemas.microsoft.com/office/drawing/2014/main" id="{0AD84198-0672-D1FD-A691-B1E4B290E642}"/>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80</a:t>
            </a:fld>
            <a:endParaRPr lang="zh-CN" altLang="zh-CN" sz="856" dirty="0">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A1A6FD59-F3DE-4ED3-9A10-8CEE69C82CE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4452134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09" i="1" dirty="0">
                            <a:latin typeface="Cambria Math" panose="02040503050406030204" pitchFamily="18" charset="0"/>
                          </a:rPr>
                        </m:ctrlPr>
                      </m:sSubPr>
                      <m:e>
                        <m:r>
                          <a:rPr lang="en-US" altLang="zh-CN" sz="1209" i="1" dirty="0">
                            <a:latin typeface="Cambria Math" panose="02040503050406030204" pitchFamily="18" charset="0"/>
                          </a:rPr>
                          <m:t>𝑦</m:t>
                        </m:r>
                      </m:e>
                      <m:sub>
                        <m:r>
                          <a:rPr lang="en-US" altLang="zh-CN" sz="1209" i="1" dirty="0">
                            <a:latin typeface="Cambria Math" panose="02040503050406030204" pitchFamily="18" charset="0"/>
                          </a:rPr>
                          <m:t>0</m:t>
                        </m:r>
                      </m:sub>
                    </m:sSub>
                    <m:r>
                      <a:rPr lang="en-US" altLang="zh-CN" sz="1209" i="1" dirty="0">
                        <a:latin typeface="Cambria Math" panose="02040503050406030204" pitchFamily="18" charset="0"/>
                      </a:rPr>
                      <m:t>=</m:t>
                    </m:r>
                    <m:f>
                      <m:fPr>
                        <m:ctrlPr>
                          <a:rPr lang="en-US" altLang="zh-CN" sz="1209" i="1">
                            <a:latin typeface="Cambria Math" panose="02040503050406030204" pitchFamily="18" charset="0"/>
                          </a:rPr>
                        </m:ctrlPr>
                      </m:fPr>
                      <m:num>
                        <m:r>
                          <a:rPr lang="zh-CN" altLang="en-US" sz="1209" i="1">
                            <a:latin typeface="Cambria Math" panose="02040503050406030204" pitchFamily="18" charset="0"/>
                          </a:rPr>
                          <m:t>𝛼</m:t>
                        </m:r>
                        <m:r>
                          <a:rPr lang="en-US" altLang="zh-CN" sz="1209" i="1">
                            <a:latin typeface="Cambria Math" panose="02040503050406030204" pitchFamily="18" charset="0"/>
                          </a:rPr>
                          <m:t>+</m:t>
                        </m:r>
                        <m:r>
                          <a:rPr lang="en-US" altLang="zh-CN" sz="1209" i="1">
                            <a:latin typeface="Cambria Math" panose="02040503050406030204" pitchFamily="18" charset="0"/>
                          </a:rPr>
                          <m:t>𝑖</m:t>
                        </m:r>
                        <m:r>
                          <a:rPr lang="en-US" altLang="zh-CN" sz="1209" i="1">
                            <a:latin typeface="Cambria Math" panose="02040503050406030204" pitchFamily="18" charset="0"/>
                          </a:rPr>
                          <m:t>+</m:t>
                        </m:r>
                        <m:r>
                          <a:rPr lang="en-US" altLang="zh-CN" sz="1209" i="1">
                            <a:latin typeface="Cambria Math" panose="02040503050406030204" pitchFamily="18" charset="0"/>
                          </a:rPr>
                          <m:t>𝑔</m:t>
                        </m:r>
                        <m:r>
                          <a:rPr lang="en-US" altLang="zh-CN" sz="1209" i="1">
                            <a:latin typeface="Cambria Math" panose="02040503050406030204" pitchFamily="18" charset="0"/>
                          </a:rPr>
                          <m:t>+</m:t>
                        </m:r>
                        <m:r>
                          <a:rPr lang="zh-CN" altLang="en-US" sz="1209" i="1">
                            <a:latin typeface="Cambria Math" panose="02040503050406030204" pitchFamily="18" charset="0"/>
                          </a:rPr>
                          <m:t>𝛽</m:t>
                        </m:r>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𝑡</m:t>
                            </m:r>
                          </m:e>
                          <m:sub>
                            <m:r>
                              <a:rPr lang="en-US" altLang="zh-CN" sz="1209" i="1">
                                <a:latin typeface="Cambria Math" panose="02040503050406030204" pitchFamily="18" charset="0"/>
                              </a:rPr>
                              <m:t>𝑟</m:t>
                            </m:r>
                          </m:sub>
                        </m:sSub>
                        <m:r>
                          <a:rPr lang="en-US" altLang="zh-CN" sz="1209" i="1">
                            <a:latin typeface="Cambria Math" panose="02040503050406030204" pitchFamily="18" charset="0"/>
                          </a:rPr>
                          <m:t>−</m:t>
                        </m:r>
                        <m:r>
                          <a:rPr lang="zh-CN" altLang="en-US" sz="1209" i="1">
                            <a:latin typeface="Cambria Math" panose="02040503050406030204" pitchFamily="18" charset="0"/>
                          </a:rPr>
                          <m:t>𝛽</m:t>
                        </m:r>
                        <m:r>
                          <a:rPr lang="en-US" altLang="zh-CN" sz="1209" i="1">
                            <a:latin typeface="Cambria Math" panose="02040503050406030204" pitchFamily="18" charset="0"/>
                          </a:rPr>
                          <m:t>𝑡</m:t>
                        </m:r>
                        <m:r>
                          <a:rPr lang="en-US" altLang="zh-CN" sz="1209" i="1">
                            <a:latin typeface="Cambria Math" panose="02040503050406030204" pitchFamily="18" charset="0"/>
                          </a:rPr>
                          <m:t>+</m:t>
                        </m:r>
                        <m:r>
                          <a:rPr lang="en-US" altLang="zh-CN" sz="1209" i="1">
                            <a:latin typeface="Cambria Math" panose="02040503050406030204" pitchFamily="18" charset="0"/>
                          </a:rPr>
                          <m:t>𝑥</m:t>
                        </m:r>
                        <m:r>
                          <a:rPr lang="en-US" altLang="zh-CN" sz="1209" i="1">
                            <a:latin typeface="Cambria Math" panose="02040503050406030204" pitchFamily="18" charset="0"/>
                          </a:rPr>
                          <m:t>−</m:t>
                        </m:r>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𝑚</m:t>
                            </m:r>
                          </m:e>
                          <m:sub>
                            <m:r>
                              <a:rPr lang="en-US" altLang="zh-CN" sz="1209" i="1">
                                <a:latin typeface="Cambria Math" panose="02040503050406030204" pitchFamily="18" charset="0"/>
                              </a:rPr>
                              <m:t>0</m:t>
                            </m:r>
                          </m:sub>
                        </m:sSub>
                      </m:num>
                      <m:den>
                        <m:r>
                          <a:rPr lang="en-US" altLang="zh-CN" sz="1209" i="1">
                            <a:latin typeface="Cambria Math" panose="02040503050406030204" pitchFamily="18" charset="0"/>
                          </a:rPr>
                          <m:t>1−</m:t>
                        </m:r>
                        <m:r>
                          <a:rPr lang="zh-CN" altLang="en-US" sz="1209" i="1">
                            <a:latin typeface="Cambria Math" panose="02040503050406030204" pitchFamily="18" charset="0"/>
                          </a:rPr>
                          <m:t>𝛽</m:t>
                        </m:r>
                        <m:r>
                          <a:rPr lang="en-US" altLang="zh-CN" sz="1209" i="1">
                            <a:latin typeface="Cambria Math" panose="02040503050406030204" pitchFamily="18" charset="0"/>
                          </a:rPr>
                          <m:t>+</m:t>
                        </m:r>
                        <m:r>
                          <a:rPr lang="zh-CN" altLang="en-US" sz="1209" i="1">
                            <a:latin typeface="Cambria Math" panose="02040503050406030204" pitchFamily="18" charset="0"/>
                          </a:rPr>
                          <m:t>𝛾</m:t>
                        </m:r>
                      </m:den>
                    </m:f>
                    <m:r>
                      <a:rPr lang="zh-CN" altLang="en-US" sz="1209" i="1">
                        <a:latin typeface="Cambria Math" panose="02040503050406030204" pitchFamily="18" charset="0"/>
                      </a:rPr>
                      <m:t>可知，在</m:t>
                    </m:r>
                  </m:oMath>
                </a14:m>
                <a:r>
                  <a:rPr lang="zh-CN" altLang="en-US" sz="1209" dirty="0">
                    <a:latin typeface="Garamond" panose="02020404030301010803" pitchFamily="18" charset="0"/>
                    <a:ea typeface="SimSun" panose="02010600030101010101" pitchFamily="2" charset="-122"/>
                  </a:rPr>
                  <a:t>四部门经济中，政府购买支出乘数、税收乘数和政府转移支付乘数会比三部门时的乘数要小。</a:t>
                </a:r>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在封闭经济中，投资、政府支出增加，国民收入增加的倍数是</a:t>
                </a:r>
                <a14:m>
                  <m:oMath xmlns:m="http://schemas.openxmlformats.org/officeDocument/2006/math">
                    <m:f>
                      <m:fPr>
                        <m:ctrlPr>
                          <a:rPr lang="en-US" altLang="zh-CN" sz="1209" b="1" i="1">
                            <a:latin typeface="Cambria Math" panose="02040503050406030204" pitchFamily="18" charset="0"/>
                            <a:ea typeface="Cambria Math" panose="02040503050406030204" pitchFamily="18" charset="0"/>
                          </a:rPr>
                        </m:ctrlPr>
                      </m:fPr>
                      <m:num>
                        <m:r>
                          <a:rPr lang="en-US" altLang="zh-CN" sz="1209" b="1" i="1">
                            <a:latin typeface="Cambria Math" panose="02040503050406030204" pitchFamily="18" charset="0"/>
                            <a:ea typeface="Cambria Math" panose="02040503050406030204" pitchFamily="18" charset="0"/>
                          </a:rPr>
                          <m:t>𝟏</m:t>
                        </m:r>
                      </m:num>
                      <m:den>
                        <m:r>
                          <a:rPr lang="en-US" altLang="zh-CN" sz="1209" b="1" i="1">
                            <a:latin typeface="Cambria Math" panose="02040503050406030204" pitchFamily="18" charset="0"/>
                            <a:ea typeface="Cambria Math" panose="02040503050406030204" pitchFamily="18" charset="0"/>
                          </a:rPr>
                          <m:t>𝟏</m:t>
                        </m:r>
                        <m:r>
                          <a:rPr lang="en-US" altLang="zh-CN" sz="1209" b="1" i="1">
                            <a:latin typeface="Cambria Math" panose="02040503050406030204" pitchFamily="18" charset="0"/>
                            <a:ea typeface="Cambria Math" panose="02040503050406030204" pitchFamily="18" charset="0"/>
                          </a:rPr>
                          <m:t>−</m:t>
                        </m:r>
                        <m:r>
                          <a:rPr lang="zh-CN" altLang="en-US" sz="1209" i="1">
                            <a:latin typeface="Cambria Math" panose="02040503050406030204" pitchFamily="18" charset="0"/>
                          </a:rPr>
                          <m:t>𝛽</m:t>
                        </m:r>
                      </m:den>
                    </m:f>
                  </m:oMath>
                </a14:m>
                <a:r>
                  <a:rPr lang="zh-CN" altLang="en-US" sz="1209" dirty="0">
                    <a:latin typeface="Garamond" panose="02020404030301010803" pitchFamily="18" charset="0"/>
                    <a:ea typeface="SimSun" panose="02010600030101010101" pitchFamily="2" charset="-122"/>
                  </a:rPr>
                  <a:t>，现在成了</a:t>
                </a:r>
                <a14:m>
                  <m:oMath xmlns:m="http://schemas.openxmlformats.org/officeDocument/2006/math">
                    <m:f>
                      <m:fPr>
                        <m:ctrlPr>
                          <a:rPr lang="en-US" altLang="zh-CN" sz="1209" b="1" i="1">
                            <a:latin typeface="Cambria Math" panose="02040503050406030204" pitchFamily="18" charset="0"/>
                            <a:ea typeface="Cambria Math" panose="02040503050406030204" pitchFamily="18" charset="0"/>
                          </a:rPr>
                        </m:ctrlPr>
                      </m:fPr>
                      <m:num>
                        <m:r>
                          <a:rPr lang="en-US" altLang="zh-CN" sz="1209" b="1" i="1">
                            <a:latin typeface="Cambria Math" panose="02040503050406030204" pitchFamily="18" charset="0"/>
                            <a:ea typeface="Cambria Math" panose="02040503050406030204" pitchFamily="18" charset="0"/>
                          </a:rPr>
                          <m:t>𝟏</m:t>
                        </m:r>
                      </m:num>
                      <m:den>
                        <m:r>
                          <a:rPr lang="en-US" altLang="zh-CN" sz="1209" b="1" i="1">
                            <a:latin typeface="Cambria Math" panose="02040503050406030204" pitchFamily="18" charset="0"/>
                            <a:ea typeface="Cambria Math" panose="02040503050406030204" pitchFamily="18" charset="0"/>
                          </a:rPr>
                          <m:t>𝟏</m:t>
                        </m:r>
                        <m:r>
                          <a:rPr lang="en-US" altLang="zh-CN" sz="1209" b="1" i="1">
                            <a:latin typeface="Cambria Math" panose="02040503050406030204" pitchFamily="18" charset="0"/>
                            <a:ea typeface="Cambria Math" panose="02040503050406030204" pitchFamily="18" charset="0"/>
                          </a:rPr>
                          <m:t>−</m:t>
                        </m:r>
                        <m:r>
                          <a:rPr lang="zh-CN" altLang="en-US" sz="1209" i="1">
                            <a:latin typeface="Cambria Math" panose="02040503050406030204" pitchFamily="18" charset="0"/>
                          </a:rPr>
                          <m:t>𝛽</m:t>
                        </m:r>
                        <m:r>
                          <a:rPr lang="en-US" altLang="zh-CN" sz="1209" i="1">
                            <a:latin typeface="Cambria Math" panose="02040503050406030204" pitchFamily="18" charset="0"/>
                          </a:rPr>
                          <m:t>+</m:t>
                        </m:r>
                        <m:r>
                          <a:rPr lang="zh-CN" altLang="en-US" sz="1209" i="1">
                            <a:latin typeface="Cambria Math" panose="02040503050406030204" pitchFamily="18" charset="0"/>
                          </a:rPr>
                          <m:t>𝛾</m:t>
                        </m:r>
                      </m:den>
                    </m:f>
                  </m:oMath>
                </a14:m>
                <a:r>
                  <a:rPr lang="zh-CN" altLang="en-US" sz="1209" dirty="0">
                    <a:latin typeface="Garamond" panose="02020404030301010803" pitchFamily="18" charset="0"/>
                    <a:ea typeface="SimSun" panose="02010600030101010101" pitchFamily="2" charset="-122"/>
                  </a:rPr>
                  <a:t>，这是因为由于增加的收入的一部分现在要用到进口商品上去了。</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81</a:t>
            </a:fld>
            <a:endParaRPr lang="zh-CN" altLang="en-US"/>
          </a:p>
        </p:txBody>
      </p:sp>
      <p:sp>
        <p:nvSpPr>
          <p:cNvPr id="7" name="标题 6">
            <a:extLst>
              <a:ext uri="{FF2B5EF4-FFF2-40B4-BE49-F238E27FC236}">
                <a16:creationId xmlns:a16="http://schemas.microsoft.com/office/drawing/2014/main" id="{0008B9BB-F301-9A04-A3D9-6366832C6D99}"/>
              </a:ext>
            </a:extLst>
          </p:cNvPr>
          <p:cNvSpPr>
            <a:spLocks noGrp="1"/>
          </p:cNvSpPr>
          <p:nvPr>
            <p:ph type="title"/>
          </p:nvPr>
        </p:nvSpPr>
        <p:spPr/>
        <p:txBody>
          <a:bodyPr/>
          <a:lstStyle/>
          <a:p>
            <a:r>
              <a:rPr kumimoji="1" lang="zh-CN" altLang="en-US" dirty="0"/>
              <a:t>四部门经济中的各种乘数</a:t>
            </a:r>
          </a:p>
        </p:txBody>
      </p:sp>
      <p:sp>
        <p:nvSpPr>
          <p:cNvPr id="8" name="灯片编号占位符 2">
            <a:extLst>
              <a:ext uri="{FF2B5EF4-FFF2-40B4-BE49-F238E27FC236}">
                <a16:creationId xmlns:a16="http://schemas.microsoft.com/office/drawing/2014/main" id="{BC5C84F1-5E98-CD4A-410E-2E8FEF784C5F}"/>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81</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CBCC0B0C-0EFD-9528-2227-982C0EC8F1E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6256342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假设假设在某国的经济萧条时期，消费函数</a:t>
            </a:r>
            <a:r>
              <a:rPr lang="en" altLang="zh-CN" sz="1200" dirty="0">
                <a:latin typeface="Garamond" panose="02020404030301010803" pitchFamily="18" charset="0"/>
                <a:ea typeface="SimSun" panose="02010600030101010101" pitchFamily="2" charset="-122"/>
                <a:cs typeface="Times New Roman" panose="02020603050405020304" pitchFamily="18" charset="0"/>
              </a:rPr>
              <a:t>C=15+0.75Y</a:t>
            </a:r>
            <a:r>
              <a:rPr lang="en-US" altLang="zh-CN" sz="1200" baseline="-25000" dirty="0">
                <a:latin typeface="Garamond" panose="02020404030301010803" pitchFamily="18" charset="0"/>
                <a:ea typeface="SimSun" panose="02010600030101010101" pitchFamily="2" charset="-122"/>
                <a:cs typeface="Times New Roman" panose="02020603050405020304" pitchFamily="18" charset="0"/>
              </a:rPr>
              <a:t>d</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税收函数</a:t>
            </a:r>
            <a:r>
              <a:rPr lang="en-US" altLang="zh-CN" sz="1200" dirty="0">
                <a:latin typeface="Garamond" panose="02020404030301010803" pitchFamily="18" charset="0"/>
                <a:ea typeface="SimSun" panose="02010600030101010101" pitchFamily="2" charset="-122"/>
                <a:cs typeface="Times New Roman" panose="02020603050405020304" pitchFamily="18" charset="0"/>
              </a:rPr>
              <a:t>=6+0.2Y</a:t>
            </a:r>
            <a:r>
              <a:rPr lang="zh-CN" altLang="en-US" sz="1200" dirty="0">
                <a:latin typeface="Garamond" panose="02020404030301010803" pitchFamily="18" charset="0"/>
                <a:ea typeface="SimSun" panose="02010600030101010101" pitchFamily="2" charset="-122"/>
                <a:cs typeface="Times New Roman" panose="02020603050405020304" pitchFamily="18" charset="0"/>
              </a:rPr>
              <a:t>，转移支付</a:t>
            </a:r>
            <a:r>
              <a:rPr lang="en-US" altLang="zh-CN" sz="1200" dirty="0">
                <a:latin typeface="Garamond" panose="02020404030301010803" pitchFamily="18" charset="0"/>
                <a:ea typeface="SimSun" panose="02010600030101010101" pitchFamily="2" charset="-122"/>
                <a:cs typeface="Times New Roman" panose="02020603050405020304" pitchFamily="18" charset="0"/>
              </a:rPr>
              <a:t>TR=2</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a:t>
            </a:r>
            <a:r>
              <a:rPr lang="en-US" altLang="zh-CN" sz="1200" dirty="0">
                <a:latin typeface="Garamond" panose="02020404030301010803" pitchFamily="18" charset="0"/>
                <a:ea typeface="SimSun" panose="02010600030101010101" pitchFamily="2" charset="-122"/>
                <a:cs typeface="Times New Roman" panose="02020603050405020304" pitchFamily="18" charset="0"/>
              </a:rPr>
              <a:t>I=20</a:t>
            </a:r>
            <a:r>
              <a:rPr lang="zh-CN" altLang="en-US" sz="1200" dirty="0">
                <a:latin typeface="Garamond" panose="02020404030301010803" pitchFamily="18" charset="0"/>
                <a:ea typeface="SimSun" panose="02010600030101010101" pitchFamily="2" charset="-122"/>
                <a:cs typeface="Times New Roman" panose="02020603050405020304" pitchFamily="18" charset="0"/>
              </a:rPr>
              <a:t>，政府购买</a:t>
            </a:r>
            <a:r>
              <a:rPr lang="en-US" altLang="zh-CN" sz="1200" dirty="0">
                <a:latin typeface="Garamond" panose="02020404030301010803" pitchFamily="18" charset="0"/>
                <a:ea typeface="SimSun" panose="02010600030101010101" pitchFamily="2" charset="-122"/>
                <a:cs typeface="Times New Roman" panose="02020603050405020304" pitchFamily="18" charset="0"/>
              </a:rPr>
              <a:t>G=10</a:t>
            </a:r>
            <a:r>
              <a:rPr lang="zh-CN" altLang="en-US" sz="1200" dirty="0">
                <a:latin typeface="Garamond" panose="02020404030301010803" pitchFamily="18" charset="0"/>
                <a:ea typeface="SimSun" panose="02010600030101010101" pitchFamily="2" charset="-122"/>
                <a:cs typeface="Times New Roman" panose="02020603050405020304" pitchFamily="18" charset="0"/>
              </a:rPr>
              <a:t>。计算：</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r>
              <a:rPr lang="zh-CN" altLang="zh-CN"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1</a:t>
            </a:r>
            <a:r>
              <a:rPr lang="zh-CN" altLang="zh-CN" sz="1200" dirty="0">
                <a:latin typeface="Garamond" panose="02020404030301010803" pitchFamily="18" charset="0"/>
                <a:ea typeface="SimSun" panose="02010600030101010101" pitchFamily="2" charset="-122"/>
              </a:rPr>
              <a:t>）均衡产出；</a:t>
            </a:r>
          </a:p>
          <a:p>
            <a:r>
              <a:rPr lang="zh-CN" altLang="zh-CN"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2</a:t>
            </a:r>
            <a:r>
              <a:rPr lang="zh-CN" altLang="zh-CN" sz="1200" dirty="0">
                <a:latin typeface="Garamond" panose="02020404030301010803" pitchFamily="18" charset="0"/>
                <a:ea typeface="SimSun" panose="02010600030101010101" pitchFamily="2" charset="-122"/>
              </a:rPr>
              <a:t>）若充分就业产出为</a:t>
            </a:r>
            <a:r>
              <a:rPr lang="en-US" altLang="zh-CN" sz="1200" dirty="0">
                <a:latin typeface="Garamond" panose="02020404030301010803" pitchFamily="18" charset="0"/>
                <a:ea typeface="SimSun" panose="02010600030101010101" pitchFamily="2" charset="-122"/>
              </a:rPr>
              <a:t>120</a:t>
            </a:r>
            <a:r>
              <a:rPr lang="zh-CN" altLang="zh-CN" sz="1200" dirty="0">
                <a:latin typeface="Garamond" panose="02020404030301010803" pitchFamily="18" charset="0"/>
                <a:ea typeface="SimSun" panose="02010600030101010101" pitchFamily="2" charset="-122"/>
              </a:rPr>
              <a:t>，需要增加多少政府购买可以实现充分就业？</a:t>
            </a:r>
            <a:endParaRPr lang="en-US" altLang="zh-CN" sz="1200" dirty="0">
              <a:latin typeface="Garamond" panose="02020404030301010803" pitchFamily="18" charset="0"/>
              <a:ea typeface="SimSun" panose="02010600030101010101" pitchFamily="2" charset="-122"/>
            </a:endParaRPr>
          </a:p>
          <a:p>
            <a:r>
              <a:rPr lang="zh-CN" altLang="en-US"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3</a:t>
            </a:r>
            <a:r>
              <a:rPr lang="zh-CN" altLang="en-US" sz="1200" dirty="0">
                <a:latin typeface="Garamond" panose="02020404030301010803" pitchFamily="18" charset="0"/>
                <a:ea typeface="SimSun" panose="02010600030101010101" pitchFamily="2" charset="-122"/>
              </a:rPr>
              <a:t>）</a:t>
            </a:r>
            <a:r>
              <a:rPr lang="zh-CN" altLang="zh-CN" sz="1200" dirty="0">
                <a:latin typeface="Garamond" panose="02020404030301010803" pitchFamily="18" charset="0"/>
                <a:ea typeface="SimSun" panose="02010600030101010101" pitchFamily="2" charset="-122"/>
              </a:rPr>
              <a:t>政府购买增加对消费需求有何影响？</a:t>
            </a:r>
            <a:endParaRPr lang="en-US" altLang="zh-CN" sz="1200" dirty="0">
              <a:latin typeface="Garamond" panose="02020404030301010803" pitchFamily="18" charset="0"/>
              <a:ea typeface="SimSun" panose="02010600030101010101" pitchFamily="2" charset="-122"/>
            </a:endParaRPr>
          </a:p>
        </p:txBody>
      </p:sp>
    </p:spTree>
    <p:extLst>
      <p:ext uri="{BB962C8B-B14F-4D97-AF65-F5344CB8AC3E}">
        <p14:creationId xmlns:p14="http://schemas.microsoft.com/office/powerpoint/2010/main" val="10794583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1</a:t>
                </a:r>
                <a:r>
                  <a:rPr lang="zh-CN" altLang="en-US" sz="1100" dirty="0">
                    <a:latin typeface="Garamond" panose="02020404030301010803" pitchFamily="18" charset="0"/>
                    <a:ea typeface="SimSun" panose="02010600030101010101" pitchFamily="2" charset="-122"/>
                    <a:cs typeface="Times New Roman" panose="02020603050405020304" pitchFamily="18" charset="0"/>
                  </a:rPr>
                  <a:t>）在经济萧条时期，总产出决定于总需求。利用</a:t>
                </a:r>
                <a:r>
                  <a:rPr lang="en" altLang="zh-CN" sz="1100" dirty="0">
                    <a:latin typeface="Garamond" panose="02020404030301010803" pitchFamily="18" charset="0"/>
                    <a:ea typeface="SimSun" panose="02010600030101010101" pitchFamily="2" charset="-122"/>
                    <a:cs typeface="Times New Roman" panose="02020603050405020304" pitchFamily="18" charset="0"/>
                  </a:rPr>
                  <a:t>Y=AD</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zh-CN" altLang="en-US" sz="1100" dirty="0">
                    <a:latin typeface="Garamond" panose="02020404030301010803" pitchFamily="18" charset="0"/>
                    <a:ea typeface="SimSun" panose="02010600030101010101" pitchFamily="2" charset="-122"/>
                    <a:cs typeface="Times New Roman" panose="02020603050405020304" pitchFamily="18" charset="0"/>
                  </a:rPr>
                  <a:t>即可求得均衡产出</a:t>
                </a:r>
                <a:r>
                  <a:rPr lang="en" altLang="zh-CN" sz="1100" dirty="0">
                    <a:latin typeface="Garamond" panose="02020404030301010803" pitchFamily="18" charset="0"/>
                    <a:ea typeface="SimSun" panose="02010600030101010101" pitchFamily="2" charset="-122"/>
                    <a:cs typeface="Times New Roman" panose="02020603050405020304" pitchFamily="18" charset="0"/>
                  </a:rPr>
                  <a:t>Y</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zh-CN" altLang="en-US" sz="1100" dirty="0">
                    <a:latin typeface="Garamond" panose="02020404030301010803" pitchFamily="18" charset="0"/>
                    <a:ea typeface="SimSun" panose="02010600030101010101" pitchFamily="2" charset="-122"/>
                    <a:cs typeface="Times New Roman" panose="02020603050405020304" pitchFamily="18" charset="0"/>
                  </a:rPr>
                  <a:t>因为</a:t>
                </a:r>
              </a:p>
              <a:p>
                <a:pPr marL="0" indent="0">
                  <a:buNone/>
                </a:pPr>
                <a:r>
                  <a:rPr lang="en" altLang="zh-CN" sz="1100" dirty="0">
                    <a:latin typeface="Garamond" panose="02020404030301010803" pitchFamily="18" charset="0"/>
                    <a:ea typeface="SimSun" panose="02010600030101010101" pitchFamily="2" charset="-122"/>
                    <a:cs typeface="Times New Roman" panose="02020603050405020304" pitchFamily="18" charset="0"/>
                  </a:rPr>
                  <a:t>AD=C+I+G=[15+0.75</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en" altLang="zh-CN" sz="1100" dirty="0">
                    <a:latin typeface="Garamond" panose="02020404030301010803" pitchFamily="18" charset="0"/>
                    <a:ea typeface="SimSun" panose="02010600030101010101" pitchFamily="2" charset="-122"/>
                    <a:cs typeface="Times New Roman" panose="02020603050405020304" pitchFamily="18" charset="0"/>
                  </a:rPr>
                  <a:t>Y-6-0.2Y+2</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en" altLang="zh-CN" sz="1100" dirty="0">
                    <a:latin typeface="Garamond" panose="02020404030301010803" pitchFamily="18" charset="0"/>
                    <a:ea typeface="SimSun" panose="02010600030101010101" pitchFamily="2" charset="-122"/>
                    <a:cs typeface="Times New Roman" panose="02020603050405020304" pitchFamily="18" charset="0"/>
                  </a:rPr>
                  <a:t>]+20+10</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那么由</a:t>
                </a:r>
                <a:r>
                  <a:rPr lang="en" altLang="zh-CN" sz="1100" dirty="0">
                    <a:latin typeface="Garamond" panose="02020404030301010803" pitchFamily="18" charset="0"/>
                    <a:ea typeface="SimSun" panose="02010600030101010101" pitchFamily="2" charset="-122"/>
                    <a:cs typeface="Times New Roman" panose="02020603050405020304" pitchFamily="18" charset="0"/>
                  </a:rPr>
                  <a:t>Y=AD</a:t>
                </a:r>
                <a:r>
                  <a:rPr lang="zh-CN" altLang="en-US" sz="1100" dirty="0">
                    <a:latin typeface="Garamond" panose="02020404030301010803" pitchFamily="18" charset="0"/>
                    <a:ea typeface="SimSun" panose="02010600030101010101" pitchFamily="2" charset="-122"/>
                    <a:cs typeface="Times New Roman" panose="02020603050405020304" pitchFamily="18" charset="0"/>
                  </a:rPr>
                  <a:t>求得  </a:t>
                </a:r>
                <a:r>
                  <a:rPr lang="en" altLang="zh-CN" sz="1100" dirty="0">
                    <a:latin typeface="Garamond" panose="02020404030301010803" pitchFamily="18" charset="0"/>
                    <a:ea typeface="SimSun" panose="02010600030101010101" pitchFamily="2" charset="-122"/>
                    <a:cs typeface="Times New Roman" panose="02020603050405020304" pitchFamily="18" charset="0"/>
                  </a:rPr>
                  <a:t>Y=105</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2</a:t>
                </a: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120-105=15</a:t>
                </a:r>
                <a:r>
                  <a:rPr lang="zh-CN" altLang="en-US" sz="1100" dirty="0">
                    <a:latin typeface="Garamond" panose="02020404030301010803" pitchFamily="18" charset="0"/>
                    <a:ea typeface="SimSun" panose="02010600030101010101" pitchFamily="2" charset="-122"/>
                    <a:cs typeface="Times New Roman" panose="02020603050405020304" pitchFamily="18" charset="0"/>
                  </a:rPr>
                  <a:t>，说明总产量需要增加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15</a:t>
                </a:r>
                <a:r>
                  <a:rPr lang="zh-CN" altLang="en-US" sz="1100" dirty="0">
                    <a:latin typeface="Garamond" panose="02020404030301010803" pitchFamily="18" charset="0"/>
                    <a:ea typeface="SimSun" panose="02010600030101010101" pitchFamily="2" charset="-122"/>
                    <a:cs typeface="Times New Roman" panose="02020603050405020304" pitchFamily="18" charset="0"/>
                  </a:rPr>
                  <a:t>，利用政府购买乘数</a:t>
                </a:r>
                <a14:m>
                  <m:oMath xmlns:m="http://schemas.openxmlformats.org/officeDocument/2006/math">
                    <m:f>
                      <m:fPr>
                        <m:ctrlPr>
                          <a:rPr lang="en-US" altLang="zh-CN" sz="1100" i="1" dirty="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11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10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zh-CN" altLang="en-US" sz="1100" i="1">
                            <a:latin typeface="Cambria Math" panose="02040503050406030204" pitchFamily="18" charset="0"/>
                            <a:ea typeface="SimSun" panose="02010600030101010101" pitchFamily="2" charset="-122"/>
                            <a:cs typeface="Times New Roman" panose="02020603050405020304" pitchFamily="18" charset="0"/>
                          </a:rPr>
                          <m:t>∆</m:t>
                        </m:r>
                        <m:r>
                          <a:rPr lang="en-US" altLang="zh-CN" sz="1100" i="1">
                            <a:latin typeface="Cambria Math" panose="02040503050406030204" pitchFamily="18" charset="0"/>
                            <a:ea typeface="SimSun" panose="02010600030101010101" pitchFamily="2" charset="-122"/>
                            <a:cs typeface="Times New Roman" panose="02020603050405020304" pitchFamily="18" charset="0"/>
                          </a:rPr>
                          <m:t>𝐺</m:t>
                        </m:r>
                      </m:den>
                    </m:f>
                    <m:r>
                      <a:rPr lang="en-US" altLang="zh-CN" sz="1100" i="1">
                        <a:latin typeface="Cambria Math" panose="02040503050406030204" pitchFamily="18" charset="0"/>
                        <a:ea typeface="SimSun" panose="02010600030101010101" pitchFamily="2" charset="-122"/>
                        <a:cs typeface="Times New Roman" panose="02020603050405020304" pitchFamily="18" charset="0"/>
                      </a:rPr>
                      <m:t>=</m:t>
                    </m:r>
                    <m:sSub>
                      <m:sSubPr>
                        <m:ctrlPr>
                          <a:rPr lang="en-US" altLang="zh-CN" sz="11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100" i="1">
                            <a:latin typeface="Cambria Math" panose="02040503050406030204" pitchFamily="18" charset="0"/>
                            <a:ea typeface="SimSun" panose="02010600030101010101" pitchFamily="2" charset="-122"/>
                            <a:cs typeface="Times New Roman" panose="02020603050405020304" pitchFamily="18" charset="0"/>
                          </a:rPr>
                          <m:t>𝑘</m:t>
                        </m:r>
                      </m:e>
                      <m:sub>
                        <m:r>
                          <a:rPr lang="en-US" altLang="zh-CN" sz="1100" i="1">
                            <a:latin typeface="Cambria Math" panose="02040503050406030204" pitchFamily="18" charset="0"/>
                            <a:ea typeface="SimSun" panose="02010600030101010101" pitchFamily="2" charset="-122"/>
                            <a:cs typeface="Times New Roman" panose="02020603050405020304" pitchFamily="18" charset="0"/>
                          </a:rPr>
                          <m:t>𝑔</m:t>
                        </m:r>
                      </m:sub>
                    </m:sSub>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1</m:t>
                        </m:r>
                      </m:num>
                      <m:den>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1−</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m:t>
                        </m:r>
                      </m:den>
                    </m:f>
                    <m:r>
                      <a:rPr lang="en-US" altLang="zh-CN" sz="1100" i="1">
                        <a:latin typeface="Cambria Math" panose="02040503050406030204" pitchFamily="18" charset="0"/>
                        <a:ea typeface="SimSun" panose="02010600030101010101" pitchFamily="2" charset="-122"/>
                        <a:cs typeface="Times New Roman" panose="02020603050405020304" pitchFamily="18" charset="0"/>
                      </a:rPr>
                      <m:t>=</m:t>
                    </m:r>
                    <m:r>
                      <a:rPr lang="en-US" altLang="zh-CN" sz="1100" b="0" i="0" smtClean="0">
                        <a:latin typeface="Cambria Math" panose="02040503050406030204" pitchFamily="18" charset="0"/>
                        <a:ea typeface="SimSun" panose="02010600030101010101" pitchFamily="2" charset="-122"/>
                        <a:cs typeface="Times New Roman" panose="02020603050405020304" pitchFamily="18" charset="0"/>
                      </a:rPr>
                      <m:t>2.5</m:t>
                    </m:r>
                  </m:oMath>
                </a14:m>
                <a:r>
                  <a:rPr lang="zh-CN" altLang="en-US" sz="1100" dirty="0">
                    <a:latin typeface="Garamond" panose="02020404030301010803" pitchFamily="18" charset="0"/>
                    <a:ea typeface="SimSun" panose="02010600030101010101" pitchFamily="2" charset="-122"/>
                    <a:cs typeface="Times New Roman" panose="02020603050405020304" pitchFamily="18" charset="0"/>
                  </a:rPr>
                  <a:t>，可知政府购买增加量为</a:t>
                </a:r>
                <a:r>
                  <a:rPr lang="en-US" altLang="zh-CN" sz="1100" dirty="0">
                    <a:latin typeface="Garamond" panose="02020404030301010803" pitchFamily="18" charset="0"/>
                    <a:ea typeface="SimSun" panose="02010600030101010101" pitchFamily="2" charset="-122"/>
                    <a:cs typeface="Times New Roman" panose="02020603050405020304" pitchFamily="18" charset="0"/>
                  </a:rPr>
                  <a:t>15/2.5=6</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3</a:t>
                </a:r>
                <a:r>
                  <a:rPr lang="zh-CN" altLang="en-US" sz="1100" dirty="0">
                    <a:latin typeface="Garamond" panose="02020404030301010803" pitchFamily="18" charset="0"/>
                    <a:ea typeface="SimSun" panose="02010600030101010101" pitchFamily="2" charset="-122"/>
                    <a:cs typeface="Times New Roman" panose="02020603050405020304" pitchFamily="18" charset="0"/>
                  </a:rPr>
                  <a:t>）对消费的影响（先计算由政府购买带来的可支配收入变化，再计算由收入变化带来的消费变化量）：</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按</a:t>
                </a:r>
                <a:r>
                  <a:rPr lang="en-US" altLang="zh-CN" sz="1100" dirty="0">
                    <a:latin typeface="Garamond" panose="02020404030301010803" pitchFamily="18" charset="0"/>
                    <a:ea typeface="SimSun" panose="02010600030101010101" pitchFamily="2" charset="-122"/>
                    <a:cs typeface="Times New Roman" panose="02020603050405020304" pitchFamily="18" charset="0"/>
                  </a:rPr>
                  <a:t>0.2</a:t>
                </a:r>
                <a:r>
                  <a:rPr lang="zh-CN" altLang="en-US" sz="1100" dirty="0">
                    <a:latin typeface="Garamond" panose="02020404030301010803" pitchFamily="18" charset="0"/>
                    <a:ea typeface="SimSun" panose="02010600030101010101" pitchFamily="2" charset="-122"/>
                    <a:cs typeface="Times New Roman" panose="02020603050405020304" pitchFamily="18" charset="0"/>
                  </a:rPr>
                  <a:t>的税率缴纳税金，可支配收入增加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12</a:t>
                </a:r>
                <a:r>
                  <a:rPr lang="zh-CN" altLang="en-US" sz="1100" dirty="0">
                    <a:latin typeface="Garamond" panose="02020404030301010803" pitchFamily="18" charset="0"/>
                    <a:ea typeface="SimSun" panose="02010600030101010101" pitchFamily="2" charset="-122"/>
                    <a:cs typeface="Times New Roman" panose="02020603050405020304" pitchFamily="18" charset="0"/>
                  </a:rPr>
                  <a:t>，根据</a:t>
                </a:r>
                <a:r>
                  <a:rPr lang="en-US" altLang="zh-CN" sz="1100" dirty="0">
                    <a:latin typeface="Garamond" panose="02020404030301010803" pitchFamily="18" charset="0"/>
                    <a:ea typeface="SimSun" panose="02010600030101010101" pitchFamily="2" charset="-122"/>
                    <a:cs typeface="Times New Roman" panose="02020603050405020304" pitchFamily="18" charset="0"/>
                  </a:rPr>
                  <a:t>0.75</a:t>
                </a:r>
                <a:r>
                  <a:rPr lang="zh-CN" altLang="en-US" sz="1100" dirty="0">
                    <a:latin typeface="Garamond" panose="02020404030301010803" pitchFamily="18" charset="0"/>
                    <a:ea typeface="SimSun" panose="02010600030101010101" pitchFamily="2" charset="-122"/>
                    <a:cs typeface="Times New Roman" panose="02020603050405020304" pitchFamily="18" charset="0"/>
                  </a:rPr>
                  <a:t>的边际消费倾向，消费需求增加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9</a:t>
                </a:r>
                <a:r>
                  <a:rPr lang="zh-CN" altLang="en-US" sz="1100" dirty="0">
                    <a:latin typeface="Garamond" panose="02020404030301010803" pitchFamily="18" charset="0"/>
                    <a:ea typeface="SimSun" panose="02010600030101010101" pitchFamily="2" charset="-122"/>
                    <a:cs typeface="Times New Roman" panose="02020603050405020304" pitchFamily="18" charset="0"/>
                  </a:rPr>
                  <a:t>。 </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 </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534139"/>
              </a:xfrm>
              <a:blipFill>
                <a:blip r:embed="rId2"/>
                <a:stretch>
                  <a:fillRect t="-50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41191639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84</a:t>
            </a:fld>
            <a:endParaRPr lang="zh-CN" altLang="zh-CN" sz="857">
              <a:solidFill>
                <a:srgbClr val="777777"/>
              </a:solidFill>
              <a:latin typeface="Tahoma" panose="020B0604030504040204" pitchFamily="34" charset="0"/>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一个封闭经济中，已知消费函数 </a:t>
            </a:r>
            <a:r>
              <a:rPr lang="en-US" altLang="zh-CN" sz="1210" dirty="0">
                <a:latin typeface="Garamond" panose="02020404030301010803" pitchFamily="18" charset="0"/>
                <a:ea typeface="SimSun" panose="02010600030101010101" pitchFamily="2" charset="-122"/>
                <a:cs typeface="Times New Roman" panose="02020603050405020304" pitchFamily="18" charset="0"/>
              </a:rPr>
              <a:t>C=100+0.9Y𝑑</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，当投资</a:t>
            </a:r>
            <a:r>
              <a:rPr lang="en" altLang="zh-CN" sz="1210" dirty="0">
                <a:latin typeface="Garamond" panose="02020404030301010803" pitchFamily="18" charset="0"/>
                <a:ea typeface="SimSun" panose="02010600030101010101" pitchFamily="2" charset="-122"/>
                <a:cs typeface="Times New Roman" panose="02020603050405020304" pitchFamily="18" charset="0"/>
              </a:rPr>
              <a:t>I=300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亿元，政府购买</a:t>
            </a:r>
            <a:r>
              <a:rPr lang="en" altLang="zh-CN" sz="1210" dirty="0">
                <a:latin typeface="Garamond" panose="02020404030301010803" pitchFamily="18" charset="0"/>
                <a:ea typeface="SimSun" panose="02010600030101010101" pitchFamily="2" charset="-122"/>
                <a:cs typeface="Times New Roman" panose="02020603050405020304" pitchFamily="18" charset="0"/>
              </a:rPr>
              <a:t>G=160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亿元，税率</a:t>
            </a:r>
            <a:r>
              <a:rPr lang="en" altLang="zh-CN" sz="1210" dirty="0">
                <a:latin typeface="Garamond" panose="02020404030301010803" pitchFamily="18" charset="0"/>
                <a:ea typeface="SimSun" panose="02010600030101010101" pitchFamily="2" charset="-122"/>
                <a:cs typeface="Times New Roman" panose="02020603050405020304" pitchFamily="18" charset="0"/>
              </a:rPr>
              <a:t>t=0.2</a:t>
            </a:r>
            <a:r>
              <a:rPr lang="zh-CN" altLang="en"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T</a:t>
            </a:r>
            <a:r>
              <a:rPr lang="en-US" altLang="zh-CN" sz="1210" baseline="-25000" dirty="0">
                <a:latin typeface="Garamond" panose="02020404030301010803" pitchFamily="18" charset="0"/>
                <a:ea typeface="SimSun" panose="02010600030101010101" pitchFamily="2" charset="-122"/>
                <a:cs typeface="Times New Roman" panose="02020603050405020304" pitchFamily="18" charset="0"/>
              </a:rPr>
              <a:t>0</a:t>
            </a:r>
            <a:r>
              <a:rPr lang="en-US" altLang="zh-CN" sz="1210" dirty="0">
                <a:latin typeface="Garamond" panose="02020404030301010803" pitchFamily="18" charset="0"/>
                <a:ea typeface="SimSun" panose="02010600030101010101" pitchFamily="2" charset="-122"/>
                <a:cs typeface="Times New Roman" panose="02020603050405020304" pitchFamily="18" charset="0"/>
              </a:rPr>
              <a:t>=0</a:t>
            </a:r>
            <a:r>
              <a:rPr lang="zh-CN" altLang="en-US" sz="1210" dirty="0">
                <a:latin typeface="Garamond" panose="02020404030301010803" pitchFamily="18" charset="0"/>
                <a:ea typeface="SimSun" panose="02010600030101010101" pitchFamily="2" charset="-122"/>
                <a:cs typeface="Times New Roman" panose="02020603050405020304" pitchFamily="18" charset="0"/>
              </a:rPr>
              <a:t>。请问：</a:t>
            </a:r>
            <a:endParaRPr lang="zh-CN" altLang="e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）当收支平衡时，收入水平是多少？乘数为多少？</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）假设政府购买</a:t>
            </a:r>
            <a:r>
              <a:rPr lang="en" altLang="zh-CN" sz="1210" dirty="0">
                <a:latin typeface="Garamond" panose="02020404030301010803" pitchFamily="18" charset="0"/>
                <a:ea typeface="SimSun" panose="02010600030101010101" pitchFamily="2" charset="-122"/>
                <a:cs typeface="Times New Roman" panose="02020603050405020304" pitchFamily="18" charset="0"/>
              </a:rPr>
              <a:t>G</a:t>
            </a:r>
            <a:r>
              <a:rPr lang="zh-CN" altLang="en-US" sz="1210" dirty="0">
                <a:latin typeface="Garamond" panose="02020404030301010803" pitchFamily="18" charset="0"/>
                <a:ea typeface="SimSun" panose="02010600030101010101" pitchFamily="2" charset="-122"/>
                <a:cs typeface="Times New Roman" panose="02020603050405020304" pitchFamily="18" charset="0"/>
              </a:rPr>
              <a:t>增加到</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亿元时，新的均衡收入水平为多少？</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）假设投资从</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增至</a:t>
            </a:r>
            <a:r>
              <a:rPr lang="en-US" altLang="zh-CN" sz="1210" dirty="0">
                <a:latin typeface="Garamond" panose="02020404030301010803" pitchFamily="18" charset="0"/>
                <a:ea typeface="SimSun" panose="02010600030101010101" pitchFamily="2" charset="-122"/>
                <a:cs typeface="Times New Roman" panose="02020603050405020304" pitchFamily="18" charset="0"/>
              </a:rPr>
              <a:t>400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亿元，新的均衡收入为多少？</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grpSp>
        <p:nvGrpSpPr>
          <p:cNvPr id="16" name="Group 3">
            <a:extLst>
              <a:ext uri="{FF2B5EF4-FFF2-40B4-BE49-F238E27FC236}">
                <a16:creationId xmlns:a16="http://schemas.microsoft.com/office/drawing/2014/main" id="{6347AB5C-32E2-328F-351E-C45B26887691}"/>
              </a:ext>
            </a:extLst>
          </p:cNvPr>
          <p:cNvGrpSpPr>
            <a:grpSpLocks/>
          </p:cNvGrpSpPr>
          <p:nvPr/>
        </p:nvGrpSpPr>
        <p:grpSpPr bwMode="auto">
          <a:xfrm>
            <a:off x="299336" y="148055"/>
            <a:ext cx="4139486" cy="529041"/>
            <a:chOff x="0" y="0"/>
            <a:chExt cx="5000" cy="661"/>
          </a:xfrm>
        </p:grpSpPr>
        <p:sp>
          <p:nvSpPr>
            <p:cNvPr id="17" name="Line 9">
              <a:extLst>
                <a:ext uri="{FF2B5EF4-FFF2-40B4-BE49-F238E27FC236}">
                  <a16:creationId xmlns:a16="http://schemas.microsoft.com/office/drawing/2014/main" id="{9ABC9602-10A7-2303-8A03-59E6A6CB7A0F}"/>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8" name="Line 10">
              <a:extLst>
                <a:ext uri="{FF2B5EF4-FFF2-40B4-BE49-F238E27FC236}">
                  <a16:creationId xmlns:a16="http://schemas.microsoft.com/office/drawing/2014/main" id="{5CA43E44-C12A-756F-823B-29B860271D4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9" name="Rectangle 4">
            <a:extLst>
              <a:ext uri="{FF2B5EF4-FFF2-40B4-BE49-F238E27FC236}">
                <a16:creationId xmlns:a16="http://schemas.microsoft.com/office/drawing/2014/main" id="{56FFB827-BE81-A621-4BFD-C42E4F3C28D3}"/>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80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乘数与</a:t>
            </a:r>
            <a:r>
              <a:rPr lang="zh-CN" altLang="en-US" sz="180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800" dirty="0">
                <a:solidFill>
                  <a:srgbClr val="339966"/>
                </a:solidFill>
                <a:effectLst>
                  <a:outerShdw blurRad="38100" dist="38100" dir="2700000" algn="tl">
                    <a:srgbClr val="C0C0C0"/>
                  </a:outerShdw>
                </a:effectLst>
                <a:ea typeface="宋体" panose="02010600030101010101" pitchFamily="2" charset="-122"/>
              </a:rPr>
              <a:t>收入的决定</a:t>
            </a:r>
          </a:p>
        </p:txBody>
      </p:sp>
    </p:spTree>
    <p:extLst>
      <p:ext uri="{BB962C8B-B14F-4D97-AF65-F5344CB8AC3E}">
        <p14:creationId xmlns:p14="http://schemas.microsoft.com/office/powerpoint/2010/main" val="237148662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85</a:t>
            </a:fld>
            <a:endParaRPr lang="zh-CN" altLang="zh-CN" sz="857">
              <a:solidFill>
                <a:srgbClr val="777777"/>
              </a:solidFill>
              <a:latin typeface="Tahoma" panose="020B060403050404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412480"/>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）根据收入均衡条件</a:t>
                </a:r>
                <a:r>
                  <a:rPr lang="en" altLang="zh-CN" sz="1210" dirty="0">
                    <a:latin typeface="Garamond" panose="02020404030301010803" pitchFamily="18" charset="0"/>
                    <a:ea typeface="SimSun" panose="02010600030101010101" pitchFamily="2" charset="-122"/>
                    <a:cs typeface="Times New Roman" panose="02020603050405020304" pitchFamily="18" charset="0"/>
                  </a:rPr>
                  <a:t>Y=C+I+G</a:t>
                </a:r>
                <a:r>
                  <a:rPr lang="zh-CN" altLang="en-US" sz="1210" dirty="0">
                    <a:latin typeface="Garamond" panose="02020404030301010803" pitchFamily="18" charset="0"/>
                    <a:ea typeface="SimSun" panose="02010600030101010101" pitchFamily="2" charset="-122"/>
                    <a:cs typeface="Times New Roman" panose="02020603050405020304" pitchFamily="18" charset="0"/>
                  </a:rPr>
                  <a:t>和已知条件</a:t>
                </a:r>
                <a:r>
                  <a:rPr lang="en" altLang="zh-CN" sz="1210" dirty="0">
                    <a:latin typeface="Garamond" panose="02020404030301010803" pitchFamily="18" charset="0"/>
                    <a:ea typeface="SimSun" panose="02010600030101010101" pitchFamily="2" charset="-122"/>
                    <a:cs typeface="Times New Roman" panose="02020603050405020304" pitchFamily="18" charset="0"/>
                  </a:rPr>
                  <a:t>T=0.2Y</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可得（</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100+300+160</a:t>
                </a: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/[1-0.9×</a:t>
                </a: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1-0.2</a:t>
                </a: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亿元即均衡收入水平就是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根据三部门经济模型中的乘数公式，</a:t>
                </a:r>
                <a:r>
                  <a:rPr lang="zh-CN" altLang="en-US" sz="1200" dirty="0">
                    <a:latin typeface="Garamond" panose="02020404030301010803" pitchFamily="18" charset="0"/>
                    <a:ea typeface="SimSun" panose="02010600030101010101" pitchFamily="2" charset="-122"/>
                  </a:rPr>
                  <a:t>投资乘数与政府购买乘数：</a:t>
                </a:r>
                <a14:m>
                  <m:oMath xmlns:m="http://schemas.openxmlformats.org/officeDocument/2006/math">
                    <m:sSub>
                      <m:sSubPr>
                        <m:ctrlPr>
                          <a:rPr lang="en-US" altLang="zh-CN" sz="1200" i="1">
                            <a:latin typeface="Cambria Math" panose="02040503050406030204" pitchFamily="18" charset="0"/>
                          </a:rPr>
                        </m:ctrlPr>
                      </m:sSubPr>
                      <m:e>
                        <m:r>
                          <m:rPr>
                            <m:sty m:val="p"/>
                          </m:rPr>
                          <a:rPr lang="en-US" altLang="zh-CN" sz="1200">
                            <a:latin typeface="Cambria Math" panose="02040503050406030204" pitchFamily="18" charset="0"/>
                          </a:rPr>
                          <m:t>k</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m:rPr>
                            <m:sty m:val="p"/>
                          </m:rPr>
                          <a:rPr lang="en-US" altLang="zh-CN" sz="1200">
                            <a:latin typeface="Cambria Math" panose="02040503050406030204" pitchFamily="18" charset="0"/>
                          </a:rPr>
                          <m:t>k</m:t>
                        </m:r>
                      </m:e>
                      <m:sub>
                        <m:r>
                          <a:rPr lang="en-US" altLang="zh-CN" sz="1200" i="1">
                            <a:latin typeface="Cambria Math" panose="02040503050406030204" pitchFamily="18" charset="0"/>
                          </a:rPr>
                          <m:t>𝑔</m:t>
                        </m:r>
                      </m:sub>
                    </m:sSub>
                    <m:r>
                      <a:rPr lang="en-US" altLang="zh-CN" sz="1200" i="1">
                        <a:latin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rPr>
                          <m:t>1</m:t>
                        </m:r>
                      </m:num>
                      <m:den>
                        <m:r>
                          <a:rPr lang="en-US" altLang="zh-CN" sz="1200" i="1">
                            <a:latin typeface="Cambria Math" panose="02040503050406030204" pitchFamily="18" charset="0"/>
                          </a:rPr>
                          <m:t>1−</m:t>
                        </m:r>
                        <m:r>
                          <a:rPr lang="zh-CN" altLang="en-US" sz="1200" i="1">
                            <a:latin typeface="Cambria Math" panose="02040503050406030204" pitchFamily="18" charset="0"/>
                          </a:rPr>
                          <m:t>𝛽</m:t>
                        </m:r>
                        <m:r>
                          <a:rPr lang="en-US" altLang="zh-CN" sz="1200" b="0" i="1" smtClean="0">
                            <a:latin typeface="Cambria Math" panose="02040503050406030204" pitchFamily="18" charset="0"/>
                          </a:rPr>
                          <m:t>(1−</m:t>
                        </m:r>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m:t>
                        </m:r>
                      </m:den>
                    </m:f>
                    <m:r>
                      <a:rPr lang="en-US" altLang="zh-CN" sz="1200" b="0" i="1" smtClean="0">
                        <a:latin typeface="Cambria Math" panose="02040503050406030204" pitchFamily="18" charset="0"/>
                      </a:rPr>
                      <m:t>=3.57</m:t>
                    </m:r>
                  </m:oMath>
                </a14:m>
                <a:r>
                  <a:rPr lang="zh-CN" altLang="en-US" sz="1200" dirty="0">
                    <a:latin typeface="Garamond" panose="02020404030301010803" pitchFamily="18" charset="0"/>
                    <a:ea typeface="SimSun" panose="02010600030101010101" pitchFamily="2" charset="-122"/>
                  </a:rPr>
                  <a:t>，税收乘数为</a:t>
                </a:r>
                <a14:m>
                  <m:oMath xmlns:m="http://schemas.openxmlformats.org/officeDocument/2006/math">
                    <m:f>
                      <m:fPr>
                        <m:ctrlPr>
                          <a:rPr lang="en-US" altLang="zh-CN" sz="1200" i="1">
                            <a:latin typeface="Cambria Math" panose="02040503050406030204" pitchFamily="18" charset="0"/>
                          </a:rPr>
                        </m:ctrlPr>
                      </m:fPr>
                      <m:num>
                        <m:r>
                          <a:rPr lang="en-US" altLang="zh-CN" sz="1200" b="0" i="1" smtClean="0">
                            <a:latin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𝛽</m:t>
                        </m:r>
                      </m:num>
                      <m:den>
                        <m:r>
                          <a:rPr lang="en-US" altLang="zh-CN" sz="1200" i="1">
                            <a:latin typeface="Cambria Math" panose="02040503050406030204" pitchFamily="18" charset="0"/>
                          </a:rPr>
                          <m:t>1−</m:t>
                        </m:r>
                        <m:r>
                          <a:rPr lang="zh-CN" altLang="en-US" sz="1200" i="1">
                            <a:latin typeface="Cambria Math" panose="02040503050406030204" pitchFamily="18" charset="0"/>
                          </a:rPr>
                          <m:t>𝛽</m:t>
                        </m:r>
                        <m:r>
                          <a:rPr lang="en-US" altLang="zh-CN" sz="1200" b="0" i="1" smtClean="0">
                            <a:latin typeface="Cambria Math" panose="02040503050406030204" pitchFamily="18" charset="0"/>
                          </a:rPr>
                          <m:t>(1−</m:t>
                        </m:r>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m:t>
                        </m:r>
                      </m:den>
                    </m:f>
                    <m:r>
                      <a:rPr lang="en-US" altLang="zh-CN" sz="1200" b="0" i="1" smtClean="0">
                        <a:latin typeface="Cambria Math" panose="02040503050406030204" pitchFamily="18" charset="0"/>
                      </a:rPr>
                      <m:t>=−7.2</m:t>
                    </m:r>
                  </m:oMath>
                </a14:m>
                <a:endParaRPr lang="en-US" altLang="zh-CN" sz="1200" dirty="0">
                  <a:latin typeface="Garamond" panose="02020404030301010803" pitchFamily="18" charset="0"/>
                  <a:ea typeface="SimSun" panose="02010600030101010101" pitchFamily="2" charset="-122"/>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）当政府购买增加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140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亿元达到</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亿元时，总收入增加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140*3.57=500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亿元，新的均衡收入水平为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2500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）当投资增加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亿美元时，国民收入增加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100*3.57=357</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2357</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412480"/>
              </a:xfrm>
              <a:blipFill>
                <a:blip r:embed="rId2"/>
                <a:stretch>
                  <a:fillRect t="-524" b="-3665"/>
                </a:stretch>
              </a:blipFill>
              <a:ln>
                <a:noFill/>
              </a:ln>
            </p:spPr>
            <p:txBody>
              <a:bodyPr/>
              <a:lstStyle/>
              <a:p>
                <a:r>
                  <a:rPr lang="zh-CN" altLang="en-US">
                    <a:noFill/>
                  </a:rPr>
                  <a:t> </a:t>
                </a:r>
              </a:p>
            </p:txBody>
          </p:sp>
        </mc:Fallback>
      </mc:AlternateContent>
      <p:grpSp>
        <p:nvGrpSpPr>
          <p:cNvPr id="16" name="Group 3">
            <a:extLst>
              <a:ext uri="{FF2B5EF4-FFF2-40B4-BE49-F238E27FC236}">
                <a16:creationId xmlns:a16="http://schemas.microsoft.com/office/drawing/2014/main" id="{6347AB5C-32E2-328F-351E-C45B26887691}"/>
              </a:ext>
            </a:extLst>
          </p:cNvPr>
          <p:cNvGrpSpPr>
            <a:grpSpLocks/>
          </p:cNvGrpSpPr>
          <p:nvPr/>
        </p:nvGrpSpPr>
        <p:grpSpPr bwMode="auto">
          <a:xfrm>
            <a:off x="299336" y="148055"/>
            <a:ext cx="4139486" cy="529041"/>
            <a:chOff x="0" y="0"/>
            <a:chExt cx="5000" cy="661"/>
          </a:xfrm>
        </p:grpSpPr>
        <p:sp>
          <p:nvSpPr>
            <p:cNvPr id="17" name="Line 9">
              <a:extLst>
                <a:ext uri="{FF2B5EF4-FFF2-40B4-BE49-F238E27FC236}">
                  <a16:creationId xmlns:a16="http://schemas.microsoft.com/office/drawing/2014/main" id="{9ABC9602-10A7-2303-8A03-59E6A6CB7A0F}"/>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8" name="Line 10">
              <a:extLst>
                <a:ext uri="{FF2B5EF4-FFF2-40B4-BE49-F238E27FC236}">
                  <a16:creationId xmlns:a16="http://schemas.microsoft.com/office/drawing/2014/main" id="{5CA43E44-C12A-756F-823B-29B860271D4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9" name="Rectangle 4">
            <a:extLst>
              <a:ext uri="{FF2B5EF4-FFF2-40B4-BE49-F238E27FC236}">
                <a16:creationId xmlns:a16="http://schemas.microsoft.com/office/drawing/2014/main" id="{56FFB827-BE81-A621-4BFD-C42E4F3C28D3}"/>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80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乘数与</a:t>
            </a:r>
            <a:r>
              <a:rPr lang="zh-CN" altLang="en-US" sz="180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800" dirty="0">
                <a:solidFill>
                  <a:srgbClr val="339966"/>
                </a:solidFill>
                <a:effectLst>
                  <a:outerShdw blurRad="38100" dist="38100" dir="2700000" algn="tl">
                    <a:srgbClr val="C0C0C0"/>
                  </a:outerShdw>
                </a:effectLst>
                <a:ea typeface="宋体" panose="02010600030101010101" pitchFamily="2" charset="-122"/>
              </a:rPr>
              <a:t>收入的决定</a:t>
            </a:r>
          </a:p>
        </p:txBody>
      </p:sp>
    </p:spTree>
    <p:extLst>
      <p:ext uri="{BB962C8B-B14F-4D97-AF65-F5344CB8AC3E}">
        <p14:creationId xmlns:p14="http://schemas.microsoft.com/office/powerpoint/2010/main" val="336078386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收入的决定（暨南大学</a:t>
            </a:r>
            <a:r>
              <a:rPr lang="en-US" altLang="zh-CN" sz="1613" dirty="0">
                <a:solidFill>
                  <a:srgbClr val="339966"/>
                </a:solidFill>
                <a:effectLst>
                  <a:outerShdw blurRad="38100" dist="38100" dir="2700000" algn="tl">
                    <a:srgbClr val="C0C0C0"/>
                  </a:outerShdw>
                </a:effectLst>
                <a:ea typeface="宋体" panose="02010600030101010101" pitchFamily="2" charset="-122"/>
              </a:rPr>
              <a:t>2012</a:t>
            </a:r>
            <a:r>
              <a:rPr lang="zh-CN" altLang="en-US" sz="1613" dirty="0">
                <a:solidFill>
                  <a:srgbClr val="339966"/>
                </a:solidFill>
                <a:effectLst>
                  <a:outerShdw blurRad="38100" dist="38100" dir="2700000" algn="tl">
                    <a:srgbClr val="C0C0C0"/>
                  </a:outerShdw>
                </a:effectLst>
                <a:ea typeface="宋体" panose="02010600030101010101" pitchFamily="2" charset="-122"/>
              </a:rPr>
              <a:t>年）</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假设在一个两部门经济中，</a:t>
            </a:r>
            <a:r>
              <a:rPr lang="en-US" altLang="zh-CN" sz="1200" dirty="0">
                <a:latin typeface="Garamond" panose="02020404030301010803" pitchFamily="18" charset="0"/>
                <a:ea typeface="SimSun" panose="02010600030101010101" pitchFamily="2" charset="-122"/>
                <a:cs typeface="Times New Roman" panose="02020603050405020304" pitchFamily="18" charset="0"/>
              </a:rPr>
              <a:t>Y</a:t>
            </a:r>
            <a:r>
              <a:rPr lang="zh-CN" altLang="en-US" sz="1200" dirty="0">
                <a:latin typeface="Garamond" panose="02020404030301010803" pitchFamily="18" charset="0"/>
                <a:ea typeface="SimSun" panose="02010600030101010101" pitchFamily="2" charset="-122"/>
                <a:cs typeface="Times New Roman" panose="02020603050405020304" pitchFamily="18" charset="0"/>
              </a:rPr>
              <a:t>是收入，消费函数为</a:t>
            </a:r>
            <a:r>
              <a:rPr lang="en-US" altLang="zh-CN" sz="1200" dirty="0">
                <a:latin typeface="Garamond" panose="02020404030301010803" pitchFamily="18" charset="0"/>
                <a:ea typeface="SimSun" panose="02010600030101010101" pitchFamily="2" charset="-122"/>
                <a:cs typeface="Times New Roman" panose="02020603050405020304" pitchFamily="18" charset="0"/>
              </a:rPr>
              <a:t>C=1000+0.8Y</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a:t>
            </a:r>
            <a:r>
              <a:rPr lang="en-US" altLang="zh-CN" sz="1200" dirty="0">
                <a:latin typeface="Garamond" panose="02020404030301010803" pitchFamily="18" charset="0"/>
                <a:ea typeface="SimSun" panose="02010600030101010101" pitchFamily="2" charset="-122"/>
                <a:cs typeface="Times New Roman" panose="02020603050405020304" pitchFamily="18" charset="0"/>
              </a:rPr>
              <a:t>I=1000.</a:t>
            </a:r>
            <a:r>
              <a:rPr lang="zh-CN" altLang="en-US" sz="1200" dirty="0">
                <a:latin typeface="Garamond" panose="02020404030301010803" pitchFamily="18" charset="0"/>
                <a:ea typeface="SimSun" panose="02010600030101010101" pitchFamily="2" charset="-122"/>
                <a:cs typeface="Times New Roman" panose="02020603050405020304" pitchFamily="18" charset="0"/>
              </a:rPr>
              <a:t>（单位：</a:t>
            </a:r>
            <a:r>
              <a:rPr lang="en-US" altLang="zh-CN" sz="1200" dirty="0">
                <a:latin typeface="Garamond" panose="02020404030301010803" pitchFamily="18" charset="0"/>
                <a:ea typeface="SimSun" panose="02010600030101010101" pitchFamily="2" charset="-122"/>
                <a:cs typeface="Times New Roman" panose="02020603050405020304" pitchFamily="18" charset="0"/>
              </a:rPr>
              <a:t>10</a:t>
            </a:r>
            <a:r>
              <a:rPr lang="zh-CN" altLang="en-US" sz="1200" dirty="0">
                <a:latin typeface="Garamond" panose="02020404030301010803" pitchFamily="18" charset="0"/>
                <a:ea typeface="SimSun" panose="02010600030101010101" pitchFamily="2" charset="-122"/>
                <a:cs typeface="Times New Roman" panose="02020603050405020304" pitchFamily="18" charset="0"/>
              </a:rPr>
              <a:t>亿元）</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1</a:t>
            </a:r>
            <a:r>
              <a:rPr lang="zh-CN" altLang="en-US" sz="1200" dirty="0">
                <a:latin typeface="Garamond" panose="02020404030301010803" pitchFamily="18" charset="0"/>
                <a:ea typeface="SimSun" panose="02010600030101010101" pitchFamily="2" charset="-122"/>
                <a:cs typeface="Times New Roman" panose="02020603050405020304" pitchFamily="18" charset="0"/>
              </a:rPr>
              <a:t>）求均衡收入及相应的消费和储蓄额。</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2</a:t>
            </a:r>
            <a:r>
              <a:rPr lang="zh-CN" altLang="en-US" sz="1200" dirty="0">
                <a:latin typeface="Garamond" panose="02020404030301010803" pitchFamily="18" charset="0"/>
                <a:ea typeface="SimSun" panose="02010600030101010101" pitchFamily="2" charset="-122"/>
                <a:cs typeface="Times New Roman" panose="02020603050405020304" pitchFamily="18" charset="0"/>
              </a:rPr>
              <a:t>）当实际收入为</a:t>
            </a:r>
            <a:r>
              <a:rPr lang="en-US" altLang="zh-CN" sz="1200" dirty="0">
                <a:latin typeface="Garamond" panose="02020404030301010803" pitchFamily="18" charset="0"/>
                <a:ea typeface="SimSun" panose="02010600030101010101" pitchFamily="2" charset="-122"/>
                <a:cs typeface="Times New Roman" panose="02020603050405020304" pitchFamily="18" charset="0"/>
              </a:rPr>
              <a:t>12000</a:t>
            </a:r>
            <a:r>
              <a:rPr lang="zh-CN" altLang="en-US" sz="1200" dirty="0">
                <a:latin typeface="Garamond" panose="02020404030301010803" pitchFamily="18" charset="0"/>
                <a:ea typeface="SimSun" panose="02010600030101010101" pitchFamily="2" charset="-122"/>
                <a:cs typeface="Times New Roman" panose="02020603050405020304" pitchFamily="18" charset="0"/>
              </a:rPr>
              <a:t>时，求社会的非计划存货；并回答收入将如何变化，并解释收入变化的原因。</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3</a:t>
            </a:r>
            <a:r>
              <a:rPr lang="zh-CN" altLang="en-US" sz="1200" dirty="0">
                <a:latin typeface="Garamond" panose="02020404030301010803" pitchFamily="18" charset="0"/>
                <a:ea typeface="SimSun" panose="02010600030101010101" pitchFamily="2" charset="-122"/>
                <a:cs typeface="Times New Roman" panose="02020603050405020304" pitchFamily="18" charset="0"/>
              </a:rPr>
              <a:t>）如果把投资增加</a:t>
            </a:r>
            <a:r>
              <a:rPr lang="en-US" altLang="zh-CN" sz="1200" dirty="0">
                <a:latin typeface="Garamond" panose="02020404030301010803" pitchFamily="18" charset="0"/>
                <a:ea typeface="SimSun" panose="02010600030101010101" pitchFamily="2" charset="-122"/>
                <a:cs typeface="Times New Roman" panose="02020603050405020304" pitchFamily="18" charset="0"/>
              </a:rPr>
              <a:t>400</a:t>
            </a:r>
            <a:r>
              <a:rPr lang="zh-CN" altLang="en-US" sz="1200" dirty="0">
                <a:latin typeface="Garamond" panose="02020404030301010803" pitchFamily="18" charset="0"/>
                <a:ea typeface="SimSun" panose="02010600030101010101" pitchFamily="2" charset="-122"/>
                <a:cs typeface="Times New Roman" panose="02020603050405020304" pitchFamily="18" charset="0"/>
              </a:rPr>
              <a:t>，相应增加的均衡收入是多少？</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4</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）投资乘数是多少？</a:t>
            </a:r>
            <a:endParaRPr lang="en-US" altLang="zh-CN" sz="1200" dirty="0">
              <a:latin typeface="Garamond" panose="02020404030301010803" pitchFamily="18" charset="0"/>
              <a:ea typeface="SimSun" panose="02010600030101010101" pitchFamily="2" charset="-122"/>
            </a:endParaRPr>
          </a:p>
        </p:txBody>
      </p:sp>
    </p:spTree>
    <p:extLst>
      <p:ext uri="{BB962C8B-B14F-4D97-AF65-F5344CB8AC3E}">
        <p14:creationId xmlns:p14="http://schemas.microsoft.com/office/powerpoint/2010/main" val="291074156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71266"/>
            <a:ext cx="4139486" cy="26296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6"/>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314320" y="492378"/>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1</a:t>
                </a:r>
                <a:r>
                  <a:rPr lang="zh-CN" altLang="en-US" sz="1100" dirty="0">
                    <a:latin typeface="Garamond" panose="02020404030301010803" pitchFamily="18" charset="0"/>
                    <a:ea typeface="SimSun" panose="02010600030101010101" pitchFamily="2" charset="-122"/>
                    <a:cs typeface="Times New Roman" panose="02020603050405020304" pitchFamily="18" charset="0"/>
                  </a:rPr>
                  <a:t>）两部门经济的均衡条件</a:t>
                </a:r>
                <a:r>
                  <a:rPr lang="en-US" altLang="zh-CN" sz="1100" dirty="0">
                    <a:latin typeface="Garamond" panose="02020404030301010803" pitchFamily="18" charset="0"/>
                    <a:ea typeface="SimSun" panose="02010600030101010101" pitchFamily="2" charset="-122"/>
                    <a:cs typeface="Times New Roman" panose="02020603050405020304" pitchFamily="18" charset="0"/>
                  </a:rPr>
                  <a:t>Y=C+I</a:t>
                </a:r>
              </a:p>
              <a:p>
                <a:pPr marL="0" indent="0">
                  <a:buNone/>
                </a:pPr>
                <a:r>
                  <a:rPr lang="en-US" altLang="zh-CN" sz="1100" dirty="0">
                    <a:latin typeface="Garamond" panose="02020404030301010803" pitchFamily="18" charset="0"/>
                    <a:ea typeface="SimSun" panose="02010600030101010101" pitchFamily="2" charset="-122"/>
                    <a:cs typeface="Times New Roman" panose="02020603050405020304" pitchFamily="18" charset="0"/>
                  </a:rPr>
                  <a:t>Y=1000+0.8Y+1000</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得到均衡收入</a:t>
                </a:r>
                <a14:m>
                  <m:oMath xmlns:m="http://schemas.openxmlformats.org/officeDocument/2006/math">
                    <m:sSup>
                      <m:sSupPr>
                        <m:ctrlP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𝑌</m:t>
                        </m:r>
                      </m:e>
                      <m:sup>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m:t>
                        </m:r>
                      </m:sup>
                    </m:sSup>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=10000</m:t>
                    </m:r>
                  </m:oMath>
                </a14:m>
                <a:r>
                  <a:rPr lang="zh-CN" altLang="en-US" sz="1100" dirty="0">
                    <a:latin typeface="Garamond" panose="02020404030301010803" pitchFamily="18" charset="0"/>
                    <a:ea typeface="SimSun" panose="02010600030101010101" pitchFamily="2" charset="-122"/>
                  </a:rPr>
                  <a:t>，</a:t>
                </a:r>
                <a:endParaRPr lang="en-US" altLang="zh-CN" sz="1100" dirty="0">
                  <a:latin typeface="Garamond" panose="02020404030301010803" pitchFamily="18" charset="0"/>
                  <a:ea typeface="SimSun" panose="02010600030101010101" pitchFamily="2" charset="-122"/>
                </a:endParaRPr>
              </a:p>
              <a:p>
                <a:pPr marL="0" indent="0">
                  <a:buNone/>
                </a:pPr>
                <a:r>
                  <a:rPr lang="zh-CN" altLang="en-US" sz="1100" dirty="0">
                    <a:latin typeface="Garamond" panose="02020404030301010803" pitchFamily="18" charset="0"/>
                    <a:ea typeface="SimSun" panose="02010600030101010101" pitchFamily="2" charset="-122"/>
                  </a:rPr>
                  <a:t>消费</a:t>
                </a:r>
                <a:r>
                  <a:rPr lang="en-US" altLang="zh-CN" sz="1100" dirty="0">
                    <a:latin typeface="Garamond" panose="02020404030301010803" pitchFamily="18" charset="0"/>
                    <a:ea typeface="SimSun" panose="02010600030101010101" pitchFamily="2" charset="-122"/>
                  </a:rPr>
                  <a:t>C=1000+0.8</a:t>
                </a: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10000=9000</a:t>
                </a:r>
                <a:r>
                  <a:rPr lang="zh-CN" altLang="en-US" sz="1100" dirty="0">
                    <a:latin typeface="Garamond" panose="02020404030301010803" pitchFamily="18" charset="0"/>
                    <a:ea typeface="SimSun" panose="02010600030101010101" pitchFamily="2" charset="-122"/>
                  </a:rPr>
                  <a:t>，储蓄</a:t>
                </a:r>
                <a:r>
                  <a:rPr lang="en-US" altLang="zh-CN" sz="1100" dirty="0">
                    <a:latin typeface="Garamond" panose="02020404030301010803" pitchFamily="18" charset="0"/>
                    <a:ea typeface="SimSun" panose="02010600030101010101" pitchFamily="2" charset="-122"/>
                  </a:rPr>
                  <a:t>=10000-9000=1000</a:t>
                </a:r>
              </a:p>
              <a:p>
                <a:pPr marL="0" indent="0">
                  <a:buNone/>
                </a:pP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2</a:t>
                </a:r>
                <a:r>
                  <a:rPr lang="zh-CN" altLang="en-US" sz="1100" dirty="0">
                    <a:latin typeface="Garamond" panose="02020404030301010803" pitchFamily="18" charset="0"/>
                    <a:ea typeface="SimSun" panose="02010600030101010101" pitchFamily="2" charset="-122"/>
                  </a:rPr>
                  <a:t>）当实际收入为</a:t>
                </a:r>
                <a:r>
                  <a:rPr lang="en-US" altLang="zh-CN" sz="1100" dirty="0">
                    <a:latin typeface="Garamond" panose="02020404030301010803" pitchFamily="18" charset="0"/>
                    <a:ea typeface="SimSun" panose="02010600030101010101" pitchFamily="2" charset="-122"/>
                  </a:rPr>
                  <a:t>12000</a:t>
                </a:r>
                <a:r>
                  <a:rPr lang="zh-CN" altLang="en-US" sz="1100" dirty="0">
                    <a:latin typeface="Garamond" panose="02020404030301010803" pitchFamily="18" charset="0"/>
                    <a:ea typeface="SimSun" panose="02010600030101010101" pitchFamily="2" charset="-122"/>
                  </a:rPr>
                  <a:t>时，</a:t>
                </a:r>
                <a:endParaRPr lang="en-US" altLang="zh-CN" sz="1100" dirty="0">
                  <a:latin typeface="Garamond" panose="02020404030301010803" pitchFamily="18" charset="0"/>
                  <a:ea typeface="SimSun" panose="02010600030101010101" pitchFamily="2" charset="-122"/>
                </a:endParaRPr>
              </a:p>
              <a:p>
                <a:pPr marL="0" indent="0">
                  <a:buNone/>
                </a:pPr>
                <a:r>
                  <a:rPr lang="zh-CN" altLang="en-US" sz="1100" dirty="0">
                    <a:latin typeface="Garamond" panose="02020404030301010803" pitchFamily="18" charset="0"/>
                    <a:ea typeface="SimSun" panose="02010600030101010101" pitchFamily="2" charset="-122"/>
                  </a:rPr>
                  <a:t>消费为</a:t>
                </a:r>
                <a:r>
                  <a:rPr lang="en-US" altLang="zh-CN" sz="1100" dirty="0">
                    <a:latin typeface="Garamond" panose="02020404030301010803" pitchFamily="18" charset="0"/>
                    <a:ea typeface="SimSun" panose="02010600030101010101" pitchFamily="2" charset="-122"/>
                  </a:rPr>
                  <a:t>C=1000+0.8</a:t>
                </a: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12000=10600</a:t>
                </a:r>
              </a:p>
              <a:p>
                <a:pPr marL="0" indent="0">
                  <a:buNone/>
                </a:pPr>
                <a:r>
                  <a:rPr lang="zh-CN" altLang="en-US" sz="1100" dirty="0">
                    <a:latin typeface="Garamond" panose="02020404030301010803" pitchFamily="18" charset="0"/>
                    <a:ea typeface="SimSun" panose="02010600030101010101" pitchFamily="2" charset="-122"/>
                  </a:rPr>
                  <a:t>总需求为</a:t>
                </a:r>
                <a:r>
                  <a:rPr lang="en-US" altLang="zh-CN" sz="1100" dirty="0">
                    <a:latin typeface="Garamond" panose="02020404030301010803" pitchFamily="18" charset="0"/>
                    <a:ea typeface="SimSun" panose="02010600030101010101" pitchFamily="2" charset="-122"/>
                  </a:rPr>
                  <a:t>C+I=10600+1000=11600</a:t>
                </a:r>
              </a:p>
              <a:p>
                <a:pPr marL="0" indent="0">
                  <a:buNone/>
                </a:pPr>
                <a:r>
                  <a:rPr lang="zh-CN" altLang="en-US" sz="1100" dirty="0">
                    <a:latin typeface="Garamond" panose="02020404030301010803" pitchFamily="18" charset="0"/>
                    <a:ea typeface="SimSun" panose="02010600030101010101" pitchFamily="2" charset="-122"/>
                  </a:rPr>
                  <a:t>社会非计划存货</a:t>
                </a:r>
                <a:r>
                  <a:rPr lang="en-US" altLang="zh-CN" sz="1100" dirty="0">
                    <a:latin typeface="Garamond" panose="02020404030301010803" pitchFamily="18" charset="0"/>
                    <a:ea typeface="SimSun" panose="02010600030101010101" pitchFamily="2" charset="-122"/>
                  </a:rPr>
                  <a:t>=12000-11600=400</a:t>
                </a:r>
              </a:p>
              <a:p>
                <a:pPr marL="0" indent="0">
                  <a:buNone/>
                </a:pPr>
                <a:r>
                  <a:rPr lang="zh-CN" altLang="en-US" sz="1100" dirty="0">
                    <a:latin typeface="Garamond" panose="02020404030301010803" pitchFamily="18" charset="0"/>
                    <a:ea typeface="SimSun" panose="02010600030101010101" pitchFamily="2" charset="-122"/>
                  </a:rPr>
                  <a:t>由于总产出大于总需求，存在社会非意愿存货，厂商会减少生产，总产出或总收入会减少</a:t>
                </a:r>
                <a:endParaRPr lang="en-US" altLang="zh-CN" sz="1100" dirty="0">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314320" y="492378"/>
                <a:ext cx="4110356" cy="2534139"/>
              </a:xfrm>
              <a:blipFill>
                <a:blip r:embed="rId2"/>
                <a:stretch>
                  <a:fillRect t="-498"/>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9117327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71266"/>
            <a:ext cx="4139486" cy="26296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6"/>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314320" y="492378"/>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3</a:t>
                </a:r>
                <a:r>
                  <a:rPr lang="zh-CN" altLang="en-US" sz="1100" dirty="0">
                    <a:latin typeface="Garamond" panose="02020404030301010803" pitchFamily="18" charset="0"/>
                    <a:ea typeface="SimSun" panose="02010600030101010101" pitchFamily="2" charset="-122"/>
                    <a:cs typeface="Times New Roman" panose="02020603050405020304" pitchFamily="18" charset="0"/>
                  </a:rPr>
                  <a:t>）投资增加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400</a:t>
                </a:r>
                <a:r>
                  <a:rPr lang="zh-CN" altLang="en-US" sz="1100" dirty="0">
                    <a:latin typeface="Garamond" panose="02020404030301010803" pitchFamily="18" charset="0"/>
                    <a:ea typeface="SimSun" panose="02010600030101010101" pitchFamily="2" charset="-122"/>
                    <a:cs typeface="Times New Roman" panose="02020603050405020304" pitchFamily="18" charset="0"/>
                  </a:rPr>
                  <a:t>时，由两部门均衡条件</a:t>
                </a:r>
                <a:r>
                  <a:rPr lang="en-US" altLang="zh-CN" sz="1100" dirty="0">
                    <a:latin typeface="Garamond" panose="02020404030301010803" pitchFamily="18" charset="0"/>
                    <a:ea typeface="SimSun" panose="02010600030101010101" pitchFamily="2" charset="-122"/>
                    <a:cs typeface="Times New Roman" panose="02020603050405020304" pitchFamily="18" charset="0"/>
                  </a:rPr>
                  <a:t>Y=C+I</a:t>
                </a:r>
                <a:r>
                  <a:rPr lang="zh-CN" altLang="en-US" sz="1100" dirty="0">
                    <a:latin typeface="Garamond" panose="02020404030301010803" pitchFamily="18" charset="0"/>
                    <a:ea typeface="SimSun" panose="02010600030101010101" pitchFamily="2" charset="-122"/>
                    <a:cs typeface="Times New Roman" panose="02020603050405020304" pitchFamily="18" charset="0"/>
                  </a:rPr>
                  <a:t>得：</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en-US" altLang="zh-CN" sz="1100" dirty="0">
                    <a:latin typeface="Garamond" panose="02020404030301010803" pitchFamily="18" charset="0"/>
                    <a:ea typeface="SimSun" panose="02010600030101010101" pitchFamily="2" charset="-122"/>
                    <a:cs typeface="Times New Roman" panose="02020603050405020304" pitchFamily="18" charset="0"/>
                  </a:rPr>
                  <a:t>Y=1000+0.8Y+</a:t>
                </a:r>
                <a:r>
                  <a:rPr lang="en-US" altLang="zh-CN" sz="1100" dirty="0">
                    <a:latin typeface="Garamond" panose="02020404030301010803" pitchFamily="18" charset="0"/>
                    <a:ea typeface="SimSun" panose="02010600030101010101" pitchFamily="2" charset="-122"/>
                  </a:rPr>
                  <a:t>1400</a:t>
                </a:r>
              </a:p>
              <a:p>
                <a:pPr marL="0" indent="0">
                  <a:buNone/>
                </a:pPr>
                <a:r>
                  <a:rPr lang="zh-CN" altLang="en-US" sz="1100" dirty="0">
                    <a:latin typeface="Garamond" panose="02020404030301010803" pitchFamily="18" charset="0"/>
                    <a:ea typeface="SimSun" panose="02010600030101010101" pitchFamily="2" charset="-122"/>
                  </a:rPr>
                  <a:t>解得均衡收入</a:t>
                </a:r>
                <a14:m>
                  <m:oMath xmlns:m="http://schemas.openxmlformats.org/officeDocument/2006/math">
                    <m:sSup>
                      <m:sSupPr>
                        <m:ctrlPr>
                          <a:rPr lang="en-US" altLang="zh-CN" sz="11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1100" i="1">
                            <a:latin typeface="Cambria Math" panose="02040503050406030204" pitchFamily="18" charset="0"/>
                            <a:ea typeface="SimSun" panose="02010600030101010101" pitchFamily="2" charset="-122"/>
                            <a:cs typeface="Times New Roman" panose="02020603050405020304" pitchFamily="18" charset="0"/>
                          </a:rPr>
                          <m:t>𝑌</m:t>
                        </m:r>
                      </m:e>
                      <m:sup>
                        <m:r>
                          <a:rPr lang="en-US" altLang="zh-CN" sz="1100" i="1">
                            <a:latin typeface="Cambria Math" panose="02040503050406030204" pitchFamily="18" charset="0"/>
                            <a:ea typeface="SimSun" panose="02010600030101010101" pitchFamily="2" charset="-122"/>
                            <a:cs typeface="Times New Roman" panose="02020603050405020304" pitchFamily="18" charset="0"/>
                          </a:rPr>
                          <m:t>∗</m:t>
                        </m:r>
                      </m:sup>
                    </m:sSup>
                    <m:r>
                      <a:rPr lang="en-US" altLang="zh-CN" sz="1100" i="1">
                        <a:latin typeface="Cambria Math" panose="02040503050406030204" pitchFamily="18" charset="0"/>
                        <a:ea typeface="SimSun" panose="02010600030101010101" pitchFamily="2" charset="-122"/>
                        <a:cs typeface="Times New Roman" panose="02020603050405020304" pitchFamily="18" charset="0"/>
                      </a:rPr>
                      <m:t>=1</m:t>
                    </m:r>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2</m:t>
                    </m:r>
                    <m:r>
                      <a:rPr lang="en-US" altLang="zh-CN" sz="1100" i="1">
                        <a:latin typeface="Cambria Math" panose="02040503050406030204" pitchFamily="18" charset="0"/>
                        <a:ea typeface="SimSun" panose="02010600030101010101" pitchFamily="2" charset="-122"/>
                        <a:cs typeface="Times New Roman" panose="02020603050405020304" pitchFamily="18" charset="0"/>
                      </a:rPr>
                      <m:t>000</m:t>
                    </m:r>
                  </m:oMath>
                </a14:m>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100" dirty="0">
                    <a:latin typeface="Garamond" panose="02020404030301010803" pitchFamily="18" charset="0"/>
                    <a:ea typeface="SimSun" panose="02010600030101010101" pitchFamily="2" charset="-122"/>
                  </a:rPr>
                  <a:t>因此，若投资增加</a:t>
                </a:r>
                <a:r>
                  <a:rPr lang="en-US" altLang="zh-CN" sz="1100" dirty="0">
                    <a:latin typeface="Garamond" panose="02020404030301010803" pitchFamily="18" charset="0"/>
                    <a:ea typeface="SimSun" panose="02010600030101010101" pitchFamily="2" charset="-122"/>
                  </a:rPr>
                  <a:t>400</a:t>
                </a:r>
                <a:r>
                  <a:rPr lang="zh-CN" altLang="en-US" sz="1100" dirty="0">
                    <a:latin typeface="Garamond" panose="02020404030301010803" pitchFamily="18" charset="0"/>
                    <a:ea typeface="SimSun" panose="02010600030101010101" pitchFamily="2" charset="-122"/>
                  </a:rPr>
                  <a:t>，相应地增加均衡收入为</a:t>
                </a:r>
                <a:r>
                  <a:rPr lang="en-US" altLang="zh-CN" sz="1100" dirty="0">
                    <a:latin typeface="Garamond" panose="02020404030301010803" pitchFamily="18" charset="0"/>
                    <a:ea typeface="SimSun" panose="02010600030101010101" pitchFamily="2" charset="-122"/>
                  </a:rPr>
                  <a:t>2000</a:t>
                </a:r>
              </a:p>
              <a:p>
                <a:pPr marL="0" indent="0">
                  <a:buNone/>
                </a:pP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4</a:t>
                </a:r>
                <a:r>
                  <a:rPr lang="zh-CN" altLang="en-US" sz="1100" dirty="0">
                    <a:latin typeface="Garamond" panose="02020404030301010803" pitchFamily="18" charset="0"/>
                    <a:ea typeface="SimSun" panose="02010600030101010101" pitchFamily="2" charset="-122"/>
                  </a:rPr>
                  <a:t>）投资乘数</a:t>
                </a:r>
                <a14:m>
                  <m:oMath xmlns:m="http://schemas.openxmlformats.org/officeDocument/2006/math">
                    <m:r>
                      <a:rPr lang="en-US" altLang="zh-CN" sz="1100" i="1" dirty="0" smtClean="0">
                        <a:latin typeface="Cambria Math" panose="02040503050406030204" pitchFamily="18" charset="0"/>
                        <a:ea typeface="SimSun" panose="02010600030101010101" pitchFamily="2" charset="-122"/>
                      </a:rPr>
                      <m:t>𝑘</m:t>
                    </m:r>
                    <m:r>
                      <a:rPr lang="en-US" altLang="zh-CN" sz="1100" i="1" dirty="0" smtClean="0">
                        <a:latin typeface="Cambria Math" panose="02040503050406030204" pitchFamily="18" charset="0"/>
                        <a:ea typeface="SimSun" panose="02010600030101010101" pitchFamily="2" charset="-122"/>
                      </a:rPr>
                      <m:t>=</m:t>
                    </m:r>
                    <m:f>
                      <m:fPr>
                        <m:ctrlPr>
                          <a:rPr lang="en-US" altLang="zh-CN" sz="1100" i="1" dirty="0" smtClean="0">
                            <a:latin typeface="Cambria Math" panose="02040503050406030204" pitchFamily="18" charset="0"/>
                            <a:ea typeface="SimSun" panose="02010600030101010101" pitchFamily="2" charset="-122"/>
                          </a:rPr>
                        </m:ctrlPr>
                      </m:fPr>
                      <m:num>
                        <m:r>
                          <a:rPr lang="en-US" altLang="zh-CN" sz="1100" b="0" i="1" dirty="0" smtClean="0">
                            <a:latin typeface="Cambria Math" panose="02040503050406030204" pitchFamily="18" charset="0"/>
                            <a:ea typeface="SimSun" panose="02010600030101010101" pitchFamily="2" charset="-122"/>
                          </a:rPr>
                          <m:t>1</m:t>
                        </m:r>
                      </m:num>
                      <m:den>
                        <m:r>
                          <a:rPr lang="en-US" altLang="zh-CN" sz="1100" b="0" i="1" dirty="0" smtClean="0">
                            <a:latin typeface="Cambria Math" panose="02040503050406030204" pitchFamily="18" charset="0"/>
                            <a:ea typeface="SimSun" panose="02010600030101010101" pitchFamily="2" charset="-122"/>
                          </a:rPr>
                          <m:t>1−</m:t>
                        </m:r>
                        <m:r>
                          <a:rPr lang="en-US" altLang="zh-CN" sz="1100" b="0" i="1" dirty="0" smtClean="0">
                            <a:latin typeface="Cambria Math" panose="02040503050406030204" pitchFamily="18" charset="0"/>
                            <a:ea typeface="SimSun" panose="02010600030101010101" pitchFamily="2" charset="-122"/>
                          </a:rPr>
                          <m:t>𝑀𝑃𝐶</m:t>
                        </m:r>
                      </m:den>
                    </m:f>
                    <m:r>
                      <a:rPr lang="en-US" altLang="zh-CN" sz="1100" b="0" i="1" dirty="0" smtClean="0">
                        <a:latin typeface="Cambria Math" panose="02040503050406030204" pitchFamily="18" charset="0"/>
                        <a:ea typeface="SimSun" panose="02010600030101010101" pitchFamily="2" charset="-122"/>
                      </a:rPr>
                      <m:t>=</m:t>
                    </m:r>
                    <m:f>
                      <m:fPr>
                        <m:ctrlPr>
                          <a:rPr lang="en-US" altLang="zh-CN" sz="1100" b="0" i="1" dirty="0" smtClean="0">
                            <a:latin typeface="Cambria Math" panose="02040503050406030204" pitchFamily="18" charset="0"/>
                            <a:ea typeface="SimSun" panose="02010600030101010101" pitchFamily="2" charset="-122"/>
                          </a:rPr>
                        </m:ctrlPr>
                      </m:fPr>
                      <m:num>
                        <m:r>
                          <a:rPr lang="en-US" altLang="zh-CN" sz="1100" b="0" i="1" dirty="0" smtClean="0">
                            <a:latin typeface="Cambria Math" panose="02040503050406030204" pitchFamily="18" charset="0"/>
                            <a:ea typeface="SimSun" panose="02010600030101010101" pitchFamily="2" charset="-122"/>
                          </a:rPr>
                          <m:t>1</m:t>
                        </m:r>
                      </m:num>
                      <m:den>
                        <m:r>
                          <a:rPr lang="en-US" altLang="zh-CN" sz="1100" b="0" i="1" dirty="0" smtClean="0">
                            <a:latin typeface="Cambria Math" panose="02040503050406030204" pitchFamily="18" charset="0"/>
                            <a:ea typeface="SimSun" panose="02010600030101010101" pitchFamily="2" charset="-122"/>
                          </a:rPr>
                          <m:t>1−0.8</m:t>
                        </m:r>
                      </m:den>
                    </m:f>
                    <m:r>
                      <a:rPr lang="en-US" altLang="zh-CN" sz="1100" b="0" i="1" dirty="0" smtClean="0">
                        <a:latin typeface="Cambria Math" panose="02040503050406030204" pitchFamily="18" charset="0"/>
                        <a:ea typeface="SimSun" panose="02010600030101010101" pitchFamily="2" charset="-122"/>
                      </a:rPr>
                      <m:t>=5</m:t>
                    </m:r>
                  </m:oMath>
                </a14:m>
                <a:endParaRPr lang="en-US" altLang="zh-CN" sz="1100" dirty="0">
                  <a:latin typeface="Garamond" panose="02020404030301010803" pitchFamily="18" charset="0"/>
                  <a:ea typeface="SimSun" panose="02010600030101010101" pitchFamily="2" charset="-122"/>
                </a:endParaRPr>
              </a:p>
              <a:p>
                <a:pPr marL="0" indent="0">
                  <a:buNone/>
                </a:pPr>
                <a:endParaRPr lang="en-US" altLang="zh-CN" sz="1100" dirty="0">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314320" y="492378"/>
                <a:ext cx="4110356" cy="2534139"/>
              </a:xfrm>
              <a:blipFill>
                <a:blip r:embed="rId2"/>
                <a:stretch>
                  <a:fillRect t="-498"/>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96674442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14880</TotalTime>
  <Words>6979</Words>
  <Application>Microsoft Office PowerPoint</Application>
  <PresentationFormat>自定义</PresentationFormat>
  <Paragraphs>1032</Paragraphs>
  <Slides>89</Slides>
  <Notes>3</Notes>
  <HiddenSlides>0</HiddenSlides>
  <MMClips>0</MMClips>
  <ScaleCrop>false</ScaleCrop>
  <HeadingPairs>
    <vt:vector size="6" baseType="variant">
      <vt:variant>
        <vt:lpstr>已用的字体</vt:lpstr>
      </vt:variant>
      <vt:variant>
        <vt:i4>15</vt:i4>
      </vt:variant>
      <vt:variant>
        <vt:lpstr>主题</vt:lpstr>
      </vt:variant>
      <vt:variant>
        <vt:i4>9</vt:i4>
      </vt:variant>
      <vt:variant>
        <vt:lpstr>幻灯片标题</vt:lpstr>
      </vt:variant>
      <vt:variant>
        <vt:i4>89</vt:i4>
      </vt:variant>
    </vt:vector>
  </HeadingPairs>
  <TitlesOfParts>
    <vt:vector size="113" baseType="lpstr">
      <vt:lpstr>DengXian</vt:lpstr>
      <vt:lpstr>DengXian</vt:lpstr>
      <vt:lpstr>KaiTi</vt:lpstr>
      <vt:lpstr>宋体</vt:lpstr>
      <vt:lpstr>宋体</vt:lpstr>
      <vt:lpstr>Microsoft YaHei</vt:lpstr>
      <vt:lpstr>Arial</vt:lpstr>
      <vt:lpstr>Book Antiqua</vt:lpstr>
      <vt:lpstr>Calibri</vt:lpstr>
      <vt:lpstr>Calibri Light</vt:lpstr>
      <vt:lpstr>Cambria Math</vt:lpstr>
      <vt:lpstr>Garamond</vt:lpstr>
      <vt:lpstr>Tahoma</vt:lpstr>
      <vt:lpstr>Times New Roman</vt:lpstr>
      <vt:lpstr>Wingdings</vt:lpstr>
      <vt:lpstr>Custom Design</vt:lpstr>
      <vt:lpstr>1_Custom Design</vt:lpstr>
      <vt:lpstr>2_Custom Design</vt:lpstr>
      <vt:lpstr>3_Custom Design</vt:lpstr>
      <vt:lpstr>1_Office 主题​​</vt:lpstr>
      <vt:lpstr>4_Custom Design</vt:lpstr>
      <vt:lpstr>5_Custom Design</vt:lpstr>
      <vt:lpstr>6_Custom Design</vt:lpstr>
      <vt:lpstr>7_Custom Design</vt:lpstr>
      <vt:lpstr>宏观经济学</vt:lpstr>
      <vt:lpstr>PowerPoint 演示文稿</vt:lpstr>
      <vt:lpstr>本章假设</vt:lpstr>
      <vt:lpstr>PowerPoint 演示文稿</vt:lpstr>
      <vt:lpstr>国民收入核算方法</vt:lpstr>
      <vt:lpstr>国民收入核算思想</vt:lpstr>
      <vt:lpstr>国民收入核算思想</vt:lpstr>
      <vt:lpstr>国民收入核算思想</vt:lpstr>
      <vt:lpstr>支出法expenditure approch</vt:lpstr>
      <vt:lpstr>收入法income approach</vt:lpstr>
      <vt:lpstr>收入法income approach</vt:lpstr>
      <vt:lpstr>收入法income approach</vt:lpstr>
      <vt:lpstr>PowerPoint 演示文稿</vt:lpstr>
      <vt:lpstr>部门法（sector approach）/生产法</vt:lpstr>
      <vt:lpstr>国内生产总值构成（来源：国家统计局）：部门法/生产法</vt:lpstr>
      <vt:lpstr>国内生产总值构成（来源：国家统计局）：部门法/生产法</vt:lpstr>
      <vt:lpstr>三种核算方法的关系</vt:lpstr>
      <vt:lpstr>三种核算GDP的方法的比较</vt:lpstr>
      <vt:lpstr>国民收入核算中其他总量的核算</vt:lpstr>
      <vt:lpstr>国民收入核算中其他总量的核算</vt:lpstr>
      <vt:lpstr>PowerPoint 演示文稿</vt:lpstr>
      <vt:lpstr>宏观经济循环</vt:lpstr>
      <vt:lpstr>国民收入恒等式</vt:lpstr>
      <vt:lpstr>均衡产出的条件：投资储蓄恒等式</vt:lpstr>
      <vt:lpstr>均衡产出的条件</vt:lpstr>
      <vt:lpstr>均衡产出的条件：两部门经济</vt:lpstr>
      <vt:lpstr>两部门经济循环</vt:lpstr>
      <vt:lpstr>两部门经济条件下的国民收入构成</vt:lpstr>
      <vt:lpstr>储蓄——投资恒等式</vt:lpstr>
      <vt:lpstr>三部门经济：储蓄——投资恒等式</vt:lpstr>
      <vt:lpstr>三部门经济：储蓄——投资恒等式</vt:lpstr>
      <vt:lpstr>三部门经济循环模型</vt:lpstr>
      <vt:lpstr>四部门经济循环模型</vt:lpstr>
      <vt:lpstr>四部门经济的储蓄——投资恒等式</vt:lpstr>
      <vt:lpstr>PowerPoint 演示文稿</vt:lpstr>
      <vt:lpstr>凯恩斯消费理论</vt:lpstr>
      <vt:lpstr>消费函数consumption function</vt:lpstr>
      <vt:lpstr>消费函数consumption function</vt:lpstr>
      <vt:lpstr>PowerPoint 演示文稿</vt:lpstr>
      <vt:lpstr>PowerPoint 演示文稿</vt:lpstr>
      <vt:lpstr>PowerPoint 演示文稿</vt:lpstr>
      <vt:lpstr>PowerPoint 演示文稿</vt:lpstr>
      <vt:lpstr>消费曲线的移动</vt:lpstr>
      <vt:lpstr>硬币的另一面：储蓄函数</vt:lpstr>
      <vt:lpstr>储蓄函数</vt:lpstr>
      <vt:lpstr>储蓄曲线与消费曲线</vt:lpstr>
      <vt:lpstr>线性与非线性储蓄曲线</vt:lpstr>
      <vt:lpstr>PowerPoint 演示文稿</vt:lpstr>
      <vt:lpstr>其他消费理论</vt:lpstr>
      <vt:lpstr>生命周期消费理论</vt:lpstr>
      <vt:lpstr>永久收入消费理论</vt:lpstr>
      <vt:lpstr>使用消费函数决定收入：AE-NI模型</vt:lpstr>
      <vt:lpstr>使用消费函数决定收入</vt:lpstr>
      <vt:lpstr>主动学习  1    国民收入的决定</vt:lpstr>
      <vt:lpstr>主动学习  1    参考答案</vt:lpstr>
      <vt:lpstr>主动学习  2       国民收入的决定</vt:lpstr>
      <vt:lpstr>参考答案       国民收入的决定</vt:lpstr>
      <vt:lpstr>使用储蓄函数决定收入</vt:lpstr>
      <vt:lpstr>使用储蓄函数决定收入</vt:lpstr>
      <vt:lpstr>使用储蓄函数决定收入</vt:lpstr>
      <vt:lpstr>宏观经济学</vt:lpstr>
      <vt:lpstr>乘数产生的基本原理</vt:lpstr>
      <vt:lpstr>PowerPoint 演示文稿</vt:lpstr>
      <vt:lpstr>公式推导</vt:lpstr>
      <vt:lpstr>乘数效应</vt:lpstr>
      <vt:lpstr>两部门经济的AE-NI模型</vt:lpstr>
      <vt:lpstr>三部门经济的AE-NI模型</vt:lpstr>
      <vt:lpstr>PowerPoint 演示文稿</vt:lpstr>
      <vt:lpstr>三部门经济中的各种乘数</vt:lpstr>
      <vt:lpstr>政府购买乘数</vt:lpstr>
      <vt:lpstr>税收乘数</vt:lpstr>
      <vt:lpstr>税收乘数：定量税</vt:lpstr>
      <vt:lpstr>比例税</vt:lpstr>
      <vt:lpstr>政府转移支付乘数</vt:lpstr>
      <vt:lpstr>平衡预算乘数</vt:lpstr>
      <vt:lpstr>课堂练习       三部门经济收入的决定</vt:lpstr>
      <vt:lpstr>参考答案       三部门经济收入的决定</vt:lpstr>
      <vt:lpstr>参考答案       三部门经济收入的决定</vt:lpstr>
      <vt:lpstr>四部门经济中的AE- NI模型</vt:lpstr>
      <vt:lpstr>四部门经济中的AE- NI模型</vt:lpstr>
      <vt:lpstr>四部门经济中的各种乘数</vt:lpstr>
      <vt:lpstr>课堂练习1       国民收入的决定</vt:lpstr>
      <vt:lpstr>参考答案       国民收入的决定</vt:lpstr>
      <vt:lpstr>课堂练习2 乘数与国民收入的决定</vt:lpstr>
      <vt:lpstr>参考答案       乘数与国民收入的决定</vt:lpstr>
      <vt:lpstr>课堂练习  3       国民收入的决定（暨南大学2012年）</vt:lpstr>
      <vt:lpstr>参考答案  3      </vt:lpstr>
      <vt:lpstr>参考答案  3      </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shiyu fang</cp:lastModifiedBy>
  <cp:revision>1994</cp:revision>
  <dcterms:created xsi:type="dcterms:W3CDTF">2022-08-17T03:42:51Z</dcterms:created>
  <dcterms:modified xsi:type="dcterms:W3CDTF">2025-05-09T15:17:01Z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