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theme/themeOverride3.xml" ContentType="application/vnd.openxmlformats-officedocument.themeOverride+xml"/>
  <Override PartName="/ppt/notesSlides/notesSlide4.xml" ContentType="application/vnd.openxmlformats-officedocument.presentationml.notesSlide+xml"/>
  <Override PartName="/ppt/theme/themeOverride4.xml" ContentType="application/vnd.openxmlformats-officedocument.themeOverride+xml"/>
  <Override PartName="/ppt/notesSlides/notesSlide5.xml" ContentType="application/vnd.openxmlformats-officedocument.presentationml.notesSlide+xml"/>
  <Override PartName="/ppt/theme/themeOverride5.xml" ContentType="application/vnd.openxmlformats-officedocument.themeOverride+xml"/>
  <Override PartName="/ppt/notesSlides/notesSlide6.xml" ContentType="application/vnd.openxmlformats-officedocument.presentationml.notesSlide+xml"/>
  <Override PartName="/ppt/theme/themeOverride6.xml" ContentType="application/vnd.openxmlformats-officedocument.themeOverride+xml"/>
  <Override PartName="/ppt/notesSlides/notesSlide7.xml" ContentType="application/vnd.openxmlformats-officedocument.presentationml.notesSlide+xml"/>
  <Override PartName="/ppt/theme/themeOverride7.xml" ContentType="application/vnd.openxmlformats-officedocument.themeOverride+xml"/>
  <Override PartName="/ppt/notesSlides/notesSlide8.xml" ContentType="application/vnd.openxmlformats-officedocument.presentationml.notesSlide+xml"/>
  <Override PartName="/ppt/theme/themeOverride8.xml" ContentType="application/vnd.openxmlformats-officedocument.themeOverride+xml"/>
  <Override PartName="/ppt/notesSlides/notesSlide9.xml" ContentType="application/vnd.openxmlformats-officedocument.presentationml.notesSlide+xml"/>
  <Override PartName="/ppt/theme/themeOverride9.xml" ContentType="application/vnd.openxmlformats-officedocument.themeOverride+xml"/>
  <Override PartName="/ppt/notesSlides/notesSlide10.xml" ContentType="application/vnd.openxmlformats-officedocument.presentationml.notesSlide+xml"/>
  <Override PartName="/ppt/theme/themeOverride10.xml" ContentType="application/vnd.openxmlformats-officedocument.themeOverride+xml"/>
  <Override PartName="/ppt/notesSlides/notesSlide11.xml" ContentType="application/vnd.openxmlformats-officedocument.presentationml.notesSlide+xml"/>
  <Override PartName="/ppt/theme/themeOverride11.xml" ContentType="application/vnd.openxmlformats-officedocument.themeOverride+xml"/>
  <Override PartName="/ppt/notesSlides/notesSlide12.xml" ContentType="application/vnd.openxmlformats-officedocument.presentationml.notesSlide+xml"/>
  <Override PartName="/ppt/theme/themeOverride12.xml" ContentType="application/vnd.openxmlformats-officedocument.themeOverride+xml"/>
  <Override PartName="/ppt/notesSlides/notesSlide13.xml" ContentType="application/vnd.openxmlformats-officedocument.presentationml.notesSlide+xml"/>
  <Override PartName="/ppt/theme/themeOverride13.xml" ContentType="application/vnd.openxmlformats-officedocument.themeOverride+xml"/>
  <Override PartName="/ppt/notesSlides/notesSlide14.xml" ContentType="application/vnd.openxmlformats-officedocument.presentationml.notesSlide+xml"/>
  <Override PartName="/ppt/theme/themeOverride14.xml" ContentType="application/vnd.openxmlformats-officedocument.themeOverride+xml"/>
  <Override PartName="/ppt/notesSlides/notesSlide15.xml" ContentType="application/vnd.openxmlformats-officedocument.presentationml.notesSlide+xml"/>
  <Override PartName="/ppt/theme/themeOverride15.xml" ContentType="application/vnd.openxmlformats-officedocument.themeOverride+xml"/>
  <Override PartName="/ppt/notesSlides/notesSlide16.xml" ContentType="application/vnd.openxmlformats-officedocument.presentationml.notesSlide+xml"/>
  <Override PartName="/ppt/theme/themeOverride16.xml" ContentType="application/vnd.openxmlformats-officedocument.themeOverride+xml"/>
  <Override PartName="/ppt/notesSlides/notesSlide17.xml" ContentType="application/vnd.openxmlformats-officedocument.presentationml.notesSlide+xml"/>
  <Override PartName="/ppt/theme/themeOverride17.xml" ContentType="application/vnd.openxmlformats-officedocument.themeOverride+xml"/>
  <Override PartName="/ppt/notesSlides/notesSlide18.xml" ContentType="application/vnd.openxmlformats-officedocument.presentationml.notesSlide+xml"/>
  <Override PartName="/ppt/theme/themeOverride18.xml" ContentType="application/vnd.openxmlformats-officedocument.themeOverride+xml"/>
  <Override PartName="/ppt/notesSlides/notesSlide19.xml" ContentType="application/vnd.openxmlformats-officedocument.presentationml.notesSlide+xml"/>
  <Override PartName="/ppt/theme/themeOverride19.xml" ContentType="application/vnd.openxmlformats-officedocument.themeOverride+xml"/>
  <Override PartName="/ppt/notesSlides/notesSlide20.xml" ContentType="application/vnd.openxmlformats-officedocument.presentationml.notesSlide+xml"/>
  <Override PartName="/ppt/theme/themeOverride20.xml" ContentType="application/vnd.openxmlformats-officedocument.themeOverride+xml"/>
  <Override PartName="/ppt/notesSlides/notesSlide21.xml" ContentType="application/vnd.openxmlformats-officedocument.presentationml.notesSlide+xml"/>
  <Override PartName="/ppt/theme/themeOverride21.xml" ContentType="application/vnd.openxmlformats-officedocument.themeOverride+xml"/>
  <Override PartName="/ppt/notesSlides/notesSlide22.xml" ContentType="application/vnd.openxmlformats-officedocument.presentationml.notesSlide+xml"/>
  <Override PartName="/ppt/theme/themeOverride22.xml" ContentType="application/vnd.openxmlformats-officedocument.themeOverride+xml"/>
  <Override PartName="/ppt/notesSlides/notesSlide23.xml" ContentType="application/vnd.openxmlformats-officedocument.presentationml.notesSlide+xml"/>
  <Override PartName="/ppt/theme/themeOverride23.xml" ContentType="application/vnd.openxmlformats-officedocument.themeOverride+xml"/>
  <Override PartName="/ppt/notesSlides/notesSlide24.xml" ContentType="application/vnd.openxmlformats-officedocument.presentationml.notesSlide+xml"/>
  <Override PartName="/ppt/theme/themeOverride24.xml" ContentType="application/vnd.openxmlformats-officedocument.themeOverride+xml"/>
  <Override PartName="/ppt/notesSlides/notesSlide25.xml" ContentType="application/vnd.openxmlformats-officedocument.presentationml.notesSlide+xml"/>
  <Override PartName="/ppt/theme/themeOverride25.xml" ContentType="application/vnd.openxmlformats-officedocument.themeOverride+xml"/>
  <Override PartName="/ppt/notesSlides/notesSlide26.xml" ContentType="application/vnd.openxmlformats-officedocument.presentationml.notesSlide+xml"/>
  <Override PartName="/ppt/theme/themeOverride26.xml" ContentType="application/vnd.openxmlformats-officedocument.themeOverride+xml"/>
  <Override PartName="/ppt/notesSlides/notesSlide27.xml" ContentType="application/vnd.openxmlformats-officedocument.presentationml.notesSlide+xml"/>
  <Override PartName="/ppt/theme/themeOverride27.xml" ContentType="application/vnd.openxmlformats-officedocument.themeOverride+xml"/>
  <Override PartName="/ppt/notesSlides/notesSlide28.xml" ContentType="application/vnd.openxmlformats-officedocument.presentationml.notesSlide+xml"/>
  <Override PartName="/ppt/theme/themeOverride28.xml" ContentType="application/vnd.openxmlformats-officedocument.themeOverride+xml"/>
  <Override PartName="/ppt/notesSlides/notesSlide29.xml" ContentType="application/vnd.openxmlformats-officedocument.presentationml.notesSlide+xml"/>
  <Override PartName="/ppt/theme/themeOverride29.xml" ContentType="application/vnd.openxmlformats-officedocument.themeOverride+xml"/>
  <Override PartName="/ppt/notesSlides/notesSlide30.xml" ContentType="application/vnd.openxmlformats-officedocument.presentationml.notesSlide+xml"/>
  <Override PartName="/ppt/theme/themeOverride30.xml" ContentType="application/vnd.openxmlformats-officedocument.themeOverride+xml"/>
  <Override PartName="/ppt/notesSlides/notesSlide31.xml" ContentType="application/vnd.openxmlformats-officedocument.presentationml.notesSlide+xml"/>
  <Override PartName="/ppt/theme/themeOverride31.xml" ContentType="application/vnd.openxmlformats-officedocument.themeOverride+xml"/>
  <Override PartName="/ppt/notesSlides/notesSlide32.xml" ContentType="application/vnd.openxmlformats-officedocument.presentationml.notesSlide+xml"/>
  <Override PartName="/ppt/theme/themeOverride32.xml" ContentType="application/vnd.openxmlformats-officedocument.themeOverride+xml"/>
  <Override PartName="/ppt/notesSlides/notesSlide33.xml" ContentType="application/vnd.openxmlformats-officedocument.presentationml.notesSlide+xml"/>
  <Override PartName="/ppt/theme/themeOverride33.xml" ContentType="application/vnd.openxmlformats-officedocument.themeOverride+xml"/>
  <Override PartName="/ppt/notesSlides/notesSlide34.xml" ContentType="application/vnd.openxmlformats-officedocument.presentationml.notesSlide+xml"/>
  <Override PartName="/ppt/theme/themeOverride34.xml" ContentType="application/vnd.openxmlformats-officedocument.themeOverride+xml"/>
  <Override PartName="/ppt/notesSlides/notesSlide35.xml" ContentType="application/vnd.openxmlformats-officedocument.presentationml.notesSlide+xml"/>
  <Override PartName="/ppt/theme/themeOverride35.xml" ContentType="application/vnd.openxmlformats-officedocument.themeOverride+xml"/>
  <Override PartName="/ppt/notesSlides/notesSlide36.xml" ContentType="application/vnd.openxmlformats-officedocument.presentationml.notesSlide+xml"/>
  <Override PartName="/ppt/theme/themeOverride36.xml" ContentType="application/vnd.openxmlformats-officedocument.themeOverride+xml"/>
  <Override PartName="/ppt/notesSlides/notesSlide37.xml" ContentType="application/vnd.openxmlformats-officedocument.presentationml.notesSlide+xml"/>
  <Override PartName="/ppt/theme/themeOverride37.xml" ContentType="application/vnd.openxmlformats-officedocument.themeOverride+xml"/>
  <Override PartName="/ppt/notesSlides/notesSlide38.xml" ContentType="application/vnd.openxmlformats-officedocument.presentationml.notesSlide+xml"/>
  <Override PartName="/ppt/theme/themeOverride38.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9" r:id="rId2"/>
    <p:sldMasterId id="2147483681" r:id="rId3"/>
    <p:sldMasterId id="2147483694" r:id="rId4"/>
  </p:sldMasterIdLst>
  <p:notesMasterIdLst>
    <p:notesMasterId r:id="rId74"/>
  </p:notesMasterIdLst>
  <p:sldIdLst>
    <p:sldId id="256" r:id="rId5"/>
    <p:sldId id="362" r:id="rId6"/>
    <p:sldId id="549" r:id="rId7"/>
    <p:sldId id="359" r:id="rId8"/>
    <p:sldId id="415" r:id="rId9"/>
    <p:sldId id="1097" r:id="rId10"/>
    <p:sldId id="962" r:id="rId11"/>
    <p:sldId id="1110" r:id="rId12"/>
    <p:sldId id="1107" r:id="rId13"/>
    <p:sldId id="1108" r:id="rId14"/>
    <p:sldId id="1109" r:id="rId15"/>
    <p:sldId id="1106" r:id="rId16"/>
    <p:sldId id="1099" r:id="rId17"/>
    <p:sldId id="1100" r:id="rId18"/>
    <p:sldId id="1101" r:id="rId19"/>
    <p:sldId id="986" r:id="rId20"/>
    <p:sldId id="987" r:id="rId21"/>
    <p:sldId id="988" r:id="rId22"/>
    <p:sldId id="1096" r:id="rId23"/>
    <p:sldId id="276" r:id="rId24"/>
    <p:sldId id="1094" r:id="rId25"/>
    <p:sldId id="989" r:id="rId26"/>
    <p:sldId id="1095" r:id="rId27"/>
    <p:sldId id="990" r:id="rId28"/>
    <p:sldId id="429" r:id="rId29"/>
    <p:sldId id="357" r:id="rId30"/>
    <p:sldId id="277" r:id="rId31"/>
    <p:sldId id="1102" r:id="rId32"/>
    <p:sldId id="1098" r:id="rId33"/>
    <p:sldId id="1085" r:id="rId34"/>
    <p:sldId id="326" r:id="rId35"/>
    <p:sldId id="281" r:id="rId36"/>
    <p:sldId id="282" r:id="rId37"/>
    <p:sldId id="283" r:id="rId38"/>
    <p:sldId id="284" r:id="rId39"/>
    <p:sldId id="285" r:id="rId40"/>
    <p:sldId id="286" r:id="rId41"/>
    <p:sldId id="287" r:id="rId42"/>
    <p:sldId id="288" r:id="rId43"/>
    <p:sldId id="289" r:id="rId44"/>
    <p:sldId id="290" r:id="rId45"/>
    <p:sldId id="291" r:id="rId46"/>
    <p:sldId id="1086" r:id="rId47"/>
    <p:sldId id="293" r:id="rId48"/>
    <p:sldId id="1088" r:id="rId49"/>
    <p:sldId id="1089" r:id="rId50"/>
    <p:sldId id="1090" r:id="rId51"/>
    <p:sldId id="298" r:id="rId52"/>
    <p:sldId id="299" r:id="rId53"/>
    <p:sldId id="300" r:id="rId54"/>
    <p:sldId id="301" r:id="rId55"/>
    <p:sldId id="302" r:id="rId56"/>
    <p:sldId id="303" r:id="rId57"/>
    <p:sldId id="304" r:id="rId58"/>
    <p:sldId id="305" r:id="rId59"/>
    <p:sldId id="1091" r:id="rId60"/>
    <p:sldId id="1092" r:id="rId61"/>
    <p:sldId id="1093" r:id="rId62"/>
    <p:sldId id="427" r:id="rId63"/>
    <p:sldId id="428" r:id="rId64"/>
    <p:sldId id="309" r:id="rId65"/>
    <p:sldId id="310" r:id="rId66"/>
    <p:sldId id="311" r:id="rId67"/>
    <p:sldId id="312" r:id="rId68"/>
    <p:sldId id="327" r:id="rId69"/>
    <p:sldId id="328" r:id="rId70"/>
    <p:sldId id="329" r:id="rId71"/>
    <p:sldId id="273" r:id="rId72"/>
    <p:sldId id="367" r:id="rId73"/>
  </p:sldIdLst>
  <p:sldSz cx="4610100" cy="3460750"/>
  <p:notesSz cx="4610100" cy="346075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B591DDA-E7B4-E04D-B3E3-4101BC46824A}">
          <p14:sldIdLst>
            <p14:sldId id="256"/>
            <p14:sldId id="362"/>
            <p14:sldId id="549"/>
            <p14:sldId id="359"/>
            <p14:sldId id="415"/>
            <p14:sldId id="1097"/>
            <p14:sldId id="962"/>
            <p14:sldId id="1110"/>
            <p14:sldId id="1107"/>
            <p14:sldId id="1108"/>
            <p14:sldId id="1109"/>
            <p14:sldId id="1106"/>
            <p14:sldId id="1099"/>
            <p14:sldId id="1100"/>
            <p14:sldId id="1101"/>
            <p14:sldId id="986"/>
            <p14:sldId id="987"/>
            <p14:sldId id="988"/>
          </p14:sldIdLst>
        </p14:section>
        <p14:section name="1. 宏观经济学研究什么" id="{9E6C69B0-9757-594D-A9C9-BD1DB31F67A5}">
          <p14:sldIdLst>
            <p14:sldId id="1096"/>
            <p14:sldId id="276"/>
            <p14:sldId id="1094"/>
            <p14:sldId id="989"/>
            <p14:sldId id="1095"/>
            <p14:sldId id="990"/>
            <p14:sldId id="429"/>
            <p14:sldId id="357"/>
          </p14:sldIdLst>
        </p14:section>
        <p14:section name="2.收入与支出的循环" id="{C343D21A-BE20-AA4C-93FB-48F0E29BD1C8}">
          <p14:sldIdLst>
            <p14:sldId id="277"/>
            <p14:sldId id="1102"/>
            <p14:sldId id="1098"/>
            <p14:sldId id="1085"/>
            <p14:sldId id="326"/>
            <p14:sldId id="281"/>
            <p14:sldId id="282"/>
          </p14:sldIdLst>
        </p14:section>
        <p14:section name="3. GDP的概念" id="{D88D515E-71BA-3F41-9D2D-9DE0CB8E071F}">
          <p14:sldIdLst>
            <p14:sldId id="283"/>
            <p14:sldId id="284"/>
            <p14:sldId id="285"/>
            <p14:sldId id="286"/>
            <p14:sldId id="287"/>
            <p14:sldId id="288"/>
          </p14:sldIdLst>
        </p14:section>
        <p14:section name="4.GDP的组成部分" id="{16A6962F-EBC2-5C41-9E99-0FE7A5DE8BA2}">
          <p14:sldIdLst>
            <p14:sldId id="289"/>
            <p14:sldId id="290"/>
            <p14:sldId id="291"/>
            <p14:sldId id="1086"/>
            <p14:sldId id="293"/>
            <p14:sldId id="1088"/>
            <p14:sldId id="1089"/>
            <p14:sldId id="1090"/>
          </p14:sldIdLst>
        </p14:section>
        <p14:section name="5. GDP平减指数" id="{9B1C2E04-4D03-8D48-A8DF-441C1D124D53}">
          <p14:sldIdLst>
            <p14:sldId id="298"/>
            <p14:sldId id="299"/>
            <p14:sldId id="300"/>
            <p14:sldId id="301"/>
            <p14:sldId id="302"/>
            <p14:sldId id="303"/>
            <p14:sldId id="304"/>
            <p14:sldId id="305"/>
            <p14:sldId id="1091"/>
            <p14:sldId id="1092"/>
            <p14:sldId id="1093"/>
            <p14:sldId id="427"/>
            <p14:sldId id="428"/>
          </p14:sldIdLst>
        </p14:section>
        <p14:section name="6.GDP的缺陷" id="{D5F4B89B-DC94-C04C-B049-939FEE6B0BBC}">
          <p14:sldIdLst>
            <p14:sldId id="309"/>
            <p14:sldId id="310"/>
            <p14:sldId id="311"/>
            <p14:sldId id="312"/>
            <p14:sldId id="327"/>
            <p14:sldId id="328"/>
            <p14:sldId id="329"/>
            <p14:sldId id="273"/>
            <p14:sldId id="367"/>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DB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69" autoAdjust="0"/>
    <p:restoredTop sz="95659"/>
  </p:normalViewPr>
  <p:slideViewPr>
    <p:cSldViewPr>
      <p:cViewPr varScale="1">
        <p:scale>
          <a:sx n="230" d="100"/>
          <a:sy n="230" d="100"/>
        </p:scale>
        <p:origin x="1688" y="176"/>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slideMaster" Target="slideMasters/slideMaster2.xml"/><Relationship Id="rId29"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92E002F3-C090-FD4F-93E3-8CAD6EC2E916}" type="datetimeFigureOut">
              <a:rPr kumimoji="1" lang="zh-CN" altLang="en-US" smtClean="0"/>
              <a:t>2025/2/18</a:t>
            </a:fld>
            <a:endParaRPr kumimoji="1" lang="zh-CN" altLang="en-US"/>
          </a:p>
        </p:txBody>
      </p:sp>
      <p:sp>
        <p:nvSpPr>
          <p:cNvPr id="4" name="幻灯片图像占位符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00DCDE1B-E8D0-FE4B-8B2C-D7C099D60E23}" type="slidenum">
              <a:rPr kumimoji="1" lang="zh-CN" altLang="en-US" smtClean="0"/>
              <a:t>‹#›</a:t>
            </a:fld>
            <a:endParaRPr kumimoji="1" lang="zh-CN" altLang="en-US"/>
          </a:p>
        </p:txBody>
      </p:sp>
    </p:spTree>
    <p:extLst>
      <p:ext uri="{BB962C8B-B14F-4D97-AF65-F5344CB8AC3E}">
        <p14:creationId xmlns:p14="http://schemas.microsoft.com/office/powerpoint/2010/main" val="2530736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notesMaster" Target="../notesMasters/notesMaster1.xml"/><Relationship Id="rId1" Type="http://schemas.openxmlformats.org/officeDocument/2006/relationships/themeOverride" Target="../theme/themeOverride4.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notesMaster" Target="../notesMasters/notesMaster1.xml"/><Relationship Id="rId1" Type="http://schemas.openxmlformats.org/officeDocument/2006/relationships/themeOverride" Target="../theme/themeOverride5.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notesMaster" Target="../notesMasters/notesMaster1.xml"/><Relationship Id="rId1" Type="http://schemas.openxmlformats.org/officeDocument/2006/relationships/themeOverride" Target="../theme/themeOverride6.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notesMaster" Target="../notesMasters/notesMaster1.xml"/><Relationship Id="rId1" Type="http://schemas.openxmlformats.org/officeDocument/2006/relationships/themeOverride" Target="../theme/themeOverride7.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20.xml"/><Relationship Id="rId2" Type="http://schemas.openxmlformats.org/officeDocument/2006/relationships/notesMaster" Target="../notesMasters/notesMaster1.xml"/><Relationship Id="rId1" Type="http://schemas.openxmlformats.org/officeDocument/2006/relationships/themeOverride" Target="../theme/themeOverride8.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21.xml"/><Relationship Id="rId2" Type="http://schemas.openxmlformats.org/officeDocument/2006/relationships/notesMaster" Target="../notesMasters/notesMaster1.xml"/><Relationship Id="rId1" Type="http://schemas.openxmlformats.org/officeDocument/2006/relationships/themeOverride" Target="../theme/themeOverride9.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notesMaster" Target="../notesMasters/notesMaster1.xml"/><Relationship Id="rId1" Type="http://schemas.openxmlformats.org/officeDocument/2006/relationships/themeOverride" Target="../theme/themeOverride10.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27.xml"/><Relationship Id="rId2" Type="http://schemas.openxmlformats.org/officeDocument/2006/relationships/notesMaster" Target="../notesMasters/notesMaster1.xml"/><Relationship Id="rId1" Type="http://schemas.openxmlformats.org/officeDocument/2006/relationships/themeOverride" Target="../theme/themeOverride11.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30.xml"/><Relationship Id="rId2" Type="http://schemas.openxmlformats.org/officeDocument/2006/relationships/notesMaster" Target="../notesMasters/notesMaster1.xml"/><Relationship Id="rId1" Type="http://schemas.openxmlformats.org/officeDocument/2006/relationships/themeOverride" Target="../theme/themeOverride12.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31.xml"/><Relationship Id="rId2" Type="http://schemas.openxmlformats.org/officeDocument/2006/relationships/notesMaster" Target="../notesMasters/notesMaster1.xml"/><Relationship Id="rId1" Type="http://schemas.openxmlformats.org/officeDocument/2006/relationships/themeOverride" Target="../theme/themeOverride13.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32.xml"/><Relationship Id="rId2" Type="http://schemas.openxmlformats.org/officeDocument/2006/relationships/notesMaster" Target="../notesMasters/notesMaster1.xml"/><Relationship Id="rId1" Type="http://schemas.openxmlformats.org/officeDocument/2006/relationships/themeOverride" Target="../theme/themeOverride14.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33.xml"/><Relationship Id="rId2" Type="http://schemas.openxmlformats.org/officeDocument/2006/relationships/notesMaster" Target="../notesMasters/notesMaster1.xml"/><Relationship Id="rId1" Type="http://schemas.openxmlformats.org/officeDocument/2006/relationships/themeOverride" Target="../theme/themeOverride15.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34.xml"/><Relationship Id="rId2" Type="http://schemas.openxmlformats.org/officeDocument/2006/relationships/notesMaster" Target="../notesMasters/notesMaster1.xml"/><Relationship Id="rId1" Type="http://schemas.openxmlformats.org/officeDocument/2006/relationships/themeOverride" Target="../theme/themeOverride16.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40.xml"/><Relationship Id="rId2" Type="http://schemas.openxmlformats.org/officeDocument/2006/relationships/notesMaster" Target="../notesMasters/notesMaster1.xml"/><Relationship Id="rId1" Type="http://schemas.openxmlformats.org/officeDocument/2006/relationships/themeOverride" Target="../theme/themeOverride17.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41.xml"/><Relationship Id="rId2" Type="http://schemas.openxmlformats.org/officeDocument/2006/relationships/notesMaster" Target="../notesMasters/notesMaster1.xml"/><Relationship Id="rId1" Type="http://schemas.openxmlformats.org/officeDocument/2006/relationships/themeOverride" Target="../theme/themeOverride18.xml"/></Relationships>
</file>

<file path=ppt/notesSlides/_rels/notesSlide19.xml.rels><?xml version="1.0" encoding="UTF-8" standalone="yes"?>
<Relationships xmlns="http://schemas.openxmlformats.org/package/2006/relationships"><Relationship Id="rId3" Type="http://schemas.openxmlformats.org/officeDocument/2006/relationships/slide" Target="../slides/slide42.xml"/><Relationship Id="rId2" Type="http://schemas.openxmlformats.org/officeDocument/2006/relationships/notesMaster" Target="../notesMasters/notesMaster1.xml"/><Relationship Id="rId1" Type="http://schemas.openxmlformats.org/officeDocument/2006/relationships/themeOverride" Target="../theme/themeOverride19.xml"/></Relationships>
</file>

<file path=ppt/notesSlides/_rels/notesSlide20.xml.rels><?xml version="1.0" encoding="UTF-8" standalone="yes"?>
<Relationships xmlns="http://schemas.openxmlformats.org/package/2006/relationships"><Relationship Id="rId3" Type="http://schemas.openxmlformats.org/officeDocument/2006/relationships/slide" Target="../slides/slide43.xml"/><Relationship Id="rId2" Type="http://schemas.openxmlformats.org/officeDocument/2006/relationships/notesMaster" Target="../notesMasters/notesMaster1.xml"/><Relationship Id="rId1" Type="http://schemas.openxmlformats.org/officeDocument/2006/relationships/themeOverride" Target="../theme/themeOverride20.xml"/></Relationships>
</file>

<file path=ppt/notesSlides/_rels/notesSlide21.xml.rels><?xml version="1.0" encoding="UTF-8" standalone="yes"?>
<Relationships xmlns="http://schemas.openxmlformats.org/package/2006/relationships"><Relationship Id="rId3" Type="http://schemas.openxmlformats.org/officeDocument/2006/relationships/slide" Target="../slides/slide44.xml"/><Relationship Id="rId2" Type="http://schemas.openxmlformats.org/officeDocument/2006/relationships/notesMaster" Target="../notesMasters/notesMaster1.xml"/><Relationship Id="rId1" Type="http://schemas.openxmlformats.org/officeDocument/2006/relationships/themeOverride" Target="../theme/themeOverride21.xml"/></Relationships>
</file>

<file path=ppt/notesSlides/_rels/notesSlide22.xml.rels><?xml version="1.0" encoding="UTF-8" standalone="yes"?>
<Relationships xmlns="http://schemas.openxmlformats.org/package/2006/relationships"><Relationship Id="rId3" Type="http://schemas.openxmlformats.org/officeDocument/2006/relationships/slide" Target="../slides/slide45.xml"/><Relationship Id="rId2" Type="http://schemas.openxmlformats.org/officeDocument/2006/relationships/notesMaster" Target="../notesMasters/notesMaster1.xml"/><Relationship Id="rId1" Type="http://schemas.openxmlformats.org/officeDocument/2006/relationships/themeOverride" Target="../theme/themeOverride22.xml"/></Relationships>
</file>

<file path=ppt/notesSlides/_rels/notesSlide23.xml.rels><?xml version="1.0" encoding="UTF-8" standalone="yes"?>
<Relationships xmlns="http://schemas.openxmlformats.org/package/2006/relationships"><Relationship Id="rId3" Type="http://schemas.openxmlformats.org/officeDocument/2006/relationships/slide" Target="../slides/slide46.xml"/><Relationship Id="rId2" Type="http://schemas.openxmlformats.org/officeDocument/2006/relationships/notesMaster" Target="../notesMasters/notesMaster1.xml"/><Relationship Id="rId1" Type="http://schemas.openxmlformats.org/officeDocument/2006/relationships/themeOverride" Target="../theme/themeOverride23.xml"/></Relationships>
</file>

<file path=ppt/notesSlides/_rels/notesSlide24.xml.rels><?xml version="1.0" encoding="UTF-8" standalone="yes"?>
<Relationships xmlns="http://schemas.openxmlformats.org/package/2006/relationships"><Relationship Id="rId3" Type="http://schemas.openxmlformats.org/officeDocument/2006/relationships/slide" Target="../slides/slide47.xml"/><Relationship Id="rId2" Type="http://schemas.openxmlformats.org/officeDocument/2006/relationships/notesMaster" Target="../notesMasters/notesMaster1.xml"/><Relationship Id="rId1" Type="http://schemas.openxmlformats.org/officeDocument/2006/relationships/themeOverride" Target="../theme/themeOverride24.xml"/></Relationships>
</file>

<file path=ppt/notesSlides/_rels/notesSlide25.xml.rels><?xml version="1.0" encoding="UTF-8" standalone="yes"?>
<Relationships xmlns="http://schemas.openxmlformats.org/package/2006/relationships"><Relationship Id="rId3" Type="http://schemas.openxmlformats.org/officeDocument/2006/relationships/slide" Target="../slides/slide49.xml"/><Relationship Id="rId2" Type="http://schemas.openxmlformats.org/officeDocument/2006/relationships/notesMaster" Target="../notesMasters/notesMaster1.xml"/><Relationship Id="rId1" Type="http://schemas.openxmlformats.org/officeDocument/2006/relationships/themeOverride" Target="../theme/themeOverride25.xml"/></Relationships>
</file>

<file path=ppt/notesSlides/_rels/notesSlide26.xml.rels><?xml version="1.0" encoding="UTF-8" standalone="yes"?>
<Relationships xmlns="http://schemas.openxmlformats.org/package/2006/relationships"><Relationship Id="rId3" Type="http://schemas.openxmlformats.org/officeDocument/2006/relationships/slide" Target="../slides/slide50.xml"/><Relationship Id="rId2" Type="http://schemas.openxmlformats.org/officeDocument/2006/relationships/notesMaster" Target="../notesMasters/notesMaster1.xml"/><Relationship Id="rId1" Type="http://schemas.openxmlformats.org/officeDocument/2006/relationships/themeOverride" Target="../theme/themeOverride26.xml"/></Relationships>
</file>

<file path=ppt/notesSlides/_rels/notesSlide27.xml.rels><?xml version="1.0" encoding="UTF-8" standalone="yes"?>
<Relationships xmlns="http://schemas.openxmlformats.org/package/2006/relationships"><Relationship Id="rId3" Type="http://schemas.openxmlformats.org/officeDocument/2006/relationships/slide" Target="../slides/slide51.xml"/><Relationship Id="rId2" Type="http://schemas.openxmlformats.org/officeDocument/2006/relationships/notesMaster" Target="../notesMasters/notesMaster1.xml"/><Relationship Id="rId1" Type="http://schemas.openxmlformats.org/officeDocument/2006/relationships/themeOverride" Target="../theme/themeOverride27.xml"/></Relationships>
</file>

<file path=ppt/notesSlides/_rels/notesSlide28.xml.rels><?xml version="1.0" encoding="UTF-8" standalone="yes"?>
<Relationships xmlns="http://schemas.openxmlformats.org/package/2006/relationships"><Relationship Id="rId3" Type="http://schemas.openxmlformats.org/officeDocument/2006/relationships/slide" Target="../slides/slide52.xml"/><Relationship Id="rId2" Type="http://schemas.openxmlformats.org/officeDocument/2006/relationships/notesMaster" Target="../notesMasters/notesMaster1.xml"/><Relationship Id="rId1" Type="http://schemas.openxmlformats.org/officeDocument/2006/relationships/themeOverride" Target="../theme/themeOverride28.xml"/></Relationships>
</file>

<file path=ppt/notesSlides/_rels/notesSlide29.xml.rels><?xml version="1.0" encoding="UTF-8" standalone="yes"?>
<Relationships xmlns="http://schemas.openxmlformats.org/package/2006/relationships"><Relationship Id="rId3" Type="http://schemas.openxmlformats.org/officeDocument/2006/relationships/slide" Target="../slides/slide53.xml"/><Relationship Id="rId2" Type="http://schemas.openxmlformats.org/officeDocument/2006/relationships/notesMaster" Target="../notesMasters/notesMaster1.xml"/><Relationship Id="rId1" Type="http://schemas.openxmlformats.org/officeDocument/2006/relationships/themeOverride" Target="../theme/themeOverride29.xml"/></Relationships>
</file>

<file path=ppt/notesSlides/_rels/notesSlide30.xml.rels><?xml version="1.0" encoding="UTF-8" standalone="yes"?>
<Relationships xmlns="http://schemas.openxmlformats.org/package/2006/relationships"><Relationship Id="rId3" Type="http://schemas.openxmlformats.org/officeDocument/2006/relationships/slide" Target="../slides/slide54.xml"/><Relationship Id="rId2" Type="http://schemas.openxmlformats.org/officeDocument/2006/relationships/notesMaster" Target="../notesMasters/notesMaster1.xml"/><Relationship Id="rId1" Type="http://schemas.openxmlformats.org/officeDocument/2006/relationships/themeOverride" Target="../theme/themeOverride30.xml"/></Relationships>
</file>

<file path=ppt/notesSlides/_rels/notesSlide31.xml.rels><?xml version="1.0" encoding="UTF-8" standalone="yes"?>
<Relationships xmlns="http://schemas.openxmlformats.org/package/2006/relationships"><Relationship Id="rId3" Type="http://schemas.openxmlformats.org/officeDocument/2006/relationships/slide" Target="../slides/slide56.xml"/><Relationship Id="rId2" Type="http://schemas.openxmlformats.org/officeDocument/2006/relationships/notesMaster" Target="../notesMasters/notesMaster1.xml"/><Relationship Id="rId1" Type="http://schemas.openxmlformats.org/officeDocument/2006/relationships/themeOverride" Target="../theme/themeOverride31.xml"/></Relationships>
</file>

<file path=ppt/notesSlides/_rels/notesSlide32.xml.rels><?xml version="1.0" encoding="UTF-8" standalone="yes"?>
<Relationships xmlns="http://schemas.openxmlformats.org/package/2006/relationships"><Relationship Id="rId3" Type="http://schemas.openxmlformats.org/officeDocument/2006/relationships/slide" Target="../slides/slide61.xml"/><Relationship Id="rId2" Type="http://schemas.openxmlformats.org/officeDocument/2006/relationships/notesMaster" Target="../notesMasters/notesMaster1.xml"/><Relationship Id="rId1" Type="http://schemas.openxmlformats.org/officeDocument/2006/relationships/themeOverride" Target="../theme/themeOverride32.xml"/></Relationships>
</file>

<file path=ppt/notesSlides/_rels/notesSlide33.xml.rels><?xml version="1.0" encoding="UTF-8" standalone="yes"?>
<Relationships xmlns="http://schemas.openxmlformats.org/package/2006/relationships"><Relationship Id="rId3" Type="http://schemas.openxmlformats.org/officeDocument/2006/relationships/slide" Target="../slides/slide62.xml"/><Relationship Id="rId2" Type="http://schemas.openxmlformats.org/officeDocument/2006/relationships/notesMaster" Target="../notesMasters/notesMaster1.xml"/><Relationship Id="rId1" Type="http://schemas.openxmlformats.org/officeDocument/2006/relationships/themeOverride" Target="../theme/themeOverride33.xml"/></Relationships>
</file>

<file path=ppt/notesSlides/_rels/notesSlide34.xml.rels><?xml version="1.0" encoding="UTF-8" standalone="yes"?>
<Relationships xmlns="http://schemas.openxmlformats.org/package/2006/relationships"><Relationship Id="rId3" Type="http://schemas.openxmlformats.org/officeDocument/2006/relationships/slide" Target="../slides/slide63.xml"/><Relationship Id="rId2" Type="http://schemas.openxmlformats.org/officeDocument/2006/relationships/notesMaster" Target="../notesMasters/notesMaster1.xml"/><Relationship Id="rId1" Type="http://schemas.openxmlformats.org/officeDocument/2006/relationships/themeOverride" Target="../theme/themeOverride34.xml"/></Relationships>
</file>

<file path=ppt/notesSlides/_rels/notesSlide35.xml.rels><?xml version="1.0" encoding="UTF-8" standalone="yes"?>
<Relationships xmlns="http://schemas.openxmlformats.org/package/2006/relationships"><Relationship Id="rId3" Type="http://schemas.openxmlformats.org/officeDocument/2006/relationships/slide" Target="../slides/slide64.xml"/><Relationship Id="rId2" Type="http://schemas.openxmlformats.org/officeDocument/2006/relationships/notesMaster" Target="../notesMasters/notesMaster1.xml"/><Relationship Id="rId1" Type="http://schemas.openxmlformats.org/officeDocument/2006/relationships/themeOverride" Target="../theme/themeOverride35.xml"/></Relationships>
</file>

<file path=ppt/notesSlides/_rels/notesSlide36.xml.rels><?xml version="1.0" encoding="UTF-8" standalone="yes"?>
<Relationships xmlns="http://schemas.openxmlformats.org/package/2006/relationships"><Relationship Id="rId3" Type="http://schemas.openxmlformats.org/officeDocument/2006/relationships/slide" Target="../slides/slide65.xml"/><Relationship Id="rId2" Type="http://schemas.openxmlformats.org/officeDocument/2006/relationships/notesMaster" Target="../notesMasters/notesMaster1.xml"/><Relationship Id="rId1" Type="http://schemas.openxmlformats.org/officeDocument/2006/relationships/themeOverride" Target="../theme/themeOverride36.xml"/></Relationships>
</file>

<file path=ppt/notesSlides/_rels/notesSlide37.xml.rels><?xml version="1.0" encoding="UTF-8" standalone="yes"?>
<Relationships xmlns="http://schemas.openxmlformats.org/package/2006/relationships"><Relationship Id="rId3" Type="http://schemas.openxmlformats.org/officeDocument/2006/relationships/slide" Target="../slides/slide66.xml"/><Relationship Id="rId2" Type="http://schemas.openxmlformats.org/officeDocument/2006/relationships/notesMaster" Target="../notesMasters/notesMaster1.xml"/><Relationship Id="rId1" Type="http://schemas.openxmlformats.org/officeDocument/2006/relationships/themeOverride" Target="../theme/themeOverride37.xml"/></Relationships>
</file>

<file path=ppt/notesSlides/_rels/notesSlide38.xml.rels><?xml version="1.0" encoding="UTF-8" standalone="yes"?>
<Relationships xmlns="http://schemas.openxmlformats.org/package/2006/relationships"><Relationship Id="rId3" Type="http://schemas.openxmlformats.org/officeDocument/2006/relationships/slide" Target="../slides/slide67.xml"/><Relationship Id="rId2" Type="http://schemas.openxmlformats.org/officeDocument/2006/relationships/notesMaster" Target="../notesMasters/notesMaster1.xml"/><Relationship Id="rId1" Type="http://schemas.openxmlformats.org/officeDocument/2006/relationships/themeOverride" Target="../theme/themeOverride3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4567BBDD-C429-4D0A-B3A3-EB80447F3949}"/>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C6E6A26D-E477-4AA4-9C01-110ECDCB2DAD}" type="slidenum">
              <a:rPr lang="zh-CN" altLang="en-US" sz="1200">
                <a:ea typeface="宋体" panose="02010600030101010101" pitchFamily="2" charset="-122"/>
                <a:cs typeface="Arial" panose="020B0604020202020204" pitchFamily="34" charset="0"/>
              </a:rPr>
              <a:pPr algn="r"/>
              <a:t>9</a:t>
            </a:fld>
            <a:endParaRPr lang="en-US" altLang="zh-CN" sz="1200">
              <a:ea typeface="宋体" panose="02010600030101010101" pitchFamily="2" charset="-122"/>
              <a:cs typeface="Arial" panose="020B0604020202020204" pitchFamily="34" charset="0"/>
            </a:endParaRPr>
          </a:p>
        </p:txBody>
      </p:sp>
      <p:sp>
        <p:nvSpPr>
          <p:cNvPr id="11267" name="Rectangle 2">
            <a:extLst>
              <a:ext uri="{FF2B5EF4-FFF2-40B4-BE49-F238E27FC236}">
                <a16:creationId xmlns:a16="http://schemas.microsoft.com/office/drawing/2014/main" id="{3A292B45-45DF-46D6-9326-E05815C6D61C}"/>
              </a:ext>
            </a:extLst>
          </p:cNvPr>
          <p:cNvSpPr>
            <a:spLocks noGrp="1" noRot="1" noChangeAspect="1" noChangeArrowheads="1" noTextEdit="1"/>
          </p:cNvSpPr>
          <p:nvPr>
            <p:ph type="sldImg"/>
          </p:nvPr>
        </p:nvSpPr>
        <p:spPr>
          <a:xfrm>
            <a:off x="1144588" y="534988"/>
            <a:ext cx="4568825" cy="3429000"/>
          </a:xfrm>
        </p:spPr>
      </p:sp>
      <p:sp>
        <p:nvSpPr>
          <p:cNvPr id="11268" name="Rectangle 3">
            <a:extLst>
              <a:ext uri="{FF2B5EF4-FFF2-40B4-BE49-F238E27FC236}">
                <a16:creationId xmlns:a16="http://schemas.microsoft.com/office/drawing/2014/main" id="{F3750E6B-9125-48F3-9520-161137A8AD73}"/>
              </a:ext>
            </a:extLst>
          </p:cNvPr>
          <p:cNvSpPr>
            <a:spLocks noGrp="1" noChangeArrowheads="1"/>
          </p:cNvSpPr>
          <p:nvPr>
            <p:ph type="body" idx="1"/>
          </p:nvPr>
        </p:nvSpPr>
        <p:spPr>
          <a:xfrm>
            <a:off x="685800" y="4225925"/>
            <a:ext cx="5486400" cy="4484688"/>
          </a:xfrm>
        </p:spPr>
        <p:txBody>
          <a:bodyPr anchor="t"/>
          <a:lstStyle/>
          <a:p>
            <a:r>
              <a:rPr lang="en-US" altLang="zh-CN" dirty="0">
                <a:ea typeface="宋体" panose="02010600030101010101" pitchFamily="2" charset="-122"/>
              </a:rPr>
              <a:t>This and the next two slides are from the FYI box entitled “A Picture is Worth A Thousand Statistics.”  These photos put a human face on the statistics and theories.  Many students connect to these pictures more than to the data in Table 1.   </a:t>
            </a:r>
          </a:p>
          <a:p>
            <a:endParaRPr lang="en-US" altLang="zh-CN" dirty="0">
              <a:ea typeface="宋体" panose="02010600030101010101" pitchFamily="2" charset="-122"/>
            </a:endParaRPr>
          </a:p>
          <a:p>
            <a:r>
              <a:rPr lang="en-US" altLang="zh-CN" dirty="0">
                <a:ea typeface="宋体" panose="02010600030101010101" pitchFamily="2" charset="-122"/>
              </a:rPr>
              <a:t>For each picture, the family was paid to drag all of its stuff outside for the photo. </a:t>
            </a:r>
          </a:p>
          <a:p>
            <a:endParaRPr lang="en-US" altLang="zh-CN" dirty="0">
              <a:ea typeface="宋体" panose="02010600030101010101" pitchFamily="2" charset="-122"/>
            </a:endParaRPr>
          </a:p>
          <a:p>
            <a:r>
              <a:rPr lang="en-US" altLang="zh-CN" dirty="0">
                <a:ea typeface="宋体" panose="02010600030101010101" pitchFamily="2" charset="-122"/>
              </a:rPr>
              <a:t>Before revealing the statistics in the lower left-hand corner, let your students soak in the picture for a moment.  Point out some of the lovely things the family owns – the sailboat, the house with two chimneys and two bay windows in front, the state-of-the-art washer/dryer, and so forth.  </a:t>
            </a:r>
          </a:p>
          <a:p>
            <a:endParaRPr lang="en-US" altLang="zh-CN" dirty="0">
              <a:ea typeface="宋体" panose="02010600030101010101" pitchFamily="2" charset="-122"/>
            </a:endParaRPr>
          </a:p>
          <a:p>
            <a:r>
              <a:rPr lang="en-US" altLang="zh-CN" dirty="0">
                <a:ea typeface="宋体" panose="02010600030101010101" pitchFamily="2" charset="-122"/>
              </a:rPr>
              <a:t>Data sources:</a:t>
            </a:r>
          </a:p>
          <a:p>
            <a:endParaRPr lang="en-US" altLang="zh-CN" dirty="0">
              <a:ea typeface="宋体" panose="02010600030101010101" pitchFamily="2" charset="-122"/>
            </a:endParaRPr>
          </a:p>
          <a:p>
            <a:r>
              <a:rPr lang="en-US" altLang="zh-CN" dirty="0">
                <a:ea typeface="宋体" panose="02010600030101010101" pitchFamily="2" charset="-122"/>
              </a:rPr>
              <a:t>GDP per capita, 2006:  Same as textbook. </a:t>
            </a:r>
          </a:p>
          <a:p>
            <a:endParaRPr lang="en-US" altLang="zh-CN" dirty="0">
              <a:ea typeface="宋体" panose="02010600030101010101" pitchFamily="2" charset="-122"/>
            </a:endParaRPr>
          </a:p>
          <a:p>
            <a:r>
              <a:rPr lang="en-US" altLang="zh-CN" dirty="0">
                <a:ea typeface="宋体" panose="02010600030101010101" pitchFamily="2" charset="-122"/>
              </a:rPr>
              <a:t>Life expectancy at birth, 2008 estimate.  Source:  U.S. Census Bureau, International Database.  </a:t>
            </a:r>
          </a:p>
          <a:p>
            <a:r>
              <a:rPr lang="en-US" altLang="zh-CN" dirty="0">
                <a:ea typeface="宋体" panose="02010600030101010101" pitchFamily="2" charset="-122"/>
              </a:rPr>
              <a:t>http://www.census.gov/ipc/www/idb/idbprint.html</a:t>
            </a:r>
          </a:p>
          <a:p>
            <a:endParaRPr lang="en-US" altLang="zh-CN" dirty="0">
              <a:ea typeface="宋体" panose="02010600030101010101" pitchFamily="2" charset="-122"/>
            </a:endParaRPr>
          </a:p>
          <a:p>
            <a:r>
              <a:rPr lang="en-US" altLang="zh-CN" dirty="0">
                <a:ea typeface="宋体" panose="02010600030101010101" pitchFamily="2" charset="-122"/>
              </a:rPr>
              <a:t>Adult literacy, 2003 estimate.  Source:  CIA World Factbook.</a:t>
            </a:r>
          </a:p>
          <a:p>
            <a:r>
              <a:rPr lang="en-US" altLang="zh-CN" dirty="0">
                <a:ea typeface="宋体" panose="02010600030101010101" pitchFamily="2" charset="-122"/>
              </a:rPr>
              <a:t>https://www.cia.gov/library/publications/the-world-factbook/</a:t>
            </a:r>
          </a:p>
        </p:txBody>
      </p:sp>
    </p:spTree>
    <p:extLst>
      <p:ext uri="{BB962C8B-B14F-4D97-AF65-F5344CB8AC3E}">
        <p14:creationId xmlns:p14="http://schemas.microsoft.com/office/powerpoint/2010/main" val="3996073070"/>
      </p:ext>
    </p:extLst>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7C3BBF72-BC92-46E9-A33A-2482CB75D96F}"/>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64CE1B9F-D616-474C-91C8-0058B67C12AB}" type="slidenum">
              <a:rPr lang="zh-CN" altLang="en-US" sz="1200">
                <a:ea typeface="宋体" panose="02010600030101010101" pitchFamily="2" charset="-122"/>
                <a:cs typeface="Arial" panose="020B0604020202020204" pitchFamily="34" charset="0"/>
              </a:rPr>
              <a:pPr algn="r"/>
              <a:t>10</a:t>
            </a:fld>
            <a:endParaRPr lang="en-US" altLang="zh-CN" sz="1200">
              <a:ea typeface="宋体" panose="02010600030101010101" pitchFamily="2" charset="-122"/>
              <a:cs typeface="Arial" panose="020B0604020202020204" pitchFamily="34" charset="0"/>
            </a:endParaRPr>
          </a:p>
        </p:txBody>
      </p:sp>
      <p:sp>
        <p:nvSpPr>
          <p:cNvPr id="13315" name="Rectangle 2">
            <a:extLst>
              <a:ext uri="{FF2B5EF4-FFF2-40B4-BE49-F238E27FC236}">
                <a16:creationId xmlns:a16="http://schemas.microsoft.com/office/drawing/2014/main" id="{462C6830-CAAE-4390-B26D-A44AB146CD03}"/>
              </a:ext>
            </a:extLst>
          </p:cNvPr>
          <p:cNvSpPr>
            <a:spLocks noGrp="1" noRot="1" noChangeAspect="1" noChangeArrowheads="1" noTextEdit="1"/>
          </p:cNvSpPr>
          <p:nvPr>
            <p:ph type="sldImg"/>
          </p:nvPr>
        </p:nvSpPr>
        <p:spPr>
          <a:xfrm>
            <a:off x="1144588" y="534988"/>
            <a:ext cx="4568825" cy="3429000"/>
          </a:xfrm>
        </p:spPr>
      </p:sp>
      <p:sp>
        <p:nvSpPr>
          <p:cNvPr id="13316" name="Rectangle 3">
            <a:extLst>
              <a:ext uri="{FF2B5EF4-FFF2-40B4-BE49-F238E27FC236}">
                <a16:creationId xmlns:a16="http://schemas.microsoft.com/office/drawing/2014/main" id="{1A904959-F6A2-463B-8943-0B62A3746F36}"/>
              </a:ext>
            </a:extLst>
          </p:cNvPr>
          <p:cNvSpPr>
            <a:spLocks noGrp="1" noChangeArrowheads="1"/>
          </p:cNvSpPr>
          <p:nvPr>
            <p:ph type="body" idx="1"/>
          </p:nvPr>
        </p:nvSpPr>
        <p:spPr>
          <a:xfrm>
            <a:off x="685800" y="4248150"/>
            <a:ext cx="5486400" cy="4210050"/>
          </a:xfrm>
        </p:spPr>
        <p:txBody>
          <a:bodyPr anchor="t"/>
          <a:lstStyle/>
          <a:p>
            <a:r>
              <a:rPr lang="en-US" altLang="zh-CN" dirty="0">
                <a:ea typeface="宋体" panose="02010600030101010101" pitchFamily="2" charset="-122"/>
              </a:rPr>
              <a:t>Again, let your students have a good look at the photo before revealing the statistics in the lower left corner.  </a:t>
            </a:r>
          </a:p>
          <a:p>
            <a:endParaRPr lang="en-US" altLang="zh-CN" dirty="0">
              <a:ea typeface="宋体" panose="02010600030101010101" pitchFamily="2" charset="-122"/>
            </a:endParaRPr>
          </a:p>
          <a:p>
            <a:r>
              <a:rPr lang="en-US" altLang="zh-CN" dirty="0">
                <a:ea typeface="宋体" panose="02010600030101010101" pitchFamily="2" charset="-122"/>
              </a:rPr>
              <a:t>This family seems comfortable, but they don’t have quite as much stuff as the British family.  No sailboat.  No house with bay windows.  </a:t>
            </a:r>
          </a:p>
          <a:p>
            <a:endParaRPr lang="en-US" altLang="zh-CN" dirty="0">
              <a:ea typeface="宋体" panose="02010600030101010101" pitchFamily="2" charset="-122"/>
            </a:endParaRPr>
          </a:p>
          <a:p>
            <a:r>
              <a:rPr lang="en-US" altLang="zh-CN" dirty="0">
                <a:ea typeface="宋体" panose="02010600030101010101" pitchFamily="2" charset="-122"/>
              </a:rPr>
              <a:t>But they’re not doing so bad.  To many students (especially in America), an income of $11,000 seems incredibly poor.  But relative to the rest of the world, it’s not so bad.  </a:t>
            </a:r>
          </a:p>
          <a:p>
            <a:endParaRPr lang="en-US" altLang="zh-CN" dirty="0">
              <a:ea typeface="宋体" panose="02010600030101010101" pitchFamily="2" charset="-122"/>
            </a:endParaRPr>
          </a:p>
          <a:p>
            <a:r>
              <a:rPr lang="en-US" altLang="zh-CN" dirty="0">
                <a:ea typeface="宋体" panose="02010600030101010101" pitchFamily="2" charset="-122"/>
              </a:rPr>
              <a:t>Data sources:</a:t>
            </a:r>
          </a:p>
          <a:p>
            <a:endParaRPr lang="en-US" altLang="zh-CN" dirty="0">
              <a:ea typeface="宋体" panose="02010600030101010101" pitchFamily="2" charset="-122"/>
            </a:endParaRPr>
          </a:p>
          <a:p>
            <a:r>
              <a:rPr lang="en-US" altLang="zh-CN" dirty="0">
                <a:ea typeface="宋体" panose="02010600030101010101" pitchFamily="2" charset="-122"/>
              </a:rPr>
              <a:t>GDP per capita, 2006: Same as textbook. </a:t>
            </a:r>
          </a:p>
          <a:p>
            <a:endParaRPr lang="en-US" altLang="zh-CN" dirty="0">
              <a:ea typeface="宋体" panose="02010600030101010101" pitchFamily="2" charset="-122"/>
            </a:endParaRPr>
          </a:p>
          <a:p>
            <a:r>
              <a:rPr lang="en-US" altLang="zh-CN" dirty="0">
                <a:ea typeface="宋体" panose="02010600030101010101" pitchFamily="2" charset="-122"/>
              </a:rPr>
              <a:t>Life expectancy at birth, 2008 estimate.  Source:  U.S. Census Bureau, International Database.  </a:t>
            </a:r>
          </a:p>
          <a:p>
            <a:r>
              <a:rPr lang="en-US" altLang="zh-CN" dirty="0">
                <a:ea typeface="宋体" panose="02010600030101010101" pitchFamily="2" charset="-122"/>
              </a:rPr>
              <a:t>http://www.census.gov/ipc/www/idb/idbprint.html</a:t>
            </a:r>
          </a:p>
          <a:p>
            <a:endParaRPr lang="en-US" altLang="zh-CN" dirty="0">
              <a:ea typeface="宋体" panose="02010600030101010101" pitchFamily="2" charset="-122"/>
            </a:endParaRPr>
          </a:p>
          <a:p>
            <a:r>
              <a:rPr lang="en-US" altLang="zh-CN" dirty="0">
                <a:ea typeface="宋体" panose="02010600030101010101" pitchFamily="2" charset="-122"/>
              </a:rPr>
              <a:t>Adult literacy, 2004 estimate.  Source:  CIA World Factbook.</a:t>
            </a:r>
          </a:p>
          <a:p>
            <a:r>
              <a:rPr lang="en-US" altLang="zh-CN" dirty="0">
                <a:ea typeface="宋体" panose="02010600030101010101" pitchFamily="2" charset="-122"/>
              </a:rPr>
              <a:t>https://www.cia.gov/library/publications/the-world-factbook/</a:t>
            </a:r>
          </a:p>
        </p:txBody>
      </p:sp>
    </p:spTree>
    <p:extLst>
      <p:ext uri="{BB962C8B-B14F-4D97-AF65-F5344CB8AC3E}">
        <p14:creationId xmlns:p14="http://schemas.microsoft.com/office/powerpoint/2010/main" val="3253099401"/>
      </p:ext>
    </p:extLst>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93DA25A3-D1F2-442A-B38D-86129F65939F}"/>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22EDCA64-1CC4-4428-AB0D-B264339F65AD}" type="slidenum">
              <a:rPr lang="zh-CN" altLang="en-US" sz="1200">
                <a:ea typeface="宋体" panose="02010600030101010101" pitchFamily="2" charset="-122"/>
                <a:cs typeface="Arial" panose="020B0604020202020204" pitchFamily="34" charset="0"/>
              </a:rPr>
              <a:pPr algn="r"/>
              <a:t>11</a:t>
            </a:fld>
            <a:endParaRPr lang="en-US" altLang="zh-CN" sz="1200">
              <a:ea typeface="宋体" panose="02010600030101010101" pitchFamily="2" charset="-122"/>
              <a:cs typeface="Arial" panose="020B0604020202020204" pitchFamily="34" charset="0"/>
            </a:endParaRPr>
          </a:p>
        </p:txBody>
      </p:sp>
      <p:sp>
        <p:nvSpPr>
          <p:cNvPr id="15363" name="Rectangle 2">
            <a:extLst>
              <a:ext uri="{FF2B5EF4-FFF2-40B4-BE49-F238E27FC236}">
                <a16:creationId xmlns:a16="http://schemas.microsoft.com/office/drawing/2014/main" id="{E7AACFF3-671B-4964-8A70-995A3B10A9BB}"/>
              </a:ext>
            </a:extLst>
          </p:cNvPr>
          <p:cNvSpPr>
            <a:spLocks noGrp="1" noRot="1" noChangeAspect="1" noChangeArrowheads="1" noTextEdit="1"/>
          </p:cNvSpPr>
          <p:nvPr>
            <p:ph type="sldImg"/>
          </p:nvPr>
        </p:nvSpPr>
        <p:spPr>
          <a:xfrm>
            <a:off x="1144588" y="534988"/>
            <a:ext cx="4568825" cy="3429000"/>
          </a:xfrm>
        </p:spPr>
      </p:sp>
      <p:sp>
        <p:nvSpPr>
          <p:cNvPr id="15364" name="Rectangle 3">
            <a:extLst>
              <a:ext uri="{FF2B5EF4-FFF2-40B4-BE49-F238E27FC236}">
                <a16:creationId xmlns:a16="http://schemas.microsoft.com/office/drawing/2014/main" id="{87C13F0A-3A58-4361-BD70-B86FA8A861ED}"/>
              </a:ext>
            </a:extLst>
          </p:cNvPr>
          <p:cNvSpPr>
            <a:spLocks noGrp="1" noChangeArrowheads="1"/>
          </p:cNvSpPr>
          <p:nvPr>
            <p:ph type="body" idx="1"/>
          </p:nvPr>
        </p:nvSpPr>
        <p:spPr>
          <a:xfrm>
            <a:off x="685800" y="4248150"/>
            <a:ext cx="5486400" cy="4210050"/>
          </a:xfrm>
        </p:spPr>
        <p:txBody>
          <a:bodyPr anchor="t"/>
          <a:lstStyle/>
          <a:p>
            <a:r>
              <a:rPr lang="en-US" altLang="zh-CN" dirty="0">
                <a:ea typeface="宋体" panose="02010600030101010101" pitchFamily="2" charset="-122"/>
              </a:rPr>
              <a:t>Here, the photo really is worth a thousand words.  Look at the family’s possessions.  Pottery, a few sticks, some clothing, and a dwelling that does not appear to have running water or climate control.  That’s it.  No sailboat, no upholstered furniture, no bicycles.  This family is very poor.  </a:t>
            </a:r>
          </a:p>
          <a:p>
            <a:endParaRPr lang="en-US" altLang="zh-CN" dirty="0">
              <a:ea typeface="宋体" panose="02010600030101010101" pitchFamily="2" charset="-122"/>
            </a:endParaRPr>
          </a:p>
          <a:p>
            <a:r>
              <a:rPr lang="en-US" altLang="zh-CN" dirty="0">
                <a:ea typeface="宋体" panose="02010600030101010101" pitchFamily="2" charset="-122"/>
              </a:rPr>
              <a:t>Now look at the statistics - $1130 income per capita?  Heck, I spend that much on Starbucks drinks each year.  Life expectancy is frighteningly low.  And less than half the population can read or write their own language – most students can readily grasp that it’s hard to grow out of poverty if over half of the population is illiterate.  </a:t>
            </a:r>
          </a:p>
          <a:p>
            <a:endParaRPr lang="en-US" altLang="zh-CN" dirty="0">
              <a:ea typeface="宋体" panose="02010600030101010101" pitchFamily="2" charset="-122"/>
            </a:endParaRPr>
          </a:p>
          <a:p>
            <a:r>
              <a:rPr lang="en-US" altLang="zh-CN" dirty="0">
                <a:ea typeface="宋体" panose="02010600030101010101" pitchFamily="2" charset="-122"/>
              </a:rPr>
              <a:t>Data sources:</a:t>
            </a:r>
          </a:p>
          <a:p>
            <a:endParaRPr lang="en-US" altLang="zh-CN" dirty="0">
              <a:ea typeface="宋体" panose="02010600030101010101" pitchFamily="2" charset="-122"/>
            </a:endParaRPr>
          </a:p>
          <a:p>
            <a:r>
              <a:rPr lang="en-US" altLang="zh-CN" dirty="0">
                <a:ea typeface="宋体" panose="02010600030101010101" pitchFamily="2" charset="-122"/>
              </a:rPr>
              <a:t>GDP per capita, 2006:  Same as textbook. </a:t>
            </a:r>
          </a:p>
          <a:p>
            <a:endParaRPr lang="en-US" altLang="zh-CN" dirty="0">
              <a:ea typeface="宋体" panose="02010600030101010101" pitchFamily="2" charset="-122"/>
            </a:endParaRPr>
          </a:p>
          <a:p>
            <a:r>
              <a:rPr lang="en-US" altLang="zh-CN" dirty="0">
                <a:ea typeface="宋体" panose="02010600030101010101" pitchFamily="2" charset="-122"/>
              </a:rPr>
              <a:t>Life expectancy at birth, 2008 estimate.  Source:  U.S. Census Bureau, International Database.  </a:t>
            </a:r>
          </a:p>
          <a:p>
            <a:r>
              <a:rPr lang="en-US" altLang="zh-CN" dirty="0">
                <a:ea typeface="宋体" panose="02010600030101010101" pitchFamily="2" charset="-122"/>
              </a:rPr>
              <a:t>http://www.census.gov/ipc/www/idb/idbprint.html</a:t>
            </a:r>
          </a:p>
          <a:p>
            <a:endParaRPr lang="en-US" altLang="zh-CN" dirty="0">
              <a:ea typeface="宋体" panose="02010600030101010101" pitchFamily="2" charset="-122"/>
            </a:endParaRPr>
          </a:p>
          <a:p>
            <a:r>
              <a:rPr lang="en-US" altLang="zh-CN" dirty="0">
                <a:ea typeface="宋体" panose="02010600030101010101" pitchFamily="2" charset="-122"/>
              </a:rPr>
              <a:t>Adult literacy, 2003 estimate.  Source:  CIA World Factbook.</a:t>
            </a:r>
          </a:p>
          <a:p>
            <a:r>
              <a:rPr lang="en-US" altLang="zh-CN" dirty="0">
                <a:ea typeface="宋体" panose="02010600030101010101" pitchFamily="2" charset="-122"/>
              </a:rPr>
              <a:t>https://www.cia.gov/library/publications/the-world-factbook/</a:t>
            </a:r>
          </a:p>
        </p:txBody>
      </p:sp>
    </p:spTree>
    <p:extLst>
      <p:ext uri="{BB962C8B-B14F-4D97-AF65-F5344CB8AC3E}">
        <p14:creationId xmlns:p14="http://schemas.microsoft.com/office/powerpoint/2010/main" val="3281940263"/>
      </p:ext>
    </p:extLst>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4567BBDD-C429-4D0A-B3A3-EB80447F3949}"/>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C6E6A26D-E477-4AA4-9C01-110ECDCB2DAD}" type="slidenum">
              <a:rPr lang="zh-CN" altLang="en-US" sz="1200">
                <a:ea typeface="宋体" panose="02010600030101010101" pitchFamily="2" charset="-122"/>
                <a:cs typeface="Arial" panose="020B0604020202020204" pitchFamily="34" charset="0"/>
              </a:rPr>
              <a:pPr algn="r"/>
              <a:t>16</a:t>
            </a:fld>
            <a:endParaRPr lang="en-US" altLang="zh-CN" sz="1200">
              <a:ea typeface="宋体" panose="02010600030101010101" pitchFamily="2" charset="-122"/>
              <a:cs typeface="Arial" panose="020B0604020202020204" pitchFamily="34" charset="0"/>
            </a:endParaRPr>
          </a:p>
        </p:txBody>
      </p:sp>
      <p:sp>
        <p:nvSpPr>
          <p:cNvPr id="11267" name="Rectangle 2">
            <a:extLst>
              <a:ext uri="{FF2B5EF4-FFF2-40B4-BE49-F238E27FC236}">
                <a16:creationId xmlns:a16="http://schemas.microsoft.com/office/drawing/2014/main" id="{3A292B45-45DF-46D6-9326-E05815C6D61C}"/>
              </a:ext>
            </a:extLst>
          </p:cNvPr>
          <p:cNvSpPr>
            <a:spLocks noGrp="1" noRot="1" noChangeAspect="1" noChangeArrowheads="1" noTextEdit="1"/>
          </p:cNvSpPr>
          <p:nvPr>
            <p:ph type="sldImg"/>
          </p:nvPr>
        </p:nvSpPr>
        <p:spPr>
          <a:xfrm>
            <a:off x="1144588" y="534988"/>
            <a:ext cx="4568825" cy="3429000"/>
          </a:xfrm>
        </p:spPr>
      </p:sp>
      <p:sp>
        <p:nvSpPr>
          <p:cNvPr id="11268" name="Rectangle 3">
            <a:extLst>
              <a:ext uri="{FF2B5EF4-FFF2-40B4-BE49-F238E27FC236}">
                <a16:creationId xmlns:a16="http://schemas.microsoft.com/office/drawing/2014/main" id="{F3750E6B-9125-48F3-9520-161137A8AD73}"/>
              </a:ext>
            </a:extLst>
          </p:cNvPr>
          <p:cNvSpPr>
            <a:spLocks noGrp="1" noChangeArrowheads="1"/>
          </p:cNvSpPr>
          <p:nvPr>
            <p:ph type="body" idx="1"/>
          </p:nvPr>
        </p:nvSpPr>
        <p:spPr>
          <a:xfrm>
            <a:off x="685800" y="4225925"/>
            <a:ext cx="5486400" cy="4484688"/>
          </a:xfrm>
        </p:spPr>
        <p:txBody>
          <a:bodyPr anchor="t"/>
          <a:lstStyle/>
          <a:p>
            <a:r>
              <a:rPr lang="en-US" altLang="zh-CN" dirty="0">
                <a:ea typeface="宋体" panose="02010600030101010101" pitchFamily="2" charset="-122"/>
              </a:rPr>
              <a:t>This and the next two slides are from the FYI box entitled “A Picture is Worth A Thousand Statistics.”  These photos put a human face on the statistics and theories.  Many students connect to these pictures more than to the data in Table 1.   </a:t>
            </a:r>
          </a:p>
          <a:p>
            <a:endParaRPr lang="en-US" altLang="zh-CN" dirty="0">
              <a:ea typeface="宋体" panose="02010600030101010101" pitchFamily="2" charset="-122"/>
            </a:endParaRPr>
          </a:p>
          <a:p>
            <a:r>
              <a:rPr lang="en-US" altLang="zh-CN" dirty="0">
                <a:ea typeface="宋体" panose="02010600030101010101" pitchFamily="2" charset="-122"/>
              </a:rPr>
              <a:t>For each picture, the family was paid to drag all of its stuff outside for the photo. </a:t>
            </a:r>
          </a:p>
          <a:p>
            <a:endParaRPr lang="en-US" altLang="zh-CN" dirty="0">
              <a:ea typeface="宋体" panose="02010600030101010101" pitchFamily="2" charset="-122"/>
            </a:endParaRPr>
          </a:p>
          <a:p>
            <a:r>
              <a:rPr lang="en-US" altLang="zh-CN" dirty="0">
                <a:ea typeface="宋体" panose="02010600030101010101" pitchFamily="2" charset="-122"/>
              </a:rPr>
              <a:t>Before revealing the statistics in the lower left-hand corner, let your students soak in the picture for a moment.  Point out some of the lovely things the family owns – the sailboat, the house with two chimneys and two bay windows in front, the state-of-the-art washer/dryer, and so forth.  </a:t>
            </a:r>
          </a:p>
          <a:p>
            <a:endParaRPr lang="en-US" altLang="zh-CN" dirty="0">
              <a:ea typeface="宋体" panose="02010600030101010101" pitchFamily="2" charset="-122"/>
            </a:endParaRPr>
          </a:p>
          <a:p>
            <a:r>
              <a:rPr lang="en-US" altLang="zh-CN" dirty="0">
                <a:ea typeface="宋体" panose="02010600030101010101" pitchFamily="2" charset="-122"/>
              </a:rPr>
              <a:t>Data sources:</a:t>
            </a:r>
          </a:p>
          <a:p>
            <a:endParaRPr lang="en-US" altLang="zh-CN" dirty="0">
              <a:ea typeface="宋体" panose="02010600030101010101" pitchFamily="2" charset="-122"/>
            </a:endParaRPr>
          </a:p>
          <a:p>
            <a:r>
              <a:rPr lang="en-US" altLang="zh-CN" dirty="0">
                <a:ea typeface="宋体" panose="02010600030101010101" pitchFamily="2" charset="-122"/>
              </a:rPr>
              <a:t>GDP per capita, 2006:  Same as textbook. </a:t>
            </a:r>
          </a:p>
          <a:p>
            <a:endParaRPr lang="en-US" altLang="zh-CN" dirty="0">
              <a:ea typeface="宋体" panose="02010600030101010101" pitchFamily="2" charset="-122"/>
            </a:endParaRPr>
          </a:p>
          <a:p>
            <a:r>
              <a:rPr lang="en-US" altLang="zh-CN" dirty="0">
                <a:ea typeface="宋体" panose="02010600030101010101" pitchFamily="2" charset="-122"/>
              </a:rPr>
              <a:t>Life expectancy at birth, 2008 estimate.  Source:  U.S. Census Bureau, International Database.  </a:t>
            </a:r>
          </a:p>
          <a:p>
            <a:r>
              <a:rPr lang="en-US" altLang="zh-CN" dirty="0">
                <a:ea typeface="宋体" panose="02010600030101010101" pitchFamily="2" charset="-122"/>
              </a:rPr>
              <a:t>http://www.census.gov/ipc/www/idb/idbprint.html</a:t>
            </a:r>
          </a:p>
          <a:p>
            <a:endParaRPr lang="en-US" altLang="zh-CN" dirty="0">
              <a:ea typeface="宋体" panose="02010600030101010101" pitchFamily="2" charset="-122"/>
            </a:endParaRPr>
          </a:p>
          <a:p>
            <a:r>
              <a:rPr lang="en-US" altLang="zh-CN" dirty="0">
                <a:ea typeface="宋体" panose="02010600030101010101" pitchFamily="2" charset="-122"/>
              </a:rPr>
              <a:t>Adult literacy, 2003 estimate.  Source:  CIA World Factbook.</a:t>
            </a:r>
          </a:p>
          <a:p>
            <a:r>
              <a:rPr lang="en-US" altLang="zh-CN" dirty="0">
                <a:ea typeface="宋体" panose="02010600030101010101" pitchFamily="2" charset="-122"/>
              </a:rPr>
              <a:t>https://www.cia.gov/library/publications/the-world-factbook/</a:t>
            </a:r>
          </a:p>
        </p:txBody>
      </p:sp>
    </p:spTree>
    <p:extLst>
      <p:ext uri="{BB962C8B-B14F-4D97-AF65-F5344CB8AC3E}">
        <p14:creationId xmlns:p14="http://schemas.microsoft.com/office/powerpoint/2010/main" val="281102429"/>
      </p:ext>
    </p:extLst>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7C3BBF72-BC92-46E9-A33A-2482CB75D96F}"/>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64CE1B9F-D616-474C-91C8-0058B67C12AB}" type="slidenum">
              <a:rPr lang="zh-CN" altLang="en-US" sz="1200">
                <a:ea typeface="宋体" panose="02010600030101010101" pitchFamily="2" charset="-122"/>
                <a:cs typeface="Arial" panose="020B0604020202020204" pitchFamily="34" charset="0"/>
              </a:rPr>
              <a:pPr algn="r"/>
              <a:t>17</a:t>
            </a:fld>
            <a:endParaRPr lang="en-US" altLang="zh-CN" sz="1200">
              <a:ea typeface="宋体" panose="02010600030101010101" pitchFamily="2" charset="-122"/>
              <a:cs typeface="Arial" panose="020B0604020202020204" pitchFamily="34" charset="0"/>
            </a:endParaRPr>
          </a:p>
        </p:txBody>
      </p:sp>
      <p:sp>
        <p:nvSpPr>
          <p:cNvPr id="13315" name="Rectangle 2">
            <a:extLst>
              <a:ext uri="{FF2B5EF4-FFF2-40B4-BE49-F238E27FC236}">
                <a16:creationId xmlns:a16="http://schemas.microsoft.com/office/drawing/2014/main" id="{462C6830-CAAE-4390-B26D-A44AB146CD03}"/>
              </a:ext>
            </a:extLst>
          </p:cNvPr>
          <p:cNvSpPr>
            <a:spLocks noGrp="1" noRot="1" noChangeAspect="1" noChangeArrowheads="1" noTextEdit="1"/>
          </p:cNvSpPr>
          <p:nvPr>
            <p:ph type="sldImg"/>
          </p:nvPr>
        </p:nvSpPr>
        <p:spPr>
          <a:xfrm>
            <a:off x="1144588" y="534988"/>
            <a:ext cx="4568825" cy="3429000"/>
          </a:xfrm>
        </p:spPr>
      </p:sp>
      <p:sp>
        <p:nvSpPr>
          <p:cNvPr id="13316" name="Rectangle 3">
            <a:extLst>
              <a:ext uri="{FF2B5EF4-FFF2-40B4-BE49-F238E27FC236}">
                <a16:creationId xmlns:a16="http://schemas.microsoft.com/office/drawing/2014/main" id="{1A904959-F6A2-463B-8943-0B62A3746F36}"/>
              </a:ext>
            </a:extLst>
          </p:cNvPr>
          <p:cNvSpPr>
            <a:spLocks noGrp="1" noChangeArrowheads="1"/>
          </p:cNvSpPr>
          <p:nvPr>
            <p:ph type="body" idx="1"/>
          </p:nvPr>
        </p:nvSpPr>
        <p:spPr>
          <a:xfrm>
            <a:off x="685800" y="4248150"/>
            <a:ext cx="5486400" cy="4210050"/>
          </a:xfrm>
        </p:spPr>
        <p:txBody>
          <a:bodyPr anchor="t"/>
          <a:lstStyle/>
          <a:p>
            <a:r>
              <a:rPr lang="en-US" altLang="zh-CN" dirty="0">
                <a:ea typeface="宋体" panose="02010600030101010101" pitchFamily="2" charset="-122"/>
              </a:rPr>
              <a:t>Again, let your students have a good look at the photo before revealing the statistics in the lower left corner.  </a:t>
            </a:r>
          </a:p>
          <a:p>
            <a:endParaRPr lang="en-US" altLang="zh-CN" dirty="0">
              <a:ea typeface="宋体" panose="02010600030101010101" pitchFamily="2" charset="-122"/>
            </a:endParaRPr>
          </a:p>
          <a:p>
            <a:r>
              <a:rPr lang="en-US" altLang="zh-CN" dirty="0">
                <a:ea typeface="宋体" panose="02010600030101010101" pitchFamily="2" charset="-122"/>
              </a:rPr>
              <a:t>This family seems comfortable, but they don’t have quite as much stuff as the British family.  No sailboat.  No house with bay windows.  </a:t>
            </a:r>
          </a:p>
          <a:p>
            <a:endParaRPr lang="en-US" altLang="zh-CN" dirty="0">
              <a:ea typeface="宋体" panose="02010600030101010101" pitchFamily="2" charset="-122"/>
            </a:endParaRPr>
          </a:p>
          <a:p>
            <a:r>
              <a:rPr lang="en-US" altLang="zh-CN" dirty="0">
                <a:ea typeface="宋体" panose="02010600030101010101" pitchFamily="2" charset="-122"/>
              </a:rPr>
              <a:t>But they’re not doing so bad.  To many students (especially in America), an income of $11,000 seems incredibly poor.  But relative to the rest of the world, it’s not so bad.  </a:t>
            </a:r>
          </a:p>
          <a:p>
            <a:endParaRPr lang="en-US" altLang="zh-CN" dirty="0">
              <a:ea typeface="宋体" panose="02010600030101010101" pitchFamily="2" charset="-122"/>
            </a:endParaRPr>
          </a:p>
          <a:p>
            <a:r>
              <a:rPr lang="en-US" altLang="zh-CN" dirty="0">
                <a:ea typeface="宋体" panose="02010600030101010101" pitchFamily="2" charset="-122"/>
              </a:rPr>
              <a:t>Data sources:</a:t>
            </a:r>
          </a:p>
          <a:p>
            <a:endParaRPr lang="en-US" altLang="zh-CN" dirty="0">
              <a:ea typeface="宋体" panose="02010600030101010101" pitchFamily="2" charset="-122"/>
            </a:endParaRPr>
          </a:p>
          <a:p>
            <a:r>
              <a:rPr lang="en-US" altLang="zh-CN" dirty="0">
                <a:ea typeface="宋体" panose="02010600030101010101" pitchFamily="2" charset="-122"/>
              </a:rPr>
              <a:t>GDP per capita, 2006: Same as textbook. </a:t>
            </a:r>
          </a:p>
          <a:p>
            <a:endParaRPr lang="en-US" altLang="zh-CN" dirty="0">
              <a:ea typeface="宋体" panose="02010600030101010101" pitchFamily="2" charset="-122"/>
            </a:endParaRPr>
          </a:p>
          <a:p>
            <a:r>
              <a:rPr lang="en-US" altLang="zh-CN" dirty="0">
                <a:ea typeface="宋体" panose="02010600030101010101" pitchFamily="2" charset="-122"/>
              </a:rPr>
              <a:t>Life expectancy at birth, 2008 estimate.  Source:  U.S. Census Bureau, International Database.  </a:t>
            </a:r>
          </a:p>
          <a:p>
            <a:r>
              <a:rPr lang="en-US" altLang="zh-CN" dirty="0">
                <a:ea typeface="宋体" panose="02010600030101010101" pitchFamily="2" charset="-122"/>
              </a:rPr>
              <a:t>http://www.census.gov/ipc/www/idb/idbprint.html</a:t>
            </a:r>
          </a:p>
          <a:p>
            <a:endParaRPr lang="en-US" altLang="zh-CN" dirty="0">
              <a:ea typeface="宋体" panose="02010600030101010101" pitchFamily="2" charset="-122"/>
            </a:endParaRPr>
          </a:p>
          <a:p>
            <a:r>
              <a:rPr lang="en-US" altLang="zh-CN" dirty="0">
                <a:ea typeface="宋体" panose="02010600030101010101" pitchFamily="2" charset="-122"/>
              </a:rPr>
              <a:t>Adult literacy, 2004 estimate.  Source:  CIA World Factbook.</a:t>
            </a:r>
          </a:p>
          <a:p>
            <a:r>
              <a:rPr lang="en-US" altLang="zh-CN" dirty="0">
                <a:ea typeface="宋体" panose="02010600030101010101" pitchFamily="2" charset="-122"/>
              </a:rPr>
              <a:t>https://www.cia.gov/library/publications/the-world-factbook/</a:t>
            </a:r>
          </a:p>
        </p:txBody>
      </p:sp>
    </p:spTree>
    <p:extLst>
      <p:ext uri="{BB962C8B-B14F-4D97-AF65-F5344CB8AC3E}">
        <p14:creationId xmlns:p14="http://schemas.microsoft.com/office/powerpoint/2010/main" val="205039032"/>
      </p:ext>
    </p:extLst>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93DA25A3-D1F2-442A-B38D-86129F65939F}"/>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22EDCA64-1CC4-4428-AB0D-B264339F65AD}" type="slidenum">
              <a:rPr lang="zh-CN" altLang="en-US" sz="1200">
                <a:ea typeface="宋体" panose="02010600030101010101" pitchFamily="2" charset="-122"/>
                <a:cs typeface="Arial" panose="020B0604020202020204" pitchFamily="34" charset="0"/>
              </a:rPr>
              <a:pPr algn="r"/>
              <a:t>18</a:t>
            </a:fld>
            <a:endParaRPr lang="en-US" altLang="zh-CN" sz="1200">
              <a:ea typeface="宋体" panose="02010600030101010101" pitchFamily="2" charset="-122"/>
              <a:cs typeface="Arial" panose="020B0604020202020204" pitchFamily="34" charset="0"/>
            </a:endParaRPr>
          </a:p>
        </p:txBody>
      </p:sp>
      <p:sp>
        <p:nvSpPr>
          <p:cNvPr id="15363" name="Rectangle 2">
            <a:extLst>
              <a:ext uri="{FF2B5EF4-FFF2-40B4-BE49-F238E27FC236}">
                <a16:creationId xmlns:a16="http://schemas.microsoft.com/office/drawing/2014/main" id="{E7AACFF3-671B-4964-8A70-995A3B10A9BB}"/>
              </a:ext>
            </a:extLst>
          </p:cNvPr>
          <p:cNvSpPr>
            <a:spLocks noGrp="1" noRot="1" noChangeAspect="1" noChangeArrowheads="1" noTextEdit="1"/>
          </p:cNvSpPr>
          <p:nvPr>
            <p:ph type="sldImg"/>
          </p:nvPr>
        </p:nvSpPr>
        <p:spPr>
          <a:xfrm>
            <a:off x="1144588" y="534988"/>
            <a:ext cx="4568825" cy="3429000"/>
          </a:xfrm>
        </p:spPr>
      </p:sp>
      <p:sp>
        <p:nvSpPr>
          <p:cNvPr id="15364" name="Rectangle 3">
            <a:extLst>
              <a:ext uri="{FF2B5EF4-FFF2-40B4-BE49-F238E27FC236}">
                <a16:creationId xmlns:a16="http://schemas.microsoft.com/office/drawing/2014/main" id="{87C13F0A-3A58-4361-BD70-B86FA8A861ED}"/>
              </a:ext>
            </a:extLst>
          </p:cNvPr>
          <p:cNvSpPr>
            <a:spLocks noGrp="1" noChangeArrowheads="1"/>
          </p:cNvSpPr>
          <p:nvPr>
            <p:ph type="body" idx="1"/>
          </p:nvPr>
        </p:nvSpPr>
        <p:spPr>
          <a:xfrm>
            <a:off x="685800" y="4248150"/>
            <a:ext cx="5486400" cy="4210050"/>
          </a:xfrm>
        </p:spPr>
        <p:txBody>
          <a:bodyPr anchor="t"/>
          <a:lstStyle/>
          <a:p>
            <a:r>
              <a:rPr lang="en-US" altLang="zh-CN" dirty="0">
                <a:ea typeface="宋体" panose="02010600030101010101" pitchFamily="2" charset="-122"/>
              </a:rPr>
              <a:t>Here, the photo really is worth a thousand words.  Look at the family’s possessions.  Pottery, a few sticks, some clothing, and a dwelling that does not appear to have running water or climate control.  That’s it.  No sailboat, no upholstered furniture, no bicycles.  This family is very poor.  </a:t>
            </a:r>
          </a:p>
          <a:p>
            <a:endParaRPr lang="en-US" altLang="zh-CN" dirty="0">
              <a:ea typeface="宋体" panose="02010600030101010101" pitchFamily="2" charset="-122"/>
            </a:endParaRPr>
          </a:p>
          <a:p>
            <a:r>
              <a:rPr lang="en-US" altLang="zh-CN" dirty="0">
                <a:ea typeface="宋体" panose="02010600030101010101" pitchFamily="2" charset="-122"/>
              </a:rPr>
              <a:t>Now look at the statistics - $1130 income per capita?  Heck, I spend that much on Starbucks drinks each year.  Life expectancy is frighteningly low.  And less than half the population can read or write their own language – most students can readily grasp that it’s hard to grow out of poverty if over half of the population is illiterate.  </a:t>
            </a:r>
          </a:p>
          <a:p>
            <a:endParaRPr lang="en-US" altLang="zh-CN" dirty="0">
              <a:ea typeface="宋体" panose="02010600030101010101" pitchFamily="2" charset="-122"/>
            </a:endParaRPr>
          </a:p>
          <a:p>
            <a:r>
              <a:rPr lang="en-US" altLang="zh-CN" dirty="0">
                <a:ea typeface="宋体" panose="02010600030101010101" pitchFamily="2" charset="-122"/>
              </a:rPr>
              <a:t>Data sources:</a:t>
            </a:r>
          </a:p>
          <a:p>
            <a:endParaRPr lang="en-US" altLang="zh-CN" dirty="0">
              <a:ea typeface="宋体" panose="02010600030101010101" pitchFamily="2" charset="-122"/>
            </a:endParaRPr>
          </a:p>
          <a:p>
            <a:r>
              <a:rPr lang="en-US" altLang="zh-CN" dirty="0">
                <a:ea typeface="宋体" panose="02010600030101010101" pitchFamily="2" charset="-122"/>
              </a:rPr>
              <a:t>GDP per capita, 2006:  Same as textbook. </a:t>
            </a:r>
          </a:p>
          <a:p>
            <a:endParaRPr lang="en-US" altLang="zh-CN" dirty="0">
              <a:ea typeface="宋体" panose="02010600030101010101" pitchFamily="2" charset="-122"/>
            </a:endParaRPr>
          </a:p>
          <a:p>
            <a:r>
              <a:rPr lang="en-US" altLang="zh-CN" dirty="0">
                <a:ea typeface="宋体" panose="02010600030101010101" pitchFamily="2" charset="-122"/>
              </a:rPr>
              <a:t>Life expectancy at birth, 2008 estimate.  Source:  U.S. Census Bureau, International Database.  </a:t>
            </a:r>
          </a:p>
          <a:p>
            <a:r>
              <a:rPr lang="en-US" altLang="zh-CN" dirty="0">
                <a:ea typeface="宋体" panose="02010600030101010101" pitchFamily="2" charset="-122"/>
              </a:rPr>
              <a:t>http://www.census.gov/ipc/www/idb/idbprint.html</a:t>
            </a:r>
          </a:p>
          <a:p>
            <a:endParaRPr lang="en-US" altLang="zh-CN" dirty="0">
              <a:ea typeface="宋体" panose="02010600030101010101" pitchFamily="2" charset="-122"/>
            </a:endParaRPr>
          </a:p>
          <a:p>
            <a:r>
              <a:rPr lang="en-US" altLang="zh-CN" dirty="0">
                <a:ea typeface="宋体" panose="02010600030101010101" pitchFamily="2" charset="-122"/>
              </a:rPr>
              <a:t>Adult literacy, 2003 estimate.  Source:  CIA World Factbook.</a:t>
            </a:r>
          </a:p>
          <a:p>
            <a:r>
              <a:rPr lang="en-US" altLang="zh-CN" dirty="0">
                <a:ea typeface="宋体" panose="02010600030101010101" pitchFamily="2" charset="-122"/>
              </a:rPr>
              <a:t>https://www.cia.gov/library/publications/the-world-factbook/</a:t>
            </a:r>
          </a:p>
        </p:txBody>
      </p:sp>
    </p:spTree>
    <p:extLst>
      <p:ext uri="{BB962C8B-B14F-4D97-AF65-F5344CB8AC3E}">
        <p14:creationId xmlns:p14="http://schemas.microsoft.com/office/powerpoint/2010/main" val="1347403496"/>
      </p:ext>
    </p:extLst>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4301C50D-6F43-3E79-664D-17343118DCDB}"/>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D092E0F-5555-6849-A541-0B463FDA6297}"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267" name="Rectangle 2">
            <a:extLst>
              <a:ext uri="{FF2B5EF4-FFF2-40B4-BE49-F238E27FC236}">
                <a16:creationId xmlns:a16="http://schemas.microsoft.com/office/drawing/2014/main" id="{EA4CBB02-FCAE-7E6C-72B1-0444BAAACDC5}"/>
              </a:ext>
            </a:extLst>
          </p:cNvPr>
          <p:cNvSpPr>
            <a:spLocks noGrp="1" noRot="1" noChangeAspect="1" noChangeArrowheads="1" noTextEdit="1"/>
          </p:cNvSpPr>
          <p:nvPr>
            <p:ph type="sldImg"/>
          </p:nvPr>
        </p:nvSpPr>
        <p:spPr/>
      </p:sp>
      <p:sp>
        <p:nvSpPr>
          <p:cNvPr id="11268" name="Rectangle 3">
            <a:extLst>
              <a:ext uri="{FF2B5EF4-FFF2-40B4-BE49-F238E27FC236}">
                <a16:creationId xmlns:a16="http://schemas.microsoft.com/office/drawing/2014/main" id="{9513C978-B9EC-F31F-22FF-0E59FE855362}"/>
              </a:ext>
            </a:extLst>
          </p:cNvPr>
          <p:cNvSpPr>
            <a:spLocks noGrp="1" noChangeArrowheads="1"/>
          </p:cNvSpPr>
          <p:nvPr>
            <p:ph type="body" idx="1"/>
          </p:nvPr>
        </p:nvSpPr>
        <p:spPr/>
        <p:txBody>
          <a:bodyPr anchor="t"/>
          <a:lstStyle/>
          <a:p>
            <a:r>
              <a:rPr lang="en-US" altLang="zh-CN">
                <a:ea typeface="宋体" panose="02010600030101010101" pitchFamily="2" charset="-122"/>
              </a:rPr>
              <a:t>This is the first strictly macro chapter of the textbook, so it’s worth spending a moment emphasizing the difference between microeconomics and macroeconomics.  </a:t>
            </a:r>
          </a:p>
          <a:p>
            <a:endParaRPr lang="en-US" altLang="zh-CN">
              <a:ea typeface="宋体" panose="02010600030101010101" pitchFamily="2" charset="-122"/>
            </a:endParaRPr>
          </a:p>
          <a:p>
            <a:r>
              <a:rPr lang="en-US" altLang="zh-CN">
                <a:ea typeface="宋体" panose="02010600030101010101" pitchFamily="2" charset="-122"/>
              </a:rPr>
              <a:t>Examples of questions that microeconomics seeks to answer:</a:t>
            </a:r>
          </a:p>
          <a:p>
            <a:pPr marL="228600" lvl="1" indent="-114300">
              <a:buFontTx/>
              <a:buChar char="•"/>
            </a:pPr>
            <a:r>
              <a:rPr lang="en-US" altLang="zh-CN">
                <a:ea typeface="宋体" panose="02010600030101010101" pitchFamily="2" charset="-122"/>
              </a:rPr>
              <a:t>How do consumers decide how much of each good to buy?</a:t>
            </a:r>
          </a:p>
          <a:p>
            <a:pPr marL="228600" lvl="1" indent="-114300">
              <a:buFontTx/>
              <a:buChar char="•"/>
            </a:pPr>
            <a:r>
              <a:rPr lang="en-US" altLang="zh-CN">
                <a:ea typeface="宋体" panose="02010600030101010101" pitchFamily="2" charset="-122"/>
              </a:rPr>
              <a:t>How do firms decide how much output to produce and what price to charge? </a:t>
            </a:r>
          </a:p>
          <a:p>
            <a:pPr marL="228600" lvl="1" indent="-114300">
              <a:buFontTx/>
              <a:buChar char="•"/>
            </a:pPr>
            <a:r>
              <a:rPr lang="en-US" altLang="zh-CN">
                <a:ea typeface="宋体" panose="02010600030101010101" pitchFamily="2" charset="-122"/>
              </a:rPr>
              <a:t>What determines the price and quantity of individual goods and services?  </a:t>
            </a:r>
          </a:p>
          <a:p>
            <a:pPr marL="228600" lvl="1" indent="-114300">
              <a:buFontTx/>
              <a:buChar char="•"/>
            </a:pPr>
            <a:r>
              <a:rPr lang="en-US" altLang="zh-CN">
                <a:ea typeface="宋体" panose="02010600030101010101" pitchFamily="2" charset="-122"/>
              </a:rPr>
              <a:t>How do taxes on specific goods and services affect the allocation of resources?</a:t>
            </a:r>
          </a:p>
          <a:p>
            <a:pPr marL="228600" lvl="1" indent="-114300">
              <a:buFontTx/>
              <a:buChar char="•"/>
            </a:pPr>
            <a:endParaRPr lang="en-US" altLang="zh-CN">
              <a:ea typeface="宋体" panose="02010600030101010101" pitchFamily="2" charset="-122"/>
            </a:endParaRPr>
          </a:p>
          <a:p>
            <a:r>
              <a:rPr lang="en-US" altLang="zh-CN">
                <a:ea typeface="宋体" panose="02010600030101010101" pitchFamily="2" charset="-122"/>
              </a:rPr>
              <a:t>Examples of questions that macroeconomics seeks to answer:</a:t>
            </a:r>
          </a:p>
          <a:p>
            <a:pPr marL="228600" lvl="1" indent="-114300">
              <a:buFontTx/>
              <a:buChar char="•"/>
            </a:pPr>
            <a:r>
              <a:rPr lang="en-US" altLang="zh-CN">
                <a:ea typeface="宋体" panose="02010600030101010101" pitchFamily="2" charset="-122"/>
              </a:rPr>
              <a:t>How do consumers decide how to divide their income between spending and saving? </a:t>
            </a:r>
          </a:p>
          <a:p>
            <a:pPr marL="228600" lvl="1" indent="-114300">
              <a:buFontTx/>
              <a:buChar char="•"/>
            </a:pPr>
            <a:r>
              <a:rPr lang="en-US" altLang="zh-CN">
                <a:ea typeface="宋体" panose="02010600030101010101" pitchFamily="2" charset="-122"/>
              </a:rPr>
              <a:t>What determines the total amount of employment and unemployment? </a:t>
            </a:r>
          </a:p>
          <a:p>
            <a:pPr marL="228600" lvl="1" indent="-114300">
              <a:buFontTx/>
              <a:buChar char="•"/>
            </a:pPr>
            <a:r>
              <a:rPr lang="en-US" altLang="zh-CN">
                <a:ea typeface="宋体" panose="02010600030101010101" pitchFamily="2" charset="-122"/>
              </a:rPr>
              <a:t>What determines the overall level of prices and the rate of inflation?  </a:t>
            </a:r>
          </a:p>
          <a:p>
            <a:pPr marL="228600" lvl="1" indent="-114300">
              <a:buFontTx/>
              <a:buChar char="•"/>
            </a:pPr>
            <a:r>
              <a:rPr lang="en-US" altLang="zh-CN">
                <a:ea typeface="宋体" panose="02010600030101010101" pitchFamily="2" charset="-122"/>
              </a:rPr>
              <a:t>Why does the economy go through cycles, where things are great for a few years (like the late ’90s) and then lousy for a year or two (like 2001-2002)?</a:t>
            </a:r>
          </a:p>
          <a:p>
            <a:pPr marL="228600" lvl="1" indent="-114300">
              <a:buFontTx/>
              <a:buChar char="•"/>
            </a:pPr>
            <a:r>
              <a:rPr lang="en-US" altLang="zh-CN">
                <a:ea typeface="宋体" panose="02010600030101010101" pitchFamily="2" charset="-122"/>
              </a:rPr>
              <a:t>When unemployment is high, what can the government do to help?</a:t>
            </a:r>
          </a:p>
          <a:p>
            <a:endParaRPr lang="zh-CN" altLang="zh-CN">
              <a:ea typeface="宋体" panose="02010600030101010101" pitchFamily="2" charset="-122"/>
            </a:endParaRPr>
          </a:p>
        </p:txBody>
      </p:sp>
    </p:spTree>
    <p:extLst>
      <p:ext uri="{BB962C8B-B14F-4D97-AF65-F5344CB8AC3E}">
        <p14:creationId xmlns:p14="http://schemas.microsoft.com/office/powerpoint/2010/main" val="4081546674"/>
      </p:ext>
    </p:extLst>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4301C50D-6F43-3E79-664D-17343118DCDB}"/>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D092E0F-5555-6849-A541-0B463FDA6297}"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267" name="Rectangle 2">
            <a:extLst>
              <a:ext uri="{FF2B5EF4-FFF2-40B4-BE49-F238E27FC236}">
                <a16:creationId xmlns:a16="http://schemas.microsoft.com/office/drawing/2014/main" id="{EA4CBB02-FCAE-7E6C-72B1-0444BAAACDC5}"/>
              </a:ext>
            </a:extLst>
          </p:cNvPr>
          <p:cNvSpPr>
            <a:spLocks noGrp="1" noRot="1" noChangeAspect="1" noChangeArrowheads="1" noTextEdit="1"/>
          </p:cNvSpPr>
          <p:nvPr>
            <p:ph type="sldImg"/>
          </p:nvPr>
        </p:nvSpPr>
        <p:spPr/>
      </p:sp>
      <p:sp>
        <p:nvSpPr>
          <p:cNvPr id="11268" name="Rectangle 3">
            <a:extLst>
              <a:ext uri="{FF2B5EF4-FFF2-40B4-BE49-F238E27FC236}">
                <a16:creationId xmlns:a16="http://schemas.microsoft.com/office/drawing/2014/main" id="{9513C978-B9EC-F31F-22FF-0E59FE855362}"/>
              </a:ext>
            </a:extLst>
          </p:cNvPr>
          <p:cNvSpPr>
            <a:spLocks noGrp="1" noChangeArrowheads="1"/>
          </p:cNvSpPr>
          <p:nvPr>
            <p:ph type="body" idx="1"/>
          </p:nvPr>
        </p:nvSpPr>
        <p:spPr/>
        <p:txBody>
          <a:bodyPr anchor="t"/>
          <a:lstStyle/>
          <a:p>
            <a:r>
              <a:rPr lang="en-US" altLang="zh-CN">
                <a:ea typeface="宋体" panose="02010600030101010101" pitchFamily="2" charset="-122"/>
              </a:rPr>
              <a:t>This is the first strictly macro chapter of the textbook, so it’s worth spending a moment emphasizing the difference between microeconomics and macroeconomics.  </a:t>
            </a:r>
          </a:p>
          <a:p>
            <a:endParaRPr lang="en-US" altLang="zh-CN">
              <a:ea typeface="宋体" panose="02010600030101010101" pitchFamily="2" charset="-122"/>
            </a:endParaRPr>
          </a:p>
          <a:p>
            <a:r>
              <a:rPr lang="en-US" altLang="zh-CN">
                <a:ea typeface="宋体" panose="02010600030101010101" pitchFamily="2" charset="-122"/>
              </a:rPr>
              <a:t>Examples of questions that microeconomics seeks to answer:</a:t>
            </a:r>
          </a:p>
          <a:p>
            <a:pPr marL="228600" lvl="1" indent="-114300">
              <a:buFontTx/>
              <a:buChar char="•"/>
            </a:pPr>
            <a:r>
              <a:rPr lang="en-US" altLang="zh-CN">
                <a:ea typeface="宋体" panose="02010600030101010101" pitchFamily="2" charset="-122"/>
              </a:rPr>
              <a:t>How do consumers decide how much of each good to buy?</a:t>
            </a:r>
          </a:p>
          <a:p>
            <a:pPr marL="228600" lvl="1" indent="-114300">
              <a:buFontTx/>
              <a:buChar char="•"/>
            </a:pPr>
            <a:r>
              <a:rPr lang="en-US" altLang="zh-CN">
                <a:ea typeface="宋体" panose="02010600030101010101" pitchFamily="2" charset="-122"/>
              </a:rPr>
              <a:t>How do firms decide how much output to produce and what price to charge? </a:t>
            </a:r>
          </a:p>
          <a:p>
            <a:pPr marL="228600" lvl="1" indent="-114300">
              <a:buFontTx/>
              <a:buChar char="•"/>
            </a:pPr>
            <a:r>
              <a:rPr lang="en-US" altLang="zh-CN">
                <a:ea typeface="宋体" panose="02010600030101010101" pitchFamily="2" charset="-122"/>
              </a:rPr>
              <a:t>What determines the price and quantity of individual goods and services?  </a:t>
            </a:r>
          </a:p>
          <a:p>
            <a:pPr marL="228600" lvl="1" indent="-114300">
              <a:buFontTx/>
              <a:buChar char="•"/>
            </a:pPr>
            <a:r>
              <a:rPr lang="en-US" altLang="zh-CN">
                <a:ea typeface="宋体" panose="02010600030101010101" pitchFamily="2" charset="-122"/>
              </a:rPr>
              <a:t>How do taxes on specific goods and services affect the allocation of resources?</a:t>
            </a:r>
          </a:p>
          <a:p>
            <a:pPr marL="228600" lvl="1" indent="-114300">
              <a:buFontTx/>
              <a:buChar char="•"/>
            </a:pPr>
            <a:endParaRPr lang="en-US" altLang="zh-CN">
              <a:ea typeface="宋体" panose="02010600030101010101" pitchFamily="2" charset="-122"/>
            </a:endParaRPr>
          </a:p>
          <a:p>
            <a:r>
              <a:rPr lang="en-US" altLang="zh-CN">
                <a:ea typeface="宋体" panose="02010600030101010101" pitchFamily="2" charset="-122"/>
              </a:rPr>
              <a:t>Examples of questions that macroeconomics seeks to answer:</a:t>
            </a:r>
          </a:p>
          <a:p>
            <a:pPr marL="228600" lvl="1" indent="-114300">
              <a:buFontTx/>
              <a:buChar char="•"/>
            </a:pPr>
            <a:r>
              <a:rPr lang="en-US" altLang="zh-CN">
                <a:ea typeface="宋体" panose="02010600030101010101" pitchFamily="2" charset="-122"/>
              </a:rPr>
              <a:t>How do consumers decide how to divide their income between spending and saving? </a:t>
            </a:r>
          </a:p>
          <a:p>
            <a:pPr marL="228600" lvl="1" indent="-114300">
              <a:buFontTx/>
              <a:buChar char="•"/>
            </a:pPr>
            <a:r>
              <a:rPr lang="en-US" altLang="zh-CN">
                <a:ea typeface="宋体" panose="02010600030101010101" pitchFamily="2" charset="-122"/>
              </a:rPr>
              <a:t>What determines the total amount of employment and unemployment? </a:t>
            </a:r>
          </a:p>
          <a:p>
            <a:pPr marL="228600" lvl="1" indent="-114300">
              <a:buFontTx/>
              <a:buChar char="•"/>
            </a:pPr>
            <a:r>
              <a:rPr lang="en-US" altLang="zh-CN">
                <a:ea typeface="宋体" panose="02010600030101010101" pitchFamily="2" charset="-122"/>
              </a:rPr>
              <a:t>What determines the overall level of prices and the rate of inflation?  </a:t>
            </a:r>
          </a:p>
          <a:p>
            <a:pPr marL="228600" lvl="1" indent="-114300">
              <a:buFontTx/>
              <a:buChar char="•"/>
            </a:pPr>
            <a:r>
              <a:rPr lang="en-US" altLang="zh-CN">
                <a:ea typeface="宋体" panose="02010600030101010101" pitchFamily="2" charset="-122"/>
              </a:rPr>
              <a:t>Why does the economy go through cycles, where things are great for a few years (like the late ’90s) and then lousy for a year or two (like 2001-2002)?</a:t>
            </a:r>
          </a:p>
          <a:p>
            <a:pPr marL="228600" lvl="1" indent="-114300">
              <a:buFontTx/>
              <a:buChar char="•"/>
            </a:pPr>
            <a:r>
              <a:rPr lang="en-US" altLang="zh-CN">
                <a:ea typeface="宋体" panose="02010600030101010101" pitchFamily="2" charset="-122"/>
              </a:rPr>
              <a:t>When unemployment is high, what can the government do to help?</a:t>
            </a:r>
          </a:p>
          <a:p>
            <a:endParaRPr lang="zh-CN" altLang="zh-CN">
              <a:ea typeface="宋体" panose="02010600030101010101" pitchFamily="2" charset="-122"/>
            </a:endParaRPr>
          </a:p>
        </p:txBody>
      </p:sp>
    </p:spTree>
    <p:extLst>
      <p:ext uri="{BB962C8B-B14F-4D97-AF65-F5344CB8AC3E}">
        <p14:creationId xmlns:p14="http://schemas.microsoft.com/office/powerpoint/2010/main" val="955220261"/>
      </p:ext>
    </p:extLst>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45DD1766-353A-10B0-6B55-C0FE681A5AF7}"/>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9B17AC3-4F34-AA41-988F-1135ACF9BAF0}"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5363" name="Rectangle 2">
            <a:extLst>
              <a:ext uri="{FF2B5EF4-FFF2-40B4-BE49-F238E27FC236}">
                <a16:creationId xmlns:a16="http://schemas.microsoft.com/office/drawing/2014/main" id="{C6DAFA7D-1F0C-7F43-8256-CFB01D3DB29F}"/>
              </a:ext>
            </a:extLst>
          </p:cNvPr>
          <p:cNvSpPr>
            <a:spLocks noGrp="1" noRot="1" noChangeAspect="1" noChangeArrowheads="1" noTextEdit="1"/>
          </p:cNvSpPr>
          <p:nvPr>
            <p:ph type="sldImg"/>
          </p:nvPr>
        </p:nvSpPr>
        <p:spPr/>
      </p:sp>
      <p:sp>
        <p:nvSpPr>
          <p:cNvPr id="15364" name="Rectangle 3">
            <a:extLst>
              <a:ext uri="{FF2B5EF4-FFF2-40B4-BE49-F238E27FC236}">
                <a16:creationId xmlns:a16="http://schemas.microsoft.com/office/drawing/2014/main" id="{EC3DD704-A40A-7DDE-A5C8-76EB17F41054}"/>
              </a:ext>
            </a:extLst>
          </p:cNvPr>
          <p:cNvSpPr>
            <a:spLocks noGrp="1" noChangeArrowheads="1"/>
          </p:cNvSpPr>
          <p:nvPr>
            <p:ph type="body" idx="1"/>
          </p:nvPr>
        </p:nvSpPr>
        <p:spPr/>
        <p:txBody>
          <a:bodyPr anchor="t"/>
          <a:lstStyle/>
          <a:p>
            <a:r>
              <a:rPr lang="en-US" altLang="zh-CN">
                <a:ea typeface="宋体" panose="02010600030101010101" pitchFamily="2" charset="-122"/>
              </a:rPr>
              <a:t>If your students already know the terms “factors of production” and “factor payments,” you may wish to delete the “preliminaries” from this slide.  </a:t>
            </a:r>
          </a:p>
        </p:txBody>
      </p:sp>
    </p:spTree>
    <p:extLst>
      <p:ext uri="{BB962C8B-B14F-4D97-AF65-F5344CB8AC3E}">
        <p14:creationId xmlns:p14="http://schemas.microsoft.com/office/powerpoint/2010/main" val="1534067480"/>
      </p:ext>
    </p:extLst>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010A1F8E-EDFB-4DD4-A0C3-C6485C0A1D46}"/>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66EE0EA5-D43A-4740-8B72-86479A5955F1}" type="slidenum">
              <a:rPr lang="zh-CN" altLang="en-US" sz="1200">
                <a:ea typeface="宋体" panose="02010600030101010101" pitchFamily="2" charset="-122"/>
                <a:cs typeface="Arial" panose="020B0604020202020204" pitchFamily="34" charset="0"/>
              </a:rPr>
              <a:pPr algn="r"/>
              <a:t>22</a:t>
            </a:fld>
            <a:endParaRPr lang="en-US" altLang="zh-CN" sz="1200">
              <a:ea typeface="宋体" panose="02010600030101010101" pitchFamily="2" charset="-122"/>
              <a:cs typeface="Arial" panose="020B0604020202020204" pitchFamily="34" charset="0"/>
            </a:endParaRPr>
          </a:p>
        </p:txBody>
      </p:sp>
      <p:sp>
        <p:nvSpPr>
          <p:cNvPr id="17411" name="Rectangle 2">
            <a:extLst>
              <a:ext uri="{FF2B5EF4-FFF2-40B4-BE49-F238E27FC236}">
                <a16:creationId xmlns:a16="http://schemas.microsoft.com/office/drawing/2014/main" id="{C6DFA3DF-4ED9-47FA-B504-5ACC39C411D2}"/>
              </a:ext>
            </a:extLst>
          </p:cNvPr>
          <p:cNvSpPr>
            <a:spLocks noGrp="1" noRot="1" noChangeAspect="1" noChangeArrowheads="1" noTextEdit="1"/>
          </p:cNvSpPr>
          <p:nvPr>
            <p:ph type="sldImg"/>
          </p:nvPr>
        </p:nvSpPr>
        <p:spPr>
          <a:xfrm>
            <a:off x="1144588" y="534988"/>
            <a:ext cx="4568825" cy="3429000"/>
          </a:xfrm>
        </p:spPr>
      </p:sp>
      <p:sp>
        <p:nvSpPr>
          <p:cNvPr id="17412" name="Rectangle 3">
            <a:extLst>
              <a:ext uri="{FF2B5EF4-FFF2-40B4-BE49-F238E27FC236}">
                <a16:creationId xmlns:a16="http://schemas.microsoft.com/office/drawing/2014/main" id="{88CB389D-6EEC-4A09-B6D0-392851ED2D10}"/>
              </a:ext>
            </a:extLst>
          </p:cNvPr>
          <p:cNvSpPr>
            <a:spLocks noGrp="1" noChangeArrowheads="1"/>
          </p:cNvSpPr>
          <p:nvPr>
            <p:ph type="body" idx="1"/>
          </p:nvPr>
        </p:nvSpPr>
        <p:spPr>
          <a:xfrm>
            <a:off x="685800" y="4087813"/>
            <a:ext cx="5486400" cy="4586287"/>
          </a:xfrm>
        </p:spPr>
        <p:txBody>
          <a:bodyPr anchor="t"/>
          <a:lstStyle/>
          <a:p>
            <a:r>
              <a:rPr lang="en-US" altLang="zh-CN" sz="1000" dirty="0">
                <a:ea typeface="宋体" panose="02010600030101010101" pitchFamily="2" charset="-122"/>
              </a:rPr>
              <a:t>Source:  World Development Indicators, World Bank, and my calculations.    </a:t>
            </a:r>
          </a:p>
          <a:p>
            <a:r>
              <a:rPr lang="en-US" altLang="zh-CN" sz="1000" dirty="0">
                <a:ea typeface="宋体" panose="02010600030101010101" pitchFamily="2" charset="-122"/>
              </a:rPr>
              <a:t>GDP per capita is in PPP$.   “Growth rate” is the average annual growth rate of real GDP per capita (local currency), computed as </a:t>
            </a:r>
          </a:p>
          <a:p>
            <a:r>
              <a:rPr lang="en-US" altLang="zh-CN" sz="1000" b="1" dirty="0">
                <a:ea typeface="宋体" panose="02010600030101010101" pitchFamily="2" charset="-122"/>
              </a:rPr>
              <a:t>     {ln(2005 value)-ln(1960 value)}/45</a:t>
            </a:r>
          </a:p>
          <a:p>
            <a:r>
              <a:rPr lang="en-US" altLang="zh-CN" sz="1000" dirty="0">
                <a:ea typeface="宋体" panose="02010600030101010101" pitchFamily="2" charset="-122"/>
              </a:rPr>
              <a:t>Exceptions:</a:t>
            </a:r>
          </a:p>
          <a:p>
            <a:r>
              <a:rPr lang="en-US" altLang="zh-CN" sz="1000" dirty="0">
                <a:ea typeface="宋体" panose="02010600030101010101" pitchFamily="2" charset="-122"/>
              </a:rPr>
              <a:t>The growth rates shown for Canada and Saudi Arabia were computed over 1965-2005 and 1968-2005, respectively, due to missing early years of real GDP data in the World Development Indicators.  </a:t>
            </a:r>
          </a:p>
          <a:p>
            <a:endParaRPr lang="en-US" altLang="zh-CN" sz="1000" dirty="0">
              <a:ea typeface="宋体" panose="02010600030101010101" pitchFamily="2" charset="-122"/>
            </a:endParaRPr>
          </a:p>
          <a:p>
            <a:r>
              <a:rPr lang="en-US" altLang="zh-CN" sz="1000" dirty="0">
                <a:ea typeface="宋体" panose="02010600030101010101" pitchFamily="2" charset="-122"/>
              </a:rPr>
              <a:t>This table is similar to Table 1 in the textbook.  There are two differences.  </a:t>
            </a:r>
          </a:p>
          <a:p>
            <a:endParaRPr lang="en-US" altLang="zh-CN" sz="1000" dirty="0">
              <a:ea typeface="宋体" panose="02010600030101010101" pitchFamily="2" charset="-122"/>
            </a:endParaRPr>
          </a:p>
          <a:p>
            <a:r>
              <a:rPr lang="en-US" altLang="zh-CN" sz="1000" dirty="0">
                <a:ea typeface="宋体" panose="02010600030101010101" pitchFamily="2" charset="-122"/>
              </a:rPr>
              <a:t>First, the set of countries is slightly different.  I have excluded Mexico and the U.K. because they (and data on their GDP per capita) were featured in the photos.  I have excluded Germany because unification there makes earlier data not comparable with recent data, and thus complicates the calculation of the growth rate.  Other countries from Table 1 excluded here are Brazil, Indonesia, Pakistan, and Bangladesh.  The table on this slide includes the following countries, which do not appear in Table 1:  Singapore, Spain (I wanted at least one country from Europe), Israel (it’s in the news often), Saudi Arabia (I wanted at least one OPEC country), Colombia (they make good coffee there, plus I wanted a couple countries from S. America), New Zealand (Oceania’s representative here), the Philippines, Rwanda and Haiti (representative poor countries, different from Table 1 just for variety).  </a:t>
            </a:r>
          </a:p>
          <a:p>
            <a:endParaRPr lang="en-US" altLang="zh-CN" sz="1000" dirty="0">
              <a:ea typeface="宋体" panose="02010600030101010101" pitchFamily="2" charset="-122"/>
            </a:endParaRPr>
          </a:p>
          <a:p>
            <a:r>
              <a:rPr lang="en-US" altLang="zh-CN" sz="1000" dirty="0">
                <a:ea typeface="宋体" panose="02010600030101010101" pitchFamily="2" charset="-122"/>
              </a:rPr>
              <a:t>Second, growth rates here are computed over 1960-2005 (except Canada and S. Arabia, as noted above).  </a:t>
            </a:r>
          </a:p>
          <a:p>
            <a:endParaRPr lang="en-US" altLang="zh-CN" sz="1000" dirty="0">
              <a:ea typeface="宋体" panose="02010600030101010101" pitchFamily="2" charset="-122"/>
            </a:endParaRPr>
          </a:p>
          <a:p>
            <a:r>
              <a:rPr lang="en-US" altLang="zh-CN" sz="1000" dirty="0">
                <a:ea typeface="宋体" panose="02010600030101010101" pitchFamily="2" charset="-122"/>
              </a:rPr>
              <a:t>The purpose of this table (and of Table 1 in the text) is to convey the following two facts:  </a:t>
            </a:r>
          </a:p>
          <a:p>
            <a:r>
              <a:rPr lang="en-US" altLang="zh-CN" sz="1000" dirty="0">
                <a:ea typeface="宋体" panose="02010600030101010101" pitchFamily="2" charset="-122"/>
              </a:rPr>
              <a:t>1)  There are great differences in the standard of living across countries.  </a:t>
            </a:r>
          </a:p>
          <a:p>
            <a:r>
              <a:rPr lang="en-US" altLang="zh-CN" sz="1000" dirty="0">
                <a:ea typeface="宋体" panose="02010600030101010101" pitchFamily="2" charset="-122"/>
              </a:rPr>
              <a:t>2)  There are great differences in the growth rates across countries.  </a:t>
            </a:r>
          </a:p>
          <a:p>
            <a:r>
              <a:rPr lang="en-US" altLang="zh-CN" sz="1000" dirty="0">
                <a:ea typeface="宋体" panose="02010600030101010101" pitchFamily="2" charset="-122"/>
              </a:rPr>
              <a:t>A corollary is that the rankings of countries can change over time:  Countries at the bottom need not remain there – witness Japan and China, both of whom were far poorer in 1960.   </a:t>
            </a:r>
          </a:p>
        </p:txBody>
      </p:sp>
    </p:spTree>
    <p:extLst>
      <p:ext uri="{BB962C8B-B14F-4D97-AF65-F5344CB8AC3E}">
        <p14:creationId xmlns:p14="http://schemas.microsoft.com/office/powerpoint/2010/main" val="3437596820"/>
      </p:ext>
    </p:extLst>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9006880A-0DE2-780E-9285-603C39C6D34E}"/>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2686DC6-1F82-CA4F-A979-CF45F7AC4BB4}"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315" name="Rectangle 2">
            <a:extLst>
              <a:ext uri="{FF2B5EF4-FFF2-40B4-BE49-F238E27FC236}">
                <a16:creationId xmlns:a16="http://schemas.microsoft.com/office/drawing/2014/main" id="{FF1D5481-5DB0-2B5A-D93F-2E827810CA50}"/>
              </a:ext>
            </a:extLst>
          </p:cNvPr>
          <p:cNvSpPr>
            <a:spLocks noGrp="1" noRot="1" noChangeAspect="1" noChangeArrowheads="1" noTextEdit="1"/>
          </p:cNvSpPr>
          <p:nvPr>
            <p:ph type="sldImg"/>
          </p:nvPr>
        </p:nvSpPr>
        <p:spPr/>
      </p:sp>
      <p:sp>
        <p:nvSpPr>
          <p:cNvPr id="13316" name="Rectangle 3">
            <a:extLst>
              <a:ext uri="{FF2B5EF4-FFF2-40B4-BE49-F238E27FC236}">
                <a16:creationId xmlns:a16="http://schemas.microsoft.com/office/drawing/2014/main" id="{602030DF-F36B-7B18-A049-A69695515D68}"/>
              </a:ext>
            </a:extLst>
          </p:cNvPr>
          <p:cNvSpPr>
            <a:spLocks noGrp="1" noChangeArrowheads="1"/>
          </p:cNvSpPr>
          <p:nvPr>
            <p:ph type="body" idx="1"/>
          </p:nvPr>
        </p:nvSpPr>
        <p:spPr/>
        <p:txBody>
          <a:bodyPr anchor="t"/>
          <a:lstStyle/>
          <a:p>
            <a:r>
              <a:rPr lang="en-US" altLang="zh-CN">
                <a:ea typeface="宋体" panose="02010600030101010101" pitchFamily="2" charset="-122"/>
              </a:rPr>
              <a:t>Notes:  </a:t>
            </a:r>
          </a:p>
          <a:p>
            <a:endParaRPr lang="en-US" altLang="zh-CN">
              <a:ea typeface="宋体" panose="02010600030101010101" pitchFamily="2" charset="-122"/>
            </a:endParaRPr>
          </a:p>
          <a:p>
            <a:r>
              <a:rPr lang="en-US" altLang="zh-CN">
                <a:ea typeface="宋体" panose="02010600030101010101" pitchFamily="2" charset="-122"/>
              </a:rPr>
              <a:t>1.  The text in the first bullet point is NOT the formal textbook definition of GDP.  The formal definition is given and discussed in detail immediately after the Circular-Flow Diagram.  </a:t>
            </a:r>
          </a:p>
          <a:p>
            <a:endParaRPr lang="en-US" altLang="zh-CN">
              <a:ea typeface="宋体" panose="02010600030101010101" pitchFamily="2" charset="-122"/>
            </a:endParaRPr>
          </a:p>
          <a:p>
            <a:r>
              <a:rPr lang="en-US" altLang="zh-CN">
                <a:ea typeface="宋体" panose="02010600030101010101" pitchFamily="2" charset="-122"/>
              </a:rPr>
              <a:t>2.  “g&amp;s” = goods and services</a:t>
            </a:r>
          </a:p>
          <a:p>
            <a:endParaRPr lang="en-US" altLang="zh-CN">
              <a:ea typeface="宋体" panose="02010600030101010101" pitchFamily="2" charset="-122"/>
            </a:endParaRPr>
          </a:p>
          <a:p>
            <a:r>
              <a:rPr lang="en-US" altLang="zh-CN">
                <a:ea typeface="宋体" panose="02010600030101010101" pitchFamily="2" charset="-122"/>
              </a:rPr>
              <a:t>A good way to judge how well someone is doing economically is to look at his or her income.  We can judge how well a country is doing economically by looking at the total income that everyone in the economy is earning.  GDP is our measure of the economy’s total income, often called “national income.”</a:t>
            </a:r>
          </a:p>
          <a:p>
            <a:endParaRPr lang="en-US" altLang="zh-CN">
              <a:ea typeface="宋体" panose="02010600030101010101" pitchFamily="2" charset="-122"/>
            </a:endParaRPr>
          </a:p>
          <a:p>
            <a:r>
              <a:rPr lang="en-US" altLang="zh-CN">
                <a:ea typeface="宋体" panose="02010600030101010101" pitchFamily="2" charset="-122"/>
              </a:rPr>
              <a:t>GDP also measures total expenditure on the goods and services produced in the economy, and the value of the economy’s output (production) of goods and services.  Thus, GDP is also referred to as “output.” </a:t>
            </a:r>
          </a:p>
          <a:p>
            <a:endParaRPr lang="en-US" altLang="zh-CN">
              <a:ea typeface="宋体" panose="02010600030101010101" pitchFamily="2" charset="-122"/>
            </a:endParaRPr>
          </a:p>
          <a:p>
            <a:r>
              <a:rPr lang="en-US" altLang="zh-CN">
                <a:ea typeface="宋体" panose="02010600030101010101" pitchFamily="2" charset="-122"/>
              </a:rPr>
              <a:t>The equality of income and expenditure is an accounting identity (not, for example, an equilibrium condition):  it </a:t>
            </a:r>
            <a:r>
              <a:rPr lang="en-US" altLang="zh-CN" u="sng">
                <a:ea typeface="宋体" panose="02010600030101010101" pitchFamily="2" charset="-122"/>
              </a:rPr>
              <a:t>must</a:t>
            </a:r>
            <a:r>
              <a:rPr lang="en-US" altLang="zh-CN">
                <a:ea typeface="宋体" panose="02010600030101010101" pitchFamily="2" charset="-122"/>
              </a:rPr>
              <a:t> be true that income equals expenditure.  </a:t>
            </a:r>
          </a:p>
        </p:txBody>
      </p:sp>
    </p:spTree>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45DD1766-353A-10B0-6B55-C0FE681A5AF7}"/>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9B17AC3-4F34-AA41-988F-1135ACF9BAF0}"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5363" name="Rectangle 2">
            <a:extLst>
              <a:ext uri="{FF2B5EF4-FFF2-40B4-BE49-F238E27FC236}">
                <a16:creationId xmlns:a16="http://schemas.microsoft.com/office/drawing/2014/main" id="{C6DAFA7D-1F0C-7F43-8256-CFB01D3DB29F}"/>
              </a:ext>
            </a:extLst>
          </p:cNvPr>
          <p:cNvSpPr>
            <a:spLocks noGrp="1" noRot="1" noChangeAspect="1" noChangeArrowheads="1" noTextEdit="1"/>
          </p:cNvSpPr>
          <p:nvPr>
            <p:ph type="sldImg"/>
          </p:nvPr>
        </p:nvSpPr>
        <p:spPr/>
      </p:sp>
      <p:sp>
        <p:nvSpPr>
          <p:cNvPr id="15364" name="Rectangle 3">
            <a:extLst>
              <a:ext uri="{FF2B5EF4-FFF2-40B4-BE49-F238E27FC236}">
                <a16:creationId xmlns:a16="http://schemas.microsoft.com/office/drawing/2014/main" id="{EC3DD704-A40A-7DDE-A5C8-76EB17F41054}"/>
              </a:ext>
            </a:extLst>
          </p:cNvPr>
          <p:cNvSpPr>
            <a:spLocks noGrp="1" noChangeArrowheads="1"/>
          </p:cNvSpPr>
          <p:nvPr>
            <p:ph type="body" idx="1"/>
          </p:nvPr>
        </p:nvSpPr>
        <p:spPr/>
        <p:txBody>
          <a:bodyPr anchor="t"/>
          <a:lstStyle/>
          <a:p>
            <a:r>
              <a:rPr lang="en-US" altLang="zh-CN">
                <a:ea typeface="宋体" panose="02010600030101010101" pitchFamily="2" charset="-122"/>
              </a:rPr>
              <a:t>If your students already know the terms “factors of production” and “factor payments,” you may wish to delete the “preliminaries” from this slide.  </a:t>
            </a:r>
          </a:p>
        </p:txBody>
      </p:sp>
    </p:spTree>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4134EC9D-8C38-553E-5F3A-084013FFAFE1}"/>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2C5BDEF-0AD5-A648-BA27-3AC9A0171084}"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7411" name="Rectangle 2">
            <a:extLst>
              <a:ext uri="{FF2B5EF4-FFF2-40B4-BE49-F238E27FC236}">
                <a16:creationId xmlns:a16="http://schemas.microsoft.com/office/drawing/2014/main" id="{952FDE66-1CE1-DE22-A1AB-02500D2F20C6}"/>
              </a:ext>
            </a:extLst>
          </p:cNvPr>
          <p:cNvSpPr>
            <a:spLocks noGrp="1" noRot="1" noChangeAspect="1" noChangeArrowheads="1" noTextEdit="1"/>
          </p:cNvSpPr>
          <p:nvPr>
            <p:ph type="sldImg"/>
          </p:nvPr>
        </p:nvSpPr>
        <p:spPr/>
      </p:sp>
      <p:sp>
        <p:nvSpPr>
          <p:cNvPr id="17412" name="Rectangle 3">
            <a:extLst>
              <a:ext uri="{FF2B5EF4-FFF2-40B4-BE49-F238E27FC236}">
                <a16:creationId xmlns:a16="http://schemas.microsoft.com/office/drawing/2014/main" id="{CE5814C4-0F18-5939-98F5-937FE3731EF1}"/>
              </a:ext>
            </a:extLst>
          </p:cNvPr>
          <p:cNvSpPr>
            <a:spLocks noGrp="1" noChangeArrowheads="1"/>
          </p:cNvSpPr>
          <p:nvPr>
            <p:ph type="body" idx="1"/>
          </p:nvPr>
        </p:nvSpPr>
        <p:spPr/>
        <p:txBody>
          <a:bodyPr anchor="t"/>
          <a:lstStyle/>
          <a:p>
            <a:r>
              <a:rPr lang="en-US" altLang="zh-CN">
                <a:ea typeface="宋体" panose="02010600030101010101" pitchFamily="2" charset="-122"/>
              </a:rPr>
              <a:t>This and the following slide build the Circular-Flow Diagram piece by piece.  </a:t>
            </a:r>
          </a:p>
          <a:p>
            <a:endParaRPr lang="zh-CN" altLang="zh-CN">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507538F3-BDDC-0CC0-2EDA-1003014B5D74}"/>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D3E3DD6-2F7F-614F-9AD3-69786A2132CE}"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9459" name="Rectangle 2">
            <a:extLst>
              <a:ext uri="{FF2B5EF4-FFF2-40B4-BE49-F238E27FC236}">
                <a16:creationId xmlns:a16="http://schemas.microsoft.com/office/drawing/2014/main" id="{C38296AD-32E8-86C7-6439-81E6B973577D}"/>
              </a:ext>
            </a:extLst>
          </p:cNvPr>
          <p:cNvSpPr>
            <a:spLocks noGrp="1" noRot="1" noChangeAspect="1" noChangeArrowheads="1" noTextEdit="1"/>
          </p:cNvSpPr>
          <p:nvPr>
            <p:ph type="sldImg"/>
          </p:nvPr>
        </p:nvSpPr>
        <p:spPr/>
      </p:sp>
      <p:sp>
        <p:nvSpPr>
          <p:cNvPr id="19460" name="Rectangle 3">
            <a:extLst>
              <a:ext uri="{FF2B5EF4-FFF2-40B4-BE49-F238E27FC236}">
                <a16:creationId xmlns:a16="http://schemas.microsoft.com/office/drawing/2014/main" id="{D9A88AFE-7B96-0255-F32B-1CDFA3E790E6}"/>
              </a:ext>
            </a:extLst>
          </p:cNvPr>
          <p:cNvSpPr>
            <a:spLocks noGrp="1" noChangeArrowheads="1"/>
          </p:cNvSpPr>
          <p:nvPr>
            <p:ph type="body" idx="1"/>
          </p:nvPr>
        </p:nvSpPr>
        <p:spPr/>
        <p:txBody>
          <a:bodyPr anchor="t"/>
          <a:lstStyle/>
          <a:p>
            <a:r>
              <a:rPr lang="en-US" altLang="zh-CN">
                <a:ea typeface="宋体" panose="02010600030101010101" pitchFamily="2" charset="-122"/>
              </a:rPr>
              <a:t>In this diagram, the green arrows represent flows of income/payments.  The red arrows represent flows of goods &amp; services (including services of the factors of production in the lower half of the diagram).  </a:t>
            </a:r>
          </a:p>
          <a:p>
            <a:endParaRPr lang="en-US" altLang="zh-CN">
              <a:ea typeface="宋体" panose="02010600030101010101" pitchFamily="2" charset="-122"/>
            </a:endParaRPr>
          </a:p>
          <a:p>
            <a:r>
              <a:rPr lang="en-US" altLang="zh-CN">
                <a:ea typeface="宋体" panose="02010600030101010101" pitchFamily="2" charset="-122"/>
              </a:rPr>
              <a:t>To keep the graph simple, we have omitted the government, financial system, and foreign sector, as discussed on the next slide. </a:t>
            </a:r>
          </a:p>
          <a:p>
            <a:endParaRPr lang="en-US" altLang="zh-CN">
              <a:ea typeface="宋体" panose="02010600030101010101" pitchFamily="2" charset="-122"/>
            </a:endParaRPr>
          </a:p>
          <a:p>
            <a:r>
              <a:rPr lang="en-US" altLang="zh-CN" b="1" i="1">
                <a:ea typeface="宋体" panose="02010600030101010101" pitchFamily="2" charset="-122"/>
              </a:rPr>
              <a:t>Changing the animation on this slide:</a:t>
            </a:r>
          </a:p>
          <a:p>
            <a:r>
              <a:rPr lang="en-US" altLang="zh-CN">
                <a:ea typeface="宋体" panose="02010600030101010101" pitchFamily="2" charset="-122"/>
              </a:rPr>
              <a:t>If you wish, you can easily change the order in which the markets and arrows appear.  From the “Slide Show” drop-down menu, choose “Custom Animation…”  Then, a box will appear (maybe along the right-hand-side of your PowerPoint window) that allows you to modify the order in which things appear (as well as other aspects of the animation).  For further information, open PowerPoint help and search on “change the sequence of animations.” </a:t>
            </a:r>
          </a:p>
        </p:txBody>
      </p:sp>
    </p:spTree>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B433E3CC-AAEA-049D-3F37-B49566386691}"/>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D7B4A6B-FB0E-7545-8987-85E0B3190897}"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1507" name="Rectangle 2">
            <a:extLst>
              <a:ext uri="{FF2B5EF4-FFF2-40B4-BE49-F238E27FC236}">
                <a16:creationId xmlns:a16="http://schemas.microsoft.com/office/drawing/2014/main" id="{28B559F2-E50F-167E-121D-B137760CE21D}"/>
              </a:ext>
            </a:extLst>
          </p:cNvPr>
          <p:cNvSpPr>
            <a:spLocks noGrp="1" noRot="1" noChangeAspect="1" noChangeArrowheads="1" noTextEdit="1"/>
          </p:cNvSpPr>
          <p:nvPr>
            <p:ph type="sldImg"/>
          </p:nvPr>
        </p:nvSpPr>
        <p:spPr/>
      </p:sp>
      <p:sp>
        <p:nvSpPr>
          <p:cNvPr id="21508" name="Rectangle 3">
            <a:extLst>
              <a:ext uri="{FF2B5EF4-FFF2-40B4-BE49-F238E27FC236}">
                <a16:creationId xmlns:a16="http://schemas.microsoft.com/office/drawing/2014/main" id="{CA257FB6-B362-7E1C-889A-3CAE41197D8C}"/>
              </a:ext>
            </a:extLst>
          </p:cNvPr>
          <p:cNvSpPr>
            <a:spLocks noGrp="1" noChangeArrowheads="1"/>
          </p:cNvSpPr>
          <p:nvPr>
            <p:ph type="body" idx="1"/>
          </p:nvPr>
        </p:nvSpPr>
        <p:spPr/>
        <p:txBody>
          <a:bodyPr anchor="t"/>
          <a:lstStyle/>
          <a:p>
            <a:r>
              <a:rPr lang="en-US" altLang="zh-CN">
                <a:ea typeface="宋体" panose="02010600030101010101" pitchFamily="2" charset="-122"/>
              </a:rPr>
              <a:t>In future chapters, we will study the role of each of these in greater detail.  </a:t>
            </a:r>
          </a:p>
          <a:p>
            <a:endParaRPr lang="en-US" altLang="zh-CN">
              <a:ea typeface="宋体" panose="02010600030101010101" pitchFamily="2" charset="-122"/>
            </a:endParaRPr>
          </a:p>
          <a:p>
            <a:r>
              <a:rPr lang="en-US" altLang="zh-CN">
                <a:ea typeface="宋体" panose="02010600030101010101" pitchFamily="2" charset="-122"/>
              </a:rPr>
              <a:t>We could draw a more complicated circular flow diagram that includes the government, financial system, and foreign sector.  Including them, however, would not change the basic conclusion that GDP simultaneously measures the country’s total income, expenditure, revenue, and factor payments.  </a:t>
            </a:r>
          </a:p>
          <a:p>
            <a:endParaRPr lang="zh-CN" altLang="zh-CN">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E6D166FB-5EFA-4DCD-4BCE-A3524E9F3557}"/>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E4A07DB-F239-4C4E-8251-516B343E57EC}"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3555" name="Rectangle 2">
            <a:extLst>
              <a:ext uri="{FF2B5EF4-FFF2-40B4-BE49-F238E27FC236}">
                <a16:creationId xmlns:a16="http://schemas.microsoft.com/office/drawing/2014/main" id="{EBEAD6B2-91AD-F089-284E-E4904829D451}"/>
              </a:ext>
            </a:extLst>
          </p:cNvPr>
          <p:cNvSpPr>
            <a:spLocks noGrp="1" noRot="1" noChangeAspect="1" noChangeArrowheads="1" noTextEdit="1"/>
          </p:cNvSpPr>
          <p:nvPr>
            <p:ph type="sldImg"/>
          </p:nvPr>
        </p:nvSpPr>
        <p:spPr/>
      </p:sp>
      <p:sp>
        <p:nvSpPr>
          <p:cNvPr id="23556" name="Rectangle 3">
            <a:extLst>
              <a:ext uri="{FF2B5EF4-FFF2-40B4-BE49-F238E27FC236}">
                <a16:creationId xmlns:a16="http://schemas.microsoft.com/office/drawing/2014/main" id="{635A2FA6-A534-F20E-8D97-76EBB0F6884A}"/>
              </a:ext>
            </a:extLst>
          </p:cNvPr>
          <p:cNvSpPr>
            <a:spLocks noGrp="1" noChangeArrowheads="1"/>
          </p:cNvSpPr>
          <p:nvPr>
            <p:ph type="body" idx="1"/>
          </p:nvPr>
        </p:nvSpPr>
        <p:spPr/>
        <p:txBody>
          <a:bodyPr anchor="t"/>
          <a:lstStyle/>
          <a:p>
            <a:r>
              <a:rPr lang="en-US" altLang="zh-CN">
                <a:ea typeface="宋体" panose="02010600030101010101" pitchFamily="2" charset="-122"/>
              </a:rPr>
              <a:t>This slide and the five that follow focus on the meaning of each part of this critically important definition.  </a:t>
            </a:r>
          </a:p>
          <a:p>
            <a:endParaRPr lang="en-US" altLang="zh-CN">
              <a:ea typeface="宋体" panose="02010600030101010101" pitchFamily="2" charset="-122"/>
            </a:endParaRPr>
          </a:p>
          <a:p>
            <a:r>
              <a:rPr lang="en-US" altLang="zh-CN">
                <a:ea typeface="宋体" panose="02010600030101010101" pitchFamily="2" charset="-122"/>
              </a:rPr>
              <a:t>Note that transactions occurring in the so-called “underground economy” are also omitted from the official measure of GDP.  In the textbook, near the end of this chapter, an “In the News” box contains an excellent article on the underground economy.  </a:t>
            </a:r>
          </a:p>
        </p:txBody>
      </p:sp>
    </p:spTree>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38C513B8-E546-1BE1-BDBD-E16F7541C890}"/>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431CC92-22EC-8D4B-BFF7-E54A83C90BDA}"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0723" name="Rectangle 2">
            <a:extLst>
              <a:ext uri="{FF2B5EF4-FFF2-40B4-BE49-F238E27FC236}">
                <a16:creationId xmlns:a16="http://schemas.microsoft.com/office/drawing/2014/main" id="{0AFF002B-DB79-AB58-8154-466483575F84}"/>
              </a:ext>
            </a:extLst>
          </p:cNvPr>
          <p:cNvSpPr>
            <a:spLocks noGrp="1" noRot="1" noChangeAspect="1" noChangeArrowheads="1" noTextEdit="1"/>
          </p:cNvSpPr>
          <p:nvPr>
            <p:ph type="sldImg"/>
          </p:nvPr>
        </p:nvSpPr>
        <p:spPr/>
      </p:sp>
      <p:sp>
        <p:nvSpPr>
          <p:cNvPr id="30724" name="Rectangle 3">
            <a:extLst>
              <a:ext uri="{FF2B5EF4-FFF2-40B4-BE49-F238E27FC236}">
                <a16:creationId xmlns:a16="http://schemas.microsoft.com/office/drawing/2014/main" id="{B7395E81-33BE-CFCB-8890-D0BFA1FBBA05}"/>
              </a:ext>
            </a:extLst>
          </p:cNvPr>
          <p:cNvSpPr>
            <a:spLocks noGrp="1" noChangeArrowheads="1"/>
          </p:cNvSpPr>
          <p:nvPr>
            <p:ph type="body" idx="1"/>
          </p:nvPr>
        </p:nvSpPr>
        <p:spPr/>
        <p:txBody>
          <a:bodyPr anchor="t"/>
          <a:lstStyle/>
          <a:p>
            <a:r>
              <a:rPr lang="en-US" altLang="zh-CN">
                <a:ea typeface="宋体" panose="02010600030101010101" pitchFamily="2" charset="-122"/>
              </a:rPr>
              <a:t>Each of the four components is defined and discussed in detail on the following slides.  </a:t>
            </a:r>
          </a:p>
          <a:p>
            <a:endParaRPr lang="zh-CN" altLang="zh-CN">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D73D26CE-6076-699D-6706-4090C544E467}"/>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D833BEC-E718-A44D-AE5C-37BB1E8D6F8F}"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2771" name="Rectangle 2">
            <a:extLst>
              <a:ext uri="{FF2B5EF4-FFF2-40B4-BE49-F238E27FC236}">
                <a16:creationId xmlns:a16="http://schemas.microsoft.com/office/drawing/2014/main" id="{CB62648B-B4FE-A99E-2C3E-9563B21B1715}"/>
              </a:ext>
            </a:extLst>
          </p:cNvPr>
          <p:cNvSpPr>
            <a:spLocks noGrp="1" noRot="1" noChangeAspect="1" noChangeArrowheads="1" noTextEdit="1"/>
          </p:cNvSpPr>
          <p:nvPr>
            <p:ph type="sldImg"/>
          </p:nvPr>
        </p:nvSpPr>
        <p:spPr/>
      </p:sp>
      <p:sp>
        <p:nvSpPr>
          <p:cNvPr id="32772" name="Rectangle 3">
            <a:extLst>
              <a:ext uri="{FF2B5EF4-FFF2-40B4-BE49-F238E27FC236}">
                <a16:creationId xmlns:a16="http://schemas.microsoft.com/office/drawing/2014/main" id="{9EC4E413-D3F4-02AE-C317-AA6A15D8396B}"/>
              </a:ext>
            </a:extLst>
          </p:cNvPr>
          <p:cNvSpPr>
            <a:spLocks noGrp="1" noChangeArrowheads="1"/>
          </p:cNvSpPr>
          <p:nvPr>
            <p:ph type="body" idx="1"/>
          </p:nvPr>
        </p:nvSpPr>
        <p:spPr/>
        <p:txBody>
          <a:bodyPr anchor="t"/>
          <a:lstStyle/>
          <a:p>
            <a:r>
              <a:rPr lang="en-US" altLang="zh-CN">
                <a:ea typeface="宋体" panose="02010600030101010101" pitchFamily="2" charset="-122"/>
              </a:rPr>
              <a:t>Mostly, the term “consumption” refers to what students probably already think of as total consumer spending.  The note about the treatment of owner-occupied housing is an exception, and some of the test bank questions are designed to see if students remember this exception.  </a:t>
            </a:r>
          </a:p>
          <a:p>
            <a:endParaRPr lang="en-US" altLang="zh-CN">
              <a:ea typeface="宋体" panose="02010600030101010101" pitchFamily="2" charset="-122"/>
            </a:endParaRPr>
          </a:p>
          <a:p>
            <a:r>
              <a:rPr lang="en-US" altLang="zh-CN">
                <a:ea typeface="宋体" panose="02010600030101010101" pitchFamily="2" charset="-122"/>
              </a:rPr>
              <a:t>(For more on this issue, see the notes accompanying the following slide.) </a:t>
            </a:r>
          </a:p>
        </p:txBody>
      </p:sp>
    </p:spTree>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D9DF8497-FC53-1A8C-C9F8-B8D10031135F}"/>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A0FF83E-7F0F-8C4C-A6F3-258E7128B7F8}"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4819" name="Rectangle 2">
            <a:extLst>
              <a:ext uri="{FF2B5EF4-FFF2-40B4-BE49-F238E27FC236}">
                <a16:creationId xmlns:a16="http://schemas.microsoft.com/office/drawing/2014/main" id="{B463FCB8-7CD6-BDAB-8122-FB6479DC0040}"/>
              </a:ext>
            </a:extLst>
          </p:cNvPr>
          <p:cNvSpPr>
            <a:spLocks noGrp="1" noRot="1" noChangeAspect="1" noChangeArrowheads="1" noTextEdit="1"/>
          </p:cNvSpPr>
          <p:nvPr>
            <p:ph type="sldImg"/>
          </p:nvPr>
        </p:nvSpPr>
        <p:spPr/>
      </p:sp>
      <p:sp>
        <p:nvSpPr>
          <p:cNvPr id="34820" name="Rectangle 3">
            <a:extLst>
              <a:ext uri="{FF2B5EF4-FFF2-40B4-BE49-F238E27FC236}">
                <a16:creationId xmlns:a16="http://schemas.microsoft.com/office/drawing/2014/main" id="{6BEE3721-F94F-5F15-343E-110EB6D5ADF7}"/>
              </a:ext>
            </a:extLst>
          </p:cNvPr>
          <p:cNvSpPr>
            <a:spLocks noGrp="1" noChangeArrowheads="1"/>
          </p:cNvSpPr>
          <p:nvPr>
            <p:ph type="body" idx="1"/>
          </p:nvPr>
        </p:nvSpPr>
        <p:spPr/>
        <p:txBody>
          <a:bodyPr anchor="t"/>
          <a:lstStyle/>
          <a:p>
            <a:r>
              <a:rPr lang="en-US" altLang="zh-CN">
                <a:ea typeface="宋体" panose="02010600030101010101" pitchFamily="2" charset="-122"/>
              </a:rPr>
              <a:t>More on the treatment of owner-occupied housing:</a:t>
            </a:r>
          </a:p>
          <a:p>
            <a:endParaRPr lang="en-US" altLang="zh-CN">
              <a:ea typeface="宋体" panose="02010600030101010101" pitchFamily="2" charset="-122"/>
            </a:endParaRPr>
          </a:p>
          <a:p>
            <a:r>
              <a:rPr lang="en-US" altLang="zh-CN">
                <a:ea typeface="宋体" panose="02010600030101010101" pitchFamily="2" charset="-122"/>
              </a:rPr>
              <a:t>In the national income and product accounts, a house is considered a piece of capital that is used to produce a flow of services – housing services.  </a:t>
            </a:r>
          </a:p>
          <a:p>
            <a:endParaRPr lang="en-US" altLang="zh-CN">
              <a:ea typeface="宋体" panose="02010600030101010101" pitchFamily="2" charset="-122"/>
            </a:endParaRPr>
          </a:p>
          <a:p>
            <a:r>
              <a:rPr lang="en-US" altLang="zh-CN">
                <a:ea typeface="宋体" panose="02010600030101010101" pitchFamily="2" charset="-122"/>
              </a:rPr>
              <a:t>When a consumer (as a tenant) rents a house or apartment, the consumer is buying housing services.  These services are considered consumption, so the price paid for these services – rent – is counted in the “consumption” component of GDP .  </a:t>
            </a:r>
          </a:p>
          <a:p>
            <a:endParaRPr lang="en-US" altLang="zh-CN">
              <a:ea typeface="宋体" panose="02010600030101010101" pitchFamily="2" charset="-122"/>
            </a:endParaRPr>
          </a:p>
          <a:p>
            <a:r>
              <a:rPr lang="en-US" altLang="zh-CN">
                <a:ea typeface="宋体" panose="02010600030101010101" pitchFamily="2" charset="-122"/>
              </a:rPr>
              <a:t>When someone buys a new house to live in, she is both a producer and a consumer.  As a producer, she has made an investment (the purchase of the house) that will produce a service.  She is also the consumer of this service, which is valued at the market rental rate for that type of house.  So, the accounting conventions treat this situation as if the person is her own landlord and rents the house to/from herself.  </a:t>
            </a:r>
          </a:p>
          <a:p>
            <a:endParaRPr lang="en-US" altLang="zh-CN">
              <a:ea typeface="宋体" panose="02010600030101010101" pitchFamily="2" charset="-122"/>
            </a:endParaRPr>
          </a:p>
          <a:p>
            <a:r>
              <a:rPr lang="en-US" altLang="zh-CN">
                <a:ea typeface="宋体" panose="02010600030101010101" pitchFamily="2" charset="-122"/>
              </a:rPr>
              <a:t>When students begin to understand this, they may wonder why certain other goods (like cars) that produce a flow of consumer services are not also treated this way.  There really is no good answer.  It’s just a convention of the national income and product accounts.  </a:t>
            </a:r>
          </a:p>
          <a:p>
            <a:endParaRPr lang="zh-CN" altLang="zh-CN">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82090F0D-CC15-FEFF-CF41-F8BC56A514B9}"/>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8BA80EF-735B-AD4B-8120-188414C0BB8C}"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6867" name="Rectangle 2">
            <a:extLst>
              <a:ext uri="{FF2B5EF4-FFF2-40B4-BE49-F238E27FC236}">
                <a16:creationId xmlns:a16="http://schemas.microsoft.com/office/drawing/2014/main" id="{DA71F0A7-1DD2-3500-84B8-5AF3D845D1C2}"/>
              </a:ext>
            </a:extLst>
          </p:cNvPr>
          <p:cNvSpPr>
            <a:spLocks noGrp="1" noRot="1" noChangeAspect="1" noChangeArrowheads="1" noTextEdit="1"/>
          </p:cNvSpPr>
          <p:nvPr>
            <p:ph type="sldImg"/>
          </p:nvPr>
        </p:nvSpPr>
        <p:spPr>
          <a:xfrm>
            <a:off x="1144588" y="534988"/>
            <a:ext cx="4568825" cy="3429000"/>
          </a:xfrm>
        </p:spPr>
      </p:sp>
      <p:sp>
        <p:nvSpPr>
          <p:cNvPr id="36868" name="Rectangle 3">
            <a:extLst>
              <a:ext uri="{FF2B5EF4-FFF2-40B4-BE49-F238E27FC236}">
                <a16:creationId xmlns:a16="http://schemas.microsoft.com/office/drawing/2014/main" id="{719D521D-B502-715C-30FF-1B42AD878304}"/>
              </a:ext>
            </a:extLst>
          </p:cNvPr>
          <p:cNvSpPr>
            <a:spLocks noGrp="1" noChangeArrowheads="1"/>
          </p:cNvSpPr>
          <p:nvPr>
            <p:ph type="body" idx="1"/>
          </p:nvPr>
        </p:nvSpPr>
        <p:spPr>
          <a:xfrm>
            <a:off x="685800" y="4248150"/>
            <a:ext cx="5486400" cy="4210050"/>
          </a:xfrm>
        </p:spPr>
        <p:txBody>
          <a:bodyPr anchor="t"/>
          <a:lstStyle/>
          <a:p>
            <a:r>
              <a:rPr lang="en-US" altLang="zh-CN">
                <a:ea typeface="宋体" panose="02010600030101010101" pitchFamily="2" charset="-122"/>
              </a:rPr>
              <a:t>You might tell your students that transfer payments, like Social Security checks, are excluded from G to avoid double-counting:  retired persons spend part or all of their Social Security benefits on food, rent, prescriptions, and so forth, all of which count in consumption.  If we also counted the Social Security check as part of G, then the same money would be counted twice, which would make GDP look bigger than it really is. </a:t>
            </a:r>
          </a:p>
          <a:p>
            <a:endParaRPr lang="en-US" altLang="zh-CN">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516571DB-B689-CAAE-5AD2-724883EEE7B1}"/>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0FA2214-F355-5645-90DD-2578B9EF5784}"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8915" name="Rectangle 2">
            <a:extLst>
              <a:ext uri="{FF2B5EF4-FFF2-40B4-BE49-F238E27FC236}">
                <a16:creationId xmlns:a16="http://schemas.microsoft.com/office/drawing/2014/main" id="{8D360DD6-1538-9AB1-46E9-A57440802246}"/>
              </a:ext>
            </a:extLst>
          </p:cNvPr>
          <p:cNvSpPr>
            <a:spLocks noGrp="1" noRot="1" noChangeAspect="1" noChangeArrowheads="1" noTextEdit="1"/>
          </p:cNvSpPr>
          <p:nvPr>
            <p:ph type="sldImg"/>
          </p:nvPr>
        </p:nvSpPr>
        <p:spPr/>
      </p:sp>
      <p:sp>
        <p:nvSpPr>
          <p:cNvPr id="38916" name="Rectangle 3">
            <a:extLst>
              <a:ext uri="{FF2B5EF4-FFF2-40B4-BE49-F238E27FC236}">
                <a16:creationId xmlns:a16="http://schemas.microsoft.com/office/drawing/2014/main" id="{9C64E110-7A61-0BEE-3102-0C058CAF09DD}"/>
              </a:ext>
            </a:extLst>
          </p:cNvPr>
          <p:cNvSpPr>
            <a:spLocks noGrp="1" noChangeArrowheads="1"/>
          </p:cNvSpPr>
          <p:nvPr>
            <p:ph type="body" idx="1"/>
          </p:nvPr>
        </p:nvSpPr>
        <p:spPr/>
        <p:txBody>
          <a:bodyPr anchor="t"/>
          <a:lstStyle/>
          <a:p>
            <a:r>
              <a:rPr lang="en-US" altLang="zh-CN">
                <a:ea typeface="宋体" panose="02010600030101010101" pitchFamily="2" charset="-122"/>
              </a:rPr>
              <a:t>The “net” in “net exports” refers to the fact that we are subtracting imports from exports.  This subtraction is important, because imports are also counted in the other components of GDP; failing to subtract them would cause GDP to measure not just the value of goods produced domestically, but also goods produced abroad and imported.  </a:t>
            </a:r>
          </a:p>
          <a:p>
            <a:endParaRPr lang="en-US" altLang="zh-CN">
              <a:ea typeface="宋体" panose="02010600030101010101" pitchFamily="2" charset="-122"/>
            </a:endParaRPr>
          </a:p>
          <a:p>
            <a:r>
              <a:rPr lang="en-US" altLang="zh-CN">
                <a:ea typeface="宋体" panose="02010600030101010101" pitchFamily="2" charset="-122"/>
              </a:rPr>
              <a:t>For example, if a consumer spends $100 on a DVD player imported from Japan, that $100 counts in “consumption,” even though the player was not produced domestically.  We subtract off that $100 import so that GDP ends up including the value of only domestically-produced goods and services.  </a:t>
            </a:r>
          </a:p>
          <a:p>
            <a:endParaRPr lang="zh-CN" altLang="zh-CN">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6192AFA3-3404-4DD8-CA3D-1E04B97DC185}"/>
              </a:ext>
            </a:extLst>
          </p:cNvPr>
          <p:cNvSpPr>
            <a:spLocks noGrp="1" noRot="1" noChangeAspect="1" noChangeArrowheads="1" noTextEdit="1"/>
          </p:cNvSpPr>
          <p:nvPr>
            <p:ph type="sldImg"/>
          </p:nvPr>
        </p:nvSpPr>
        <p:spPr/>
      </p:sp>
      <p:sp>
        <p:nvSpPr>
          <p:cNvPr id="43011" name="Rectangle 3">
            <a:extLst>
              <a:ext uri="{FF2B5EF4-FFF2-40B4-BE49-F238E27FC236}">
                <a16:creationId xmlns:a16="http://schemas.microsoft.com/office/drawing/2014/main" id="{11E96309-5A5E-1F2A-CFAE-6E8C840A7D15}"/>
              </a:ext>
            </a:extLst>
          </p:cNvPr>
          <p:cNvSpPr>
            <a:spLocks noGrp="1" noRot="1" noChangeArrowheads="1"/>
          </p:cNvSpPr>
          <p:nvPr>
            <p:ph type="body" idx="1"/>
          </p:nvPr>
        </p:nvSpPr>
        <p:spPr/>
        <p:txBody>
          <a:bodyPr/>
          <a:lstStyle/>
          <a:p>
            <a:r>
              <a:rPr lang="en-US" altLang="zh-CN">
                <a:ea typeface="宋体" panose="02010600030101010101" pitchFamily="2" charset="-122"/>
              </a:rPr>
              <a:t>Suggestion:  Show these questions, and give your students 1-3 minutes to formulate their answers.  When you are ready to discuss the answers, go to the next slide….</a:t>
            </a:r>
          </a:p>
        </p:txBody>
      </p:sp>
    </p:spTree>
    <p:extLst>
      <p:ext uri="{BB962C8B-B14F-4D97-AF65-F5344CB8AC3E}">
        <p14:creationId xmlns:p14="http://schemas.microsoft.com/office/powerpoint/2010/main" val="546376333"/>
      </p:ext>
    </p:extLst>
  </p:cSld>
  <p:clrMapOvr>
    <a:overrideClrMapping bg1="lt1" tx1="dk1" bg2="lt2" tx2="dk2" accent1="accent1" accent2="accent2" accent3="accent3" accent4="accent4" accent5="accent5" accent6="accent6" hlink="hlink" folHlink="folHlink"/>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9F15B0E5-CBEF-7DC6-E6EA-0C6DEA2D5A0A}"/>
              </a:ext>
            </a:extLst>
          </p:cNvPr>
          <p:cNvSpPr>
            <a:spLocks noGrp="1" noRot="1" noChangeAspect="1" noChangeArrowheads="1" noTextEdit="1"/>
          </p:cNvSpPr>
          <p:nvPr>
            <p:ph type="sldImg"/>
          </p:nvPr>
        </p:nvSpPr>
        <p:spPr/>
      </p:sp>
      <p:sp>
        <p:nvSpPr>
          <p:cNvPr id="45059" name="Rectangle 3">
            <a:extLst>
              <a:ext uri="{FF2B5EF4-FFF2-40B4-BE49-F238E27FC236}">
                <a16:creationId xmlns:a16="http://schemas.microsoft.com/office/drawing/2014/main" id="{D150C745-49F0-4E1E-2377-A8DB719D0F74}"/>
              </a:ext>
            </a:extLst>
          </p:cNvPr>
          <p:cNvSpPr>
            <a:spLocks noGrp="1" noRot="1" noChangeArrowheads="1"/>
          </p:cNvSpPr>
          <p:nvPr>
            <p:ph type="body" idx="1"/>
          </p:nvPr>
        </p:nvSpPr>
        <p:spPr/>
        <p:txBody>
          <a:bodyPr/>
          <a:lstStyle/>
          <a:p>
            <a:r>
              <a:rPr lang="en-US" altLang="zh-CN">
                <a:ea typeface="宋体" panose="02010600030101010101" pitchFamily="2" charset="-122"/>
              </a:rPr>
              <a:t>Suggestion (continued from previous slide):  Show part A (but not the answer) and ask for someone to volunteer his or her response.  Then show the answer to part A.  Repeat for parts B, C, and D.  (The answers to parts C and D appear on the following slide.) </a:t>
            </a:r>
          </a:p>
          <a:p>
            <a:endParaRPr lang="en-US" altLang="zh-CN">
              <a:ea typeface="宋体" panose="02010600030101010101" pitchFamily="2" charset="-122"/>
            </a:endParaRPr>
          </a:p>
          <a:p>
            <a:r>
              <a:rPr lang="en-US" altLang="zh-CN">
                <a:ea typeface="宋体" panose="02010600030101010101" pitchFamily="2" charset="-122"/>
              </a:rPr>
              <a:t>After showing the answer to part A, ask your students whether the answer would be different if Debbie were a government employee.  The correct answer is NO.  Government employees engage in consumption, just like everyone else. </a:t>
            </a:r>
          </a:p>
        </p:txBody>
      </p:sp>
    </p:spTree>
    <p:extLst>
      <p:ext uri="{BB962C8B-B14F-4D97-AF65-F5344CB8AC3E}">
        <p14:creationId xmlns:p14="http://schemas.microsoft.com/office/powerpoint/2010/main" val="690901928"/>
      </p:ext>
    </p:extLst>
  </p:cSld>
  <p:clrMapOvr>
    <a:overrideClrMapping bg1="lt1" tx1="dk1" bg2="lt2" tx2="dk2" accent1="accent1" accent2="accent2" accent3="accent3" accent4="accent4" accent5="accent5" accent6="accent6" hlink="hlink" folHlink="folHlink"/>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4D98BCF8-D7F5-DA94-DE88-3604F349464D}"/>
              </a:ext>
            </a:extLst>
          </p:cNvPr>
          <p:cNvSpPr>
            <a:spLocks noGrp="1" noRot="1" noChangeAspect="1" noChangeArrowheads="1" noTextEdit="1"/>
          </p:cNvSpPr>
          <p:nvPr>
            <p:ph type="sldImg"/>
          </p:nvPr>
        </p:nvSpPr>
        <p:spPr/>
      </p:sp>
      <p:sp>
        <p:nvSpPr>
          <p:cNvPr id="47107" name="Rectangle 3">
            <a:extLst>
              <a:ext uri="{FF2B5EF4-FFF2-40B4-BE49-F238E27FC236}">
                <a16:creationId xmlns:a16="http://schemas.microsoft.com/office/drawing/2014/main" id="{4550BD1F-A847-45E4-1DAE-727B8010A81F}"/>
              </a:ext>
            </a:extLst>
          </p:cNvPr>
          <p:cNvSpPr>
            <a:spLocks noGrp="1" noRot="1" noChangeArrowheads="1"/>
          </p:cNvSpPr>
          <p:nvPr>
            <p:ph type="body" idx="1"/>
          </p:nvPr>
        </p:nvSpPr>
        <p:spPr/>
        <p:txBody>
          <a:bodyPr/>
          <a:lstStyle/>
          <a:p>
            <a:r>
              <a:rPr lang="en-US" altLang="zh-CN">
                <a:ea typeface="宋体" panose="02010600030101010101" pitchFamily="2" charset="-122"/>
              </a:rPr>
              <a:t>Regarding part C:  </a:t>
            </a:r>
          </a:p>
          <a:p>
            <a:r>
              <a:rPr lang="en-US" altLang="zh-CN">
                <a:ea typeface="宋体" panose="02010600030101010101" pitchFamily="2" charset="-122"/>
              </a:rPr>
              <a:t>Jane’s purchase causes investment (for her own business) to increase by $1200.  However, the computer is sold out of inventory, so inventory investment falls by $1200.  The two transactions cancel each other, leaving aggregate investment and GDP unchanged. </a:t>
            </a:r>
          </a:p>
          <a:p>
            <a:endParaRPr lang="en-US" altLang="zh-CN">
              <a:ea typeface="宋体" panose="02010600030101010101" pitchFamily="2" charset="-122"/>
            </a:endParaRPr>
          </a:p>
          <a:p>
            <a:r>
              <a:rPr lang="en-US" altLang="zh-CN">
                <a:ea typeface="宋体" panose="02010600030101010101" pitchFamily="2" charset="-122"/>
              </a:rPr>
              <a:t>Regarding part D:</a:t>
            </a:r>
          </a:p>
          <a:p>
            <a:r>
              <a:rPr lang="en-US" altLang="zh-CN">
                <a:ea typeface="宋体" panose="02010600030101010101" pitchFamily="2" charset="-122"/>
              </a:rPr>
              <a:t>This problem illustrates why expenditure always equals output, even when firms don’t sell everything they produce due to lackluster demand.  The point here is that unsold output is counted in inventory investment, even when that “investment” was unintentional.</a:t>
            </a:r>
          </a:p>
        </p:txBody>
      </p:sp>
    </p:spTree>
    <p:extLst>
      <p:ext uri="{BB962C8B-B14F-4D97-AF65-F5344CB8AC3E}">
        <p14:creationId xmlns:p14="http://schemas.microsoft.com/office/powerpoint/2010/main" val="3420818462"/>
      </p:ext>
    </p:extLst>
  </p:cSld>
  <p:clrMapOvr>
    <a:overrideClrMapping bg1="lt1" tx1="dk1" bg2="lt2" tx2="dk2" accent1="accent1" accent2="accent2" accent3="accent3" accent4="accent4" accent5="accent5" accent6="accent6" hlink="hlink" folHlink="folHlink"/>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1FE4B779-18FE-F014-002C-35F7EFF79301}"/>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37115C5-8950-6548-B174-B15091C5E52A}"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0179" name="Rectangle 2">
            <a:extLst>
              <a:ext uri="{FF2B5EF4-FFF2-40B4-BE49-F238E27FC236}">
                <a16:creationId xmlns:a16="http://schemas.microsoft.com/office/drawing/2014/main" id="{9452D189-46AE-A14D-2114-8513F5A81F64}"/>
              </a:ext>
            </a:extLst>
          </p:cNvPr>
          <p:cNvSpPr>
            <a:spLocks noGrp="1" noRot="1" noChangeAspect="1" noChangeArrowheads="1" noTextEdit="1"/>
          </p:cNvSpPr>
          <p:nvPr>
            <p:ph type="sldImg"/>
          </p:nvPr>
        </p:nvSpPr>
        <p:spPr/>
      </p:sp>
      <p:sp>
        <p:nvSpPr>
          <p:cNvPr id="50180" name="Rectangle 3">
            <a:extLst>
              <a:ext uri="{FF2B5EF4-FFF2-40B4-BE49-F238E27FC236}">
                <a16:creationId xmlns:a16="http://schemas.microsoft.com/office/drawing/2014/main" id="{182AF1F2-FE85-EC79-C675-CC6053914E0D}"/>
              </a:ext>
            </a:extLst>
          </p:cNvPr>
          <p:cNvSpPr>
            <a:spLocks noGrp="1" noChangeArrowheads="1"/>
          </p:cNvSpPr>
          <p:nvPr>
            <p:ph type="body" idx="1"/>
          </p:nvPr>
        </p:nvSpPr>
        <p:spPr/>
        <p:txBody>
          <a:bodyPr anchor="t"/>
          <a:lstStyle/>
          <a:p>
            <a:r>
              <a:rPr lang="en-US" altLang="zh-CN">
                <a:ea typeface="宋体" panose="02010600030101010101" pitchFamily="2" charset="-122"/>
              </a:rPr>
              <a:t>This example is similar to that in the text, but using different goods and different numerical values. </a:t>
            </a:r>
          </a:p>
          <a:p>
            <a:endParaRPr lang="en-US" altLang="zh-CN">
              <a:ea typeface="宋体" panose="02010600030101010101" pitchFamily="2" charset="-122"/>
            </a:endParaRPr>
          </a:p>
          <a:p>
            <a:r>
              <a:rPr lang="en-US" altLang="zh-CN">
                <a:ea typeface="宋体" panose="02010600030101010101" pitchFamily="2" charset="-122"/>
              </a:rPr>
              <a:t>Suggestion:  Ask your students to compute nominal GDP in each year before revealing the answers.  Ask them to compute the rate of increase before revealing the answers.  </a:t>
            </a:r>
          </a:p>
          <a:p>
            <a:endParaRPr lang="en-US" altLang="zh-CN">
              <a:ea typeface="宋体" panose="02010600030101010101" pitchFamily="2" charset="-122"/>
            </a:endParaRPr>
          </a:p>
          <a:p>
            <a:r>
              <a:rPr lang="en-US" altLang="zh-CN">
                <a:ea typeface="宋体" panose="02010600030101010101" pitchFamily="2" charset="-122"/>
              </a:rPr>
              <a:t>In this example, nominal GDP grows for two reasons:  prices are rising, and the economy is producing a larger quantity of goods.  </a:t>
            </a:r>
          </a:p>
          <a:p>
            <a:endParaRPr lang="en-US" altLang="zh-CN">
              <a:ea typeface="宋体" panose="02010600030101010101" pitchFamily="2" charset="-122"/>
            </a:endParaRPr>
          </a:p>
          <a:p>
            <a:r>
              <a:rPr lang="en-US" altLang="zh-CN">
                <a:ea typeface="宋体" panose="02010600030101010101" pitchFamily="2" charset="-122"/>
              </a:rPr>
              <a:t>Thinking of nominal GDP as total income, the increases in income will overstate the increases in society’s well-being because part of these increases are due to inflation.  </a:t>
            </a:r>
          </a:p>
          <a:p>
            <a:endParaRPr lang="en-US" altLang="zh-CN">
              <a:ea typeface="宋体" panose="02010600030101010101" pitchFamily="2" charset="-122"/>
            </a:endParaRPr>
          </a:p>
          <a:p>
            <a:r>
              <a:rPr lang="en-US" altLang="zh-CN">
                <a:ea typeface="宋体" panose="02010600030101010101" pitchFamily="2" charset="-122"/>
              </a:rPr>
              <a:t>We need a way to take out the effects of inflation, to see how much people’s incomes are growing in purchasing power terms.  That is the job of real GDP.  </a:t>
            </a:r>
          </a:p>
        </p:txBody>
      </p:sp>
    </p:spTree>
  </p:cSld>
  <p:clrMapOvr>
    <a:overrideClrMapping bg1="lt1" tx1="dk1" bg2="lt2" tx2="dk2" accent1="accent1" accent2="accent2" accent3="accent3" accent4="accent4" accent5="accent5" accent6="accent6" hlink="hlink" folHlink="folHlink"/>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98DFD8F9-4E2A-D77D-B6CC-B88167FFED74}"/>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377E738-003D-E043-93E1-72F3FC4B749C}"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2227" name="Rectangle 2">
            <a:extLst>
              <a:ext uri="{FF2B5EF4-FFF2-40B4-BE49-F238E27FC236}">
                <a16:creationId xmlns:a16="http://schemas.microsoft.com/office/drawing/2014/main" id="{F7AEC9BD-AD42-7B36-A0B6-D3BBCAF63086}"/>
              </a:ext>
            </a:extLst>
          </p:cNvPr>
          <p:cNvSpPr>
            <a:spLocks noGrp="1" noRot="1" noChangeAspect="1" noChangeArrowheads="1" noTextEdit="1"/>
          </p:cNvSpPr>
          <p:nvPr>
            <p:ph type="sldImg"/>
          </p:nvPr>
        </p:nvSpPr>
        <p:spPr/>
      </p:sp>
      <p:sp>
        <p:nvSpPr>
          <p:cNvPr id="52228" name="Rectangle 3">
            <a:extLst>
              <a:ext uri="{FF2B5EF4-FFF2-40B4-BE49-F238E27FC236}">
                <a16:creationId xmlns:a16="http://schemas.microsoft.com/office/drawing/2014/main" id="{16D505BF-B9FC-314E-4DDB-193BBA7DB75C}"/>
              </a:ext>
            </a:extLst>
          </p:cNvPr>
          <p:cNvSpPr>
            <a:spLocks noGrp="1" noChangeArrowheads="1"/>
          </p:cNvSpPr>
          <p:nvPr>
            <p:ph type="body" idx="1"/>
          </p:nvPr>
        </p:nvSpPr>
        <p:spPr/>
        <p:txBody>
          <a:bodyPr anchor="t"/>
          <a:lstStyle/>
          <a:p>
            <a:r>
              <a:rPr lang="en-US" altLang="zh-CN">
                <a:ea typeface="宋体" panose="02010600030101010101" pitchFamily="2" charset="-122"/>
              </a:rPr>
              <a:t>This example shows that real GDP in every year is constructed using the prices of the base year and that the base year doesn’t change.   </a:t>
            </a:r>
          </a:p>
          <a:p>
            <a:endParaRPr lang="en-US" altLang="zh-CN">
              <a:ea typeface="宋体" panose="02010600030101010101" pitchFamily="2" charset="-122"/>
            </a:endParaRPr>
          </a:p>
          <a:p>
            <a:r>
              <a:rPr lang="en-US" altLang="zh-CN">
                <a:ea typeface="宋体" panose="02010600030101010101" pitchFamily="2" charset="-122"/>
              </a:rPr>
              <a:t>The growth rate of real GDP from one year to the next is the answer to this question:</a:t>
            </a:r>
          </a:p>
          <a:p>
            <a:endParaRPr lang="en-US" altLang="zh-CN">
              <a:ea typeface="宋体" panose="02010600030101010101" pitchFamily="2" charset="-122"/>
            </a:endParaRPr>
          </a:p>
          <a:p>
            <a:r>
              <a:rPr lang="en-US" altLang="zh-CN">
                <a:ea typeface="宋体" panose="02010600030101010101" pitchFamily="2" charset="-122"/>
              </a:rPr>
              <a:t>“How much would GDP (and hence everyone’s income) have grown if there had been zero inflation?”</a:t>
            </a:r>
          </a:p>
          <a:p>
            <a:endParaRPr lang="en-US" altLang="zh-CN">
              <a:ea typeface="宋体" panose="02010600030101010101" pitchFamily="2" charset="-122"/>
            </a:endParaRPr>
          </a:p>
          <a:p>
            <a:r>
              <a:rPr lang="en-US" altLang="zh-CN">
                <a:ea typeface="宋体" panose="02010600030101010101" pitchFamily="2" charset="-122"/>
              </a:rPr>
              <a:t>Thus, real GDP is corrected for inflation.  </a:t>
            </a:r>
          </a:p>
        </p:txBody>
      </p:sp>
    </p:spTree>
  </p:cSld>
  <p:clrMapOvr>
    <a:overrideClrMapping bg1="lt1" tx1="dk1" bg2="lt2" tx2="dk2" accent1="accent1" accent2="accent2" accent3="accent3" accent4="accent4" accent5="accent5" accent6="accent6" hlink="hlink" folHlink="folHlink"/>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176F0545-7254-18B5-31FD-A9DA4804C942}"/>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3FE9F6D-48A6-F841-A78C-6632C50B4F0C}"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4275" name="Rectangle 2">
            <a:extLst>
              <a:ext uri="{FF2B5EF4-FFF2-40B4-BE49-F238E27FC236}">
                <a16:creationId xmlns:a16="http://schemas.microsoft.com/office/drawing/2014/main" id="{31206CB7-992A-20FE-8DDD-B0EED74B52A9}"/>
              </a:ext>
            </a:extLst>
          </p:cNvPr>
          <p:cNvSpPr>
            <a:spLocks noGrp="1" noRot="1" noChangeAspect="1" noChangeArrowheads="1" noTextEdit="1"/>
          </p:cNvSpPr>
          <p:nvPr>
            <p:ph type="sldImg"/>
          </p:nvPr>
        </p:nvSpPr>
        <p:spPr/>
      </p:sp>
      <p:sp>
        <p:nvSpPr>
          <p:cNvPr id="54276" name="Rectangle 3">
            <a:extLst>
              <a:ext uri="{FF2B5EF4-FFF2-40B4-BE49-F238E27FC236}">
                <a16:creationId xmlns:a16="http://schemas.microsoft.com/office/drawing/2014/main" id="{1116422B-65B5-BAC1-92AA-08531AA00866}"/>
              </a:ext>
            </a:extLst>
          </p:cNvPr>
          <p:cNvSpPr>
            <a:spLocks noGrp="1" noChangeArrowheads="1"/>
          </p:cNvSpPr>
          <p:nvPr>
            <p:ph type="body" idx="1"/>
          </p:nvPr>
        </p:nvSpPr>
        <p:spPr/>
        <p:txBody>
          <a:bodyPr anchor="t"/>
          <a:lstStyle/>
          <a:p>
            <a:r>
              <a:rPr lang="en-US" altLang="zh-CN">
                <a:ea typeface="宋体" panose="02010600030101010101" pitchFamily="2" charset="-122"/>
              </a:rPr>
              <a:t>The table in the top half of this slide merely summarizes the answers from the previous two slides.  This table will be used shortly to compute the growth rates in nominal and real GDP and to compute the GDP deflator and inflation rates.   </a:t>
            </a:r>
          </a:p>
        </p:txBody>
      </p:sp>
    </p:spTree>
  </p:cSld>
  <p:clrMapOvr>
    <a:overrideClrMapping bg1="lt1" tx1="dk1" bg2="lt2" tx2="dk2" accent1="accent1" accent2="accent2" accent3="accent3" accent4="accent4" accent5="accent5" accent6="accent6" hlink="hlink" folHlink="folHlink"/>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30BC06C3-C8BC-2E94-48A2-8597E0E75B37}"/>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B02F368-5DA5-D845-8F19-525997C8111A}"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6323" name="Rectangle 2">
            <a:extLst>
              <a:ext uri="{FF2B5EF4-FFF2-40B4-BE49-F238E27FC236}">
                <a16:creationId xmlns:a16="http://schemas.microsoft.com/office/drawing/2014/main" id="{50EF8ACE-C491-E375-2482-4E39D0053B4F}"/>
              </a:ext>
            </a:extLst>
          </p:cNvPr>
          <p:cNvSpPr>
            <a:spLocks noGrp="1" noRot="1" noChangeAspect="1" noChangeArrowheads="1" noTextEdit="1"/>
          </p:cNvSpPr>
          <p:nvPr>
            <p:ph type="sldImg"/>
          </p:nvPr>
        </p:nvSpPr>
        <p:spPr/>
      </p:sp>
      <p:sp>
        <p:nvSpPr>
          <p:cNvPr id="56324" name="Rectangle 3">
            <a:extLst>
              <a:ext uri="{FF2B5EF4-FFF2-40B4-BE49-F238E27FC236}">
                <a16:creationId xmlns:a16="http://schemas.microsoft.com/office/drawing/2014/main" id="{EAF904B4-2F26-F624-6212-FF54F189E39E}"/>
              </a:ext>
            </a:extLst>
          </p:cNvPr>
          <p:cNvSpPr>
            <a:spLocks noGrp="1" noChangeArrowheads="1"/>
          </p:cNvSpPr>
          <p:nvPr>
            <p:ph type="body" idx="1"/>
          </p:nvPr>
        </p:nvSpPr>
        <p:spPr/>
        <p:txBody>
          <a:bodyPr anchor="t"/>
          <a:lstStyle/>
          <a:p>
            <a:r>
              <a:rPr lang="en-US" altLang="zh-CN">
                <a:ea typeface="宋体" panose="02010600030101010101" pitchFamily="2" charset="-122"/>
              </a:rPr>
              <a:t>Again, the growth rate of real GDP from one year to the next is the answer to this question:</a:t>
            </a:r>
          </a:p>
          <a:p>
            <a:endParaRPr lang="en-US" altLang="zh-CN">
              <a:ea typeface="宋体" panose="02010600030101010101" pitchFamily="2" charset="-122"/>
            </a:endParaRPr>
          </a:p>
          <a:p>
            <a:r>
              <a:rPr lang="en-US" altLang="zh-CN">
                <a:ea typeface="宋体" panose="02010600030101010101" pitchFamily="2" charset="-122"/>
              </a:rPr>
              <a:t>“How much would GDP (and hence everyone’s income) have grown if there had been zero inflation?”</a:t>
            </a:r>
          </a:p>
          <a:p>
            <a:endParaRPr lang="en-US" altLang="zh-CN">
              <a:ea typeface="宋体" panose="02010600030101010101" pitchFamily="2" charset="-122"/>
            </a:endParaRPr>
          </a:p>
          <a:p>
            <a:r>
              <a:rPr lang="en-US" altLang="zh-CN">
                <a:ea typeface="宋体" panose="02010600030101010101" pitchFamily="2" charset="-122"/>
              </a:rPr>
              <a:t>This is why real GDP is corrected for inflation.</a:t>
            </a:r>
          </a:p>
        </p:txBody>
      </p:sp>
    </p:spTree>
  </p:cSld>
  <p:clrMapOvr>
    <a:overrideClrMapping bg1="lt1" tx1="dk1" bg2="lt2" tx2="dk2" accent1="accent1" accent2="accent2" accent3="accent3" accent4="accent4" accent5="accent5" accent6="accent6" hlink="hlink" folHlink="folHlink"/>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4A289C11-995F-282E-8651-B6CFC2E8EDFA}"/>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3C76147-9066-8F40-8956-837B3ECB99AF}"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8371" name="Rectangle 2">
            <a:extLst>
              <a:ext uri="{FF2B5EF4-FFF2-40B4-BE49-F238E27FC236}">
                <a16:creationId xmlns:a16="http://schemas.microsoft.com/office/drawing/2014/main" id="{10D7117D-2ED7-13E8-F37A-4A4170088D4D}"/>
              </a:ext>
            </a:extLst>
          </p:cNvPr>
          <p:cNvSpPr>
            <a:spLocks noGrp="1" noRot="1" noChangeAspect="1" noChangeArrowheads="1" noTextEdit="1"/>
          </p:cNvSpPr>
          <p:nvPr>
            <p:ph type="sldImg"/>
          </p:nvPr>
        </p:nvSpPr>
        <p:spPr>
          <a:xfrm>
            <a:off x="1371600" y="630238"/>
            <a:ext cx="4117975" cy="3092450"/>
          </a:xfrm>
        </p:spPr>
      </p:sp>
      <p:sp>
        <p:nvSpPr>
          <p:cNvPr id="58372" name="Rectangle 3">
            <a:extLst>
              <a:ext uri="{FF2B5EF4-FFF2-40B4-BE49-F238E27FC236}">
                <a16:creationId xmlns:a16="http://schemas.microsoft.com/office/drawing/2014/main" id="{44156DE3-B6FC-5E7C-54B3-4A3F0E4F6CB2}"/>
              </a:ext>
            </a:extLst>
          </p:cNvPr>
          <p:cNvSpPr>
            <a:spLocks noGrp="1" noChangeArrowheads="1"/>
          </p:cNvSpPr>
          <p:nvPr>
            <p:ph type="body" idx="1"/>
          </p:nvPr>
        </p:nvSpPr>
        <p:spPr>
          <a:xfrm>
            <a:off x="685800" y="3860800"/>
            <a:ext cx="5511800" cy="4994275"/>
          </a:xfrm>
        </p:spPr>
        <p:txBody>
          <a:bodyPr anchor="t"/>
          <a:lstStyle/>
          <a:p>
            <a:pPr>
              <a:lnSpc>
                <a:spcPct val="105000"/>
              </a:lnSpc>
            </a:pPr>
            <a:r>
              <a:rPr lang="en-US" altLang="zh-CN" sz="1100">
                <a:ea typeface="宋体" panose="02010600030101010101" pitchFamily="2" charset="-122"/>
              </a:rPr>
              <a:t>The source I used:  http://research.stlouisfed.org/fred2/	</a:t>
            </a:r>
          </a:p>
          <a:p>
            <a:pPr>
              <a:lnSpc>
                <a:spcPct val="105000"/>
              </a:lnSpc>
            </a:pPr>
            <a:r>
              <a:rPr lang="en-US" altLang="zh-CN" sz="1100">
                <a:ea typeface="宋体" panose="02010600030101010101" pitchFamily="2" charset="-122"/>
              </a:rPr>
              <a:t>The original source:  U.S. Department of Commerce: Bureau of Economic Analysis</a:t>
            </a:r>
          </a:p>
          <a:p>
            <a:pPr>
              <a:lnSpc>
                <a:spcPct val="105000"/>
              </a:lnSpc>
            </a:pPr>
            <a:endParaRPr lang="en-US" altLang="zh-CN" sz="1100">
              <a:ea typeface="宋体" panose="02010600030101010101" pitchFamily="2" charset="-122"/>
            </a:endParaRPr>
          </a:p>
          <a:p>
            <a:pPr>
              <a:lnSpc>
                <a:spcPct val="105000"/>
              </a:lnSpc>
            </a:pPr>
            <a:r>
              <a:rPr lang="en-US" altLang="zh-CN" sz="1100">
                <a:ea typeface="宋体" panose="02010600030101010101" pitchFamily="2" charset="-122"/>
              </a:rPr>
              <a:t>Note:  This graph is different than the one in this chapter of the textbook.  The one in the textbook excludes nominal GDP, but includes shaded vertical bars over the dates of each recession.  </a:t>
            </a:r>
          </a:p>
          <a:p>
            <a:pPr>
              <a:lnSpc>
                <a:spcPct val="105000"/>
              </a:lnSpc>
            </a:pPr>
            <a:endParaRPr lang="en-US" altLang="zh-CN" sz="1100">
              <a:ea typeface="宋体" panose="02010600030101010101" pitchFamily="2" charset="-122"/>
            </a:endParaRPr>
          </a:p>
          <a:p>
            <a:pPr>
              <a:lnSpc>
                <a:spcPct val="105000"/>
              </a:lnSpc>
            </a:pPr>
            <a:r>
              <a:rPr lang="en-US" altLang="zh-CN" sz="1100">
                <a:ea typeface="宋体" panose="02010600030101010101" pitchFamily="2" charset="-122"/>
              </a:rPr>
              <a:t>Since you have just finished covering real vs. nominal GDP, it might be worthwhile pointing out the following to your students:</a:t>
            </a:r>
          </a:p>
          <a:p>
            <a:pPr>
              <a:lnSpc>
                <a:spcPct val="105000"/>
              </a:lnSpc>
            </a:pPr>
            <a:endParaRPr lang="en-US" altLang="zh-CN" sz="1100">
              <a:ea typeface="宋体" panose="02010600030101010101" pitchFamily="2" charset="-122"/>
            </a:endParaRPr>
          </a:p>
          <a:p>
            <a:pPr>
              <a:lnSpc>
                <a:spcPct val="105000"/>
              </a:lnSpc>
            </a:pPr>
            <a:r>
              <a:rPr lang="en-US" altLang="zh-CN" sz="1100">
                <a:ea typeface="宋体" panose="02010600030101010101" pitchFamily="2" charset="-122"/>
              </a:rPr>
              <a:t>The graph shows that nominal GDP rises faster than real GDP.  This should make sense, because growth in nominal GDP is driven by growth in output AND by inflation.  Growth in real GDP is driven only by growth in output.  </a:t>
            </a:r>
          </a:p>
          <a:p>
            <a:pPr>
              <a:lnSpc>
                <a:spcPct val="105000"/>
              </a:lnSpc>
            </a:pPr>
            <a:endParaRPr lang="en-US" altLang="zh-CN" sz="1100">
              <a:ea typeface="宋体" panose="02010600030101010101" pitchFamily="2" charset="-122"/>
            </a:endParaRPr>
          </a:p>
          <a:p>
            <a:pPr>
              <a:lnSpc>
                <a:spcPct val="105000"/>
              </a:lnSpc>
            </a:pPr>
            <a:r>
              <a:rPr lang="en-US" altLang="zh-CN" sz="1100">
                <a:ea typeface="宋体" panose="02010600030101010101" pitchFamily="2" charset="-122"/>
              </a:rPr>
              <a:t>The two lines cross in the year 2000 (the base year for the real GDP data in this graph).  This should make sense because real GDP equals nominal GDP in the base year.  (Better yet, ask your students whether there’s anything significant about the point where the two lines cross.)</a:t>
            </a:r>
          </a:p>
          <a:p>
            <a:pPr>
              <a:lnSpc>
                <a:spcPct val="105000"/>
              </a:lnSpc>
            </a:pPr>
            <a:endParaRPr lang="en-US" altLang="zh-CN" sz="1100">
              <a:ea typeface="宋体" panose="02010600030101010101" pitchFamily="2" charset="-122"/>
            </a:endParaRPr>
          </a:p>
          <a:p>
            <a:pPr>
              <a:lnSpc>
                <a:spcPct val="105000"/>
              </a:lnSpc>
            </a:pPr>
            <a:r>
              <a:rPr lang="en-US" altLang="zh-CN" sz="1100">
                <a:ea typeface="宋体" panose="02010600030101010101" pitchFamily="2" charset="-122"/>
              </a:rPr>
              <a:t>Before the base year, real GDP &gt; nominal GDP.  For example, in 1970, nominal GDP is about $1 trillion, while real GDP is about $3.8 trillion (in 2000 dollars).  This should make sense because prices were so much higher in 2000 than in 1970, so using those high 2000 prices to value 1970 output would lead to a bigger result than valuing 1970 output using 1970 prices.  </a:t>
            </a:r>
          </a:p>
          <a:p>
            <a:pPr>
              <a:lnSpc>
                <a:spcPct val="105000"/>
              </a:lnSpc>
            </a:pPr>
            <a:endParaRPr lang="en-US" altLang="zh-CN" sz="1100">
              <a:ea typeface="宋体" panose="02010600030101010101" pitchFamily="2" charset="-122"/>
            </a:endParaRPr>
          </a:p>
          <a:p>
            <a:pPr>
              <a:lnSpc>
                <a:spcPct val="105000"/>
              </a:lnSpc>
            </a:pPr>
            <a:r>
              <a:rPr lang="en-US" altLang="zh-CN" sz="1100">
                <a:ea typeface="宋体" panose="02010600030101010101" pitchFamily="2" charset="-122"/>
              </a:rPr>
              <a:t>Similarly, after 2000, nominal GDP is higher than real GDP because prices are higher in later years than they were in 2000.  </a:t>
            </a:r>
          </a:p>
        </p:txBody>
      </p:sp>
    </p:spTree>
  </p:cSld>
  <p:clrMapOvr>
    <a:overrideClrMapping bg1="lt1" tx1="dk1" bg2="lt2" tx2="dk2" accent1="accent1" accent2="accent2" accent3="accent3" accent4="accent4" accent5="accent5" accent6="accent6" hlink="hlink" folHlink="folHlink"/>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094EF2B4-2DFC-D6CD-099C-070B3F56DF57}"/>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C3CE88-8AFB-8E47-91E5-DB1C3509FED4}"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0419" name="Rectangle 2">
            <a:extLst>
              <a:ext uri="{FF2B5EF4-FFF2-40B4-BE49-F238E27FC236}">
                <a16:creationId xmlns:a16="http://schemas.microsoft.com/office/drawing/2014/main" id="{FF68B9D2-D5E7-0A5D-39DA-149114D7F319}"/>
              </a:ext>
            </a:extLst>
          </p:cNvPr>
          <p:cNvSpPr>
            <a:spLocks noGrp="1" noRot="1" noChangeAspect="1" noChangeArrowheads="1" noTextEdit="1"/>
          </p:cNvSpPr>
          <p:nvPr>
            <p:ph type="sldImg"/>
          </p:nvPr>
        </p:nvSpPr>
        <p:spPr>
          <a:xfrm>
            <a:off x="1144588" y="534988"/>
            <a:ext cx="4568825" cy="3429000"/>
          </a:xfrm>
        </p:spPr>
      </p:sp>
      <p:sp>
        <p:nvSpPr>
          <p:cNvPr id="60420" name="Rectangle 3">
            <a:extLst>
              <a:ext uri="{FF2B5EF4-FFF2-40B4-BE49-F238E27FC236}">
                <a16:creationId xmlns:a16="http://schemas.microsoft.com/office/drawing/2014/main" id="{2084DAE2-FC4C-DF1A-D1EF-0B78159442EC}"/>
              </a:ext>
            </a:extLst>
          </p:cNvPr>
          <p:cNvSpPr>
            <a:spLocks noGrp="1" noChangeArrowheads="1"/>
          </p:cNvSpPr>
          <p:nvPr>
            <p:ph type="body" idx="1"/>
          </p:nvPr>
        </p:nvSpPr>
        <p:spPr>
          <a:xfrm>
            <a:off x="685800" y="4248150"/>
            <a:ext cx="5486400" cy="4210050"/>
          </a:xfrm>
        </p:spPr>
        <p:txBody>
          <a:bodyPr anchor="t"/>
          <a:lstStyle/>
          <a:p>
            <a:r>
              <a:rPr lang="en-US" altLang="zh-CN">
                <a:ea typeface="宋体" panose="02010600030101010101" pitchFamily="2" charset="-122"/>
              </a:rPr>
              <a:t>The GDP Deflator gets its name because it is used to “deflate” (i.e., take the inflation out of) nominal GDP to get real GDP.  </a:t>
            </a:r>
          </a:p>
        </p:txBody>
      </p:sp>
    </p:spTree>
  </p:cSld>
  <p:clrMapOvr>
    <a:overrideClrMapping bg1="lt1" tx1="dk1" bg2="lt2" tx2="dk2" accent1="accent1" accent2="accent2" accent3="accent3" accent4="accent4" accent5="accent5" accent6="accent6" hlink="hlink" folHlink="folHlink"/>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BDDB6804-9697-558F-B796-1A2CC12C55AE}"/>
              </a:ext>
            </a:extLst>
          </p:cNvPr>
          <p:cNvSpPr>
            <a:spLocks noGrp="1" noRot="1" noChangeAspect="1" noChangeArrowheads="1" noTextEdit="1"/>
          </p:cNvSpPr>
          <p:nvPr>
            <p:ph type="sldImg"/>
          </p:nvPr>
        </p:nvSpPr>
        <p:spPr/>
      </p:sp>
      <p:sp>
        <p:nvSpPr>
          <p:cNvPr id="63491" name="Rectangle 3">
            <a:extLst>
              <a:ext uri="{FF2B5EF4-FFF2-40B4-BE49-F238E27FC236}">
                <a16:creationId xmlns:a16="http://schemas.microsoft.com/office/drawing/2014/main" id="{0B1A6B48-4B67-DC1F-3783-B12B289441E8}"/>
              </a:ext>
            </a:extLst>
          </p:cNvPr>
          <p:cNvSpPr>
            <a:spLocks noGrp="1" noRot="1" noChangeArrowheads="1"/>
          </p:cNvSpPr>
          <p:nvPr>
            <p:ph type="body" idx="1"/>
          </p:nvPr>
        </p:nvSpPr>
        <p:spPr/>
        <p:txBody>
          <a:bodyPr/>
          <a:lstStyle/>
          <a:p>
            <a:r>
              <a:rPr lang="en-US" altLang="zh-CN">
                <a:ea typeface="宋体" panose="02010600030101010101" pitchFamily="2" charset="-122"/>
              </a:rPr>
              <a:t>The data in the table are for a hypothetical economy that produces two final goods, A and B.  For all parts of this problem, use 2007 as the base year.  </a:t>
            </a:r>
          </a:p>
          <a:p>
            <a:endParaRPr lang="en-US" altLang="zh-CN">
              <a:ea typeface="宋体" panose="02010600030101010101" pitchFamily="2" charset="-122"/>
            </a:endParaRPr>
          </a:p>
          <a:p>
            <a:r>
              <a:rPr lang="en-US" altLang="zh-CN">
                <a:ea typeface="宋体" panose="02010600030101010101" pitchFamily="2" charset="-122"/>
              </a:rPr>
              <a:t>If you’re running short on time, you can skip part A – it’s the least challenging.  If you only have time for one of the three, you might skip A and B, as C by itself covers all of the material:  it requires students to compute nominal and real GDP before they can compute the GDP deflator.</a:t>
            </a:r>
          </a:p>
        </p:txBody>
      </p:sp>
    </p:spTree>
    <p:extLst>
      <p:ext uri="{BB962C8B-B14F-4D97-AF65-F5344CB8AC3E}">
        <p14:creationId xmlns:p14="http://schemas.microsoft.com/office/powerpoint/2010/main" val="55317224"/>
      </p:ext>
    </p:extLst>
  </p:cSld>
  <p:clrMapOvr>
    <a:overrideClrMapping bg1="lt1" tx1="dk1" bg2="lt2" tx2="dk2" accent1="accent1" accent2="accent2" accent3="accent3" accent4="accent4" accent5="accent5" accent6="accent6" hlink="hlink" folHlink="folHlink"/>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F45C6E99-E91C-681E-02F2-9CC341836F22}"/>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BA05B50-B01E-3D4D-9BAD-BE3ACADF5E90}"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61</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7587" name="Rectangle 2">
            <a:extLst>
              <a:ext uri="{FF2B5EF4-FFF2-40B4-BE49-F238E27FC236}">
                <a16:creationId xmlns:a16="http://schemas.microsoft.com/office/drawing/2014/main" id="{9E81E1DC-B557-CB8A-D8E3-C12B619F024A}"/>
              </a:ext>
            </a:extLst>
          </p:cNvPr>
          <p:cNvSpPr>
            <a:spLocks noGrp="1" noRot="1" noChangeAspect="1" noChangeArrowheads="1" noTextEdit="1"/>
          </p:cNvSpPr>
          <p:nvPr>
            <p:ph type="sldImg"/>
          </p:nvPr>
        </p:nvSpPr>
        <p:spPr/>
      </p:sp>
      <p:sp>
        <p:nvSpPr>
          <p:cNvPr id="67588" name="Rectangle 3">
            <a:extLst>
              <a:ext uri="{FF2B5EF4-FFF2-40B4-BE49-F238E27FC236}">
                <a16:creationId xmlns:a16="http://schemas.microsoft.com/office/drawing/2014/main" id="{D81CE289-8786-3411-7B04-2494EFE8730B}"/>
              </a:ext>
            </a:extLst>
          </p:cNvPr>
          <p:cNvSpPr>
            <a:spLocks noGrp="1" noChangeArrowheads="1"/>
          </p:cNvSpPr>
          <p:nvPr>
            <p:ph type="body" idx="1"/>
          </p:nvPr>
        </p:nvSpPr>
        <p:spPr/>
        <p:txBody>
          <a:bodyPr anchor="t"/>
          <a:lstStyle/>
          <a:p>
            <a:r>
              <a:rPr lang="en-US" altLang="zh-CN">
                <a:ea typeface="宋体" panose="02010600030101010101" pitchFamily="2" charset="-122"/>
              </a:rPr>
              <a:t>Most economists, policymakers, social scientists, and businesspersons use a country’s real GDP per capita as the main indicator of the average person’s standard of living in that country.  </a:t>
            </a:r>
          </a:p>
          <a:p>
            <a:endParaRPr lang="zh-CN" altLang="zh-CN">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8C577581-EA6A-BBCF-F4AF-67201502A310}"/>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97C1E73-FC86-6644-91B6-373B254A3B13}"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62</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9635" name="Rectangle 2">
            <a:extLst>
              <a:ext uri="{FF2B5EF4-FFF2-40B4-BE49-F238E27FC236}">
                <a16:creationId xmlns:a16="http://schemas.microsoft.com/office/drawing/2014/main" id="{88B11B26-ACF7-C324-BA2D-F35C28876587}"/>
              </a:ext>
            </a:extLst>
          </p:cNvPr>
          <p:cNvSpPr>
            <a:spLocks noGrp="1" noRot="1" noChangeAspect="1" noChangeArrowheads="1" noTextEdit="1"/>
          </p:cNvSpPr>
          <p:nvPr>
            <p:ph type="sldImg"/>
          </p:nvPr>
        </p:nvSpPr>
        <p:spPr/>
      </p:sp>
      <p:sp>
        <p:nvSpPr>
          <p:cNvPr id="69636" name="Rectangle 3">
            <a:extLst>
              <a:ext uri="{FF2B5EF4-FFF2-40B4-BE49-F238E27FC236}">
                <a16:creationId xmlns:a16="http://schemas.microsoft.com/office/drawing/2014/main" id="{27AB0EE2-EF8D-1A05-6C25-E4FF4A685AD0}"/>
              </a:ext>
            </a:extLst>
          </p:cNvPr>
          <p:cNvSpPr>
            <a:spLocks noGrp="1" noChangeArrowheads="1"/>
          </p:cNvSpPr>
          <p:nvPr>
            <p:ph type="body" idx="1"/>
          </p:nvPr>
        </p:nvSpPr>
        <p:spPr/>
        <p:txBody>
          <a:bodyPr anchor="t"/>
          <a:lstStyle/>
          <a:p>
            <a:r>
              <a:rPr lang="en-US" altLang="zh-CN">
                <a:ea typeface="宋体" panose="02010600030101010101" pitchFamily="2" charset="-122"/>
              </a:rPr>
              <a:t>Very scathing words, indeed!  </a:t>
            </a:r>
          </a:p>
          <a:p>
            <a:endParaRPr lang="zh-CN" altLang="zh-CN">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480CAD94-3AB5-3B67-63A5-557F6A70E288}"/>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6707373-6DF6-7B48-8011-1A43965A26EA}"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63</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1683" name="Rectangle 2">
            <a:extLst>
              <a:ext uri="{FF2B5EF4-FFF2-40B4-BE49-F238E27FC236}">
                <a16:creationId xmlns:a16="http://schemas.microsoft.com/office/drawing/2014/main" id="{FCF15560-37DC-F493-EC82-D065D75D7CC9}"/>
              </a:ext>
            </a:extLst>
          </p:cNvPr>
          <p:cNvSpPr>
            <a:spLocks noGrp="1" noRot="1" noChangeAspect="1" noChangeArrowheads="1" noTextEdit="1"/>
          </p:cNvSpPr>
          <p:nvPr>
            <p:ph type="sldImg"/>
          </p:nvPr>
        </p:nvSpPr>
        <p:spPr>
          <a:xfrm>
            <a:off x="1144588" y="534988"/>
            <a:ext cx="4568825" cy="3429000"/>
          </a:xfrm>
        </p:spPr>
      </p:sp>
      <p:sp>
        <p:nvSpPr>
          <p:cNvPr id="71684" name="Rectangle 3">
            <a:extLst>
              <a:ext uri="{FF2B5EF4-FFF2-40B4-BE49-F238E27FC236}">
                <a16:creationId xmlns:a16="http://schemas.microsoft.com/office/drawing/2014/main" id="{EF255620-891F-BD45-F8FE-6E8C152D8E56}"/>
              </a:ext>
            </a:extLst>
          </p:cNvPr>
          <p:cNvSpPr>
            <a:spLocks noGrp="1" noChangeArrowheads="1"/>
          </p:cNvSpPr>
          <p:nvPr>
            <p:ph type="body" idx="1"/>
          </p:nvPr>
        </p:nvSpPr>
        <p:spPr>
          <a:xfrm>
            <a:off x="685800" y="4248150"/>
            <a:ext cx="5486400" cy="4210050"/>
          </a:xfrm>
        </p:spPr>
        <p:txBody>
          <a:bodyPr anchor="t"/>
          <a:lstStyle/>
          <a:p>
            <a:r>
              <a:rPr lang="en-US" altLang="zh-CN">
                <a:ea typeface="宋体" panose="02010600030101010101" pitchFamily="2" charset="-122"/>
              </a:rPr>
              <a:t>Much of what Robert Kennedy said about GDP is correct.  </a:t>
            </a:r>
          </a:p>
        </p:txBody>
      </p:sp>
    </p:spTree>
  </p:cSld>
  <p:clrMapOvr>
    <a:overrideClrMapping bg1="lt1" tx1="dk1" bg2="lt2" tx2="dk2" accent1="accent1" accent2="accent2" accent3="accent3" accent4="accent4" accent5="accent5" accent6="accent6" hlink="hlink" folHlink="folHlink"/>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7674C06D-EB1E-B749-6199-6212978EF76E}"/>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13F8144-B2C3-5D4A-A4D5-BBD625A91768}"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64</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3731" name="Rectangle 2">
            <a:extLst>
              <a:ext uri="{FF2B5EF4-FFF2-40B4-BE49-F238E27FC236}">
                <a16:creationId xmlns:a16="http://schemas.microsoft.com/office/drawing/2014/main" id="{E031605B-F3DE-DC3E-1D47-5E6E09490E30}"/>
              </a:ext>
            </a:extLst>
          </p:cNvPr>
          <p:cNvSpPr>
            <a:spLocks noGrp="1" noRot="1" noChangeAspect="1" noChangeArrowheads="1" noTextEdit="1"/>
          </p:cNvSpPr>
          <p:nvPr>
            <p:ph type="sldImg"/>
          </p:nvPr>
        </p:nvSpPr>
        <p:spPr>
          <a:xfrm>
            <a:off x="1144588" y="534988"/>
            <a:ext cx="4568825" cy="3429000"/>
          </a:xfrm>
        </p:spPr>
      </p:sp>
      <p:sp>
        <p:nvSpPr>
          <p:cNvPr id="73732" name="Rectangle 3">
            <a:extLst>
              <a:ext uri="{FF2B5EF4-FFF2-40B4-BE49-F238E27FC236}">
                <a16:creationId xmlns:a16="http://schemas.microsoft.com/office/drawing/2014/main" id="{EFA9FCDA-956A-A8CD-2322-DFD427255AC6}"/>
              </a:ext>
            </a:extLst>
          </p:cNvPr>
          <p:cNvSpPr>
            <a:spLocks noGrp="1" noChangeArrowheads="1"/>
          </p:cNvSpPr>
          <p:nvPr>
            <p:ph type="body" idx="1"/>
          </p:nvPr>
        </p:nvSpPr>
        <p:spPr>
          <a:xfrm>
            <a:off x="685800" y="4248150"/>
            <a:ext cx="5486400" cy="4210050"/>
          </a:xfrm>
        </p:spPr>
        <p:txBody>
          <a:bodyPr anchor="t"/>
          <a:lstStyle/>
          <a:p>
            <a:r>
              <a:rPr lang="en-US" altLang="zh-CN">
                <a:ea typeface="宋体" panose="02010600030101010101" pitchFamily="2" charset="-122"/>
              </a:rPr>
              <a:t>Then why do we care about GDP?  </a:t>
            </a:r>
          </a:p>
          <a:p>
            <a:endParaRPr lang="en-US" altLang="zh-CN">
              <a:ea typeface="宋体" panose="02010600030101010101" pitchFamily="2" charset="-122"/>
            </a:endParaRPr>
          </a:p>
          <a:p>
            <a:r>
              <a:rPr lang="en-US" altLang="zh-CN">
                <a:ea typeface="宋体" panose="02010600030101010101" pitchFamily="2" charset="-122"/>
              </a:rPr>
              <a:t>Because a large GDP does in fact help us to lead a good life.  GDP does not measure the health of our children, but nations with larger GDP can afford better health care for their children.  GDP does not measure the beauty of our poetry, but nations with larger GDP can afford to teach more of their citizens to read and enjoy poetry.  GDP does not take account of our intelligence, integrity, courage, wisdom, or devotion to country, but all of these laudable attributes are easier to foster when people are less concerned about being able to afford the material necessities of life.  </a:t>
            </a:r>
          </a:p>
          <a:p>
            <a:endParaRPr lang="en-US" altLang="zh-CN">
              <a:ea typeface="宋体" panose="02010600030101010101" pitchFamily="2" charset="-122"/>
            </a:endParaRPr>
          </a:p>
          <a:p>
            <a:r>
              <a:rPr lang="en-US" altLang="zh-CN">
                <a:ea typeface="宋体" panose="02010600030101010101" pitchFamily="2" charset="-122"/>
              </a:rPr>
              <a:t>In short, GDP does not directly measure those things that make life worthwhile, but it does measure our ability to obtain the inputs into a worthwhile life.  </a:t>
            </a:r>
          </a:p>
        </p:txBody>
      </p:sp>
    </p:spTree>
  </p:cSld>
  <p:clrMapOvr>
    <a:overrideClrMapping bg1="lt1" tx1="dk1" bg2="lt2" tx2="dk2" accent1="accent1" accent2="accent2" accent3="accent3" accent4="accent4" accent5="accent5" accent6="accent6" hlink="hlink" folHlink="folHlink"/>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E2D1D73B-6C0C-8A78-3F4B-A135CFBD58AE}"/>
              </a:ext>
            </a:extLst>
          </p:cNvPr>
          <p:cNvSpPr>
            <a:spLocks noGrp="1" noRot="1" noChangeAspect="1" noChangeArrowheads="1" noTextEdit="1"/>
          </p:cNvSpPr>
          <p:nvPr>
            <p:ph type="sldImg"/>
          </p:nvPr>
        </p:nvSpPr>
        <p:spPr/>
      </p:sp>
      <p:sp>
        <p:nvSpPr>
          <p:cNvPr id="75779" name="Rectangle 3">
            <a:extLst>
              <a:ext uri="{FF2B5EF4-FFF2-40B4-BE49-F238E27FC236}">
                <a16:creationId xmlns:a16="http://schemas.microsoft.com/office/drawing/2014/main" id="{97D8E7D9-D327-305C-E724-D43CC59E6721}"/>
              </a:ext>
            </a:extLst>
          </p:cNvPr>
          <p:cNvSpPr>
            <a:spLocks noGrp="1" noRot="1" noChangeArrowheads="1"/>
          </p:cNvSpPr>
          <p:nvPr>
            <p:ph type="body" idx="1"/>
          </p:nvPr>
        </p:nvSpPr>
        <p:spPr/>
        <p:txBody>
          <a:bodyPr/>
          <a:lstStyle/>
          <a:p>
            <a:r>
              <a:rPr lang="en-US" altLang="zh-CN">
                <a:ea typeface="宋体" panose="02010600030101010101" pitchFamily="2" charset="-122"/>
              </a:rPr>
              <a:t>This figure and the two that follow are from the data in Table 3 of the textbook.  </a:t>
            </a:r>
          </a:p>
          <a:p>
            <a:endParaRPr lang="en-US" altLang="zh-CN">
              <a:ea typeface="宋体" panose="02010600030101010101" pitchFamily="2" charset="-122"/>
            </a:endParaRPr>
          </a:p>
          <a:p>
            <a:r>
              <a:rPr lang="en-US" altLang="zh-CN">
                <a:ea typeface="宋体" panose="02010600030101010101" pitchFamily="2" charset="-122"/>
              </a:rPr>
              <a:t>Real GDP per capita figures are expressed in U.S. dollars. </a:t>
            </a:r>
          </a:p>
          <a:p>
            <a:endParaRPr lang="en-US" altLang="zh-CN">
              <a:ea typeface="宋体" panose="02010600030101010101" pitchFamily="2" charset="-122"/>
            </a:endParaRPr>
          </a:p>
          <a:p>
            <a:r>
              <a:rPr lang="en-US" altLang="zh-CN">
                <a:ea typeface="宋体" panose="02010600030101010101" pitchFamily="2" charset="-122"/>
              </a:rPr>
              <a:t>Source:  Human Development Report 2007/2008, United Nations.</a:t>
            </a:r>
          </a:p>
        </p:txBody>
      </p:sp>
    </p:spTree>
  </p:cSld>
  <p:clrMapOvr>
    <a:overrideClrMapping bg1="lt1" tx1="dk1" bg2="lt2" tx2="dk2" accent1="accent1" accent2="accent2" accent3="accent3" accent4="accent4" accent5="accent5" accent6="accent6" hlink="hlink" folHlink="folHlink"/>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AF222C6E-31BF-E967-BEF3-CE1F2FF5F61E}"/>
              </a:ext>
            </a:extLst>
          </p:cNvPr>
          <p:cNvSpPr>
            <a:spLocks noGrp="1" noRot="1" noChangeAspect="1" noChangeArrowheads="1" noTextEdit="1"/>
          </p:cNvSpPr>
          <p:nvPr>
            <p:ph type="sldImg"/>
          </p:nvPr>
        </p:nvSpPr>
        <p:spPr/>
      </p:sp>
      <p:sp>
        <p:nvSpPr>
          <p:cNvPr id="77827" name="Rectangle 3">
            <a:extLst>
              <a:ext uri="{FF2B5EF4-FFF2-40B4-BE49-F238E27FC236}">
                <a16:creationId xmlns:a16="http://schemas.microsoft.com/office/drawing/2014/main" id="{1CA90A1E-B9C2-4895-A255-702BBCEDD15E}"/>
              </a:ext>
            </a:extLst>
          </p:cNvPr>
          <p:cNvSpPr>
            <a:spLocks noGrp="1" noRot="1" noChangeArrowheads="1"/>
          </p:cNvSpPr>
          <p:nvPr>
            <p:ph type="body" idx="1"/>
          </p:nvPr>
        </p:nvSpPr>
        <p:spPr/>
        <p:txBody>
          <a:bodyPr/>
          <a:lstStyle/>
          <a:p>
            <a:r>
              <a:rPr lang="en-US" altLang="zh-CN">
                <a:ea typeface="宋体" panose="02010600030101010101" pitchFamily="2" charset="-122"/>
              </a:rPr>
              <a:t>Source:  Human Development Report 2007/2008, United Nations.</a:t>
            </a:r>
          </a:p>
        </p:txBody>
      </p:sp>
    </p:spTree>
  </p:cSld>
  <p:clrMapOvr>
    <a:overrideClrMapping bg1="lt1" tx1="dk1" bg2="lt2" tx2="dk2" accent1="accent1" accent2="accent2" accent3="accent3" accent4="accent4" accent5="accent5" accent6="accent6" hlink="hlink" folHlink="folHlink"/>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3C389D36-C8DD-782E-DB95-EB59EB23CF78}"/>
              </a:ext>
            </a:extLst>
          </p:cNvPr>
          <p:cNvSpPr>
            <a:spLocks noGrp="1" noRot="1" noChangeAspect="1" noChangeArrowheads="1" noTextEdit="1"/>
          </p:cNvSpPr>
          <p:nvPr>
            <p:ph type="sldImg"/>
          </p:nvPr>
        </p:nvSpPr>
        <p:spPr/>
      </p:sp>
      <p:sp>
        <p:nvSpPr>
          <p:cNvPr id="79875" name="Rectangle 3">
            <a:extLst>
              <a:ext uri="{FF2B5EF4-FFF2-40B4-BE49-F238E27FC236}">
                <a16:creationId xmlns:a16="http://schemas.microsoft.com/office/drawing/2014/main" id="{DB9B71E6-B7DC-395F-8C91-22512A0E28B5}"/>
              </a:ext>
            </a:extLst>
          </p:cNvPr>
          <p:cNvSpPr>
            <a:spLocks noGrp="1" noRot="1" noChangeArrowheads="1"/>
          </p:cNvSpPr>
          <p:nvPr>
            <p:ph type="body" idx="1"/>
          </p:nvPr>
        </p:nvSpPr>
        <p:spPr/>
        <p:txBody>
          <a:bodyPr/>
          <a:lstStyle/>
          <a:p>
            <a:r>
              <a:rPr lang="en-US" altLang="zh-CN">
                <a:ea typeface="宋体" panose="02010600030101010101" pitchFamily="2" charset="-122"/>
              </a:rPr>
              <a:t>Source:  Human Development Report 2007/2008, United Nations.</a:t>
            </a: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幻灯片">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r>
              <a:rPr lang="zh-CN" altLang="en-US"/>
              <a:t>单击此处编辑母版标题样式</a:t>
            </a:r>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r>
              <a:rPr lang="zh-CN" altLang="en-US"/>
              <a:t>单击此处编辑母版副标题样式</a:t>
            </a:r>
            <a:endParaRPr/>
          </a:p>
        </p:txBody>
      </p:sp>
      <p:sp>
        <p:nvSpPr>
          <p:cNvPr id="4" name="Holder 4"/>
          <p:cNvSpPr>
            <a:spLocks noGrp="1"/>
          </p:cNvSpPr>
          <p:nvPr>
            <p:ph type="ftr" sz="quarter" idx="5"/>
          </p:nvPr>
        </p:nvSpPr>
        <p:spPr>
          <a:xfrm>
            <a:off x="3569850" y="3347973"/>
            <a:ext cx="603243" cy="179536"/>
          </a:xfrm>
        </p:spPr>
        <p:txBody>
          <a:bodyPr lIns="0" tIns="0" rIns="0" bIns="0"/>
          <a:lstStyle>
            <a:lvl1pPr>
              <a:defRPr sz="600" b="0" i="0">
                <a:solidFill>
                  <a:srgbClr val="7A0000"/>
                </a:solidFill>
                <a:latin typeface="Times New Roman"/>
                <a:cs typeface="Times New Roman"/>
              </a:defRPr>
            </a:lvl1pPr>
          </a:lstStyle>
          <a:p>
            <a:pPr marL="12700">
              <a:lnSpc>
                <a:spcPts val="700"/>
              </a:lnSpc>
            </a:pPr>
            <a:r>
              <a:rPr spc="-5" dirty="0"/>
              <a:t>20</a:t>
            </a:r>
            <a:r>
              <a:rPr lang="en-US" spc="-5" dirty="0"/>
              <a:t>23</a:t>
            </a:r>
            <a:r>
              <a:rPr spc="-5" dirty="0"/>
              <a:t>-</a:t>
            </a:r>
            <a:r>
              <a:rPr lang="en-US" spc="-5" dirty="0"/>
              <a:t>February</a:t>
            </a:r>
            <a:endParaRPr spc="-5" dirty="0"/>
          </a:p>
        </p:txBody>
      </p:sp>
      <p:sp>
        <p:nvSpPr>
          <p:cNvPr id="5" name="Holder 5"/>
          <p:cNvSpPr>
            <a:spLocks noGrp="1"/>
          </p:cNvSpPr>
          <p:nvPr>
            <p:ph type="dt" sz="half" idx="6"/>
          </p:nvPr>
        </p:nvSpPr>
        <p:spPr/>
        <p:txBody>
          <a:bodyPr lIns="0" tIns="0" rIns="0" bIns="0"/>
          <a:lstStyle>
            <a:lvl1pPr>
              <a:defRPr sz="600" b="0" i="0">
                <a:solidFill>
                  <a:srgbClr val="8E0000"/>
                </a:solidFill>
                <a:latin typeface="Times New Roman"/>
                <a:cs typeface="Times New Roman"/>
              </a:defRPr>
            </a:lvl1pPr>
          </a:lstStyle>
          <a:p>
            <a:pPr marL="12700" algn="ctr">
              <a:lnSpc>
                <a:spcPts val="700"/>
              </a:lnSpc>
            </a:pPr>
            <a:r>
              <a:rPr lang="en-US" spc="-5" dirty="0" err="1"/>
              <a:t>Macreconomics</a:t>
            </a:r>
            <a:endParaRPr lang="en-US" spc="-5" dirty="0"/>
          </a:p>
        </p:txBody>
      </p:sp>
      <p:sp>
        <p:nvSpPr>
          <p:cNvPr id="6" name="Holder 6"/>
          <p:cNvSpPr>
            <a:spLocks noGrp="1"/>
          </p:cNvSpPr>
          <p:nvPr>
            <p:ph type="sldNum" sz="quarter" idx="7"/>
          </p:nvPr>
        </p:nvSpPr>
        <p:spPr>
          <a:xfrm>
            <a:off x="4173093" y="3347973"/>
            <a:ext cx="379858" cy="101600"/>
          </a:xfrm>
        </p:spPr>
        <p:txBody>
          <a:bodyPr lIns="0" tIns="0" rIns="0" bIns="0"/>
          <a:lstStyle>
            <a:lvl1pPr>
              <a:defRPr sz="600" b="0" i="0">
                <a:solidFill>
                  <a:srgbClr val="7A0000"/>
                </a:solidFill>
                <a:latin typeface="Times New Roman"/>
                <a:cs typeface="Times New Roman"/>
              </a:defRPr>
            </a:lvl1pPr>
          </a:lstStyle>
          <a:p>
            <a:pPr marL="63500">
              <a:lnSpc>
                <a:spcPts val="700"/>
              </a:lnSpc>
            </a:pPr>
            <a:fld id="{81D60167-4931-47E6-BA6A-407CBD079E47}" type="slidenum">
              <a:rPr spc="-5" dirty="0"/>
              <a:t>‹#›</a:t>
            </a:fld>
            <a:r>
              <a:rPr spc="-5" dirty="0"/>
              <a:t> /</a:t>
            </a:r>
            <a:r>
              <a:rPr spc="-80" dirty="0"/>
              <a:t> </a:t>
            </a:r>
            <a:r>
              <a:rPr spc="-5" dirty="0"/>
              <a:t>43</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Holder 2"/>
          <p:cNvSpPr>
            <a:spLocks noGrp="1"/>
          </p:cNvSpPr>
          <p:nvPr>
            <p:ph type="title"/>
          </p:nvPr>
        </p:nvSpPr>
        <p:spPr>
          <a:xfrm>
            <a:off x="95502" y="244221"/>
            <a:ext cx="4419094" cy="184666"/>
          </a:xfrm>
        </p:spPr>
        <p:txBody>
          <a:bodyPr lIns="0" tIns="0" rIns="0" bIns="0"/>
          <a:lstStyle>
            <a:lvl1pPr>
              <a:defRPr sz="1200" b="1" i="0">
                <a:solidFill>
                  <a:srgbClr val="CC0000"/>
                </a:solidFill>
                <a:latin typeface="Garamond" panose="02020404030301010803" pitchFamily="18" charset="0"/>
                <a:ea typeface="SimSun" panose="02010600030101010101" pitchFamily="2" charset="-122"/>
                <a:cs typeface="Times New Roman"/>
              </a:defRPr>
            </a:lvl1pPr>
          </a:lstStyle>
          <a:p>
            <a:r>
              <a:rPr lang="zh-CN" altLang="en-US"/>
              <a:t>单击此处编辑母版标题样式</a:t>
            </a:r>
            <a:endParaRPr/>
          </a:p>
        </p:txBody>
      </p:sp>
      <p:sp>
        <p:nvSpPr>
          <p:cNvPr id="3" name="Holder 3"/>
          <p:cNvSpPr>
            <a:spLocks noGrp="1"/>
          </p:cNvSpPr>
          <p:nvPr>
            <p:ph type="body" idx="1"/>
          </p:nvPr>
        </p:nvSpPr>
        <p:spPr>
          <a:xfrm>
            <a:off x="124842" y="777113"/>
            <a:ext cx="4360415" cy="153888"/>
          </a:xfrm>
        </p:spPr>
        <p:txBody>
          <a:bodyPr lIns="0" tIns="0" rIns="0" bIns="0"/>
          <a:lstStyle>
            <a:lvl1pPr>
              <a:defRPr sz="1000" b="0" i="0">
                <a:solidFill>
                  <a:schemeClr val="tx1"/>
                </a:solidFill>
                <a:latin typeface="Garamond" panose="02020404030301010803" pitchFamily="18" charset="0"/>
                <a:ea typeface="SimSun" panose="02010600030101010101" pitchFamily="2" charset="-122"/>
                <a:cs typeface="Times New Roman"/>
              </a:defRPr>
            </a:lvl1pPr>
          </a:lstStyle>
          <a:p>
            <a:pPr lvl="0"/>
            <a:r>
              <a:rPr lang="zh-CN" altLang="en-US"/>
              <a:t>单击此处编辑母版文本样式</a:t>
            </a:r>
          </a:p>
        </p:txBody>
      </p:sp>
      <p:sp>
        <p:nvSpPr>
          <p:cNvPr id="4" name="Holder 4"/>
          <p:cNvSpPr>
            <a:spLocks noGrp="1"/>
          </p:cNvSpPr>
          <p:nvPr>
            <p:ph type="ftr" sz="quarter" idx="5"/>
          </p:nvPr>
        </p:nvSpPr>
        <p:spPr/>
        <p:txBody>
          <a:bodyPr lIns="0" tIns="0" rIns="0" bIns="0"/>
          <a:lstStyle>
            <a:lvl1pPr>
              <a:defRPr sz="600" b="0" i="0">
                <a:solidFill>
                  <a:srgbClr val="7A0000"/>
                </a:solidFill>
                <a:latin typeface="Times New Roman"/>
                <a:cs typeface="Times New Roman"/>
              </a:defRPr>
            </a:lvl1pPr>
          </a:lstStyle>
          <a:p>
            <a:pPr marL="12700">
              <a:lnSpc>
                <a:spcPts val="700"/>
              </a:lnSpc>
            </a:pPr>
            <a:r>
              <a:rPr spc="-5" dirty="0"/>
              <a:t>2014-October</a:t>
            </a:r>
          </a:p>
        </p:txBody>
      </p:sp>
      <p:sp>
        <p:nvSpPr>
          <p:cNvPr id="5" name="Holder 5"/>
          <p:cNvSpPr>
            <a:spLocks noGrp="1"/>
          </p:cNvSpPr>
          <p:nvPr>
            <p:ph type="dt" sz="half" idx="6"/>
          </p:nvPr>
        </p:nvSpPr>
        <p:spPr/>
        <p:txBody>
          <a:bodyPr lIns="0" tIns="0" rIns="0" bIns="0"/>
          <a:lstStyle>
            <a:lvl1pPr>
              <a:defRPr sz="600" b="0" i="0">
                <a:solidFill>
                  <a:srgbClr val="8E0000"/>
                </a:solidFill>
                <a:latin typeface="Times New Roman"/>
                <a:cs typeface="Times New Roman"/>
              </a:defRPr>
            </a:lvl1pPr>
          </a:lstStyle>
          <a:p>
            <a:pPr marL="12700">
              <a:lnSpc>
                <a:spcPts val="700"/>
              </a:lnSpc>
            </a:pPr>
            <a:r>
              <a:rPr spc="-5" dirty="0"/>
              <a:t>Econometrics</a:t>
            </a:r>
            <a:r>
              <a:rPr spc="-70" dirty="0"/>
              <a:t> </a:t>
            </a:r>
            <a:r>
              <a:rPr spc="-5" dirty="0"/>
              <a:t>I</a:t>
            </a:r>
          </a:p>
        </p:txBody>
      </p:sp>
      <p:sp>
        <p:nvSpPr>
          <p:cNvPr id="6" name="Holder 6"/>
          <p:cNvSpPr>
            <a:spLocks noGrp="1"/>
          </p:cNvSpPr>
          <p:nvPr>
            <p:ph type="sldNum" sz="quarter" idx="7"/>
          </p:nvPr>
        </p:nvSpPr>
        <p:spPr/>
        <p:txBody>
          <a:bodyPr lIns="0" tIns="0" rIns="0" bIns="0"/>
          <a:lstStyle>
            <a:lvl1pPr>
              <a:defRPr sz="600" b="0" i="0">
                <a:solidFill>
                  <a:srgbClr val="7A0000"/>
                </a:solidFill>
                <a:latin typeface="Times New Roman"/>
                <a:cs typeface="Times New Roman"/>
              </a:defRPr>
            </a:lvl1pPr>
          </a:lstStyle>
          <a:p>
            <a:pPr marL="63500">
              <a:lnSpc>
                <a:spcPts val="700"/>
              </a:lnSpc>
            </a:pPr>
            <a:fld id="{81D60167-4931-47E6-BA6A-407CBD079E47}" type="slidenum">
              <a:rPr spc="-5" dirty="0"/>
              <a:t>‹#›</a:t>
            </a:fld>
            <a:r>
              <a:rPr spc="-5" dirty="0"/>
              <a:t> /</a:t>
            </a:r>
            <a:r>
              <a:rPr spc="-80" dirty="0"/>
              <a:t> </a:t>
            </a:r>
            <a:r>
              <a:rPr spc="-5" dirty="0"/>
              <a:t>43</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两栏内容">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52" y="533"/>
            <a:ext cx="4608830" cy="3456940"/>
          </a:xfrm>
          <a:custGeom>
            <a:avLst/>
            <a:gdLst/>
            <a:ahLst/>
            <a:cxnLst/>
            <a:rect l="l" t="t" r="r" b="b"/>
            <a:pathLst>
              <a:path w="4608830" h="3456940">
                <a:moveTo>
                  <a:pt x="0" y="3456432"/>
                </a:moveTo>
                <a:lnTo>
                  <a:pt x="4608576" y="3456432"/>
                </a:lnTo>
                <a:lnTo>
                  <a:pt x="4608576" y="0"/>
                </a:lnTo>
                <a:lnTo>
                  <a:pt x="0" y="0"/>
                </a:lnTo>
                <a:lnTo>
                  <a:pt x="0" y="3456432"/>
                </a:lnTo>
                <a:close/>
              </a:path>
            </a:pathLst>
          </a:custGeom>
          <a:solidFill>
            <a:srgbClr val="FEFEFE"/>
          </a:solidFill>
        </p:spPr>
        <p:txBody>
          <a:bodyPr wrap="square" lIns="0" tIns="0" rIns="0" bIns="0" rtlCol="0"/>
          <a:lstStyle/>
          <a:p>
            <a:endParaRPr/>
          </a:p>
        </p:txBody>
      </p:sp>
      <p:sp>
        <p:nvSpPr>
          <p:cNvPr id="17" name="bk object 17"/>
          <p:cNvSpPr/>
          <p:nvPr/>
        </p:nvSpPr>
        <p:spPr>
          <a:xfrm>
            <a:off x="3095104" y="3260877"/>
            <a:ext cx="43180" cy="30480"/>
          </a:xfrm>
          <a:custGeom>
            <a:avLst/>
            <a:gdLst/>
            <a:ahLst/>
            <a:cxnLst/>
            <a:rect l="l" t="t" r="r" b="b"/>
            <a:pathLst>
              <a:path w="43180" h="30479">
                <a:moveTo>
                  <a:pt x="0" y="30365"/>
                </a:moveTo>
                <a:lnTo>
                  <a:pt x="43021" y="30365"/>
                </a:lnTo>
                <a:lnTo>
                  <a:pt x="43021" y="0"/>
                </a:lnTo>
                <a:lnTo>
                  <a:pt x="0" y="0"/>
                </a:lnTo>
                <a:lnTo>
                  <a:pt x="0" y="30365"/>
                </a:lnTo>
                <a:close/>
              </a:path>
            </a:pathLst>
          </a:custGeom>
          <a:ln w="5060">
            <a:solidFill>
              <a:srgbClr val="ADADE0"/>
            </a:solidFill>
          </a:ln>
        </p:spPr>
        <p:txBody>
          <a:bodyPr wrap="square" lIns="0" tIns="0" rIns="0" bIns="0" rtlCol="0"/>
          <a:lstStyle/>
          <a:p>
            <a:endParaRPr/>
          </a:p>
        </p:txBody>
      </p:sp>
      <p:sp>
        <p:nvSpPr>
          <p:cNvPr id="18" name="bk object 18"/>
          <p:cNvSpPr/>
          <p:nvPr/>
        </p:nvSpPr>
        <p:spPr>
          <a:xfrm>
            <a:off x="3015488" y="32569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9" name="bk object 19"/>
          <p:cNvSpPr/>
          <p:nvPr/>
        </p:nvSpPr>
        <p:spPr>
          <a:xfrm>
            <a:off x="3193288" y="32569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20" name="bk object 20"/>
          <p:cNvSpPr/>
          <p:nvPr/>
        </p:nvSpPr>
        <p:spPr>
          <a:xfrm>
            <a:off x="3345357" y="3270998"/>
            <a:ext cx="43180" cy="30480"/>
          </a:xfrm>
          <a:custGeom>
            <a:avLst/>
            <a:gdLst/>
            <a:ahLst/>
            <a:cxnLst/>
            <a:rect l="l" t="t" r="r" b="b"/>
            <a:pathLst>
              <a:path w="43179" h="30479">
                <a:moveTo>
                  <a:pt x="0" y="30365"/>
                </a:moveTo>
                <a:lnTo>
                  <a:pt x="43014" y="30365"/>
                </a:lnTo>
                <a:lnTo>
                  <a:pt x="43014" y="0"/>
                </a:lnTo>
                <a:lnTo>
                  <a:pt x="0" y="0"/>
                </a:lnTo>
                <a:lnTo>
                  <a:pt x="0" y="30365"/>
                </a:lnTo>
                <a:close/>
              </a:path>
            </a:pathLst>
          </a:custGeom>
          <a:ln w="5060">
            <a:solidFill>
              <a:srgbClr val="ADADE0"/>
            </a:solidFill>
          </a:ln>
        </p:spPr>
        <p:txBody>
          <a:bodyPr wrap="square" lIns="0" tIns="0" rIns="0" bIns="0" rtlCol="0"/>
          <a:lstStyle/>
          <a:p>
            <a:endParaRPr/>
          </a:p>
        </p:txBody>
      </p:sp>
      <p:sp>
        <p:nvSpPr>
          <p:cNvPr id="21" name="bk object 21"/>
          <p:cNvSpPr/>
          <p:nvPr/>
        </p:nvSpPr>
        <p:spPr>
          <a:xfrm>
            <a:off x="3355847" y="326072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22" name="bk object 22"/>
          <p:cNvSpPr/>
          <p:nvPr/>
        </p:nvSpPr>
        <p:spPr>
          <a:xfrm>
            <a:off x="3366008" y="325056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23" name="bk object 23"/>
          <p:cNvSpPr/>
          <p:nvPr/>
        </p:nvSpPr>
        <p:spPr>
          <a:xfrm>
            <a:off x="3282188"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24" name="bk object 24"/>
          <p:cNvSpPr/>
          <p:nvPr/>
        </p:nvSpPr>
        <p:spPr>
          <a:xfrm>
            <a:off x="3636264"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bk object 25"/>
          <p:cNvSpPr/>
          <p:nvPr/>
        </p:nvSpPr>
        <p:spPr>
          <a:xfrm>
            <a:off x="3547364"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26" name="bk object 26"/>
          <p:cNvSpPr/>
          <p:nvPr/>
        </p:nvSpPr>
        <p:spPr>
          <a:xfrm>
            <a:off x="3623564" y="32505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7" name="bk object 27"/>
          <p:cNvSpPr/>
          <p:nvPr/>
        </p:nvSpPr>
        <p:spPr>
          <a:xfrm>
            <a:off x="3636264" y="32759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8" name="bk object 28"/>
          <p:cNvSpPr/>
          <p:nvPr/>
        </p:nvSpPr>
        <p:spPr>
          <a:xfrm>
            <a:off x="3623564"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9" name="bk object 29"/>
          <p:cNvSpPr/>
          <p:nvPr/>
        </p:nvSpPr>
        <p:spPr>
          <a:xfrm>
            <a:off x="3636264"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30" name="bk object 30"/>
          <p:cNvSpPr/>
          <p:nvPr/>
        </p:nvSpPr>
        <p:spPr>
          <a:xfrm>
            <a:off x="38887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1" name="bk object 31"/>
          <p:cNvSpPr/>
          <p:nvPr/>
        </p:nvSpPr>
        <p:spPr>
          <a:xfrm>
            <a:off x="39014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2" name="bk object 32"/>
          <p:cNvSpPr/>
          <p:nvPr/>
        </p:nvSpPr>
        <p:spPr>
          <a:xfrm>
            <a:off x="39014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3" name="bk object 33"/>
          <p:cNvSpPr/>
          <p:nvPr/>
        </p:nvSpPr>
        <p:spPr>
          <a:xfrm>
            <a:off x="3812540"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34" name="bk object 34"/>
          <p:cNvSpPr/>
          <p:nvPr/>
        </p:nvSpPr>
        <p:spPr>
          <a:xfrm>
            <a:off x="3888740"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35" name="bk object 35"/>
          <p:cNvSpPr/>
          <p:nvPr/>
        </p:nvSpPr>
        <p:spPr>
          <a:xfrm>
            <a:off x="3901440"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36" name="bk object 36"/>
          <p:cNvSpPr/>
          <p:nvPr/>
        </p:nvSpPr>
        <p:spPr>
          <a:xfrm>
            <a:off x="41554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7" name="bk object 37"/>
          <p:cNvSpPr/>
          <p:nvPr/>
        </p:nvSpPr>
        <p:spPr>
          <a:xfrm>
            <a:off x="41681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8" name="bk object 38"/>
          <p:cNvSpPr/>
          <p:nvPr/>
        </p:nvSpPr>
        <p:spPr>
          <a:xfrm>
            <a:off x="41681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9" name="bk object 39"/>
          <p:cNvSpPr/>
          <p:nvPr/>
        </p:nvSpPr>
        <p:spPr>
          <a:xfrm>
            <a:off x="4155440" y="32886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40" name="bk object 40"/>
          <p:cNvSpPr/>
          <p:nvPr/>
        </p:nvSpPr>
        <p:spPr>
          <a:xfrm>
            <a:off x="4168140" y="33013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41" name="bk object 41"/>
          <p:cNvSpPr/>
          <p:nvPr/>
        </p:nvSpPr>
        <p:spPr>
          <a:xfrm>
            <a:off x="4451096" y="32810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42" name="bk object 42"/>
          <p:cNvSpPr/>
          <p:nvPr/>
        </p:nvSpPr>
        <p:spPr>
          <a:xfrm>
            <a:off x="4424032" y="3254547"/>
            <a:ext cx="30480" cy="30480"/>
          </a:xfrm>
          <a:custGeom>
            <a:avLst/>
            <a:gdLst/>
            <a:ahLst/>
            <a:cxnLst/>
            <a:rect l="l" t="t" r="r" b="b"/>
            <a:pathLst>
              <a:path w="30479" h="30479">
                <a:moveTo>
                  <a:pt x="30365" y="15185"/>
                </a:moveTo>
                <a:lnTo>
                  <a:pt x="30365" y="6800"/>
                </a:lnTo>
                <a:lnTo>
                  <a:pt x="23571" y="0"/>
                </a:lnTo>
                <a:lnTo>
                  <a:pt x="15189" y="0"/>
                </a:lnTo>
                <a:lnTo>
                  <a:pt x="6794" y="0"/>
                </a:lnTo>
                <a:lnTo>
                  <a:pt x="0" y="6800"/>
                </a:lnTo>
                <a:lnTo>
                  <a:pt x="0" y="15185"/>
                </a:lnTo>
                <a:lnTo>
                  <a:pt x="0" y="23569"/>
                </a:lnTo>
                <a:lnTo>
                  <a:pt x="6794" y="30370"/>
                </a:lnTo>
                <a:lnTo>
                  <a:pt x="15189" y="30370"/>
                </a:lnTo>
                <a:lnTo>
                  <a:pt x="23571" y="30370"/>
                </a:lnTo>
                <a:lnTo>
                  <a:pt x="30365" y="23569"/>
                </a:lnTo>
                <a:lnTo>
                  <a:pt x="30365" y="15185"/>
                </a:lnTo>
                <a:close/>
              </a:path>
            </a:pathLst>
          </a:custGeom>
          <a:ln w="5060">
            <a:solidFill>
              <a:srgbClr val="ADADE0"/>
            </a:solidFill>
          </a:ln>
        </p:spPr>
        <p:txBody>
          <a:bodyPr wrap="square" lIns="0" tIns="0" rIns="0" bIns="0" rtlCol="0"/>
          <a:lstStyle/>
          <a:p>
            <a:endParaRPr/>
          </a:p>
        </p:txBody>
      </p:sp>
      <p:sp>
        <p:nvSpPr>
          <p:cNvPr id="43" name="bk object 43"/>
          <p:cNvSpPr/>
          <p:nvPr/>
        </p:nvSpPr>
        <p:spPr>
          <a:xfrm>
            <a:off x="4344416" y="3250563"/>
            <a:ext cx="50800" cy="50800"/>
          </a:xfrm>
          <a:custGeom>
            <a:avLst/>
            <a:gdLst/>
            <a:ahLst/>
            <a:cxnLst/>
            <a:rect l="l" t="t" r="r" b="b"/>
            <a:pathLst>
              <a:path w="50800" h="50800">
                <a:moveTo>
                  <a:pt x="25400" y="50800"/>
                </a:moveTo>
                <a:lnTo>
                  <a:pt x="50800" y="25400"/>
                </a:lnTo>
                <a:lnTo>
                  <a:pt x="50388" y="20849"/>
                </a:lnTo>
                <a:lnTo>
                  <a:pt x="25400" y="0"/>
                </a:lnTo>
                <a:lnTo>
                  <a:pt x="20849" y="411"/>
                </a:lnTo>
                <a:lnTo>
                  <a:pt x="411" y="20849"/>
                </a:lnTo>
                <a:lnTo>
                  <a:pt x="0" y="25400"/>
                </a:lnTo>
              </a:path>
            </a:pathLst>
          </a:custGeom>
          <a:ln w="5060">
            <a:solidFill>
              <a:srgbClr val="ADADE0"/>
            </a:solidFill>
          </a:ln>
        </p:spPr>
        <p:txBody>
          <a:bodyPr wrap="square" lIns="0" tIns="0" rIns="0" bIns="0" rtlCol="0"/>
          <a:lstStyle/>
          <a:p>
            <a:endParaRPr/>
          </a:p>
        </p:txBody>
      </p:sp>
      <p:sp>
        <p:nvSpPr>
          <p:cNvPr id="44" name="bk object 44"/>
          <p:cNvSpPr/>
          <p:nvPr/>
        </p:nvSpPr>
        <p:spPr>
          <a:xfrm>
            <a:off x="43291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45" name="bk object 45"/>
          <p:cNvSpPr/>
          <p:nvPr/>
        </p:nvSpPr>
        <p:spPr>
          <a:xfrm>
            <a:off x="4496816" y="3250563"/>
            <a:ext cx="50800" cy="50800"/>
          </a:xfrm>
          <a:custGeom>
            <a:avLst/>
            <a:gdLst/>
            <a:ahLst/>
            <a:cxnLst/>
            <a:rect l="l" t="t" r="r" b="b"/>
            <a:pathLst>
              <a:path w="50800" h="50800">
                <a:moveTo>
                  <a:pt x="25400" y="50800"/>
                </a:moveTo>
                <a:lnTo>
                  <a:pt x="0" y="25400"/>
                </a:lnTo>
                <a:lnTo>
                  <a:pt x="411" y="20849"/>
                </a:lnTo>
                <a:lnTo>
                  <a:pt x="25400" y="0"/>
                </a:lnTo>
                <a:lnTo>
                  <a:pt x="29950" y="411"/>
                </a:lnTo>
                <a:lnTo>
                  <a:pt x="50388" y="20849"/>
                </a:lnTo>
                <a:lnTo>
                  <a:pt x="50800" y="25400"/>
                </a:lnTo>
              </a:path>
            </a:pathLst>
          </a:custGeom>
          <a:ln w="5060">
            <a:solidFill>
              <a:srgbClr val="ADADE0"/>
            </a:solidFill>
          </a:ln>
        </p:spPr>
        <p:txBody>
          <a:bodyPr wrap="square" lIns="0" tIns="0" rIns="0" bIns="0" rtlCol="0"/>
          <a:lstStyle/>
          <a:p>
            <a:endParaRPr/>
          </a:p>
        </p:txBody>
      </p:sp>
      <p:sp>
        <p:nvSpPr>
          <p:cNvPr id="46" name="bk object 46"/>
          <p:cNvSpPr/>
          <p:nvPr/>
        </p:nvSpPr>
        <p:spPr>
          <a:xfrm>
            <a:off x="45323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200" b="1" i="0">
                <a:solidFill>
                  <a:srgbClr val="CC0000"/>
                </a:solidFill>
                <a:latin typeface="Times New Roman"/>
                <a:cs typeface="Times New Roman"/>
              </a:defRPr>
            </a:lvl1pPr>
          </a:lstStyle>
          <a:p>
            <a:r>
              <a:rPr lang="zh-CN" altLang="en-US"/>
              <a:t>单击此处编辑母版标题样式</a:t>
            </a:r>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pPr lvl="0"/>
            <a:r>
              <a:rPr lang="zh-CN" altLang="en-US"/>
              <a:t>单击此处编辑母版文本样式</a:t>
            </a: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pPr lvl="0"/>
            <a:r>
              <a:rPr lang="zh-CN" altLang="en-US"/>
              <a:t>单击此处编辑母版文本样式</a:t>
            </a:r>
          </a:p>
        </p:txBody>
      </p:sp>
      <p:sp>
        <p:nvSpPr>
          <p:cNvPr id="5" name="Holder 5"/>
          <p:cNvSpPr>
            <a:spLocks noGrp="1"/>
          </p:cNvSpPr>
          <p:nvPr>
            <p:ph type="ftr" sz="quarter" idx="5"/>
          </p:nvPr>
        </p:nvSpPr>
        <p:spPr/>
        <p:txBody>
          <a:bodyPr lIns="0" tIns="0" rIns="0" bIns="0"/>
          <a:lstStyle>
            <a:lvl1pPr>
              <a:defRPr sz="600" b="0" i="0">
                <a:solidFill>
                  <a:srgbClr val="7A0000"/>
                </a:solidFill>
                <a:latin typeface="Times New Roman"/>
                <a:cs typeface="Times New Roman"/>
              </a:defRPr>
            </a:lvl1pPr>
          </a:lstStyle>
          <a:p>
            <a:pPr marL="12700">
              <a:lnSpc>
                <a:spcPts val="700"/>
              </a:lnSpc>
            </a:pPr>
            <a:r>
              <a:rPr spc="-5" dirty="0"/>
              <a:t>2014-October</a:t>
            </a:r>
          </a:p>
        </p:txBody>
      </p:sp>
      <p:sp>
        <p:nvSpPr>
          <p:cNvPr id="6" name="Holder 6"/>
          <p:cNvSpPr>
            <a:spLocks noGrp="1"/>
          </p:cNvSpPr>
          <p:nvPr>
            <p:ph type="dt" sz="half" idx="6"/>
          </p:nvPr>
        </p:nvSpPr>
        <p:spPr/>
        <p:txBody>
          <a:bodyPr lIns="0" tIns="0" rIns="0" bIns="0"/>
          <a:lstStyle>
            <a:lvl1pPr>
              <a:defRPr sz="600" b="0" i="0">
                <a:solidFill>
                  <a:srgbClr val="8E0000"/>
                </a:solidFill>
                <a:latin typeface="Times New Roman"/>
                <a:cs typeface="Times New Roman"/>
              </a:defRPr>
            </a:lvl1pPr>
          </a:lstStyle>
          <a:p>
            <a:pPr marL="12700">
              <a:lnSpc>
                <a:spcPts val="700"/>
              </a:lnSpc>
            </a:pPr>
            <a:r>
              <a:rPr spc="-5" dirty="0"/>
              <a:t>Econometrics</a:t>
            </a:r>
            <a:r>
              <a:rPr spc="-70" dirty="0"/>
              <a:t> </a:t>
            </a:r>
            <a:r>
              <a:rPr spc="-5" dirty="0"/>
              <a:t>I</a:t>
            </a:r>
          </a:p>
        </p:txBody>
      </p:sp>
      <p:sp>
        <p:nvSpPr>
          <p:cNvPr id="7" name="Holder 7"/>
          <p:cNvSpPr>
            <a:spLocks noGrp="1"/>
          </p:cNvSpPr>
          <p:nvPr>
            <p:ph type="sldNum" sz="quarter" idx="7"/>
          </p:nvPr>
        </p:nvSpPr>
        <p:spPr/>
        <p:txBody>
          <a:bodyPr lIns="0" tIns="0" rIns="0" bIns="0"/>
          <a:lstStyle>
            <a:lvl1pPr>
              <a:defRPr sz="600" b="0" i="0">
                <a:solidFill>
                  <a:srgbClr val="7A0000"/>
                </a:solidFill>
                <a:latin typeface="Times New Roman"/>
                <a:cs typeface="Times New Roman"/>
              </a:defRPr>
            </a:lvl1pPr>
          </a:lstStyle>
          <a:p>
            <a:pPr marL="63500">
              <a:lnSpc>
                <a:spcPts val="700"/>
              </a:lnSpc>
            </a:pPr>
            <a:fld id="{81D60167-4931-47E6-BA6A-407CBD079E47}" type="slidenum">
              <a:rPr spc="-5" dirty="0"/>
              <a:t>‹#›</a:t>
            </a:fld>
            <a:r>
              <a:rPr spc="-5" dirty="0"/>
              <a:t> /</a:t>
            </a:r>
            <a:r>
              <a:rPr spc="-80" dirty="0"/>
              <a:t> </a:t>
            </a:r>
            <a:r>
              <a:rPr spc="-5" dirty="0"/>
              <a:t>43</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仅标题">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1" i="0">
                <a:solidFill>
                  <a:srgbClr val="CC0000"/>
                </a:solidFill>
                <a:latin typeface="Times New Roman"/>
                <a:cs typeface="Times New Roman"/>
              </a:defRPr>
            </a:lvl1pPr>
          </a:lstStyle>
          <a:p>
            <a:r>
              <a:rPr lang="zh-CN" altLang="en-US"/>
              <a:t>单击此处编辑母版标题样式</a:t>
            </a:r>
            <a:endParaRPr/>
          </a:p>
        </p:txBody>
      </p:sp>
      <p:sp>
        <p:nvSpPr>
          <p:cNvPr id="3" name="Holder 3"/>
          <p:cNvSpPr>
            <a:spLocks noGrp="1"/>
          </p:cNvSpPr>
          <p:nvPr>
            <p:ph type="ftr" sz="quarter" idx="5"/>
          </p:nvPr>
        </p:nvSpPr>
        <p:spPr/>
        <p:txBody>
          <a:bodyPr lIns="0" tIns="0" rIns="0" bIns="0"/>
          <a:lstStyle>
            <a:lvl1pPr>
              <a:defRPr sz="600" b="0" i="0">
                <a:solidFill>
                  <a:srgbClr val="7A0000"/>
                </a:solidFill>
                <a:latin typeface="Times New Roman"/>
                <a:cs typeface="Times New Roman"/>
              </a:defRPr>
            </a:lvl1pPr>
          </a:lstStyle>
          <a:p>
            <a:pPr marL="12700">
              <a:lnSpc>
                <a:spcPts val="700"/>
              </a:lnSpc>
            </a:pPr>
            <a:r>
              <a:rPr spc="-5" dirty="0"/>
              <a:t>2014-October</a:t>
            </a:r>
          </a:p>
        </p:txBody>
      </p:sp>
      <p:sp>
        <p:nvSpPr>
          <p:cNvPr id="4" name="Holder 4"/>
          <p:cNvSpPr>
            <a:spLocks noGrp="1"/>
          </p:cNvSpPr>
          <p:nvPr>
            <p:ph type="dt" sz="half" idx="6"/>
          </p:nvPr>
        </p:nvSpPr>
        <p:spPr/>
        <p:txBody>
          <a:bodyPr lIns="0" tIns="0" rIns="0" bIns="0"/>
          <a:lstStyle>
            <a:lvl1pPr>
              <a:defRPr sz="600" b="0" i="0">
                <a:solidFill>
                  <a:srgbClr val="8E0000"/>
                </a:solidFill>
                <a:latin typeface="Times New Roman"/>
                <a:cs typeface="Times New Roman"/>
              </a:defRPr>
            </a:lvl1pPr>
          </a:lstStyle>
          <a:p>
            <a:pPr marL="12700">
              <a:lnSpc>
                <a:spcPts val="700"/>
              </a:lnSpc>
            </a:pPr>
            <a:r>
              <a:rPr spc="-5" dirty="0"/>
              <a:t>Econometrics</a:t>
            </a:r>
            <a:r>
              <a:rPr spc="-70" dirty="0"/>
              <a:t> </a:t>
            </a:r>
            <a:r>
              <a:rPr spc="-5" dirty="0"/>
              <a:t>I</a:t>
            </a:r>
          </a:p>
        </p:txBody>
      </p:sp>
      <p:sp>
        <p:nvSpPr>
          <p:cNvPr id="5" name="Holder 5"/>
          <p:cNvSpPr>
            <a:spLocks noGrp="1"/>
          </p:cNvSpPr>
          <p:nvPr>
            <p:ph type="sldNum" sz="quarter" idx="7"/>
          </p:nvPr>
        </p:nvSpPr>
        <p:spPr/>
        <p:txBody>
          <a:bodyPr lIns="0" tIns="0" rIns="0" bIns="0"/>
          <a:lstStyle>
            <a:lvl1pPr>
              <a:defRPr sz="600" b="0" i="0">
                <a:solidFill>
                  <a:srgbClr val="7A0000"/>
                </a:solidFill>
                <a:latin typeface="Times New Roman"/>
                <a:cs typeface="Times New Roman"/>
              </a:defRPr>
            </a:lvl1pPr>
          </a:lstStyle>
          <a:p>
            <a:pPr marL="63500">
              <a:lnSpc>
                <a:spcPts val="700"/>
              </a:lnSpc>
            </a:pPr>
            <a:fld id="{81D60167-4931-47E6-BA6A-407CBD079E47}" type="slidenum">
              <a:rPr spc="-5" dirty="0"/>
              <a:t>‹#›</a:t>
            </a:fld>
            <a:r>
              <a:rPr spc="-5" dirty="0"/>
              <a:t> /</a:t>
            </a:r>
            <a:r>
              <a:rPr spc="-80" dirty="0"/>
              <a:t> </a:t>
            </a:r>
            <a:r>
              <a:rPr spc="-5" dirty="0"/>
              <a:t>43</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空白">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52" y="533"/>
            <a:ext cx="4608830" cy="3456940"/>
          </a:xfrm>
          <a:custGeom>
            <a:avLst/>
            <a:gdLst/>
            <a:ahLst/>
            <a:cxnLst/>
            <a:rect l="l" t="t" r="r" b="b"/>
            <a:pathLst>
              <a:path w="4608830" h="3456940">
                <a:moveTo>
                  <a:pt x="0" y="3456432"/>
                </a:moveTo>
                <a:lnTo>
                  <a:pt x="4608576" y="3456432"/>
                </a:lnTo>
                <a:lnTo>
                  <a:pt x="4608576" y="0"/>
                </a:lnTo>
                <a:lnTo>
                  <a:pt x="0" y="0"/>
                </a:lnTo>
                <a:lnTo>
                  <a:pt x="0" y="3456432"/>
                </a:lnTo>
                <a:close/>
              </a:path>
            </a:pathLst>
          </a:custGeom>
          <a:solidFill>
            <a:srgbClr val="FEFEFE"/>
          </a:solidFill>
        </p:spPr>
        <p:txBody>
          <a:bodyPr wrap="square" lIns="0" tIns="0" rIns="0" bIns="0" rtlCol="0"/>
          <a:lstStyle/>
          <a:p>
            <a:endParaRPr/>
          </a:p>
        </p:txBody>
      </p:sp>
      <p:sp>
        <p:nvSpPr>
          <p:cNvPr id="17" name="bk object 17"/>
          <p:cNvSpPr/>
          <p:nvPr/>
        </p:nvSpPr>
        <p:spPr>
          <a:xfrm>
            <a:off x="3095104" y="3260877"/>
            <a:ext cx="43180" cy="30480"/>
          </a:xfrm>
          <a:custGeom>
            <a:avLst/>
            <a:gdLst/>
            <a:ahLst/>
            <a:cxnLst/>
            <a:rect l="l" t="t" r="r" b="b"/>
            <a:pathLst>
              <a:path w="43180" h="30479">
                <a:moveTo>
                  <a:pt x="0" y="30365"/>
                </a:moveTo>
                <a:lnTo>
                  <a:pt x="43021" y="30365"/>
                </a:lnTo>
                <a:lnTo>
                  <a:pt x="43021" y="0"/>
                </a:lnTo>
                <a:lnTo>
                  <a:pt x="0" y="0"/>
                </a:lnTo>
                <a:lnTo>
                  <a:pt x="0" y="30365"/>
                </a:lnTo>
                <a:close/>
              </a:path>
            </a:pathLst>
          </a:custGeom>
          <a:ln w="5060">
            <a:solidFill>
              <a:srgbClr val="ADADE0"/>
            </a:solidFill>
          </a:ln>
        </p:spPr>
        <p:txBody>
          <a:bodyPr wrap="square" lIns="0" tIns="0" rIns="0" bIns="0" rtlCol="0"/>
          <a:lstStyle/>
          <a:p>
            <a:endParaRPr/>
          </a:p>
        </p:txBody>
      </p:sp>
      <p:sp>
        <p:nvSpPr>
          <p:cNvPr id="18" name="bk object 18"/>
          <p:cNvSpPr/>
          <p:nvPr/>
        </p:nvSpPr>
        <p:spPr>
          <a:xfrm>
            <a:off x="3015488" y="32569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9" name="bk object 19"/>
          <p:cNvSpPr/>
          <p:nvPr/>
        </p:nvSpPr>
        <p:spPr>
          <a:xfrm>
            <a:off x="3193288" y="32569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20" name="bk object 20"/>
          <p:cNvSpPr/>
          <p:nvPr/>
        </p:nvSpPr>
        <p:spPr>
          <a:xfrm>
            <a:off x="3345357" y="3270998"/>
            <a:ext cx="43180" cy="30480"/>
          </a:xfrm>
          <a:custGeom>
            <a:avLst/>
            <a:gdLst/>
            <a:ahLst/>
            <a:cxnLst/>
            <a:rect l="l" t="t" r="r" b="b"/>
            <a:pathLst>
              <a:path w="43179" h="30479">
                <a:moveTo>
                  <a:pt x="0" y="30365"/>
                </a:moveTo>
                <a:lnTo>
                  <a:pt x="43014" y="30365"/>
                </a:lnTo>
                <a:lnTo>
                  <a:pt x="43014" y="0"/>
                </a:lnTo>
                <a:lnTo>
                  <a:pt x="0" y="0"/>
                </a:lnTo>
                <a:lnTo>
                  <a:pt x="0" y="30365"/>
                </a:lnTo>
                <a:close/>
              </a:path>
            </a:pathLst>
          </a:custGeom>
          <a:ln w="5060">
            <a:solidFill>
              <a:srgbClr val="ADADE0"/>
            </a:solidFill>
          </a:ln>
        </p:spPr>
        <p:txBody>
          <a:bodyPr wrap="square" lIns="0" tIns="0" rIns="0" bIns="0" rtlCol="0"/>
          <a:lstStyle/>
          <a:p>
            <a:endParaRPr/>
          </a:p>
        </p:txBody>
      </p:sp>
      <p:sp>
        <p:nvSpPr>
          <p:cNvPr id="21" name="bk object 21"/>
          <p:cNvSpPr/>
          <p:nvPr/>
        </p:nvSpPr>
        <p:spPr>
          <a:xfrm>
            <a:off x="3355847" y="326072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22" name="bk object 22"/>
          <p:cNvSpPr/>
          <p:nvPr/>
        </p:nvSpPr>
        <p:spPr>
          <a:xfrm>
            <a:off x="3366008" y="325056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23" name="bk object 23"/>
          <p:cNvSpPr/>
          <p:nvPr/>
        </p:nvSpPr>
        <p:spPr>
          <a:xfrm>
            <a:off x="3282188"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24" name="bk object 24"/>
          <p:cNvSpPr/>
          <p:nvPr/>
        </p:nvSpPr>
        <p:spPr>
          <a:xfrm>
            <a:off x="3636264"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bk object 25"/>
          <p:cNvSpPr/>
          <p:nvPr/>
        </p:nvSpPr>
        <p:spPr>
          <a:xfrm>
            <a:off x="3547364"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26" name="bk object 26"/>
          <p:cNvSpPr/>
          <p:nvPr/>
        </p:nvSpPr>
        <p:spPr>
          <a:xfrm>
            <a:off x="3623564" y="32505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7" name="bk object 27"/>
          <p:cNvSpPr/>
          <p:nvPr/>
        </p:nvSpPr>
        <p:spPr>
          <a:xfrm>
            <a:off x="3636264" y="32759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8" name="bk object 28"/>
          <p:cNvSpPr/>
          <p:nvPr/>
        </p:nvSpPr>
        <p:spPr>
          <a:xfrm>
            <a:off x="3623564"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9" name="bk object 29"/>
          <p:cNvSpPr/>
          <p:nvPr/>
        </p:nvSpPr>
        <p:spPr>
          <a:xfrm>
            <a:off x="3636264"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30" name="bk object 30"/>
          <p:cNvSpPr/>
          <p:nvPr/>
        </p:nvSpPr>
        <p:spPr>
          <a:xfrm>
            <a:off x="38887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1" name="bk object 31"/>
          <p:cNvSpPr/>
          <p:nvPr/>
        </p:nvSpPr>
        <p:spPr>
          <a:xfrm>
            <a:off x="39014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2" name="bk object 32"/>
          <p:cNvSpPr/>
          <p:nvPr/>
        </p:nvSpPr>
        <p:spPr>
          <a:xfrm>
            <a:off x="39014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3" name="bk object 33"/>
          <p:cNvSpPr/>
          <p:nvPr/>
        </p:nvSpPr>
        <p:spPr>
          <a:xfrm>
            <a:off x="3812540"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34" name="bk object 34"/>
          <p:cNvSpPr/>
          <p:nvPr/>
        </p:nvSpPr>
        <p:spPr>
          <a:xfrm>
            <a:off x="3888740"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35" name="bk object 35"/>
          <p:cNvSpPr/>
          <p:nvPr/>
        </p:nvSpPr>
        <p:spPr>
          <a:xfrm>
            <a:off x="3901440"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36" name="bk object 36"/>
          <p:cNvSpPr/>
          <p:nvPr/>
        </p:nvSpPr>
        <p:spPr>
          <a:xfrm>
            <a:off x="41554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7" name="bk object 37"/>
          <p:cNvSpPr/>
          <p:nvPr/>
        </p:nvSpPr>
        <p:spPr>
          <a:xfrm>
            <a:off x="41681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8" name="bk object 38"/>
          <p:cNvSpPr/>
          <p:nvPr/>
        </p:nvSpPr>
        <p:spPr>
          <a:xfrm>
            <a:off x="41681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9" name="bk object 39"/>
          <p:cNvSpPr/>
          <p:nvPr/>
        </p:nvSpPr>
        <p:spPr>
          <a:xfrm>
            <a:off x="4155440" y="32886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40" name="bk object 40"/>
          <p:cNvSpPr/>
          <p:nvPr/>
        </p:nvSpPr>
        <p:spPr>
          <a:xfrm>
            <a:off x="4168140" y="33013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41" name="bk object 41"/>
          <p:cNvSpPr/>
          <p:nvPr/>
        </p:nvSpPr>
        <p:spPr>
          <a:xfrm>
            <a:off x="4451096" y="32810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42" name="bk object 42"/>
          <p:cNvSpPr/>
          <p:nvPr/>
        </p:nvSpPr>
        <p:spPr>
          <a:xfrm>
            <a:off x="4424032" y="3254547"/>
            <a:ext cx="30480" cy="30480"/>
          </a:xfrm>
          <a:custGeom>
            <a:avLst/>
            <a:gdLst/>
            <a:ahLst/>
            <a:cxnLst/>
            <a:rect l="l" t="t" r="r" b="b"/>
            <a:pathLst>
              <a:path w="30479" h="30479">
                <a:moveTo>
                  <a:pt x="30365" y="15185"/>
                </a:moveTo>
                <a:lnTo>
                  <a:pt x="30365" y="6800"/>
                </a:lnTo>
                <a:lnTo>
                  <a:pt x="23571" y="0"/>
                </a:lnTo>
                <a:lnTo>
                  <a:pt x="15189" y="0"/>
                </a:lnTo>
                <a:lnTo>
                  <a:pt x="6794" y="0"/>
                </a:lnTo>
                <a:lnTo>
                  <a:pt x="0" y="6800"/>
                </a:lnTo>
                <a:lnTo>
                  <a:pt x="0" y="15185"/>
                </a:lnTo>
                <a:lnTo>
                  <a:pt x="0" y="23569"/>
                </a:lnTo>
                <a:lnTo>
                  <a:pt x="6794" y="30370"/>
                </a:lnTo>
                <a:lnTo>
                  <a:pt x="15189" y="30370"/>
                </a:lnTo>
                <a:lnTo>
                  <a:pt x="23571" y="30370"/>
                </a:lnTo>
                <a:lnTo>
                  <a:pt x="30365" y="23569"/>
                </a:lnTo>
                <a:lnTo>
                  <a:pt x="30365" y="15185"/>
                </a:lnTo>
                <a:close/>
              </a:path>
            </a:pathLst>
          </a:custGeom>
          <a:ln w="5060">
            <a:solidFill>
              <a:srgbClr val="ADADE0"/>
            </a:solidFill>
          </a:ln>
        </p:spPr>
        <p:txBody>
          <a:bodyPr wrap="square" lIns="0" tIns="0" rIns="0" bIns="0" rtlCol="0"/>
          <a:lstStyle/>
          <a:p>
            <a:endParaRPr/>
          </a:p>
        </p:txBody>
      </p:sp>
      <p:sp>
        <p:nvSpPr>
          <p:cNvPr id="43" name="bk object 43"/>
          <p:cNvSpPr/>
          <p:nvPr/>
        </p:nvSpPr>
        <p:spPr>
          <a:xfrm>
            <a:off x="4344416" y="3250563"/>
            <a:ext cx="50800" cy="50800"/>
          </a:xfrm>
          <a:custGeom>
            <a:avLst/>
            <a:gdLst/>
            <a:ahLst/>
            <a:cxnLst/>
            <a:rect l="l" t="t" r="r" b="b"/>
            <a:pathLst>
              <a:path w="50800" h="50800">
                <a:moveTo>
                  <a:pt x="25400" y="50800"/>
                </a:moveTo>
                <a:lnTo>
                  <a:pt x="50800" y="25400"/>
                </a:lnTo>
                <a:lnTo>
                  <a:pt x="50388" y="20849"/>
                </a:lnTo>
                <a:lnTo>
                  <a:pt x="25400" y="0"/>
                </a:lnTo>
                <a:lnTo>
                  <a:pt x="20849" y="411"/>
                </a:lnTo>
                <a:lnTo>
                  <a:pt x="411" y="20849"/>
                </a:lnTo>
                <a:lnTo>
                  <a:pt x="0" y="25400"/>
                </a:lnTo>
              </a:path>
            </a:pathLst>
          </a:custGeom>
          <a:ln w="5060">
            <a:solidFill>
              <a:srgbClr val="ADADE0"/>
            </a:solidFill>
          </a:ln>
        </p:spPr>
        <p:txBody>
          <a:bodyPr wrap="square" lIns="0" tIns="0" rIns="0" bIns="0" rtlCol="0"/>
          <a:lstStyle/>
          <a:p>
            <a:endParaRPr/>
          </a:p>
        </p:txBody>
      </p:sp>
      <p:sp>
        <p:nvSpPr>
          <p:cNvPr id="44" name="bk object 44"/>
          <p:cNvSpPr/>
          <p:nvPr/>
        </p:nvSpPr>
        <p:spPr>
          <a:xfrm>
            <a:off x="43291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45" name="bk object 45"/>
          <p:cNvSpPr/>
          <p:nvPr/>
        </p:nvSpPr>
        <p:spPr>
          <a:xfrm>
            <a:off x="4496816" y="3250563"/>
            <a:ext cx="50800" cy="50800"/>
          </a:xfrm>
          <a:custGeom>
            <a:avLst/>
            <a:gdLst/>
            <a:ahLst/>
            <a:cxnLst/>
            <a:rect l="l" t="t" r="r" b="b"/>
            <a:pathLst>
              <a:path w="50800" h="50800">
                <a:moveTo>
                  <a:pt x="25400" y="50800"/>
                </a:moveTo>
                <a:lnTo>
                  <a:pt x="0" y="25400"/>
                </a:lnTo>
                <a:lnTo>
                  <a:pt x="411" y="20849"/>
                </a:lnTo>
                <a:lnTo>
                  <a:pt x="25400" y="0"/>
                </a:lnTo>
                <a:lnTo>
                  <a:pt x="29950" y="411"/>
                </a:lnTo>
                <a:lnTo>
                  <a:pt x="50388" y="20849"/>
                </a:lnTo>
                <a:lnTo>
                  <a:pt x="50800" y="25400"/>
                </a:lnTo>
              </a:path>
            </a:pathLst>
          </a:custGeom>
          <a:ln w="5060">
            <a:solidFill>
              <a:srgbClr val="ADADE0"/>
            </a:solidFill>
          </a:ln>
        </p:spPr>
        <p:txBody>
          <a:bodyPr wrap="square" lIns="0" tIns="0" rIns="0" bIns="0" rtlCol="0"/>
          <a:lstStyle/>
          <a:p>
            <a:endParaRPr/>
          </a:p>
        </p:txBody>
      </p:sp>
      <p:sp>
        <p:nvSpPr>
          <p:cNvPr id="46" name="bk object 46"/>
          <p:cNvSpPr/>
          <p:nvPr/>
        </p:nvSpPr>
        <p:spPr>
          <a:xfrm>
            <a:off x="45323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600" b="0" i="0">
                <a:solidFill>
                  <a:srgbClr val="7A0000"/>
                </a:solidFill>
                <a:latin typeface="Times New Roman"/>
                <a:cs typeface="Times New Roman"/>
              </a:defRPr>
            </a:lvl1pPr>
          </a:lstStyle>
          <a:p>
            <a:pPr marL="12700">
              <a:lnSpc>
                <a:spcPts val="700"/>
              </a:lnSpc>
            </a:pPr>
            <a:r>
              <a:rPr spc="-5" dirty="0"/>
              <a:t>2014-October</a:t>
            </a:r>
          </a:p>
        </p:txBody>
      </p:sp>
      <p:sp>
        <p:nvSpPr>
          <p:cNvPr id="3" name="Holder 3"/>
          <p:cNvSpPr>
            <a:spLocks noGrp="1"/>
          </p:cNvSpPr>
          <p:nvPr>
            <p:ph type="dt" sz="half" idx="6"/>
          </p:nvPr>
        </p:nvSpPr>
        <p:spPr/>
        <p:txBody>
          <a:bodyPr lIns="0" tIns="0" rIns="0" bIns="0"/>
          <a:lstStyle>
            <a:lvl1pPr>
              <a:defRPr sz="600" b="0" i="0">
                <a:solidFill>
                  <a:srgbClr val="8E0000"/>
                </a:solidFill>
                <a:latin typeface="Times New Roman"/>
                <a:cs typeface="Times New Roman"/>
              </a:defRPr>
            </a:lvl1pPr>
          </a:lstStyle>
          <a:p>
            <a:pPr marL="12700">
              <a:lnSpc>
                <a:spcPts val="700"/>
              </a:lnSpc>
            </a:pPr>
            <a:r>
              <a:rPr spc="-5" dirty="0"/>
              <a:t>Econometrics</a:t>
            </a:r>
            <a:r>
              <a:rPr spc="-70" dirty="0"/>
              <a:t> </a:t>
            </a:r>
            <a:r>
              <a:rPr spc="-5" dirty="0"/>
              <a:t>I</a:t>
            </a:r>
          </a:p>
        </p:txBody>
      </p:sp>
      <p:sp>
        <p:nvSpPr>
          <p:cNvPr id="4" name="Holder 4"/>
          <p:cNvSpPr>
            <a:spLocks noGrp="1"/>
          </p:cNvSpPr>
          <p:nvPr>
            <p:ph type="sldNum" sz="quarter" idx="7"/>
          </p:nvPr>
        </p:nvSpPr>
        <p:spPr/>
        <p:txBody>
          <a:bodyPr lIns="0" tIns="0" rIns="0" bIns="0"/>
          <a:lstStyle>
            <a:lvl1pPr>
              <a:defRPr sz="600" b="0" i="0">
                <a:solidFill>
                  <a:srgbClr val="7A0000"/>
                </a:solidFill>
                <a:latin typeface="Times New Roman"/>
                <a:cs typeface="Times New Roman"/>
              </a:defRPr>
            </a:lvl1pPr>
          </a:lstStyle>
          <a:p>
            <a:pPr marL="63500">
              <a:lnSpc>
                <a:spcPts val="700"/>
              </a:lnSpc>
            </a:pPr>
            <a:fld id="{81D60167-4931-47E6-BA6A-407CBD079E47}" type="slidenum">
              <a:rPr spc="-5" dirty="0"/>
              <a:t>‹#›</a:t>
            </a:fld>
            <a:r>
              <a:rPr spc="-5" dirty="0"/>
              <a:t> /</a:t>
            </a:r>
            <a:r>
              <a:rPr spc="-80" dirty="0"/>
              <a:t> </a:t>
            </a:r>
            <a:r>
              <a:rPr spc="-5" dirty="0"/>
              <a:t>43</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1935A3D-9A84-C230-12CD-A3705EF384BE}"/>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91B5931-8231-4852-0BC5-B7E3C34E2E25}"/>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19C8ED5A-B8BA-407F-1B8A-95BABBFD1137}"/>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2E8F76B5-DB72-8047-3719-8D5532E00F05}"/>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448582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2969B-25F4-19CF-7110-46FDB163AB1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8AEA5B3-4A8E-D7D9-A8CF-691963703F8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89F3023-AF92-FEB4-6931-5E03D409045A}"/>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758CCCD3-A9D2-A435-7BEA-9BE363F51E44}"/>
              </a:ext>
            </a:extLst>
          </p:cNvPr>
          <p:cNvSpPr>
            <a:spLocks noGrp="1"/>
          </p:cNvSpPr>
          <p:nvPr>
            <p:ph type="sldNum" sz="quarter" idx="11"/>
          </p:nvPr>
        </p:nvSpPr>
        <p:spPr/>
        <p:txBody>
          <a:bodyPr/>
          <a:lstStyle>
            <a:lvl1pPr>
              <a:defRPr/>
            </a:lvl1pPr>
          </a:lstStyle>
          <a:p>
            <a:fld id="{FF75CA96-F32A-7F4F-98C9-CA940BD9BB90}" type="slidenum">
              <a:rPr lang="zh-CN" altLang="zh-CN"/>
              <a:pPr/>
              <a:t>‹#›</a:t>
            </a:fld>
            <a:endParaRPr lang="en-US" altLang="zh-CN"/>
          </a:p>
        </p:txBody>
      </p:sp>
    </p:spTree>
    <p:extLst>
      <p:ext uri="{BB962C8B-B14F-4D97-AF65-F5344CB8AC3E}">
        <p14:creationId xmlns:p14="http://schemas.microsoft.com/office/powerpoint/2010/main" val="41999859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2C82CA-FB1A-B587-8FA3-E217A3974672}"/>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1C70CCF4-A08A-47F3-F87A-BD26298653B9}"/>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EA98238-AB0D-60C4-86D0-6DA654E3988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38AA8455-D023-9D39-A2C0-8F1EC0151E5F}"/>
              </a:ext>
            </a:extLst>
          </p:cNvPr>
          <p:cNvSpPr>
            <a:spLocks noGrp="1"/>
          </p:cNvSpPr>
          <p:nvPr>
            <p:ph type="sldNum" sz="quarter" idx="11"/>
          </p:nvPr>
        </p:nvSpPr>
        <p:spPr/>
        <p:txBody>
          <a:bodyPr/>
          <a:lstStyle>
            <a:lvl1pPr>
              <a:defRPr/>
            </a:lvl1pPr>
          </a:lstStyle>
          <a:p>
            <a:fld id="{4BC52F8A-5993-F941-9059-8758F3FCE6C7}" type="slidenum">
              <a:rPr lang="zh-CN" altLang="zh-CN"/>
              <a:pPr/>
              <a:t>‹#›</a:t>
            </a:fld>
            <a:endParaRPr lang="en-US" altLang="zh-CN"/>
          </a:p>
        </p:txBody>
      </p:sp>
    </p:spTree>
    <p:extLst>
      <p:ext uri="{BB962C8B-B14F-4D97-AF65-F5344CB8AC3E}">
        <p14:creationId xmlns:p14="http://schemas.microsoft.com/office/powerpoint/2010/main" val="1062031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06021E-9DB9-20E1-A73F-C9B46526E6B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2997747-9F0F-1660-7476-A2BA9EB7C9AB}"/>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9907E63-7377-4DAC-EE38-72500CA49B65}"/>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0AAACD4D-BBDD-427B-B352-CFC4A69F84A7}"/>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F807AA87-8918-41FF-A4ED-1B9F17A6C0C9}"/>
              </a:ext>
            </a:extLst>
          </p:cNvPr>
          <p:cNvSpPr>
            <a:spLocks noGrp="1"/>
          </p:cNvSpPr>
          <p:nvPr>
            <p:ph type="sldNum" sz="quarter" idx="11"/>
          </p:nvPr>
        </p:nvSpPr>
        <p:spPr/>
        <p:txBody>
          <a:bodyPr/>
          <a:lstStyle>
            <a:lvl1pPr>
              <a:defRPr/>
            </a:lvl1pPr>
          </a:lstStyle>
          <a:p>
            <a:fld id="{AE84F7AA-C74F-4642-B3C6-9CC2F1DD8A1E}" type="slidenum">
              <a:rPr lang="zh-CN" altLang="zh-CN"/>
              <a:pPr/>
              <a:t>‹#›</a:t>
            </a:fld>
            <a:endParaRPr lang="en-US" altLang="zh-CN"/>
          </a:p>
        </p:txBody>
      </p:sp>
    </p:spTree>
    <p:extLst>
      <p:ext uri="{BB962C8B-B14F-4D97-AF65-F5344CB8AC3E}">
        <p14:creationId xmlns:p14="http://schemas.microsoft.com/office/powerpoint/2010/main" val="355671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05AFB8-249E-4E4B-38E2-F236687409D4}"/>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2D370CB-90B1-3528-0CBE-C148F9BEEB01}"/>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AC02913-2448-1E14-5C79-F80BF6D03945}"/>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C42B077-084E-4D0D-3F33-500F816EBB4E}"/>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D1C847C-3D3C-65FB-F047-D6766F5E8447}"/>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D7830D2-8EC1-AA78-A964-BF68F3FE0B01}"/>
              </a:ext>
            </a:extLst>
          </p:cNvPr>
          <p:cNvSpPr>
            <a:spLocks noGrp="1"/>
          </p:cNvSpPr>
          <p:nvPr>
            <p:ph type="ftr" sz="quarter" idx="10"/>
          </p:nvPr>
        </p:nvSpPr>
        <p:spPr/>
        <p:txBody>
          <a:bodyPr/>
          <a:lstStyle>
            <a:lvl1pPr>
              <a:defRPr/>
            </a:lvl1pPr>
          </a:lstStyle>
          <a:p>
            <a:r>
              <a:rPr lang="zh-CN" altLang="zh-CN"/>
              <a:t>一国收入的衡量</a:t>
            </a:r>
          </a:p>
        </p:txBody>
      </p:sp>
      <p:sp>
        <p:nvSpPr>
          <p:cNvPr id="8" name="灯片编号占位符 7">
            <a:extLst>
              <a:ext uri="{FF2B5EF4-FFF2-40B4-BE49-F238E27FC236}">
                <a16:creationId xmlns:a16="http://schemas.microsoft.com/office/drawing/2014/main" id="{2AC4B6E4-73A7-D3AB-840B-5797034BD258}"/>
              </a:ext>
            </a:extLst>
          </p:cNvPr>
          <p:cNvSpPr>
            <a:spLocks noGrp="1"/>
          </p:cNvSpPr>
          <p:nvPr>
            <p:ph type="sldNum" sz="quarter" idx="11"/>
          </p:nvPr>
        </p:nvSpPr>
        <p:spPr/>
        <p:txBody>
          <a:bodyPr/>
          <a:lstStyle>
            <a:lvl1pPr>
              <a:defRPr/>
            </a:lvl1pPr>
          </a:lstStyle>
          <a:p>
            <a:fld id="{97981451-FC73-D44F-A0E8-CF0A9828A28E}" type="slidenum">
              <a:rPr lang="zh-CN" altLang="zh-CN"/>
              <a:pPr/>
              <a:t>‹#›</a:t>
            </a:fld>
            <a:endParaRPr lang="en-US" altLang="zh-CN"/>
          </a:p>
        </p:txBody>
      </p:sp>
    </p:spTree>
    <p:extLst>
      <p:ext uri="{BB962C8B-B14F-4D97-AF65-F5344CB8AC3E}">
        <p14:creationId xmlns:p14="http://schemas.microsoft.com/office/powerpoint/2010/main" val="3355154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3326B6-F9B5-C4FE-D19D-A44CB462F287}"/>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546BCEE-6FE9-1F0F-8B04-352FFA526B05}"/>
              </a:ext>
            </a:extLst>
          </p:cNvPr>
          <p:cNvSpPr>
            <a:spLocks noGrp="1"/>
          </p:cNvSpPr>
          <p:nvPr>
            <p:ph type="ftr" sz="quarter" idx="10"/>
          </p:nvPr>
        </p:nvSpPr>
        <p:spPr/>
        <p:txBody>
          <a:bodyPr/>
          <a:lstStyle>
            <a:lvl1pPr>
              <a:defRPr/>
            </a:lvl1pPr>
          </a:lstStyle>
          <a:p>
            <a:r>
              <a:rPr lang="zh-CN" altLang="zh-CN"/>
              <a:t>一国收入的衡量</a:t>
            </a:r>
          </a:p>
        </p:txBody>
      </p:sp>
      <p:sp>
        <p:nvSpPr>
          <p:cNvPr id="4" name="灯片编号占位符 3">
            <a:extLst>
              <a:ext uri="{FF2B5EF4-FFF2-40B4-BE49-F238E27FC236}">
                <a16:creationId xmlns:a16="http://schemas.microsoft.com/office/drawing/2014/main" id="{D05CFC99-3A41-48E5-7D43-D8F6C33950F8}"/>
              </a:ext>
            </a:extLst>
          </p:cNvPr>
          <p:cNvSpPr>
            <a:spLocks noGrp="1"/>
          </p:cNvSpPr>
          <p:nvPr>
            <p:ph type="sldNum" sz="quarter" idx="11"/>
          </p:nvPr>
        </p:nvSpPr>
        <p:spPr/>
        <p:txBody>
          <a:bodyPr/>
          <a:lstStyle>
            <a:lvl1pPr>
              <a:defRPr/>
            </a:lvl1pPr>
          </a:lstStyle>
          <a:p>
            <a:fld id="{E81E734D-8C0F-6D40-9298-031592D104B3}" type="slidenum">
              <a:rPr lang="zh-CN" altLang="zh-CN"/>
              <a:pPr/>
              <a:t>‹#›</a:t>
            </a:fld>
            <a:endParaRPr lang="en-US" altLang="zh-CN"/>
          </a:p>
        </p:txBody>
      </p:sp>
    </p:spTree>
    <p:extLst>
      <p:ext uri="{BB962C8B-B14F-4D97-AF65-F5344CB8AC3E}">
        <p14:creationId xmlns:p14="http://schemas.microsoft.com/office/powerpoint/2010/main" val="11462664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DBA7C99-02A5-B5FE-F091-24A24365F0ED}"/>
              </a:ext>
            </a:extLst>
          </p:cNvPr>
          <p:cNvSpPr>
            <a:spLocks noGrp="1"/>
          </p:cNvSpPr>
          <p:nvPr>
            <p:ph type="ftr" sz="quarter" idx="10"/>
          </p:nvPr>
        </p:nvSpPr>
        <p:spPr/>
        <p:txBody>
          <a:bodyPr/>
          <a:lstStyle>
            <a:lvl1pPr>
              <a:defRPr/>
            </a:lvl1pPr>
          </a:lstStyle>
          <a:p>
            <a:r>
              <a:rPr lang="zh-CN" altLang="zh-CN"/>
              <a:t>一国收入的衡量</a:t>
            </a:r>
          </a:p>
        </p:txBody>
      </p:sp>
      <p:sp>
        <p:nvSpPr>
          <p:cNvPr id="3" name="灯片编号占位符 2">
            <a:extLst>
              <a:ext uri="{FF2B5EF4-FFF2-40B4-BE49-F238E27FC236}">
                <a16:creationId xmlns:a16="http://schemas.microsoft.com/office/drawing/2014/main" id="{07D6182D-7913-6BAF-1D42-EA8A1E69B9C9}"/>
              </a:ext>
            </a:extLst>
          </p:cNvPr>
          <p:cNvSpPr>
            <a:spLocks noGrp="1"/>
          </p:cNvSpPr>
          <p:nvPr>
            <p:ph type="sldNum" sz="quarter" idx="11"/>
          </p:nvPr>
        </p:nvSpPr>
        <p:spPr/>
        <p:txBody>
          <a:bodyPr/>
          <a:lstStyle>
            <a:lvl1pPr>
              <a:defRPr/>
            </a:lvl1pPr>
          </a:lstStyle>
          <a:p>
            <a:fld id="{8FC9ECCE-9A67-6F4D-96F4-AF59AF685F27}" type="slidenum">
              <a:rPr lang="zh-CN" altLang="zh-CN"/>
              <a:pPr/>
              <a:t>‹#›</a:t>
            </a:fld>
            <a:endParaRPr lang="en-US" altLang="zh-CN"/>
          </a:p>
        </p:txBody>
      </p:sp>
    </p:spTree>
    <p:extLst>
      <p:ext uri="{BB962C8B-B14F-4D97-AF65-F5344CB8AC3E}">
        <p14:creationId xmlns:p14="http://schemas.microsoft.com/office/powerpoint/2010/main" val="15672151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698957-A6CA-4DCA-9EBD-104E13C2511F}"/>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ADF2D2DD-7EAD-C198-8156-80E75A539679}"/>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93CE5EA-1FFA-802A-BA18-3B5A7CA17265}"/>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33BE68B-D6E4-6525-920B-C21DEFD5950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396AD26E-8095-F0DF-CF80-77F8B7CB9CCB}"/>
              </a:ext>
            </a:extLst>
          </p:cNvPr>
          <p:cNvSpPr>
            <a:spLocks noGrp="1"/>
          </p:cNvSpPr>
          <p:nvPr>
            <p:ph type="sldNum" sz="quarter" idx="11"/>
          </p:nvPr>
        </p:nvSpPr>
        <p:spPr/>
        <p:txBody>
          <a:bodyPr/>
          <a:lstStyle>
            <a:lvl1pPr>
              <a:defRPr/>
            </a:lvl1pPr>
          </a:lstStyle>
          <a:p>
            <a:fld id="{F4D19EBE-0DD8-064C-BD84-2B44820FB47D}" type="slidenum">
              <a:rPr lang="zh-CN" altLang="zh-CN"/>
              <a:pPr/>
              <a:t>‹#›</a:t>
            </a:fld>
            <a:endParaRPr lang="en-US" altLang="zh-CN"/>
          </a:p>
        </p:txBody>
      </p:sp>
    </p:spTree>
    <p:extLst>
      <p:ext uri="{BB962C8B-B14F-4D97-AF65-F5344CB8AC3E}">
        <p14:creationId xmlns:p14="http://schemas.microsoft.com/office/powerpoint/2010/main" val="13209503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0D1473-EDF3-A6F4-9AC2-F83CFF9A260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D778AB14-D248-DBF6-4FCB-531DC4C3B2CF}"/>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7F66A29A-D42B-4877-586D-ED45FF448D09}"/>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631EF206-C39B-0A75-CE85-8E32D4BECF9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CFFF9A0C-7C84-334E-2DD0-22ACCD0C4D06}"/>
              </a:ext>
            </a:extLst>
          </p:cNvPr>
          <p:cNvSpPr>
            <a:spLocks noGrp="1"/>
          </p:cNvSpPr>
          <p:nvPr>
            <p:ph type="sldNum" sz="quarter" idx="11"/>
          </p:nvPr>
        </p:nvSpPr>
        <p:spPr/>
        <p:txBody>
          <a:bodyPr/>
          <a:lstStyle>
            <a:lvl1pPr>
              <a:defRPr/>
            </a:lvl1pPr>
          </a:lstStyle>
          <a:p>
            <a:fld id="{0CA6175B-25A3-0348-9995-252FAA117B57}" type="slidenum">
              <a:rPr lang="zh-CN" altLang="zh-CN"/>
              <a:pPr/>
              <a:t>‹#›</a:t>
            </a:fld>
            <a:endParaRPr lang="en-US" altLang="zh-CN"/>
          </a:p>
        </p:txBody>
      </p:sp>
    </p:spTree>
    <p:extLst>
      <p:ext uri="{BB962C8B-B14F-4D97-AF65-F5344CB8AC3E}">
        <p14:creationId xmlns:p14="http://schemas.microsoft.com/office/powerpoint/2010/main" val="30773254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2BB31E-358D-AED5-28AE-60318A5F80C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9905587-FCC5-EAE6-593F-46F1E7E358E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803DE6D-37CC-5638-DA07-FD884825E5E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F54638FC-90B0-31EB-D5BD-4B52DE14C60F}"/>
              </a:ext>
            </a:extLst>
          </p:cNvPr>
          <p:cNvSpPr>
            <a:spLocks noGrp="1"/>
          </p:cNvSpPr>
          <p:nvPr>
            <p:ph type="sldNum" sz="quarter" idx="11"/>
          </p:nvPr>
        </p:nvSpPr>
        <p:spPr/>
        <p:txBody>
          <a:bodyPr/>
          <a:lstStyle>
            <a:lvl1pPr>
              <a:defRPr/>
            </a:lvl1pPr>
          </a:lstStyle>
          <a:p>
            <a:fld id="{87C2A238-9660-194D-A420-58FAEDDE43DF}" type="slidenum">
              <a:rPr lang="zh-CN" altLang="zh-CN"/>
              <a:pPr/>
              <a:t>‹#›</a:t>
            </a:fld>
            <a:endParaRPr lang="en-US" altLang="zh-CN"/>
          </a:p>
        </p:txBody>
      </p:sp>
    </p:spTree>
    <p:extLst>
      <p:ext uri="{BB962C8B-B14F-4D97-AF65-F5344CB8AC3E}">
        <p14:creationId xmlns:p14="http://schemas.microsoft.com/office/powerpoint/2010/main" val="1039225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28693FB-E290-D71F-D054-241792819295}"/>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4A3DB65-3656-3B1B-B8BA-7287FE9BA80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3CC8F5D0-50A9-4805-F724-3EC1E4B8C50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49A068E9-7CF4-BE31-5C02-B726FD63E3D8}"/>
              </a:ext>
            </a:extLst>
          </p:cNvPr>
          <p:cNvSpPr>
            <a:spLocks noGrp="1"/>
          </p:cNvSpPr>
          <p:nvPr>
            <p:ph type="sldNum" sz="quarter" idx="11"/>
          </p:nvPr>
        </p:nvSpPr>
        <p:spPr/>
        <p:txBody>
          <a:bodyPr/>
          <a:lstStyle>
            <a:lvl1pPr>
              <a:defRPr/>
            </a:lvl1pPr>
          </a:lstStyle>
          <a:p>
            <a:fld id="{BB8105D9-7A7C-6B49-807E-0CBDD1F99FD3}" type="slidenum">
              <a:rPr lang="zh-CN" altLang="zh-CN"/>
              <a:pPr/>
              <a:t>‹#›</a:t>
            </a:fld>
            <a:endParaRPr lang="en-US" altLang="zh-CN"/>
          </a:p>
        </p:txBody>
      </p:sp>
    </p:spTree>
    <p:extLst>
      <p:ext uri="{BB962C8B-B14F-4D97-AF65-F5344CB8AC3E}">
        <p14:creationId xmlns:p14="http://schemas.microsoft.com/office/powerpoint/2010/main" val="14602892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345758" y="566377"/>
            <a:ext cx="3918585" cy="1204854"/>
          </a:xfrm>
        </p:spPr>
        <p:txBody>
          <a:bodyPr anchor="b"/>
          <a:lstStyle>
            <a:lvl1pPr algn="ctr">
              <a:defRPr sz="3025"/>
            </a:lvl1pPr>
          </a:lstStyle>
          <a:p>
            <a:r>
              <a:rPr lang="zh-CN" altLang="en-US"/>
              <a:t>单击此处编辑母版标题样式</a:t>
            </a:r>
            <a:endParaRPr lang="en-US" dirty="0"/>
          </a:p>
        </p:txBody>
      </p:sp>
      <p:sp>
        <p:nvSpPr>
          <p:cNvPr id="3" name="Subtitle 2"/>
          <p:cNvSpPr>
            <a:spLocks noGrp="1"/>
          </p:cNvSpPr>
          <p:nvPr>
            <p:ph type="subTitle" idx="1"/>
          </p:nvPr>
        </p:nvSpPr>
        <p:spPr>
          <a:xfrm>
            <a:off x="576263" y="1817695"/>
            <a:ext cx="3457575" cy="835547"/>
          </a:xfrm>
        </p:spPr>
        <p:txBody>
          <a:bodyPr/>
          <a:lstStyle>
            <a:lvl1pPr marL="0" indent="0" algn="ctr">
              <a:buNone/>
              <a:defRPr sz="1210"/>
            </a:lvl1pPr>
            <a:lvl2pPr marL="230520" indent="0" algn="ctr">
              <a:buNone/>
              <a:defRPr sz="1008"/>
            </a:lvl2pPr>
            <a:lvl3pPr marL="461040" indent="0" algn="ctr">
              <a:buNone/>
              <a:defRPr sz="908"/>
            </a:lvl3pPr>
            <a:lvl4pPr marL="691561" indent="0" algn="ctr">
              <a:buNone/>
              <a:defRPr sz="807"/>
            </a:lvl4pPr>
            <a:lvl5pPr marL="922081" indent="0" algn="ctr">
              <a:buNone/>
              <a:defRPr sz="807"/>
            </a:lvl5pPr>
            <a:lvl6pPr marL="1152601" indent="0" algn="ctr">
              <a:buNone/>
              <a:defRPr sz="807"/>
            </a:lvl6pPr>
            <a:lvl7pPr marL="1383121" indent="0" algn="ctr">
              <a:buNone/>
              <a:defRPr sz="807"/>
            </a:lvl7pPr>
            <a:lvl8pPr marL="1613642" indent="0" algn="ctr">
              <a:buNone/>
              <a:defRPr sz="807"/>
            </a:lvl8pPr>
            <a:lvl9pPr marL="1844162" indent="0" algn="ctr">
              <a:buNone/>
              <a:defRPr sz="807"/>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lvl1pPr>
              <a:defRPr/>
            </a:lvl1pPr>
          </a:lstStyle>
          <a:p>
            <a:pPr>
              <a:defRPr/>
            </a:pPr>
            <a:fld id="{9B404B6B-F219-48D2-B538-6D799E07C711}" type="datetime1">
              <a:rPr lang="zh-CN" altLang="en-US" smtClean="0"/>
              <a:t>2025/2/18</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164AE66C-D93E-4875-B9B4-E980903F94FB}" type="slidenum">
              <a:rPr lang="zh-CN" altLang="en-US"/>
              <a:pPr>
                <a:defRPr/>
              </a:pPr>
              <a:t>‹#›</a:t>
            </a:fld>
            <a:endParaRPr lang="zh-CN" altLang="en-US"/>
          </a:p>
        </p:txBody>
      </p:sp>
    </p:spTree>
    <p:extLst>
      <p:ext uri="{BB962C8B-B14F-4D97-AF65-F5344CB8AC3E}">
        <p14:creationId xmlns:p14="http://schemas.microsoft.com/office/powerpoint/2010/main" val="32252251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88E74CBE-2322-4706-A00B-18479DB58106}" type="datetime1">
              <a:rPr lang="zh-CN" altLang="en-US" smtClean="0"/>
              <a:t>2025/2/18</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FAD6B5C5-F173-4E8F-B7DC-6ED3A3EC0E6C}" type="slidenum">
              <a:rPr lang="zh-CN" altLang="en-US"/>
              <a:pPr>
                <a:defRPr/>
              </a:pPr>
              <a:t>‹#›</a:t>
            </a:fld>
            <a:endParaRPr lang="zh-CN" altLang="en-US"/>
          </a:p>
        </p:txBody>
      </p:sp>
    </p:spTree>
    <p:extLst>
      <p:ext uri="{BB962C8B-B14F-4D97-AF65-F5344CB8AC3E}">
        <p14:creationId xmlns:p14="http://schemas.microsoft.com/office/powerpoint/2010/main" val="28364905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endParaRPr lang="en-US" dirty="0"/>
          </a:p>
        </p:txBody>
      </p:sp>
      <p:sp>
        <p:nvSpPr>
          <p:cNvPr id="3" name="Text Placeholder 2"/>
          <p:cNvSpPr>
            <a:spLocks noGrp="1"/>
          </p:cNvSpPr>
          <p:nvPr>
            <p:ph type="body" idx="1"/>
          </p:nvPr>
        </p:nvSpPr>
        <p:spPr>
          <a:xfrm>
            <a:off x="314544" y="2315980"/>
            <a:ext cx="3976211" cy="757039"/>
          </a:xfrm>
        </p:spPr>
        <p:txBody>
          <a:bodyPr/>
          <a:lstStyle>
            <a:lvl1pPr marL="0" indent="0">
              <a:buNone/>
              <a:defRPr sz="1210">
                <a:solidFill>
                  <a:schemeClr val="tx1"/>
                </a:solidFill>
              </a:defRPr>
            </a:lvl1pPr>
            <a:lvl2pPr marL="230520" indent="0">
              <a:buNone/>
              <a:defRPr sz="1008">
                <a:solidFill>
                  <a:schemeClr val="tx1">
                    <a:tint val="75000"/>
                  </a:schemeClr>
                </a:solidFill>
              </a:defRPr>
            </a:lvl2pPr>
            <a:lvl3pPr marL="461040" indent="0">
              <a:buNone/>
              <a:defRPr sz="908">
                <a:solidFill>
                  <a:schemeClr val="tx1">
                    <a:tint val="75000"/>
                  </a:schemeClr>
                </a:solidFill>
              </a:defRPr>
            </a:lvl3pPr>
            <a:lvl4pPr marL="691561" indent="0">
              <a:buNone/>
              <a:defRPr sz="807">
                <a:solidFill>
                  <a:schemeClr val="tx1">
                    <a:tint val="75000"/>
                  </a:schemeClr>
                </a:solidFill>
              </a:defRPr>
            </a:lvl4pPr>
            <a:lvl5pPr marL="922081" indent="0">
              <a:buNone/>
              <a:defRPr sz="807">
                <a:solidFill>
                  <a:schemeClr val="tx1">
                    <a:tint val="75000"/>
                  </a:schemeClr>
                </a:solidFill>
              </a:defRPr>
            </a:lvl5pPr>
            <a:lvl6pPr marL="1152601" indent="0">
              <a:buNone/>
              <a:defRPr sz="807">
                <a:solidFill>
                  <a:schemeClr val="tx1">
                    <a:tint val="75000"/>
                  </a:schemeClr>
                </a:solidFill>
              </a:defRPr>
            </a:lvl6pPr>
            <a:lvl7pPr marL="1383121" indent="0">
              <a:buNone/>
              <a:defRPr sz="807">
                <a:solidFill>
                  <a:schemeClr val="tx1">
                    <a:tint val="75000"/>
                  </a:schemeClr>
                </a:solidFill>
              </a:defRPr>
            </a:lvl7pPr>
            <a:lvl8pPr marL="1613642" indent="0">
              <a:buNone/>
              <a:defRPr sz="807">
                <a:solidFill>
                  <a:schemeClr val="tx1">
                    <a:tint val="75000"/>
                  </a:schemeClr>
                </a:solidFill>
              </a:defRPr>
            </a:lvl8pPr>
            <a:lvl9pPr marL="1844162" indent="0">
              <a:buNone/>
              <a:defRPr sz="807">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lvl1pPr>
              <a:defRPr/>
            </a:lvl1pPr>
          </a:lstStyle>
          <a:p>
            <a:pPr>
              <a:defRPr/>
            </a:pPr>
            <a:fld id="{D732027E-9240-4F84-B1D9-9D7DCE660613}" type="datetime1">
              <a:rPr lang="zh-CN" altLang="en-US" smtClean="0"/>
              <a:t>2025/2/18</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6AEDC0A7-F598-4694-B7B2-077FFC1FB214}" type="slidenum">
              <a:rPr lang="zh-CN" altLang="en-US"/>
              <a:pPr>
                <a:defRPr/>
              </a:pPr>
              <a:t>‹#›</a:t>
            </a:fld>
            <a:endParaRPr lang="zh-CN" altLang="en-US"/>
          </a:p>
        </p:txBody>
      </p:sp>
    </p:spTree>
    <p:extLst>
      <p:ext uri="{BB962C8B-B14F-4D97-AF65-F5344CB8AC3E}">
        <p14:creationId xmlns:p14="http://schemas.microsoft.com/office/powerpoint/2010/main" val="19712084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316944" y="921265"/>
            <a:ext cx="1959293" cy="219581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2333863" y="921265"/>
            <a:ext cx="1959293" cy="219581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3"/>
          <p:cNvSpPr>
            <a:spLocks noGrp="1"/>
          </p:cNvSpPr>
          <p:nvPr>
            <p:ph type="dt" sz="half" idx="10"/>
          </p:nvPr>
        </p:nvSpPr>
        <p:spPr/>
        <p:txBody>
          <a:bodyPr/>
          <a:lstStyle>
            <a:lvl1pPr>
              <a:defRPr/>
            </a:lvl1pPr>
          </a:lstStyle>
          <a:p>
            <a:pPr>
              <a:defRPr/>
            </a:pPr>
            <a:fld id="{2DFCF8DC-2EE4-47B1-8C14-09ED6B7F8AB4}" type="datetime1">
              <a:rPr lang="zh-CN" altLang="en-US" smtClean="0"/>
              <a:t>2025/2/18</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D88AC015-5C64-4ACE-A962-588A0DF6AE76}" type="slidenum">
              <a:rPr lang="zh-CN" altLang="en-US"/>
              <a:pPr>
                <a:defRPr/>
              </a:pPr>
              <a:t>‹#›</a:t>
            </a:fld>
            <a:endParaRPr lang="zh-CN" altLang="en-US"/>
          </a:p>
        </p:txBody>
      </p:sp>
    </p:spTree>
    <p:extLst>
      <p:ext uri="{BB962C8B-B14F-4D97-AF65-F5344CB8AC3E}">
        <p14:creationId xmlns:p14="http://schemas.microsoft.com/office/powerpoint/2010/main" val="15918227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317545" y="184254"/>
            <a:ext cx="3976211" cy="668918"/>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317545" y="848365"/>
            <a:ext cx="19502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编辑母版文本样式</a:t>
            </a:r>
          </a:p>
        </p:txBody>
      </p:sp>
      <p:sp>
        <p:nvSpPr>
          <p:cNvPr id="4" name="Content Placeholder 3"/>
          <p:cNvSpPr>
            <a:spLocks noGrp="1"/>
          </p:cNvSpPr>
          <p:nvPr>
            <p:ph sz="half" idx="2"/>
          </p:nvPr>
        </p:nvSpPr>
        <p:spPr>
          <a:xfrm>
            <a:off x="317545" y="1264135"/>
            <a:ext cx="1950288" cy="185935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2333863" y="848365"/>
            <a:ext cx="19598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编辑母版文本样式</a:t>
            </a:r>
          </a:p>
        </p:txBody>
      </p:sp>
      <p:sp>
        <p:nvSpPr>
          <p:cNvPr id="6" name="Content Placeholder 5"/>
          <p:cNvSpPr>
            <a:spLocks noGrp="1"/>
          </p:cNvSpPr>
          <p:nvPr>
            <p:ph sz="quarter" idx="4"/>
          </p:nvPr>
        </p:nvSpPr>
        <p:spPr>
          <a:xfrm>
            <a:off x="2333863" y="1264135"/>
            <a:ext cx="1959893" cy="185935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p:cNvSpPr>
            <a:spLocks noGrp="1"/>
          </p:cNvSpPr>
          <p:nvPr>
            <p:ph type="dt" sz="half" idx="10"/>
          </p:nvPr>
        </p:nvSpPr>
        <p:spPr/>
        <p:txBody>
          <a:bodyPr/>
          <a:lstStyle>
            <a:lvl1pPr>
              <a:defRPr/>
            </a:lvl1pPr>
          </a:lstStyle>
          <a:p>
            <a:pPr>
              <a:defRPr/>
            </a:pPr>
            <a:fld id="{7D000B0A-FD55-4439-BB36-1B7DD16AEF9D}" type="datetime1">
              <a:rPr lang="zh-CN" altLang="en-US" smtClean="0"/>
              <a:t>2025/2/18</a:t>
            </a:fld>
            <a:endParaRPr lang="zh-CN" altLang="en-US"/>
          </a:p>
        </p:txBody>
      </p:sp>
      <p:sp>
        <p:nvSpPr>
          <p:cNvPr id="8" name="Footer Placeholder 4"/>
          <p:cNvSpPr>
            <a:spLocks noGrp="1"/>
          </p:cNvSpPr>
          <p:nvPr>
            <p:ph type="ftr" sz="quarter" idx="11"/>
          </p:nvPr>
        </p:nvSpPr>
        <p:spPr/>
        <p:txBody>
          <a:bodyPr/>
          <a:lstStyle>
            <a:lvl1pPr>
              <a:defRPr/>
            </a:lvl1pPr>
          </a:lstStyle>
          <a:p>
            <a:pPr>
              <a:defRPr/>
            </a:pPr>
            <a:endParaRPr lang="zh-CN" altLang="en-US"/>
          </a:p>
        </p:txBody>
      </p:sp>
      <p:sp>
        <p:nvSpPr>
          <p:cNvPr id="9" name="Slide Number Placeholder 5"/>
          <p:cNvSpPr>
            <a:spLocks noGrp="1"/>
          </p:cNvSpPr>
          <p:nvPr>
            <p:ph type="sldNum" sz="quarter" idx="12"/>
          </p:nvPr>
        </p:nvSpPr>
        <p:spPr/>
        <p:txBody>
          <a:bodyPr/>
          <a:lstStyle>
            <a:lvl1pPr>
              <a:defRPr/>
            </a:lvl1pPr>
          </a:lstStyle>
          <a:p>
            <a:pPr>
              <a:defRPr/>
            </a:pPr>
            <a:fld id="{9A4E9772-D260-4B6D-9762-C1ACB07CF1A4}" type="slidenum">
              <a:rPr lang="zh-CN" altLang="en-US"/>
              <a:pPr>
                <a:defRPr/>
              </a:pPr>
              <a:t>‹#›</a:t>
            </a:fld>
            <a:endParaRPr lang="zh-CN" altLang="en-US"/>
          </a:p>
        </p:txBody>
      </p:sp>
    </p:spTree>
    <p:extLst>
      <p:ext uri="{BB962C8B-B14F-4D97-AF65-F5344CB8AC3E}">
        <p14:creationId xmlns:p14="http://schemas.microsoft.com/office/powerpoint/2010/main" val="22443451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3"/>
          <p:cNvSpPr>
            <a:spLocks noGrp="1"/>
          </p:cNvSpPr>
          <p:nvPr>
            <p:ph type="dt" sz="half" idx="10"/>
          </p:nvPr>
        </p:nvSpPr>
        <p:spPr/>
        <p:txBody>
          <a:bodyPr/>
          <a:lstStyle>
            <a:lvl1pPr>
              <a:defRPr/>
            </a:lvl1pPr>
          </a:lstStyle>
          <a:p>
            <a:pPr>
              <a:defRPr/>
            </a:pPr>
            <a:fld id="{5B40F887-9D7C-4661-8CA9-433247C43161}" type="datetime1">
              <a:rPr lang="zh-CN" altLang="en-US" smtClean="0"/>
              <a:t>2025/2/18</a:t>
            </a:fld>
            <a:endParaRPr lang="zh-CN" altLang="en-US"/>
          </a:p>
        </p:txBody>
      </p:sp>
      <p:sp>
        <p:nvSpPr>
          <p:cNvPr id="4" name="Footer Placeholder 4"/>
          <p:cNvSpPr>
            <a:spLocks noGrp="1"/>
          </p:cNvSpPr>
          <p:nvPr>
            <p:ph type="ftr" sz="quarter" idx="11"/>
          </p:nvPr>
        </p:nvSpPr>
        <p:spPr/>
        <p:txBody>
          <a:bodyPr/>
          <a:lstStyle>
            <a:lvl1pPr>
              <a:defRPr/>
            </a:lvl1pPr>
          </a:lstStyle>
          <a:p>
            <a:pPr>
              <a:defRPr/>
            </a:pPr>
            <a:endParaRPr lang="zh-CN" altLang="en-US"/>
          </a:p>
        </p:txBody>
      </p:sp>
      <p:sp>
        <p:nvSpPr>
          <p:cNvPr id="5" name="Slide Number Placeholder 5"/>
          <p:cNvSpPr>
            <a:spLocks noGrp="1"/>
          </p:cNvSpPr>
          <p:nvPr>
            <p:ph type="sldNum" sz="quarter" idx="12"/>
          </p:nvPr>
        </p:nvSpPr>
        <p:spPr/>
        <p:txBody>
          <a:bodyPr/>
          <a:lstStyle>
            <a:lvl1pPr>
              <a:defRPr/>
            </a:lvl1pPr>
          </a:lstStyle>
          <a:p>
            <a:pPr>
              <a:defRPr/>
            </a:pPr>
            <a:fld id="{EC1AE1EE-FD52-4D68-B5DB-95147DAA2186}" type="slidenum">
              <a:rPr lang="zh-CN" altLang="en-US"/>
              <a:pPr>
                <a:defRPr/>
              </a:pPr>
              <a:t>‹#›</a:t>
            </a:fld>
            <a:endParaRPr lang="zh-CN" altLang="en-US"/>
          </a:p>
        </p:txBody>
      </p:sp>
    </p:spTree>
    <p:extLst>
      <p:ext uri="{BB962C8B-B14F-4D97-AF65-F5344CB8AC3E}">
        <p14:creationId xmlns:p14="http://schemas.microsoft.com/office/powerpoint/2010/main" val="4336299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CEE2579-3327-433C-A8D3-133F40BB42A3}" type="datetime1">
              <a:rPr lang="zh-CN" altLang="en-US" smtClean="0"/>
              <a:t>2025/2/18</a:t>
            </a:fld>
            <a:endParaRPr lang="zh-CN" altLang="en-US"/>
          </a:p>
        </p:txBody>
      </p:sp>
      <p:sp>
        <p:nvSpPr>
          <p:cNvPr id="3" name="Footer Placeholder 4"/>
          <p:cNvSpPr>
            <a:spLocks noGrp="1"/>
          </p:cNvSpPr>
          <p:nvPr>
            <p:ph type="ftr" sz="quarter" idx="11"/>
          </p:nvPr>
        </p:nvSpPr>
        <p:spPr/>
        <p:txBody>
          <a:bodyPr/>
          <a:lstStyle>
            <a:lvl1pPr>
              <a:defRPr/>
            </a:lvl1pPr>
          </a:lstStyle>
          <a:p>
            <a:pPr>
              <a:defRPr/>
            </a:pPr>
            <a:endParaRPr lang="zh-CN" altLang="en-US"/>
          </a:p>
        </p:txBody>
      </p:sp>
      <p:sp>
        <p:nvSpPr>
          <p:cNvPr id="4" name="Slide Number Placeholder 5"/>
          <p:cNvSpPr>
            <a:spLocks noGrp="1"/>
          </p:cNvSpPr>
          <p:nvPr>
            <p:ph type="sldNum" sz="quarter" idx="12"/>
          </p:nvPr>
        </p:nvSpPr>
        <p:spPr/>
        <p:txBody>
          <a:bodyPr/>
          <a:lstStyle>
            <a:lvl1pPr>
              <a:defRPr/>
            </a:lvl1pPr>
          </a:lstStyle>
          <a:p>
            <a:pPr>
              <a:defRPr/>
            </a:pPr>
            <a:fld id="{C45A43E4-5C02-4FFA-9B9C-4EA269E3E4C1}" type="slidenum">
              <a:rPr lang="zh-CN" altLang="en-US"/>
              <a:pPr>
                <a:defRPr/>
              </a:pPr>
              <a:t>‹#›</a:t>
            </a:fld>
            <a:endParaRPr lang="zh-CN" altLang="en-US"/>
          </a:p>
        </p:txBody>
      </p:sp>
    </p:spTree>
    <p:extLst>
      <p:ext uri="{BB962C8B-B14F-4D97-AF65-F5344CB8AC3E}">
        <p14:creationId xmlns:p14="http://schemas.microsoft.com/office/powerpoint/2010/main" val="17840119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317545" y="230717"/>
            <a:ext cx="1486877" cy="807508"/>
          </a:xfrm>
        </p:spPr>
        <p:txBody>
          <a:bodyPr anchor="b"/>
          <a:lstStyle>
            <a:lvl1pPr>
              <a:defRPr sz="1613"/>
            </a:lvl1pPr>
          </a:lstStyle>
          <a:p>
            <a:r>
              <a:rPr lang="zh-CN" altLang="en-US"/>
              <a:t>单击此处编辑母版标题样式</a:t>
            </a:r>
            <a:endParaRPr lang="en-US" dirty="0"/>
          </a:p>
        </p:txBody>
      </p:sp>
      <p:sp>
        <p:nvSpPr>
          <p:cNvPr id="3" name="Content Placeholder 2"/>
          <p:cNvSpPr>
            <a:spLocks noGrp="1"/>
          </p:cNvSpPr>
          <p:nvPr>
            <p:ph idx="1"/>
          </p:nvPr>
        </p:nvSpPr>
        <p:spPr>
          <a:xfrm>
            <a:off x="19598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317545" y="1038225"/>
            <a:ext cx="14868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编辑母版文本样式</a:t>
            </a:r>
          </a:p>
        </p:txBody>
      </p:sp>
      <p:sp>
        <p:nvSpPr>
          <p:cNvPr id="5" name="Date Placeholder 3"/>
          <p:cNvSpPr>
            <a:spLocks noGrp="1"/>
          </p:cNvSpPr>
          <p:nvPr>
            <p:ph type="dt" sz="half" idx="10"/>
          </p:nvPr>
        </p:nvSpPr>
        <p:spPr/>
        <p:txBody>
          <a:bodyPr/>
          <a:lstStyle>
            <a:lvl1pPr>
              <a:defRPr/>
            </a:lvl1pPr>
          </a:lstStyle>
          <a:p>
            <a:pPr>
              <a:defRPr/>
            </a:pPr>
            <a:fld id="{ECB33477-4C33-4C06-9797-6D08AC7583C3}" type="datetime1">
              <a:rPr lang="zh-CN" altLang="en-US" smtClean="0"/>
              <a:t>2025/2/18</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4F3CE963-05B5-426D-8DD8-55C8BCB1E553}" type="slidenum">
              <a:rPr lang="zh-CN" altLang="en-US"/>
              <a:pPr>
                <a:defRPr/>
              </a:pPr>
              <a:t>‹#›</a:t>
            </a:fld>
            <a:endParaRPr lang="zh-CN" altLang="en-US"/>
          </a:p>
        </p:txBody>
      </p:sp>
    </p:spTree>
    <p:extLst>
      <p:ext uri="{BB962C8B-B14F-4D97-AF65-F5344CB8AC3E}">
        <p14:creationId xmlns:p14="http://schemas.microsoft.com/office/powerpoint/2010/main" val="8151166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317545" y="230717"/>
            <a:ext cx="1486877" cy="807508"/>
          </a:xfrm>
        </p:spPr>
        <p:txBody>
          <a:bodyPr anchor="b"/>
          <a:lstStyle>
            <a:lvl1pPr>
              <a:defRPr sz="1613"/>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959893" y="498284"/>
            <a:ext cx="2333863" cy="2459376"/>
          </a:xfrm>
        </p:spPr>
        <p:txBody>
          <a:bodyPr rtlCol="0">
            <a:normAutofit/>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317545" y="1038225"/>
            <a:ext cx="14868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编辑母版文本样式</a:t>
            </a:r>
          </a:p>
        </p:txBody>
      </p:sp>
      <p:sp>
        <p:nvSpPr>
          <p:cNvPr id="5" name="Date Placeholder 3"/>
          <p:cNvSpPr>
            <a:spLocks noGrp="1"/>
          </p:cNvSpPr>
          <p:nvPr>
            <p:ph type="dt" sz="half" idx="10"/>
          </p:nvPr>
        </p:nvSpPr>
        <p:spPr/>
        <p:txBody>
          <a:bodyPr/>
          <a:lstStyle>
            <a:lvl1pPr>
              <a:defRPr/>
            </a:lvl1pPr>
          </a:lstStyle>
          <a:p>
            <a:pPr>
              <a:defRPr/>
            </a:pPr>
            <a:fld id="{3A3494F3-7AAE-4076-A079-901FBE5F6956}" type="datetime1">
              <a:rPr lang="zh-CN" altLang="en-US" smtClean="0"/>
              <a:t>2025/2/18</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B37A9C5D-3E79-4A5E-9A50-FA793561A4F7}" type="slidenum">
              <a:rPr lang="zh-CN" altLang="en-US"/>
              <a:pPr>
                <a:defRPr/>
              </a:pPr>
              <a:t>‹#›</a:t>
            </a:fld>
            <a:endParaRPr lang="zh-CN" altLang="en-US"/>
          </a:p>
        </p:txBody>
      </p:sp>
    </p:spTree>
    <p:extLst>
      <p:ext uri="{BB962C8B-B14F-4D97-AF65-F5344CB8AC3E}">
        <p14:creationId xmlns:p14="http://schemas.microsoft.com/office/powerpoint/2010/main" val="12290829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F6A6E0C9-AF86-4B77-A08C-0B6478F9B105}" type="datetime1">
              <a:rPr lang="zh-CN" altLang="en-US" smtClean="0"/>
              <a:t>2025/2/18</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FDFF417A-3AC2-4628-96D9-6511A09D2330}" type="slidenum">
              <a:rPr lang="zh-CN" altLang="en-US"/>
              <a:pPr>
                <a:defRPr/>
              </a:pPr>
              <a:t>‹#›</a:t>
            </a:fld>
            <a:endParaRPr lang="zh-CN" altLang="en-US"/>
          </a:p>
        </p:txBody>
      </p:sp>
    </p:spTree>
    <p:extLst>
      <p:ext uri="{BB962C8B-B14F-4D97-AF65-F5344CB8AC3E}">
        <p14:creationId xmlns:p14="http://schemas.microsoft.com/office/powerpoint/2010/main" val="22343199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99103" y="184253"/>
            <a:ext cx="994053" cy="2932826"/>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316945" y="184253"/>
            <a:ext cx="2924532" cy="2932826"/>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C76214EE-A259-4C30-B1C2-FFE3C2C51249}" type="datetime1">
              <a:rPr lang="zh-CN" altLang="en-US" smtClean="0"/>
              <a:t>2025/2/18</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BABD9B7A-ECF0-49BC-A2CC-180F72059867}" type="slidenum">
              <a:rPr lang="zh-CN" altLang="en-US"/>
              <a:pPr>
                <a:defRPr/>
              </a:pPr>
              <a:t>‹#›</a:t>
            </a:fld>
            <a:endParaRPr lang="zh-CN" altLang="en-US"/>
          </a:p>
        </p:txBody>
      </p:sp>
    </p:spTree>
    <p:extLst>
      <p:ext uri="{BB962C8B-B14F-4D97-AF65-F5344CB8AC3E}">
        <p14:creationId xmlns:p14="http://schemas.microsoft.com/office/powerpoint/2010/main" val="41312654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52070" y="346075"/>
            <a:ext cx="4305961" cy="576792"/>
          </a:xfrm>
        </p:spPr>
        <p:txBody>
          <a:bodyPr/>
          <a:lstStyle/>
          <a:p>
            <a:r>
              <a:rPr lang="zh-CN" altLang="en-US"/>
              <a:t>单击此处编辑母版标题样式</a:t>
            </a:r>
          </a:p>
        </p:txBody>
      </p:sp>
      <p:sp>
        <p:nvSpPr>
          <p:cNvPr id="3" name="文本占位符 2"/>
          <p:cNvSpPr>
            <a:spLocks noGrp="1"/>
          </p:cNvSpPr>
          <p:nvPr>
            <p:ph type="body" sz="half" idx="1"/>
          </p:nvPr>
        </p:nvSpPr>
        <p:spPr>
          <a:xfrm>
            <a:off x="153670" y="999772"/>
            <a:ext cx="2114563" cy="196109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2345069" y="999772"/>
            <a:ext cx="2114563" cy="196109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152069" y="3037769"/>
            <a:ext cx="1154126" cy="240330"/>
          </a:xfrm>
        </p:spPr>
        <p:txBody>
          <a:bodyPr/>
          <a:lstStyle>
            <a:lvl1pPr>
              <a:defRPr/>
            </a:lvl1pPr>
          </a:lstStyle>
          <a:p>
            <a:fld id="{7205116B-3867-44C2-9217-29904CEC159F}" type="datetime1">
              <a:rPr lang="zh-CN" altLang="en-US" smtClean="0"/>
              <a:t>2025/2/18</a:t>
            </a:fld>
            <a:endParaRPr lang="en-US" altLang="zh-CN"/>
          </a:p>
        </p:txBody>
      </p:sp>
      <p:sp>
        <p:nvSpPr>
          <p:cNvPr id="6" name="页脚占位符 5"/>
          <p:cNvSpPr>
            <a:spLocks noGrp="1"/>
          </p:cNvSpPr>
          <p:nvPr>
            <p:ph type="ftr" sz="quarter" idx="11"/>
          </p:nvPr>
        </p:nvSpPr>
        <p:spPr>
          <a:xfrm>
            <a:off x="1575118" y="3037769"/>
            <a:ext cx="1459865" cy="24033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3303905" y="3037769"/>
            <a:ext cx="1154126" cy="240330"/>
          </a:xfrm>
        </p:spPr>
        <p:txBody>
          <a:bodyPr/>
          <a:lstStyle>
            <a:lvl1pPr>
              <a:defRPr/>
            </a:lvl1pPr>
          </a:lstStyle>
          <a:p>
            <a:fld id="{5A08F56C-74D2-4D39-AC8D-A978A0333993}" type="slidenum">
              <a:rPr lang="en-US" altLang="zh-CN"/>
              <a:pPr/>
              <a:t>‹#›</a:t>
            </a:fld>
            <a:endParaRPr lang="en-US" altLang="zh-CN"/>
          </a:p>
        </p:txBody>
      </p:sp>
    </p:spTree>
    <p:extLst>
      <p:ext uri="{BB962C8B-B14F-4D97-AF65-F5344CB8AC3E}">
        <p14:creationId xmlns:p14="http://schemas.microsoft.com/office/powerpoint/2010/main" val="1298801526"/>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345758" y="566377"/>
            <a:ext cx="3918585" cy="1204854"/>
          </a:xfrm>
        </p:spPr>
        <p:txBody>
          <a:bodyPr anchor="b"/>
          <a:lstStyle>
            <a:lvl1pPr algn="ctr">
              <a:defRPr sz="3025"/>
            </a:lvl1pPr>
          </a:lstStyle>
          <a:p>
            <a:r>
              <a:rPr lang="zh-CN" altLang="en-US"/>
              <a:t>单击此处编辑母版标题样式</a:t>
            </a:r>
            <a:endParaRPr lang="en-US" dirty="0"/>
          </a:p>
        </p:txBody>
      </p:sp>
      <p:sp>
        <p:nvSpPr>
          <p:cNvPr id="3" name="Subtitle 2"/>
          <p:cNvSpPr>
            <a:spLocks noGrp="1"/>
          </p:cNvSpPr>
          <p:nvPr>
            <p:ph type="subTitle" idx="1"/>
          </p:nvPr>
        </p:nvSpPr>
        <p:spPr>
          <a:xfrm>
            <a:off x="576263" y="1817695"/>
            <a:ext cx="3457575" cy="835547"/>
          </a:xfrm>
        </p:spPr>
        <p:txBody>
          <a:bodyPr/>
          <a:lstStyle>
            <a:lvl1pPr marL="0" indent="0" algn="ctr">
              <a:buNone/>
              <a:defRPr sz="1210"/>
            </a:lvl1pPr>
            <a:lvl2pPr marL="230520" indent="0" algn="ctr">
              <a:buNone/>
              <a:defRPr sz="1008"/>
            </a:lvl2pPr>
            <a:lvl3pPr marL="461040" indent="0" algn="ctr">
              <a:buNone/>
              <a:defRPr sz="908"/>
            </a:lvl3pPr>
            <a:lvl4pPr marL="691561" indent="0" algn="ctr">
              <a:buNone/>
              <a:defRPr sz="807"/>
            </a:lvl4pPr>
            <a:lvl5pPr marL="922081" indent="0" algn="ctr">
              <a:buNone/>
              <a:defRPr sz="807"/>
            </a:lvl5pPr>
            <a:lvl6pPr marL="1152601" indent="0" algn="ctr">
              <a:buNone/>
              <a:defRPr sz="807"/>
            </a:lvl6pPr>
            <a:lvl7pPr marL="1383121" indent="0" algn="ctr">
              <a:buNone/>
              <a:defRPr sz="807"/>
            </a:lvl7pPr>
            <a:lvl8pPr marL="1613642" indent="0" algn="ctr">
              <a:buNone/>
              <a:defRPr sz="807"/>
            </a:lvl8pPr>
            <a:lvl9pPr marL="1844162" indent="0" algn="ctr">
              <a:buNone/>
              <a:defRPr sz="807"/>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lvl1pPr>
              <a:defRPr/>
            </a:lvl1pPr>
          </a:lstStyle>
          <a:p>
            <a:pPr>
              <a:defRPr/>
            </a:pPr>
            <a:fld id="{E0717907-4000-4848-859E-92EAEFBB09E5}" type="datetime1">
              <a:rPr lang="zh-CN" altLang="en-US" smtClean="0"/>
              <a:t>2025/2/18</a:t>
            </a:fld>
            <a:endParaRPr lang="zh-CN" altLang="en-US"/>
          </a:p>
        </p:txBody>
      </p:sp>
      <p:sp>
        <p:nvSpPr>
          <p:cNvPr id="5"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164AE66C-D93E-4875-B9B4-E980903F94FB}" type="slidenum">
              <a:rPr lang="zh-CN" altLang="en-US"/>
              <a:pPr>
                <a:defRPr/>
              </a:pPr>
              <a:t>‹#›</a:t>
            </a:fld>
            <a:endParaRPr lang="zh-CN" altLang="en-US"/>
          </a:p>
        </p:txBody>
      </p:sp>
    </p:spTree>
    <p:extLst>
      <p:ext uri="{BB962C8B-B14F-4D97-AF65-F5344CB8AC3E}">
        <p14:creationId xmlns:p14="http://schemas.microsoft.com/office/powerpoint/2010/main" val="5561553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3C1DD118-5890-49BE-99BE-BB5FEBFAC173}" type="datetime1">
              <a:rPr lang="zh-CN" altLang="en-US" smtClean="0"/>
              <a:t>2025/2/18</a:t>
            </a:fld>
            <a:endParaRPr lang="zh-CN" altLang="en-US"/>
          </a:p>
        </p:txBody>
      </p:sp>
      <p:sp>
        <p:nvSpPr>
          <p:cNvPr id="5"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FAD6B5C5-F173-4E8F-B7DC-6ED3A3EC0E6C}" type="slidenum">
              <a:rPr lang="zh-CN" altLang="en-US"/>
              <a:pPr>
                <a:defRPr/>
              </a:pPr>
              <a:t>‹#›</a:t>
            </a:fld>
            <a:endParaRPr lang="zh-CN" altLang="en-US"/>
          </a:p>
        </p:txBody>
      </p:sp>
    </p:spTree>
    <p:extLst>
      <p:ext uri="{BB962C8B-B14F-4D97-AF65-F5344CB8AC3E}">
        <p14:creationId xmlns:p14="http://schemas.microsoft.com/office/powerpoint/2010/main" val="4511289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endParaRPr lang="en-US" dirty="0"/>
          </a:p>
        </p:txBody>
      </p:sp>
      <p:sp>
        <p:nvSpPr>
          <p:cNvPr id="3" name="Text Placeholder 2"/>
          <p:cNvSpPr>
            <a:spLocks noGrp="1"/>
          </p:cNvSpPr>
          <p:nvPr>
            <p:ph type="body" idx="1"/>
          </p:nvPr>
        </p:nvSpPr>
        <p:spPr>
          <a:xfrm>
            <a:off x="314544" y="2315980"/>
            <a:ext cx="3976211" cy="757039"/>
          </a:xfrm>
        </p:spPr>
        <p:txBody>
          <a:bodyPr/>
          <a:lstStyle>
            <a:lvl1pPr marL="0" indent="0">
              <a:buNone/>
              <a:defRPr sz="1210">
                <a:solidFill>
                  <a:schemeClr val="tx1"/>
                </a:solidFill>
              </a:defRPr>
            </a:lvl1pPr>
            <a:lvl2pPr marL="230520" indent="0">
              <a:buNone/>
              <a:defRPr sz="1008">
                <a:solidFill>
                  <a:schemeClr val="tx1">
                    <a:tint val="75000"/>
                  </a:schemeClr>
                </a:solidFill>
              </a:defRPr>
            </a:lvl2pPr>
            <a:lvl3pPr marL="461040" indent="0">
              <a:buNone/>
              <a:defRPr sz="908">
                <a:solidFill>
                  <a:schemeClr val="tx1">
                    <a:tint val="75000"/>
                  </a:schemeClr>
                </a:solidFill>
              </a:defRPr>
            </a:lvl3pPr>
            <a:lvl4pPr marL="691561" indent="0">
              <a:buNone/>
              <a:defRPr sz="807">
                <a:solidFill>
                  <a:schemeClr val="tx1">
                    <a:tint val="75000"/>
                  </a:schemeClr>
                </a:solidFill>
              </a:defRPr>
            </a:lvl4pPr>
            <a:lvl5pPr marL="922081" indent="0">
              <a:buNone/>
              <a:defRPr sz="807">
                <a:solidFill>
                  <a:schemeClr val="tx1">
                    <a:tint val="75000"/>
                  </a:schemeClr>
                </a:solidFill>
              </a:defRPr>
            </a:lvl5pPr>
            <a:lvl6pPr marL="1152601" indent="0">
              <a:buNone/>
              <a:defRPr sz="807">
                <a:solidFill>
                  <a:schemeClr val="tx1">
                    <a:tint val="75000"/>
                  </a:schemeClr>
                </a:solidFill>
              </a:defRPr>
            </a:lvl6pPr>
            <a:lvl7pPr marL="1383121" indent="0">
              <a:buNone/>
              <a:defRPr sz="807">
                <a:solidFill>
                  <a:schemeClr val="tx1">
                    <a:tint val="75000"/>
                  </a:schemeClr>
                </a:solidFill>
              </a:defRPr>
            </a:lvl7pPr>
            <a:lvl8pPr marL="1613642" indent="0">
              <a:buNone/>
              <a:defRPr sz="807">
                <a:solidFill>
                  <a:schemeClr val="tx1">
                    <a:tint val="75000"/>
                  </a:schemeClr>
                </a:solidFill>
              </a:defRPr>
            </a:lvl8pPr>
            <a:lvl9pPr marL="1844162" indent="0">
              <a:buNone/>
              <a:defRPr sz="807">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lvl1pPr>
              <a:defRPr/>
            </a:lvl1pPr>
          </a:lstStyle>
          <a:p>
            <a:pPr>
              <a:defRPr/>
            </a:pPr>
            <a:fld id="{84E2CD93-5C73-4564-9D5D-2BA1109C02B2}" type="datetime1">
              <a:rPr lang="zh-CN" altLang="en-US" smtClean="0"/>
              <a:t>2025/2/18</a:t>
            </a:fld>
            <a:endParaRPr lang="zh-CN" altLang="en-US"/>
          </a:p>
        </p:txBody>
      </p:sp>
      <p:sp>
        <p:nvSpPr>
          <p:cNvPr id="5"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6AEDC0A7-F598-4694-B7B2-077FFC1FB214}" type="slidenum">
              <a:rPr lang="zh-CN" altLang="en-US"/>
              <a:pPr>
                <a:defRPr/>
              </a:pPr>
              <a:t>‹#›</a:t>
            </a:fld>
            <a:endParaRPr lang="zh-CN" altLang="en-US"/>
          </a:p>
        </p:txBody>
      </p:sp>
    </p:spTree>
    <p:extLst>
      <p:ext uri="{BB962C8B-B14F-4D97-AF65-F5344CB8AC3E}">
        <p14:creationId xmlns:p14="http://schemas.microsoft.com/office/powerpoint/2010/main" val="260986685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316944" y="921265"/>
            <a:ext cx="1959293" cy="219581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2333863" y="921265"/>
            <a:ext cx="1959293" cy="219581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3"/>
          <p:cNvSpPr>
            <a:spLocks noGrp="1"/>
          </p:cNvSpPr>
          <p:nvPr>
            <p:ph type="dt" sz="half" idx="10"/>
          </p:nvPr>
        </p:nvSpPr>
        <p:spPr/>
        <p:txBody>
          <a:bodyPr/>
          <a:lstStyle>
            <a:lvl1pPr>
              <a:defRPr/>
            </a:lvl1pPr>
          </a:lstStyle>
          <a:p>
            <a:pPr>
              <a:defRPr/>
            </a:pPr>
            <a:fld id="{FD61B8AF-C163-4629-AADE-0B407E4AD744}" type="datetime1">
              <a:rPr lang="zh-CN" altLang="en-US" smtClean="0"/>
              <a:t>2025/2/18</a:t>
            </a:fld>
            <a:endParaRPr lang="zh-CN" altLang="en-US"/>
          </a:p>
        </p:txBody>
      </p:sp>
      <p:sp>
        <p:nvSpPr>
          <p:cNvPr id="6"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D88AC015-5C64-4ACE-A962-588A0DF6AE76}" type="slidenum">
              <a:rPr lang="zh-CN" altLang="en-US"/>
              <a:pPr>
                <a:defRPr/>
              </a:pPr>
              <a:t>‹#›</a:t>
            </a:fld>
            <a:endParaRPr lang="zh-CN" altLang="en-US"/>
          </a:p>
        </p:txBody>
      </p:sp>
    </p:spTree>
    <p:extLst>
      <p:ext uri="{BB962C8B-B14F-4D97-AF65-F5344CB8AC3E}">
        <p14:creationId xmlns:p14="http://schemas.microsoft.com/office/powerpoint/2010/main" val="105176931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317545" y="184254"/>
            <a:ext cx="3976211" cy="668918"/>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317545" y="848365"/>
            <a:ext cx="19502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编辑母版文本样式</a:t>
            </a:r>
          </a:p>
        </p:txBody>
      </p:sp>
      <p:sp>
        <p:nvSpPr>
          <p:cNvPr id="4" name="Content Placeholder 3"/>
          <p:cNvSpPr>
            <a:spLocks noGrp="1"/>
          </p:cNvSpPr>
          <p:nvPr>
            <p:ph sz="half" idx="2"/>
          </p:nvPr>
        </p:nvSpPr>
        <p:spPr>
          <a:xfrm>
            <a:off x="317545" y="1264135"/>
            <a:ext cx="1950288" cy="185935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2333863" y="848365"/>
            <a:ext cx="19598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编辑母版文本样式</a:t>
            </a:r>
          </a:p>
        </p:txBody>
      </p:sp>
      <p:sp>
        <p:nvSpPr>
          <p:cNvPr id="6" name="Content Placeholder 5"/>
          <p:cNvSpPr>
            <a:spLocks noGrp="1"/>
          </p:cNvSpPr>
          <p:nvPr>
            <p:ph sz="quarter" idx="4"/>
          </p:nvPr>
        </p:nvSpPr>
        <p:spPr>
          <a:xfrm>
            <a:off x="2333863" y="1264135"/>
            <a:ext cx="1959893" cy="185935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p:cNvSpPr>
            <a:spLocks noGrp="1"/>
          </p:cNvSpPr>
          <p:nvPr>
            <p:ph type="dt" sz="half" idx="10"/>
          </p:nvPr>
        </p:nvSpPr>
        <p:spPr/>
        <p:txBody>
          <a:bodyPr/>
          <a:lstStyle>
            <a:lvl1pPr>
              <a:defRPr/>
            </a:lvl1pPr>
          </a:lstStyle>
          <a:p>
            <a:pPr>
              <a:defRPr/>
            </a:pPr>
            <a:fld id="{1D2CBBFE-F0A2-4DA6-A3D8-7555D963EE69}" type="datetime1">
              <a:rPr lang="zh-CN" altLang="en-US" smtClean="0"/>
              <a:t>2025/2/18</a:t>
            </a:fld>
            <a:endParaRPr lang="zh-CN" altLang="en-US"/>
          </a:p>
        </p:txBody>
      </p:sp>
      <p:sp>
        <p:nvSpPr>
          <p:cNvPr id="8"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9" name="Slide Number Placeholder 5"/>
          <p:cNvSpPr>
            <a:spLocks noGrp="1"/>
          </p:cNvSpPr>
          <p:nvPr>
            <p:ph type="sldNum" sz="quarter" idx="12"/>
          </p:nvPr>
        </p:nvSpPr>
        <p:spPr/>
        <p:txBody>
          <a:bodyPr/>
          <a:lstStyle>
            <a:lvl1pPr>
              <a:defRPr/>
            </a:lvl1pPr>
          </a:lstStyle>
          <a:p>
            <a:pPr>
              <a:defRPr/>
            </a:pPr>
            <a:fld id="{9A4E9772-D260-4B6D-9762-C1ACB07CF1A4}" type="slidenum">
              <a:rPr lang="zh-CN" altLang="en-US"/>
              <a:pPr>
                <a:defRPr/>
              </a:pPr>
              <a:t>‹#›</a:t>
            </a:fld>
            <a:endParaRPr lang="zh-CN" altLang="en-US"/>
          </a:p>
        </p:txBody>
      </p:sp>
    </p:spTree>
    <p:extLst>
      <p:ext uri="{BB962C8B-B14F-4D97-AF65-F5344CB8AC3E}">
        <p14:creationId xmlns:p14="http://schemas.microsoft.com/office/powerpoint/2010/main" val="222939732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3"/>
          <p:cNvSpPr>
            <a:spLocks noGrp="1"/>
          </p:cNvSpPr>
          <p:nvPr>
            <p:ph type="dt" sz="half" idx="10"/>
          </p:nvPr>
        </p:nvSpPr>
        <p:spPr/>
        <p:txBody>
          <a:bodyPr/>
          <a:lstStyle>
            <a:lvl1pPr>
              <a:defRPr/>
            </a:lvl1pPr>
          </a:lstStyle>
          <a:p>
            <a:pPr>
              <a:defRPr/>
            </a:pPr>
            <a:fld id="{889CF19F-E5C3-4817-9343-88CD27FBF3E0}" type="datetime1">
              <a:rPr lang="zh-CN" altLang="en-US" smtClean="0"/>
              <a:t>2025/2/18</a:t>
            </a:fld>
            <a:endParaRPr lang="zh-CN" altLang="en-US"/>
          </a:p>
        </p:txBody>
      </p:sp>
      <p:sp>
        <p:nvSpPr>
          <p:cNvPr id="4"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5" name="Slide Number Placeholder 5"/>
          <p:cNvSpPr>
            <a:spLocks noGrp="1"/>
          </p:cNvSpPr>
          <p:nvPr>
            <p:ph type="sldNum" sz="quarter" idx="12"/>
          </p:nvPr>
        </p:nvSpPr>
        <p:spPr/>
        <p:txBody>
          <a:bodyPr/>
          <a:lstStyle>
            <a:lvl1pPr>
              <a:defRPr/>
            </a:lvl1pPr>
          </a:lstStyle>
          <a:p>
            <a:pPr>
              <a:defRPr/>
            </a:pPr>
            <a:fld id="{EC1AE1EE-FD52-4D68-B5DB-95147DAA2186}" type="slidenum">
              <a:rPr lang="zh-CN" altLang="en-US"/>
              <a:pPr>
                <a:defRPr/>
              </a:pPr>
              <a:t>‹#›</a:t>
            </a:fld>
            <a:endParaRPr lang="zh-CN" altLang="en-US"/>
          </a:p>
        </p:txBody>
      </p:sp>
    </p:spTree>
    <p:extLst>
      <p:ext uri="{BB962C8B-B14F-4D97-AF65-F5344CB8AC3E}">
        <p14:creationId xmlns:p14="http://schemas.microsoft.com/office/powerpoint/2010/main" val="323459456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073F6EFB-730A-47E5-A5C2-4668C163DA6B}" type="datetime1">
              <a:rPr lang="zh-CN" altLang="en-US" smtClean="0"/>
              <a:t>2025/2/18</a:t>
            </a:fld>
            <a:endParaRPr lang="zh-CN" altLang="en-US"/>
          </a:p>
        </p:txBody>
      </p:sp>
      <p:sp>
        <p:nvSpPr>
          <p:cNvPr id="3"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4" name="Slide Number Placeholder 5"/>
          <p:cNvSpPr>
            <a:spLocks noGrp="1"/>
          </p:cNvSpPr>
          <p:nvPr>
            <p:ph type="sldNum" sz="quarter" idx="12"/>
          </p:nvPr>
        </p:nvSpPr>
        <p:spPr/>
        <p:txBody>
          <a:bodyPr/>
          <a:lstStyle>
            <a:lvl1pPr>
              <a:defRPr/>
            </a:lvl1pPr>
          </a:lstStyle>
          <a:p>
            <a:pPr>
              <a:defRPr/>
            </a:pPr>
            <a:fld id="{C45A43E4-5C02-4FFA-9B9C-4EA269E3E4C1}" type="slidenum">
              <a:rPr lang="zh-CN" altLang="en-US"/>
              <a:pPr>
                <a:defRPr/>
              </a:pPr>
              <a:t>‹#›</a:t>
            </a:fld>
            <a:endParaRPr lang="zh-CN" altLang="en-US"/>
          </a:p>
        </p:txBody>
      </p:sp>
    </p:spTree>
    <p:extLst>
      <p:ext uri="{BB962C8B-B14F-4D97-AF65-F5344CB8AC3E}">
        <p14:creationId xmlns:p14="http://schemas.microsoft.com/office/powerpoint/2010/main" val="349779735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317545" y="230717"/>
            <a:ext cx="1486877" cy="807508"/>
          </a:xfrm>
        </p:spPr>
        <p:txBody>
          <a:bodyPr anchor="b"/>
          <a:lstStyle>
            <a:lvl1pPr>
              <a:defRPr sz="1613"/>
            </a:lvl1pPr>
          </a:lstStyle>
          <a:p>
            <a:r>
              <a:rPr lang="zh-CN" altLang="en-US"/>
              <a:t>单击此处编辑母版标题样式</a:t>
            </a:r>
            <a:endParaRPr lang="en-US" dirty="0"/>
          </a:p>
        </p:txBody>
      </p:sp>
      <p:sp>
        <p:nvSpPr>
          <p:cNvPr id="3" name="Content Placeholder 2"/>
          <p:cNvSpPr>
            <a:spLocks noGrp="1"/>
          </p:cNvSpPr>
          <p:nvPr>
            <p:ph idx="1"/>
          </p:nvPr>
        </p:nvSpPr>
        <p:spPr>
          <a:xfrm>
            <a:off x="19598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317545" y="1038225"/>
            <a:ext cx="14868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编辑母版文本样式</a:t>
            </a:r>
          </a:p>
        </p:txBody>
      </p:sp>
      <p:sp>
        <p:nvSpPr>
          <p:cNvPr id="5" name="Date Placeholder 3"/>
          <p:cNvSpPr>
            <a:spLocks noGrp="1"/>
          </p:cNvSpPr>
          <p:nvPr>
            <p:ph type="dt" sz="half" idx="10"/>
          </p:nvPr>
        </p:nvSpPr>
        <p:spPr/>
        <p:txBody>
          <a:bodyPr/>
          <a:lstStyle>
            <a:lvl1pPr>
              <a:defRPr/>
            </a:lvl1pPr>
          </a:lstStyle>
          <a:p>
            <a:pPr>
              <a:defRPr/>
            </a:pPr>
            <a:fld id="{5755972E-1A7F-4721-B0B2-9FE2CA01B53B}" type="datetime1">
              <a:rPr lang="zh-CN" altLang="en-US" smtClean="0"/>
              <a:t>2025/2/18</a:t>
            </a:fld>
            <a:endParaRPr lang="zh-CN" altLang="en-US"/>
          </a:p>
        </p:txBody>
      </p:sp>
      <p:sp>
        <p:nvSpPr>
          <p:cNvPr id="6"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4F3CE963-05B5-426D-8DD8-55C8BCB1E553}" type="slidenum">
              <a:rPr lang="zh-CN" altLang="en-US"/>
              <a:pPr>
                <a:defRPr/>
              </a:pPr>
              <a:t>‹#›</a:t>
            </a:fld>
            <a:endParaRPr lang="zh-CN" altLang="en-US"/>
          </a:p>
        </p:txBody>
      </p:sp>
    </p:spTree>
    <p:extLst>
      <p:ext uri="{BB962C8B-B14F-4D97-AF65-F5344CB8AC3E}">
        <p14:creationId xmlns:p14="http://schemas.microsoft.com/office/powerpoint/2010/main" val="236778144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317545" y="230717"/>
            <a:ext cx="1486877" cy="807508"/>
          </a:xfrm>
        </p:spPr>
        <p:txBody>
          <a:bodyPr anchor="b"/>
          <a:lstStyle>
            <a:lvl1pPr>
              <a:defRPr sz="1613"/>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959893" y="498284"/>
            <a:ext cx="2333863" cy="2459376"/>
          </a:xfrm>
        </p:spPr>
        <p:txBody>
          <a:bodyPr rtlCol="0">
            <a:normAutofit/>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317545" y="1038225"/>
            <a:ext cx="14868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编辑母版文本样式</a:t>
            </a:r>
          </a:p>
        </p:txBody>
      </p:sp>
      <p:sp>
        <p:nvSpPr>
          <p:cNvPr id="5" name="Date Placeholder 3"/>
          <p:cNvSpPr>
            <a:spLocks noGrp="1"/>
          </p:cNvSpPr>
          <p:nvPr>
            <p:ph type="dt" sz="half" idx="10"/>
          </p:nvPr>
        </p:nvSpPr>
        <p:spPr/>
        <p:txBody>
          <a:bodyPr/>
          <a:lstStyle>
            <a:lvl1pPr>
              <a:defRPr/>
            </a:lvl1pPr>
          </a:lstStyle>
          <a:p>
            <a:pPr>
              <a:defRPr/>
            </a:pPr>
            <a:fld id="{07A7919C-243A-418B-8F91-31D3F1F4EAE0}" type="datetime1">
              <a:rPr lang="zh-CN" altLang="en-US" smtClean="0"/>
              <a:t>2025/2/18</a:t>
            </a:fld>
            <a:endParaRPr lang="zh-CN" altLang="en-US"/>
          </a:p>
        </p:txBody>
      </p:sp>
      <p:sp>
        <p:nvSpPr>
          <p:cNvPr id="6"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B37A9C5D-3E79-4A5E-9A50-FA793561A4F7}" type="slidenum">
              <a:rPr lang="zh-CN" altLang="en-US"/>
              <a:pPr>
                <a:defRPr/>
              </a:pPr>
              <a:t>‹#›</a:t>
            </a:fld>
            <a:endParaRPr lang="zh-CN" altLang="en-US"/>
          </a:p>
        </p:txBody>
      </p:sp>
    </p:spTree>
    <p:extLst>
      <p:ext uri="{BB962C8B-B14F-4D97-AF65-F5344CB8AC3E}">
        <p14:creationId xmlns:p14="http://schemas.microsoft.com/office/powerpoint/2010/main" val="23316977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CF4F6EC1-0C7F-4D60-BAFF-1151C51CB5E6}" type="datetime1">
              <a:rPr lang="zh-CN" altLang="en-US" smtClean="0"/>
              <a:t>2025/2/18</a:t>
            </a:fld>
            <a:endParaRPr lang="zh-CN" altLang="en-US"/>
          </a:p>
        </p:txBody>
      </p:sp>
      <p:sp>
        <p:nvSpPr>
          <p:cNvPr id="5"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FDFF417A-3AC2-4628-96D9-6511A09D2330}" type="slidenum">
              <a:rPr lang="zh-CN" altLang="en-US"/>
              <a:pPr>
                <a:defRPr/>
              </a:pPr>
              <a:t>‹#›</a:t>
            </a:fld>
            <a:endParaRPr lang="zh-CN" altLang="en-US"/>
          </a:p>
        </p:txBody>
      </p:sp>
    </p:spTree>
    <p:extLst>
      <p:ext uri="{BB962C8B-B14F-4D97-AF65-F5344CB8AC3E}">
        <p14:creationId xmlns:p14="http://schemas.microsoft.com/office/powerpoint/2010/main" val="382171509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99103" y="184253"/>
            <a:ext cx="994053" cy="2932826"/>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316945" y="184253"/>
            <a:ext cx="2924532" cy="2932826"/>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CE37F267-0B34-4A2A-BDDF-8CDCC5B69520}" type="datetime1">
              <a:rPr lang="zh-CN" altLang="en-US" smtClean="0"/>
              <a:t>2025/2/18</a:t>
            </a:fld>
            <a:endParaRPr lang="zh-CN" altLang="en-US"/>
          </a:p>
        </p:txBody>
      </p:sp>
      <p:sp>
        <p:nvSpPr>
          <p:cNvPr id="5"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BABD9B7A-ECF0-49BC-A2CC-180F72059867}" type="slidenum">
              <a:rPr lang="zh-CN" altLang="en-US"/>
              <a:pPr>
                <a:defRPr/>
              </a:pPr>
              <a:t>‹#›</a:t>
            </a:fld>
            <a:endParaRPr lang="zh-CN" altLang="en-US"/>
          </a:p>
        </p:txBody>
      </p:sp>
    </p:spTree>
    <p:extLst>
      <p:ext uri="{BB962C8B-B14F-4D97-AF65-F5344CB8AC3E}">
        <p14:creationId xmlns:p14="http://schemas.microsoft.com/office/powerpoint/2010/main" val="6912812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theme" Target="../theme/theme3.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4.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52" y="533"/>
            <a:ext cx="4608830" cy="3456940"/>
          </a:xfrm>
          <a:custGeom>
            <a:avLst/>
            <a:gdLst/>
            <a:ahLst/>
            <a:cxnLst/>
            <a:rect l="l" t="t" r="r" b="b"/>
            <a:pathLst>
              <a:path w="4608830" h="3456940">
                <a:moveTo>
                  <a:pt x="0" y="3456432"/>
                </a:moveTo>
                <a:lnTo>
                  <a:pt x="4608576" y="3456432"/>
                </a:lnTo>
                <a:lnTo>
                  <a:pt x="4608576" y="0"/>
                </a:lnTo>
                <a:lnTo>
                  <a:pt x="0" y="0"/>
                </a:lnTo>
                <a:lnTo>
                  <a:pt x="0" y="3456432"/>
                </a:lnTo>
                <a:close/>
              </a:path>
            </a:pathLst>
          </a:custGeom>
          <a:solidFill>
            <a:srgbClr val="FEFEFE"/>
          </a:solidFill>
        </p:spPr>
        <p:txBody>
          <a:bodyPr wrap="square" lIns="0" tIns="0" rIns="0" bIns="0" rtlCol="0"/>
          <a:lstStyle/>
          <a:p>
            <a:endParaRPr/>
          </a:p>
        </p:txBody>
      </p:sp>
      <p:sp>
        <p:nvSpPr>
          <p:cNvPr id="2" name="Holder 2"/>
          <p:cNvSpPr>
            <a:spLocks noGrp="1"/>
          </p:cNvSpPr>
          <p:nvPr>
            <p:ph type="title"/>
          </p:nvPr>
        </p:nvSpPr>
        <p:spPr>
          <a:xfrm>
            <a:off x="95502" y="244221"/>
            <a:ext cx="4419094" cy="184666"/>
          </a:xfrm>
          <a:prstGeom prst="rect">
            <a:avLst/>
          </a:prstGeom>
        </p:spPr>
        <p:txBody>
          <a:bodyPr wrap="square" lIns="0" tIns="0" rIns="0" bIns="0">
            <a:spAutoFit/>
          </a:bodyPr>
          <a:lstStyle>
            <a:lvl1pPr>
              <a:defRPr sz="1200" b="1" i="0">
                <a:solidFill>
                  <a:srgbClr val="CC0000"/>
                </a:solidFill>
                <a:latin typeface="Times New Roman"/>
                <a:cs typeface="Times New Roman"/>
              </a:defRPr>
            </a:lvl1pPr>
          </a:lstStyle>
          <a:p>
            <a:endParaRPr/>
          </a:p>
        </p:txBody>
      </p:sp>
      <p:sp>
        <p:nvSpPr>
          <p:cNvPr id="3" name="Holder 3"/>
          <p:cNvSpPr>
            <a:spLocks noGrp="1"/>
          </p:cNvSpPr>
          <p:nvPr>
            <p:ph type="body" idx="1"/>
          </p:nvPr>
        </p:nvSpPr>
        <p:spPr>
          <a:xfrm>
            <a:off x="124842" y="777113"/>
            <a:ext cx="4360415" cy="153888"/>
          </a:xfrm>
          <a:prstGeom prst="rect">
            <a:avLst/>
          </a:prstGeom>
        </p:spPr>
        <p:txBody>
          <a:bodyPr wrap="square" lIns="0" tIns="0" rIns="0" bIns="0">
            <a:spAutoFit/>
          </a:bodyPr>
          <a:lstStyle>
            <a:lvl1pPr>
              <a:defRPr sz="1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724147" y="3347973"/>
            <a:ext cx="448945" cy="89768"/>
          </a:xfrm>
          <a:prstGeom prst="rect">
            <a:avLst/>
          </a:prstGeom>
        </p:spPr>
        <p:txBody>
          <a:bodyPr wrap="square" lIns="0" tIns="0" rIns="0" bIns="0">
            <a:spAutoFit/>
          </a:bodyPr>
          <a:lstStyle>
            <a:lvl1pPr>
              <a:defRPr sz="600" b="0" i="0">
                <a:solidFill>
                  <a:srgbClr val="7A0000"/>
                </a:solidFill>
                <a:latin typeface="Times New Roman"/>
                <a:cs typeface="Times New Roman"/>
              </a:defRPr>
            </a:lvl1pPr>
          </a:lstStyle>
          <a:p>
            <a:pPr marL="12700">
              <a:lnSpc>
                <a:spcPts val="700"/>
              </a:lnSpc>
            </a:pPr>
            <a:r>
              <a:rPr spc="-5" dirty="0"/>
              <a:t>20</a:t>
            </a:r>
            <a:r>
              <a:rPr lang="en-US" spc="-5" dirty="0"/>
              <a:t>23</a:t>
            </a:r>
            <a:r>
              <a:rPr spc="-5" dirty="0"/>
              <a:t>-</a:t>
            </a:r>
            <a:r>
              <a:rPr lang="en-US" spc="-5" dirty="0"/>
              <a:t>Feb</a:t>
            </a:r>
            <a:endParaRPr spc="-5" dirty="0"/>
          </a:p>
        </p:txBody>
      </p:sp>
      <p:sp>
        <p:nvSpPr>
          <p:cNvPr id="5" name="Holder 5"/>
          <p:cNvSpPr>
            <a:spLocks noGrp="1"/>
          </p:cNvSpPr>
          <p:nvPr>
            <p:ph type="dt" sz="half" idx="6"/>
          </p:nvPr>
        </p:nvSpPr>
        <p:spPr>
          <a:xfrm>
            <a:off x="1945010" y="3347973"/>
            <a:ext cx="603243" cy="89768"/>
          </a:xfrm>
          <a:prstGeom prst="rect">
            <a:avLst/>
          </a:prstGeom>
        </p:spPr>
        <p:txBody>
          <a:bodyPr wrap="square" lIns="0" tIns="0" rIns="0" bIns="0">
            <a:spAutoFit/>
          </a:bodyPr>
          <a:lstStyle>
            <a:lvl1pPr>
              <a:defRPr sz="600" b="0" i="0">
                <a:solidFill>
                  <a:srgbClr val="8E0000"/>
                </a:solidFill>
                <a:latin typeface="Times New Roman"/>
                <a:cs typeface="Times New Roman"/>
              </a:defRPr>
            </a:lvl1pPr>
          </a:lstStyle>
          <a:p>
            <a:pPr marL="12700" algn="ctr">
              <a:lnSpc>
                <a:spcPts val="700"/>
              </a:lnSpc>
            </a:pPr>
            <a:r>
              <a:rPr lang="en-US" altLang="zh-CN" spc="-5" dirty="0"/>
              <a:t>Macroeconomics</a:t>
            </a:r>
            <a:endParaRPr lang="en-US" spc="-5" dirty="0"/>
          </a:p>
        </p:txBody>
      </p:sp>
      <p:sp>
        <p:nvSpPr>
          <p:cNvPr id="6" name="Holder 6"/>
          <p:cNvSpPr>
            <a:spLocks noGrp="1"/>
          </p:cNvSpPr>
          <p:nvPr>
            <p:ph type="sldNum" sz="quarter" idx="7"/>
          </p:nvPr>
        </p:nvSpPr>
        <p:spPr>
          <a:xfrm>
            <a:off x="4302761" y="3347973"/>
            <a:ext cx="250189" cy="101600"/>
          </a:xfrm>
          <a:prstGeom prst="rect">
            <a:avLst/>
          </a:prstGeom>
        </p:spPr>
        <p:txBody>
          <a:bodyPr wrap="square" lIns="0" tIns="0" rIns="0" bIns="0">
            <a:spAutoFit/>
          </a:bodyPr>
          <a:lstStyle>
            <a:lvl1pPr>
              <a:defRPr sz="600" b="0" i="0">
                <a:solidFill>
                  <a:srgbClr val="7A0000"/>
                </a:solidFill>
                <a:latin typeface="Times New Roman"/>
                <a:cs typeface="Times New Roman"/>
              </a:defRPr>
            </a:lvl1pPr>
          </a:lstStyle>
          <a:p>
            <a:pPr marL="63500">
              <a:lnSpc>
                <a:spcPts val="700"/>
              </a:lnSpc>
            </a:pPr>
            <a:fld id="{81D60167-4931-47E6-BA6A-407CBD079E47}" type="slidenum">
              <a:rPr spc="-5" dirty="0"/>
              <a:t>‹#›</a:t>
            </a:fld>
            <a:r>
              <a:rPr spc="-5" dirty="0"/>
              <a:t> /</a:t>
            </a:r>
            <a:r>
              <a:rPr spc="-80" dirty="0"/>
              <a:t> </a:t>
            </a:r>
            <a:r>
              <a:rPr spc="-5" dirty="0"/>
              <a:t>43</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eaLnBrk="1" hangingPunct="1">
        <a:defRPr>
          <a:latin typeface="Garamond" panose="02020404030301010803" pitchFamily="18" charset="0"/>
          <a:ea typeface="SimSun" panose="02010600030101010101" pitchFamily="2" charset="-122"/>
          <a:cs typeface="+mj-cs"/>
        </a:defRPr>
      </a:lvl1pPr>
    </p:titleStyle>
    <p:bodyStyle>
      <a:lvl1pPr marL="0" eaLnBrk="1" hangingPunct="1">
        <a:defRPr>
          <a:latin typeface="Garamond" panose="02020404030301010803" pitchFamily="18" charset="0"/>
          <a:ea typeface="SimSun" panose="02010600030101010101" pitchFamily="2" charset="-122"/>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0AB9185-A928-FF30-2C81-3D5D86318B48}"/>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6833D83-7EF3-A484-BED8-4F01F83D16F3}"/>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17959DA7-9AB0-50DC-878D-6E12E44718D0}"/>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一国收入的衡量</a:t>
            </a:r>
          </a:p>
        </p:txBody>
      </p:sp>
      <p:sp>
        <p:nvSpPr>
          <p:cNvPr id="1029" name="Rectangle 5">
            <a:extLst>
              <a:ext uri="{FF2B5EF4-FFF2-40B4-BE49-F238E27FC236}">
                <a16:creationId xmlns:a16="http://schemas.microsoft.com/office/drawing/2014/main" id="{DEB50AA6-39F8-61BE-F746-A93974A559E4}"/>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F133D32A-41AB-3244-B29B-0A71F7EBCF2E}" type="slidenum">
              <a:rPr lang="zh-CN" altLang="zh-CN"/>
              <a:pPr/>
              <a:t>‹#›</a:t>
            </a:fld>
            <a:endParaRPr lang="en-US" altLang="zh-CN"/>
          </a:p>
        </p:txBody>
      </p:sp>
    </p:spTree>
    <p:extLst>
      <p:ext uri="{BB962C8B-B14F-4D97-AF65-F5344CB8AC3E}">
        <p14:creationId xmlns:p14="http://schemas.microsoft.com/office/powerpoint/2010/main" val="218870577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16945" y="184253"/>
            <a:ext cx="3976211" cy="668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Text Placeholder 2"/>
          <p:cNvSpPr>
            <a:spLocks noGrp="1"/>
          </p:cNvSpPr>
          <p:nvPr>
            <p:ph type="body" idx="1"/>
          </p:nvPr>
        </p:nvSpPr>
        <p:spPr bwMode="auto">
          <a:xfrm>
            <a:off x="316945" y="921265"/>
            <a:ext cx="3976211" cy="2195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Date Placeholder 3"/>
          <p:cNvSpPr>
            <a:spLocks noGrp="1"/>
          </p:cNvSpPr>
          <p:nvPr>
            <p:ph type="dt" sz="half" idx="2"/>
          </p:nvPr>
        </p:nvSpPr>
        <p:spPr>
          <a:xfrm>
            <a:off x="316944" y="3207603"/>
            <a:ext cx="1037273" cy="184253"/>
          </a:xfrm>
          <a:prstGeom prst="rect">
            <a:avLst/>
          </a:prstGeom>
        </p:spPr>
        <p:txBody>
          <a:bodyPr vert="horz" lIns="91440" tIns="45720" rIns="91440" bIns="45720" rtlCol="0" anchor="ctr"/>
          <a:lstStyle>
            <a:lvl1pPr algn="l" eaLnBrk="1" fontAlgn="auto" hangingPunct="1">
              <a:spcBef>
                <a:spcPts val="0"/>
              </a:spcBef>
              <a:spcAft>
                <a:spcPts val="0"/>
              </a:spcAft>
              <a:defRPr sz="605">
                <a:solidFill>
                  <a:schemeClr val="tx1">
                    <a:tint val="75000"/>
                  </a:schemeClr>
                </a:solidFill>
                <a:latin typeface="+mn-lt"/>
              </a:defRPr>
            </a:lvl1pPr>
          </a:lstStyle>
          <a:p>
            <a:pPr>
              <a:defRPr/>
            </a:pPr>
            <a:fld id="{EADDBFC5-59A4-4385-98C8-23964CB32517}" type="datetime1">
              <a:rPr lang="zh-CN" altLang="en-US" smtClean="0"/>
              <a:t>2025/2/18</a:t>
            </a:fld>
            <a:endParaRPr lang="zh-CN" altLang="en-US"/>
          </a:p>
        </p:txBody>
      </p:sp>
      <p:sp>
        <p:nvSpPr>
          <p:cNvPr id="5" name="Footer Placeholder 4"/>
          <p:cNvSpPr>
            <a:spLocks noGrp="1"/>
          </p:cNvSpPr>
          <p:nvPr>
            <p:ph type="ftr" sz="quarter" idx="3"/>
          </p:nvPr>
        </p:nvSpPr>
        <p:spPr>
          <a:xfrm>
            <a:off x="1527096" y="3207603"/>
            <a:ext cx="1555909" cy="184253"/>
          </a:xfrm>
          <a:prstGeom prst="rect">
            <a:avLst/>
          </a:prstGeom>
        </p:spPr>
        <p:txBody>
          <a:bodyPr vert="horz" lIns="91440" tIns="45720" rIns="91440" bIns="45720" rtlCol="0" anchor="ctr"/>
          <a:lstStyle>
            <a:lvl1pPr algn="ctr" eaLnBrk="1" fontAlgn="auto" hangingPunct="1">
              <a:spcBef>
                <a:spcPts val="0"/>
              </a:spcBef>
              <a:spcAft>
                <a:spcPts val="0"/>
              </a:spcAft>
              <a:defRPr sz="605">
                <a:solidFill>
                  <a:schemeClr val="tx1">
                    <a:tint val="75000"/>
                  </a:schemeClr>
                </a:solidFill>
                <a:latin typeface="+mn-lt"/>
              </a:defRPr>
            </a:lvl1pPr>
          </a:lstStyle>
          <a:p>
            <a:pPr>
              <a:defRPr/>
            </a:pPr>
            <a:endParaRPr lang="zh-CN" altLang="en-US"/>
          </a:p>
        </p:txBody>
      </p:sp>
      <p:sp>
        <p:nvSpPr>
          <p:cNvPr id="6" name="Slide Number Placeholder 5"/>
          <p:cNvSpPr>
            <a:spLocks noGrp="1"/>
          </p:cNvSpPr>
          <p:nvPr>
            <p:ph type="sldNum" sz="quarter" idx="4"/>
          </p:nvPr>
        </p:nvSpPr>
        <p:spPr>
          <a:xfrm>
            <a:off x="3255883" y="3207603"/>
            <a:ext cx="1037273" cy="184253"/>
          </a:xfrm>
          <a:prstGeom prst="rect">
            <a:avLst/>
          </a:prstGeom>
        </p:spPr>
        <p:txBody>
          <a:bodyPr vert="horz" lIns="91440" tIns="45720" rIns="91440" bIns="45720" rtlCol="0" anchor="ctr"/>
          <a:lstStyle>
            <a:lvl1pPr algn="r" eaLnBrk="1" fontAlgn="auto" hangingPunct="1">
              <a:spcBef>
                <a:spcPts val="0"/>
              </a:spcBef>
              <a:spcAft>
                <a:spcPts val="0"/>
              </a:spcAft>
              <a:defRPr sz="605">
                <a:solidFill>
                  <a:schemeClr val="tx1">
                    <a:tint val="75000"/>
                  </a:schemeClr>
                </a:solidFill>
                <a:latin typeface="+mn-lt"/>
              </a:defRPr>
            </a:lvl1pPr>
          </a:lstStyle>
          <a:p>
            <a:pPr>
              <a:defRPr/>
            </a:pPr>
            <a:fld id="{A998689A-74B8-4B27-BFD6-2B1D6C2F642A}" type="slidenum">
              <a:rPr lang="zh-CN" altLang="en-US"/>
              <a:pPr>
                <a:defRPr/>
              </a:pPr>
              <a:t>‹#›</a:t>
            </a:fld>
            <a:endParaRPr lang="zh-CN" altLang="en-US"/>
          </a:p>
        </p:txBody>
      </p:sp>
    </p:spTree>
    <p:extLst>
      <p:ext uri="{BB962C8B-B14F-4D97-AF65-F5344CB8AC3E}">
        <p14:creationId xmlns:p14="http://schemas.microsoft.com/office/powerpoint/2010/main" val="3534208307"/>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Lst>
  <p:hf hdr="0" ftr="0"/>
  <p:txStyles>
    <p:titleStyle>
      <a:lvl1pPr algn="l" rtl="0" eaLnBrk="0" fontAlgn="base" hangingPunct="0">
        <a:lnSpc>
          <a:spcPct val="90000"/>
        </a:lnSpc>
        <a:spcBef>
          <a:spcPct val="0"/>
        </a:spcBef>
        <a:spcAft>
          <a:spcPct val="0"/>
        </a:spcAft>
        <a:defRPr sz="2218" b="0" kern="1200" cap="none" spc="0">
          <a:ln w="0"/>
          <a:solidFill>
            <a:schemeClr val="accent1"/>
          </a:solidFill>
          <a:effectLst>
            <a:outerShdw blurRad="38100" dist="25400" dir="5400000" algn="ctr" rotWithShape="0">
              <a:srgbClr val="6E747A">
                <a:alpha val="43000"/>
              </a:srgbClr>
            </a:outerShdw>
          </a:effectLst>
          <a:latin typeface="+mj-lt"/>
          <a:ea typeface="+mj-ea"/>
          <a:cs typeface="+mj-cs"/>
        </a:defRPr>
      </a:lvl1pPr>
      <a:lvl2pPr algn="l" rtl="0" eaLnBrk="0" fontAlgn="base" hangingPunct="0">
        <a:lnSpc>
          <a:spcPct val="90000"/>
        </a:lnSpc>
        <a:spcBef>
          <a:spcPct val="0"/>
        </a:spcBef>
        <a:spcAft>
          <a:spcPct val="0"/>
        </a:spcAft>
        <a:defRPr sz="2218">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2218">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2218">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2218">
          <a:solidFill>
            <a:schemeClr val="tx1"/>
          </a:solidFill>
          <a:latin typeface="Calibri Light" panose="020F0302020204030204" pitchFamily="34" charset="0"/>
        </a:defRPr>
      </a:lvl5pPr>
      <a:lvl6pPr marL="230520" algn="l" rtl="0" fontAlgn="base">
        <a:lnSpc>
          <a:spcPct val="90000"/>
        </a:lnSpc>
        <a:spcBef>
          <a:spcPct val="0"/>
        </a:spcBef>
        <a:spcAft>
          <a:spcPct val="0"/>
        </a:spcAft>
        <a:defRPr sz="2218">
          <a:solidFill>
            <a:schemeClr val="tx1"/>
          </a:solidFill>
          <a:latin typeface="Calibri Light" panose="020F0302020204030204" pitchFamily="34" charset="0"/>
        </a:defRPr>
      </a:lvl6pPr>
      <a:lvl7pPr marL="461040" algn="l" rtl="0" fontAlgn="base">
        <a:lnSpc>
          <a:spcPct val="90000"/>
        </a:lnSpc>
        <a:spcBef>
          <a:spcPct val="0"/>
        </a:spcBef>
        <a:spcAft>
          <a:spcPct val="0"/>
        </a:spcAft>
        <a:defRPr sz="2218">
          <a:solidFill>
            <a:schemeClr val="tx1"/>
          </a:solidFill>
          <a:latin typeface="Calibri Light" panose="020F0302020204030204" pitchFamily="34" charset="0"/>
        </a:defRPr>
      </a:lvl7pPr>
      <a:lvl8pPr marL="691561" algn="l" rtl="0" fontAlgn="base">
        <a:lnSpc>
          <a:spcPct val="90000"/>
        </a:lnSpc>
        <a:spcBef>
          <a:spcPct val="0"/>
        </a:spcBef>
        <a:spcAft>
          <a:spcPct val="0"/>
        </a:spcAft>
        <a:defRPr sz="2218">
          <a:solidFill>
            <a:schemeClr val="tx1"/>
          </a:solidFill>
          <a:latin typeface="Calibri Light" panose="020F0302020204030204" pitchFamily="34" charset="0"/>
        </a:defRPr>
      </a:lvl8pPr>
      <a:lvl9pPr marL="922081" algn="l" rtl="0" fontAlgn="base">
        <a:lnSpc>
          <a:spcPct val="90000"/>
        </a:lnSpc>
        <a:spcBef>
          <a:spcPct val="0"/>
        </a:spcBef>
        <a:spcAft>
          <a:spcPct val="0"/>
        </a:spcAft>
        <a:defRPr sz="2218">
          <a:solidFill>
            <a:schemeClr val="tx1"/>
          </a:solidFill>
          <a:latin typeface="Calibri Light" panose="020F0302020204030204" pitchFamily="34" charset="0"/>
        </a:defRPr>
      </a:lvl9pPr>
    </p:titleStyle>
    <p:bodyStyle>
      <a:lvl1pPr marL="115260" indent="-115260" algn="l" rtl="0" eaLnBrk="0" fontAlgn="base" hangingPunct="0">
        <a:lnSpc>
          <a:spcPct val="90000"/>
        </a:lnSpc>
        <a:spcBef>
          <a:spcPts val="504"/>
        </a:spcBef>
        <a:spcAft>
          <a:spcPct val="0"/>
        </a:spcAft>
        <a:buFont typeface="Arial" panose="020B0604020202020204" pitchFamily="34" charset="0"/>
        <a:buChar char="•"/>
        <a:defRPr sz="1412" kern="1200">
          <a:solidFill>
            <a:schemeClr val="tx1"/>
          </a:solidFill>
          <a:latin typeface="微软雅黑 Light" panose="020B0502040204020203" pitchFamily="34" charset="-122"/>
          <a:ea typeface="微软雅黑 Light" panose="020B0502040204020203" pitchFamily="34" charset="-122"/>
          <a:cs typeface="+mn-cs"/>
        </a:defRPr>
      </a:lvl1pPr>
      <a:lvl2pPr marL="345780" indent="-115260" algn="l" rtl="0" eaLnBrk="0" fontAlgn="base" hangingPunct="0">
        <a:lnSpc>
          <a:spcPct val="90000"/>
        </a:lnSpc>
        <a:spcBef>
          <a:spcPts val="252"/>
        </a:spcBef>
        <a:spcAft>
          <a:spcPct val="0"/>
        </a:spcAft>
        <a:buFont typeface="Arial" panose="020B0604020202020204" pitchFamily="34" charset="0"/>
        <a:buChar char="•"/>
        <a:defRPr sz="1210" kern="1200">
          <a:solidFill>
            <a:schemeClr val="tx1"/>
          </a:solidFill>
          <a:latin typeface="微软雅黑 Light" panose="020B0502040204020203" pitchFamily="34" charset="-122"/>
          <a:ea typeface="微软雅黑 Light" panose="020B0502040204020203" pitchFamily="34" charset="-122"/>
          <a:cs typeface="+mn-cs"/>
        </a:defRPr>
      </a:lvl2pPr>
      <a:lvl3pPr marL="576301" indent="-115260" algn="l" rtl="0" eaLnBrk="0" fontAlgn="base" hangingPunct="0">
        <a:lnSpc>
          <a:spcPct val="90000"/>
        </a:lnSpc>
        <a:spcBef>
          <a:spcPts val="252"/>
        </a:spcBef>
        <a:spcAft>
          <a:spcPct val="0"/>
        </a:spcAft>
        <a:buFont typeface="Arial" panose="020B0604020202020204" pitchFamily="34" charset="0"/>
        <a:buChar char="•"/>
        <a:defRPr sz="1008" kern="1200">
          <a:solidFill>
            <a:schemeClr val="tx1"/>
          </a:solidFill>
          <a:latin typeface="微软雅黑 Light" panose="020B0502040204020203" pitchFamily="34" charset="-122"/>
          <a:ea typeface="微软雅黑 Light" panose="020B0502040204020203" pitchFamily="34" charset="-122"/>
          <a:cs typeface="+mn-cs"/>
        </a:defRPr>
      </a:lvl3pPr>
      <a:lvl4pPr marL="806821" indent="-115260" algn="l" rtl="0" eaLnBrk="0" fontAlgn="base" hangingPunct="0">
        <a:lnSpc>
          <a:spcPct val="90000"/>
        </a:lnSpc>
        <a:spcBef>
          <a:spcPts val="252"/>
        </a:spcBef>
        <a:spcAft>
          <a:spcPct val="0"/>
        </a:spcAft>
        <a:buFont typeface="Arial" panose="020B0604020202020204" pitchFamily="34" charset="0"/>
        <a:buChar char="•"/>
        <a:defRPr kern="1200">
          <a:solidFill>
            <a:schemeClr val="tx1"/>
          </a:solidFill>
          <a:latin typeface="微软雅黑 Light" panose="020B0502040204020203" pitchFamily="34" charset="-122"/>
          <a:ea typeface="微软雅黑 Light" panose="020B0502040204020203" pitchFamily="34" charset="-122"/>
          <a:cs typeface="+mn-cs"/>
        </a:defRPr>
      </a:lvl4pPr>
      <a:lvl5pPr marL="1037341" indent="-115260" algn="l" rtl="0" eaLnBrk="0" fontAlgn="base" hangingPunct="0">
        <a:lnSpc>
          <a:spcPct val="90000"/>
        </a:lnSpc>
        <a:spcBef>
          <a:spcPts val="252"/>
        </a:spcBef>
        <a:spcAft>
          <a:spcPct val="0"/>
        </a:spcAft>
        <a:buFont typeface="Arial" panose="020B0604020202020204" pitchFamily="34" charset="0"/>
        <a:buChar char="•"/>
        <a:defRPr kern="1200">
          <a:solidFill>
            <a:schemeClr val="tx1"/>
          </a:solidFill>
          <a:latin typeface="微软雅黑 Light" panose="020B0502040204020203" pitchFamily="34" charset="-122"/>
          <a:ea typeface="微软雅黑 Light" panose="020B0502040204020203" pitchFamily="34" charset="-122"/>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en-US"/>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16945" y="184253"/>
            <a:ext cx="3976211" cy="668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Text Placeholder 2"/>
          <p:cNvSpPr>
            <a:spLocks noGrp="1"/>
          </p:cNvSpPr>
          <p:nvPr>
            <p:ph type="body" idx="1"/>
          </p:nvPr>
        </p:nvSpPr>
        <p:spPr bwMode="auto">
          <a:xfrm>
            <a:off x="316945" y="921265"/>
            <a:ext cx="3976211" cy="2195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3"/>
          <p:cNvSpPr>
            <a:spLocks noGrp="1"/>
          </p:cNvSpPr>
          <p:nvPr>
            <p:ph type="dt" sz="half" idx="2"/>
          </p:nvPr>
        </p:nvSpPr>
        <p:spPr>
          <a:xfrm>
            <a:off x="316944" y="3207603"/>
            <a:ext cx="1037273" cy="184253"/>
          </a:xfrm>
          <a:prstGeom prst="rect">
            <a:avLst/>
          </a:prstGeom>
        </p:spPr>
        <p:txBody>
          <a:bodyPr vert="horz" lIns="91440" tIns="45720" rIns="91440" bIns="45720" rtlCol="0" anchor="ctr"/>
          <a:lstStyle>
            <a:lvl1pPr algn="l" eaLnBrk="1" fontAlgn="auto" hangingPunct="1">
              <a:spcBef>
                <a:spcPts val="0"/>
              </a:spcBef>
              <a:spcAft>
                <a:spcPts val="0"/>
              </a:spcAft>
              <a:defRPr sz="605">
                <a:solidFill>
                  <a:schemeClr val="tx1">
                    <a:tint val="75000"/>
                  </a:schemeClr>
                </a:solidFill>
                <a:latin typeface="+mn-lt"/>
              </a:defRPr>
            </a:lvl1pPr>
          </a:lstStyle>
          <a:p>
            <a:pPr>
              <a:defRPr/>
            </a:pPr>
            <a:fld id="{5DDF8B5E-781A-40CC-9EC9-5F86CF8F000F}" type="datetime1">
              <a:rPr lang="zh-CN" altLang="en-US" smtClean="0"/>
              <a:t>2025/2/18</a:t>
            </a:fld>
            <a:endParaRPr lang="zh-CN" altLang="en-US"/>
          </a:p>
        </p:txBody>
      </p:sp>
      <p:sp>
        <p:nvSpPr>
          <p:cNvPr id="5" name="Footer Placeholder 4"/>
          <p:cNvSpPr>
            <a:spLocks noGrp="1"/>
          </p:cNvSpPr>
          <p:nvPr>
            <p:ph type="ftr" sz="quarter" idx="3"/>
          </p:nvPr>
        </p:nvSpPr>
        <p:spPr>
          <a:xfrm>
            <a:off x="1527096" y="3207603"/>
            <a:ext cx="1555909" cy="184253"/>
          </a:xfrm>
          <a:prstGeom prst="rect">
            <a:avLst/>
          </a:prstGeom>
        </p:spPr>
        <p:txBody>
          <a:bodyPr vert="horz" lIns="91440" tIns="45720" rIns="91440" bIns="45720" rtlCol="0" anchor="ctr"/>
          <a:lstStyle>
            <a:lvl1pPr algn="ctr" eaLnBrk="1" fontAlgn="auto" hangingPunct="1">
              <a:spcBef>
                <a:spcPts val="0"/>
              </a:spcBef>
              <a:spcAft>
                <a:spcPts val="0"/>
              </a:spcAft>
              <a:defRPr sz="605">
                <a:solidFill>
                  <a:schemeClr val="tx1">
                    <a:tint val="75000"/>
                  </a:schemeClr>
                </a:solidFill>
                <a:latin typeface="+mn-lt"/>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4"/>
          </p:nvPr>
        </p:nvSpPr>
        <p:spPr>
          <a:xfrm>
            <a:off x="3255883" y="3207603"/>
            <a:ext cx="1037273" cy="184253"/>
          </a:xfrm>
          <a:prstGeom prst="rect">
            <a:avLst/>
          </a:prstGeom>
        </p:spPr>
        <p:txBody>
          <a:bodyPr vert="horz" lIns="91440" tIns="45720" rIns="91440" bIns="45720" rtlCol="0" anchor="ctr"/>
          <a:lstStyle>
            <a:lvl1pPr algn="r" eaLnBrk="1" fontAlgn="auto" hangingPunct="1">
              <a:spcBef>
                <a:spcPts val="0"/>
              </a:spcBef>
              <a:spcAft>
                <a:spcPts val="0"/>
              </a:spcAft>
              <a:defRPr sz="605">
                <a:solidFill>
                  <a:schemeClr val="tx1">
                    <a:tint val="75000"/>
                  </a:schemeClr>
                </a:solidFill>
                <a:latin typeface="+mn-lt"/>
              </a:defRPr>
            </a:lvl1pPr>
          </a:lstStyle>
          <a:p>
            <a:pPr>
              <a:defRPr/>
            </a:pPr>
            <a:fld id="{A998689A-74B8-4B27-BFD6-2B1D6C2F642A}" type="slidenum">
              <a:rPr lang="zh-CN" altLang="en-US"/>
              <a:pPr>
                <a:defRPr/>
              </a:pPr>
              <a:t>‹#›</a:t>
            </a:fld>
            <a:endParaRPr lang="zh-CN" altLang="en-US"/>
          </a:p>
        </p:txBody>
      </p:sp>
    </p:spTree>
    <p:extLst>
      <p:ext uri="{BB962C8B-B14F-4D97-AF65-F5344CB8AC3E}">
        <p14:creationId xmlns:p14="http://schemas.microsoft.com/office/powerpoint/2010/main" val="772664362"/>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hdr="0"/>
  <p:txStyles>
    <p:titleStyle>
      <a:lvl1pPr algn="l" rtl="0" eaLnBrk="0" fontAlgn="base" hangingPunct="0">
        <a:lnSpc>
          <a:spcPct val="90000"/>
        </a:lnSpc>
        <a:spcBef>
          <a:spcPct val="0"/>
        </a:spcBef>
        <a:spcAft>
          <a:spcPct val="0"/>
        </a:spcAft>
        <a:defRPr sz="2218" b="0" kern="1200" cap="none" spc="0">
          <a:ln w="0"/>
          <a:solidFill>
            <a:schemeClr val="accent1"/>
          </a:solidFill>
          <a:effectLst>
            <a:outerShdw blurRad="38100" dist="25400" dir="5400000" algn="ctr" rotWithShape="0">
              <a:srgbClr val="6E747A">
                <a:alpha val="43000"/>
              </a:srgbClr>
            </a:outerShdw>
          </a:effectLst>
          <a:latin typeface="+mj-lt"/>
          <a:ea typeface="+mj-ea"/>
          <a:cs typeface="+mj-cs"/>
        </a:defRPr>
      </a:lvl1pPr>
      <a:lvl2pPr algn="l" rtl="0" eaLnBrk="0" fontAlgn="base" hangingPunct="0">
        <a:lnSpc>
          <a:spcPct val="90000"/>
        </a:lnSpc>
        <a:spcBef>
          <a:spcPct val="0"/>
        </a:spcBef>
        <a:spcAft>
          <a:spcPct val="0"/>
        </a:spcAft>
        <a:defRPr sz="2218">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2218">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2218">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2218">
          <a:solidFill>
            <a:schemeClr val="tx1"/>
          </a:solidFill>
          <a:latin typeface="Calibri Light" panose="020F0302020204030204" pitchFamily="34" charset="0"/>
        </a:defRPr>
      </a:lvl5pPr>
      <a:lvl6pPr marL="230520" algn="l" rtl="0" fontAlgn="base">
        <a:lnSpc>
          <a:spcPct val="90000"/>
        </a:lnSpc>
        <a:spcBef>
          <a:spcPct val="0"/>
        </a:spcBef>
        <a:spcAft>
          <a:spcPct val="0"/>
        </a:spcAft>
        <a:defRPr sz="2218">
          <a:solidFill>
            <a:schemeClr val="tx1"/>
          </a:solidFill>
          <a:latin typeface="Calibri Light" panose="020F0302020204030204" pitchFamily="34" charset="0"/>
        </a:defRPr>
      </a:lvl6pPr>
      <a:lvl7pPr marL="461040" algn="l" rtl="0" fontAlgn="base">
        <a:lnSpc>
          <a:spcPct val="90000"/>
        </a:lnSpc>
        <a:spcBef>
          <a:spcPct val="0"/>
        </a:spcBef>
        <a:spcAft>
          <a:spcPct val="0"/>
        </a:spcAft>
        <a:defRPr sz="2218">
          <a:solidFill>
            <a:schemeClr val="tx1"/>
          </a:solidFill>
          <a:latin typeface="Calibri Light" panose="020F0302020204030204" pitchFamily="34" charset="0"/>
        </a:defRPr>
      </a:lvl7pPr>
      <a:lvl8pPr marL="691561" algn="l" rtl="0" fontAlgn="base">
        <a:lnSpc>
          <a:spcPct val="90000"/>
        </a:lnSpc>
        <a:spcBef>
          <a:spcPct val="0"/>
        </a:spcBef>
        <a:spcAft>
          <a:spcPct val="0"/>
        </a:spcAft>
        <a:defRPr sz="2218">
          <a:solidFill>
            <a:schemeClr val="tx1"/>
          </a:solidFill>
          <a:latin typeface="Calibri Light" panose="020F0302020204030204" pitchFamily="34" charset="0"/>
        </a:defRPr>
      </a:lvl8pPr>
      <a:lvl9pPr marL="922081" algn="l" rtl="0" fontAlgn="base">
        <a:lnSpc>
          <a:spcPct val="90000"/>
        </a:lnSpc>
        <a:spcBef>
          <a:spcPct val="0"/>
        </a:spcBef>
        <a:spcAft>
          <a:spcPct val="0"/>
        </a:spcAft>
        <a:defRPr sz="2218">
          <a:solidFill>
            <a:schemeClr val="tx1"/>
          </a:solidFill>
          <a:latin typeface="Calibri Light" panose="020F0302020204030204" pitchFamily="34" charset="0"/>
        </a:defRPr>
      </a:lvl9pPr>
    </p:titleStyle>
    <p:bodyStyle>
      <a:lvl1pPr marL="115260" indent="-115260" algn="l" rtl="0" eaLnBrk="0" fontAlgn="base" hangingPunct="0">
        <a:lnSpc>
          <a:spcPct val="90000"/>
        </a:lnSpc>
        <a:spcBef>
          <a:spcPts val="504"/>
        </a:spcBef>
        <a:spcAft>
          <a:spcPct val="0"/>
        </a:spcAft>
        <a:buFont typeface="Arial" panose="020B0604020202020204" pitchFamily="34" charset="0"/>
        <a:buChar char="•"/>
        <a:defRPr sz="1412" kern="1200">
          <a:solidFill>
            <a:schemeClr val="tx1"/>
          </a:solidFill>
          <a:latin typeface="+mn-lt"/>
          <a:ea typeface="+mn-ea"/>
          <a:cs typeface="+mn-cs"/>
        </a:defRPr>
      </a:lvl1pPr>
      <a:lvl2pPr marL="345780" indent="-115260" algn="l" rtl="0" eaLnBrk="0" fontAlgn="base" hangingPunct="0">
        <a:lnSpc>
          <a:spcPct val="90000"/>
        </a:lnSpc>
        <a:spcBef>
          <a:spcPts val="252"/>
        </a:spcBef>
        <a:spcAft>
          <a:spcPct val="0"/>
        </a:spcAft>
        <a:buFont typeface="Arial" panose="020B0604020202020204" pitchFamily="34" charset="0"/>
        <a:buChar char="•"/>
        <a:defRPr sz="1210" kern="1200">
          <a:solidFill>
            <a:schemeClr val="tx1"/>
          </a:solidFill>
          <a:latin typeface="+mn-lt"/>
          <a:ea typeface="+mn-ea"/>
          <a:cs typeface="+mn-cs"/>
        </a:defRPr>
      </a:lvl2pPr>
      <a:lvl3pPr marL="576301" indent="-115260" algn="l" rtl="0" eaLnBrk="0" fontAlgn="base" hangingPunct="0">
        <a:lnSpc>
          <a:spcPct val="90000"/>
        </a:lnSpc>
        <a:spcBef>
          <a:spcPts val="252"/>
        </a:spcBef>
        <a:spcAft>
          <a:spcPct val="0"/>
        </a:spcAft>
        <a:buFont typeface="Arial" panose="020B0604020202020204" pitchFamily="34" charset="0"/>
        <a:buChar char="•"/>
        <a:defRPr sz="1008" kern="1200">
          <a:solidFill>
            <a:schemeClr val="tx1"/>
          </a:solidFill>
          <a:latin typeface="+mn-lt"/>
          <a:ea typeface="+mn-ea"/>
          <a:cs typeface="+mn-cs"/>
        </a:defRPr>
      </a:lvl3pPr>
      <a:lvl4pPr marL="806821" indent="-115260" algn="l" rtl="0" eaLnBrk="0" fontAlgn="base" hangingPunct="0">
        <a:lnSpc>
          <a:spcPct val="90000"/>
        </a:lnSpc>
        <a:spcBef>
          <a:spcPts val="252"/>
        </a:spcBef>
        <a:spcAft>
          <a:spcPct val="0"/>
        </a:spcAft>
        <a:buFont typeface="Arial" panose="020B0604020202020204" pitchFamily="34" charset="0"/>
        <a:buChar char="•"/>
        <a:defRPr kern="1200">
          <a:solidFill>
            <a:schemeClr val="tx1"/>
          </a:solidFill>
          <a:latin typeface="+mn-lt"/>
          <a:ea typeface="+mn-ea"/>
          <a:cs typeface="+mn-cs"/>
        </a:defRPr>
      </a:lvl4pPr>
      <a:lvl5pPr marL="1037341" indent="-115260" algn="l" rtl="0" eaLnBrk="0" fontAlgn="base" hangingPunct="0">
        <a:lnSpc>
          <a:spcPct val="90000"/>
        </a:lnSpc>
        <a:spcBef>
          <a:spcPts val="252"/>
        </a:spcBef>
        <a:spcAft>
          <a:spcPct val="0"/>
        </a:spcAft>
        <a:buFont typeface="Arial" panose="020B0604020202020204" pitchFamily="34" charset="0"/>
        <a:buChar char="•"/>
        <a:defRPr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en-US"/>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hyperlink" Target="mailto:yangzhiqing@hust.edu.cn" TargetMode="Externa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hyperlink" Target="https://b23.tv/qQ4EvcK" TargetMode="Externa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30.png"/><Relationship Id="rId2" Type="http://schemas.openxmlformats.org/officeDocument/2006/relationships/image" Target="../media/image20.png"/><Relationship Id="rId1" Type="http://schemas.openxmlformats.org/officeDocument/2006/relationships/slideLayout" Target="../slideLayouts/slideLayout12.xml"/><Relationship Id="rId6" Type="http://schemas.openxmlformats.org/officeDocument/2006/relationships/image" Target="../media/image220.png"/><Relationship Id="rId5" Type="http://schemas.openxmlformats.org/officeDocument/2006/relationships/image" Target="../media/image210.png"/><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23.emf"/></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95104" y="3260877"/>
            <a:ext cx="43180" cy="30480"/>
          </a:xfrm>
          <a:custGeom>
            <a:avLst/>
            <a:gdLst/>
            <a:ahLst/>
            <a:cxnLst/>
            <a:rect l="l" t="t" r="r" b="b"/>
            <a:pathLst>
              <a:path w="43180" h="30479">
                <a:moveTo>
                  <a:pt x="0" y="30365"/>
                </a:moveTo>
                <a:lnTo>
                  <a:pt x="43021" y="30365"/>
                </a:lnTo>
                <a:lnTo>
                  <a:pt x="43021" y="0"/>
                </a:lnTo>
                <a:lnTo>
                  <a:pt x="0" y="0"/>
                </a:lnTo>
                <a:lnTo>
                  <a:pt x="0" y="30365"/>
                </a:lnTo>
                <a:close/>
              </a:path>
            </a:pathLst>
          </a:custGeom>
          <a:ln w="5060">
            <a:solidFill>
              <a:srgbClr val="ADADE0"/>
            </a:solidFill>
          </a:ln>
        </p:spPr>
        <p:txBody>
          <a:bodyPr wrap="square" lIns="0" tIns="0" rIns="0" bIns="0" rtlCol="0"/>
          <a:lstStyle/>
          <a:p>
            <a:endParaRPr/>
          </a:p>
        </p:txBody>
      </p:sp>
      <p:sp>
        <p:nvSpPr>
          <p:cNvPr id="3" name="object 3"/>
          <p:cNvSpPr/>
          <p:nvPr/>
        </p:nvSpPr>
        <p:spPr>
          <a:xfrm>
            <a:off x="3015488" y="32569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4" name="object 4"/>
          <p:cNvSpPr/>
          <p:nvPr/>
        </p:nvSpPr>
        <p:spPr>
          <a:xfrm>
            <a:off x="3193288" y="32569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5" name="object 5"/>
          <p:cNvSpPr/>
          <p:nvPr/>
        </p:nvSpPr>
        <p:spPr>
          <a:xfrm>
            <a:off x="3355847" y="326072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6" name="object 6"/>
          <p:cNvSpPr/>
          <p:nvPr/>
        </p:nvSpPr>
        <p:spPr>
          <a:xfrm>
            <a:off x="3366008" y="325056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7" name="object 7"/>
          <p:cNvSpPr/>
          <p:nvPr/>
        </p:nvSpPr>
        <p:spPr>
          <a:xfrm>
            <a:off x="3282188"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8" name="object 8"/>
          <p:cNvSpPr/>
          <p:nvPr/>
        </p:nvSpPr>
        <p:spPr>
          <a:xfrm>
            <a:off x="3636264"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9" name="object 9"/>
          <p:cNvSpPr/>
          <p:nvPr/>
        </p:nvSpPr>
        <p:spPr>
          <a:xfrm>
            <a:off x="3547364"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10" name="object 10"/>
          <p:cNvSpPr/>
          <p:nvPr/>
        </p:nvSpPr>
        <p:spPr>
          <a:xfrm>
            <a:off x="3623564" y="32505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1" name="object 11"/>
          <p:cNvSpPr/>
          <p:nvPr/>
        </p:nvSpPr>
        <p:spPr>
          <a:xfrm>
            <a:off x="3636264" y="32759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2" name="object 12"/>
          <p:cNvSpPr/>
          <p:nvPr/>
        </p:nvSpPr>
        <p:spPr>
          <a:xfrm>
            <a:off x="3623564"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3" name="object 13"/>
          <p:cNvSpPr/>
          <p:nvPr/>
        </p:nvSpPr>
        <p:spPr>
          <a:xfrm>
            <a:off x="3636264"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4"/>
          <p:cNvSpPr/>
          <p:nvPr/>
        </p:nvSpPr>
        <p:spPr>
          <a:xfrm>
            <a:off x="38887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5" name="object 15"/>
          <p:cNvSpPr/>
          <p:nvPr/>
        </p:nvSpPr>
        <p:spPr>
          <a:xfrm>
            <a:off x="39014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6" name="object 16"/>
          <p:cNvSpPr/>
          <p:nvPr/>
        </p:nvSpPr>
        <p:spPr>
          <a:xfrm>
            <a:off x="39014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7" name="object 17"/>
          <p:cNvSpPr/>
          <p:nvPr/>
        </p:nvSpPr>
        <p:spPr>
          <a:xfrm>
            <a:off x="3812540"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18" name="object 18"/>
          <p:cNvSpPr/>
          <p:nvPr/>
        </p:nvSpPr>
        <p:spPr>
          <a:xfrm>
            <a:off x="3888740"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9" name="object 19"/>
          <p:cNvSpPr/>
          <p:nvPr/>
        </p:nvSpPr>
        <p:spPr>
          <a:xfrm>
            <a:off x="3901440"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0" name="object 20"/>
          <p:cNvSpPr/>
          <p:nvPr/>
        </p:nvSpPr>
        <p:spPr>
          <a:xfrm>
            <a:off x="41554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1" name="object 21"/>
          <p:cNvSpPr/>
          <p:nvPr/>
        </p:nvSpPr>
        <p:spPr>
          <a:xfrm>
            <a:off x="41681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object 22"/>
          <p:cNvSpPr/>
          <p:nvPr/>
        </p:nvSpPr>
        <p:spPr>
          <a:xfrm>
            <a:off x="41681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object 23"/>
          <p:cNvSpPr/>
          <p:nvPr/>
        </p:nvSpPr>
        <p:spPr>
          <a:xfrm>
            <a:off x="4155440" y="32886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4"/>
          <p:cNvSpPr/>
          <p:nvPr/>
        </p:nvSpPr>
        <p:spPr>
          <a:xfrm>
            <a:off x="4451096" y="32810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5" name="object 25"/>
          <p:cNvSpPr/>
          <p:nvPr/>
        </p:nvSpPr>
        <p:spPr>
          <a:xfrm>
            <a:off x="4424032" y="3254547"/>
            <a:ext cx="30480" cy="30480"/>
          </a:xfrm>
          <a:custGeom>
            <a:avLst/>
            <a:gdLst/>
            <a:ahLst/>
            <a:cxnLst/>
            <a:rect l="l" t="t" r="r" b="b"/>
            <a:pathLst>
              <a:path w="30479" h="30479">
                <a:moveTo>
                  <a:pt x="30365" y="15185"/>
                </a:moveTo>
                <a:lnTo>
                  <a:pt x="30365" y="6800"/>
                </a:lnTo>
                <a:lnTo>
                  <a:pt x="23571" y="0"/>
                </a:lnTo>
                <a:lnTo>
                  <a:pt x="15189" y="0"/>
                </a:lnTo>
                <a:lnTo>
                  <a:pt x="6794" y="0"/>
                </a:lnTo>
                <a:lnTo>
                  <a:pt x="0" y="6800"/>
                </a:lnTo>
                <a:lnTo>
                  <a:pt x="0" y="15185"/>
                </a:lnTo>
                <a:lnTo>
                  <a:pt x="0" y="23569"/>
                </a:lnTo>
                <a:lnTo>
                  <a:pt x="6794" y="30370"/>
                </a:lnTo>
                <a:lnTo>
                  <a:pt x="15189" y="30370"/>
                </a:lnTo>
                <a:lnTo>
                  <a:pt x="23571" y="30370"/>
                </a:lnTo>
                <a:lnTo>
                  <a:pt x="30365" y="23569"/>
                </a:lnTo>
                <a:lnTo>
                  <a:pt x="30365" y="15185"/>
                </a:lnTo>
                <a:close/>
              </a:path>
            </a:pathLst>
          </a:custGeom>
          <a:ln w="5060">
            <a:solidFill>
              <a:srgbClr val="ADADE0"/>
            </a:solidFill>
          </a:ln>
        </p:spPr>
        <p:txBody>
          <a:bodyPr wrap="square" lIns="0" tIns="0" rIns="0" bIns="0" rtlCol="0"/>
          <a:lstStyle/>
          <a:p>
            <a:endParaRPr/>
          </a:p>
        </p:txBody>
      </p:sp>
      <p:sp>
        <p:nvSpPr>
          <p:cNvPr id="26" name="object 26"/>
          <p:cNvSpPr/>
          <p:nvPr/>
        </p:nvSpPr>
        <p:spPr>
          <a:xfrm>
            <a:off x="4344416" y="3250563"/>
            <a:ext cx="50800" cy="50800"/>
          </a:xfrm>
          <a:custGeom>
            <a:avLst/>
            <a:gdLst/>
            <a:ahLst/>
            <a:cxnLst/>
            <a:rect l="l" t="t" r="r" b="b"/>
            <a:pathLst>
              <a:path w="50800" h="50800">
                <a:moveTo>
                  <a:pt x="25400" y="50800"/>
                </a:moveTo>
                <a:lnTo>
                  <a:pt x="50800" y="25400"/>
                </a:lnTo>
                <a:lnTo>
                  <a:pt x="50388" y="20849"/>
                </a:lnTo>
                <a:lnTo>
                  <a:pt x="25400" y="0"/>
                </a:lnTo>
                <a:lnTo>
                  <a:pt x="20849" y="411"/>
                </a:lnTo>
                <a:lnTo>
                  <a:pt x="411" y="20849"/>
                </a:lnTo>
                <a:lnTo>
                  <a:pt x="0" y="25400"/>
                </a:lnTo>
              </a:path>
            </a:pathLst>
          </a:custGeom>
          <a:ln w="5060">
            <a:solidFill>
              <a:srgbClr val="ADADE0"/>
            </a:solidFill>
          </a:ln>
        </p:spPr>
        <p:txBody>
          <a:bodyPr wrap="square" lIns="0" tIns="0" rIns="0" bIns="0" rtlCol="0"/>
          <a:lstStyle/>
          <a:p>
            <a:endParaRPr/>
          </a:p>
        </p:txBody>
      </p:sp>
      <p:sp>
        <p:nvSpPr>
          <p:cNvPr id="27" name="object 27"/>
          <p:cNvSpPr/>
          <p:nvPr/>
        </p:nvSpPr>
        <p:spPr>
          <a:xfrm>
            <a:off x="43291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28" name="object 28"/>
          <p:cNvSpPr/>
          <p:nvPr/>
        </p:nvSpPr>
        <p:spPr>
          <a:xfrm>
            <a:off x="4496816" y="3250563"/>
            <a:ext cx="50800" cy="50800"/>
          </a:xfrm>
          <a:custGeom>
            <a:avLst/>
            <a:gdLst/>
            <a:ahLst/>
            <a:cxnLst/>
            <a:rect l="l" t="t" r="r" b="b"/>
            <a:pathLst>
              <a:path w="50800" h="50800">
                <a:moveTo>
                  <a:pt x="25400" y="50800"/>
                </a:moveTo>
                <a:lnTo>
                  <a:pt x="0" y="25400"/>
                </a:lnTo>
                <a:lnTo>
                  <a:pt x="411" y="20849"/>
                </a:lnTo>
                <a:lnTo>
                  <a:pt x="25400" y="0"/>
                </a:lnTo>
                <a:lnTo>
                  <a:pt x="29950" y="411"/>
                </a:lnTo>
                <a:lnTo>
                  <a:pt x="50388" y="20849"/>
                </a:lnTo>
                <a:lnTo>
                  <a:pt x="50800" y="25400"/>
                </a:lnTo>
              </a:path>
            </a:pathLst>
          </a:custGeom>
          <a:ln w="5060">
            <a:solidFill>
              <a:srgbClr val="ADADE0"/>
            </a:solidFill>
          </a:ln>
        </p:spPr>
        <p:txBody>
          <a:bodyPr wrap="square" lIns="0" tIns="0" rIns="0" bIns="0" rtlCol="0"/>
          <a:lstStyle/>
          <a:p>
            <a:endParaRPr/>
          </a:p>
        </p:txBody>
      </p:sp>
      <p:sp>
        <p:nvSpPr>
          <p:cNvPr id="29" name="object 29"/>
          <p:cNvSpPr/>
          <p:nvPr/>
        </p:nvSpPr>
        <p:spPr>
          <a:xfrm>
            <a:off x="45323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0" name="object 30"/>
          <p:cNvSpPr/>
          <p:nvPr/>
        </p:nvSpPr>
        <p:spPr>
          <a:xfrm>
            <a:off x="-152" y="0"/>
            <a:ext cx="4608093" cy="143256"/>
          </a:xfrm>
          <a:prstGeom prst="rect">
            <a:avLst/>
          </a:prstGeom>
          <a:blipFill>
            <a:blip r:embed="rId2" cstate="print"/>
            <a:stretch>
              <a:fillRect/>
            </a:stretch>
          </a:blipFill>
        </p:spPr>
        <p:txBody>
          <a:bodyPr wrap="square" lIns="0" tIns="0" rIns="0" bIns="0" rtlCol="0"/>
          <a:lstStyle/>
          <a:p>
            <a:endParaRPr/>
          </a:p>
        </p:txBody>
      </p:sp>
      <p:sp>
        <p:nvSpPr>
          <p:cNvPr id="31" name="object 31"/>
          <p:cNvSpPr/>
          <p:nvPr/>
        </p:nvSpPr>
        <p:spPr>
          <a:xfrm>
            <a:off x="87882" y="573405"/>
            <a:ext cx="4432935" cy="82550"/>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a:p>
        </p:txBody>
      </p:sp>
      <p:sp>
        <p:nvSpPr>
          <p:cNvPr id="32" name="object 32"/>
          <p:cNvSpPr/>
          <p:nvPr/>
        </p:nvSpPr>
        <p:spPr>
          <a:xfrm>
            <a:off x="133126" y="1250219"/>
            <a:ext cx="112479" cy="109537"/>
          </a:xfrm>
          <a:prstGeom prst="rect">
            <a:avLst/>
          </a:prstGeom>
          <a:blipFill>
            <a:blip r:embed="rId3" cstate="print"/>
            <a:stretch>
              <a:fillRect/>
            </a:stretch>
          </a:blipFill>
        </p:spPr>
        <p:txBody>
          <a:bodyPr wrap="square" lIns="0" tIns="0" rIns="0" bIns="0" rtlCol="0"/>
          <a:lstStyle/>
          <a:p>
            <a:endParaRPr/>
          </a:p>
        </p:txBody>
      </p:sp>
      <p:sp>
        <p:nvSpPr>
          <p:cNvPr id="33" name="object 33"/>
          <p:cNvSpPr/>
          <p:nvPr/>
        </p:nvSpPr>
        <p:spPr>
          <a:xfrm>
            <a:off x="4451394" y="1234344"/>
            <a:ext cx="122237" cy="125301"/>
          </a:xfrm>
          <a:prstGeom prst="rect">
            <a:avLst/>
          </a:prstGeom>
          <a:blipFill>
            <a:blip r:embed="rId4" cstate="print"/>
            <a:stretch>
              <a:fillRect/>
            </a:stretch>
          </a:blipFill>
        </p:spPr>
        <p:txBody>
          <a:bodyPr wrap="square" lIns="0" tIns="0" rIns="0" bIns="0" rtlCol="0"/>
          <a:lstStyle/>
          <a:p>
            <a:endParaRPr/>
          </a:p>
        </p:txBody>
      </p:sp>
      <p:sp>
        <p:nvSpPr>
          <p:cNvPr id="34" name="object 34"/>
          <p:cNvSpPr/>
          <p:nvPr/>
        </p:nvSpPr>
        <p:spPr>
          <a:xfrm>
            <a:off x="189482" y="128594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5" name="object 35"/>
          <p:cNvSpPr/>
          <p:nvPr/>
        </p:nvSpPr>
        <p:spPr>
          <a:xfrm>
            <a:off x="189482" y="12922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6" name="object 36"/>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7" name="object 37"/>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8" name="object 38"/>
          <p:cNvSpPr/>
          <p:nvPr/>
        </p:nvSpPr>
        <p:spPr>
          <a:xfrm>
            <a:off x="189482" y="13049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a:p>
        </p:txBody>
      </p:sp>
      <p:sp>
        <p:nvSpPr>
          <p:cNvPr id="39" name="object 39"/>
          <p:cNvSpPr/>
          <p:nvPr/>
        </p:nvSpPr>
        <p:spPr>
          <a:xfrm>
            <a:off x="189482" y="13113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a:p>
        </p:txBody>
      </p:sp>
      <p:sp>
        <p:nvSpPr>
          <p:cNvPr id="40" name="object 40"/>
          <p:cNvSpPr/>
          <p:nvPr/>
        </p:nvSpPr>
        <p:spPr>
          <a:xfrm>
            <a:off x="189482" y="13176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a:p>
        </p:txBody>
      </p:sp>
      <p:sp>
        <p:nvSpPr>
          <p:cNvPr id="41" name="object 41"/>
          <p:cNvSpPr/>
          <p:nvPr/>
        </p:nvSpPr>
        <p:spPr>
          <a:xfrm>
            <a:off x="189482" y="13240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a:p>
        </p:txBody>
      </p:sp>
      <p:sp>
        <p:nvSpPr>
          <p:cNvPr id="42" name="object 42"/>
          <p:cNvSpPr/>
          <p:nvPr/>
        </p:nvSpPr>
        <p:spPr>
          <a:xfrm>
            <a:off x="189482" y="13303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a:p>
        </p:txBody>
      </p:sp>
      <p:sp>
        <p:nvSpPr>
          <p:cNvPr id="43" name="object 43"/>
          <p:cNvSpPr/>
          <p:nvPr/>
        </p:nvSpPr>
        <p:spPr>
          <a:xfrm>
            <a:off x="189482" y="13367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a:p>
        </p:txBody>
      </p:sp>
      <p:sp>
        <p:nvSpPr>
          <p:cNvPr id="44" name="object 44"/>
          <p:cNvSpPr/>
          <p:nvPr/>
        </p:nvSpPr>
        <p:spPr>
          <a:xfrm>
            <a:off x="189482" y="13430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a:p>
        </p:txBody>
      </p:sp>
      <p:sp>
        <p:nvSpPr>
          <p:cNvPr id="45" name="object 45"/>
          <p:cNvSpPr/>
          <p:nvPr/>
        </p:nvSpPr>
        <p:spPr>
          <a:xfrm>
            <a:off x="4520450" y="623404"/>
            <a:ext cx="50800" cy="50800"/>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a:p>
        </p:txBody>
      </p:sp>
      <p:sp>
        <p:nvSpPr>
          <p:cNvPr id="46" name="object 46"/>
          <p:cNvSpPr/>
          <p:nvPr/>
        </p:nvSpPr>
        <p:spPr>
          <a:xfrm>
            <a:off x="4520450" y="717271"/>
            <a:ext cx="27305" cy="8255"/>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a:p>
        </p:txBody>
      </p:sp>
      <p:sp>
        <p:nvSpPr>
          <p:cNvPr id="47" name="object 47"/>
          <p:cNvSpPr/>
          <p:nvPr/>
        </p:nvSpPr>
        <p:spPr>
          <a:xfrm>
            <a:off x="4520450" y="626579"/>
            <a:ext cx="47625" cy="47625"/>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a:p>
        </p:txBody>
      </p:sp>
      <p:sp>
        <p:nvSpPr>
          <p:cNvPr id="48" name="object 48"/>
          <p:cNvSpPr/>
          <p:nvPr/>
        </p:nvSpPr>
        <p:spPr>
          <a:xfrm>
            <a:off x="4520450" y="674204"/>
            <a:ext cx="47625" cy="47625"/>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a:p>
        </p:txBody>
      </p:sp>
      <p:sp>
        <p:nvSpPr>
          <p:cNvPr id="49" name="object 49"/>
          <p:cNvSpPr/>
          <p:nvPr/>
        </p:nvSpPr>
        <p:spPr>
          <a:xfrm>
            <a:off x="4520450" y="629754"/>
            <a:ext cx="44450" cy="44450"/>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a:p>
        </p:txBody>
      </p:sp>
      <p:sp>
        <p:nvSpPr>
          <p:cNvPr id="50" name="object 50"/>
          <p:cNvSpPr/>
          <p:nvPr/>
        </p:nvSpPr>
        <p:spPr>
          <a:xfrm>
            <a:off x="4520450" y="674204"/>
            <a:ext cx="44450" cy="44450"/>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a:p>
        </p:txBody>
      </p:sp>
      <p:sp>
        <p:nvSpPr>
          <p:cNvPr id="51" name="object 51"/>
          <p:cNvSpPr/>
          <p:nvPr/>
        </p:nvSpPr>
        <p:spPr>
          <a:xfrm>
            <a:off x="4520450" y="632929"/>
            <a:ext cx="41275" cy="41275"/>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a:p>
        </p:txBody>
      </p:sp>
      <p:sp>
        <p:nvSpPr>
          <p:cNvPr id="52" name="object 52"/>
          <p:cNvSpPr/>
          <p:nvPr/>
        </p:nvSpPr>
        <p:spPr>
          <a:xfrm>
            <a:off x="4520450" y="674204"/>
            <a:ext cx="41275" cy="41275"/>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a:p>
        </p:txBody>
      </p:sp>
      <p:sp>
        <p:nvSpPr>
          <p:cNvPr id="53" name="object 53"/>
          <p:cNvSpPr/>
          <p:nvPr/>
        </p:nvSpPr>
        <p:spPr>
          <a:xfrm>
            <a:off x="4520450" y="636104"/>
            <a:ext cx="38100" cy="38100"/>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a:p>
        </p:txBody>
      </p:sp>
      <p:sp>
        <p:nvSpPr>
          <p:cNvPr id="54" name="object 54"/>
          <p:cNvSpPr/>
          <p:nvPr/>
        </p:nvSpPr>
        <p:spPr>
          <a:xfrm>
            <a:off x="4520450" y="674204"/>
            <a:ext cx="38100" cy="38100"/>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a:p>
        </p:txBody>
      </p:sp>
      <p:sp>
        <p:nvSpPr>
          <p:cNvPr id="55" name="object 55"/>
          <p:cNvSpPr/>
          <p:nvPr/>
        </p:nvSpPr>
        <p:spPr>
          <a:xfrm>
            <a:off x="4520450" y="639279"/>
            <a:ext cx="34925" cy="34925"/>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a:p>
        </p:txBody>
      </p:sp>
      <p:sp>
        <p:nvSpPr>
          <p:cNvPr id="56" name="object 56"/>
          <p:cNvSpPr/>
          <p:nvPr/>
        </p:nvSpPr>
        <p:spPr>
          <a:xfrm>
            <a:off x="4520450" y="674204"/>
            <a:ext cx="34925" cy="34925"/>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a:p>
        </p:txBody>
      </p:sp>
      <p:sp>
        <p:nvSpPr>
          <p:cNvPr id="57" name="object 57"/>
          <p:cNvSpPr/>
          <p:nvPr/>
        </p:nvSpPr>
        <p:spPr>
          <a:xfrm>
            <a:off x="4520450" y="642454"/>
            <a:ext cx="31750" cy="31750"/>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a:p>
        </p:txBody>
      </p:sp>
      <p:sp>
        <p:nvSpPr>
          <p:cNvPr id="58" name="object 58"/>
          <p:cNvSpPr/>
          <p:nvPr/>
        </p:nvSpPr>
        <p:spPr>
          <a:xfrm>
            <a:off x="4520450" y="674204"/>
            <a:ext cx="31750" cy="31750"/>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a:p>
        </p:txBody>
      </p:sp>
      <p:sp>
        <p:nvSpPr>
          <p:cNvPr id="59" name="object 59"/>
          <p:cNvSpPr/>
          <p:nvPr/>
        </p:nvSpPr>
        <p:spPr>
          <a:xfrm>
            <a:off x="4520450" y="645629"/>
            <a:ext cx="28575" cy="28575"/>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a:p>
        </p:txBody>
      </p:sp>
      <p:sp>
        <p:nvSpPr>
          <p:cNvPr id="60" name="object 60"/>
          <p:cNvSpPr/>
          <p:nvPr/>
        </p:nvSpPr>
        <p:spPr>
          <a:xfrm>
            <a:off x="4520450" y="674204"/>
            <a:ext cx="28575" cy="28575"/>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a:p>
        </p:txBody>
      </p:sp>
      <p:sp>
        <p:nvSpPr>
          <p:cNvPr id="61" name="object 61"/>
          <p:cNvSpPr/>
          <p:nvPr/>
        </p:nvSpPr>
        <p:spPr>
          <a:xfrm>
            <a:off x="4520450" y="648804"/>
            <a:ext cx="25400" cy="25400"/>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a:p>
        </p:txBody>
      </p:sp>
      <p:sp>
        <p:nvSpPr>
          <p:cNvPr id="62" name="object 62"/>
          <p:cNvSpPr/>
          <p:nvPr/>
        </p:nvSpPr>
        <p:spPr>
          <a:xfrm>
            <a:off x="4520450" y="674204"/>
            <a:ext cx="25400" cy="25400"/>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a:p>
        </p:txBody>
      </p:sp>
      <p:sp>
        <p:nvSpPr>
          <p:cNvPr id="63" name="object 63"/>
          <p:cNvSpPr/>
          <p:nvPr/>
        </p:nvSpPr>
        <p:spPr>
          <a:xfrm>
            <a:off x="4520450" y="651979"/>
            <a:ext cx="22225" cy="2222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a:p>
        </p:txBody>
      </p:sp>
      <p:sp>
        <p:nvSpPr>
          <p:cNvPr id="64" name="object 64"/>
          <p:cNvSpPr/>
          <p:nvPr/>
        </p:nvSpPr>
        <p:spPr>
          <a:xfrm>
            <a:off x="4520450" y="674204"/>
            <a:ext cx="22225" cy="2222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a:p>
        </p:txBody>
      </p:sp>
      <p:sp>
        <p:nvSpPr>
          <p:cNvPr id="65" name="object 65"/>
          <p:cNvSpPr/>
          <p:nvPr/>
        </p:nvSpPr>
        <p:spPr>
          <a:xfrm>
            <a:off x="4520450" y="655154"/>
            <a:ext cx="19050" cy="19050"/>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a:p>
        </p:txBody>
      </p:sp>
      <p:sp>
        <p:nvSpPr>
          <p:cNvPr id="66" name="object 66"/>
          <p:cNvSpPr/>
          <p:nvPr/>
        </p:nvSpPr>
        <p:spPr>
          <a:xfrm>
            <a:off x="4520450" y="674204"/>
            <a:ext cx="19050" cy="19050"/>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a:p>
        </p:txBody>
      </p:sp>
      <p:sp>
        <p:nvSpPr>
          <p:cNvPr id="67" name="object 67"/>
          <p:cNvSpPr/>
          <p:nvPr/>
        </p:nvSpPr>
        <p:spPr>
          <a:xfrm>
            <a:off x="4520450" y="658329"/>
            <a:ext cx="15875" cy="15875"/>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a:p>
        </p:txBody>
      </p:sp>
      <p:sp>
        <p:nvSpPr>
          <p:cNvPr id="68" name="object 68"/>
          <p:cNvSpPr/>
          <p:nvPr/>
        </p:nvSpPr>
        <p:spPr>
          <a:xfrm>
            <a:off x="4520450" y="674204"/>
            <a:ext cx="15875" cy="15875"/>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a:p>
        </p:txBody>
      </p:sp>
      <p:sp>
        <p:nvSpPr>
          <p:cNvPr id="69" name="object 69"/>
          <p:cNvSpPr/>
          <p:nvPr/>
        </p:nvSpPr>
        <p:spPr>
          <a:xfrm>
            <a:off x="4520450" y="661504"/>
            <a:ext cx="12700" cy="12700"/>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a:p>
        </p:txBody>
      </p:sp>
      <p:sp>
        <p:nvSpPr>
          <p:cNvPr id="70" name="object 70"/>
          <p:cNvSpPr/>
          <p:nvPr/>
        </p:nvSpPr>
        <p:spPr>
          <a:xfrm>
            <a:off x="4520450" y="674204"/>
            <a:ext cx="12700" cy="12700"/>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a:p>
        </p:txBody>
      </p:sp>
      <p:sp>
        <p:nvSpPr>
          <p:cNvPr id="71" name="object 71"/>
          <p:cNvSpPr/>
          <p:nvPr/>
        </p:nvSpPr>
        <p:spPr>
          <a:xfrm>
            <a:off x="4520450" y="664679"/>
            <a:ext cx="9525" cy="9525"/>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a:p>
        </p:txBody>
      </p:sp>
      <p:sp>
        <p:nvSpPr>
          <p:cNvPr id="72" name="object 72"/>
          <p:cNvSpPr/>
          <p:nvPr/>
        </p:nvSpPr>
        <p:spPr>
          <a:xfrm>
            <a:off x="4520450" y="674204"/>
            <a:ext cx="9525" cy="9525"/>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a:p>
        </p:txBody>
      </p:sp>
      <p:sp>
        <p:nvSpPr>
          <p:cNvPr id="73" name="object 73"/>
          <p:cNvSpPr/>
          <p:nvPr/>
        </p:nvSpPr>
        <p:spPr>
          <a:xfrm>
            <a:off x="4520450" y="667854"/>
            <a:ext cx="6350" cy="6350"/>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a:p>
        </p:txBody>
      </p:sp>
      <p:sp>
        <p:nvSpPr>
          <p:cNvPr id="74" name="object 74"/>
          <p:cNvSpPr/>
          <p:nvPr/>
        </p:nvSpPr>
        <p:spPr>
          <a:xfrm>
            <a:off x="4520450" y="674204"/>
            <a:ext cx="6350" cy="6350"/>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a:p>
        </p:txBody>
      </p:sp>
      <p:sp>
        <p:nvSpPr>
          <p:cNvPr id="75" name="object 75"/>
          <p:cNvSpPr/>
          <p:nvPr/>
        </p:nvSpPr>
        <p:spPr>
          <a:xfrm>
            <a:off x="4520450" y="671029"/>
            <a:ext cx="3175" cy="3175"/>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a:p>
        </p:txBody>
      </p:sp>
      <p:sp>
        <p:nvSpPr>
          <p:cNvPr id="76" name="object 76"/>
          <p:cNvSpPr/>
          <p:nvPr/>
        </p:nvSpPr>
        <p:spPr>
          <a:xfrm>
            <a:off x="4520450" y="674204"/>
            <a:ext cx="3175" cy="3175"/>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a:p>
        </p:txBody>
      </p:sp>
      <p:sp>
        <p:nvSpPr>
          <p:cNvPr id="77" name="object 77"/>
          <p:cNvSpPr/>
          <p:nvPr/>
        </p:nvSpPr>
        <p:spPr>
          <a:xfrm>
            <a:off x="4520450" y="667854"/>
            <a:ext cx="6350" cy="12700"/>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a:p>
        </p:txBody>
      </p:sp>
      <p:sp>
        <p:nvSpPr>
          <p:cNvPr id="78" name="object 78"/>
          <p:cNvSpPr/>
          <p:nvPr/>
        </p:nvSpPr>
        <p:spPr>
          <a:xfrm>
            <a:off x="4522033"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a:p>
        </p:txBody>
      </p:sp>
      <p:sp>
        <p:nvSpPr>
          <p:cNvPr id="79" name="object 79"/>
          <p:cNvSpPr/>
          <p:nvPr/>
        </p:nvSpPr>
        <p:spPr>
          <a:xfrm>
            <a:off x="452838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a:p>
        </p:txBody>
      </p:sp>
      <p:sp>
        <p:nvSpPr>
          <p:cNvPr id="80" name="object 80"/>
          <p:cNvSpPr/>
          <p:nvPr/>
        </p:nvSpPr>
        <p:spPr>
          <a:xfrm>
            <a:off x="4534730"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a:p>
        </p:txBody>
      </p:sp>
      <p:sp>
        <p:nvSpPr>
          <p:cNvPr id="81" name="object 81"/>
          <p:cNvSpPr/>
          <p:nvPr/>
        </p:nvSpPr>
        <p:spPr>
          <a:xfrm>
            <a:off x="454108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a:p>
        </p:txBody>
      </p:sp>
      <p:sp>
        <p:nvSpPr>
          <p:cNvPr id="82" name="object 82"/>
          <p:cNvSpPr/>
          <p:nvPr/>
        </p:nvSpPr>
        <p:spPr>
          <a:xfrm>
            <a:off x="454744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a:p>
        </p:txBody>
      </p:sp>
      <p:sp>
        <p:nvSpPr>
          <p:cNvPr id="83" name="object 83"/>
          <p:cNvSpPr/>
          <p:nvPr/>
        </p:nvSpPr>
        <p:spPr>
          <a:xfrm>
            <a:off x="4553765"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a:p>
        </p:txBody>
      </p:sp>
      <p:sp>
        <p:nvSpPr>
          <p:cNvPr id="84" name="object 84"/>
          <p:cNvSpPr/>
          <p:nvPr/>
        </p:nvSpPr>
        <p:spPr>
          <a:xfrm>
            <a:off x="456013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a:p>
        </p:txBody>
      </p:sp>
      <p:sp>
        <p:nvSpPr>
          <p:cNvPr id="85" name="object 85"/>
          <p:cNvSpPr/>
          <p:nvPr/>
        </p:nvSpPr>
        <p:spPr>
          <a:xfrm>
            <a:off x="87882" y="617270"/>
            <a:ext cx="4432935" cy="68643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a:p>
        </p:txBody>
      </p:sp>
      <p:sp>
        <p:nvSpPr>
          <p:cNvPr id="86" name="object 86"/>
          <p:cNvSpPr/>
          <p:nvPr/>
        </p:nvSpPr>
        <p:spPr>
          <a:xfrm>
            <a:off x="4520450" y="661504"/>
            <a:ext cx="0" cy="61023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a:p>
        </p:txBody>
      </p:sp>
      <p:sp>
        <p:nvSpPr>
          <p:cNvPr id="87" name="object 87"/>
          <p:cNvSpPr/>
          <p:nvPr/>
        </p:nvSpPr>
        <p:spPr>
          <a:xfrm>
            <a:off x="4520450" y="648804"/>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88" name="object 88"/>
          <p:cNvSpPr/>
          <p:nvPr/>
        </p:nvSpPr>
        <p:spPr>
          <a:xfrm>
            <a:off x="4520450" y="636104"/>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89" name="object 89"/>
          <p:cNvSpPr/>
          <p:nvPr/>
        </p:nvSpPr>
        <p:spPr>
          <a:xfrm>
            <a:off x="4520450" y="623404"/>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sp>
        <p:nvSpPr>
          <p:cNvPr id="90" name="object 90"/>
          <p:cNvSpPr/>
          <p:nvPr/>
        </p:nvSpPr>
        <p:spPr>
          <a:xfrm>
            <a:off x="4520450" y="604354"/>
            <a:ext cx="0" cy="19050"/>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a:p>
        </p:txBody>
      </p:sp>
      <p:sp>
        <p:nvSpPr>
          <p:cNvPr id="91" name="object 91"/>
          <p:cNvSpPr txBox="1">
            <a:spLocks noGrp="1"/>
          </p:cNvSpPr>
          <p:nvPr>
            <p:ph type="title"/>
          </p:nvPr>
        </p:nvSpPr>
        <p:spPr>
          <a:xfrm>
            <a:off x="1229818" y="641054"/>
            <a:ext cx="2148696" cy="307777"/>
          </a:xfrm>
          <a:prstGeom prst="rect">
            <a:avLst/>
          </a:prstGeom>
        </p:spPr>
        <p:txBody>
          <a:bodyPr vert="horz" wrap="square" lIns="0" tIns="0" rIns="0" bIns="0" rtlCol="0">
            <a:spAutoFit/>
          </a:bodyPr>
          <a:lstStyle/>
          <a:p>
            <a:pPr marL="12700" algn="ctr">
              <a:lnSpc>
                <a:spcPct val="100000"/>
              </a:lnSpc>
            </a:pPr>
            <a:r>
              <a:rPr lang="zh-CN" altLang="en-US" sz="2000" spc="10" dirty="0">
                <a:latin typeface="DengXian" panose="02010600030101010101" pitchFamily="2" charset="-122"/>
                <a:ea typeface="DengXian" panose="02010600030101010101" pitchFamily="2" charset="-122"/>
              </a:rPr>
              <a:t>宏观经济学</a:t>
            </a:r>
            <a:endParaRPr sz="2000" dirty="0">
              <a:latin typeface="DengXian" panose="02010600030101010101" pitchFamily="2" charset="-122"/>
              <a:ea typeface="DengXian" panose="02010600030101010101" pitchFamily="2" charset="-122"/>
            </a:endParaRPr>
          </a:p>
        </p:txBody>
      </p:sp>
      <p:sp>
        <p:nvSpPr>
          <p:cNvPr id="92" name="object 92"/>
          <p:cNvSpPr txBox="1"/>
          <p:nvPr/>
        </p:nvSpPr>
        <p:spPr>
          <a:xfrm>
            <a:off x="1415984" y="1016050"/>
            <a:ext cx="1827530" cy="184666"/>
          </a:xfrm>
          <a:prstGeom prst="rect">
            <a:avLst/>
          </a:prstGeom>
        </p:spPr>
        <p:txBody>
          <a:bodyPr vert="horz" wrap="square" lIns="0" tIns="0" rIns="0" bIns="0" rtlCol="0">
            <a:spAutoFit/>
          </a:bodyPr>
          <a:lstStyle/>
          <a:p>
            <a:pPr marL="12700" algn="ctr">
              <a:lnSpc>
                <a:spcPct val="100000"/>
              </a:lnSpc>
            </a:pPr>
            <a:r>
              <a:rPr lang="en-US" altLang="zh-CN" sz="1200" spc="-10" dirty="0">
                <a:solidFill>
                  <a:srgbClr val="CC0000"/>
                </a:solidFill>
                <a:latin typeface="Times New Roman"/>
                <a:cs typeface="Times New Roman"/>
              </a:rPr>
              <a:t>Macroeconomics</a:t>
            </a:r>
            <a:endParaRPr sz="1400" baseline="27777" dirty="0">
              <a:latin typeface="Times New Roman"/>
              <a:cs typeface="Times New Roman"/>
            </a:endParaRPr>
          </a:p>
        </p:txBody>
      </p:sp>
      <p:sp>
        <p:nvSpPr>
          <p:cNvPr id="93" name="object 93"/>
          <p:cNvSpPr txBox="1"/>
          <p:nvPr/>
        </p:nvSpPr>
        <p:spPr>
          <a:xfrm>
            <a:off x="2152904" y="1682877"/>
            <a:ext cx="302895" cy="15389"/>
          </a:xfrm>
          <a:prstGeom prst="rect">
            <a:avLst/>
          </a:prstGeom>
        </p:spPr>
        <p:txBody>
          <a:bodyPr vert="horz" wrap="square" lIns="0" tIns="0" rIns="0" bIns="0" rtlCol="0">
            <a:spAutoFit/>
          </a:bodyPr>
          <a:lstStyle/>
          <a:p>
            <a:pPr marL="12700">
              <a:lnSpc>
                <a:spcPct val="100000"/>
              </a:lnSpc>
            </a:pPr>
            <a:r>
              <a:rPr sz="100" i="1" spc="60" dirty="0">
                <a:latin typeface="Times New Roman"/>
                <a:cs typeface="Times New Roman"/>
              </a:rPr>
              <a:t>  </a:t>
            </a:r>
            <a:endParaRPr sz="100">
              <a:latin typeface="Times New Roman"/>
              <a:cs typeface="Times New Roman"/>
            </a:endParaRPr>
          </a:p>
        </p:txBody>
      </p:sp>
      <p:sp>
        <p:nvSpPr>
          <p:cNvPr id="94" name="object 94"/>
          <p:cNvSpPr txBox="1"/>
          <p:nvPr/>
        </p:nvSpPr>
        <p:spPr>
          <a:xfrm>
            <a:off x="1552769" y="1594153"/>
            <a:ext cx="1589023" cy="649409"/>
          </a:xfrm>
          <a:prstGeom prst="rect">
            <a:avLst/>
          </a:prstGeom>
        </p:spPr>
        <p:txBody>
          <a:bodyPr vert="horz" wrap="square" lIns="0" tIns="0" rIns="0" bIns="0" rtlCol="0">
            <a:spAutoFit/>
          </a:bodyPr>
          <a:lstStyle/>
          <a:p>
            <a:pPr marL="635" algn="ctr"/>
            <a:r>
              <a:rPr lang="en-US" sz="1400" spc="-15" dirty="0" err="1">
                <a:latin typeface="KaiTi" panose="02010609060101010101" pitchFamily="49" charset="-122"/>
                <a:ea typeface="KaiTi" panose="02010609060101010101" pitchFamily="49" charset="-122"/>
                <a:cs typeface="Times New Roman"/>
              </a:rPr>
              <a:t>杨芷晴</a:t>
            </a:r>
            <a:endParaRPr sz="1000" dirty="0">
              <a:latin typeface="Times New Roman"/>
              <a:cs typeface="Times New Roman"/>
            </a:endParaRPr>
          </a:p>
          <a:p>
            <a:pPr algn="ctr">
              <a:lnSpc>
                <a:spcPct val="150000"/>
              </a:lnSpc>
            </a:pPr>
            <a:r>
              <a:rPr lang="en-US" altLang="zh-CN" sz="1000" spc="-10" dirty="0">
                <a:latin typeface="Times New Roman"/>
                <a:cs typeface="Times New Roman"/>
                <a:hlinkClick r:id="rId5">
                  <a:extLst>
                    <a:ext uri="{A12FA001-AC4F-418D-AE19-62706E023703}">
                      <ahyp:hlinkClr xmlns:ahyp="http://schemas.microsoft.com/office/drawing/2018/hyperlinkcolor" val="tx"/>
                    </a:ext>
                  </a:extLst>
                </a:hlinkClick>
              </a:rPr>
              <a:t>yangzhiqing</a:t>
            </a:r>
            <a:r>
              <a:rPr sz="1000" spc="-10" dirty="0">
                <a:latin typeface="Times New Roman"/>
                <a:cs typeface="Times New Roman"/>
                <a:hlinkClick r:id="rId5">
                  <a:extLst>
                    <a:ext uri="{A12FA001-AC4F-418D-AE19-62706E023703}">
                      <ahyp:hlinkClr xmlns:ahyp="http://schemas.microsoft.com/office/drawing/2018/hyperlinkcolor" val="tx"/>
                    </a:ext>
                  </a:extLst>
                </a:hlinkClick>
              </a:rPr>
              <a:t>@</a:t>
            </a:r>
            <a:r>
              <a:rPr lang="en-US" sz="1000" spc="-10" dirty="0">
                <a:latin typeface="Times New Roman"/>
                <a:cs typeface="Times New Roman"/>
                <a:hlinkClick r:id="rId5">
                  <a:extLst>
                    <a:ext uri="{A12FA001-AC4F-418D-AE19-62706E023703}">
                      <ahyp:hlinkClr xmlns:ahyp="http://schemas.microsoft.com/office/drawing/2018/hyperlinkcolor" val="tx"/>
                    </a:ext>
                  </a:extLst>
                </a:hlinkClick>
              </a:rPr>
              <a:t>hust</a:t>
            </a:r>
            <a:r>
              <a:rPr sz="1000" spc="-10" dirty="0">
                <a:latin typeface="Times New Roman"/>
                <a:cs typeface="Times New Roman"/>
                <a:hlinkClick r:id="rId5">
                  <a:extLst>
                    <a:ext uri="{A12FA001-AC4F-418D-AE19-62706E023703}">
                      <ahyp:hlinkClr xmlns:ahyp="http://schemas.microsoft.com/office/drawing/2018/hyperlinkcolor" val="tx"/>
                    </a:ext>
                  </a:extLst>
                </a:hlinkClick>
              </a:rPr>
              <a:t>.</a:t>
            </a:r>
            <a:r>
              <a:rPr lang="en-US" sz="1000" spc="-10" dirty="0">
                <a:latin typeface="Times New Roman"/>
                <a:cs typeface="Times New Roman"/>
                <a:hlinkClick r:id="rId5">
                  <a:extLst>
                    <a:ext uri="{A12FA001-AC4F-418D-AE19-62706E023703}">
                      <ahyp:hlinkClr xmlns:ahyp="http://schemas.microsoft.com/office/drawing/2018/hyperlinkcolor" val="tx"/>
                    </a:ext>
                  </a:extLst>
                </a:hlinkClick>
              </a:rPr>
              <a:t>edu.cn</a:t>
            </a:r>
            <a:endParaRPr sz="1000" dirty="0">
              <a:latin typeface="Times New Roman"/>
              <a:cs typeface="Times New Roman"/>
            </a:endParaRPr>
          </a:p>
          <a:p>
            <a:pPr marL="635" algn="ctr">
              <a:lnSpc>
                <a:spcPct val="150000"/>
              </a:lnSpc>
            </a:pPr>
            <a:r>
              <a:rPr sz="1000" spc="-15" dirty="0">
                <a:latin typeface="Times New Roman"/>
                <a:cs typeface="Times New Roman"/>
              </a:rPr>
              <a:t>20</a:t>
            </a:r>
            <a:r>
              <a:rPr lang="en-US" altLang="zh-CN" sz="1000" spc="-15" dirty="0">
                <a:latin typeface="Times New Roman"/>
                <a:cs typeface="Times New Roman"/>
              </a:rPr>
              <a:t>25Feb</a:t>
            </a:r>
          </a:p>
        </p:txBody>
      </p:sp>
      <p:sp>
        <p:nvSpPr>
          <p:cNvPr id="97" name="object 97"/>
          <p:cNvSpPr txBox="1"/>
          <p:nvPr/>
        </p:nvSpPr>
        <p:spPr>
          <a:xfrm>
            <a:off x="3332657" y="3219067"/>
            <a:ext cx="84455" cy="104139"/>
          </a:xfrm>
          <a:prstGeom prst="rect">
            <a:avLst/>
          </a:prstGeom>
        </p:spPr>
        <p:txBody>
          <a:bodyPr vert="horz" wrap="square" lIns="0" tIns="0" rIns="0" bIns="0" rtlCol="0">
            <a:spAutoFit/>
          </a:bodyPr>
          <a:lstStyle/>
          <a:p>
            <a:pPr marL="12700">
              <a:lnSpc>
                <a:spcPct val="100000"/>
              </a:lnSpc>
              <a:tabLst>
                <a:tab pos="71120" algn="l"/>
              </a:tabLst>
            </a:pPr>
            <a:r>
              <a:rPr sz="600" u="sng" spc="-5" dirty="0">
                <a:latin typeface="Times New Roman"/>
                <a:cs typeface="Times New Roman"/>
              </a:rPr>
              <a:t> 	</a:t>
            </a:r>
            <a:endParaRPr sz="600">
              <a:latin typeface="Times New Roman"/>
              <a:cs typeface="Times New Roman"/>
            </a:endParaRPr>
          </a:p>
        </p:txBody>
      </p:sp>
      <p:sp>
        <p:nvSpPr>
          <p:cNvPr id="98" name="object 98"/>
          <p:cNvSpPr txBox="1"/>
          <p:nvPr/>
        </p:nvSpPr>
        <p:spPr>
          <a:xfrm>
            <a:off x="4155440" y="3219067"/>
            <a:ext cx="79375" cy="104139"/>
          </a:xfrm>
          <a:prstGeom prst="rect">
            <a:avLst/>
          </a:prstGeom>
        </p:spPr>
        <p:txBody>
          <a:bodyPr vert="horz" wrap="square" lIns="0" tIns="0" rIns="0" bIns="0" rtlCol="0">
            <a:spAutoFit/>
          </a:bodyPr>
          <a:lstStyle/>
          <a:p>
            <a:pPr marL="12700">
              <a:lnSpc>
                <a:spcPct val="100000"/>
              </a:lnSpc>
              <a:tabLst>
                <a:tab pos="66040" algn="l"/>
              </a:tabLst>
            </a:pPr>
            <a:r>
              <a:rPr sz="600" u="sng" spc="-5" dirty="0">
                <a:latin typeface="Times New Roman"/>
                <a:cs typeface="Times New Roman"/>
              </a:rPr>
              <a:t> 	</a:t>
            </a:r>
            <a:endParaRPr sz="600">
              <a:latin typeface="Times New Roman"/>
              <a:cs typeface="Times New Roman"/>
            </a:endParaRPr>
          </a:p>
        </p:txBody>
      </p:sp>
      <p:sp>
        <p:nvSpPr>
          <p:cNvPr id="99" name="object 99"/>
          <p:cNvSpPr/>
          <p:nvPr/>
        </p:nvSpPr>
        <p:spPr>
          <a:xfrm>
            <a:off x="-152" y="3345713"/>
            <a:ext cx="4608093" cy="111252"/>
          </a:xfrm>
          <a:prstGeom prst="rect">
            <a:avLst/>
          </a:prstGeom>
          <a:blipFill>
            <a:blip r:embed="rId6" cstate="print"/>
            <a:stretch>
              <a:fillRect/>
            </a:stretch>
          </a:blipFill>
        </p:spPr>
        <p:txBody>
          <a:bodyPr wrap="square" lIns="0" tIns="0" rIns="0" bIns="0" rtlCol="0"/>
          <a:lstStyle/>
          <a:p>
            <a:endParaRPr/>
          </a:p>
        </p:txBody>
      </p:sp>
      <p:sp>
        <p:nvSpPr>
          <p:cNvPr id="100" name="object 100"/>
          <p:cNvSpPr txBox="1"/>
          <p:nvPr/>
        </p:nvSpPr>
        <p:spPr>
          <a:xfrm>
            <a:off x="68074" y="3347973"/>
            <a:ext cx="1401445" cy="89768"/>
          </a:xfrm>
          <a:prstGeom prst="rect">
            <a:avLst/>
          </a:prstGeom>
        </p:spPr>
        <p:txBody>
          <a:bodyPr vert="horz" wrap="square" lIns="0" tIns="0" rIns="0" bIns="0" rtlCol="0">
            <a:spAutoFit/>
          </a:bodyPr>
          <a:lstStyle/>
          <a:p>
            <a:pPr marL="12700">
              <a:lnSpc>
                <a:spcPts val="700"/>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600" spc="-5" dirty="0">
                <a:solidFill>
                  <a:srgbClr val="F2F2F2"/>
                </a:solidFill>
                <a:latin typeface="Times New Roman"/>
                <a:cs typeface="Times New Roman"/>
              </a:rPr>
              <a:t>(</a:t>
            </a:r>
            <a:r>
              <a:rPr lang="en-US" sz="600" spc="-5" dirty="0">
                <a:solidFill>
                  <a:srgbClr val="F2F2F2"/>
                </a:solidFill>
                <a:latin typeface="Times New Roman"/>
                <a:cs typeface="Times New Roman"/>
              </a:rPr>
              <a:t>Zhiqing Yang</a:t>
            </a:r>
            <a:r>
              <a:rPr sz="600" spc="135" dirty="0">
                <a:solidFill>
                  <a:srgbClr val="F2F2F2"/>
                </a:solidFill>
                <a:latin typeface="Times New Roman"/>
                <a:cs typeface="Times New Roman"/>
              </a:rPr>
              <a:t> </a:t>
            </a:r>
            <a:r>
              <a:rPr lang="en-US" altLang="zh-CN" sz="600" spc="-5" dirty="0" err="1">
                <a:solidFill>
                  <a:srgbClr val="F2F2F2"/>
                </a:solidFill>
                <a:latin typeface="Times New Roman"/>
                <a:cs typeface="Times New Roman"/>
              </a:rPr>
              <a:t>yangzhiqing</a:t>
            </a:r>
            <a:r>
              <a:rPr sz="600" spc="-5" dirty="0" err="1">
                <a:solidFill>
                  <a:srgbClr val="F2F2F2"/>
                </a:solidFill>
                <a:latin typeface="Times New Roman"/>
                <a:cs typeface="Times New Roman"/>
              </a:rPr>
              <a:t>@</a:t>
            </a:r>
            <a:r>
              <a:rPr lang="en-US" sz="600" spc="-5" dirty="0" err="1">
                <a:solidFill>
                  <a:srgbClr val="F2F2F2"/>
                </a:solidFill>
                <a:latin typeface="Times New Roman"/>
                <a:cs typeface="Times New Roman"/>
              </a:rPr>
              <a:t>hust.edu.cn</a:t>
            </a:r>
            <a:r>
              <a:rPr sz="600" spc="-5" dirty="0">
                <a:solidFill>
                  <a:srgbClr val="F2F2F2"/>
                </a:solidFill>
                <a:latin typeface="Times New Roman"/>
                <a:cs typeface="Times New Roman"/>
              </a:rPr>
              <a:t>)</a:t>
            </a:r>
            <a:endParaRPr sz="600" dirty="0">
              <a:latin typeface="Times New Roman"/>
              <a:cs typeface="Times New Roman"/>
            </a:endParaRPr>
          </a:p>
        </p:txBody>
      </p:sp>
      <p:sp>
        <p:nvSpPr>
          <p:cNvPr id="101" name="object 101"/>
          <p:cNvSpPr txBox="1">
            <a:spLocks noGrp="1"/>
          </p:cNvSpPr>
          <p:nvPr>
            <p:ph type="dt" sz="half" idx="6"/>
          </p:nvPr>
        </p:nvSpPr>
        <p:spPr>
          <a:xfrm>
            <a:off x="2059938" y="3347973"/>
            <a:ext cx="677159" cy="89768"/>
          </a:xfrm>
          <a:prstGeom prst="rect">
            <a:avLst/>
          </a:prstGeom>
        </p:spPr>
        <p:txBody>
          <a:bodyPr vert="horz" wrap="square" lIns="0" tIns="0" rIns="0" bIns="0" rtlCol="0">
            <a:spAutoFit/>
          </a:bodyPr>
          <a:lstStyle/>
          <a:p>
            <a:pPr marL="12700" algn="ctr">
              <a:lnSpc>
                <a:spcPts val="700"/>
              </a:lnSpc>
            </a:pPr>
            <a:r>
              <a:rPr lang="en-US" spc="-5" dirty="0"/>
              <a:t>Macroeconomics</a:t>
            </a:r>
            <a:endParaRPr spc="-5" dirty="0"/>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a:extLst>
              <a:ext uri="{FF2B5EF4-FFF2-40B4-BE49-F238E27FC236}">
                <a16:creationId xmlns:a16="http://schemas.microsoft.com/office/drawing/2014/main" id="{6656E2FD-CD49-6CCD-F78F-49CD16287FCB}"/>
              </a:ext>
            </a:extLst>
          </p:cNvPr>
          <p:cNvSpPr txBox="1"/>
          <p:nvPr/>
        </p:nvSpPr>
        <p:spPr>
          <a:xfrm>
            <a:off x="0" y="0"/>
            <a:ext cx="4610100" cy="460382"/>
          </a:xfrm>
          <a:prstGeom prst="rect">
            <a:avLst/>
          </a:prstGeom>
          <a:solidFill>
            <a:srgbClr val="C00000"/>
          </a:solidFill>
        </p:spPr>
        <p:txBody>
          <a:bodyPr wrap="square" rtlCol="0">
            <a:spAutoFit/>
          </a:bodyPr>
          <a:lstStyle/>
          <a:p>
            <a:pPr algn="ctr">
              <a:lnSpc>
                <a:spcPct val="150000"/>
              </a:lnSpc>
            </a:pPr>
            <a:r>
              <a:rPr kumimoji="1" lang="zh-CN" altLang="en-US" dirty="0">
                <a:solidFill>
                  <a:schemeClr val="bg1"/>
                </a:solidFill>
                <a:latin typeface="Microsoft YaHei" panose="020B0503020204020204" pitchFamily="34" charset="-122"/>
                <a:ea typeface="Microsoft YaHei" panose="020B0503020204020204" pitchFamily="34" charset="-122"/>
              </a:rPr>
              <a:t>课堂纪律与考核标准</a:t>
            </a:r>
          </a:p>
        </p:txBody>
      </p:sp>
      <p:sp>
        <p:nvSpPr>
          <p:cNvPr id="71" name="内容占位符 2">
            <a:extLst>
              <a:ext uri="{FF2B5EF4-FFF2-40B4-BE49-F238E27FC236}">
                <a16:creationId xmlns:a16="http://schemas.microsoft.com/office/drawing/2014/main" id="{4F1DEB70-6083-7060-1A9D-9710985450F2}"/>
              </a:ext>
            </a:extLst>
          </p:cNvPr>
          <p:cNvSpPr txBox="1">
            <a:spLocks/>
          </p:cNvSpPr>
          <p:nvPr/>
        </p:nvSpPr>
        <p:spPr>
          <a:xfrm>
            <a:off x="138684" y="504730"/>
            <a:ext cx="4332732" cy="2796633"/>
          </a:xfrm>
          <a:prstGeom prst="rect">
            <a:avLst/>
          </a:prstGeom>
        </p:spPr>
        <p:txBody>
          <a:bodyPr wrap="square" lIns="0" tIns="0" rIns="0" bIns="0">
            <a:normAutofit/>
          </a:bodyPr>
          <a:lstStyle>
            <a:lvl1pPr marL="0" eaLnBrk="1" hangingPunct="1">
              <a:defRPr sz="1000" b="0" i="0">
                <a:solidFill>
                  <a:schemeClr val="tx1"/>
                </a:solidFill>
                <a:latin typeface="Times New Roman"/>
                <a:ea typeface="+mn-ea"/>
                <a:cs typeface="Times New Roman"/>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171450" indent="-171450">
              <a:lnSpc>
                <a:spcPct val="140000"/>
              </a:lnSpc>
              <a:buFont typeface="Arial" panose="020B0604020202020204" pitchFamily="34" charset="0"/>
              <a:buChar char="•"/>
            </a:pPr>
            <a:r>
              <a:rPr lang="zh-CN" altLang="en-US" sz="1400" kern="0" dirty="0">
                <a:latin typeface="Garamond" panose="02020404030301010803" pitchFamily="18" charset="0"/>
                <a:ea typeface="DengXian" panose="02010600030101010101" pitchFamily="2" charset="-122"/>
              </a:rPr>
              <a:t>平时成绩</a:t>
            </a:r>
            <a:r>
              <a:rPr lang="en-US" altLang="zh-CN" sz="1400" kern="0" dirty="0">
                <a:latin typeface="Garamond" panose="02020404030301010803" pitchFamily="18" charset="0"/>
                <a:ea typeface="DengXian" panose="02010600030101010101" pitchFamily="2" charset="-122"/>
              </a:rPr>
              <a:t>20%+</a:t>
            </a:r>
            <a:r>
              <a:rPr lang="zh-CN" altLang="en-US" sz="1400" kern="0" dirty="0">
                <a:latin typeface="Garamond" panose="02020404030301010803" pitchFamily="18" charset="0"/>
                <a:ea typeface="DengXian" panose="02010600030101010101" pitchFamily="2" charset="-122"/>
              </a:rPr>
              <a:t>期末考试</a:t>
            </a:r>
            <a:r>
              <a:rPr lang="en-US" altLang="zh-CN" sz="1400" kern="0" dirty="0">
                <a:latin typeface="Garamond" panose="02020404030301010803" pitchFamily="18" charset="0"/>
                <a:ea typeface="DengXian" panose="02010600030101010101" pitchFamily="2" charset="-122"/>
              </a:rPr>
              <a:t>80%</a:t>
            </a:r>
          </a:p>
          <a:p>
            <a:pPr marL="171450" indent="-171450">
              <a:lnSpc>
                <a:spcPct val="140000"/>
              </a:lnSpc>
              <a:buFont typeface="Arial" panose="020B0604020202020204" pitchFamily="34" charset="0"/>
              <a:buChar char="•"/>
            </a:pPr>
            <a:r>
              <a:rPr lang="zh-CN" altLang="en-US" sz="1400" kern="0" dirty="0">
                <a:latin typeface="Garamond" panose="02020404030301010803" pitchFamily="18" charset="0"/>
                <a:ea typeface="DengXian" panose="02010600030101010101" pitchFamily="2" charset="-122"/>
              </a:rPr>
              <a:t>平时考核：考勤、上课互动、章节作业</a:t>
            </a:r>
            <a:endParaRPr lang="en-US" altLang="zh-CN" sz="1400" kern="0" dirty="0">
              <a:latin typeface="Garamond" panose="02020404030301010803" pitchFamily="18" charset="0"/>
              <a:ea typeface="DengXian" panose="02010600030101010101" pitchFamily="2" charset="-122"/>
            </a:endParaRPr>
          </a:p>
          <a:p>
            <a:pPr marL="171450" indent="-171450">
              <a:lnSpc>
                <a:spcPct val="140000"/>
              </a:lnSpc>
              <a:buFont typeface="Arial" panose="020B0604020202020204" pitchFamily="34" charset="0"/>
              <a:buChar char="•"/>
            </a:pPr>
            <a:r>
              <a:rPr lang="zh-CN" altLang="en-US" sz="1400" kern="0">
                <a:latin typeface="Garamond" panose="02020404030301010803" pitchFamily="18" charset="0"/>
                <a:ea typeface="DengXian" panose="02010600030101010101" pitchFamily="2" charset="-122"/>
              </a:rPr>
              <a:t>期末考试</a:t>
            </a:r>
            <a:endParaRPr lang="en-US" altLang="zh-CN" sz="1400" kern="0" dirty="0">
              <a:latin typeface="Garamond" panose="02020404030301010803" pitchFamily="18" charset="0"/>
              <a:ea typeface="DengXian" panose="02010600030101010101" pitchFamily="2" charset="-122"/>
            </a:endParaRPr>
          </a:p>
        </p:txBody>
      </p:sp>
      <p:sp>
        <p:nvSpPr>
          <p:cNvPr id="5" name="object 2">
            <a:extLst>
              <a:ext uri="{FF2B5EF4-FFF2-40B4-BE49-F238E27FC236}">
                <a16:creationId xmlns:a16="http://schemas.microsoft.com/office/drawing/2014/main" id="{9EA1D7C9-9B49-9584-7CB0-A3B7ED3F5308}"/>
              </a:ext>
            </a:extLst>
          </p:cNvPr>
          <p:cNvSpPr/>
          <p:nvPr/>
        </p:nvSpPr>
        <p:spPr>
          <a:xfrm>
            <a:off x="3095104" y="3260877"/>
            <a:ext cx="43180" cy="30480"/>
          </a:xfrm>
          <a:custGeom>
            <a:avLst/>
            <a:gdLst/>
            <a:ahLst/>
            <a:cxnLst/>
            <a:rect l="l" t="t" r="r" b="b"/>
            <a:pathLst>
              <a:path w="43180" h="30479">
                <a:moveTo>
                  <a:pt x="0" y="30365"/>
                </a:moveTo>
                <a:lnTo>
                  <a:pt x="43021" y="30365"/>
                </a:lnTo>
                <a:lnTo>
                  <a:pt x="43021" y="0"/>
                </a:lnTo>
                <a:lnTo>
                  <a:pt x="0" y="0"/>
                </a:lnTo>
                <a:lnTo>
                  <a:pt x="0" y="30365"/>
                </a:lnTo>
                <a:close/>
              </a:path>
            </a:pathLst>
          </a:custGeom>
          <a:ln w="5060">
            <a:solidFill>
              <a:srgbClr val="ADADE0"/>
            </a:solidFill>
          </a:ln>
        </p:spPr>
        <p:txBody>
          <a:bodyPr wrap="square" lIns="0" tIns="0" rIns="0" bIns="0" rtlCol="0"/>
          <a:lstStyle/>
          <a:p>
            <a:endParaRPr/>
          </a:p>
        </p:txBody>
      </p:sp>
      <p:sp>
        <p:nvSpPr>
          <p:cNvPr id="6" name="object 3">
            <a:extLst>
              <a:ext uri="{FF2B5EF4-FFF2-40B4-BE49-F238E27FC236}">
                <a16:creationId xmlns:a16="http://schemas.microsoft.com/office/drawing/2014/main" id="{7A7DD018-6F58-BFEA-7519-EFB339180183}"/>
              </a:ext>
            </a:extLst>
          </p:cNvPr>
          <p:cNvSpPr/>
          <p:nvPr/>
        </p:nvSpPr>
        <p:spPr>
          <a:xfrm>
            <a:off x="3015488" y="32569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7" name="object 4">
            <a:extLst>
              <a:ext uri="{FF2B5EF4-FFF2-40B4-BE49-F238E27FC236}">
                <a16:creationId xmlns:a16="http://schemas.microsoft.com/office/drawing/2014/main" id="{BE549BFD-675C-70CF-05C5-BA65B3B4C7CA}"/>
              </a:ext>
            </a:extLst>
          </p:cNvPr>
          <p:cNvSpPr/>
          <p:nvPr/>
        </p:nvSpPr>
        <p:spPr>
          <a:xfrm>
            <a:off x="3193288" y="32569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8" name="object 5">
            <a:extLst>
              <a:ext uri="{FF2B5EF4-FFF2-40B4-BE49-F238E27FC236}">
                <a16:creationId xmlns:a16="http://schemas.microsoft.com/office/drawing/2014/main" id="{48393AF0-A380-CC58-CA3D-31CF4FF1F062}"/>
              </a:ext>
            </a:extLst>
          </p:cNvPr>
          <p:cNvSpPr/>
          <p:nvPr/>
        </p:nvSpPr>
        <p:spPr>
          <a:xfrm>
            <a:off x="3355847" y="326072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9" name="object 6">
            <a:extLst>
              <a:ext uri="{FF2B5EF4-FFF2-40B4-BE49-F238E27FC236}">
                <a16:creationId xmlns:a16="http://schemas.microsoft.com/office/drawing/2014/main" id="{8FDDB7C6-E04B-C8D1-E034-4CE519DCE68C}"/>
              </a:ext>
            </a:extLst>
          </p:cNvPr>
          <p:cNvSpPr/>
          <p:nvPr/>
        </p:nvSpPr>
        <p:spPr>
          <a:xfrm>
            <a:off x="3366008" y="325056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10" name="object 7">
            <a:extLst>
              <a:ext uri="{FF2B5EF4-FFF2-40B4-BE49-F238E27FC236}">
                <a16:creationId xmlns:a16="http://schemas.microsoft.com/office/drawing/2014/main" id="{E3495449-123B-428C-91A6-E91A5D0D291D}"/>
              </a:ext>
            </a:extLst>
          </p:cNvPr>
          <p:cNvSpPr/>
          <p:nvPr/>
        </p:nvSpPr>
        <p:spPr>
          <a:xfrm>
            <a:off x="3282188"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11" name="object 8">
            <a:extLst>
              <a:ext uri="{FF2B5EF4-FFF2-40B4-BE49-F238E27FC236}">
                <a16:creationId xmlns:a16="http://schemas.microsoft.com/office/drawing/2014/main" id="{7B3C8907-0764-6E75-E444-81DE8BC4F3DA}"/>
              </a:ext>
            </a:extLst>
          </p:cNvPr>
          <p:cNvSpPr/>
          <p:nvPr/>
        </p:nvSpPr>
        <p:spPr>
          <a:xfrm>
            <a:off x="3636264"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2" name="object 9">
            <a:extLst>
              <a:ext uri="{FF2B5EF4-FFF2-40B4-BE49-F238E27FC236}">
                <a16:creationId xmlns:a16="http://schemas.microsoft.com/office/drawing/2014/main" id="{9061DE04-C47F-3EA0-D420-0E8B738A8AFE}"/>
              </a:ext>
            </a:extLst>
          </p:cNvPr>
          <p:cNvSpPr/>
          <p:nvPr/>
        </p:nvSpPr>
        <p:spPr>
          <a:xfrm>
            <a:off x="3547364"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13" name="object 10">
            <a:extLst>
              <a:ext uri="{FF2B5EF4-FFF2-40B4-BE49-F238E27FC236}">
                <a16:creationId xmlns:a16="http://schemas.microsoft.com/office/drawing/2014/main" id="{83651DD4-1020-3AD4-F782-FD9130370E68}"/>
              </a:ext>
            </a:extLst>
          </p:cNvPr>
          <p:cNvSpPr/>
          <p:nvPr/>
        </p:nvSpPr>
        <p:spPr>
          <a:xfrm>
            <a:off x="3623564" y="32505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4" name="object 11">
            <a:extLst>
              <a:ext uri="{FF2B5EF4-FFF2-40B4-BE49-F238E27FC236}">
                <a16:creationId xmlns:a16="http://schemas.microsoft.com/office/drawing/2014/main" id="{DFF64780-34F0-6746-E88D-619901449E34}"/>
              </a:ext>
            </a:extLst>
          </p:cNvPr>
          <p:cNvSpPr/>
          <p:nvPr/>
        </p:nvSpPr>
        <p:spPr>
          <a:xfrm>
            <a:off x="3636264" y="32759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5" name="object 12">
            <a:extLst>
              <a:ext uri="{FF2B5EF4-FFF2-40B4-BE49-F238E27FC236}">
                <a16:creationId xmlns:a16="http://schemas.microsoft.com/office/drawing/2014/main" id="{A55F2814-21FF-7D18-0B56-2D8ECAA62A64}"/>
              </a:ext>
            </a:extLst>
          </p:cNvPr>
          <p:cNvSpPr/>
          <p:nvPr/>
        </p:nvSpPr>
        <p:spPr>
          <a:xfrm>
            <a:off x="3623564"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6" name="object 13">
            <a:extLst>
              <a:ext uri="{FF2B5EF4-FFF2-40B4-BE49-F238E27FC236}">
                <a16:creationId xmlns:a16="http://schemas.microsoft.com/office/drawing/2014/main" id="{071FE2DE-D4BC-9011-68D5-38CDA0A8A3BD}"/>
              </a:ext>
            </a:extLst>
          </p:cNvPr>
          <p:cNvSpPr/>
          <p:nvPr/>
        </p:nvSpPr>
        <p:spPr>
          <a:xfrm>
            <a:off x="3636264"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17" name="object 14">
            <a:extLst>
              <a:ext uri="{FF2B5EF4-FFF2-40B4-BE49-F238E27FC236}">
                <a16:creationId xmlns:a16="http://schemas.microsoft.com/office/drawing/2014/main" id="{72313C88-1E49-53B2-965A-679BE90A4801}"/>
              </a:ext>
            </a:extLst>
          </p:cNvPr>
          <p:cNvSpPr/>
          <p:nvPr/>
        </p:nvSpPr>
        <p:spPr>
          <a:xfrm>
            <a:off x="38887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8" name="object 15">
            <a:extLst>
              <a:ext uri="{FF2B5EF4-FFF2-40B4-BE49-F238E27FC236}">
                <a16:creationId xmlns:a16="http://schemas.microsoft.com/office/drawing/2014/main" id="{E327E365-CCEF-D7F0-4D4E-5772E69E4646}"/>
              </a:ext>
            </a:extLst>
          </p:cNvPr>
          <p:cNvSpPr/>
          <p:nvPr/>
        </p:nvSpPr>
        <p:spPr>
          <a:xfrm>
            <a:off x="39014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19" name="object 16">
            <a:extLst>
              <a:ext uri="{FF2B5EF4-FFF2-40B4-BE49-F238E27FC236}">
                <a16:creationId xmlns:a16="http://schemas.microsoft.com/office/drawing/2014/main" id="{7A77E2EB-D89D-BE72-9A00-5D33A7002914}"/>
              </a:ext>
            </a:extLst>
          </p:cNvPr>
          <p:cNvSpPr/>
          <p:nvPr/>
        </p:nvSpPr>
        <p:spPr>
          <a:xfrm>
            <a:off x="39014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0" name="object 17">
            <a:extLst>
              <a:ext uri="{FF2B5EF4-FFF2-40B4-BE49-F238E27FC236}">
                <a16:creationId xmlns:a16="http://schemas.microsoft.com/office/drawing/2014/main" id="{4613E4CB-684A-CA77-CC25-E324CC41F72E}"/>
              </a:ext>
            </a:extLst>
          </p:cNvPr>
          <p:cNvSpPr/>
          <p:nvPr/>
        </p:nvSpPr>
        <p:spPr>
          <a:xfrm>
            <a:off x="3812540"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21" name="object 18">
            <a:extLst>
              <a:ext uri="{FF2B5EF4-FFF2-40B4-BE49-F238E27FC236}">
                <a16:creationId xmlns:a16="http://schemas.microsoft.com/office/drawing/2014/main" id="{BD4A3860-F8F5-FAAF-8CC7-63D3B46F2272}"/>
              </a:ext>
            </a:extLst>
          </p:cNvPr>
          <p:cNvSpPr/>
          <p:nvPr/>
        </p:nvSpPr>
        <p:spPr>
          <a:xfrm>
            <a:off x="3888740"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2" name="object 19">
            <a:extLst>
              <a:ext uri="{FF2B5EF4-FFF2-40B4-BE49-F238E27FC236}">
                <a16:creationId xmlns:a16="http://schemas.microsoft.com/office/drawing/2014/main" id="{457E8B7C-8D04-8DF7-46D1-1F67E9E2DB54}"/>
              </a:ext>
            </a:extLst>
          </p:cNvPr>
          <p:cNvSpPr/>
          <p:nvPr/>
        </p:nvSpPr>
        <p:spPr>
          <a:xfrm>
            <a:off x="3901440"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3" name="object 20">
            <a:extLst>
              <a:ext uri="{FF2B5EF4-FFF2-40B4-BE49-F238E27FC236}">
                <a16:creationId xmlns:a16="http://schemas.microsoft.com/office/drawing/2014/main" id="{661361C9-3316-1CE6-812D-CBDF7A31D0FB}"/>
              </a:ext>
            </a:extLst>
          </p:cNvPr>
          <p:cNvSpPr/>
          <p:nvPr/>
        </p:nvSpPr>
        <p:spPr>
          <a:xfrm>
            <a:off x="41554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4" name="object 21">
            <a:extLst>
              <a:ext uri="{FF2B5EF4-FFF2-40B4-BE49-F238E27FC236}">
                <a16:creationId xmlns:a16="http://schemas.microsoft.com/office/drawing/2014/main" id="{A6CAEDA9-134D-73D6-3613-B3C6FC003642}"/>
              </a:ext>
            </a:extLst>
          </p:cNvPr>
          <p:cNvSpPr/>
          <p:nvPr/>
        </p:nvSpPr>
        <p:spPr>
          <a:xfrm>
            <a:off x="41681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object 22">
            <a:extLst>
              <a:ext uri="{FF2B5EF4-FFF2-40B4-BE49-F238E27FC236}">
                <a16:creationId xmlns:a16="http://schemas.microsoft.com/office/drawing/2014/main" id="{D119968C-6877-6BFB-3C0A-0EB05EF99E53}"/>
              </a:ext>
            </a:extLst>
          </p:cNvPr>
          <p:cNvSpPr/>
          <p:nvPr/>
        </p:nvSpPr>
        <p:spPr>
          <a:xfrm>
            <a:off x="41681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6" name="object 23">
            <a:extLst>
              <a:ext uri="{FF2B5EF4-FFF2-40B4-BE49-F238E27FC236}">
                <a16:creationId xmlns:a16="http://schemas.microsoft.com/office/drawing/2014/main" id="{91B422CF-9176-FD76-AF1C-FD47D4518AC3}"/>
              </a:ext>
            </a:extLst>
          </p:cNvPr>
          <p:cNvSpPr/>
          <p:nvPr/>
        </p:nvSpPr>
        <p:spPr>
          <a:xfrm>
            <a:off x="4155440" y="32886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7" name="object 24">
            <a:extLst>
              <a:ext uri="{FF2B5EF4-FFF2-40B4-BE49-F238E27FC236}">
                <a16:creationId xmlns:a16="http://schemas.microsoft.com/office/drawing/2014/main" id="{7E882F66-A9B2-4426-25B6-C69FA64FA515}"/>
              </a:ext>
            </a:extLst>
          </p:cNvPr>
          <p:cNvSpPr/>
          <p:nvPr/>
        </p:nvSpPr>
        <p:spPr>
          <a:xfrm>
            <a:off x="4451096" y="32810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8" name="object 25">
            <a:extLst>
              <a:ext uri="{FF2B5EF4-FFF2-40B4-BE49-F238E27FC236}">
                <a16:creationId xmlns:a16="http://schemas.microsoft.com/office/drawing/2014/main" id="{BAAE7547-2F1B-0A9A-581B-46F9B3394F92}"/>
              </a:ext>
            </a:extLst>
          </p:cNvPr>
          <p:cNvSpPr/>
          <p:nvPr/>
        </p:nvSpPr>
        <p:spPr>
          <a:xfrm>
            <a:off x="4424032" y="3254547"/>
            <a:ext cx="30480" cy="30480"/>
          </a:xfrm>
          <a:custGeom>
            <a:avLst/>
            <a:gdLst/>
            <a:ahLst/>
            <a:cxnLst/>
            <a:rect l="l" t="t" r="r" b="b"/>
            <a:pathLst>
              <a:path w="30479" h="30479">
                <a:moveTo>
                  <a:pt x="30365" y="15185"/>
                </a:moveTo>
                <a:lnTo>
                  <a:pt x="30365" y="6800"/>
                </a:lnTo>
                <a:lnTo>
                  <a:pt x="23571" y="0"/>
                </a:lnTo>
                <a:lnTo>
                  <a:pt x="15189" y="0"/>
                </a:lnTo>
                <a:lnTo>
                  <a:pt x="6794" y="0"/>
                </a:lnTo>
                <a:lnTo>
                  <a:pt x="0" y="6800"/>
                </a:lnTo>
                <a:lnTo>
                  <a:pt x="0" y="15185"/>
                </a:lnTo>
                <a:lnTo>
                  <a:pt x="0" y="23569"/>
                </a:lnTo>
                <a:lnTo>
                  <a:pt x="6794" y="30370"/>
                </a:lnTo>
                <a:lnTo>
                  <a:pt x="15189" y="30370"/>
                </a:lnTo>
                <a:lnTo>
                  <a:pt x="23571" y="30370"/>
                </a:lnTo>
                <a:lnTo>
                  <a:pt x="30365" y="23569"/>
                </a:lnTo>
                <a:lnTo>
                  <a:pt x="30365" y="15185"/>
                </a:lnTo>
                <a:close/>
              </a:path>
            </a:pathLst>
          </a:custGeom>
          <a:ln w="5060">
            <a:solidFill>
              <a:srgbClr val="ADADE0"/>
            </a:solidFill>
          </a:ln>
        </p:spPr>
        <p:txBody>
          <a:bodyPr wrap="square" lIns="0" tIns="0" rIns="0" bIns="0" rtlCol="0"/>
          <a:lstStyle/>
          <a:p>
            <a:endParaRPr/>
          </a:p>
        </p:txBody>
      </p:sp>
      <p:sp>
        <p:nvSpPr>
          <p:cNvPr id="29" name="object 26">
            <a:extLst>
              <a:ext uri="{FF2B5EF4-FFF2-40B4-BE49-F238E27FC236}">
                <a16:creationId xmlns:a16="http://schemas.microsoft.com/office/drawing/2014/main" id="{A4E0AC37-17BB-171D-AD02-7BA32AC1A3C7}"/>
              </a:ext>
            </a:extLst>
          </p:cNvPr>
          <p:cNvSpPr/>
          <p:nvPr/>
        </p:nvSpPr>
        <p:spPr>
          <a:xfrm>
            <a:off x="4344416" y="3250563"/>
            <a:ext cx="50800" cy="50800"/>
          </a:xfrm>
          <a:custGeom>
            <a:avLst/>
            <a:gdLst/>
            <a:ahLst/>
            <a:cxnLst/>
            <a:rect l="l" t="t" r="r" b="b"/>
            <a:pathLst>
              <a:path w="50800" h="50800">
                <a:moveTo>
                  <a:pt x="25400" y="50800"/>
                </a:moveTo>
                <a:lnTo>
                  <a:pt x="50800" y="25400"/>
                </a:lnTo>
                <a:lnTo>
                  <a:pt x="50388" y="20849"/>
                </a:lnTo>
                <a:lnTo>
                  <a:pt x="25400" y="0"/>
                </a:lnTo>
                <a:lnTo>
                  <a:pt x="20849" y="411"/>
                </a:lnTo>
                <a:lnTo>
                  <a:pt x="411" y="20849"/>
                </a:lnTo>
                <a:lnTo>
                  <a:pt x="0" y="25400"/>
                </a:lnTo>
              </a:path>
            </a:pathLst>
          </a:custGeom>
          <a:ln w="5060">
            <a:solidFill>
              <a:srgbClr val="ADADE0"/>
            </a:solidFill>
          </a:ln>
        </p:spPr>
        <p:txBody>
          <a:bodyPr wrap="square" lIns="0" tIns="0" rIns="0" bIns="0" rtlCol="0"/>
          <a:lstStyle/>
          <a:p>
            <a:endParaRPr/>
          </a:p>
        </p:txBody>
      </p:sp>
      <p:sp>
        <p:nvSpPr>
          <p:cNvPr id="30" name="object 27">
            <a:extLst>
              <a:ext uri="{FF2B5EF4-FFF2-40B4-BE49-F238E27FC236}">
                <a16:creationId xmlns:a16="http://schemas.microsoft.com/office/drawing/2014/main" id="{5D376065-B771-AEA8-2D15-C01831BF38DF}"/>
              </a:ext>
            </a:extLst>
          </p:cNvPr>
          <p:cNvSpPr/>
          <p:nvPr/>
        </p:nvSpPr>
        <p:spPr>
          <a:xfrm>
            <a:off x="43291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1" name="object 28">
            <a:extLst>
              <a:ext uri="{FF2B5EF4-FFF2-40B4-BE49-F238E27FC236}">
                <a16:creationId xmlns:a16="http://schemas.microsoft.com/office/drawing/2014/main" id="{5270E95A-2344-1F95-0275-1FD5F1A2FA67}"/>
              </a:ext>
            </a:extLst>
          </p:cNvPr>
          <p:cNvSpPr/>
          <p:nvPr/>
        </p:nvSpPr>
        <p:spPr>
          <a:xfrm>
            <a:off x="4496816" y="3250563"/>
            <a:ext cx="50800" cy="50800"/>
          </a:xfrm>
          <a:custGeom>
            <a:avLst/>
            <a:gdLst/>
            <a:ahLst/>
            <a:cxnLst/>
            <a:rect l="l" t="t" r="r" b="b"/>
            <a:pathLst>
              <a:path w="50800" h="50800">
                <a:moveTo>
                  <a:pt x="25400" y="50800"/>
                </a:moveTo>
                <a:lnTo>
                  <a:pt x="0" y="25400"/>
                </a:lnTo>
                <a:lnTo>
                  <a:pt x="411" y="20849"/>
                </a:lnTo>
                <a:lnTo>
                  <a:pt x="25400" y="0"/>
                </a:lnTo>
                <a:lnTo>
                  <a:pt x="29950" y="411"/>
                </a:lnTo>
                <a:lnTo>
                  <a:pt x="50388" y="20849"/>
                </a:lnTo>
                <a:lnTo>
                  <a:pt x="50800" y="25400"/>
                </a:lnTo>
              </a:path>
            </a:pathLst>
          </a:custGeom>
          <a:ln w="5060">
            <a:solidFill>
              <a:srgbClr val="ADADE0"/>
            </a:solidFill>
          </a:ln>
        </p:spPr>
        <p:txBody>
          <a:bodyPr wrap="square" lIns="0" tIns="0" rIns="0" bIns="0" rtlCol="0"/>
          <a:lstStyle/>
          <a:p>
            <a:endParaRPr/>
          </a:p>
        </p:txBody>
      </p:sp>
      <p:sp>
        <p:nvSpPr>
          <p:cNvPr id="32" name="object 29">
            <a:extLst>
              <a:ext uri="{FF2B5EF4-FFF2-40B4-BE49-F238E27FC236}">
                <a16:creationId xmlns:a16="http://schemas.microsoft.com/office/drawing/2014/main" id="{201996D8-9460-4DE8-CC79-B562A77DFB32}"/>
              </a:ext>
            </a:extLst>
          </p:cNvPr>
          <p:cNvSpPr/>
          <p:nvPr/>
        </p:nvSpPr>
        <p:spPr>
          <a:xfrm>
            <a:off x="45323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34" name="object 97">
            <a:extLst>
              <a:ext uri="{FF2B5EF4-FFF2-40B4-BE49-F238E27FC236}">
                <a16:creationId xmlns:a16="http://schemas.microsoft.com/office/drawing/2014/main" id="{497ADF6F-7A56-CF29-EB20-D11AC816BAD3}"/>
              </a:ext>
            </a:extLst>
          </p:cNvPr>
          <p:cNvSpPr txBox="1"/>
          <p:nvPr/>
        </p:nvSpPr>
        <p:spPr>
          <a:xfrm>
            <a:off x="3332657" y="3219067"/>
            <a:ext cx="84455" cy="104139"/>
          </a:xfrm>
          <a:prstGeom prst="rect">
            <a:avLst/>
          </a:prstGeom>
        </p:spPr>
        <p:txBody>
          <a:bodyPr vert="horz" wrap="square" lIns="0" tIns="0" rIns="0" bIns="0" rtlCol="0">
            <a:spAutoFit/>
          </a:bodyPr>
          <a:lstStyle/>
          <a:p>
            <a:pPr marL="12700">
              <a:lnSpc>
                <a:spcPct val="100000"/>
              </a:lnSpc>
              <a:tabLst>
                <a:tab pos="71120" algn="l"/>
              </a:tabLst>
            </a:pPr>
            <a:r>
              <a:rPr sz="600" u="sng" spc="-5" dirty="0">
                <a:latin typeface="Times New Roman"/>
                <a:cs typeface="Times New Roman"/>
              </a:rPr>
              <a:t> 	</a:t>
            </a:r>
            <a:endParaRPr sz="600">
              <a:latin typeface="Times New Roman"/>
              <a:cs typeface="Times New Roman"/>
            </a:endParaRPr>
          </a:p>
        </p:txBody>
      </p:sp>
      <p:sp>
        <p:nvSpPr>
          <p:cNvPr id="35" name="object 98">
            <a:extLst>
              <a:ext uri="{FF2B5EF4-FFF2-40B4-BE49-F238E27FC236}">
                <a16:creationId xmlns:a16="http://schemas.microsoft.com/office/drawing/2014/main" id="{32DEB487-AFCD-D65A-4DF8-FF2DBEF4D457}"/>
              </a:ext>
            </a:extLst>
          </p:cNvPr>
          <p:cNvSpPr txBox="1"/>
          <p:nvPr/>
        </p:nvSpPr>
        <p:spPr>
          <a:xfrm>
            <a:off x="4155440" y="3219067"/>
            <a:ext cx="79375" cy="104139"/>
          </a:xfrm>
          <a:prstGeom prst="rect">
            <a:avLst/>
          </a:prstGeom>
        </p:spPr>
        <p:txBody>
          <a:bodyPr vert="horz" wrap="square" lIns="0" tIns="0" rIns="0" bIns="0" rtlCol="0">
            <a:spAutoFit/>
          </a:bodyPr>
          <a:lstStyle/>
          <a:p>
            <a:pPr marL="12700">
              <a:lnSpc>
                <a:spcPct val="100000"/>
              </a:lnSpc>
              <a:tabLst>
                <a:tab pos="66040" algn="l"/>
              </a:tabLst>
            </a:pPr>
            <a:r>
              <a:rPr sz="600" u="sng" spc="-5" dirty="0">
                <a:latin typeface="Times New Roman"/>
                <a:cs typeface="Times New Roman"/>
              </a:rPr>
              <a:t> 	</a:t>
            </a:r>
            <a:endParaRPr sz="600">
              <a:latin typeface="Times New Roman"/>
              <a:cs typeface="Times New Roman"/>
            </a:endParaRPr>
          </a:p>
        </p:txBody>
      </p:sp>
      <p:sp>
        <p:nvSpPr>
          <p:cNvPr id="36" name="object 99">
            <a:extLst>
              <a:ext uri="{FF2B5EF4-FFF2-40B4-BE49-F238E27FC236}">
                <a16:creationId xmlns:a16="http://schemas.microsoft.com/office/drawing/2014/main" id="{F61A15EC-B1E7-EBBC-21FC-EDA4BCCE6A28}"/>
              </a:ext>
            </a:extLst>
          </p:cNvPr>
          <p:cNvSpPr/>
          <p:nvPr/>
        </p:nvSpPr>
        <p:spPr>
          <a:xfrm>
            <a:off x="-152" y="3345713"/>
            <a:ext cx="4608093" cy="111252"/>
          </a:xfrm>
          <a:prstGeom prst="rect">
            <a:avLst/>
          </a:prstGeom>
          <a:blipFill>
            <a:blip r:embed="rId2" cstate="print"/>
            <a:stretch>
              <a:fillRect/>
            </a:stretch>
          </a:blipFill>
        </p:spPr>
        <p:txBody>
          <a:bodyPr wrap="square" lIns="0" tIns="0" rIns="0" bIns="0" rtlCol="0"/>
          <a:lstStyle/>
          <a:p>
            <a:endParaRPr/>
          </a:p>
        </p:txBody>
      </p:sp>
      <p:sp>
        <p:nvSpPr>
          <p:cNvPr id="37" name="object 100">
            <a:extLst>
              <a:ext uri="{FF2B5EF4-FFF2-40B4-BE49-F238E27FC236}">
                <a16:creationId xmlns:a16="http://schemas.microsoft.com/office/drawing/2014/main" id="{7C5DBEB8-103F-BC1C-5E2A-430600EAE71D}"/>
              </a:ext>
            </a:extLst>
          </p:cNvPr>
          <p:cNvSpPr txBox="1"/>
          <p:nvPr/>
        </p:nvSpPr>
        <p:spPr>
          <a:xfrm>
            <a:off x="68074" y="3347973"/>
            <a:ext cx="1401445" cy="89768"/>
          </a:xfrm>
          <a:prstGeom prst="rect">
            <a:avLst/>
          </a:prstGeom>
        </p:spPr>
        <p:txBody>
          <a:bodyPr vert="horz" wrap="square" lIns="0" tIns="0" rIns="0" bIns="0" rtlCol="0">
            <a:spAutoFit/>
          </a:bodyPr>
          <a:lstStyle/>
          <a:p>
            <a:pPr marL="12700">
              <a:lnSpc>
                <a:spcPts val="700"/>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600" spc="-5" dirty="0">
                <a:solidFill>
                  <a:srgbClr val="F2F2F2"/>
                </a:solidFill>
                <a:latin typeface="Times New Roman"/>
                <a:cs typeface="Times New Roman"/>
              </a:rPr>
              <a:t>(</a:t>
            </a:r>
            <a:r>
              <a:rPr lang="en-US" sz="600" spc="-5" dirty="0">
                <a:solidFill>
                  <a:srgbClr val="F2F2F2"/>
                </a:solidFill>
                <a:latin typeface="Times New Roman"/>
                <a:cs typeface="Times New Roman"/>
              </a:rPr>
              <a:t>Zhiqing Yang</a:t>
            </a:r>
            <a:r>
              <a:rPr sz="600" spc="135" dirty="0">
                <a:solidFill>
                  <a:srgbClr val="F2F2F2"/>
                </a:solidFill>
                <a:latin typeface="Times New Roman"/>
                <a:cs typeface="Times New Roman"/>
              </a:rPr>
              <a:t> </a:t>
            </a:r>
            <a:r>
              <a:rPr lang="en-US" altLang="zh-CN" sz="600" spc="-5" dirty="0" err="1">
                <a:solidFill>
                  <a:srgbClr val="F2F2F2"/>
                </a:solidFill>
                <a:latin typeface="Times New Roman"/>
                <a:cs typeface="Times New Roman"/>
              </a:rPr>
              <a:t>yangzhiqing</a:t>
            </a:r>
            <a:r>
              <a:rPr sz="600" spc="-5" dirty="0" err="1">
                <a:solidFill>
                  <a:srgbClr val="F2F2F2"/>
                </a:solidFill>
                <a:latin typeface="Times New Roman"/>
                <a:cs typeface="Times New Roman"/>
              </a:rPr>
              <a:t>@</a:t>
            </a:r>
            <a:r>
              <a:rPr lang="en-US" sz="600" spc="-5" dirty="0" err="1">
                <a:solidFill>
                  <a:srgbClr val="F2F2F2"/>
                </a:solidFill>
                <a:latin typeface="Times New Roman"/>
                <a:cs typeface="Times New Roman"/>
              </a:rPr>
              <a:t>hust.edu.cn</a:t>
            </a:r>
            <a:r>
              <a:rPr sz="600" spc="-5" dirty="0">
                <a:solidFill>
                  <a:srgbClr val="F2F2F2"/>
                </a:solidFill>
                <a:latin typeface="Times New Roman"/>
                <a:cs typeface="Times New Roman"/>
              </a:rPr>
              <a:t>)</a:t>
            </a:r>
            <a:endParaRPr sz="600" dirty="0">
              <a:latin typeface="Times New Roman"/>
              <a:cs typeface="Times New Roman"/>
            </a:endParaRPr>
          </a:p>
        </p:txBody>
      </p:sp>
      <p:sp>
        <p:nvSpPr>
          <p:cNvPr id="38" name="object 101">
            <a:extLst>
              <a:ext uri="{FF2B5EF4-FFF2-40B4-BE49-F238E27FC236}">
                <a16:creationId xmlns:a16="http://schemas.microsoft.com/office/drawing/2014/main" id="{FAA6D750-0B2E-8DBD-32D9-C6967AFDDBD3}"/>
              </a:ext>
            </a:extLst>
          </p:cNvPr>
          <p:cNvSpPr txBox="1">
            <a:spLocks noGrp="1"/>
          </p:cNvSpPr>
          <p:nvPr>
            <p:ph type="dt" sz="half" idx="6"/>
          </p:nvPr>
        </p:nvSpPr>
        <p:spPr>
          <a:xfrm>
            <a:off x="2059938" y="3347973"/>
            <a:ext cx="677159" cy="89768"/>
          </a:xfrm>
          <a:prstGeom prst="rect">
            <a:avLst/>
          </a:prstGeom>
        </p:spPr>
        <p:txBody>
          <a:bodyPr vert="horz" wrap="square" lIns="0" tIns="0" rIns="0" bIns="0" rtlCol="0">
            <a:spAutoFit/>
          </a:bodyPr>
          <a:lstStyle/>
          <a:p>
            <a:pPr marL="12700" algn="ctr">
              <a:lnSpc>
                <a:spcPts val="700"/>
              </a:lnSpc>
            </a:pPr>
            <a:r>
              <a:rPr lang="en-US" spc="-5" dirty="0"/>
              <a:t>Macroeconomics</a:t>
            </a:r>
            <a:endParaRPr spc="-5" dirty="0"/>
          </a:p>
        </p:txBody>
      </p:sp>
      <p:sp>
        <p:nvSpPr>
          <p:cNvPr id="39" name="object 102">
            <a:extLst>
              <a:ext uri="{FF2B5EF4-FFF2-40B4-BE49-F238E27FC236}">
                <a16:creationId xmlns:a16="http://schemas.microsoft.com/office/drawing/2014/main" id="{701E90DA-892A-2EA1-1CDF-695125385F20}"/>
              </a:ext>
            </a:extLst>
          </p:cNvPr>
          <p:cNvSpPr txBox="1"/>
          <p:nvPr/>
        </p:nvSpPr>
        <p:spPr>
          <a:xfrm>
            <a:off x="3762247" y="3347973"/>
            <a:ext cx="448945" cy="89768"/>
          </a:xfrm>
          <a:prstGeom prst="rect">
            <a:avLst/>
          </a:prstGeom>
        </p:spPr>
        <p:txBody>
          <a:bodyPr vert="horz" wrap="square" lIns="0" tIns="0" rIns="0" bIns="0" rtlCol="0">
            <a:spAutoFit/>
          </a:bodyPr>
          <a:lstStyle/>
          <a:p>
            <a:pPr marL="12700">
              <a:lnSpc>
                <a:spcPts val="700"/>
              </a:lnSpc>
            </a:pPr>
            <a:r>
              <a:rPr sz="600" spc="-5" dirty="0">
                <a:solidFill>
                  <a:srgbClr val="7A0000"/>
                </a:solidFill>
                <a:latin typeface="Times New Roman"/>
                <a:cs typeface="Times New Roman"/>
              </a:rPr>
              <a:t>20</a:t>
            </a:r>
            <a:r>
              <a:rPr lang="en-US" sz="600" spc="-5" dirty="0">
                <a:solidFill>
                  <a:srgbClr val="7A0000"/>
                </a:solidFill>
                <a:latin typeface="Times New Roman"/>
                <a:cs typeface="Times New Roman"/>
              </a:rPr>
              <a:t>23Feb</a:t>
            </a:r>
            <a:endParaRPr sz="600" dirty="0">
              <a:latin typeface="Times New Roman"/>
              <a:cs typeface="Times New Roman"/>
            </a:endParaRPr>
          </a:p>
        </p:txBody>
      </p:sp>
    </p:spTree>
    <p:extLst>
      <p:ext uri="{BB962C8B-B14F-4D97-AF65-F5344CB8AC3E}">
        <p14:creationId xmlns:p14="http://schemas.microsoft.com/office/powerpoint/2010/main" val="3804489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a:extLst>
              <a:ext uri="{FF2B5EF4-FFF2-40B4-BE49-F238E27FC236}">
                <a16:creationId xmlns:a16="http://schemas.microsoft.com/office/drawing/2014/main" id="{6656E2FD-CD49-6CCD-F78F-49CD16287FCB}"/>
              </a:ext>
            </a:extLst>
          </p:cNvPr>
          <p:cNvSpPr txBox="1"/>
          <p:nvPr/>
        </p:nvSpPr>
        <p:spPr>
          <a:xfrm>
            <a:off x="0" y="0"/>
            <a:ext cx="4610100" cy="460382"/>
          </a:xfrm>
          <a:prstGeom prst="rect">
            <a:avLst/>
          </a:prstGeom>
          <a:solidFill>
            <a:srgbClr val="C00000"/>
          </a:solidFill>
        </p:spPr>
        <p:txBody>
          <a:bodyPr wrap="square" rtlCol="0">
            <a:spAutoFit/>
          </a:bodyPr>
          <a:lstStyle/>
          <a:p>
            <a:pPr algn="ctr">
              <a:lnSpc>
                <a:spcPct val="150000"/>
              </a:lnSpc>
            </a:pPr>
            <a:r>
              <a:rPr kumimoji="1" lang="zh-CN" altLang="en-US" dirty="0">
                <a:solidFill>
                  <a:schemeClr val="bg1"/>
                </a:solidFill>
                <a:latin typeface="Microsoft YaHei" panose="020B0503020204020204" pitchFamily="34" charset="-122"/>
                <a:ea typeface="Microsoft YaHei" panose="020B0503020204020204" pitchFamily="34" charset="-122"/>
              </a:rPr>
              <a:t>教材与学习资料</a:t>
            </a:r>
          </a:p>
        </p:txBody>
      </p:sp>
      <p:sp>
        <p:nvSpPr>
          <p:cNvPr id="4" name="内容占位符 2">
            <a:extLst>
              <a:ext uri="{FF2B5EF4-FFF2-40B4-BE49-F238E27FC236}">
                <a16:creationId xmlns:a16="http://schemas.microsoft.com/office/drawing/2014/main" id="{B7212435-FB80-74B3-0882-4B8A3B7B83F3}"/>
              </a:ext>
            </a:extLst>
          </p:cNvPr>
          <p:cNvSpPr txBox="1">
            <a:spLocks/>
          </p:cNvSpPr>
          <p:nvPr/>
        </p:nvSpPr>
        <p:spPr>
          <a:xfrm>
            <a:off x="138684" y="504730"/>
            <a:ext cx="4332732" cy="2796633"/>
          </a:xfrm>
          <a:prstGeom prst="rect">
            <a:avLst/>
          </a:prstGeom>
        </p:spPr>
        <p:txBody>
          <a:bodyPr wrap="square" lIns="0" tIns="0" rIns="0" bIns="0">
            <a:normAutofit lnSpcReduction="10000"/>
          </a:bodyPr>
          <a:lstStyle>
            <a:lvl1pPr marL="0" eaLnBrk="1" hangingPunct="1">
              <a:defRPr sz="1000" b="0" i="0">
                <a:solidFill>
                  <a:schemeClr val="tx1"/>
                </a:solidFill>
                <a:latin typeface="Times New Roman"/>
                <a:ea typeface="+mn-ea"/>
                <a:cs typeface="Times New Roman"/>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171450" indent="-171450">
              <a:lnSpc>
                <a:spcPct val="140000"/>
              </a:lnSpc>
              <a:buFont typeface="Arial" panose="020B0604020202020204" pitchFamily="34" charset="0"/>
              <a:buChar char="•"/>
            </a:pPr>
            <a:r>
              <a:rPr lang="en-US" altLang="zh-CN" sz="1400" b="1" kern="0" dirty="0">
                <a:latin typeface="Garamond" panose="02020404030301010803" pitchFamily="18" charset="0"/>
                <a:ea typeface="DengXian" panose="02010600030101010101" pitchFamily="2" charset="-122"/>
              </a:rPr>
              <a:t>1.</a:t>
            </a:r>
            <a:r>
              <a:rPr lang="zh-CN" altLang="en-US" sz="1400" b="1" kern="0" dirty="0">
                <a:latin typeface="Garamond" panose="02020404030301010803" pitchFamily="18" charset="0"/>
                <a:ea typeface="DengXian" panose="02010600030101010101" pitchFamily="2" charset="-122"/>
              </a:rPr>
              <a:t> 教材</a:t>
            </a:r>
            <a:endParaRPr lang="en-US" altLang="zh-CN" sz="1400" b="1" kern="0" dirty="0">
              <a:latin typeface="Garamond" panose="02020404030301010803" pitchFamily="18" charset="0"/>
              <a:ea typeface="DengXian" panose="02010600030101010101" pitchFamily="2" charset="-122"/>
            </a:endParaRPr>
          </a:p>
          <a:p>
            <a:pPr marL="171450" indent="-171450">
              <a:lnSpc>
                <a:spcPct val="140000"/>
              </a:lnSpc>
              <a:buFont typeface="Arial" panose="020B0604020202020204" pitchFamily="34" charset="0"/>
              <a:buChar char="•"/>
            </a:pPr>
            <a:r>
              <a:rPr lang="en-US" altLang="zh-CN" sz="1300" dirty="0">
                <a:latin typeface="Garamond" panose="02020404030301010803" pitchFamily="18" charset="0"/>
                <a:ea typeface="KaiTi" panose="02010609060101010101" pitchFamily="49" charset="-122"/>
              </a:rPr>
              <a:t>《</a:t>
            </a:r>
            <a:r>
              <a:rPr lang="zh-CN" altLang="en-US" sz="1300" dirty="0">
                <a:latin typeface="Garamond" panose="02020404030301010803" pitchFamily="18" charset="0"/>
                <a:ea typeface="KaiTi" panose="02010609060101010101" pitchFamily="49" charset="-122"/>
              </a:rPr>
              <a:t>西方经济学</a:t>
            </a:r>
            <a:r>
              <a:rPr lang="en-US" altLang="zh-CN" sz="1300" dirty="0">
                <a:latin typeface="Garamond" panose="02020404030301010803" pitchFamily="18" charset="0"/>
                <a:ea typeface="KaiTi" panose="02010609060101010101" pitchFamily="49" charset="-122"/>
              </a:rPr>
              <a:t>》</a:t>
            </a:r>
            <a:r>
              <a:rPr lang="zh-CN" altLang="en-US" sz="1300" dirty="0">
                <a:latin typeface="Garamond" panose="02020404030301010803" pitchFamily="18" charset="0"/>
                <a:ea typeface="KaiTi" panose="02010609060101010101" pitchFamily="49" charset="-122"/>
              </a:rPr>
              <a:t>编写组：</a:t>
            </a:r>
            <a:r>
              <a:rPr lang="en-US" altLang="zh-CN" sz="1300" dirty="0">
                <a:latin typeface="Garamond" panose="02020404030301010803" pitchFamily="18" charset="0"/>
                <a:ea typeface="KaiTi" panose="02010609060101010101" pitchFamily="49" charset="-122"/>
              </a:rPr>
              <a:t>《</a:t>
            </a:r>
            <a:r>
              <a:rPr lang="zh-CN" altLang="en-US" sz="1300" dirty="0">
                <a:latin typeface="Garamond" panose="02020404030301010803" pitchFamily="18" charset="0"/>
                <a:ea typeface="KaiTi" panose="02010609060101010101" pitchFamily="49" charset="-122"/>
              </a:rPr>
              <a:t>西方经济学（下册）</a:t>
            </a:r>
            <a:r>
              <a:rPr lang="en-US" altLang="zh-CN" sz="1300" dirty="0">
                <a:latin typeface="Garamond" panose="02020404030301010803" pitchFamily="18" charset="0"/>
                <a:ea typeface="KaiTi" panose="02010609060101010101" pitchFamily="49" charset="-122"/>
              </a:rPr>
              <a:t>》</a:t>
            </a:r>
            <a:r>
              <a:rPr lang="zh-CN" altLang="en-US" sz="1300" dirty="0">
                <a:latin typeface="Garamond" panose="02020404030301010803" pitchFamily="18" charset="0"/>
                <a:ea typeface="KaiTi" panose="02010609060101010101" pitchFamily="49" charset="-122"/>
              </a:rPr>
              <a:t>，高等教育出版社（马克思主义理论研究和建设工程重点教材）</a:t>
            </a:r>
            <a:endParaRPr lang="en-US" altLang="zh-CN" sz="1300" dirty="0">
              <a:latin typeface="Garamond" panose="02020404030301010803" pitchFamily="18" charset="0"/>
              <a:ea typeface="KaiTi" panose="02010609060101010101" pitchFamily="49" charset="-122"/>
            </a:endParaRPr>
          </a:p>
          <a:p>
            <a:pPr marL="171450" indent="-171450">
              <a:lnSpc>
                <a:spcPct val="140000"/>
              </a:lnSpc>
              <a:buFont typeface="Arial" panose="020B0604020202020204" pitchFamily="34" charset="0"/>
              <a:buChar char="•"/>
            </a:pPr>
            <a:r>
              <a:rPr lang="en-US" altLang="zh-CN" sz="1400" b="1" kern="0" dirty="0">
                <a:latin typeface="Garamond" panose="02020404030301010803" pitchFamily="18" charset="0"/>
                <a:ea typeface="DengXian" panose="02010600030101010101" pitchFamily="2" charset="-122"/>
              </a:rPr>
              <a:t>2.</a:t>
            </a:r>
            <a:r>
              <a:rPr lang="zh-CN" altLang="en-US" sz="1400" b="1" kern="0" dirty="0">
                <a:latin typeface="Garamond" panose="02020404030301010803" pitchFamily="18" charset="0"/>
                <a:ea typeface="DengXian" panose="02010600030101010101" pitchFamily="2" charset="-122"/>
              </a:rPr>
              <a:t> 推荐学习资料</a:t>
            </a:r>
            <a:endParaRPr lang="en-US" altLang="zh-CN" sz="1400" b="1" kern="0" dirty="0">
              <a:latin typeface="Garamond" panose="02020404030301010803" pitchFamily="18" charset="0"/>
              <a:ea typeface="DengXian" panose="02010600030101010101" pitchFamily="2" charset="-122"/>
            </a:endParaRPr>
          </a:p>
          <a:p>
            <a:pPr marL="171450" indent="-171450">
              <a:lnSpc>
                <a:spcPct val="140000"/>
              </a:lnSpc>
              <a:buFont typeface="Arial" panose="020B0604020202020204" pitchFamily="34" charset="0"/>
              <a:buChar char="•"/>
            </a:pPr>
            <a:r>
              <a:rPr lang="zh-CN" altLang="en-US" sz="1300" u="sng" dirty="0">
                <a:latin typeface="Garamond" panose="02020404030301010803" pitchFamily="18" charset="0"/>
                <a:ea typeface="KaiTi" panose="02010609060101010101" pitchFamily="49" charset="-122"/>
              </a:rPr>
              <a:t>书籍</a:t>
            </a:r>
            <a:r>
              <a:rPr lang="zh-CN" altLang="en-US" sz="1300" dirty="0">
                <a:latin typeface="Garamond" panose="02020404030301010803" pitchFamily="18" charset="0"/>
                <a:ea typeface="KaiTi" panose="02010609060101010101" pitchFamily="49" charset="-122"/>
              </a:rPr>
              <a:t>：</a:t>
            </a:r>
            <a:r>
              <a:rPr lang="en-US" altLang="zh-CN" sz="1300" dirty="0">
                <a:latin typeface="Garamond" panose="02020404030301010803" pitchFamily="18" charset="0"/>
                <a:ea typeface="KaiTi" panose="02010609060101010101" pitchFamily="49" charset="-122"/>
              </a:rPr>
              <a:t>《</a:t>
            </a:r>
            <a:r>
              <a:rPr lang="zh-CN" altLang="en-US" sz="1300" dirty="0">
                <a:latin typeface="Garamond" panose="02020404030301010803" pitchFamily="18" charset="0"/>
                <a:ea typeface="KaiTi" panose="02010609060101010101" pitchFamily="49" charset="-122"/>
              </a:rPr>
              <a:t>贫穷的本质</a:t>
            </a:r>
            <a:r>
              <a:rPr lang="en-US" altLang="zh-CN" sz="1300" dirty="0">
                <a:latin typeface="Garamond" panose="02020404030301010803" pitchFamily="18" charset="0"/>
                <a:ea typeface="KaiTi" panose="02010609060101010101" pitchFamily="49" charset="-122"/>
              </a:rPr>
              <a:t>》</a:t>
            </a:r>
            <a:r>
              <a:rPr lang="zh-CN" altLang="en-US" sz="1300" dirty="0">
                <a:latin typeface="Garamond" panose="02020404030301010803" pitchFamily="18" charset="0"/>
                <a:ea typeface="KaiTi" panose="02010609060101010101" pitchFamily="49" charset="-122"/>
              </a:rPr>
              <a:t>，</a:t>
            </a:r>
            <a:r>
              <a:rPr lang="en-US" altLang="zh-CN" sz="1300" dirty="0">
                <a:latin typeface="Garamond" panose="02020404030301010803" pitchFamily="18" charset="0"/>
                <a:ea typeface="KaiTi" panose="02010609060101010101" pitchFamily="49" charset="-122"/>
              </a:rPr>
              <a:t>《</a:t>
            </a:r>
            <a:r>
              <a:rPr lang="zh-CN" altLang="en-US" sz="1300" dirty="0">
                <a:latin typeface="Garamond" panose="02020404030301010803" pitchFamily="18" charset="0"/>
                <a:ea typeface="KaiTi" panose="02010609060101010101" pitchFamily="49" charset="-122"/>
              </a:rPr>
              <a:t>我们的孩子</a:t>
            </a:r>
            <a:r>
              <a:rPr lang="en-US" altLang="zh-CN" sz="1300" dirty="0">
                <a:latin typeface="Garamond" panose="02020404030301010803" pitchFamily="18" charset="0"/>
                <a:ea typeface="KaiTi" panose="02010609060101010101" pitchFamily="49" charset="-122"/>
              </a:rPr>
              <a:t>/</a:t>
            </a:r>
            <a:r>
              <a:rPr lang="en" altLang="zh-CN" sz="1300" dirty="0">
                <a:latin typeface="Garamond" panose="02020404030301010803" pitchFamily="18" charset="0"/>
                <a:ea typeface="KaiTi" panose="02010609060101010101" pitchFamily="49" charset="-122"/>
              </a:rPr>
              <a:t>OUR KIDS:</a:t>
            </a:r>
            <a:r>
              <a:rPr lang="zh-CN" altLang="en-US" sz="1300" dirty="0">
                <a:latin typeface="Garamond" panose="02020404030301010803" pitchFamily="18" charset="0"/>
                <a:ea typeface="KaiTi" panose="02010609060101010101" pitchFamily="49" charset="-122"/>
              </a:rPr>
              <a:t> </a:t>
            </a:r>
            <a:r>
              <a:rPr lang="en" altLang="zh-CN" sz="1300" dirty="0">
                <a:latin typeface="Garamond" panose="02020404030301010803" pitchFamily="18" charset="0"/>
                <a:ea typeface="KaiTi" panose="02010609060101010101" pitchFamily="49" charset="-122"/>
              </a:rPr>
              <a:t>The American Dream in Crisis</a:t>
            </a:r>
            <a:r>
              <a:rPr lang="en-US" altLang="zh-CN" sz="1300" dirty="0">
                <a:latin typeface="Garamond" panose="02020404030301010803" pitchFamily="18" charset="0"/>
                <a:ea typeface="KaiTi" panose="02010609060101010101" pitchFamily="49" charset="-122"/>
              </a:rPr>
              <a:t>》</a:t>
            </a:r>
            <a:r>
              <a:rPr lang="zh-CN" altLang="en-US" sz="1300" dirty="0">
                <a:latin typeface="Garamond" panose="02020404030301010803" pitchFamily="18" charset="0"/>
                <a:ea typeface="KaiTi" panose="02010609060101010101" pitchFamily="49" charset="-122"/>
              </a:rPr>
              <a:t>，</a:t>
            </a:r>
            <a:r>
              <a:rPr lang="en-US" altLang="zh-CN" sz="1300" dirty="0">
                <a:latin typeface="Garamond" panose="02020404030301010803" pitchFamily="18" charset="0"/>
                <a:ea typeface="KaiTi" panose="02010609060101010101" pitchFamily="49" charset="-122"/>
              </a:rPr>
              <a:t>《</a:t>
            </a:r>
            <a:r>
              <a:rPr lang="zh-CN" altLang="en-US" sz="1300" dirty="0">
                <a:latin typeface="Garamond" panose="02020404030301010803" pitchFamily="18" charset="0"/>
                <a:ea typeface="KaiTi" panose="02010609060101010101" pitchFamily="49" charset="-122"/>
              </a:rPr>
              <a:t>枪炮、病菌与钢铁</a:t>
            </a:r>
            <a:r>
              <a:rPr lang="en-US" altLang="zh-CN" sz="1300" dirty="0">
                <a:latin typeface="Garamond" panose="02020404030301010803" pitchFamily="18" charset="0"/>
                <a:ea typeface="KaiTi" panose="02010609060101010101" pitchFamily="49" charset="-122"/>
              </a:rPr>
              <a:t>》(</a:t>
            </a:r>
            <a:r>
              <a:rPr lang="zh-CN" altLang="en-US" sz="1300" dirty="0">
                <a:latin typeface="Garamond" panose="02020404030301010803" pitchFamily="18" charset="0"/>
                <a:ea typeface="KaiTi" panose="02010609060101010101" pitchFamily="49" charset="-122"/>
              </a:rPr>
              <a:t> </a:t>
            </a:r>
            <a:r>
              <a:rPr lang="en-US" altLang="zh-CN" sz="1300" dirty="0">
                <a:latin typeface="Garamond" panose="02020404030301010803" pitchFamily="18" charset="0"/>
                <a:ea typeface="KaiTi" panose="02010609060101010101" pitchFamily="49" charset="-122"/>
              </a:rPr>
              <a:t>Jared Diamond), 《</a:t>
            </a:r>
            <a:r>
              <a:rPr lang="zh-CN" altLang="en-US" sz="1300" dirty="0">
                <a:latin typeface="Garamond" panose="02020404030301010803" pitchFamily="18" charset="0"/>
                <a:ea typeface="KaiTi" panose="02010609060101010101" pitchFamily="49" charset="-122"/>
              </a:rPr>
              <a:t>为什么有的国家富裕、有的国家贫穷</a:t>
            </a:r>
            <a:r>
              <a:rPr lang="en-US" altLang="zh-CN" sz="1300" dirty="0">
                <a:latin typeface="Garamond" panose="02020404030301010803" pitchFamily="18" charset="0"/>
                <a:ea typeface="KaiTi" panose="02010609060101010101" pitchFamily="49" charset="-122"/>
              </a:rPr>
              <a:t>/Comparing Human Societies》(Jared Diamond)</a:t>
            </a:r>
          </a:p>
          <a:p>
            <a:pPr marL="171450" indent="-171450">
              <a:lnSpc>
                <a:spcPct val="140000"/>
              </a:lnSpc>
              <a:buFont typeface="Arial" panose="020B0604020202020204" pitchFamily="34" charset="0"/>
              <a:buChar char="•"/>
            </a:pPr>
            <a:r>
              <a:rPr lang="zh-CN" altLang="en-US" sz="1300" u="sng" dirty="0">
                <a:latin typeface="Garamond" panose="02020404030301010803" pitchFamily="18" charset="0"/>
                <a:ea typeface="KaiTi" panose="02010609060101010101" pitchFamily="49" charset="-122"/>
              </a:rPr>
              <a:t>期刊</a:t>
            </a:r>
            <a:r>
              <a:rPr lang="zh-CN" altLang="en-US" sz="1300" dirty="0">
                <a:latin typeface="Garamond" panose="02020404030301010803" pitchFamily="18" charset="0"/>
                <a:ea typeface="KaiTi" panose="02010609060101010101" pitchFamily="49" charset="-122"/>
              </a:rPr>
              <a:t>：经济研究、管理世界、经济学季刊、</a:t>
            </a:r>
            <a:r>
              <a:rPr lang="en-US" altLang="zh-CN" sz="1300" dirty="0">
                <a:latin typeface="Garamond" panose="02020404030301010803" pitchFamily="18" charset="0"/>
                <a:ea typeface="KaiTi" panose="02010609060101010101" pitchFamily="49" charset="-122"/>
              </a:rPr>
              <a:t>Journal</a:t>
            </a:r>
            <a:r>
              <a:rPr lang="zh-CN" altLang="en-US" sz="1300" dirty="0">
                <a:latin typeface="Garamond" panose="02020404030301010803" pitchFamily="18" charset="0"/>
                <a:ea typeface="KaiTi" panose="02010609060101010101" pitchFamily="49" charset="-122"/>
              </a:rPr>
              <a:t> </a:t>
            </a:r>
            <a:r>
              <a:rPr lang="en-US" altLang="zh-CN" sz="1300" dirty="0">
                <a:latin typeface="Garamond" panose="02020404030301010803" pitchFamily="18" charset="0"/>
                <a:ea typeface="KaiTi" panose="02010609060101010101" pitchFamily="49" charset="-122"/>
              </a:rPr>
              <a:t>of Development Economics, China Economic Review</a:t>
            </a:r>
          </a:p>
          <a:p>
            <a:pPr marL="171450" indent="-171450">
              <a:lnSpc>
                <a:spcPct val="140000"/>
              </a:lnSpc>
              <a:buFont typeface="Arial" panose="020B0604020202020204" pitchFamily="34" charset="0"/>
              <a:buChar char="•"/>
            </a:pPr>
            <a:endParaRPr lang="en-US" altLang="zh-CN" sz="1300" dirty="0">
              <a:latin typeface="Garamond" panose="02020404030301010803" pitchFamily="18" charset="0"/>
              <a:ea typeface="KaiTi" panose="02010609060101010101" pitchFamily="49" charset="-122"/>
            </a:endParaRPr>
          </a:p>
        </p:txBody>
      </p:sp>
      <p:sp>
        <p:nvSpPr>
          <p:cNvPr id="5" name="object 99">
            <a:extLst>
              <a:ext uri="{FF2B5EF4-FFF2-40B4-BE49-F238E27FC236}">
                <a16:creationId xmlns:a16="http://schemas.microsoft.com/office/drawing/2014/main" id="{C3BC281E-3F81-5318-133F-B676F9D65366}"/>
              </a:ext>
            </a:extLst>
          </p:cNvPr>
          <p:cNvSpPr/>
          <p:nvPr/>
        </p:nvSpPr>
        <p:spPr>
          <a:xfrm>
            <a:off x="-152" y="3345713"/>
            <a:ext cx="4608093" cy="111252"/>
          </a:xfrm>
          <a:prstGeom prst="rect">
            <a:avLst/>
          </a:prstGeom>
          <a:blipFill>
            <a:blip r:embed="rId2" cstate="print"/>
            <a:stretch>
              <a:fillRect/>
            </a:stretch>
          </a:blipFill>
        </p:spPr>
        <p:txBody>
          <a:bodyPr wrap="square" lIns="0" tIns="0" rIns="0" bIns="0" rtlCol="0"/>
          <a:lstStyle/>
          <a:p>
            <a:endParaRPr/>
          </a:p>
        </p:txBody>
      </p:sp>
      <p:sp>
        <p:nvSpPr>
          <p:cNvPr id="6" name="object 100">
            <a:extLst>
              <a:ext uri="{FF2B5EF4-FFF2-40B4-BE49-F238E27FC236}">
                <a16:creationId xmlns:a16="http://schemas.microsoft.com/office/drawing/2014/main" id="{0258CB7C-CEDC-804C-E53E-9E3CC80BF111}"/>
              </a:ext>
            </a:extLst>
          </p:cNvPr>
          <p:cNvSpPr txBox="1"/>
          <p:nvPr/>
        </p:nvSpPr>
        <p:spPr>
          <a:xfrm>
            <a:off x="68074" y="3347973"/>
            <a:ext cx="1401445" cy="89768"/>
          </a:xfrm>
          <a:prstGeom prst="rect">
            <a:avLst/>
          </a:prstGeom>
        </p:spPr>
        <p:txBody>
          <a:bodyPr vert="horz" wrap="square" lIns="0" tIns="0" rIns="0" bIns="0" rtlCol="0">
            <a:spAutoFit/>
          </a:bodyPr>
          <a:lstStyle/>
          <a:p>
            <a:pPr marL="12700">
              <a:lnSpc>
                <a:spcPts val="700"/>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600" spc="-5" dirty="0">
                <a:solidFill>
                  <a:srgbClr val="F2F2F2"/>
                </a:solidFill>
                <a:latin typeface="Times New Roman"/>
                <a:cs typeface="Times New Roman"/>
              </a:rPr>
              <a:t>(</a:t>
            </a:r>
            <a:r>
              <a:rPr lang="en-US" sz="600" spc="-5" dirty="0">
                <a:solidFill>
                  <a:srgbClr val="F2F2F2"/>
                </a:solidFill>
                <a:latin typeface="Times New Roman"/>
                <a:cs typeface="Times New Roman"/>
              </a:rPr>
              <a:t>Zhiqing Yang</a:t>
            </a:r>
            <a:r>
              <a:rPr sz="600" spc="135" dirty="0">
                <a:solidFill>
                  <a:srgbClr val="F2F2F2"/>
                </a:solidFill>
                <a:latin typeface="Times New Roman"/>
                <a:cs typeface="Times New Roman"/>
              </a:rPr>
              <a:t> </a:t>
            </a:r>
            <a:r>
              <a:rPr lang="en-US" altLang="zh-CN" sz="600" spc="-5" dirty="0" err="1">
                <a:solidFill>
                  <a:srgbClr val="F2F2F2"/>
                </a:solidFill>
                <a:latin typeface="Times New Roman"/>
                <a:cs typeface="Times New Roman"/>
              </a:rPr>
              <a:t>yangzhiqing</a:t>
            </a:r>
            <a:r>
              <a:rPr sz="600" spc="-5" dirty="0" err="1">
                <a:solidFill>
                  <a:srgbClr val="F2F2F2"/>
                </a:solidFill>
                <a:latin typeface="Times New Roman"/>
                <a:cs typeface="Times New Roman"/>
              </a:rPr>
              <a:t>@</a:t>
            </a:r>
            <a:r>
              <a:rPr lang="en-US" sz="600" spc="-5" dirty="0" err="1">
                <a:solidFill>
                  <a:srgbClr val="F2F2F2"/>
                </a:solidFill>
                <a:latin typeface="Times New Roman"/>
                <a:cs typeface="Times New Roman"/>
              </a:rPr>
              <a:t>hust.edu.cn</a:t>
            </a:r>
            <a:r>
              <a:rPr sz="600" spc="-5" dirty="0">
                <a:solidFill>
                  <a:srgbClr val="F2F2F2"/>
                </a:solidFill>
                <a:latin typeface="Times New Roman"/>
                <a:cs typeface="Times New Roman"/>
              </a:rPr>
              <a:t>)</a:t>
            </a:r>
            <a:endParaRPr sz="600" dirty="0">
              <a:latin typeface="Times New Roman"/>
              <a:cs typeface="Times New Roman"/>
            </a:endParaRPr>
          </a:p>
        </p:txBody>
      </p:sp>
      <p:sp>
        <p:nvSpPr>
          <p:cNvPr id="7" name="object 101">
            <a:extLst>
              <a:ext uri="{FF2B5EF4-FFF2-40B4-BE49-F238E27FC236}">
                <a16:creationId xmlns:a16="http://schemas.microsoft.com/office/drawing/2014/main" id="{97C949C3-21C3-FA94-7798-4E41F55AAB1B}"/>
              </a:ext>
            </a:extLst>
          </p:cNvPr>
          <p:cNvSpPr txBox="1">
            <a:spLocks noGrp="1"/>
          </p:cNvSpPr>
          <p:nvPr>
            <p:ph type="dt" sz="half" idx="6"/>
          </p:nvPr>
        </p:nvSpPr>
        <p:spPr>
          <a:xfrm>
            <a:off x="2059938" y="3347973"/>
            <a:ext cx="677159" cy="89768"/>
          </a:xfrm>
          <a:prstGeom prst="rect">
            <a:avLst/>
          </a:prstGeom>
        </p:spPr>
        <p:txBody>
          <a:bodyPr vert="horz" wrap="square" lIns="0" tIns="0" rIns="0" bIns="0" rtlCol="0">
            <a:spAutoFit/>
          </a:bodyPr>
          <a:lstStyle/>
          <a:p>
            <a:pPr marL="12700">
              <a:lnSpc>
                <a:spcPts val="700"/>
              </a:lnSpc>
            </a:pPr>
            <a:r>
              <a:rPr lang="en-US" spc="-5" dirty="0"/>
              <a:t>Macroeconomics</a:t>
            </a:r>
            <a:endParaRPr spc="-5" dirty="0"/>
          </a:p>
        </p:txBody>
      </p:sp>
      <p:sp>
        <p:nvSpPr>
          <p:cNvPr id="8" name="object 102">
            <a:extLst>
              <a:ext uri="{FF2B5EF4-FFF2-40B4-BE49-F238E27FC236}">
                <a16:creationId xmlns:a16="http://schemas.microsoft.com/office/drawing/2014/main" id="{572DC49F-4ACF-526E-A979-20F00FAD9721}"/>
              </a:ext>
            </a:extLst>
          </p:cNvPr>
          <p:cNvSpPr txBox="1"/>
          <p:nvPr/>
        </p:nvSpPr>
        <p:spPr>
          <a:xfrm>
            <a:off x="3762247" y="3347973"/>
            <a:ext cx="448945" cy="89768"/>
          </a:xfrm>
          <a:prstGeom prst="rect">
            <a:avLst/>
          </a:prstGeom>
        </p:spPr>
        <p:txBody>
          <a:bodyPr vert="horz" wrap="square" lIns="0" tIns="0" rIns="0" bIns="0" rtlCol="0">
            <a:spAutoFit/>
          </a:bodyPr>
          <a:lstStyle/>
          <a:p>
            <a:pPr marL="12700">
              <a:lnSpc>
                <a:spcPts val="700"/>
              </a:lnSpc>
            </a:pPr>
            <a:r>
              <a:rPr sz="600" spc="-5" dirty="0">
                <a:solidFill>
                  <a:srgbClr val="7A0000"/>
                </a:solidFill>
                <a:latin typeface="Times New Roman"/>
                <a:cs typeface="Times New Roman"/>
              </a:rPr>
              <a:t>20</a:t>
            </a:r>
            <a:r>
              <a:rPr lang="en-US" sz="600" spc="-5" dirty="0">
                <a:solidFill>
                  <a:srgbClr val="7A0000"/>
                </a:solidFill>
                <a:latin typeface="Times New Roman"/>
                <a:cs typeface="Times New Roman"/>
              </a:rPr>
              <a:t>23</a:t>
            </a:r>
            <a:r>
              <a:rPr sz="600" spc="-5" dirty="0">
                <a:solidFill>
                  <a:srgbClr val="7A0000"/>
                </a:solidFill>
                <a:latin typeface="Times New Roman"/>
                <a:cs typeface="Times New Roman"/>
              </a:rPr>
              <a:t>-</a:t>
            </a:r>
            <a:r>
              <a:rPr lang="en-US" sz="600" spc="-5" dirty="0">
                <a:solidFill>
                  <a:srgbClr val="7A0000"/>
                </a:solidFill>
                <a:latin typeface="Times New Roman"/>
                <a:cs typeface="Times New Roman"/>
              </a:rPr>
              <a:t>Feb</a:t>
            </a:r>
            <a:endParaRPr sz="600" dirty="0">
              <a:latin typeface="Times New Roman"/>
              <a:cs typeface="Times New Roman"/>
            </a:endParaRPr>
          </a:p>
        </p:txBody>
      </p:sp>
    </p:spTree>
    <p:extLst>
      <p:ext uri="{BB962C8B-B14F-4D97-AF65-F5344CB8AC3E}">
        <p14:creationId xmlns:p14="http://schemas.microsoft.com/office/powerpoint/2010/main" val="2010990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object 32"/>
          <p:cNvSpPr/>
          <p:nvPr/>
        </p:nvSpPr>
        <p:spPr>
          <a:xfrm>
            <a:off x="1963" y="1588"/>
            <a:ext cx="4603865" cy="143124"/>
          </a:xfrm>
          <a:prstGeom prst="rect">
            <a:avLst/>
          </a:prstGeom>
          <a:blipFill>
            <a:blip r:embed="rId2" cstate="print"/>
            <a:stretch>
              <a:fillRect/>
            </a:stretch>
          </a:blipFill>
        </p:spPr>
        <p:txBody>
          <a:bodyPr wrap="square" lIns="0" tIns="0" rIns="0" bIns="0" rtlCol="0"/>
          <a:lstStyle/>
          <a:p>
            <a:endParaRPr sz="1798"/>
          </a:p>
        </p:txBody>
      </p:sp>
      <p:sp>
        <p:nvSpPr>
          <p:cNvPr id="39" name="内容占位符 2">
            <a:extLst>
              <a:ext uri="{FF2B5EF4-FFF2-40B4-BE49-F238E27FC236}">
                <a16:creationId xmlns:a16="http://schemas.microsoft.com/office/drawing/2014/main" id="{A0988B7E-AA20-454F-A2F8-92306FB33718}"/>
              </a:ext>
            </a:extLst>
          </p:cNvPr>
          <p:cNvSpPr>
            <a:spLocks noGrp="1"/>
          </p:cNvSpPr>
          <p:nvPr>
            <p:ph idx="1"/>
          </p:nvPr>
        </p:nvSpPr>
        <p:spPr>
          <a:xfrm>
            <a:off x="594360" y="181745"/>
            <a:ext cx="3787368" cy="3146312"/>
          </a:xfrm>
        </p:spPr>
        <p:txBody>
          <a:bodyPr>
            <a:normAutofit fontScale="62500" lnSpcReduction="20000"/>
          </a:bodyPr>
          <a:lstStyle/>
          <a:p>
            <a:pPr marL="171450" indent="-171450">
              <a:lnSpc>
                <a:spcPct val="140000"/>
              </a:lnSpc>
              <a:buFont typeface="Arial" panose="020B0604020202020204" pitchFamily="34" charset="0"/>
              <a:buChar char="•"/>
            </a:pPr>
            <a:r>
              <a:rPr lang="zh-CN" altLang="en-US" sz="1400" dirty="0">
                <a:latin typeface="Microsoft YaHei" panose="020B0503020204020204" pitchFamily="34" charset="-122"/>
                <a:ea typeface="Microsoft YaHei" panose="020B0503020204020204" pitchFamily="34" charset="-122"/>
              </a:rPr>
              <a:t>第</a:t>
            </a:r>
            <a:r>
              <a:rPr lang="en-US" altLang="zh-CN" sz="1400" dirty="0">
                <a:latin typeface="Microsoft YaHei" panose="020B0503020204020204" pitchFamily="34" charset="-122"/>
                <a:ea typeface="Microsoft YaHei" panose="020B0503020204020204" pitchFamily="34" charset="-122"/>
              </a:rPr>
              <a:t>1</a:t>
            </a:r>
            <a:r>
              <a:rPr lang="zh-CN" altLang="en-US" sz="1400" dirty="0">
                <a:latin typeface="Microsoft YaHei" panose="020B0503020204020204" pitchFamily="34" charset="-122"/>
                <a:ea typeface="Microsoft YaHei" panose="020B0503020204020204" pitchFamily="34" charset="-122"/>
              </a:rPr>
              <a:t>章 宏观经济学的基本指标及其衡量</a:t>
            </a:r>
            <a:endParaRPr lang="en-US" altLang="zh-CN" sz="1400" dirty="0">
              <a:latin typeface="Microsoft YaHei" panose="020B0503020204020204" pitchFamily="34" charset="-122"/>
              <a:ea typeface="Microsoft YaHei" panose="020B0503020204020204" pitchFamily="34" charset="-122"/>
            </a:endParaRPr>
          </a:p>
          <a:p>
            <a:pPr marL="628650" lvl="1" indent="-171450">
              <a:lnSpc>
                <a:spcPct val="140000"/>
              </a:lnSpc>
              <a:buFont typeface="Arial" panose="020B0604020202020204" pitchFamily="34" charset="0"/>
              <a:buChar char="•"/>
            </a:pP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1</a:t>
            </a:r>
            <a:r>
              <a:rPr lang="zh-CN" altLang="en-US" sz="1400" dirty="0">
                <a:latin typeface="Garamond" panose="02020404030301010803" pitchFamily="18" charset="0"/>
                <a:ea typeface="KaiTi" panose="02010609060101010101" pitchFamily="49" charset="-122"/>
              </a:rPr>
              <a:t>节 国内生产总值</a:t>
            </a:r>
            <a:endParaRPr lang="en-US" altLang="zh-CN" sz="1400" dirty="0">
              <a:latin typeface="Garamond" panose="02020404030301010803" pitchFamily="18" charset="0"/>
              <a:ea typeface="KaiTi" panose="02010609060101010101" pitchFamily="49" charset="-122"/>
            </a:endParaRPr>
          </a:p>
          <a:p>
            <a:pPr marL="628650" lvl="1" indent="-171450">
              <a:lnSpc>
                <a:spcPct val="140000"/>
              </a:lnSpc>
              <a:buFont typeface="Arial" panose="020B0604020202020204" pitchFamily="34" charset="0"/>
              <a:buChar char="•"/>
            </a:pP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2</a:t>
            </a:r>
            <a:r>
              <a:rPr lang="zh-CN" altLang="en-US" sz="1400" dirty="0">
                <a:latin typeface="Garamond" panose="02020404030301010803" pitchFamily="18" charset="0"/>
                <a:ea typeface="KaiTi" panose="02010609060101010101" pitchFamily="49" charset="-122"/>
              </a:rPr>
              <a:t>节 价格水平及其衡量</a:t>
            </a:r>
            <a:endParaRPr lang="en-US" altLang="zh-CN" sz="1400" dirty="0">
              <a:latin typeface="Garamond" panose="02020404030301010803" pitchFamily="18" charset="0"/>
              <a:ea typeface="KaiTi" panose="02010609060101010101" pitchFamily="49" charset="-122"/>
            </a:endParaRPr>
          </a:p>
          <a:p>
            <a:pPr marL="628650" lvl="1" indent="-171450">
              <a:lnSpc>
                <a:spcPct val="140000"/>
              </a:lnSpc>
              <a:buFont typeface="Arial" panose="020B0604020202020204" pitchFamily="34" charset="0"/>
              <a:buChar char="•"/>
            </a:pP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3</a:t>
            </a:r>
            <a:r>
              <a:rPr lang="zh-CN" altLang="en-US" sz="1400" dirty="0">
                <a:latin typeface="Garamond" panose="02020404030301010803" pitchFamily="18" charset="0"/>
                <a:ea typeface="KaiTi" panose="02010609060101010101" pitchFamily="49" charset="-122"/>
              </a:rPr>
              <a:t>节 失业及其衡量</a:t>
            </a:r>
            <a:endParaRPr lang="en-US" altLang="zh-CN" sz="1400" dirty="0">
              <a:latin typeface="Microsoft YaHei" panose="020B0503020204020204" pitchFamily="34" charset="-122"/>
              <a:ea typeface="Microsoft YaHei" panose="020B0503020204020204" pitchFamily="34" charset="-122"/>
            </a:endParaRPr>
          </a:p>
          <a:p>
            <a:pPr marL="171450" indent="-171450">
              <a:lnSpc>
                <a:spcPct val="140000"/>
              </a:lnSpc>
              <a:buFont typeface="Arial" panose="020B0604020202020204" pitchFamily="34" charset="0"/>
              <a:buChar char="•"/>
            </a:pPr>
            <a:r>
              <a:rPr lang="zh-CN" altLang="en-US" sz="1400" dirty="0">
                <a:solidFill>
                  <a:schemeClr val="tx1"/>
                </a:solidFill>
                <a:latin typeface="Microsoft YaHei" panose="020B0503020204020204" pitchFamily="34" charset="-122"/>
                <a:ea typeface="Microsoft YaHei" panose="020B0503020204020204" pitchFamily="34" charset="-122"/>
                <a:cs typeface="Times New Roman"/>
              </a:rPr>
              <a:t>第</a:t>
            </a:r>
            <a:r>
              <a:rPr lang="en-US" altLang="zh-CN" sz="1400" dirty="0">
                <a:latin typeface="Microsoft YaHei" panose="020B0503020204020204" pitchFamily="34" charset="-122"/>
                <a:ea typeface="Microsoft YaHei" panose="020B0503020204020204" pitchFamily="34" charset="-122"/>
              </a:rPr>
              <a:t>2</a:t>
            </a:r>
            <a:r>
              <a:rPr lang="zh-CN" altLang="en-US" sz="1400" dirty="0">
                <a:solidFill>
                  <a:schemeClr val="tx1"/>
                </a:solidFill>
                <a:latin typeface="Microsoft YaHei" panose="020B0503020204020204" pitchFamily="34" charset="-122"/>
                <a:ea typeface="Microsoft YaHei" panose="020B0503020204020204" pitchFamily="34" charset="-122"/>
                <a:cs typeface="Times New Roman"/>
              </a:rPr>
              <a:t>章 短期经济波动模型：产品市场的均衡</a:t>
            </a:r>
            <a:endParaRPr lang="en-US" altLang="zh-CN" sz="1400" dirty="0">
              <a:solidFill>
                <a:schemeClr val="tx1"/>
              </a:solidFill>
              <a:latin typeface="Microsoft YaHei" panose="020B0503020204020204" pitchFamily="34" charset="-122"/>
              <a:ea typeface="Microsoft YaHei" panose="020B0503020204020204" pitchFamily="34" charset="-122"/>
              <a:cs typeface="Times New Roman"/>
            </a:endParaRPr>
          </a:p>
          <a:p>
            <a:pPr marL="628650" lvl="1" indent="-171450">
              <a:lnSpc>
                <a:spcPct val="140000"/>
              </a:lnSpc>
              <a:buFont typeface="Arial" panose="020B0604020202020204" pitchFamily="34" charset="0"/>
              <a:buChar char="•"/>
            </a:pP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1</a:t>
            </a:r>
            <a:r>
              <a:rPr lang="zh-CN" altLang="en-US" sz="1400" dirty="0">
                <a:latin typeface="Garamond" panose="02020404030301010803" pitchFamily="18" charset="0"/>
                <a:ea typeface="KaiTi" panose="02010609060101010101" pitchFamily="49" charset="-122"/>
              </a:rPr>
              <a:t>节 均衡国民收入的决定   </a:t>
            </a:r>
            <a:r>
              <a:rPr lang="en-US" altLang="zh-CN" sz="1400" dirty="0">
                <a:latin typeface="Garamond" panose="02020404030301010803" pitchFamily="18" charset="0"/>
                <a:ea typeface="KaiTi" panose="02010609060101010101" pitchFamily="49" charset="-122"/>
              </a:rPr>
              <a:t> </a:t>
            </a: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4</a:t>
            </a:r>
            <a:r>
              <a:rPr lang="zh-CN" altLang="en-US" sz="1400" dirty="0">
                <a:latin typeface="Garamond" panose="02020404030301010803" pitchFamily="18" charset="0"/>
                <a:ea typeface="KaiTi" panose="02010609060101010101" pitchFamily="49" charset="-122"/>
              </a:rPr>
              <a:t>节 政府需求</a:t>
            </a:r>
            <a:endParaRPr lang="en-US" altLang="zh-CN" sz="1400" dirty="0">
              <a:latin typeface="Garamond" panose="02020404030301010803" pitchFamily="18" charset="0"/>
              <a:ea typeface="KaiTi" panose="02010609060101010101" pitchFamily="49" charset="-122"/>
            </a:endParaRPr>
          </a:p>
          <a:p>
            <a:pPr marL="628650" lvl="1" indent="-171450">
              <a:lnSpc>
                <a:spcPct val="140000"/>
              </a:lnSpc>
              <a:buFont typeface="Arial" panose="020B0604020202020204" pitchFamily="34" charset="0"/>
              <a:buChar char="•"/>
            </a:pP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2</a:t>
            </a:r>
            <a:r>
              <a:rPr lang="zh-CN" altLang="en-US" sz="1400" dirty="0">
                <a:latin typeface="Garamond" panose="02020404030301010803" pitchFamily="18" charset="0"/>
                <a:ea typeface="KaiTi" panose="02010609060101010101" pitchFamily="49" charset="-122"/>
              </a:rPr>
              <a:t>节 消费需求与储蓄           </a:t>
            </a:r>
            <a:r>
              <a:rPr lang="en-US" altLang="zh-CN" sz="1400" dirty="0">
                <a:latin typeface="Garamond" panose="02020404030301010803" pitchFamily="18" charset="0"/>
                <a:ea typeface="KaiTi" panose="02010609060101010101" pitchFamily="49" charset="-122"/>
              </a:rPr>
              <a:t> </a:t>
            </a: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5</a:t>
            </a:r>
            <a:r>
              <a:rPr lang="zh-CN" altLang="en-US" sz="1400" dirty="0">
                <a:latin typeface="Garamond" panose="02020404030301010803" pitchFamily="18" charset="0"/>
                <a:ea typeface="KaiTi" panose="02010609060101010101" pitchFamily="49" charset="-122"/>
              </a:rPr>
              <a:t>节 国外需求</a:t>
            </a:r>
            <a:endParaRPr lang="en-US" altLang="zh-CN" sz="1400" dirty="0">
              <a:latin typeface="Garamond" panose="02020404030301010803" pitchFamily="18" charset="0"/>
              <a:ea typeface="KaiTi" panose="02010609060101010101" pitchFamily="49" charset="-122"/>
            </a:endParaRPr>
          </a:p>
          <a:p>
            <a:pPr marL="628650" lvl="1" indent="-171450">
              <a:lnSpc>
                <a:spcPct val="140000"/>
              </a:lnSpc>
              <a:buFont typeface="Arial" panose="020B0604020202020204" pitchFamily="34" charset="0"/>
              <a:buChar char="•"/>
            </a:pP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3</a:t>
            </a:r>
            <a:r>
              <a:rPr lang="zh-CN" altLang="en-US" sz="1400" dirty="0">
                <a:latin typeface="Garamond" panose="02020404030301010803" pitchFamily="18" charset="0"/>
                <a:ea typeface="KaiTi" panose="02010609060101010101" pitchFamily="49" charset="-122"/>
              </a:rPr>
              <a:t>节 投资需求                       </a:t>
            </a:r>
            <a:r>
              <a:rPr lang="en-US" altLang="zh-CN" sz="1400" dirty="0">
                <a:latin typeface="Garamond" panose="02020404030301010803" pitchFamily="18" charset="0"/>
                <a:ea typeface="KaiTi" panose="02010609060101010101" pitchFamily="49" charset="-122"/>
              </a:rPr>
              <a:t> </a:t>
            </a: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6</a:t>
            </a:r>
            <a:r>
              <a:rPr lang="zh-CN" altLang="en-US" sz="1400" dirty="0">
                <a:latin typeface="Garamond" panose="02020404030301010803" pitchFamily="18" charset="0"/>
                <a:ea typeface="KaiTi" panose="02010609060101010101" pitchFamily="49" charset="-122"/>
              </a:rPr>
              <a:t>节 乘数</a:t>
            </a:r>
            <a:endParaRPr lang="en-US" altLang="zh-CN" sz="1400" dirty="0">
              <a:latin typeface="Garamond" panose="02020404030301010803" pitchFamily="18" charset="0"/>
              <a:ea typeface="KaiTi" panose="02010609060101010101" pitchFamily="49" charset="-122"/>
            </a:endParaRPr>
          </a:p>
          <a:p>
            <a:pPr marL="171450" lvl="0" indent="-171450">
              <a:lnSpc>
                <a:spcPct val="140000"/>
              </a:lnSpc>
              <a:buFont typeface="Arial" panose="020B0604020202020204" pitchFamily="34" charset="0"/>
              <a:buChar char="•"/>
            </a:pPr>
            <a:r>
              <a:rPr lang="zh-CN" altLang="en-US" sz="1400" dirty="0">
                <a:latin typeface="Microsoft YaHei" panose="020B0503020204020204" pitchFamily="34" charset="-122"/>
                <a:ea typeface="Microsoft YaHei" panose="020B0503020204020204" pitchFamily="34" charset="-122"/>
              </a:rPr>
              <a:t>第</a:t>
            </a:r>
            <a:r>
              <a:rPr lang="en-US" altLang="zh-CN" sz="1400" dirty="0">
                <a:latin typeface="Microsoft YaHei" panose="020B0503020204020204" pitchFamily="34" charset="-122"/>
                <a:ea typeface="Microsoft YaHei" panose="020B0503020204020204" pitchFamily="34" charset="-122"/>
              </a:rPr>
              <a:t>3</a:t>
            </a:r>
            <a:r>
              <a:rPr lang="zh-CN" altLang="en-US" sz="1400" dirty="0">
                <a:latin typeface="Microsoft YaHei" panose="020B0503020204020204" pitchFamily="34" charset="-122"/>
                <a:ea typeface="Microsoft YaHei" panose="020B0503020204020204" pitchFamily="34" charset="-122"/>
              </a:rPr>
              <a:t>章 短期经济波动模型：产品市场和货币市场的共同均衡</a:t>
            </a:r>
            <a:endParaRPr lang="en-US" altLang="zh-CN" sz="1400" dirty="0">
              <a:latin typeface="Microsoft YaHei" panose="020B0503020204020204" pitchFamily="34" charset="-122"/>
              <a:ea typeface="Microsoft YaHei" panose="020B0503020204020204" pitchFamily="34" charset="-122"/>
            </a:endParaRPr>
          </a:p>
          <a:p>
            <a:pPr marL="628650" lvl="1" indent="-171450">
              <a:lnSpc>
                <a:spcPct val="140000"/>
              </a:lnSpc>
              <a:buFont typeface="Arial" panose="020B0604020202020204" pitchFamily="34" charset="0"/>
              <a:buChar char="•"/>
            </a:pP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1</a:t>
            </a:r>
            <a:r>
              <a:rPr lang="zh-CN" altLang="en-US" sz="1400" dirty="0">
                <a:latin typeface="Garamond" panose="02020404030301010803" pitchFamily="18" charset="0"/>
                <a:ea typeface="KaiTi" panose="02010609060101010101" pitchFamily="49" charset="-122"/>
              </a:rPr>
              <a:t>节 产品市场的均衡：</a:t>
            </a:r>
            <a:r>
              <a:rPr lang="en-US" altLang="zh-CN" sz="1400" dirty="0">
                <a:latin typeface="Garamond" panose="02020404030301010803" pitchFamily="18" charset="0"/>
                <a:ea typeface="KaiTi" panose="02010609060101010101" pitchFamily="49" charset="-122"/>
              </a:rPr>
              <a:t>IS</a:t>
            </a:r>
            <a:r>
              <a:rPr lang="zh-CN" altLang="en-US" sz="1400" dirty="0">
                <a:latin typeface="Garamond" panose="02020404030301010803" pitchFamily="18" charset="0"/>
                <a:ea typeface="KaiTi" panose="02010609060101010101" pitchFamily="49" charset="-122"/>
              </a:rPr>
              <a:t>模型</a:t>
            </a:r>
            <a:endParaRPr lang="en-US" altLang="zh-CN" sz="1400" dirty="0">
              <a:latin typeface="Garamond" panose="02020404030301010803" pitchFamily="18" charset="0"/>
              <a:ea typeface="KaiTi" panose="02010609060101010101" pitchFamily="49" charset="-122"/>
            </a:endParaRPr>
          </a:p>
          <a:p>
            <a:pPr marL="628650" lvl="1" indent="-171450">
              <a:lnSpc>
                <a:spcPct val="140000"/>
              </a:lnSpc>
              <a:buFont typeface="Arial" panose="020B0604020202020204" pitchFamily="34" charset="0"/>
              <a:buChar char="•"/>
            </a:pP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2</a:t>
            </a:r>
            <a:r>
              <a:rPr lang="zh-CN" altLang="en-US" sz="1400" dirty="0">
                <a:latin typeface="Garamond" panose="02020404030301010803" pitchFamily="18" charset="0"/>
                <a:ea typeface="KaiTi" panose="02010609060101010101" pitchFamily="49" charset="-122"/>
              </a:rPr>
              <a:t>节 货币市场的均衡：</a:t>
            </a:r>
            <a:r>
              <a:rPr lang="en-US" altLang="zh-CN" sz="1400" dirty="0">
                <a:latin typeface="Garamond" panose="02020404030301010803" pitchFamily="18" charset="0"/>
                <a:ea typeface="KaiTi" panose="02010609060101010101" pitchFamily="49" charset="-122"/>
              </a:rPr>
              <a:t>LM</a:t>
            </a:r>
            <a:r>
              <a:rPr lang="zh-CN" altLang="en-US" sz="1400" dirty="0">
                <a:latin typeface="Garamond" panose="02020404030301010803" pitchFamily="18" charset="0"/>
                <a:ea typeface="KaiTi" panose="02010609060101010101" pitchFamily="49" charset="-122"/>
              </a:rPr>
              <a:t>模型</a:t>
            </a:r>
            <a:endParaRPr lang="en-US" altLang="zh-CN" sz="1400" dirty="0">
              <a:latin typeface="Garamond" panose="02020404030301010803" pitchFamily="18" charset="0"/>
              <a:ea typeface="KaiTi" panose="02010609060101010101" pitchFamily="49" charset="-122"/>
            </a:endParaRPr>
          </a:p>
          <a:p>
            <a:pPr marL="628650" lvl="1" indent="-171450">
              <a:lnSpc>
                <a:spcPct val="140000"/>
              </a:lnSpc>
              <a:buFont typeface="Arial" panose="020B0604020202020204" pitchFamily="34" charset="0"/>
              <a:buChar char="•"/>
            </a:pP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3</a:t>
            </a:r>
            <a:r>
              <a:rPr lang="zh-CN" altLang="en-US" sz="1400" dirty="0">
                <a:latin typeface="Garamond" panose="02020404030301010803" pitchFamily="18" charset="0"/>
                <a:ea typeface="KaiTi" panose="02010609060101010101" pitchFamily="49" charset="-122"/>
              </a:rPr>
              <a:t>节 产品市场和货币市场的共同均衡：</a:t>
            </a:r>
            <a:r>
              <a:rPr lang="en-US" altLang="zh-CN" sz="1400" dirty="0">
                <a:latin typeface="Garamond" panose="02020404030301010803" pitchFamily="18" charset="0"/>
                <a:ea typeface="KaiTi" panose="02010609060101010101" pitchFamily="49" charset="-122"/>
              </a:rPr>
              <a:t>IS-LM</a:t>
            </a:r>
            <a:r>
              <a:rPr lang="zh-CN" altLang="en-US" sz="1400" dirty="0">
                <a:latin typeface="Garamond" panose="02020404030301010803" pitchFamily="18" charset="0"/>
                <a:ea typeface="KaiTi" panose="02010609060101010101" pitchFamily="49" charset="-122"/>
              </a:rPr>
              <a:t>模型</a:t>
            </a:r>
            <a:endParaRPr lang="en-US" altLang="zh-CN" sz="1400" dirty="0">
              <a:latin typeface="Garamond" panose="02020404030301010803" pitchFamily="18" charset="0"/>
              <a:ea typeface="KaiTi" panose="02010609060101010101" pitchFamily="49" charset="-122"/>
            </a:endParaRPr>
          </a:p>
          <a:p>
            <a:pPr marL="171450" lvl="0" indent="-171450">
              <a:lnSpc>
                <a:spcPct val="140000"/>
              </a:lnSpc>
              <a:buFont typeface="Arial" panose="020B0604020202020204" pitchFamily="34" charset="0"/>
              <a:buChar char="•"/>
            </a:pPr>
            <a:r>
              <a:rPr lang="zh-CN" altLang="en-US" sz="1400" dirty="0">
                <a:latin typeface="Microsoft YaHei" panose="020B0503020204020204" pitchFamily="34" charset="-122"/>
                <a:ea typeface="Microsoft YaHei" panose="020B0503020204020204" pitchFamily="34" charset="-122"/>
              </a:rPr>
              <a:t>第</a:t>
            </a:r>
            <a:r>
              <a:rPr lang="en-US" altLang="zh-CN" sz="1400" dirty="0">
                <a:latin typeface="Microsoft YaHei" panose="020B0503020204020204" pitchFamily="34" charset="-122"/>
                <a:ea typeface="Microsoft YaHei" panose="020B0503020204020204" pitchFamily="34" charset="-122"/>
              </a:rPr>
              <a:t>4</a:t>
            </a:r>
            <a:r>
              <a:rPr lang="zh-CN" altLang="en-US" sz="1400" dirty="0">
                <a:latin typeface="Microsoft YaHei" panose="020B0503020204020204" pitchFamily="34" charset="-122"/>
                <a:ea typeface="Microsoft YaHei" panose="020B0503020204020204" pitchFamily="34" charset="-122"/>
              </a:rPr>
              <a:t>章 短期经济波动模型：总需求</a:t>
            </a:r>
            <a:r>
              <a:rPr lang="en-US" altLang="zh-CN" sz="1400" dirty="0">
                <a:latin typeface="Microsoft YaHei" panose="020B0503020204020204" pitchFamily="34" charset="-122"/>
                <a:ea typeface="Microsoft YaHei" panose="020B0503020204020204" pitchFamily="34" charset="-122"/>
              </a:rPr>
              <a:t>-</a:t>
            </a:r>
            <a:r>
              <a:rPr lang="zh-CN" altLang="en-US" sz="1400" dirty="0">
                <a:latin typeface="Microsoft YaHei" panose="020B0503020204020204" pitchFamily="34" charset="-122"/>
                <a:ea typeface="Microsoft YaHei" panose="020B0503020204020204" pitchFamily="34" charset="-122"/>
              </a:rPr>
              <a:t>总供给分析</a:t>
            </a:r>
            <a:endParaRPr lang="en-US" altLang="zh-CN" sz="1400" dirty="0">
              <a:latin typeface="Garamond" panose="02020404030301010803" pitchFamily="18" charset="0"/>
              <a:ea typeface="KaiTi" panose="02010609060101010101" pitchFamily="49" charset="-122"/>
            </a:endParaRPr>
          </a:p>
          <a:p>
            <a:pPr marL="628650" lvl="1" indent="-171450">
              <a:lnSpc>
                <a:spcPct val="140000"/>
              </a:lnSpc>
              <a:buFont typeface="Arial" panose="020B0604020202020204" pitchFamily="34" charset="0"/>
              <a:buChar char="•"/>
            </a:pP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1</a:t>
            </a:r>
            <a:r>
              <a:rPr lang="zh-CN" altLang="en-US" sz="1400" dirty="0">
                <a:latin typeface="Garamond" panose="02020404030301010803" pitchFamily="18" charset="0"/>
                <a:ea typeface="KaiTi" panose="02010609060101010101" pitchFamily="49" charset="-122"/>
              </a:rPr>
              <a:t>节 总需求曲线及其变动</a:t>
            </a:r>
            <a:endParaRPr lang="en-US" altLang="zh-CN" sz="1400" dirty="0">
              <a:latin typeface="Garamond" panose="02020404030301010803" pitchFamily="18" charset="0"/>
              <a:ea typeface="KaiTi" panose="02010609060101010101" pitchFamily="49" charset="-122"/>
            </a:endParaRPr>
          </a:p>
          <a:p>
            <a:pPr marL="628650" lvl="1" indent="-171450">
              <a:lnSpc>
                <a:spcPct val="140000"/>
              </a:lnSpc>
              <a:buFont typeface="Arial" panose="020B0604020202020204" pitchFamily="34" charset="0"/>
              <a:buChar char="•"/>
            </a:pP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2</a:t>
            </a:r>
            <a:r>
              <a:rPr lang="zh-CN" altLang="en-US" sz="1400" dirty="0">
                <a:latin typeface="Garamond" panose="02020404030301010803" pitchFamily="18" charset="0"/>
                <a:ea typeface="KaiTi" panose="02010609060101010101" pitchFamily="49" charset="-122"/>
              </a:rPr>
              <a:t>节 总供给曲线及其变动</a:t>
            </a:r>
            <a:endParaRPr lang="en-US" altLang="zh-CN" sz="1400" dirty="0">
              <a:latin typeface="Garamond" panose="02020404030301010803" pitchFamily="18" charset="0"/>
              <a:ea typeface="KaiTi" panose="02010609060101010101" pitchFamily="49" charset="-122"/>
            </a:endParaRPr>
          </a:p>
          <a:p>
            <a:pPr marL="628650" lvl="1" indent="-171450">
              <a:lnSpc>
                <a:spcPct val="140000"/>
              </a:lnSpc>
              <a:buFont typeface="Arial" panose="020B0604020202020204" pitchFamily="34" charset="0"/>
              <a:buChar char="•"/>
            </a:pPr>
            <a:r>
              <a:rPr lang="zh-CN" altLang="en-US" sz="1400" dirty="0">
                <a:latin typeface="Garamond" panose="02020404030301010803" pitchFamily="18" charset="0"/>
                <a:ea typeface="KaiTi" panose="02010609060101010101" pitchFamily="49" charset="-122"/>
              </a:rPr>
              <a:t>第</a:t>
            </a:r>
            <a:r>
              <a:rPr lang="en-US" altLang="zh-CN" sz="1400" dirty="0">
                <a:latin typeface="Garamond" panose="02020404030301010803" pitchFamily="18" charset="0"/>
                <a:ea typeface="KaiTi" panose="02010609060101010101" pitchFamily="49" charset="-122"/>
              </a:rPr>
              <a:t>3</a:t>
            </a:r>
            <a:r>
              <a:rPr lang="zh-CN" altLang="en-US" sz="1400" dirty="0">
                <a:latin typeface="Garamond" panose="02020404030301010803" pitchFamily="18" charset="0"/>
                <a:ea typeface="KaiTi" panose="02010609060101010101" pitchFamily="49" charset="-122"/>
              </a:rPr>
              <a:t>节 总需求</a:t>
            </a:r>
            <a:r>
              <a:rPr lang="en-US" altLang="zh-CN" sz="1400" dirty="0">
                <a:latin typeface="Garamond" panose="02020404030301010803" pitchFamily="18" charset="0"/>
                <a:ea typeface="KaiTi" panose="02010609060101010101" pitchFamily="49" charset="-122"/>
              </a:rPr>
              <a:t>-</a:t>
            </a:r>
            <a:r>
              <a:rPr lang="zh-CN" altLang="en-US" sz="1400" dirty="0">
                <a:latin typeface="Garamond" panose="02020404030301010803" pitchFamily="18" charset="0"/>
                <a:ea typeface="KaiTi" panose="02010609060101010101" pitchFamily="49" charset="-122"/>
              </a:rPr>
              <a:t>总供给模型</a:t>
            </a:r>
            <a:endParaRPr lang="en-US" altLang="zh-CN" sz="1400" dirty="0">
              <a:latin typeface="Garamond" panose="02020404030301010803" pitchFamily="18" charset="0"/>
              <a:ea typeface="KaiTi" panose="02010609060101010101" pitchFamily="49" charset="-122"/>
            </a:endParaRPr>
          </a:p>
          <a:p>
            <a:pPr marL="171450" indent="-171450">
              <a:lnSpc>
                <a:spcPct val="140000"/>
              </a:lnSpc>
              <a:buFont typeface="Arial" panose="020B0604020202020204" pitchFamily="34" charset="0"/>
              <a:buChar char="•"/>
            </a:pPr>
            <a:r>
              <a:rPr lang="zh-CN" altLang="en-US" sz="1400" dirty="0">
                <a:latin typeface="Microsoft YaHei" panose="020B0503020204020204" pitchFamily="34" charset="-122"/>
                <a:ea typeface="Microsoft YaHei" panose="020B0503020204020204" pitchFamily="34" charset="-122"/>
              </a:rPr>
              <a:t>第</a:t>
            </a:r>
            <a:r>
              <a:rPr lang="en-US" altLang="zh-CN" sz="1400" dirty="0">
                <a:latin typeface="Microsoft YaHei" panose="020B0503020204020204" pitchFamily="34" charset="-122"/>
                <a:ea typeface="Microsoft YaHei" panose="020B0503020204020204" pitchFamily="34" charset="-122"/>
              </a:rPr>
              <a:t>5</a:t>
            </a:r>
            <a:r>
              <a:rPr lang="zh-CN" altLang="en-US" sz="1400" dirty="0">
                <a:latin typeface="Microsoft YaHei" panose="020B0503020204020204" pitchFamily="34" charset="-122"/>
                <a:ea typeface="Microsoft YaHei" panose="020B0503020204020204" pitchFamily="34" charset="-122"/>
              </a:rPr>
              <a:t>章 开放经济的宏观经济学</a:t>
            </a:r>
            <a:endParaRPr lang="en-US" altLang="zh-CN" sz="1400" dirty="0">
              <a:latin typeface="Microsoft YaHei" panose="020B0503020204020204" pitchFamily="34" charset="-122"/>
              <a:ea typeface="Microsoft YaHei" panose="020B0503020204020204" pitchFamily="34" charset="-122"/>
            </a:endParaRPr>
          </a:p>
          <a:p>
            <a:pPr marL="171450" indent="-171450">
              <a:lnSpc>
                <a:spcPct val="140000"/>
              </a:lnSpc>
              <a:buFont typeface="Arial" panose="020B0604020202020204" pitchFamily="34" charset="0"/>
              <a:buChar char="•"/>
            </a:pPr>
            <a:r>
              <a:rPr lang="zh-CN" altLang="en-US" sz="1400" dirty="0">
                <a:latin typeface="Microsoft YaHei" panose="020B0503020204020204" pitchFamily="34" charset="-122"/>
                <a:ea typeface="Microsoft YaHei" panose="020B0503020204020204" pitchFamily="34" charset="-122"/>
              </a:rPr>
              <a:t>第</a:t>
            </a:r>
            <a:r>
              <a:rPr lang="en-US" altLang="zh-CN" sz="1400" dirty="0">
                <a:latin typeface="Microsoft YaHei" panose="020B0503020204020204" pitchFamily="34" charset="-122"/>
                <a:ea typeface="Microsoft YaHei" panose="020B0503020204020204" pitchFamily="34" charset="-122"/>
              </a:rPr>
              <a:t>6</a:t>
            </a:r>
            <a:r>
              <a:rPr lang="zh-CN" altLang="en-US" sz="1400" dirty="0">
                <a:latin typeface="Microsoft YaHei" panose="020B0503020204020204" pitchFamily="34" charset="-122"/>
                <a:ea typeface="Microsoft YaHei" panose="020B0503020204020204" pitchFamily="34" charset="-122"/>
              </a:rPr>
              <a:t>章 宏观经济政策</a:t>
            </a:r>
            <a:endParaRPr lang="en-US" altLang="zh-CN" sz="1400" dirty="0">
              <a:latin typeface="Microsoft YaHei" panose="020B0503020204020204" pitchFamily="34" charset="-122"/>
              <a:ea typeface="Microsoft YaHei" panose="020B0503020204020204" pitchFamily="34" charset="-122"/>
            </a:endParaRPr>
          </a:p>
          <a:p>
            <a:pPr marL="171450" indent="-171450">
              <a:lnSpc>
                <a:spcPct val="140000"/>
              </a:lnSpc>
              <a:buFont typeface="Arial" panose="020B0604020202020204" pitchFamily="34" charset="0"/>
              <a:buChar char="•"/>
            </a:pPr>
            <a:r>
              <a:rPr lang="zh-CN" altLang="en-US" sz="1400" dirty="0">
                <a:latin typeface="Microsoft YaHei" panose="020B0503020204020204" pitchFamily="34" charset="-122"/>
                <a:ea typeface="Microsoft YaHei" panose="020B0503020204020204" pitchFamily="34" charset="-122"/>
              </a:rPr>
              <a:t>第</a:t>
            </a:r>
            <a:r>
              <a:rPr lang="en-US" altLang="zh-CN" sz="1400" dirty="0">
                <a:latin typeface="Microsoft YaHei" panose="020B0503020204020204" pitchFamily="34" charset="-122"/>
                <a:ea typeface="Microsoft YaHei" panose="020B0503020204020204" pitchFamily="34" charset="-122"/>
              </a:rPr>
              <a:t>7</a:t>
            </a:r>
            <a:r>
              <a:rPr lang="zh-CN" altLang="en-US" sz="1400" dirty="0">
                <a:latin typeface="Microsoft YaHei" panose="020B0503020204020204" pitchFamily="34" charset="-122"/>
                <a:ea typeface="Microsoft YaHei" panose="020B0503020204020204" pitchFamily="34" charset="-122"/>
              </a:rPr>
              <a:t>章 通货膨胀与失业理论</a:t>
            </a:r>
            <a:endParaRPr lang="en-US" altLang="zh-CN" sz="1400" dirty="0">
              <a:latin typeface="Microsoft YaHei" panose="020B0503020204020204" pitchFamily="34" charset="-122"/>
              <a:ea typeface="Microsoft YaHei" panose="020B0503020204020204" pitchFamily="34" charset="-122"/>
            </a:endParaRPr>
          </a:p>
        </p:txBody>
      </p:sp>
      <p:sp>
        <p:nvSpPr>
          <p:cNvPr id="4" name="object 34">
            <a:extLst>
              <a:ext uri="{FF2B5EF4-FFF2-40B4-BE49-F238E27FC236}">
                <a16:creationId xmlns:a16="http://schemas.microsoft.com/office/drawing/2014/main" id="{9877632B-FFE1-0893-B702-8740F77D9AAB}"/>
              </a:ext>
            </a:extLst>
          </p:cNvPr>
          <p:cNvSpPr/>
          <p:nvPr/>
        </p:nvSpPr>
        <p:spPr>
          <a:xfrm>
            <a:off x="-152" y="140741"/>
            <a:ext cx="500151" cy="3204972"/>
          </a:xfrm>
          <a:prstGeom prst="rect">
            <a:avLst/>
          </a:prstGeom>
          <a:blipFill>
            <a:blip r:embed="rId3" cstate="print"/>
            <a:stretch>
              <a:fillRect/>
            </a:stretch>
          </a:blipFill>
        </p:spPr>
        <p:txBody>
          <a:bodyPr wrap="square" lIns="0" tIns="0" rIns="0" bIns="0" rtlCol="0"/>
          <a:lstStyle/>
          <a:p>
            <a:endParaRPr/>
          </a:p>
        </p:txBody>
      </p:sp>
      <p:sp>
        <p:nvSpPr>
          <p:cNvPr id="5" name="文本框 4">
            <a:extLst>
              <a:ext uri="{FF2B5EF4-FFF2-40B4-BE49-F238E27FC236}">
                <a16:creationId xmlns:a16="http://schemas.microsoft.com/office/drawing/2014/main" id="{02D3A323-5F87-F9AE-2B3C-7D68803D7BCD}"/>
              </a:ext>
            </a:extLst>
          </p:cNvPr>
          <p:cNvSpPr txBox="1"/>
          <p:nvPr/>
        </p:nvSpPr>
        <p:spPr>
          <a:xfrm>
            <a:off x="0" y="222159"/>
            <a:ext cx="461665" cy="2886670"/>
          </a:xfrm>
          <a:prstGeom prst="rect">
            <a:avLst/>
          </a:prstGeom>
          <a:noFill/>
        </p:spPr>
        <p:txBody>
          <a:bodyPr vert="eaVert" wrap="square" rtlCol="0">
            <a:spAutoFit/>
          </a:bodyPr>
          <a:lstStyle/>
          <a:p>
            <a:pPr algn="ctr"/>
            <a:r>
              <a:rPr kumimoji="1" lang="zh-CN" altLang="en-US" dirty="0">
                <a:solidFill>
                  <a:srgbClr val="C00000"/>
                </a:solidFill>
                <a:latin typeface="Microsoft YaHei" panose="020B0503020204020204" pitchFamily="34" charset="-122"/>
                <a:ea typeface="Microsoft YaHei" panose="020B0503020204020204" pitchFamily="34" charset="-122"/>
              </a:rPr>
              <a:t>课程基本结构</a:t>
            </a:r>
          </a:p>
        </p:txBody>
      </p:sp>
      <p:sp>
        <p:nvSpPr>
          <p:cNvPr id="2" name="object 99">
            <a:extLst>
              <a:ext uri="{FF2B5EF4-FFF2-40B4-BE49-F238E27FC236}">
                <a16:creationId xmlns:a16="http://schemas.microsoft.com/office/drawing/2014/main" id="{000CACBF-08B6-B890-0AE4-FE41E23DCC70}"/>
              </a:ext>
            </a:extLst>
          </p:cNvPr>
          <p:cNvSpPr/>
          <p:nvPr/>
        </p:nvSpPr>
        <p:spPr>
          <a:xfrm>
            <a:off x="-152" y="3345713"/>
            <a:ext cx="4608093" cy="111252"/>
          </a:xfrm>
          <a:prstGeom prst="rect">
            <a:avLst/>
          </a:prstGeom>
          <a:blipFill>
            <a:blip r:embed="rId4" cstate="print"/>
            <a:stretch>
              <a:fillRect/>
            </a:stretch>
          </a:blipFill>
        </p:spPr>
        <p:txBody>
          <a:bodyPr wrap="square" lIns="0" tIns="0" rIns="0" bIns="0" rtlCol="0"/>
          <a:lstStyle/>
          <a:p>
            <a:endParaRPr/>
          </a:p>
        </p:txBody>
      </p:sp>
      <p:sp>
        <p:nvSpPr>
          <p:cNvPr id="3" name="object 100">
            <a:extLst>
              <a:ext uri="{FF2B5EF4-FFF2-40B4-BE49-F238E27FC236}">
                <a16:creationId xmlns:a16="http://schemas.microsoft.com/office/drawing/2014/main" id="{66186577-5C24-8496-C2B2-C4843CFE66AC}"/>
              </a:ext>
            </a:extLst>
          </p:cNvPr>
          <p:cNvSpPr txBox="1"/>
          <p:nvPr/>
        </p:nvSpPr>
        <p:spPr>
          <a:xfrm>
            <a:off x="68074" y="3347973"/>
            <a:ext cx="1401445" cy="89768"/>
          </a:xfrm>
          <a:prstGeom prst="rect">
            <a:avLst/>
          </a:prstGeom>
        </p:spPr>
        <p:txBody>
          <a:bodyPr vert="horz" wrap="square" lIns="0" tIns="0" rIns="0" bIns="0" rtlCol="0">
            <a:spAutoFit/>
          </a:bodyPr>
          <a:lstStyle/>
          <a:p>
            <a:pPr marL="12700">
              <a:lnSpc>
                <a:spcPts val="700"/>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600" spc="-5" dirty="0">
                <a:solidFill>
                  <a:srgbClr val="F2F2F2"/>
                </a:solidFill>
                <a:latin typeface="Times New Roman"/>
                <a:cs typeface="Times New Roman"/>
              </a:rPr>
              <a:t>(</a:t>
            </a:r>
            <a:r>
              <a:rPr lang="en-US" sz="600" spc="-5" dirty="0">
                <a:solidFill>
                  <a:srgbClr val="F2F2F2"/>
                </a:solidFill>
                <a:latin typeface="Times New Roman"/>
                <a:cs typeface="Times New Roman"/>
              </a:rPr>
              <a:t>Zhiqing Yang</a:t>
            </a:r>
            <a:r>
              <a:rPr sz="600" spc="135" dirty="0">
                <a:solidFill>
                  <a:srgbClr val="F2F2F2"/>
                </a:solidFill>
                <a:latin typeface="Times New Roman"/>
                <a:cs typeface="Times New Roman"/>
              </a:rPr>
              <a:t> </a:t>
            </a:r>
            <a:r>
              <a:rPr lang="en-US" altLang="zh-CN" sz="600" spc="-5" dirty="0" err="1">
                <a:solidFill>
                  <a:srgbClr val="F2F2F2"/>
                </a:solidFill>
                <a:latin typeface="Times New Roman"/>
                <a:cs typeface="Times New Roman"/>
              </a:rPr>
              <a:t>yangzhiqing</a:t>
            </a:r>
            <a:r>
              <a:rPr sz="600" spc="-5" dirty="0" err="1">
                <a:solidFill>
                  <a:srgbClr val="F2F2F2"/>
                </a:solidFill>
                <a:latin typeface="Times New Roman"/>
                <a:cs typeface="Times New Roman"/>
              </a:rPr>
              <a:t>@</a:t>
            </a:r>
            <a:r>
              <a:rPr lang="en-US" sz="600" spc="-5" dirty="0" err="1">
                <a:solidFill>
                  <a:srgbClr val="F2F2F2"/>
                </a:solidFill>
                <a:latin typeface="Times New Roman"/>
                <a:cs typeface="Times New Roman"/>
              </a:rPr>
              <a:t>hust.edu.cn</a:t>
            </a:r>
            <a:r>
              <a:rPr sz="600" spc="-5" dirty="0">
                <a:solidFill>
                  <a:srgbClr val="F2F2F2"/>
                </a:solidFill>
                <a:latin typeface="Times New Roman"/>
                <a:cs typeface="Times New Roman"/>
              </a:rPr>
              <a:t>)</a:t>
            </a:r>
            <a:endParaRPr sz="600" dirty="0">
              <a:latin typeface="Times New Roman"/>
              <a:cs typeface="Times New Roman"/>
            </a:endParaRPr>
          </a:p>
        </p:txBody>
      </p:sp>
      <p:sp>
        <p:nvSpPr>
          <p:cNvPr id="33" name="object 101">
            <a:extLst>
              <a:ext uri="{FF2B5EF4-FFF2-40B4-BE49-F238E27FC236}">
                <a16:creationId xmlns:a16="http://schemas.microsoft.com/office/drawing/2014/main" id="{7FF23821-084D-16FE-7A7E-C8227CC37867}"/>
              </a:ext>
            </a:extLst>
          </p:cNvPr>
          <p:cNvSpPr txBox="1">
            <a:spLocks noGrp="1"/>
          </p:cNvSpPr>
          <p:nvPr>
            <p:ph type="dt" sz="half" idx="6"/>
          </p:nvPr>
        </p:nvSpPr>
        <p:spPr>
          <a:xfrm>
            <a:off x="2059938" y="3347973"/>
            <a:ext cx="677159" cy="89768"/>
          </a:xfrm>
          <a:prstGeom prst="rect">
            <a:avLst/>
          </a:prstGeom>
        </p:spPr>
        <p:txBody>
          <a:bodyPr vert="horz" wrap="square" lIns="0" tIns="0" rIns="0" bIns="0" rtlCol="0">
            <a:spAutoFit/>
          </a:bodyPr>
          <a:lstStyle/>
          <a:p>
            <a:pPr marL="12700">
              <a:lnSpc>
                <a:spcPts val="700"/>
              </a:lnSpc>
            </a:pPr>
            <a:r>
              <a:rPr lang="en-US" spc="-5" dirty="0"/>
              <a:t>Macroeconomics</a:t>
            </a:r>
            <a:endParaRPr spc="-5" dirty="0"/>
          </a:p>
        </p:txBody>
      </p:sp>
      <p:sp>
        <p:nvSpPr>
          <p:cNvPr id="34" name="object 102">
            <a:extLst>
              <a:ext uri="{FF2B5EF4-FFF2-40B4-BE49-F238E27FC236}">
                <a16:creationId xmlns:a16="http://schemas.microsoft.com/office/drawing/2014/main" id="{E788031C-A3C8-685A-4592-0B0C87F344C4}"/>
              </a:ext>
            </a:extLst>
          </p:cNvPr>
          <p:cNvSpPr txBox="1"/>
          <p:nvPr/>
        </p:nvSpPr>
        <p:spPr>
          <a:xfrm>
            <a:off x="3762247" y="3347973"/>
            <a:ext cx="448945" cy="89768"/>
          </a:xfrm>
          <a:prstGeom prst="rect">
            <a:avLst/>
          </a:prstGeom>
        </p:spPr>
        <p:txBody>
          <a:bodyPr vert="horz" wrap="square" lIns="0" tIns="0" rIns="0" bIns="0" rtlCol="0">
            <a:spAutoFit/>
          </a:bodyPr>
          <a:lstStyle/>
          <a:p>
            <a:pPr marL="12700">
              <a:lnSpc>
                <a:spcPts val="700"/>
              </a:lnSpc>
            </a:pPr>
            <a:r>
              <a:rPr sz="600" spc="-5" dirty="0">
                <a:solidFill>
                  <a:srgbClr val="7A0000"/>
                </a:solidFill>
                <a:latin typeface="Times New Roman"/>
                <a:cs typeface="Times New Roman"/>
              </a:rPr>
              <a:t>20</a:t>
            </a:r>
            <a:r>
              <a:rPr lang="en-US" sz="600" spc="-5" dirty="0">
                <a:solidFill>
                  <a:srgbClr val="7A0000"/>
                </a:solidFill>
                <a:latin typeface="Times New Roman"/>
                <a:cs typeface="Times New Roman"/>
              </a:rPr>
              <a:t>23</a:t>
            </a:r>
            <a:r>
              <a:rPr sz="600" spc="-5" dirty="0">
                <a:solidFill>
                  <a:srgbClr val="7A0000"/>
                </a:solidFill>
                <a:latin typeface="Times New Roman"/>
                <a:cs typeface="Times New Roman"/>
              </a:rPr>
              <a:t>-</a:t>
            </a:r>
            <a:r>
              <a:rPr lang="en-US" sz="600" spc="-5" dirty="0">
                <a:solidFill>
                  <a:srgbClr val="7A0000"/>
                </a:solidFill>
                <a:latin typeface="Times New Roman"/>
                <a:cs typeface="Times New Roman"/>
              </a:rPr>
              <a:t>Feb</a:t>
            </a:r>
            <a:endParaRPr sz="600" dirty="0">
              <a:latin typeface="Times New Roman"/>
              <a:cs typeface="Times New Roman"/>
            </a:endParaRPr>
          </a:p>
        </p:txBody>
      </p:sp>
    </p:spTree>
    <p:extLst>
      <p:ext uri="{BB962C8B-B14F-4D97-AF65-F5344CB8AC3E}">
        <p14:creationId xmlns:p14="http://schemas.microsoft.com/office/powerpoint/2010/main" val="2166124011"/>
      </p:ext>
    </p:extLst>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533475" y="737364"/>
            <a:ext cx="651176" cy="23205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defTabSz="230520" eaLnBrk="0" fontAlgn="base" hangingPunct="0">
              <a:spcBef>
                <a:spcPct val="0"/>
              </a:spcBef>
              <a:spcAft>
                <a:spcPct val="0"/>
              </a:spcAft>
            </a:pPr>
            <a:r>
              <a:rPr lang="zh-CN" altLang="en-US" sz="908" dirty="0">
                <a:solidFill>
                  <a:prstClr val="black"/>
                </a:solidFill>
                <a:latin typeface="Calibri" panose="020F0502020204030204"/>
                <a:ea typeface="等线" panose="02010600030101010101" pitchFamily="2" charset="-122"/>
              </a:rPr>
              <a:t>产品市场</a:t>
            </a:r>
          </a:p>
        </p:txBody>
      </p:sp>
      <p:sp>
        <p:nvSpPr>
          <p:cNvPr id="12" name="文本框 11"/>
          <p:cNvSpPr txBox="1"/>
          <p:nvPr/>
        </p:nvSpPr>
        <p:spPr>
          <a:xfrm>
            <a:off x="534054" y="1218229"/>
            <a:ext cx="653217" cy="23205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defTabSz="230520" eaLnBrk="0" fontAlgn="base" hangingPunct="0">
              <a:spcBef>
                <a:spcPct val="0"/>
              </a:spcBef>
              <a:spcAft>
                <a:spcPct val="0"/>
              </a:spcAft>
            </a:pPr>
            <a:r>
              <a:rPr lang="zh-CN" altLang="en-US" sz="908" dirty="0">
                <a:solidFill>
                  <a:srgbClr val="0070C0"/>
                </a:solidFill>
                <a:latin typeface="Calibri" panose="020F0502020204030204"/>
                <a:ea typeface="等线" panose="02010600030101010101" pitchFamily="2" charset="-122"/>
              </a:rPr>
              <a:t>货币市场</a:t>
            </a:r>
          </a:p>
        </p:txBody>
      </p:sp>
      <p:sp>
        <p:nvSpPr>
          <p:cNvPr id="13" name="文本框 12"/>
          <p:cNvSpPr txBox="1"/>
          <p:nvPr/>
        </p:nvSpPr>
        <p:spPr>
          <a:xfrm>
            <a:off x="530069" y="1742674"/>
            <a:ext cx="654582" cy="23205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defTabSz="230520" eaLnBrk="0" fontAlgn="base" hangingPunct="0">
              <a:spcBef>
                <a:spcPct val="0"/>
              </a:spcBef>
              <a:spcAft>
                <a:spcPct val="0"/>
              </a:spcAft>
            </a:pPr>
            <a:r>
              <a:rPr lang="zh-CN" altLang="en-US" sz="908" dirty="0">
                <a:solidFill>
                  <a:srgbClr val="C00000"/>
                </a:solidFill>
                <a:latin typeface="Calibri" panose="020F0502020204030204"/>
                <a:ea typeface="等线" panose="02010600030101010101" pitchFamily="2" charset="-122"/>
              </a:rPr>
              <a:t>劳动市场</a:t>
            </a:r>
          </a:p>
        </p:txBody>
      </p:sp>
      <p:sp>
        <p:nvSpPr>
          <p:cNvPr id="23" name="文本框 22"/>
          <p:cNvSpPr txBox="1"/>
          <p:nvPr/>
        </p:nvSpPr>
        <p:spPr>
          <a:xfrm>
            <a:off x="1714814" y="733592"/>
            <a:ext cx="2042116" cy="247440"/>
          </a:xfrm>
          <a:prstGeom prst="rect">
            <a:avLst/>
          </a:prstGeom>
          <a:ln w="15875">
            <a:solidFill>
              <a:schemeClr val="tx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defTabSz="230520" eaLnBrk="0" fontAlgn="base" hangingPunct="0">
              <a:spcBef>
                <a:spcPct val="0"/>
              </a:spcBef>
              <a:spcAft>
                <a:spcPct val="0"/>
              </a:spcAft>
            </a:pPr>
            <a:r>
              <a:rPr lang="zh-CN" altLang="en-US" sz="1008" dirty="0">
                <a:solidFill>
                  <a:prstClr val="black"/>
                </a:solidFill>
                <a:latin typeface="Calibri" panose="020F0502020204030204"/>
                <a:ea typeface="等线" panose="02010600030101010101" pitchFamily="2" charset="-122"/>
              </a:rPr>
              <a:t>国民收入决定的收入</a:t>
            </a:r>
            <a:r>
              <a:rPr lang="en-US" altLang="zh-CN" sz="1008" dirty="0">
                <a:solidFill>
                  <a:prstClr val="black"/>
                </a:solidFill>
                <a:latin typeface="Calibri" panose="020F0502020204030204"/>
                <a:ea typeface="等线" panose="02010600030101010101" pitchFamily="2" charset="-122"/>
              </a:rPr>
              <a:t>—</a:t>
            </a:r>
            <a:r>
              <a:rPr lang="zh-CN" altLang="en-US" sz="1008" dirty="0">
                <a:solidFill>
                  <a:prstClr val="black"/>
                </a:solidFill>
                <a:latin typeface="Calibri" panose="020F0502020204030204"/>
                <a:ea typeface="等线" panose="02010600030101010101" pitchFamily="2" charset="-122"/>
              </a:rPr>
              <a:t>支出模型</a:t>
            </a:r>
          </a:p>
        </p:txBody>
      </p:sp>
      <p:sp>
        <p:nvSpPr>
          <p:cNvPr id="24" name="文本框 23"/>
          <p:cNvSpPr txBox="1"/>
          <p:nvPr/>
        </p:nvSpPr>
        <p:spPr>
          <a:xfrm>
            <a:off x="2335129" y="1011447"/>
            <a:ext cx="1701441" cy="247440"/>
          </a:xfrm>
          <a:prstGeom prst="rect">
            <a:avLst/>
          </a:prstGeom>
          <a:ln w="15875"/>
        </p:spPr>
        <p:style>
          <a:lnRef idx="2">
            <a:schemeClr val="accent1"/>
          </a:lnRef>
          <a:fillRef idx="1">
            <a:schemeClr val="lt1"/>
          </a:fillRef>
          <a:effectRef idx="0">
            <a:schemeClr val="accent1"/>
          </a:effectRef>
          <a:fontRef idx="minor">
            <a:schemeClr val="dk1"/>
          </a:fontRef>
        </p:style>
        <p:txBody>
          <a:bodyPr wrap="square" rtlCol="0">
            <a:spAutoFit/>
          </a:bodyPr>
          <a:lstStyle/>
          <a:p>
            <a:pPr algn="ctr" defTabSz="230520" eaLnBrk="0" fontAlgn="base" hangingPunct="0">
              <a:spcBef>
                <a:spcPct val="0"/>
              </a:spcBef>
              <a:spcAft>
                <a:spcPct val="0"/>
              </a:spcAft>
            </a:pPr>
            <a:r>
              <a:rPr lang="zh-CN" altLang="en-US" sz="1008" dirty="0">
                <a:solidFill>
                  <a:srgbClr val="0070C0"/>
                </a:solidFill>
                <a:latin typeface="Calibri" panose="020F0502020204030204"/>
                <a:ea typeface="等线" panose="02010600030101010101" pitchFamily="2" charset="-122"/>
              </a:rPr>
              <a:t>国民收入决定的</a:t>
            </a:r>
            <a:r>
              <a:rPr lang="en-US" altLang="zh-CN" sz="1008" dirty="0">
                <a:solidFill>
                  <a:srgbClr val="0070C0"/>
                </a:solidFill>
                <a:latin typeface="Calibri" panose="020F0502020204030204"/>
                <a:ea typeface="等线" panose="02010600030101010101" pitchFamily="2" charset="-122"/>
              </a:rPr>
              <a:t>IS-LM</a:t>
            </a:r>
            <a:r>
              <a:rPr lang="zh-CN" altLang="en-US" sz="1008" dirty="0">
                <a:solidFill>
                  <a:srgbClr val="0070C0"/>
                </a:solidFill>
                <a:latin typeface="Calibri" panose="020F0502020204030204"/>
                <a:ea typeface="等线" panose="02010600030101010101" pitchFamily="2" charset="-122"/>
              </a:rPr>
              <a:t>模型</a:t>
            </a:r>
          </a:p>
        </p:txBody>
      </p:sp>
      <p:sp>
        <p:nvSpPr>
          <p:cNvPr id="25" name="文本框 24"/>
          <p:cNvSpPr txBox="1"/>
          <p:nvPr/>
        </p:nvSpPr>
        <p:spPr>
          <a:xfrm>
            <a:off x="2682935" y="1232473"/>
            <a:ext cx="1789446" cy="402546"/>
          </a:xfrm>
          <a:prstGeom prst="rect">
            <a:avLst/>
          </a:prstGeom>
          <a:ln w="15875">
            <a:solidFill>
              <a:srgbClr val="C0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defTabSz="230520" eaLnBrk="0" fontAlgn="base" hangingPunct="0">
              <a:spcBef>
                <a:spcPct val="0"/>
              </a:spcBef>
              <a:spcAft>
                <a:spcPct val="0"/>
              </a:spcAft>
            </a:pPr>
            <a:r>
              <a:rPr lang="zh-CN" altLang="en-US" sz="1008" dirty="0">
                <a:solidFill>
                  <a:srgbClr val="C00000"/>
                </a:solidFill>
                <a:latin typeface="Calibri" panose="020F0502020204030204"/>
                <a:ea typeface="等线" panose="02010600030101010101" pitchFamily="2" charset="-122"/>
              </a:rPr>
              <a:t>总需求</a:t>
            </a:r>
            <a:r>
              <a:rPr lang="en-US" altLang="zh-CN" sz="1008" dirty="0">
                <a:solidFill>
                  <a:srgbClr val="C00000"/>
                </a:solidFill>
                <a:latin typeface="Calibri" panose="020F0502020204030204"/>
                <a:ea typeface="等线" panose="02010600030101010101" pitchFamily="2" charset="-122"/>
              </a:rPr>
              <a:t>-</a:t>
            </a:r>
            <a:r>
              <a:rPr lang="zh-CN" altLang="en-US" sz="1008" dirty="0">
                <a:solidFill>
                  <a:srgbClr val="C00000"/>
                </a:solidFill>
                <a:latin typeface="Calibri" panose="020F0502020204030204"/>
                <a:ea typeface="等线" panose="02010600030101010101" pitchFamily="2" charset="-122"/>
              </a:rPr>
              <a:t>总供给模型</a:t>
            </a:r>
            <a:endParaRPr lang="en-US" altLang="zh-CN" sz="1008" dirty="0">
              <a:solidFill>
                <a:srgbClr val="C00000"/>
              </a:solidFill>
              <a:latin typeface="Calibri" panose="020F0502020204030204"/>
              <a:ea typeface="等线" panose="02010600030101010101" pitchFamily="2" charset="-122"/>
            </a:endParaRPr>
          </a:p>
          <a:p>
            <a:pPr algn="ctr" defTabSz="230520" eaLnBrk="0" fontAlgn="base" hangingPunct="0">
              <a:spcBef>
                <a:spcPct val="0"/>
              </a:spcBef>
              <a:spcAft>
                <a:spcPct val="0"/>
              </a:spcAft>
            </a:pPr>
            <a:r>
              <a:rPr lang="en-US" altLang="zh-CN" sz="1008" dirty="0">
                <a:solidFill>
                  <a:srgbClr val="C00000"/>
                </a:solidFill>
                <a:latin typeface="Calibri" panose="020F0502020204030204"/>
                <a:ea typeface="等线" panose="02010600030101010101" pitchFamily="2" charset="-122"/>
              </a:rPr>
              <a:t>AD-AS</a:t>
            </a:r>
            <a:r>
              <a:rPr lang="zh-CN" altLang="en-US" sz="1008" dirty="0">
                <a:solidFill>
                  <a:srgbClr val="C00000"/>
                </a:solidFill>
                <a:latin typeface="Calibri" panose="020F0502020204030204"/>
                <a:ea typeface="等线" panose="02010600030101010101" pitchFamily="2" charset="-122"/>
              </a:rPr>
              <a:t>模型</a:t>
            </a:r>
          </a:p>
        </p:txBody>
      </p:sp>
      <p:cxnSp>
        <p:nvCxnSpPr>
          <p:cNvPr id="27" name="直接箭头连接符 26"/>
          <p:cNvCxnSpPr>
            <a:cxnSpLocks/>
            <a:stCxn id="7" idx="3"/>
            <a:endCxn id="23" idx="1"/>
          </p:cNvCxnSpPr>
          <p:nvPr/>
        </p:nvCxnSpPr>
        <p:spPr>
          <a:xfrm>
            <a:off x="1184651" y="853390"/>
            <a:ext cx="530163" cy="3922"/>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sp>
        <p:nvSpPr>
          <p:cNvPr id="34" name="矩形 33"/>
          <p:cNvSpPr/>
          <p:nvPr/>
        </p:nvSpPr>
        <p:spPr>
          <a:xfrm>
            <a:off x="434904" y="649352"/>
            <a:ext cx="863787" cy="911150"/>
          </a:xfrm>
          <a:prstGeom prst="rect">
            <a:avLst/>
          </a:prstGeom>
          <a:noFill/>
          <a:ln w="22225">
            <a:prstDash val="dash"/>
          </a:ln>
        </p:spPr>
        <p:style>
          <a:lnRef idx="2">
            <a:schemeClr val="accent1"/>
          </a:lnRef>
          <a:fillRef idx="1">
            <a:schemeClr val="lt1"/>
          </a:fillRef>
          <a:effectRef idx="0">
            <a:schemeClr val="accent1"/>
          </a:effectRef>
          <a:fontRef idx="minor">
            <a:schemeClr val="dk1"/>
          </a:fontRef>
        </p:style>
        <p:txBody>
          <a:bodyPr rtlCol="0" anchor="ctr"/>
          <a:lstStyle/>
          <a:p>
            <a:pPr algn="ctr" defTabSz="230520" eaLnBrk="0" fontAlgn="base" hangingPunct="0">
              <a:spcBef>
                <a:spcPct val="0"/>
              </a:spcBef>
              <a:spcAft>
                <a:spcPct val="0"/>
              </a:spcAft>
            </a:pPr>
            <a:endParaRPr lang="zh-CN" altLang="en-US" sz="908">
              <a:solidFill>
                <a:prstClr val="black"/>
              </a:solidFill>
              <a:latin typeface="Calibri" panose="020F0502020204030204"/>
              <a:ea typeface="等线" panose="02010600030101010101" pitchFamily="2" charset="-122"/>
            </a:endParaRPr>
          </a:p>
        </p:txBody>
      </p:sp>
      <p:cxnSp>
        <p:nvCxnSpPr>
          <p:cNvPr id="36" name="直接箭头连接符 35"/>
          <p:cNvCxnSpPr>
            <a:cxnSpLocks/>
            <a:endCxn id="24" idx="1"/>
          </p:cNvCxnSpPr>
          <p:nvPr/>
        </p:nvCxnSpPr>
        <p:spPr>
          <a:xfrm>
            <a:off x="1315979" y="1135167"/>
            <a:ext cx="1019150" cy="0"/>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374244" y="601417"/>
            <a:ext cx="968121" cy="1456490"/>
          </a:xfrm>
          <a:prstGeom prst="rect">
            <a:avLst/>
          </a:prstGeom>
          <a:noFill/>
          <a:ln w="22225">
            <a:solidFill>
              <a:srgbClr val="C00000"/>
            </a:solidFill>
            <a:prstDash val="dash"/>
          </a:ln>
        </p:spPr>
        <p:style>
          <a:lnRef idx="2">
            <a:schemeClr val="accent2"/>
          </a:lnRef>
          <a:fillRef idx="1">
            <a:schemeClr val="lt1"/>
          </a:fillRef>
          <a:effectRef idx="0">
            <a:schemeClr val="accent2"/>
          </a:effectRef>
          <a:fontRef idx="minor">
            <a:schemeClr val="dk1"/>
          </a:fontRef>
        </p:style>
        <p:txBody>
          <a:bodyPr rtlCol="0" anchor="ctr"/>
          <a:lstStyle/>
          <a:p>
            <a:pPr algn="ctr" defTabSz="230520" eaLnBrk="0" fontAlgn="base" hangingPunct="0">
              <a:spcBef>
                <a:spcPct val="0"/>
              </a:spcBef>
              <a:spcAft>
                <a:spcPct val="0"/>
              </a:spcAft>
            </a:pPr>
            <a:endParaRPr lang="zh-CN" altLang="en-US" sz="908">
              <a:solidFill>
                <a:prstClr val="black"/>
              </a:solidFill>
              <a:latin typeface="Calibri" panose="020F0502020204030204"/>
              <a:ea typeface="等线" panose="02010600030101010101" pitchFamily="2" charset="-122"/>
            </a:endParaRPr>
          </a:p>
        </p:txBody>
      </p:sp>
      <p:cxnSp>
        <p:nvCxnSpPr>
          <p:cNvPr id="39" name="直接箭头连接符 38"/>
          <p:cNvCxnSpPr>
            <a:cxnSpLocks/>
            <a:endCxn id="25" idx="1"/>
          </p:cNvCxnSpPr>
          <p:nvPr/>
        </p:nvCxnSpPr>
        <p:spPr>
          <a:xfrm>
            <a:off x="1397262" y="1433746"/>
            <a:ext cx="1285673" cy="0"/>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a:xfrm>
            <a:off x="136459" y="2629510"/>
            <a:ext cx="4374087" cy="246221"/>
          </a:xfrm>
          <a:prstGeom prst="rect">
            <a:avLst/>
          </a:prstGeom>
          <a:noFill/>
        </p:spPr>
        <p:txBody>
          <a:bodyPr wrap="square" rtlCol="0">
            <a:spAutoFit/>
          </a:bodyPr>
          <a:lstStyle/>
          <a:p>
            <a:pPr algn="ctr" defTabSz="230520" eaLnBrk="0" fontAlgn="base" hangingPunct="0">
              <a:spcBef>
                <a:spcPct val="0"/>
              </a:spcBef>
              <a:spcAft>
                <a:spcPct val="0"/>
              </a:spcAft>
            </a:pPr>
            <a:r>
              <a:rPr lang="zh-CN" altLang="en-US" sz="1000" b="1" dirty="0">
                <a:solidFill>
                  <a:prstClr val="black"/>
                </a:solidFill>
                <a:latin typeface="KaiTi" panose="02010609060101010101" pitchFamily="49" charset="-122"/>
                <a:ea typeface="KaiTi" panose="02010609060101010101" pitchFamily="49" charset="-122"/>
              </a:rPr>
              <a:t>宏观经济学的基本理论框架</a:t>
            </a:r>
          </a:p>
        </p:txBody>
      </p:sp>
      <p:sp>
        <p:nvSpPr>
          <p:cNvPr id="11" name="矩形 10"/>
          <p:cNvSpPr/>
          <p:nvPr/>
        </p:nvSpPr>
        <p:spPr>
          <a:xfrm>
            <a:off x="278706" y="512311"/>
            <a:ext cx="1177699" cy="1933380"/>
          </a:xfrm>
          <a:prstGeom prst="rect">
            <a:avLst/>
          </a:prstGeom>
          <a:noFill/>
          <a:ln w="22225">
            <a:prstDash val="dash"/>
          </a:ln>
        </p:spPr>
        <p:style>
          <a:lnRef idx="2">
            <a:schemeClr val="accent6"/>
          </a:lnRef>
          <a:fillRef idx="1">
            <a:schemeClr val="lt1"/>
          </a:fillRef>
          <a:effectRef idx="0">
            <a:schemeClr val="accent6"/>
          </a:effectRef>
          <a:fontRef idx="minor">
            <a:schemeClr val="dk1"/>
          </a:fontRef>
        </p:style>
        <p:txBody>
          <a:bodyPr rtlCol="0" anchor="ctr"/>
          <a:lstStyle/>
          <a:p>
            <a:pPr algn="ctr" defTabSz="230520" eaLnBrk="0" fontAlgn="base" hangingPunct="0">
              <a:spcBef>
                <a:spcPct val="0"/>
              </a:spcBef>
              <a:spcAft>
                <a:spcPct val="0"/>
              </a:spcAft>
            </a:pPr>
            <a:endParaRPr lang="zh-CN" altLang="en-US" sz="908">
              <a:solidFill>
                <a:prstClr val="black"/>
              </a:solidFill>
              <a:latin typeface="Calibri" panose="020F0502020204030204"/>
              <a:ea typeface="等线" panose="02010600030101010101" pitchFamily="2" charset="-122"/>
            </a:endParaRPr>
          </a:p>
        </p:txBody>
      </p:sp>
      <p:cxnSp>
        <p:nvCxnSpPr>
          <p:cNvPr id="15" name="直接箭头连接符 14"/>
          <p:cNvCxnSpPr/>
          <p:nvPr/>
        </p:nvCxnSpPr>
        <p:spPr>
          <a:xfrm>
            <a:off x="1504595" y="1985350"/>
            <a:ext cx="1336929" cy="0"/>
          </a:xfrm>
          <a:prstGeom prst="straightConnector1">
            <a:avLst/>
          </a:prstGeom>
          <a:ln w="158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2809106" y="1817732"/>
            <a:ext cx="1701441" cy="247440"/>
          </a:xfrm>
          <a:prstGeom prst="rect">
            <a:avLst/>
          </a:prstGeom>
          <a:ln w="15875">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defTabSz="230520" eaLnBrk="0" fontAlgn="base" hangingPunct="0">
              <a:spcBef>
                <a:spcPct val="0"/>
              </a:spcBef>
              <a:spcAft>
                <a:spcPct val="0"/>
              </a:spcAft>
            </a:pPr>
            <a:r>
              <a:rPr lang="zh-CN" altLang="en-US" sz="1008" dirty="0">
                <a:solidFill>
                  <a:srgbClr val="00B050"/>
                </a:solidFill>
                <a:latin typeface="Calibri" panose="020F0502020204030204"/>
                <a:ea typeface="等线" panose="02010600030101010101" pitchFamily="2" charset="-122"/>
              </a:rPr>
              <a:t>开放经济下的</a:t>
            </a:r>
            <a:r>
              <a:rPr lang="en-US" altLang="zh-CN" sz="1008" dirty="0">
                <a:solidFill>
                  <a:srgbClr val="00B050"/>
                </a:solidFill>
                <a:latin typeface="Calibri" panose="020F0502020204030204"/>
                <a:ea typeface="等线" panose="02010600030101010101" pitchFamily="2" charset="-122"/>
              </a:rPr>
              <a:t>IS-LM-BP</a:t>
            </a:r>
            <a:r>
              <a:rPr lang="zh-CN" altLang="en-US" sz="1008" dirty="0">
                <a:solidFill>
                  <a:srgbClr val="00B050"/>
                </a:solidFill>
                <a:latin typeface="Calibri" panose="020F0502020204030204"/>
                <a:ea typeface="等线" panose="02010600030101010101" pitchFamily="2" charset="-122"/>
              </a:rPr>
              <a:t>模型</a:t>
            </a:r>
          </a:p>
        </p:txBody>
      </p:sp>
      <p:sp>
        <p:nvSpPr>
          <p:cNvPr id="26" name="文本框 25">
            <a:extLst>
              <a:ext uri="{FF2B5EF4-FFF2-40B4-BE49-F238E27FC236}">
                <a16:creationId xmlns:a16="http://schemas.microsoft.com/office/drawing/2014/main" id="{BA4D3837-9E86-4867-9E33-CA9EC6CF5F95}"/>
              </a:ext>
            </a:extLst>
          </p:cNvPr>
          <p:cNvSpPr txBox="1"/>
          <p:nvPr/>
        </p:nvSpPr>
        <p:spPr>
          <a:xfrm>
            <a:off x="533475" y="2167006"/>
            <a:ext cx="653217" cy="23205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defTabSz="230520" eaLnBrk="0" fontAlgn="base" hangingPunct="0">
              <a:spcBef>
                <a:spcPct val="0"/>
              </a:spcBef>
              <a:spcAft>
                <a:spcPct val="0"/>
              </a:spcAft>
            </a:pPr>
            <a:r>
              <a:rPr lang="zh-CN" altLang="en-US" sz="908" dirty="0">
                <a:solidFill>
                  <a:srgbClr val="00B050"/>
                </a:solidFill>
                <a:latin typeface="Calibri" panose="020F0502020204030204"/>
                <a:ea typeface="等线" panose="02010600030101010101" pitchFamily="2" charset="-122"/>
              </a:rPr>
              <a:t>国际市场</a:t>
            </a:r>
          </a:p>
        </p:txBody>
      </p:sp>
      <p:sp>
        <p:nvSpPr>
          <p:cNvPr id="14" name="object 32">
            <a:extLst>
              <a:ext uri="{FF2B5EF4-FFF2-40B4-BE49-F238E27FC236}">
                <a16:creationId xmlns:a16="http://schemas.microsoft.com/office/drawing/2014/main" id="{40D88564-D292-FFDB-02A4-A8EB9AE30D0E}"/>
              </a:ext>
            </a:extLst>
          </p:cNvPr>
          <p:cNvSpPr/>
          <p:nvPr/>
        </p:nvSpPr>
        <p:spPr>
          <a:xfrm>
            <a:off x="1963" y="1588"/>
            <a:ext cx="4603865" cy="143124"/>
          </a:xfrm>
          <a:prstGeom prst="rect">
            <a:avLst/>
          </a:prstGeom>
          <a:blipFill>
            <a:blip r:embed="rId2" cstate="print"/>
            <a:stretch>
              <a:fillRect/>
            </a:stretch>
          </a:blipFill>
        </p:spPr>
        <p:txBody>
          <a:bodyPr wrap="square" lIns="0" tIns="0" rIns="0" bIns="0" rtlCol="0"/>
          <a:lstStyle/>
          <a:p>
            <a:endParaRPr sz="1798"/>
          </a:p>
        </p:txBody>
      </p:sp>
      <p:sp>
        <p:nvSpPr>
          <p:cNvPr id="20" name="object 99">
            <a:extLst>
              <a:ext uri="{FF2B5EF4-FFF2-40B4-BE49-F238E27FC236}">
                <a16:creationId xmlns:a16="http://schemas.microsoft.com/office/drawing/2014/main" id="{E5A0CD16-CFC4-04B2-2AB1-6EADE12F7470}"/>
              </a:ext>
            </a:extLst>
          </p:cNvPr>
          <p:cNvSpPr/>
          <p:nvPr/>
        </p:nvSpPr>
        <p:spPr>
          <a:xfrm>
            <a:off x="-152" y="3345713"/>
            <a:ext cx="4608093" cy="111252"/>
          </a:xfrm>
          <a:prstGeom prst="rect">
            <a:avLst/>
          </a:prstGeom>
          <a:blipFill>
            <a:blip r:embed="rId3" cstate="print"/>
            <a:stretch>
              <a:fillRect/>
            </a:stretch>
          </a:blip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1" name="object 100">
            <a:extLst>
              <a:ext uri="{FF2B5EF4-FFF2-40B4-BE49-F238E27FC236}">
                <a16:creationId xmlns:a16="http://schemas.microsoft.com/office/drawing/2014/main" id="{3E3C8A8D-E668-4F7C-CB0C-C94D5413F2D9}"/>
              </a:ext>
            </a:extLst>
          </p:cNvPr>
          <p:cNvSpPr txBox="1"/>
          <p:nvPr/>
        </p:nvSpPr>
        <p:spPr>
          <a:xfrm>
            <a:off x="68074" y="3347973"/>
            <a:ext cx="1401445" cy="89768"/>
          </a:xfrm>
          <a:prstGeom prst="rect">
            <a:avLst/>
          </a:prstGeom>
        </p:spPr>
        <p:txBody>
          <a:bodyPr vert="horz" wrap="square" lIns="0" tIns="0" rIns="0" bIns="0" rtlCol="0">
            <a:spAutoFit/>
          </a:bodyPr>
          <a:lstStyle/>
          <a:p>
            <a:pPr marL="12700">
              <a:lnSpc>
                <a:spcPts val="700"/>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600" spc="-5" dirty="0">
                <a:solidFill>
                  <a:srgbClr val="F2F2F2"/>
                </a:solidFill>
                <a:latin typeface="Times New Roman"/>
                <a:cs typeface="Times New Roman"/>
              </a:rPr>
              <a:t>(</a:t>
            </a:r>
            <a:r>
              <a:rPr lang="en-US" sz="600" spc="-5" dirty="0">
                <a:solidFill>
                  <a:srgbClr val="F2F2F2"/>
                </a:solidFill>
                <a:latin typeface="Times New Roman"/>
                <a:cs typeface="Times New Roman"/>
              </a:rPr>
              <a:t>Zhiqing Yang</a:t>
            </a:r>
            <a:r>
              <a:rPr sz="600" spc="135" dirty="0">
                <a:solidFill>
                  <a:srgbClr val="F2F2F2"/>
                </a:solidFill>
                <a:latin typeface="Times New Roman"/>
                <a:cs typeface="Times New Roman"/>
              </a:rPr>
              <a:t> </a:t>
            </a:r>
            <a:r>
              <a:rPr lang="en-US" altLang="zh-CN" sz="600" spc="-5" dirty="0" err="1">
                <a:solidFill>
                  <a:srgbClr val="F2F2F2"/>
                </a:solidFill>
                <a:latin typeface="Times New Roman"/>
                <a:ea typeface="宋体" panose="02010600030101010101" pitchFamily="2" charset="-122"/>
                <a:cs typeface="Times New Roman"/>
              </a:rPr>
              <a:t>yangzhiqing</a:t>
            </a:r>
            <a:r>
              <a:rPr sz="600" spc="-5" dirty="0" err="1">
                <a:solidFill>
                  <a:srgbClr val="F2F2F2"/>
                </a:solidFill>
                <a:latin typeface="Times New Roman"/>
                <a:cs typeface="Times New Roman"/>
              </a:rPr>
              <a:t>@</a:t>
            </a:r>
            <a:r>
              <a:rPr lang="en-US" sz="600" spc="-5" dirty="0" err="1">
                <a:solidFill>
                  <a:srgbClr val="F2F2F2"/>
                </a:solidFill>
                <a:latin typeface="Times New Roman"/>
                <a:cs typeface="Times New Roman"/>
              </a:rPr>
              <a:t>hust.edu.cn</a:t>
            </a:r>
            <a:r>
              <a:rPr sz="600" spc="-5" dirty="0">
                <a:solidFill>
                  <a:srgbClr val="F2F2F2"/>
                </a:solidFill>
                <a:latin typeface="Times New Roman"/>
                <a:cs typeface="Times New Roman"/>
              </a:rPr>
              <a:t>)</a:t>
            </a:r>
            <a:endParaRPr sz="600" dirty="0">
              <a:solidFill>
                <a:prstClr val="black"/>
              </a:solidFill>
              <a:latin typeface="Times New Roman"/>
              <a:cs typeface="Times New Roman"/>
            </a:endParaRPr>
          </a:p>
        </p:txBody>
      </p:sp>
      <p:sp>
        <p:nvSpPr>
          <p:cNvPr id="22" name="object 101">
            <a:extLst>
              <a:ext uri="{FF2B5EF4-FFF2-40B4-BE49-F238E27FC236}">
                <a16:creationId xmlns:a16="http://schemas.microsoft.com/office/drawing/2014/main" id="{5C4503B4-1430-CF32-0C6C-0542F7454E3E}"/>
              </a:ext>
            </a:extLst>
          </p:cNvPr>
          <p:cNvSpPr txBox="1">
            <a:spLocks/>
          </p:cNvSpPr>
          <p:nvPr/>
        </p:nvSpPr>
        <p:spPr>
          <a:xfrm>
            <a:off x="2059938" y="3347973"/>
            <a:ext cx="677159" cy="89768"/>
          </a:xfrm>
          <a:prstGeom prst="rect">
            <a:avLst/>
          </a:prstGeom>
        </p:spPr>
        <p:txBody>
          <a:bodyPr vert="horz" wrap="square" lIns="0" tIns="0" rIns="0" bIns="0" rtlCol="0">
            <a:spAutoFit/>
          </a:bodyPr>
          <a:lstStyle>
            <a:defPPr>
              <a:defRPr lang="zh-CN"/>
            </a:defPPr>
            <a:lvl1pPr marL="0" algn="l" defTabSz="914400" rtl="0" eaLnBrk="1" latinLnBrk="0" hangingPunct="1">
              <a:defRPr sz="600" b="0" i="0" kern="1200">
                <a:solidFill>
                  <a:srgbClr val="8E0000"/>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0" lvl="0" indent="0" algn="l" defTabSz="914400" rtl="0" eaLnBrk="1" fontAlgn="auto" latinLnBrk="0" hangingPunct="1">
              <a:lnSpc>
                <a:spcPts val="700"/>
              </a:lnSpc>
              <a:spcBef>
                <a:spcPts val="0"/>
              </a:spcBef>
              <a:spcAft>
                <a:spcPts val="0"/>
              </a:spcAft>
              <a:buClrTx/>
              <a:buSzTx/>
              <a:buFontTx/>
              <a:buNone/>
              <a:tabLst/>
              <a:defRPr/>
            </a:pPr>
            <a:r>
              <a:rPr kumimoji="0" lang="en-US" sz="600" b="0" i="0" u="none" strike="noStrike" kern="1200" cap="none" spc="-5" normalizeH="0" baseline="0" noProof="0">
                <a:ln>
                  <a:noFill/>
                </a:ln>
                <a:solidFill>
                  <a:srgbClr val="8E0000"/>
                </a:solidFill>
                <a:effectLst/>
                <a:uLnTx/>
                <a:uFillTx/>
                <a:latin typeface="Times New Roman"/>
                <a:ea typeface="+mn-ea"/>
                <a:cs typeface="Times New Roman"/>
              </a:rPr>
              <a:t>Macroeconomics</a:t>
            </a:r>
            <a:endParaRPr kumimoji="0" lang="en-US" sz="600" b="0" i="0" u="none" strike="noStrike" kern="1200" cap="none" spc="-5" normalizeH="0" baseline="0" noProof="0" dirty="0">
              <a:ln>
                <a:noFill/>
              </a:ln>
              <a:solidFill>
                <a:srgbClr val="8E0000"/>
              </a:solidFill>
              <a:effectLst/>
              <a:uLnTx/>
              <a:uFillTx/>
              <a:latin typeface="Times New Roman"/>
              <a:ea typeface="+mn-ea"/>
              <a:cs typeface="Times New Roman"/>
            </a:endParaRPr>
          </a:p>
        </p:txBody>
      </p:sp>
      <p:sp>
        <p:nvSpPr>
          <p:cNvPr id="29" name="object 102">
            <a:extLst>
              <a:ext uri="{FF2B5EF4-FFF2-40B4-BE49-F238E27FC236}">
                <a16:creationId xmlns:a16="http://schemas.microsoft.com/office/drawing/2014/main" id="{4A344ED3-5A40-2AA9-05D3-F190F668E476}"/>
              </a:ext>
            </a:extLst>
          </p:cNvPr>
          <p:cNvSpPr txBox="1"/>
          <p:nvPr/>
        </p:nvSpPr>
        <p:spPr>
          <a:xfrm>
            <a:off x="3762247" y="3347973"/>
            <a:ext cx="448945" cy="89768"/>
          </a:xfrm>
          <a:prstGeom prst="rect">
            <a:avLst/>
          </a:prstGeom>
        </p:spPr>
        <p:txBody>
          <a:bodyPr vert="horz" wrap="square" lIns="0" tIns="0" rIns="0" bIns="0" rtlCol="0">
            <a:spAutoFit/>
          </a:bodyPr>
          <a:lstStyle/>
          <a:p>
            <a:pPr marL="12700">
              <a:lnSpc>
                <a:spcPts val="700"/>
              </a:lnSpc>
            </a:pPr>
            <a:r>
              <a:rPr sz="600" spc="-5" dirty="0">
                <a:solidFill>
                  <a:srgbClr val="7A0000"/>
                </a:solidFill>
                <a:latin typeface="Times New Roman"/>
                <a:cs typeface="Times New Roman"/>
              </a:rPr>
              <a:t>20</a:t>
            </a:r>
            <a:r>
              <a:rPr lang="en-US" sz="600" spc="-5" dirty="0">
                <a:solidFill>
                  <a:srgbClr val="7A0000"/>
                </a:solidFill>
                <a:latin typeface="Times New Roman"/>
                <a:cs typeface="Times New Roman"/>
              </a:rPr>
              <a:t>23</a:t>
            </a:r>
            <a:r>
              <a:rPr sz="600" spc="-5" dirty="0">
                <a:solidFill>
                  <a:srgbClr val="7A0000"/>
                </a:solidFill>
                <a:latin typeface="Times New Roman"/>
                <a:cs typeface="Times New Roman"/>
              </a:rPr>
              <a:t>-</a:t>
            </a:r>
            <a:r>
              <a:rPr lang="en-US" sz="600" spc="-5" dirty="0">
                <a:solidFill>
                  <a:srgbClr val="7A0000"/>
                </a:solidFill>
                <a:latin typeface="Times New Roman"/>
                <a:cs typeface="Times New Roman"/>
              </a:rPr>
              <a:t>Feb</a:t>
            </a:r>
            <a:endParaRPr sz="600" dirty="0">
              <a:solidFill>
                <a:prstClr val="black"/>
              </a:solidFill>
              <a:latin typeface="Times New Roman"/>
              <a:cs typeface="Times New Roman"/>
            </a:endParaRPr>
          </a:p>
        </p:txBody>
      </p:sp>
    </p:spTree>
    <p:extLst>
      <p:ext uri="{BB962C8B-B14F-4D97-AF65-F5344CB8AC3E}">
        <p14:creationId xmlns:p14="http://schemas.microsoft.com/office/powerpoint/2010/main" val="1910789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left)">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left)">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wipe(left)">
                                      <p:cBhvr>
                                        <p:cTn id="27" dur="5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wipe(left)">
                                      <p:cBhvr>
                                        <p:cTn id="32" dur="500"/>
                                        <p:tgtEl>
                                          <p:spTgt spid="3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left)">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wipe(left)">
                                      <p:cBhvr>
                                        <p:cTn id="47" dur="500"/>
                                        <p:tgtEl>
                                          <p:spTgt spid="3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wipe(left)">
                                      <p:cBhvr>
                                        <p:cTn id="52" dur="500"/>
                                        <p:tgtEl>
                                          <p:spTgt spid="3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wipe(left)">
                                      <p:cBhvr>
                                        <p:cTn id="57" dur="50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wipe(left)">
                                      <p:cBhvr>
                                        <p:cTn id="62" dur="500"/>
                                        <p:tgtEl>
                                          <p:spTgt spid="2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wipe(left)">
                                      <p:cBhvr>
                                        <p:cTn id="67" dur="500"/>
                                        <p:tgtEl>
                                          <p:spTgt spid="11"/>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wipe(left)">
                                      <p:cBhvr>
                                        <p:cTn id="72" dur="500"/>
                                        <p:tgtEl>
                                          <p:spTgt spid="1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wipe(left)">
                                      <p:cBhvr>
                                        <p:cTn id="77" dur="500"/>
                                        <p:tgtEl>
                                          <p:spTgt spid="28"/>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42"/>
                                        </p:tgtEl>
                                        <p:attrNameLst>
                                          <p:attrName>style.visibility</p:attrName>
                                        </p:attrNameLst>
                                      </p:cBhvr>
                                      <p:to>
                                        <p:strVal val="visible"/>
                                      </p:to>
                                    </p:set>
                                    <p:animEffect transition="in" filter="wipe(left)">
                                      <p:cBhvr>
                                        <p:cTn id="82"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3" grpId="0" animBg="1"/>
      <p:bldP spid="23" grpId="0" animBg="1"/>
      <p:bldP spid="24" grpId="0" animBg="1"/>
      <p:bldP spid="25" grpId="0" animBg="1"/>
      <p:bldP spid="34" grpId="0" animBg="1"/>
      <p:bldP spid="37" grpId="0" animBg="1"/>
      <p:bldP spid="42" grpId="0"/>
      <p:bldP spid="11" grpId="0" animBg="1"/>
      <p:bldP spid="28" grpId="0" animBg="1"/>
      <p:bldP spid="2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52" y="0"/>
            <a:ext cx="4608093" cy="143256"/>
          </a:xfrm>
          <a:prstGeom prst="rect">
            <a:avLst/>
          </a:prstGeom>
          <a:blipFill>
            <a:blip r:embed="rId2" cstate="print"/>
            <a:stretch>
              <a:fillRect/>
            </a:stretch>
          </a:blipFill>
        </p:spPr>
        <p:txBody>
          <a:bodyPr wrap="square" lIns="0" tIns="0" rIns="0" bIns="0" rtlCol="0"/>
          <a:lstStyle/>
          <a:p>
            <a:endParaRPr/>
          </a:p>
        </p:txBody>
      </p:sp>
      <p:sp>
        <p:nvSpPr>
          <p:cNvPr id="31" name="object 31"/>
          <p:cNvSpPr/>
          <p:nvPr/>
        </p:nvSpPr>
        <p:spPr>
          <a:xfrm>
            <a:off x="87882" y="573405"/>
            <a:ext cx="4432935" cy="82550"/>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a:p>
        </p:txBody>
      </p:sp>
      <p:sp>
        <p:nvSpPr>
          <p:cNvPr id="32" name="object 32"/>
          <p:cNvSpPr/>
          <p:nvPr/>
        </p:nvSpPr>
        <p:spPr>
          <a:xfrm>
            <a:off x="133126" y="1250219"/>
            <a:ext cx="112479" cy="109537"/>
          </a:xfrm>
          <a:prstGeom prst="rect">
            <a:avLst/>
          </a:prstGeom>
          <a:blipFill>
            <a:blip r:embed="rId3" cstate="print"/>
            <a:stretch>
              <a:fillRect/>
            </a:stretch>
          </a:blipFill>
        </p:spPr>
        <p:txBody>
          <a:bodyPr wrap="square" lIns="0" tIns="0" rIns="0" bIns="0" rtlCol="0"/>
          <a:lstStyle/>
          <a:p>
            <a:endParaRPr/>
          </a:p>
        </p:txBody>
      </p:sp>
      <p:sp>
        <p:nvSpPr>
          <p:cNvPr id="33" name="object 33"/>
          <p:cNvSpPr/>
          <p:nvPr/>
        </p:nvSpPr>
        <p:spPr>
          <a:xfrm>
            <a:off x="4451394" y="1234344"/>
            <a:ext cx="122237" cy="125301"/>
          </a:xfrm>
          <a:prstGeom prst="rect">
            <a:avLst/>
          </a:prstGeom>
          <a:blipFill>
            <a:blip r:embed="rId4" cstate="print"/>
            <a:stretch>
              <a:fillRect/>
            </a:stretch>
          </a:blipFill>
        </p:spPr>
        <p:txBody>
          <a:bodyPr wrap="square" lIns="0" tIns="0" rIns="0" bIns="0" rtlCol="0"/>
          <a:lstStyle/>
          <a:p>
            <a:endParaRPr/>
          </a:p>
        </p:txBody>
      </p:sp>
      <p:sp>
        <p:nvSpPr>
          <p:cNvPr id="34" name="object 34"/>
          <p:cNvSpPr/>
          <p:nvPr/>
        </p:nvSpPr>
        <p:spPr>
          <a:xfrm>
            <a:off x="189482" y="128594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5" name="object 35"/>
          <p:cNvSpPr/>
          <p:nvPr/>
        </p:nvSpPr>
        <p:spPr>
          <a:xfrm>
            <a:off x="189482" y="12922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6" name="object 36"/>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7" name="object 37"/>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8" name="object 38"/>
          <p:cNvSpPr/>
          <p:nvPr/>
        </p:nvSpPr>
        <p:spPr>
          <a:xfrm>
            <a:off x="189482" y="13049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a:p>
        </p:txBody>
      </p:sp>
      <p:sp>
        <p:nvSpPr>
          <p:cNvPr id="39" name="object 39"/>
          <p:cNvSpPr/>
          <p:nvPr/>
        </p:nvSpPr>
        <p:spPr>
          <a:xfrm>
            <a:off x="189482" y="13113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a:p>
        </p:txBody>
      </p:sp>
      <p:sp>
        <p:nvSpPr>
          <p:cNvPr id="40" name="object 40"/>
          <p:cNvSpPr/>
          <p:nvPr/>
        </p:nvSpPr>
        <p:spPr>
          <a:xfrm>
            <a:off x="189482" y="13176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a:p>
        </p:txBody>
      </p:sp>
      <p:sp>
        <p:nvSpPr>
          <p:cNvPr id="41" name="object 41"/>
          <p:cNvSpPr/>
          <p:nvPr/>
        </p:nvSpPr>
        <p:spPr>
          <a:xfrm>
            <a:off x="189482" y="13240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a:p>
        </p:txBody>
      </p:sp>
      <p:sp>
        <p:nvSpPr>
          <p:cNvPr id="42" name="object 42"/>
          <p:cNvSpPr/>
          <p:nvPr/>
        </p:nvSpPr>
        <p:spPr>
          <a:xfrm>
            <a:off x="189482" y="13303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a:p>
        </p:txBody>
      </p:sp>
      <p:sp>
        <p:nvSpPr>
          <p:cNvPr id="43" name="object 43"/>
          <p:cNvSpPr/>
          <p:nvPr/>
        </p:nvSpPr>
        <p:spPr>
          <a:xfrm>
            <a:off x="189482" y="13367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a:p>
        </p:txBody>
      </p:sp>
      <p:sp>
        <p:nvSpPr>
          <p:cNvPr id="44" name="object 44"/>
          <p:cNvSpPr/>
          <p:nvPr/>
        </p:nvSpPr>
        <p:spPr>
          <a:xfrm>
            <a:off x="189482" y="13430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a:p>
        </p:txBody>
      </p:sp>
      <p:sp>
        <p:nvSpPr>
          <p:cNvPr id="45" name="object 45"/>
          <p:cNvSpPr/>
          <p:nvPr/>
        </p:nvSpPr>
        <p:spPr>
          <a:xfrm>
            <a:off x="4520450" y="623404"/>
            <a:ext cx="50800" cy="50800"/>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a:p>
        </p:txBody>
      </p:sp>
      <p:sp>
        <p:nvSpPr>
          <p:cNvPr id="46" name="object 46"/>
          <p:cNvSpPr/>
          <p:nvPr/>
        </p:nvSpPr>
        <p:spPr>
          <a:xfrm>
            <a:off x="4520450" y="717271"/>
            <a:ext cx="27305" cy="8255"/>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a:p>
        </p:txBody>
      </p:sp>
      <p:sp>
        <p:nvSpPr>
          <p:cNvPr id="47" name="object 47"/>
          <p:cNvSpPr/>
          <p:nvPr/>
        </p:nvSpPr>
        <p:spPr>
          <a:xfrm>
            <a:off x="4520450" y="626579"/>
            <a:ext cx="47625" cy="47625"/>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a:p>
        </p:txBody>
      </p:sp>
      <p:sp>
        <p:nvSpPr>
          <p:cNvPr id="48" name="object 48"/>
          <p:cNvSpPr/>
          <p:nvPr/>
        </p:nvSpPr>
        <p:spPr>
          <a:xfrm>
            <a:off x="4520450" y="674204"/>
            <a:ext cx="47625" cy="47625"/>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a:p>
        </p:txBody>
      </p:sp>
      <p:sp>
        <p:nvSpPr>
          <p:cNvPr id="49" name="object 49"/>
          <p:cNvSpPr/>
          <p:nvPr/>
        </p:nvSpPr>
        <p:spPr>
          <a:xfrm>
            <a:off x="4520450" y="629754"/>
            <a:ext cx="44450" cy="44450"/>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a:p>
        </p:txBody>
      </p:sp>
      <p:sp>
        <p:nvSpPr>
          <p:cNvPr id="50" name="object 50"/>
          <p:cNvSpPr/>
          <p:nvPr/>
        </p:nvSpPr>
        <p:spPr>
          <a:xfrm>
            <a:off x="4520450" y="674204"/>
            <a:ext cx="44450" cy="44450"/>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a:p>
        </p:txBody>
      </p:sp>
      <p:sp>
        <p:nvSpPr>
          <p:cNvPr id="51" name="object 51"/>
          <p:cNvSpPr/>
          <p:nvPr/>
        </p:nvSpPr>
        <p:spPr>
          <a:xfrm>
            <a:off x="4520450" y="632929"/>
            <a:ext cx="41275" cy="41275"/>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a:p>
        </p:txBody>
      </p:sp>
      <p:sp>
        <p:nvSpPr>
          <p:cNvPr id="52" name="object 52"/>
          <p:cNvSpPr/>
          <p:nvPr/>
        </p:nvSpPr>
        <p:spPr>
          <a:xfrm>
            <a:off x="4520450" y="674204"/>
            <a:ext cx="41275" cy="41275"/>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a:p>
        </p:txBody>
      </p:sp>
      <p:sp>
        <p:nvSpPr>
          <p:cNvPr id="53" name="object 53"/>
          <p:cNvSpPr/>
          <p:nvPr/>
        </p:nvSpPr>
        <p:spPr>
          <a:xfrm>
            <a:off x="4520450" y="636104"/>
            <a:ext cx="38100" cy="38100"/>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a:p>
        </p:txBody>
      </p:sp>
      <p:sp>
        <p:nvSpPr>
          <p:cNvPr id="54" name="object 54"/>
          <p:cNvSpPr/>
          <p:nvPr/>
        </p:nvSpPr>
        <p:spPr>
          <a:xfrm>
            <a:off x="4520450" y="674204"/>
            <a:ext cx="38100" cy="38100"/>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a:p>
        </p:txBody>
      </p:sp>
      <p:sp>
        <p:nvSpPr>
          <p:cNvPr id="55" name="object 55"/>
          <p:cNvSpPr/>
          <p:nvPr/>
        </p:nvSpPr>
        <p:spPr>
          <a:xfrm>
            <a:off x="4520450" y="639279"/>
            <a:ext cx="34925" cy="34925"/>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a:p>
        </p:txBody>
      </p:sp>
      <p:sp>
        <p:nvSpPr>
          <p:cNvPr id="56" name="object 56"/>
          <p:cNvSpPr/>
          <p:nvPr/>
        </p:nvSpPr>
        <p:spPr>
          <a:xfrm>
            <a:off x="4520450" y="674204"/>
            <a:ext cx="34925" cy="34925"/>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a:p>
        </p:txBody>
      </p:sp>
      <p:sp>
        <p:nvSpPr>
          <p:cNvPr id="57" name="object 57"/>
          <p:cNvSpPr/>
          <p:nvPr/>
        </p:nvSpPr>
        <p:spPr>
          <a:xfrm>
            <a:off x="4520450" y="642454"/>
            <a:ext cx="31750" cy="31750"/>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a:p>
        </p:txBody>
      </p:sp>
      <p:sp>
        <p:nvSpPr>
          <p:cNvPr id="58" name="object 58"/>
          <p:cNvSpPr/>
          <p:nvPr/>
        </p:nvSpPr>
        <p:spPr>
          <a:xfrm>
            <a:off x="4520450" y="674204"/>
            <a:ext cx="31750" cy="31750"/>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a:p>
        </p:txBody>
      </p:sp>
      <p:sp>
        <p:nvSpPr>
          <p:cNvPr id="59" name="object 59"/>
          <p:cNvSpPr/>
          <p:nvPr/>
        </p:nvSpPr>
        <p:spPr>
          <a:xfrm>
            <a:off x="4520450" y="645629"/>
            <a:ext cx="28575" cy="28575"/>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a:p>
        </p:txBody>
      </p:sp>
      <p:sp>
        <p:nvSpPr>
          <p:cNvPr id="60" name="object 60"/>
          <p:cNvSpPr/>
          <p:nvPr/>
        </p:nvSpPr>
        <p:spPr>
          <a:xfrm>
            <a:off x="4520450" y="674204"/>
            <a:ext cx="28575" cy="28575"/>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a:p>
        </p:txBody>
      </p:sp>
      <p:sp>
        <p:nvSpPr>
          <p:cNvPr id="61" name="object 61"/>
          <p:cNvSpPr/>
          <p:nvPr/>
        </p:nvSpPr>
        <p:spPr>
          <a:xfrm>
            <a:off x="4520450" y="648804"/>
            <a:ext cx="25400" cy="25400"/>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a:p>
        </p:txBody>
      </p:sp>
      <p:sp>
        <p:nvSpPr>
          <p:cNvPr id="62" name="object 62"/>
          <p:cNvSpPr/>
          <p:nvPr/>
        </p:nvSpPr>
        <p:spPr>
          <a:xfrm>
            <a:off x="4520450" y="674204"/>
            <a:ext cx="25400" cy="25400"/>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a:p>
        </p:txBody>
      </p:sp>
      <p:sp>
        <p:nvSpPr>
          <p:cNvPr id="63" name="object 63"/>
          <p:cNvSpPr/>
          <p:nvPr/>
        </p:nvSpPr>
        <p:spPr>
          <a:xfrm>
            <a:off x="4520450" y="651979"/>
            <a:ext cx="22225" cy="2222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a:p>
        </p:txBody>
      </p:sp>
      <p:sp>
        <p:nvSpPr>
          <p:cNvPr id="64" name="object 64"/>
          <p:cNvSpPr/>
          <p:nvPr/>
        </p:nvSpPr>
        <p:spPr>
          <a:xfrm>
            <a:off x="4520450" y="674204"/>
            <a:ext cx="22225" cy="2222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a:p>
        </p:txBody>
      </p:sp>
      <p:sp>
        <p:nvSpPr>
          <p:cNvPr id="65" name="object 65"/>
          <p:cNvSpPr/>
          <p:nvPr/>
        </p:nvSpPr>
        <p:spPr>
          <a:xfrm>
            <a:off x="4520450" y="655154"/>
            <a:ext cx="19050" cy="19050"/>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a:p>
        </p:txBody>
      </p:sp>
      <p:sp>
        <p:nvSpPr>
          <p:cNvPr id="66" name="object 66"/>
          <p:cNvSpPr/>
          <p:nvPr/>
        </p:nvSpPr>
        <p:spPr>
          <a:xfrm>
            <a:off x="4520450" y="674204"/>
            <a:ext cx="19050" cy="19050"/>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a:p>
        </p:txBody>
      </p:sp>
      <p:sp>
        <p:nvSpPr>
          <p:cNvPr id="67" name="object 67"/>
          <p:cNvSpPr/>
          <p:nvPr/>
        </p:nvSpPr>
        <p:spPr>
          <a:xfrm>
            <a:off x="4520450" y="658329"/>
            <a:ext cx="15875" cy="15875"/>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a:p>
        </p:txBody>
      </p:sp>
      <p:sp>
        <p:nvSpPr>
          <p:cNvPr id="68" name="object 68"/>
          <p:cNvSpPr/>
          <p:nvPr/>
        </p:nvSpPr>
        <p:spPr>
          <a:xfrm>
            <a:off x="4520450" y="674204"/>
            <a:ext cx="15875" cy="15875"/>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a:p>
        </p:txBody>
      </p:sp>
      <p:sp>
        <p:nvSpPr>
          <p:cNvPr id="69" name="object 69"/>
          <p:cNvSpPr/>
          <p:nvPr/>
        </p:nvSpPr>
        <p:spPr>
          <a:xfrm>
            <a:off x="4520450" y="661504"/>
            <a:ext cx="12700" cy="12700"/>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a:p>
        </p:txBody>
      </p:sp>
      <p:sp>
        <p:nvSpPr>
          <p:cNvPr id="70" name="object 70"/>
          <p:cNvSpPr/>
          <p:nvPr/>
        </p:nvSpPr>
        <p:spPr>
          <a:xfrm>
            <a:off x="4520450" y="674204"/>
            <a:ext cx="12700" cy="12700"/>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a:p>
        </p:txBody>
      </p:sp>
      <p:sp>
        <p:nvSpPr>
          <p:cNvPr id="71" name="object 71"/>
          <p:cNvSpPr/>
          <p:nvPr/>
        </p:nvSpPr>
        <p:spPr>
          <a:xfrm>
            <a:off x="4520450" y="664679"/>
            <a:ext cx="9525" cy="9525"/>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a:p>
        </p:txBody>
      </p:sp>
      <p:sp>
        <p:nvSpPr>
          <p:cNvPr id="72" name="object 72"/>
          <p:cNvSpPr/>
          <p:nvPr/>
        </p:nvSpPr>
        <p:spPr>
          <a:xfrm>
            <a:off x="4520450" y="674204"/>
            <a:ext cx="9525" cy="9525"/>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a:p>
        </p:txBody>
      </p:sp>
      <p:sp>
        <p:nvSpPr>
          <p:cNvPr id="73" name="object 73"/>
          <p:cNvSpPr/>
          <p:nvPr/>
        </p:nvSpPr>
        <p:spPr>
          <a:xfrm>
            <a:off x="4520450" y="667854"/>
            <a:ext cx="6350" cy="6350"/>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a:p>
        </p:txBody>
      </p:sp>
      <p:sp>
        <p:nvSpPr>
          <p:cNvPr id="74" name="object 74"/>
          <p:cNvSpPr/>
          <p:nvPr/>
        </p:nvSpPr>
        <p:spPr>
          <a:xfrm>
            <a:off x="4520450" y="674204"/>
            <a:ext cx="6350" cy="6350"/>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a:p>
        </p:txBody>
      </p:sp>
      <p:sp>
        <p:nvSpPr>
          <p:cNvPr id="75" name="object 75"/>
          <p:cNvSpPr/>
          <p:nvPr/>
        </p:nvSpPr>
        <p:spPr>
          <a:xfrm>
            <a:off x="4520450" y="671029"/>
            <a:ext cx="3175" cy="3175"/>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a:p>
        </p:txBody>
      </p:sp>
      <p:sp>
        <p:nvSpPr>
          <p:cNvPr id="76" name="object 76"/>
          <p:cNvSpPr/>
          <p:nvPr/>
        </p:nvSpPr>
        <p:spPr>
          <a:xfrm>
            <a:off x="4520450" y="674204"/>
            <a:ext cx="3175" cy="3175"/>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a:p>
        </p:txBody>
      </p:sp>
      <p:sp>
        <p:nvSpPr>
          <p:cNvPr id="77" name="object 77"/>
          <p:cNvSpPr/>
          <p:nvPr/>
        </p:nvSpPr>
        <p:spPr>
          <a:xfrm>
            <a:off x="4520450" y="667854"/>
            <a:ext cx="6350" cy="12700"/>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a:p>
        </p:txBody>
      </p:sp>
      <p:sp>
        <p:nvSpPr>
          <p:cNvPr id="78" name="object 78"/>
          <p:cNvSpPr/>
          <p:nvPr/>
        </p:nvSpPr>
        <p:spPr>
          <a:xfrm>
            <a:off x="4522033"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a:p>
        </p:txBody>
      </p:sp>
      <p:sp>
        <p:nvSpPr>
          <p:cNvPr id="79" name="object 79"/>
          <p:cNvSpPr/>
          <p:nvPr/>
        </p:nvSpPr>
        <p:spPr>
          <a:xfrm>
            <a:off x="452838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a:p>
        </p:txBody>
      </p:sp>
      <p:sp>
        <p:nvSpPr>
          <p:cNvPr id="80" name="object 80"/>
          <p:cNvSpPr/>
          <p:nvPr/>
        </p:nvSpPr>
        <p:spPr>
          <a:xfrm>
            <a:off x="4534730"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a:p>
        </p:txBody>
      </p:sp>
      <p:sp>
        <p:nvSpPr>
          <p:cNvPr id="81" name="object 81"/>
          <p:cNvSpPr/>
          <p:nvPr/>
        </p:nvSpPr>
        <p:spPr>
          <a:xfrm>
            <a:off x="454108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a:p>
        </p:txBody>
      </p:sp>
      <p:sp>
        <p:nvSpPr>
          <p:cNvPr id="82" name="object 82"/>
          <p:cNvSpPr/>
          <p:nvPr/>
        </p:nvSpPr>
        <p:spPr>
          <a:xfrm>
            <a:off x="454744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a:p>
        </p:txBody>
      </p:sp>
      <p:sp>
        <p:nvSpPr>
          <p:cNvPr id="83" name="object 83"/>
          <p:cNvSpPr/>
          <p:nvPr/>
        </p:nvSpPr>
        <p:spPr>
          <a:xfrm>
            <a:off x="4553765"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a:p>
        </p:txBody>
      </p:sp>
      <p:sp>
        <p:nvSpPr>
          <p:cNvPr id="84" name="object 84"/>
          <p:cNvSpPr/>
          <p:nvPr/>
        </p:nvSpPr>
        <p:spPr>
          <a:xfrm>
            <a:off x="456013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a:p>
        </p:txBody>
      </p:sp>
      <p:sp>
        <p:nvSpPr>
          <p:cNvPr id="85" name="object 85"/>
          <p:cNvSpPr/>
          <p:nvPr/>
        </p:nvSpPr>
        <p:spPr>
          <a:xfrm>
            <a:off x="87882" y="617270"/>
            <a:ext cx="4432935" cy="68643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a:p>
        </p:txBody>
      </p:sp>
      <p:sp>
        <p:nvSpPr>
          <p:cNvPr id="86" name="object 86"/>
          <p:cNvSpPr/>
          <p:nvPr/>
        </p:nvSpPr>
        <p:spPr>
          <a:xfrm>
            <a:off x="4520450" y="661504"/>
            <a:ext cx="0" cy="61023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a:p>
        </p:txBody>
      </p:sp>
      <p:sp>
        <p:nvSpPr>
          <p:cNvPr id="87" name="object 87"/>
          <p:cNvSpPr/>
          <p:nvPr/>
        </p:nvSpPr>
        <p:spPr>
          <a:xfrm>
            <a:off x="4520450" y="648804"/>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88" name="object 88"/>
          <p:cNvSpPr/>
          <p:nvPr/>
        </p:nvSpPr>
        <p:spPr>
          <a:xfrm>
            <a:off x="4520450" y="636104"/>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89" name="object 89"/>
          <p:cNvSpPr/>
          <p:nvPr/>
        </p:nvSpPr>
        <p:spPr>
          <a:xfrm>
            <a:off x="4520450" y="623404"/>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sp>
        <p:nvSpPr>
          <p:cNvPr id="90" name="object 90"/>
          <p:cNvSpPr/>
          <p:nvPr/>
        </p:nvSpPr>
        <p:spPr>
          <a:xfrm>
            <a:off x="4520450" y="604354"/>
            <a:ext cx="0" cy="19050"/>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a:p>
        </p:txBody>
      </p:sp>
      <p:sp>
        <p:nvSpPr>
          <p:cNvPr id="91" name="object 91"/>
          <p:cNvSpPr txBox="1">
            <a:spLocks noGrp="1"/>
          </p:cNvSpPr>
          <p:nvPr>
            <p:ph type="title"/>
          </p:nvPr>
        </p:nvSpPr>
        <p:spPr>
          <a:xfrm>
            <a:off x="1229818" y="641054"/>
            <a:ext cx="2148696" cy="307777"/>
          </a:xfrm>
          <a:prstGeom prst="rect">
            <a:avLst/>
          </a:prstGeom>
        </p:spPr>
        <p:txBody>
          <a:bodyPr vert="horz" wrap="square" lIns="0" tIns="0" rIns="0" bIns="0" rtlCol="0">
            <a:spAutoFit/>
          </a:bodyPr>
          <a:lstStyle/>
          <a:p>
            <a:pPr marL="12700" algn="ctr">
              <a:lnSpc>
                <a:spcPct val="100000"/>
              </a:lnSpc>
            </a:pPr>
            <a:r>
              <a:rPr lang="zh-CN" altLang="en-US" sz="2000" spc="10" dirty="0">
                <a:latin typeface="DengXian" panose="02010600030101010101" pitchFamily="2" charset="-122"/>
                <a:ea typeface="DengXian" panose="02010600030101010101" pitchFamily="2" charset="-122"/>
              </a:rPr>
              <a:t>宏观经济学</a:t>
            </a:r>
            <a:endParaRPr sz="2000" dirty="0">
              <a:latin typeface="DengXian" panose="02010600030101010101" pitchFamily="2" charset="-122"/>
              <a:ea typeface="DengXian" panose="02010600030101010101" pitchFamily="2" charset="-122"/>
            </a:endParaRPr>
          </a:p>
        </p:txBody>
      </p:sp>
      <p:sp>
        <p:nvSpPr>
          <p:cNvPr id="92" name="object 92"/>
          <p:cNvSpPr txBox="1"/>
          <p:nvPr/>
        </p:nvSpPr>
        <p:spPr>
          <a:xfrm>
            <a:off x="1415984" y="1016050"/>
            <a:ext cx="1827530" cy="184666"/>
          </a:xfrm>
          <a:prstGeom prst="rect">
            <a:avLst/>
          </a:prstGeom>
        </p:spPr>
        <p:txBody>
          <a:bodyPr vert="horz" wrap="square" lIns="0" tIns="0" rIns="0" bIns="0" rtlCol="0">
            <a:spAutoFit/>
          </a:bodyPr>
          <a:lstStyle/>
          <a:p>
            <a:pPr marL="12700" algn="ctr">
              <a:lnSpc>
                <a:spcPct val="100000"/>
              </a:lnSpc>
            </a:pPr>
            <a:r>
              <a:rPr lang="en-US" altLang="zh-CN" sz="1200" spc="-10" dirty="0">
                <a:solidFill>
                  <a:srgbClr val="CC0000"/>
                </a:solidFill>
                <a:latin typeface="Times New Roman"/>
                <a:cs typeface="Times New Roman"/>
              </a:rPr>
              <a:t>Macroeconomics</a:t>
            </a:r>
            <a:endParaRPr sz="1400" baseline="27777" dirty="0">
              <a:latin typeface="Times New Roman"/>
              <a:cs typeface="Times New Roman"/>
            </a:endParaRPr>
          </a:p>
        </p:txBody>
      </p:sp>
      <p:sp>
        <p:nvSpPr>
          <p:cNvPr id="93" name="object 93"/>
          <p:cNvSpPr txBox="1"/>
          <p:nvPr/>
        </p:nvSpPr>
        <p:spPr>
          <a:xfrm>
            <a:off x="2152904" y="1682877"/>
            <a:ext cx="302895" cy="15389"/>
          </a:xfrm>
          <a:prstGeom prst="rect">
            <a:avLst/>
          </a:prstGeom>
        </p:spPr>
        <p:txBody>
          <a:bodyPr vert="horz" wrap="square" lIns="0" tIns="0" rIns="0" bIns="0" rtlCol="0">
            <a:spAutoFit/>
          </a:bodyPr>
          <a:lstStyle/>
          <a:p>
            <a:pPr marL="12700">
              <a:lnSpc>
                <a:spcPct val="100000"/>
              </a:lnSpc>
            </a:pPr>
            <a:r>
              <a:rPr sz="100" i="1" spc="60" dirty="0">
                <a:latin typeface="Times New Roman"/>
                <a:cs typeface="Times New Roman"/>
              </a:rPr>
              <a:t>  </a:t>
            </a:r>
            <a:endParaRPr sz="100">
              <a:latin typeface="Times New Roman"/>
              <a:cs typeface="Times New Roman"/>
            </a:endParaRPr>
          </a:p>
        </p:txBody>
      </p:sp>
      <p:sp>
        <p:nvSpPr>
          <p:cNvPr id="94" name="object 94"/>
          <p:cNvSpPr txBox="1"/>
          <p:nvPr/>
        </p:nvSpPr>
        <p:spPr>
          <a:xfrm>
            <a:off x="92008" y="1471712"/>
            <a:ext cx="4387324" cy="786177"/>
          </a:xfrm>
          <a:prstGeom prst="rect">
            <a:avLst/>
          </a:prstGeom>
        </p:spPr>
        <p:txBody>
          <a:bodyPr vert="horz" wrap="square" lIns="0" tIns="0" rIns="0" bIns="0" rtlCol="0">
            <a:spAutoFit/>
          </a:bodyPr>
          <a:lstStyle/>
          <a:p>
            <a:pPr marL="635" algn="ctr">
              <a:lnSpc>
                <a:spcPct val="130000"/>
              </a:lnSpc>
            </a:pPr>
            <a:r>
              <a:rPr lang="zh-CN" altLang="en-US" sz="1600" b="1" spc="-15" dirty="0">
                <a:latin typeface="Garamond" panose="02020404030301010803" pitchFamily="18" charset="0"/>
                <a:ea typeface="KaiTi" panose="02010609060101010101" pitchFamily="49" charset="-122"/>
                <a:cs typeface="Times New Roman"/>
              </a:rPr>
              <a:t>第一章 宏观经济学的基本指标及其衡量</a:t>
            </a:r>
            <a:endParaRPr lang="en-US" altLang="zh-CN" sz="1600" b="1" spc="-15" dirty="0">
              <a:latin typeface="Garamond" panose="02020404030301010803" pitchFamily="18" charset="0"/>
              <a:ea typeface="KaiTi" panose="02010609060101010101" pitchFamily="49" charset="-122"/>
              <a:cs typeface="Times New Roman"/>
            </a:endParaRPr>
          </a:p>
          <a:p>
            <a:pPr marL="635" algn="ctr">
              <a:lnSpc>
                <a:spcPct val="130000"/>
              </a:lnSpc>
            </a:pPr>
            <a:r>
              <a:rPr lang="zh-CN" altLang="en-US" sz="1400" b="1" dirty="0">
                <a:solidFill>
                  <a:srgbClr val="333399"/>
                </a:solidFill>
                <a:latin typeface="Garamond" panose="02020404030301010803" pitchFamily="18" charset="0"/>
                <a:ea typeface="KaiTi" panose="02010609060101010101" pitchFamily="49" charset="-122"/>
                <a:cs typeface="+mj-cs"/>
              </a:rPr>
              <a:t>第</a:t>
            </a:r>
            <a:r>
              <a:rPr lang="en-US" altLang="zh-CN" sz="1400" b="1" dirty="0">
                <a:solidFill>
                  <a:srgbClr val="333399"/>
                </a:solidFill>
                <a:latin typeface="Garamond" panose="02020404030301010803" pitchFamily="18" charset="0"/>
                <a:ea typeface="KaiTi" panose="02010609060101010101" pitchFamily="49" charset="-122"/>
                <a:cs typeface="+mj-cs"/>
              </a:rPr>
              <a:t>1</a:t>
            </a:r>
            <a:r>
              <a:rPr lang="zh-CN" altLang="en-US" sz="1400" b="1" dirty="0">
                <a:solidFill>
                  <a:srgbClr val="333399"/>
                </a:solidFill>
                <a:latin typeface="Garamond" panose="02020404030301010803" pitchFamily="18" charset="0"/>
                <a:ea typeface="KaiTi" panose="02010609060101010101" pitchFamily="49" charset="-122"/>
                <a:cs typeface="+mj-cs"/>
              </a:rPr>
              <a:t>节 国内生产总值</a:t>
            </a:r>
            <a:endParaRPr lang="en-US" altLang="zh-CN" sz="1400" b="1" dirty="0">
              <a:solidFill>
                <a:srgbClr val="333399"/>
              </a:solidFill>
              <a:latin typeface="Garamond" panose="02020404030301010803" pitchFamily="18" charset="0"/>
              <a:ea typeface="KaiTi" panose="02010609060101010101" pitchFamily="49" charset="-122"/>
              <a:cs typeface="+mj-cs"/>
            </a:endParaRPr>
          </a:p>
          <a:p>
            <a:pPr marL="635" algn="ctr">
              <a:lnSpc>
                <a:spcPct val="130000"/>
              </a:lnSpc>
            </a:pPr>
            <a:endParaRPr sz="1000" b="1" dirty="0">
              <a:latin typeface="Garamond" panose="02020404030301010803" pitchFamily="18" charset="0"/>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52" y="3345713"/>
            <a:ext cx="4608093" cy="111252"/>
          </a:xfrm>
          <a:prstGeom prst="rect">
            <a:avLst/>
          </a:prstGeom>
          <a:blipFill>
            <a:blip r:embed="rId5" cstate="print"/>
            <a:stretch>
              <a:fillRect/>
            </a:stretch>
          </a:blipFill>
        </p:spPr>
        <p:txBody>
          <a:bodyPr wrap="square" lIns="0" tIns="0" rIns="0" bIns="0" rtlCol="0"/>
          <a:lstStyle/>
          <a:p>
            <a:endParaRPr/>
          </a:p>
        </p:txBody>
      </p:sp>
      <p:sp>
        <p:nvSpPr>
          <p:cNvPr id="96" name="object 100">
            <a:extLst>
              <a:ext uri="{FF2B5EF4-FFF2-40B4-BE49-F238E27FC236}">
                <a16:creationId xmlns:a16="http://schemas.microsoft.com/office/drawing/2014/main" id="{FCB83B91-3B30-5E31-0A02-C4B58223A209}"/>
              </a:ext>
            </a:extLst>
          </p:cNvPr>
          <p:cNvSpPr txBox="1"/>
          <p:nvPr/>
        </p:nvSpPr>
        <p:spPr>
          <a:xfrm>
            <a:off x="68074" y="3347973"/>
            <a:ext cx="1401445" cy="89768"/>
          </a:xfrm>
          <a:prstGeom prst="rect">
            <a:avLst/>
          </a:prstGeom>
        </p:spPr>
        <p:txBody>
          <a:bodyPr vert="horz" wrap="square" lIns="0" tIns="0" rIns="0" bIns="0" rtlCol="0">
            <a:spAutoFit/>
          </a:bodyPr>
          <a:lstStyle/>
          <a:p>
            <a:pPr marL="12700">
              <a:lnSpc>
                <a:spcPts val="700"/>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600" spc="-5" dirty="0">
                <a:solidFill>
                  <a:srgbClr val="F2F2F2"/>
                </a:solidFill>
                <a:latin typeface="Times New Roman"/>
                <a:cs typeface="Times New Roman"/>
              </a:rPr>
              <a:t>(</a:t>
            </a:r>
            <a:r>
              <a:rPr lang="en-US" sz="600" spc="-5" dirty="0">
                <a:solidFill>
                  <a:srgbClr val="F2F2F2"/>
                </a:solidFill>
                <a:latin typeface="Times New Roman"/>
                <a:cs typeface="Times New Roman"/>
              </a:rPr>
              <a:t>Zhiqing Yang</a:t>
            </a:r>
            <a:r>
              <a:rPr sz="600" spc="135" dirty="0">
                <a:solidFill>
                  <a:srgbClr val="F2F2F2"/>
                </a:solidFill>
                <a:latin typeface="Times New Roman"/>
                <a:cs typeface="Times New Roman"/>
              </a:rPr>
              <a:t> </a:t>
            </a:r>
            <a:r>
              <a:rPr lang="en-US" altLang="zh-CN" sz="600" spc="-5" dirty="0" err="1">
                <a:solidFill>
                  <a:srgbClr val="F2F2F2"/>
                </a:solidFill>
                <a:latin typeface="Times New Roman"/>
                <a:cs typeface="Times New Roman"/>
              </a:rPr>
              <a:t>yangzhiqing</a:t>
            </a:r>
            <a:r>
              <a:rPr sz="600" spc="-5" dirty="0" err="1">
                <a:solidFill>
                  <a:srgbClr val="F2F2F2"/>
                </a:solidFill>
                <a:latin typeface="Times New Roman"/>
                <a:cs typeface="Times New Roman"/>
              </a:rPr>
              <a:t>@</a:t>
            </a:r>
            <a:r>
              <a:rPr lang="en-US" sz="600" spc="-5" dirty="0" err="1">
                <a:solidFill>
                  <a:srgbClr val="F2F2F2"/>
                </a:solidFill>
                <a:latin typeface="Times New Roman"/>
                <a:cs typeface="Times New Roman"/>
              </a:rPr>
              <a:t>hust.edu.cn</a:t>
            </a:r>
            <a:r>
              <a:rPr sz="600" spc="-5" dirty="0">
                <a:solidFill>
                  <a:srgbClr val="F2F2F2"/>
                </a:solidFill>
                <a:latin typeface="Times New Roman"/>
                <a:cs typeface="Times New Roman"/>
              </a:rPr>
              <a:t>)</a:t>
            </a:r>
            <a:endParaRPr sz="600" dirty="0">
              <a:latin typeface="Times New Roman"/>
              <a:cs typeface="Times New Roman"/>
            </a:endParaRPr>
          </a:p>
        </p:txBody>
      </p:sp>
      <p:sp>
        <p:nvSpPr>
          <p:cNvPr id="103" name="object 101">
            <a:extLst>
              <a:ext uri="{FF2B5EF4-FFF2-40B4-BE49-F238E27FC236}">
                <a16:creationId xmlns:a16="http://schemas.microsoft.com/office/drawing/2014/main" id="{E195572A-0D1D-2C1F-BEBB-03BB2692A651}"/>
              </a:ext>
            </a:extLst>
          </p:cNvPr>
          <p:cNvSpPr txBox="1">
            <a:spLocks noGrp="1"/>
          </p:cNvSpPr>
          <p:nvPr>
            <p:ph type="dt" sz="half" idx="6"/>
          </p:nvPr>
        </p:nvSpPr>
        <p:spPr>
          <a:xfrm>
            <a:off x="2059938" y="3347973"/>
            <a:ext cx="677159" cy="89768"/>
          </a:xfrm>
          <a:prstGeom prst="rect">
            <a:avLst/>
          </a:prstGeom>
        </p:spPr>
        <p:txBody>
          <a:bodyPr vert="horz" wrap="square" lIns="0" tIns="0" rIns="0" bIns="0" rtlCol="0">
            <a:spAutoFit/>
          </a:bodyPr>
          <a:lstStyle/>
          <a:p>
            <a:pPr marL="12700">
              <a:lnSpc>
                <a:spcPts val="700"/>
              </a:lnSpc>
            </a:pPr>
            <a:r>
              <a:rPr lang="en-US" spc="-5" dirty="0"/>
              <a:t>Macroeconomics</a:t>
            </a:r>
            <a:endParaRPr spc="-5" dirty="0"/>
          </a:p>
        </p:txBody>
      </p:sp>
      <p:sp>
        <p:nvSpPr>
          <p:cNvPr id="104" name="object 102">
            <a:extLst>
              <a:ext uri="{FF2B5EF4-FFF2-40B4-BE49-F238E27FC236}">
                <a16:creationId xmlns:a16="http://schemas.microsoft.com/office/drawing/2014/main" id="{12EBC35F-69B2-4F45-2870-CA7DEA30B00E}"/>
              </a:ext>
            </a:extLst>
          </p:cNvPr>
          <p:cNvSpPr txBox="1"/>
          <p:nvPr/>
        </p:nvSpPr>
        <p:spPr>
          <a:xfrm>
            <a:off x="3762247" y="3347973"/>
            <a:ext cx="448945" cy="89768"/>
          </a:xfrm>
          <a:prstGeom prst="rect">
            <a:avLst/>
          </a:prstGeom>
        </p:spPr>
        <p:txBody>
          <a:bodyPr vert="horz" wrap="square" lIns="0" tIns="0" rIns="0" bIns="0" rtlCol="0">
            <a:spAutoFit/>
          </a:bodyPr>
          <a:lstStyle/>
          <a:p>
            <a:pPr marL="12700">
              <a:lnSpc>
                <a:spcPts val="700"/>
              </a:lnSpc>
            </a:pPr>
            <a:r>
              <a:rPr sz="600" spc="-5" dirty="0">
                <a:solidFill>
                  <a:srgbClr val="7A0000"/>
                </a:solidFill>
                <a:latin typeface="Times New Roman"/>
                <a:cs typeface="Times New Roman"/>
              </a:rPr>
              <a:t>20</a:t>
            </a:r>
            <a:r>
              <a:rPr lang="en-US" sz="600" spc="-5" dirty="0">
                <a:solidFill>
                  <a:srgbClr val="7A0000"/>
                </a:solidFill>
                <a:latin typeface="Times New Roman"/>
                <a:cs typeface="Times New Roman"/>
              </a:rPr>
              <a:t>23</a:t>
            </a:r>
            <a:r>
              <a:rPr sz="600" spc="-5" dirty="0">
                <a:solidFill>
                  <a:srgbClr val="7A0000"/>
                </a:solidFill>
                <a:latin typeface="Times New Roman"/>
                <a:cs typeface="Times New Roman"/>
              </a:rPr>
              <a:t>-</a:t>
            </a:r>
            <a:r>
              <a:rPr lang="en-US" sz="600" spc="-5" dirty="0">
                <a:solidFill>
                  <a:srgbClr val="7A0000"/>
                </a:solidFill>
                <a:latin typeface="Times New Roman"/>
                <a:cs typeface="Times New Roman"/>
              </a:rPr>
              <a:t>Feb</a:t>
            </a:r>
            <a:endParaRPr sz="600" dirty="0">
              <a:latin typeface="Times New Roman"/>
              <a:cs typeface="Times New Roman"/>
            </a:endParaRPr>
          </a:p>
        </p:txBody>
      </p:sp>
    </p:spTree>
    <p:extLst>
      <p:ext uri="{BB962C8B-B14F-4D97-AF65-F5344CB8AC3E}">
        <p14:creationId xmlns:p14="http://schemas.microsoft.com/office/powerpoint/2010/main" val="3610910616"/>
      </p:ext>
    </p:extLst>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8125280A-5044-8DE7-470B-C7EBBDCE11C6}"/>
              </a:ext>
            </a:extLst>
          </p:cNvPr>
          <p:cNvSpPr txBox="1">
            <a:spLocks/>
          </p:cNvSpPr>
          <p:nvPr/>
        </p:nvSpPr>
        <p:spPr>
          <a:xfrm>
            <a:off x="135565" y="609721"/>
            <a:ext cx="4332732" cy="2684655"/>
          </a:xfrm>
          <a:prstGeom prst="rect">
            <a:avLst/>
          </a:prstGeom>
        </p:spPr>
        <p:txBody>
          <a:bodyPr wrap="square" lIns="0" tIns="0" rIns="0" bIns="0">
            <a:normAutofit/>
          </a:bodyPr>
          <a:lstStyle>
            <a:lvl1pPr marL="0" eaLnBrk="1" hangingPunct="1">
              <a:defRPr sz="1000" b="0" i="0">
                <a:solidFill>
                  <a:schemeClr val="tx1"/>
                </a:solidFill>
                <a:latin typeface="Times New Roman"/>
                <a:ea typeface="+mn-ea"/>
                <a:cs typeface="Times New Roman"/>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285750" indent="-285750">
              <a:lnSpc>
                <a:spcPct val="140000"/>
              </a:lnSpc>
              <a:buClr>
                <a:schemeClr val="tx1"/>
              </a:buClr>
              <a:buFont typeface="Wingdings" pitchFamily="2" charset="2"/>
              <a:buChar char="p"/>
            </a:pPr>
            <a:r>
              <a:rPr lang="zh-CN" altLang="en-US" sz="1400" kern="0" dirty="0">
                <a:latin typeface="Garamond" panose="02020404030301010803" pitchFamily="18" charset="0"/>
                <a:ea typeface="KaiTi" panose="02010609060101010101" pitchFamily="49" charset="-122"/>
              </a:rPr>
              <a:t>宏观经济学研究什么？</a:t>
            </a:r>
            <a:endParaRPr lang="en-US" altLang="zh-CN" sz="1400" kern="0" dirty="0">
              <a:latin typeface="Garamond" panose="02020404030301010803" pitchFamily="18" charset="0"/>
              <a:ea typeface="KaiTi" panose="02010609060101010101" pitchFamily="49" charset="-122"/>
            </a:endParaRPr>
          </a:p>
          <a:p>
            <a:pPr marL="285750" indent="-285750">
              <a:lnSpc>
                <a:spcPct val="140000"/>
              </a:lnSpc>
              <a:buClr>
                <a:schemeClr val="tx1"/>
              </a:buClr>
              <a:buFont typeface="Wingdings" pitchFamily="2" charset="2"/>
              <a:buChar char="p"/>
            </a:pPr>
            <a:r>
              <a:rPr lang="zh-CN" altLang="en-US" sz="1400" kern="0" dirty="0">
                <a:latin typeface="Garamond" panose="02020404030301010803" pitchFamily="18" charset="0"/>
                <a:ea typeface="KaiTi" panose="02010609060101010101" pitchFamily="49" charset="-122"/>
              </a:rPr>
              <a:t>什么是国内生产总值（</a:t>
            </a:r>
            <a:r>
              <a:rPr lang="en-US" altLang="zh-CN" sz="1400" kern="0" dirty="0">
                <a:latin typeface="Garamond" panose="02020404030301010803" pitchFamily="18" charset="0"/>
                <a:ea typeface="KaiTi" panose="02010609060101010101" pitchFamily="49" charset="-122"/>
              </a:rPr>
              <a:t>GDP</a:t>
            </a:r>
            <a:r>
              <a:rPr lang="zh-CN" altLang="en-US" sz="1400" kern="0" dirty="0">
                <a:latin typeface="Garamond" panose="02020404030301010803" pitchFamily="18" charset="0"/>
                <a:ea typeface="KaiTi" panose="02010609060101010101" pitchFamily="49" charset="-122"/>
              </a:rPr>
              <a:t>）？</a:t>
            </a:r>
          </a:p>
          <a:p>
            <a:pPr marL="285750" indent="-285750">
              <a:lnSpc>
                <a:spcPct val="140000"/>
              </a:lnSpc>
              <a:buClr>
                <a:schemeClr val="tx1"/>
              </a:buClr>
              <a:buFont typeface="Wingdings" pitchFamily="2" charset="2"/>
              <a:buChar char="p"/>
            </a:pPr>
            <a:r>
              <a:rPr lang="en-US" altLang="zh-CN" sz="1400" kern="0" dirty="0">
                <a:latin typeface="Garamond" panose="02020404030301010803" pitchFamily="18" charset="0"/>
                <a:ea typeface="KaiTi" panose="02010609060101010101" pitchFamily="49" charset="-122"/>
              </a:rPr>
              <a:t>GDP</a:t>
            </a:r>
            <a:r>
              <a:rPr lang="zh-CN" altLang="en-US" sz="1400" kern="0" dirty="0">
                <a:latin typeface="Garamond" panose="02020404030301010803" pitchFamily="18" charset="0"/>
                <a:ea typeface="KaiTi" panose="02010609060101010101" pitchFamily="49" charset="-122"/>
              </a:rPr>
              <a:t>与一国的总收入与总支出有什么联系？</a:t>
            </a:r>
          </a:p>
          <a:p>
            <a:pPr marL="285750" indent="-285750">
              <a:lnSpc>
                <a:spcPct val="140000"/>
              </a:lnSpc>
              <a:buClr>
                <a:schemeClr val="tx1"/>
              </a:buClr>
              <a:buFont typeface="Wingdings" pitchFamily="2" charset="2"/>
              <a:buChar char="p"/>
            </a:pPr>
            <a:r>
              <a:rPr lang="en-US" altLang="zh-CN" sz="1400" kern="0" dirty="0">
                <a:latin typeface="Garamond" panose="02020404030301010803" pitchFamily="18" charset="0"/>
                <a:ea typeface="KaiTi" panose="02010609060101010101" pitchFamily="49" charset="-122"/>
              </a:rPr>
              <a:t>GDP</a:t>
            </a:r>
            <a:r>
              <a:rPr lang="zh-CN" altLang="en-US" sz="1400" kern="0" dirty="0">
                <a:latin typeface="Garamond" panose="02020404030301010803" pitchFamily="18" charset="0"/>
                <a:ea typeface="KaiTi" panose="02010609060101010101" pitchFamily="49" charset="-122"/>
              </a:rPr>
              <a:t>由哪几部分组成？</a:t>
            </a:r>
          </a:p>
          <a:p>
            <a:pPr marL="285750" indent="-285750">
              <a:lnSpc>
                <a:spcPct val="140000"/>
              </a:lnSpc>
              <a:buClr>
                <a:schemeClr val="tx1"/>
              </a:buClr>
              <a:buFont typeface="Wingdings" pitchFamily="2" charset="2"/>
              <a:buChar char="p"/>
            </a:pPr>
            <a:r>
              <a:rPr lang="en-US" altLang="zh-CN" sz="1400" kern="0" dirty="0">
                <a:latin typeface="Garamond" panose="02020404030301010803" pitchFamily="18" charset="0"/>
                <a:ea typeface="KaiTi" panose="02010609060101010101" pitchFamily="49" charset="-122"/>
              </a:rPr>
              <a:t>GDP</a:t>
            </a:r>
            <a:r>
              <a:rPr lang="zh-CN" altLang="en-US" sz="1400" kern="0" dirty="0">
                <a:latin typeface="Garamond" panose="02020404030301010803" pitchFamily="18" charset="0"/>
                <a:ea typeface="KaiTi" panose="02010609060101010101" pitchFamily="49" charset="-122"/>
              </a:rPr>
              <a:t>怎么进行通货膨胀的校正？</a:t>
            </a:r>
          </a:p>
          <a:p>
            <a:pPr marL="285750" indent="-285750">
              <a:lnSpc>
                <a:spcPct val="140000"/>
              </a:lnSpc>
              <a:buClr>
                <a:schemeClr val="tx1"/>
              </a:buClr>
              <a:buFont typeface="Wingdings" pitchFamily="2" charset="2"/>
              <a:buChar char="p"/>
            </a:pPr>
            <a:r>
              <a:rPr lang="en-US" altLang="zh-CN" sz="1400" kern="0" dirty="0">
                <a:latin typeface="Garamond" panose="02020404030301010803" pitchFamily="18" charset="0"/>
                <a:ea typeface="KaiTi" panose="02010609060101010101" pitchFamily="49" charset="-122"/>
              </a:rPr>
              <a:t>GDP</a:t>
            </a:r>
            <a:r>
              <a:rPr lang="zh-CN" altLang="en-US" sz="1400" kern="0" dirty="0">
                <a:latin typeface="Garamond" panose="02020404030301010803" pitchFamily="18" charset="0"/>
                <a:ea typeface="KaiTi" panose="02010609060101010101" pitchFamily="49" charset="-122"/>
              </a:rPr>
              <a:t>是衡量经济福利的好指标吗？</a:t>
            </a:r>
            <a:endParaRPr lang="en-US" altLang="zh-CN" sz="1400" kern="0" dirty="0">
              <a:latin typeface="Garamond" panose="02020404030301010803" pitchFamily="18" charset="0"/>
              <a:ea typeface="KaiTi" panose="02010609060101010101" pitchFamily="49" charset="-122"/>
            </a:endParaRPr>
          </a:p>
        </p:txBody>
      </p:sp>
      <p:sp>
        <p:nvSpPr>
          <p:cNvPr id="5" name="内容占位符 2">
            <a:extLst>
              <a:ext uri="{FF2B5EF4-FFF2-40B4-BE49-F238E27FC236}">
                <a16:creationId xmlns:a16="http://schemas.microsoft.com/office/drawing/2014/main" id="{52AE4F3F-8DA5-30E2-BF15-00A15F9F6A89}"/>
              </a:ext>
            </a:extLst>
          </p:cNvPr>
          <p:cNvSpPr txBox="1">
            <a:spLocks/>
          </p:cNvSpPr>
          <p:nvPr/>
        </p:nvSpPr>
        <p:spPr>
          <a:xfrm>
            <a:off x="-1" y="144712"/>
            <a:ext cx="4603865" cy="471996"/>
          </a:xfrm>
          <a:prstGeom prst="rect">
            <a:avLst/>
          </a:prstGeom>
          <a:noFill/>
        </p:spPr>
        <p:txBody>
          <a:bodyPr wrap="square" lIns="0" tIns="0" rIns="0" bIns="0">
            <a:normAutofit/>
          </a:bodyPr>
          <a:lstStyle>
            <a:lvl1pPr marL="0" eaLnBrk="1" hangingPunct="1">
              <a:defRPr sz="1000" b="0" i="0">
                <a:solidFill>
                  <a:schemeClr val="tx1"/>
                </a:solidFill>
                <a:latin typeface="Times New Roman"/>
                <a:ea typeface="+mn-ea"/>
                <a:cs typeface="Times New Roman"/>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algn="ctr">
              <a:lnSpc>
                <a:spcPct val="140000"/>
              </a:lnSpc>
            </a:pPr>
            <a:r>
              <a:rPr lang="zh-CN" altLang="en-US" sz="1800" kern="0">
                <a:solidFill>
                  <a:srgbClr val="C00000"/>
                </a:solidFill>
                <a:latin typeface="Microsoft YaHei" panose="020B0503020204020204" pitchFamily="34" charset="-122"/>
                <a:ea typeface="Microsoft YaHei" panose="020B0503020204020204" pitchFamily="34" charset="-122"/>
              </a:rPr>
              <a:t>本节要</a:t>
            </a:r>
            <a:r>
              <a:rPr lang="zh-CN" altLang="en-US" sz="1800" kern="0" dirty="0">
                <a:solidFill>
                  <a:srgbClr val="C00000"/>
                </a:solidFill>
                <a:latin typeface="Microsoft YaHei" panose="020B0503020204020204" pitchFamily="34" charset="-122"/>
                <a:ea typeface="Microsoft YaHei" panose="020B0503020204020204" pitchFamily="34" charset="-122"/>
              </a:rPr>
              <a:t>解决以下问题</a:t>
            </a:r>
            <a:endParaRPr lang="en-US" altLang="zh-CN" sz="1800" kern="0" dirty="0">
              <a:solidFill>
                <a:srgbClr val="C00000"/>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96403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F2E38E-8CB3-49F8-99B6-52E071388DA0}"/>
              </a:ext>
            </a:extLst>
          </p:cNvPr>
          <p:cNvSpPr>
            <a:spLocks noGrp="1"/>
          </p:cNvSpPr>
          <p:nvPr>
            <p:ph type="title"/>
          </p:nvPr>
        </p:nvSpPr>
        <p:spPr>
          <a:xfrm>
            <a:off x="95503" y="1370335"/>
            <a:ext cx="4419094" cy="184666"/>
          </a:xfrm>
        </p:spPr>
        <p:txBody>
          <a:bodyPr/>
          <a:lstStyle/>
          <a:p>
            <a:pPr algn="ctr"/>
            <a:r>
              <a:rPr lang="en-US" altLang="zh-CN" dirty="0"/>
              <a:t>Open discuss</a:t>
            </a:r>
            <a:r>
              <a:rPr lang="zh-CN" altLang="en-US" dirty="0"/>
              <a:t>：你想生活在什么样的国家？</a:t>
            </a:r>
          </a:p>
        </p:txBody>
      </p:sp>
    </p:spTree>
    <p:extLst>
      <p:ext uri="{BB962C8B-B14F-4D97-AF65-F5344CB8AC3E}">
        <p14:creationId xmlns:p14="http://schemas.microsoft.com/office/powerpoint/2010/main" val="3644396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5" descr="25">
            <a:extLst>
              <a:ext uri="{FF2B5EF4-FFF2-40B4-BE49-F238E27FC236}">
                <a16:creationId xmlns:a16="http://schemas.microsoft.com/office/drawing/2014/main" id="{7BA78F9B-20B7-43BE-ADEE-EC25359575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1719"/>
          <a:stretch>
            <a:fillRect/>
          </a:stretch>
        </p:blipFill>
        <p:spPr bwMode="auto">
          <a:xfrm>
            <a:off x="324830" y="107130"/>
            <a:ext cx="3960440" cy="324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984954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wipe(left)">
                                      <p:cBhvr>
                                        <p:cTn id="7" dur="500"/>
                                        <p:tgtEl>
                                          <p:spTgt spid="10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2290" name="Picture 5" descr="25">
            <a:extLst>
              <a:ext uri="{FF2B5EF4-FFF2-40B4-BE49-F238E27FC236}">
                <a16:creationId xmlns:a16="http://schemas.microsoft.com/office/drawing/2014/main" id="{CE18CC48-3110-409D-90B6-3E05BD04C68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5051" r="7576" b="6818"/>
          <a:stretch>
            <a:fillRect/>
          </a:stretch>
        </p:blipFill>
        <p:spPr bwMode="auto">
          <a:xfrm>
            <a:off x="288429" y="137039"/>
            <a:ext cx="4033242" cy="3186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5779344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wipe(left)">
                                      <p:cBhvr>
                                        <p:cTn id="7" dur="500"/>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5" descr="25">
            <a:extLst>
              <a:ext uri="{FF2B5EF4-FFF2-40B4-BE49-F238E27FC236}">
                <a16:creationId xmlns:a16="http://schemas.microsoft.com/office/drawing/2014/main" id="{CF86B508-01FD-4C22-A2A6-8918E48D9B0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6737" t="1237" r="4210" b="2475"/>
          <a:stretch>
            <a:fillRect/>
          </a:stretch>
        </p:blipFill>
        <p:spPr bwMode="auto">
          <a:xfrm>
            <a:off x="144810" y="146199"/>
            <a:ext cx="4207245" cy="3096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957613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wipe(left)">
                                      <p:cBhvr>
                                        <p:cTn id="7" dur="500"/>
                                        <p:tgtEl>
                                          <p:spTgt spid="14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B9A67F5-C3D9-5DEA-CFDB-D65A2BE51316}"/>
              </a:ext>
            </a:extLst>
          </p:cNvPr>
          <p:cNvSpPr>
            <a:spLocks noGrp="1"/>
          </p:cNvSpPr>
          <p:nvPr>
            <p:ph type="sldNum" sz="quarter" idx="11"/>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marL="0" algn="r" defTabSz="914400" rtl="0" eaLnBrk="1" latinLnBrk="0" hangingPunct="1">
              <a:defRPr sz="857"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C9ECCE-9A67-6F4D-96F4-AF59AF685F27}" type="slidenum">
              <a:rPr lang="zh-CN" altLang="zh-CN" smtClean="0"/>
              <a:pPr/>
              <a:t>12</a:t>
            </a:fld>
            <a:endParaRPr lang="en-US" altLang="zh-CN"/>
          </a:p>
        </p:txBody>
      </p:sp>
      <p:pic>
        <p:nvPicPr>
          <p:cNvPr id="3074" name="Picture 2">
            <a:extLst>
              <a:ext uri="{FF2B5EF4-FFF2-40B4-BE49-F238E27FC236}">
                <a16:creationId xmlns:a16="http://schemas.microsoft.com/office/drawing/2014/main" id="{9E0E4174-C9DE-0991-19FA-A2EEEA64E7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0166"/>
            <a:ext cx="4610100" cy="3067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63668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8779FA4-EC95-8D9B-AE27-A5117C1ECC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34975"/>
            <a:ext cx="4610100" cy="2589213"/>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a:extLst>
              <a:ext uri="{FF2B5EF4-FFF2-40B4-BE49-F238E27FC236}">
                <a16:creationId xmlns:a16="http://schemas.microsoft.com/office/drawing/2014/main" id="{9762108E-9CC6-16D3-FE17-B56CD850D6FC}"/>
              </a:ext>
            </a:extLst>
          </p:cNvPr>
          <p:cNvSpPr/>
          <p:nvPr/>
        </p:nvSpPr>
        <p:spPr>
          <a:xfrm>
            <a:off x="0" y="37983"/>
            <a:ext cx="4590689" cy="309637"/>
          </a:xfrm>
          <a:prstGeom prst="rect">
            <a:avLst/>
          </a:prstGeom>
        </p:spPr>
        <p:txBody>
          <a:bodyPr wrap="square">
            <a:spAutoFit/>
          </a:bodyPr>
          <a:lstStyle/>
          <a:p>
            <a:r>
              <a:rPr lang="zh-CN" altLang="en-US" sz="1412" dirty="0">
                <a:ln w="0"/>
                <a:solidFill>
                  <a:srgbClr val="C00000"/>
                </a:solidFill>
                <a:effectLst>
                  <a:outerShdw blurRad="38100" dist="25400" dir="5400000" algn="ctr" rotWithShape="0">
                    <a:srgbClr val="6E747A">
                      <a:alpha val="43000"/>
                    </a:srgbClr>
                  </a:outerShdw>
                </a:effectLst>
                <a:latin typeface="DengXian" panose="02010600030101010101" pitchFamily="2" charset="-122"/>
                <a:ea typeface="DengXian" panose="02010600030101010101" pitchFamily="2" charset="-122"/>
              </a:rPr>
              <a:t>一个中国普通家庭及其所有财产</a:t>
            </a:r>
          </a:p>
        </p:txBody>
      </p:sp>
      <p:sp>
        <p:nvSpPr>
          <p:cNvPr id="5" name="矩形 4">
            <a:extLst>
              <a:ext uri="{FF2B5EF4-FFF2-40B4-BE49-F238E27FC236}">
                <a16:creationId xmlns:a16="http://schemas.microsoft.com/office/drawing/2014/main" id="{F4C50137-9068-7880-38E7-2483552DA9B0}"/>
              </a:ext>
            </a:extLst>
          </p:cNvPr>
          <p:cNvSpPr/>
          <p:nvPr/>
        </p:nvSpPr>
        <p:spPr>
          <a:xfrm>
            <a:off x="2665090" y="2763811"/>
            <a:ext cx="1925599" cy="650947"/>
          </a:xfrm>
          <a:prstGeom prst="rect">
            <a:avLst/>
          </a:prstGeom>
          <a:solidFill>
            <a:schemeClr val="bg1"/>
          </a:solidFill>
        </p:spPr>
        <p:txBody>
          <a:bodyPr wrap="square">
            <a:spAutoFit/>
          </a:bodyPr>
          <a:lstStyle/>
          <a:p>
            <a:r>
              <a:rPr lang="zh-CN" altLang="en-US" sz="1210" dirty="0">
                <a:ln w="0"/>
                <a:solidFill>
                  <a:srgbClr val="C00000"/>
                </a:solidFill>
                <a:effectLst>
                  <a:outerShdw blurRad="38100" dist="25400" dir="5400000" algn="ctr" rotWithShape="0">
                    <a:srgbClr val="6E747A">
                      <a:alpha val="43000"/>
                    </a:srgbClr>
                  </a:outerShdw>
                </a:effectLst>
              </a:rPr>
              <a:t>人均GDP ：      $</a:t>
            </a:r>
            <a:r>
              <a:rPr lang="en-US" altLang="zh-CN" sz="1210" dirty="0">
                <a:ln w="0"/>
                <a:solidFill>
                  <a:srgbClr val="C00000"/>
                </a:solidFill>
                <a:effectLst>
                  <a:outerShdw blurRad="38100" dist="25400" dir="5400000" algn="ctr" rotWithShape="0">
                    <a:srgbClr val="6E747A">
                      <a:alpha val="43000"/>
                    </a:srgbClr>
                  </a:outerShdw>
                </a:effectLst>
              </a:rPr>
              <a:t>12</a:t>
            </a:r>
            <a:r>
              <a:rPr lang="zh-CN" altLang="en-US" sz="1210" dirty="0">
                <a:ln w="0"/>
                <a:solidFill>
                  <a:srgbClr val="C00000"/>
                </a:solidFill>
                <a:effectLst>
                  <a:outerShdw blurRad="38100" dist="25400" dir="5400000" algn="ctr" rotWithShape="0">
                    <a:srgbClr val="6E747A">
                      <a:alpha val="43000"/>
                    </a:srgbClr>
                  </a:outerShdw>
                </a:effectLst>
              </a:rPr>
              <a:t>,</a:t>
            </a:r>
            <a:r>
              <a:rPr lang="en-US" altLang="zh-CN" sz="1210" dirty="0">
                <a:ln w="0"/>
                <a:solidFill>
                  <a:srgbClr val="C00000"/>
                </a:solidFill>
                <a:effectLst>
                  <a:outerShdw blurRad="38100" dist="25400" dir="5400000" algn="ctr" rotWithShape="0">
                    <a:srgbClr val="6E747A">
                      <a:alpha val="43000"/>
                    </a:srgbClr>
                  </a:outerShdw>
                </a:effectLst>
              </a:rPr>
              <a:t>70</a:t>
            </a:r>
            <a:r>
              <a:rPr lang="zh-CN" altLang="en-US" sz="1210" dirty="0">
                <a:ln w="0"/>
                <a:solidFill>
                  <a:srgbClr val="C00000"/>
                </a:solidFill>
                <a:effectLst>
                  <a:outerShdw blurRad="38100" dist="25400" dir="5400000" algn="ctr" rotWithShape="0">
                    <a:srgbClr val="6E747A">
                      <a:alpha val="43000"/>
                    </a:srgbClr>
                  </a:outerShdw>
                </a:effectLst>
              </a:rPr>
              <a:t>0</a:t>
            </a:r>
          </a:p>
          <a:p>
            <a:r>
              <a:rPr lang="zh-CN" altLang="en-US" sz="1210" dirty="0">
                <a:ln w="0"/>
                <a:solidFill>
                  <a:srgbClr val="C00000"/>
                </a:solidFill>
                <a:effectLst>
                  <a:outerShdw blurRad="38100" dist="25400" dir="5400000" algn="ctr" rotWithShape="0">
                    <a:srgbClr val="6E747A">
                      <a:alpha val="43000"/>
                    </a:srgbClr>
                  </a:outerShdw>
                </a:effectLst>
              </a:rPr>
              <a:t>预期寿命： 	 7</a:t>
            </a:r>
            <a:r>
              <a:rPr lang="en-US" altLang="zh-CN" sz="1210" dirty="0">
                <a:ln w="0"/>
                <a:solidFill>
                  <a:srgbClr val="C00000"/>
                </a:solidFill>
                <a:effectLst>
                  <a:outerShdw blurRad="38100" dist="25400" dir="5400000" algn="ctr" rotWithShape="0">
                    <a:srgbClr val="6E747A">
                      <a:alpha val="43000"/>
                    </a:srgbClr>
                  </a:outerShdw>
                </a:effectLst>
              </a:rPr>
              <a:t>5.4</a:t>
            </a:r>
            <a:r>
              <a:rPr lang="zh-CN" altLang="en-US" sz="1210" dirty="0">
                <a:ln w="0"/>
                <a:solidFill>
                  <a:srgbClr val="C00000"/>
                </a:solidFill>
                <a:effectLst>
                  <a:outerShdw blurRad="38100" dist="25400" dir="5400000" algn="ctr" rotWithShape="0">
                    <a:srgbClr val="6E747A">
                      <a:alpha val="43000"/>
                    </a:srgbClr>
                  </a:outerShdw>
                </a:effectLst>
              </a:rPr>
              <a:t>岁</a:t>
            </a:r>
          </a:p>
          <a:p>
            <a:r>
              <a:rPr lang="zh-CN" altLang="en-US" sz="1210" dirty="0">
                <a:ln w="0"/>
                <a:solidFill>
                  <a:srgbClr val="C00000"/>
                </a:solidFill>
                <a:effectLst>
                  <a:outerShdw blurRad="38100" dist="25400" dir="5400000" algn="ctr" rotWithShape="0">
                    <a:srgbClr val="6E747A">
                      <a:alpha val="43000"/>
                    </a:srgbClr>
                  </a:outerShdw>
                </a:effectLst>
              </a:rPr>
              <a:t>成人识字率： 9</a:t>
            </a:r>
            <a:r>
              <a:rPr lang="en-US" altLang="zh-CN" sz="1210" dirty="0">
                <a:ln w="0"/>
                <a:solidFill>
                  <a:srgbClr val="C00000"/>
                </a:solidFill>
                <a:effectLst>
                  <a:outerShdw blurRad="38100" dist="25400" dir="5400000" algn="ctr" rotWithShape="0">
                    <a:srgbClr val="6E747A">
                      <a:alpha val="43000"/>
                    </a:srgbClr>
                  </a:outerShdw>
                </a:effectLst>
              </a:rPr>
              <a:t>6.4</a:t>
            </a:r>
            <a:r>
              <a:rPr lang="zh-CN" altLang="en-US" sz="1210" dirty="0">
                <a:ln w="0"/>
                <a:solidFill>
                  <a:srgbClr val="C00000"/>
                </a:solidFill>
                <a:effectLst>
                  <a:outerShdw blurRad="38100" dist="25400" dir="5400000" algn="ctr" rotWithShape="0">
                    <a:srgbClr val="6E747A">
                      <a:alpha val="43000"/>
                    </a:srgbClr>
                  </a:outerShdw>
                </a:effectLst>
              </a:rPr>
              <a:t>%</a:t>
            </a:r>
          </a:p>
        </p:txBody>
      </p:sp>
    </p:spTree>
    <p:extLst>
      <p:ext uri="{BB962C8B-B14F-4D97-AF65-F5344CB8AC3E}">
        <p14:creationId xmlns:p14="http://schemas.microsoft.com/office/powerpoint/2010/main" val="2964843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B9A67F5-C3D9-5DEA-CFDB-D65A2BE51316}"/>
              </a:ext>
            </a:extLst>
          </p:cNvPr>
          <p:cNvSpPr>
            <a:spLocks noGrp="1"/>
          </p:cNvSpPr>
          <p:nvPr>
            <p:ph type="sldNum" sz="quarter" idx="11"/>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marL="0" algn="r" defTabSz="914400" rtl="0" eaLnBrk="1" latinLnBrk="0" hangingPunct="1">
              <a:defRPr sz="857"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C9ECCE-9A67-6F4D-96F4-AF59AF685F27}" type="slidenum">
              <a:rPr lang="zh-CN" altLang="zh-CN" smtClean="0"/>
              <a:pPr/>
              <a:t>14</a:t>
            </a:fld>
            <a:endParaRPr lang="en-US" altLang="zh-CN"/>
          </a:p>
        </p:txBody>
      </p:sp>
      <p:pic>
        <p:nvPicPr>
          <p:cNvPr id="2054" name="Picture 6">
            <a:extLst>
              <a:ext uri="{FF2B5EF4-FFF2-40B4-BE49-F238E27FC236}">
                <a16:creationId xmlns:a16="http://schemas.microsoft.com/office/drawing/2014/main" id="{A1E2B188-1D51-8EBB-AE86-81A88718B8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810" y="74191"/>
            <a:ext cx="4176464" cy="3318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9282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B9A67F5-C3D9-5DEA-CFDB-D65A2BE51316}"/>
              </a:ext>
            </a:extLst>
          </p:cNvPr>
          <p:cNvSpPr>
            <a:spLocks noGrp="1"/>
          </p:cNvSpPr>
          <p:nvPr>
            <p:ph type="sldNum" sz="quarter" idx="11"/>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marL="0" algn="r" defTabSz="914400" rtl="0" eaLnBrk="1" latinLnBrk="0" hangingPunct="1">
              <a:defRPr sz="857" kern="1200">
                <a:solidFill>
                  <a:srgbClr val="777777"/>
                </a:solidFill>
                <a:latin typeface="+mn-lt"/>
                <a:ea typeface="宋体" panose="02010600030101010101"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C9ECCE-9A67-6F4D-96F4-AF59AF685F27}" type="slidenum">
              <a:rPr lang="zh-CN" altLang="zh-CN" smtClean="0"/>
              <a:pPr/>
              <a:t>15</a:t>
            </a:fld>
            <a:endParaRPr lang="en-US" altLang="zh-CN"/>
          </a:p>
        </p:txBody>
      </p:sp>
      <p:pic>
        <p:nvPicPr>
          <p:cNvPr id="3074" name="Picture 2">
            <a:extLst>
              <a:ext uri="{FF2B5EF4-FFF2-40B4-BE49-F238E27FC236}">
                <a16:creationId xmlns:a16="http://schemas.microsoft.com/office/drawing/2014/main" id="{9E0E4174-C9DE-0991-19FA-A2EEEA64E7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0166"/>
            <a:ext cx="4610100" cy="3067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39914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5" descr="25">
            <a:extLst>
              <a:ext uri="{FF2B5EF4-FFF2-40B4-BE49-F238E27FC236}">
                <a16:creationId xmlns:a16="http://schemas.microsoft.com/office/drawing/2014/main" id="{7BA78F9B-20B7-43BE-ADEE-EC253595751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11719"/>
          <a:stretch>
            <a:fillRect/>
          </a:stretch>
        </p:blipFill>
        <p:spPr bwMode="auto">
          <a:xfrm>
            <a:off x="219163" y="347620"/>
            <a:ext cx="3196656" cy="2620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AFBFCF5B-8192-43AE-BD07-E223DAC1D74F}"/>
              </a:ext>
            </a:extLst>
          </p:cNvPr>
          <p:cNvSpPr/>
          <p:nvPr/>
        </p:nvSpPr>
        <p:spPr>
          <a:xfrm>
            <a:off x="0" y="37983"/>
            <a:ext cx="4590689" cy="309637"/>
          </a:xfrm>
          <a:prstGeom prst="rect">
            <a:avLst/>
          </a:prstGeom>
        </p:spPr>
        <p:txBody>
          <a:bodyPr wrap="square">
            <a:spAutoFit/>
          </a:bodyPr>
          <a:lstStyle/>
          <a:p>
            <a:r>
              <a:rPr lang="zh-CN" altLang="en-US" sz="1412" dirty="0">
                <a:ln w="0"/>
                <a:solidFill>
                  <a:srgbClr val="C00000"/>
                </a:solidFill>
                <a:effectLst>
                  <a:outerShdw blurRad="38100" dist="25400" dir="5400000" algn="ctr" rotWithShape="0">
                    <a:srgbClr val="6E747A">
                      <a:alpha val="43000"/>
                    </a:srgbClr>
                  </a:outerShdw>
                </a:effectLst>
                <a:latin typeface="DengXian" panose="02010600030101010101" pitchFamily="2" charset="-122"/>
                <a:ea typeface="DengXian" panose="02010600030101010101" pitchFamily="2" charset="-122"/>
              </a:rPr>
              <a:t>一个英国普通家庭及其所有财产，发达国家</a:t>
            </a:r>
          </a:p>
        </p:txBody>
      </p:sp>
      <p:sp>
        <p:nvSpPr>
          <p:cNvPr id="3" name="矩形 2">
            <a:extLst>
              <a:ext uri="{FF2B5EF4-FFF2-40B4-BE49-F238E27FC236}">
                <a16:creationId xmlns:a16="http://schemas.microsoft.com/office/drawing/2014/main" id="{1CDF4288-4EB4-4DCA-8E6E-8FEB30F7345B}"/>
              </a:ext>
            </a:extLst>
          </p:cNvPr>
          <p:cNvSpPr/>
          <p:nvPr/>
        </p:nvSpPr>
        <p:spPr>
          <a:xfrm>
            <a:off x="2665090" y="2763811"/>
            <a:ext cx="1925599" cy="650947"/>
          </a:xfrm>
          <a:prstGeom prst="rect">
            <a:avLst/>
          </a:prstGeom>
          <a:solidFill>
            <a:schemeClr val="bg1"/>
          </a:solidFill>
        </p:spPr>
        <p:txBody>
          <a:bodyPr wrap="square">
            <a:spAutoFit/>
          </a:bodyPr>
          <a:lstStyle/>
          <a:p>
            <a:r>
              <a:rPr lang="zh-CN" altLang="en-US" sz="1210" dirty="0">
                <a:ln w="0"/>
                <a:solidFill>
                  <a:srgbClr val="C00000"/>
                </a:solidFill>
                <a:effectLst>
                  <a:outerShdw blurRad="38100" dist="25400" dir="5400000" algn="ctr" rotWithShape="0">
                    <a:srgbClr val="6E747A">
                      <a:alpha val="43000"/>
                    </a:srgbClr>
                  </a:outerShdw>
                </a:effectLst>
              </a:rPr>
              <a:t>人均GDP ：      $35,580</a:t>
            </a:r>
          </a:p>
          <a:p>
            <a:r>
              <a:rPr lang="zh-CN" altLang="en-US" sz="1210" dirty="0">
                <a:ln w="0"/>
                <a:solidFill>
                  <a:srgbClr val="C00000"/>
                </a:solidFill>
                <a:effectLst>
                  <a:outerShdw blurRad="38100" dist="25400" dir="5400000" algn="ctr" rotWithShape="0">
                    <a:srgbClr val="6E747A">
                      <a:alpha val="43000"/>
                    </a:srgbClr>
                  </a:outerShdw>
                </a:effectLst>
              </a:rPr>
              <a:t>预期寿命： 	 79 岁</a:t>
            </a:r>
          </a:p>
          <a:p>
            <a:r>
              <a:rPr lang="zh-CN" altLang="en-US" sz="1210" dirty="0">
                <a:ln w="0"/>
                <a:solidFill>
                  <a:srgbClr val="C00000"/>
                </a:solidFill>
                <a:effectLst>
                  <a:outerShdw blurRad="38100" dist="25400" dir="5400000" algn="ctr" rotWithShape="0">
                    <a:srgbClr val="6E747A">
                      <a:alpha val="43000"/>
                    </a:srgbClr>
                  </a:outerShdw>
                </a:effectLst>
              </a:rPr>
              <a:t>成人识字率： 99%</a:t>
            </a:r>
          </a:p>
        </p:txBody>
      </p:sp>
    </p:spTree>
    <p:extLst>
      <p:ext uri="{BB962C8B-B14F-4D97-AF65-F5344CB8AC3E}">
        <p14:creationId xmlns:p14="http://schemas.microsoft.com/office/powerpoint/2010/main" val="24786996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wipe(left)">
                                      <p:cBhvr>
                                        <p:cTn id="7" dur="500"/>
                                        <p:tgtEl>
                                          <p:spTgt spid="102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2290" name="Picture 5" descr="25">
            <a:extLst>
              <a:ext uri="{FF2B5EF4-FFF2-40B4-BE49-F238E27FC236}">
                <a16:creationId xmlns:a16="http://schemas.microsoft.com/office/drawing/2014/main" id="{CE18CC48-3110-409D-90B6-3E05BD04C68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5051" r="7576" b="6818"/>
          <a:stretch>
            <a:fillRect/>
          </a:stretch>
        </p:blipFill>
        <p:spPr bwMode="auto">
          <a:xfrm>
            <a:off x="144810" y="278748"/>
            <a:ext cx="3622450" cy="2862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321CF00B-D4A6-895C-E2EB-D473A946EAE7}"/>
              </a:ext>
            </a:extLst>
          </p:cNvPr>
          <p:cNvSpPr txBox="1"/>
          <p:nvPr/>
        </p:nvSpPr>
        <p:spPr>
          <a:xfrm>
            <a:off x="0" y="0"/>
            <a:ext cx="4326027" cy="307777"/>
          </a:xfrm>
          <a:prstGeom prst="rect">
            <a:avLst/>
          </a:prstGeom>
          <a:noFill/>
        </p:spPr>
        <p:txBody>
          <a:bodyPr wrap="square">
            <a:spAutoFit/>
          </a:bodyPr>
          <a:lstStyle/>
          <a:p>
            <a:r>
              <a:rPr lang="zh-CN" altLang="zh-CN" sz="1400" kern="1200" dirty="0">
                <a:ln w="0"/>
                <a:solidFill>
                  <a:srgbClr val="C00000"/>
                </a:solidFill>
                <a:effectLst>
                  <a:outerShdw blurRad="38100" dist="25400" dir="5400000" algn="ctr" rotWithShape="0">
                    <a:srgbClr val="6E747A">
                      <a:alpha val="43000"/>
                    </a:srgbClr>
                  </a:outerShdw>
                </a:effectLst>
                <a:latin typeface="DengXian" panose="02010600030101010101" pitchFamily="2" charset="-122"/>
                <a:ea typeface="DengXian" panose="02010600030101010101" pitchFamily="2" charset="-122"/>
                <a:cs typeface="+mn-cs"/>
              </a:rPr>
              <a:t>一个墨西哥普通家庭及其所有财产，中等</a:t>
            </a:r>
            <a:r>
              <a:rPr lang="zh-CN" altLang="zh-CN" sz="1400" dirty="0">
                <a:solidFill>
                  <a:srgbClr val="C00000"/>
                </a:solidFill>
                <a:latin typeface="微软雅黑 Light" panose="020B0502040204020203" pitchFamily="34" charset="-122"/>
                <a:ea typeface="微软雅黑 Light" panose="020B0502040204020203" pitchFamily="34" charset="-122"/>
              </a:rPr>
              <a:t>收入国家</a:t>
            </a:r>
            <a:endParaRPr lang="zh-CN" altLang="en-US" sz="1400" dirty="0">
              <a:solidFill>
                <a:srgbClr val="C00000"/>
              </a:solidFill>
            </a:endParaRPr>
          </a:p>
        </p:txBody>
      </p:sp>
      <p:sp>
        <p:nvSpPr>
          <p:cNvPr id="5" name="文本框 4">
            <a:extLst>
              <a:ext uri="{FF2B5EF4-FFF2-40B4-BE49-F238E27FC236}">
                <a16:creationId xmlns:a16="http://schemas.microsoft.com/office/drawing/2014/main" id="{C11A05DA-5188-84AB-8752-6BD3BEC5A5E6}"/>
              </a:ext>
            </a:extLst>
          </p:cNvPr>
          <p:cNvSpPr txBox="1"/>
          <p:nvPr/>
        </p:nvSpPr>
        <p:spPr>
          <a:xfrm>
            <a:off x="3016466" y="2822776"/>
            <a:ext cx="1584175" cy="584775"/>
          </a:xfrm>
          <a:prstGeom prst="rect">
            <a:avLst/>
          </a:prstGeom>
          <a:solidFill>
            <a:schemeClr val="bg1"/>
          </a:solidFill>
        </p:spPr>
        <p:txBody>
          <a:bodyPr wrap="square">
            <a:spAutoFit/>
          </a:bodyPr>
          <a:lstStyle/>
          <a:p>
            <a:pPr>
              <a:spcBef>
                <a:spcPct val="10000"/>
              </a:spcBef>
              <a:buClr>
                <a:schemeClr val="bg2"/>
              </a:buClr>
              <a:tabLst>
                <a:tab pos="1760118" algn="l"/>
              </a:tabLst>
            </a:pPr>
            <a:r>
              <a:rPr lang="zh-CN" altLang="zh-CN" sz="1000" dirty="0">
                <a:solidFill>
                  <a:srgbClr val="C00000"/>
                </a:solidFill>
                <a:latin typeface="微软雅黑 Light" panose="020B0502040204020203" pitchFamily="34" charset="-122"/>
                <a:ea typeface="微软雅黑 Light" panose="020B0502040204020203" pitchFamily="34" charset="-122"/>
              </a:rPr>
              <a:t>人均GDP</a:t>
            </a:r>
            <a:r>
              <a:rPr lang="zh-CN" altLang="en-US" sz="1000" dirty="0">
                <a:solidFill>
                  <a:srgbClr val="C00000"/>
                </a:solidFill>
                <a:latin typeface="微软雅黑 Light" panose="020B0502040204020203" pitchFamily="34" charset="-122"/>
                <a:ea typeface="微软雅黑 Light" panose="020B0502040204020203" pitchFamily="34" charset="-122"/>
              </a:rPr>
              <a:t>：</a:t>
            </a:r>
            <a:r>
              <a:rPr lang="zh-CN" altLang="zh-CN" sz="1000" dirty="0">
                <a:solidFill>
                  <a:srgbClr val="C00000"/>
                </a:solidFill>
                <a:latin typeface="微软雅黑 Light" panose="020B0502040204020203" pitchFamily="34" charset="-122"/>
                <a:ea typeface="微软雅黑 Light" panose="020B0502040204020203" pitchFamily="34" charset="-122"/>
              </a:rPr>
              <a:t>$11,410</a:t>
            </a:r>
          </a:p>
          <a:p>
            <a:pPr>
              <a:spcBef>
                <a:spcPct val="10000"/>
              </a:spcBef>
              <a:buClr>
                <a:schemeClr val="bg2"/>
              </a:buClr>
              <a:tabLst>
                <a:tab pos="1760118" algn="l"/>
              </a:tabLst>
            </a:pPr>
            <a:r>
              <a:rPr lang="zh-CN" altLang="zh-CN" sz="1000" dirty="0">
                <a:solidFill>
                  <a:srgbClr val="C00000"/>
                </a:solidFill>
                <a:latin typeface="微软雅黑 Light" panose="020B0502040204020203" pitchFamily="34" charset="-122"/>
                <a:ea typeface="微软雅黑 Light" panose="020B0502040204020203" pitchFamily="34" charset="-122"/>
              </a:rPr>
              <a:t>预期寿命</a:t>
            </a:r>
            <a:r>
              <a:rPr lang="zh-CN" altLang="en-US" sz="1000" dirty="0">
                <a:solidFill>
                  <a:srgbClr val="C00000"/>
                </a:solidFill>
                <a:latin typeface="微软雅黑 Light" panose="020B0502040204020203" pitchFamily="34" charset="-122"/>
                <a:ea typeface="微软雅黑 Light" panose="020B0502040204020203" pitchFamily="34" charset="-122"/>
              </a:rPr>
              <a:t>：</a:t>
            </a:r>
            <a:r>
              <a:rPr lang="zh-CN" altLang="zh-CN" sz="1000" dirty="0">
                <a:solidFill>
                  <a:srgbClr val="C00000"/>
                </a:solidFill>
                <a:latin typeface="微软雅黑 Light" panose="020B0502040204020203" pitchFamily="34" charset="-122"/>
                <a:ea typeface="微软雅黑 Light" panose="020B0502040204020203" pitchFamily="34" charset="-122"/>
              </a:rPr>
              <a:t>76 岁</a:t>
            </a:r>
          </a:p>
          <a:p>
            <a:pPr>
              <a:spcBef>
                <a:spcPct val="10000"/>
              </a:spcBef>
              <a:buClr>
                <a:schemeClr val="bg2"/>
              </a:buClr>
              <a:tabLst>
                <a:tab pos="1760118" algn="l"/>
              </a:tabLst>
            </a:pPr>
            <a:r>
              <a:rPr lang="zh-CN" altLang="zh-CN" sz="1000" dirty="0">
                <a:solidFill>
                  <a:srgbClr val="C00000"/>
                </a:solidFill>
                <a:latin typeface="微软雅黑 Light" panose="020B0502040204020203" pitchFamily="34" charset="-122"/>
                <a:ea typeface="微软雅黑 Light" panose="020B0502040204020203" pitchFamily="34" charset="-122"/>
              </a:rPr>
              <a:t>成人识字率</a:t>
            </a:r>
            <a:r>
              <a:rPr lang="zh-CN" altLang="en-US" sz="1000" dirty="0">
                <a:solidFill>
                  <a:srgbClr val="C00000"/>
                </a:solidFill>
                <a:latin typeface="微软雅黑 Light" panose="020B0502040204020203" pitchFamily="34" charset="-122"/>
                <a:ea typeface="微软雅黑 Light" panose="020B0502040204020203" pitchFamily="34" charset="-122"/>
              </a:rPr>
              <a:t>：</a:t>
            </a:r>
            <a:r>
              <a:rPr lang="zh-CN" altLang="zh-CN" sz="1000" dirty="0">
                <a:solidFill>
                  <a:srgbClr val="C00000"/>
                </a:solidFill>
                <a:latin typeface="微软雅黑 Light" panose="020B0502040204020203" pitchFamily="34" charset="-122"/>
                <a:ea typeface="微软雅黑 Light" panose="020B0502040204020203" pitchFamily="34" charset="-122"/>
              </a:rPr>
              <a:t>92%</a:t>
            </a:r>
          </a:p>
        </p:txBody>
      </p:sp>
    </p:spTree>
    <p:extLst>
      <p:ext uri="{BB962C8B-B14F-4D97-AF65-F5344CB8AC3E}">
        <p14:creationId xmlns:p14="http://schemas.microsoft.com/office/powerpoint/2010/main" val="225320721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wipe(left)">
                                      <p:cBhvr>
                                        <p:cTn id="7" dur="500"/>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5" descr="25">
            <a:extLst>
              <a:ext uri="{FF2B5EF4-FFF2-40B4-BE49-F238E27FC236}">
                <a16:creationId xmlns:a16="http://schemas.microsoft.com/office/drawing/2014/main" id="{CF86B508-01FD-4C22-A2A6-8918E48D9B0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6737" t="1237" r="4210" b="2475"/>
          <a:stretch>
            <a:fillRect/>
          </a:stretch>
        </p:blipFill>
        <p:spPr bwMode="auto">
          <a:xfrm>
            <a:off x="216818" y="362223"/>
            <a:ext cx="3846552" cy="2830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E5DDFEB3-BC23-1D2F-852C-2DD403DEF054}"/>
              </a:ext>
            </a:extLst>
          </p:cNvPr>
          <p:cNvSpPr txBox="1"/>
          <p:nvPr/>
        </p:nvSpPr>
        <p:spPr>
          <a:xfrm>
            <a:off x="72802" y="100613"/>
            <a:ext cx="4248472" cy="307777"/>
          </a:xfrm>
          <a:prstGeom prst="rect">
            <a:avLst/>
          </a:prstGeom>
          <a:noFill/>
        </p:spPr>
        <p:txBody>
          <a:bodyPr wrap="square">
            <a:spAutoFit/>
          </a:bodyPr>
          <a:lstStyle/>
          <a:p>
            <a:r>
              <a:rPr lang="zh-CN" altLang="zh-CN" sz="1400" dirty="0">
                <a:solidFill>
                  <a:srgbClr val="C00000"/>
                </a:solidFill>
                <a:latin typeface="微软雅黑 Light" panose="020B0502040204020203" pitchFamily="34" charset="-122"/>
                <a:ea typeface="微软雅黑 Light" panose="020B0502040204020203" pitchFamily="34" charset="-122"/>
              </a:rPr>
              <a:t>一个马里普通家庭及其所有财产，发展中国家</a:t>
            </a:r>
            <a:endParaRPr lang="zh-CN" altLang="en-US" sz="1400" dirty="0"/>
          </a:p>
        </p:txBody>
      </p:sp>
      <p:sp>
        <p:nvSpPr>
          <p:cNvPr id="5" name="文本框 4">
            <a:extLst>
              <a:ext uri="{FF2B5EF4-FFF2-40B4-BE49-F238E27FC236}">
                <a16:creationId xmlns:a16="http://schemas.microsoft.com/office/drawing/2014/main" id="{9570F39D-3BA8-4268-3AB3-3F0C3BC54F2E}"/>
              </a:ext>
            </a:extLst>
          </p:cNvPr>
          <p:cNvSpPr txBox="1"/>
          <p:nvPr/>
        </p:nvSpPr>
        <p:spPr>
          <a:xfrm>
            <a:off x="2521074" y="2754389"/>
            <a:ext cx="2016224" cy="584775"/>
          </a:xfrm>
          <a:prstGeom prst="rect">
            <a:avLst/>
          </a:prstGeom>
          <a:solidFill>
            <a:schemeClr val="bg1"/>
          </a:solidFill>
        </p:spPr>
        <p:txBody>
          <a:bodyPr wrap="square">
            <a:spAutoFit/>
          </a:bodyPr>
          <a:lstStyle/>
          <a:p>
            <a:pPr>
              <a:spcBef>
                <a:spcPct val="10000"/>
              </a:spcBef>
              <a:buClr>
                <a:schemeClr val="bg2"/>
              </a:buClr>
              <a:buSzPct val="120000"/>
            </a:pPr>
            <a:r>
              <a:rPr lang="zh-CN" altLang="zh-CN" sz="1000" dirty="0">
                <a:solidFill>
                  <a:srgbClr val="C00000"/>
                </a:solidFill>
                <a:ea typeface="宋体" panose="02010600030101010101" pitchFamily="2" charset="-122"/>
              </a:rPr>
              <a:t>人均GDP ：	$1,130</a:t>
            </a:r>
          </a:p>
          <a:p>
            <a:pPr>
              <a:spcBef>
                <a:spcPct val="10000"/>
              </a:spcBef>
              <a:buClr>
                <a:schemeClr val="bg2"/>
              </a:buClr>
              <a:buSzPct val="120000"/>
            </a:pPr>
            <a:r>
              <a:rPr lang="zh-CN" altLang="zh-CN" sz="1000" dirty="0">
                <a:solidFill>
                  <a:srgbClr val="C00000"/>
                </a:solidFill>
                <a:ea typeface="宋体" panose="02010600030101010101" pitchFamily="2" charset="-122"/>
              </a:rPr>
              <a:t>预期寿命： 	50 岁</a:t>
            </a:r>
          </a:p>
          <a:p>
            <a:pPr>
              <a:spcBef>
                <a:spcPct val="10000"/>
              </a:spcBef>
              <a:buClr>
                <a:schemeClr val="bg2"/>
              </a:buClr>
              <a:buSzPct val="120000"/>
            </a:pPr>
            <a:r>
              <a:rPr lang="zh-CN" altLang="zh-CN" sz="1000" dirty="0">
                <a:solidFill>
                  <a:srgbClr val="C00000"/>
                </a:solidFill>
                <a:ea typeface="宋体" panose="02010600030101010101" pitchFamily="2" charset="-122"/>
              </a:rPr>
              <a:t>成人识字率：	46%</a:t>
            </a:r>
          </a:p>
        </p:txBody>
      </p:sp>
    </p:spTree>
    <p:extLst>
      <p:ext uri="{BB962C8B-B14F-4D97-AF65-F5344CB8AC3E}">
        <p14:creationId xmlns:p14="http://schemas.microsoft.com/office/powerpoint/2010/main" val="37934345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wipe(left)">
                                      <p:cBhvr>
                                        <p:cTn id="7" dur="500"/>
                                        <p:tgtEl>
                                          <p:spTgt spid="14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82BEBCF-CB86-ABC8-FB01-F46BBAF61E18}"/>
              </a:ext>
            </a:extLst>
          </p:cNvPr>
          <p:cNvSpPr>
            <a:spLocks noGrp="1"/>
          </p:cNvSpPr>
          <p:nvPr>
            <p:ph type="ftr" sz="quarter" idx="10"/>
          </p:nvPr>
        </p:nvSpPr>
        <p:spPr/>
        <p:txBody>
          <a:body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国内生产总值</a:t>
            </a:r>
            <a:endParaRPr kumimoji="0" lang="zh-CN"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3" name="灯片编号占位符 2">
            <a:extLst>
              <a:ext uri="{FF2B5EF4-FFF2-40B4-BE49-F238E27FC236}">
                <a16:creationId xmlns:a16="http://schemas.microsoft.com/office/drawing/2014/main" id="{AD5F4AC5-78B0-6CEE-D6F5-5AE36F331672}"/>
              </a:ext>
            </a:extLst>
          </p:cNvPr>
          <p:cNvSpPr>
            <a:spLocks noGrp="1"/>
          </p:cNvSpPr>
          <p:nvPr>
            <p:ph type="sldNum" sz="quarter" idx="11"/>
          </p:nvPr>
        </p:nvSpPr>
        <p:spPr/>
        <p:txBody>
          <a:bodyPr/>
          <a:lstStyle/>
          <a:p>
            <a:pPr marL="0" marR="0" lvl="0" indent="0" algn="r" defTabSz="461040" rtl="0" eaLnBrk="1" fontAlgn="base" latinLnBrk="0" hangingPunct="1">
              <a:lnSpc>
                <a:spcPct val="100000"/>
              </a:lnSpc>
              <a:spcBef>
                <a:spcPct val="0"/>
              </a:spcBef>
              <a:spcAft>
                <a:spcPct val="0"/>
              </a:spcAft>
              <a:buClrTx/>
              <a:buSzTx/>
              <a:buFontTx/>
              <a:buNone/>
              <a:tabLst/>
              <a:defRPr/>
            </a:pPr>
            <a:fld id="{01A10CA9-DD10-9942-9743-3961BB95EC44}"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19</a:t>
            </a:fld>
            <a:endParaRPr kumimoji="0" lang="en-US"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0242" name="Rectangle 2">
            <a:extLst>
              <a:ext uri="{FF2B5EF4-FFF2-40B4-BE49-F238E27FC236}">
                <a16:creationId xmlns:a16="http://schemas.microsoft.com/office/drawing/2014/main" id="{41B327CD-4A80-D2D0-F418-0739A33772B1}"/>
              </a:ext>
            </a:extLst>
          </p:cNvPr>
          <p:cNvSpPr>
            <a:spLocks noGrp="1" noChangeArrowheads="1"/>
          </p:cNvSpPr>
          <p:nvPr>
            <p:ph type="title" idx="4294967295"/>
          </p:nvPr>
        </p:nvSpPr>
        <p:spPr>
          <a:xfrm>
            <a:off x="172879" y="128846"/>
            <a:ext cx="4240332" cy="290532"/>
          </a:xfrm>
        </p:spPr>
        <p:txBody>
          <a:bodyPr/>
          <a:lstStyle/>
          <a:p>
            <a:r>
              <a:rPr lang="zh-CN" altLang="zh-CN" sz="1815" dirty="0">
                <a:ea typeface="宋体" panose="02010600030101010101" pitchFamily="2" charset="-122"/>
              </a:rPr>
              <a:t>微观经济学与宏观经济学</a:t>
            </a:r>
            <a:endParaRPr lang="zh-CN" altLang="en-US" sz="1815" dirty="0">
              <a:ea typeface="宋体" panose="02010600030101010101" pitchFamily="2" charset="-122"/>
            </a:endParaRPr>
          </a:p>
        </p:txBody>
      </p:sp>
      <p:sp>
        <p:nvSpPr>
          <p:cNvPr id="10243" name="Rectangle 3">
            <a:extLst>
              <a:ext uri="{FF2B5EF4-FFF2-40B4-BE49-F238E27FC236}">
                <a16:creationId xmlns:a16="http://schemas.microsoft.com/office/drawing/2014/main" id="{79B00E3A-EAF5-A57A-56B8-66D415E7BC06}"/>
              </a:ext>
            </a:extLst>
          </p:cNvPr>
          <p:cNvSpPr>
            <a:spLocks noGrp="1" noChangeArrowheads="1"/>
          </p:cNvSpPr>
          <p:nvPr>
            <p:ph type="body" idx="4294967295"/>
          </p:nvPr>
        </p:nvSpPr>
        <p:spPr>
          <a:xfrm>
            <a:off x="230505" y="525026"/>
            <a:ext cx="4149090" cy="2594782"/>
          </a:xfrm>
        </p:spPr>
        <p:txBody>
          <a:bodyPr/>
          <a:lstStyle/>
          <a:p>
            <a:pPr>
              <a:spcBef>
                <a:spcPct val="60000"/>
              </a:spcBef>
            </a:pPr>
            <a:r>
              <a:rPr lang="zh-CN" altLang="zh-CN" b="1" dirty="0">
                <a:solidFill>
                  <a:srgbClr val="CC0000"/>
                </a:solidFill>
                <a:ea typeface="宋体" panose="02010600030101010101" pitchFamily="2" charset="-122"/>
              </a:rPr>
              <a:t>微观经济学:</a:t>
            </a:r>
            <a:r>
              <a:rPr lang="zh-CN" altLang="zh-CN" dirty="0">
                <a:ea typeface="宋体" panose="02010600030101010101" pitchFamily="2" charset="-122"/>
              </a:rPr>
              <a:t>  </a:t>
            </a:r>
            <a:br>
              <a:rPr lang="zh-CN" altLang="zh-CN" dirty="0">
                <a:ea typeface="宋体" panose="02010600030101010101" pitchFamily="2" charset="-122"/>
              </a:rPr>
            </a:br>
            <a:r>
              <a:rPr lang="zh-CN" altLang="zh-CN" dirty="0">
                <a:ea typeface="宋体" panose="02010600030101010101" pitchFamily="2" charset="-122"/>
              </a:rPr>
              <a:t>研究家庭和企业如何做出决策，以及它们如何在市场上相互交易</a:t>
            </a:r>
          </a:p>
          <a:p>
            <a:pPr>
              <a:spcBef>
                <a:spcPct val="60000"/>
              </a:spcBef>
            </a:pPr>
            <a:r>
              <a:rPr lang="zh-CN" altLang="zh-CN" b="1" dirty="0">
                <a:solidFill>
                  <a:srgbClr val="CC0000"/>
                </a:solidFill>
                <a:ea typeface="宋体" panose="02010600030101010101" pitchFamily="2" charset="-122"/>
              </a:rPr>
              <a:t>宏观经济学：</a:t>
            </a:r>
            <a:r>
              <a:rPr lang="zh-CN" altLang="zh-CN" dirty="0">
                <a:ea typeface="宋体" panose="02010600030101010101" pitchFamily="2" charset="-122"/>
              </a:rPr>
              <a:t> </a:t>
            </a:r>
            <a:br>
              <a:rPr lang="zh-CN" altLang="zh-CN" dirty="0">
                <a:ea typeface="宋体" panose="02010600030101010101" pitchFamily="2" charset="-122"/>
              </a:rPr>
            </a:br>
            <a:r>
              <a:rPr lang="zh-CN" altLang="zh-CN" dirty="0">
                <a:ea typeface="宋体" panose="02010600030101010101" pitchFamily="2" charset="-122"/>
              </a:rPr>
              <a:t>研究整体经济现象</a:t>
            </a:r>
          </a:p>
          <a:p>
            <a:pPr>
              <a:spcBef>
                <a:spcPct val="60000"/>
              </a:spcBef>
            </a:pPr>
            <a:r>
              <a:rPr lang="zh-CN" altLang="zh-CN" dirty="0">
                <a:ea typeface="宋体" panose="02010600030101010101" pitchFamily="2" charset="-122"/>
              </a:rPr>
              <a:t>我们从国家的总收入和总支出开始学习宏观经济学</a:t>
            </a:r>
          </a:p>
        </p:txBody>
      </p:sp>
    </p:spTree>
    <p:extLst>
      <p:ext uri="{BB962C8B-B14F-4D97-AF65-F5344CB8AC3E}">
        <p14:creationId xmlns:p14="http://schemas.microsoft.com/office/powerpoint/2010/main" val="1217372303"/>
      </p:ext>
    </p:extLst>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82BEBCF-CB86-ABC8-FB01-F46BBAF61E18}"/>
              </a:ext>
            </a:extLst>
          </p:cNvPr>
          <p:cNvSpPr>
            <a:spLocks noGrp="1"/>
          </p:cNvSpPr>
          <p:nvPr>
            <p:ph type="ftr" sz="quarter" idx="10"/>
          </p:nvPr>
        </p:nvSpPr>
        <p:spPr/>
        <p:txBody>
          <a:body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国内生产总值</a:t>
            </a:r>
            <a:endParaRPr kumimoji="0" lang="zh-CN"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3" name="灯片编号占位符 2">
            <a:extLst>
              <a:ext uri="{FF2B5EF4-FFF2-40B4-BE49-F238E27FC236}">
                <a16:creationId xmlns:a16="http://schemas.microsoft.com/office/drawing/2014/main" id="{AD5F4AC5-78B0-6CEE-D6F5-5AE36F331672}"/>
              </a:ext>
            </a:extLst>
          </p:cNvPr>
          <p:cNvSpPr>
            <a:spLocks noGrp="1"/>
          </p:cNvSpPr>
          <p:nvPr>
            <p:ph type="sldNum" sz="quarter" idx="11"/>
          </p:nvPr>
        </p:nvSpPr>
        <p:spPr/>
        <p:txBody>
          <a:bodyPr/>
          <a:lstStyle/>
          <a:p>
            <a:pPr marL="0" marR="0" lvl="0" indent="0" algn="r" defTabSz="461040" rtl="0" eaLnBrk="1" fontAlgn="base" latinLnBrk="0" hangingPunct="1">
              <a:lnSpc>
                <a:spcPct val="100000"/>
              </a:lnSpc>
              <a:spcBef>
                <a:spcPct val="0"/>
              </a:spcBef>
              <a:spcAft>
                <a:spcPct val="0"/>
              </a:spcAft>
              <a:buClrTx/>
              <a:buSzTx/>
              <a:buFontTx/>
              <a:buNone/>
              <a:tabLst/>
              <a:defRPr/>
            </a:pPr>
            <a:fld id="{01A10CA9-DD10-9942-9743-3961BB95EC44}"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20</a:t>
            </a:fld>
            <a:endParaRPr kumimoji="0" lang="en-US"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0242" name="Rectangle 2">
            <a:extLst>
              <a:ext uri="{FF2B5EF4-FFF2-40B4-BE49-F238E27FC236}">
                <a16:creationId xmlns:a16="http://schemas.microsoft.com/office/drawing/2014/main" id="{41B327CD-4A80-D2D0-F418-0739A33772B1}"/>
              </a:ext>
            </a:extLst>
          </p:cNvPr>
          <p:cNvSpPr>
            <a:spLocks noGrp="1" noChangeArrowheads="1"/>
          </p:cNvSpPr>
          <p:nvPr>
            <p:ph type="title" idx="4294967295"/>
          </p:nvPr>
        </p:nvSpPr>
        <p:spPr>
          <a:xfrm>
            <a:off x="172879" y="128846"/>
            <a:ext cx="4240332" cy="290532"/>
          </a:xfrm>
        </p:spPr>
        <p:txBody>
          <a:bodyPr/>
          <a:lstStyle/>
          <a:p>
            <a:r>
              <a:rPr lang="zh-CN" altLang="zh-CN" sz="1815">
                <a:ea typeface="宋体" panose="02010600030101010101" pitchFamily="2" charset="-122"/>
              </a:rPr>
              <a:t>微观经济学与宏观经济学</a:t>
            </a:r>
            <a:endParaRPr lang="zh-CN" altLang="en-US" sz="1815">
              <a:ea typeface="宋体" panose="02010600030101010101" pitchFamily="2" charset="-122"/>
            </a:endParaRPr>
          </a:p>
        </p:txBody>
      </p:sp>
      <p:sp>
        <p:nvSpPr>
          <p:cNvPr id="10243" name="Rectangle 3">
            <a:extLst>
              <a:ext uri="{FF2B5EF4-FFF2-40B4-BE49-F238E27FC236}">
                <a16:creationId xmlns:a16="http://schemas.microsoft.com/office/drawing/2014/main" id="{79B00E3A-EAF5-A57A-56B8-66D415E7BC06}"/>
              </a:ext>
            </a:extLst>
          </p:cNvPr>
          <p:cNvSpPr>
            <a:spLocks noGrp="1" noChangeArrowheads="1"/>
          </p:cNvSpPr>
          <p:nvPr>
            <p:ph type="body" idx="4294967295"/>
          </p:nvPr>
        </p:nvSpPr>
        <p:spPr>
          <a:xfrm>
            <a:off x="230505" y="525026"/>
            <a:ext cx="4149090" cy="2594782"/>
          </a:xfrm>
        </p:spPr>
        <p:txBody>
          <a:bodyPr/>
          <a:lstStyle/>
          <a:p>
            <a:pPr>
              <a:spcBef>
                <a:spcPct val="60000"/>
              </a:spcBef>
            </a:pPr>
            <a:r>
              <a:rPr lang="zh-CN" altLang="zh-CN" b="1" dirty="0">
                <a:solidFill>
                  <a:srgbClr val="CC0000"/>
                </a:solidFill>
                <a:ea typeface="宋体" panose="02010600030101010101" pitchFamily="2" charset="-122"/>
              </a:rPr>
              <a:t>微观经济学:</a:t>
            </a:r>
            <a:r>
              <a:rPr lang="zh-CN" altLang="zh-CN" dirty="0">
                <a:ea typeface="宋体" panose="02010600030101010101" pitchFamily="2" charset="-122"/>
              </a:rPr>
              <a:t>  </a:t>
            </a:r>
            <a:br>
              <a:rPr lang="zh-CN" altLang="zh-CN" dirty="0">
                <a:ea typeface="宋体" panose="02010600030101010101" pitchFamily="2" charset="-122"/>
              </a:rPr>
            </a:br>
            <a:r>
              <a:rPr lang="zh-CN" altLang="zh-CN" dirty="0">
                <a:ea typeface="宋体" panose="02010600030101010101" pitchFamily="2" charset="-122"/>
              </a:rPr>
              <a:t>研究家庭和企业如何做出决策，以及它们如何在市场上相互交易</a:t>
            </a:r>
          </a:p>
          <a:p>
            <a:pPr>
              <a:spcBef>
                <a:spcPct val="60000"/>
              </a:spcBef>
            </a:pPr>
            <a:r>
              <a:rPr lang="zh-CN" altLang="zh-CN" b="1" dirty="0">
                <a:solidFill>
                  <a:srgbClr val="CC0000"/>
                </a:solidFill>
                <a:ea typeface="宋体" panose="02010600030101010101" pitchFamily="2" charset="-122"/>
              </a:rPr>
              <a:t>宏观经济学：</a:t>
            </a:r>
            <a:r>
              <a:rPr lang="zh-CN" altLang="zh-CN" dirty="0">
                <a:ea typeface="宋体" panose="02010600030101010101" pitchFamily="2" charset="-122"/>
              </a:rPr>
              <a:t> </a:t>
            </a:r>
            <a:br>
              <a:rPr lang="zh-CN" altLang="zh-CN" dirty="0">
                <a:ea typeface="宋体" panose="02010600030101010101" pitchFamily="2" charset="-122"/>
              </a:rPr>
            </a:br>
            <a:r>
              <a:rPr lang="zh-CN" altLang="zh-CN" dirty="0">
                <a:ea typeface="宋体" panose="02010600030101010101" pitchFamily="2" charset="-122"/>
              </a:rPr>
              <a:t>研究整体经济现象</a:t>
            </a:r>
          </a:p>
          <a:p>
            <a:pPr>
              <a:spcBef>
                <a:spcPct val="60000"/>
              </a:spcBef>
            </a:pPr>
            <a:r>
              <a:rPr lang="zh-CN" altLang="zh-CN" dirty="0">
                <a:ea typeface="宋体" panose="02010600030101010101" pitchFamily="2" charset="-122"/>
              </a:rPr>
              <a:t>我们从国家的总收入和总支出开始学习宏观经济学</a:t>
            </a:r>
          </a:p>
        </p:txBody>
      </p:sp>
    </p:spTree>
    <p:extLst>
      <p:ext uri="{BB962C8B-B14F-4D97-AF65-F5344CB8AC3E}">
        <p14:creationId xmlns:p14="http://schemas.microsoft.com/office/powerpoint/2010/main" val="3103447348"/>
      </p:ext>
    </p:extLst>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CD22D05-5890-71A2-E385-1AC7FE6859FB}"/>
              </a:ext>
            </a:extLst>
          </p:cNvPr>
          <p:cNvSpPr>
            <a:spLocks noGrp="1"/>
          </p:cNvSpPr>
          <p:nvPr>
            <p:ph type="sldNum" sz="quarter" idx="11"/>
          </p:nvPr>
        </p:nvSpPr>
        <p:spPr/>
        <p:txBody>
          <a:bodyPr/>
          <a:lstStyle/>
          <a:p>
            <a:pPr marL="0" marR="0" lvl="0" indent="0" algn="r" defTabSz="461040" rtl="0" eaLnBrk="1" fontAlgn="base" latinLnBrk="0" hangingPunct="1">
              <a:lnSpc>
                <a:spcPct val="100000"/>
              </a:lnSpc>
              <a:spcBef>
                <a:spcPct val="0"/>
              </a:spcBef>
              <a:spcAft>
                <a:spcPct val="0"/>
              </a:spcAft>
              <a:buClrTx/>
              <a:buSzTx/>
              <a:buFontTx/>
              <a:buNone/>
              <a:tabLst/>
              <a:defRPr/>
            </a:pPr>
            <a:fld id="{72F005FF-FB2C-2E45-8BCC-12773CA6E14A}"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21</a:t>
            </a:fld>
            <a:endParaRPr kumimoji="0" lang="en-US"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4338" name="Rectangle 2">
            <a:extLst>
              <a:ext uri="{FF2B5EF4-FFF2-40B4-BE49-F238E27FC236}">
                <a16:creationId xmlns:a16="http://schemas.microsoft.com/office/drawing/2014/main" id="{98EB6D87-7B0B-79AD-5E5B-7D52D1A1149A}"/>
              </a:ext>
            </a:extLst>
          </p:cNvPr>
          <p:cNvSpPr>
            <a:spLocks noGrp="1" noChangeArrowheads="1"/>
          </p:cNvSpPr>
          <p:nvPr>
            <p:ph type="title" idx="4294967295"/>
          </p:nvPr>
        </p:nvSpPr>
        <p:spPr/>
        <p:txBody>
          <a:bodyPr/>
          <a:lstStyle/>
          <a:p>
            <a:r>
              <a:rPr lang="zh-CN" altLang="en-US" sz="1815" dirty="0">
                <a:ea typeface="宋体" panose="02010600030101010101" pitchFamily="2" charset="-122"/>
              </a:rPr>
              <a:t>宏观经济学研究什么</a:t>
            </a:r>
          </a:p>
        </p:txBody>
      </p:sp>
      <p:sp>
        <p:nvSpPr>
          <p:cNvPr id="14339" name="Rectangle 3">
            <a:extLst>
              <a:ext uri="{FF2B5EF4-FFF2-40B4-BE49-F238E27FC236}">
                <a16:creationId xmlns:a16="http://schemas.microsoft.com/office/drawing/2014/main" id="{8577C4FD-3D89-6FB2-CCA7-B5256BFA070A}"/>
              </a:ext>
            </a:extLst>
          </p:cNvPr>
          <p:cNvSpPr>
            <a:spLocks noGrp="1" noChangeArrowheads="1"/>
          </p:cNvSpPr>
          <p:nvPr>
            <p:ph type="body" idx="4294967295"/>
          </p:nvPr>
        </p:nvSpPr>
        <p:spPr>
          <a:xfrm>
            <a:off x="229705" y="532230"/>
            <a:ext cx="4132282" cy="2569170"/>
          </a:xfrm>
        </p:spPr>
        <p:txBody>
          <a:bodyPr/>
          <a:lstStyle/>
          <a:p>
            <a:pPr>
              <a:spcBef>
                <a:spcPct val="20000"/>
              </a:spcBef>
            </a:pPr>
            <a:r>
              <a:rPr lang="zh-CN" altLang="en-US" dirty="0">
                <a:ea typeface="宋体" panose="02010600030101010101" pitchFamily="2" charset="-122"/>
              </a:rPr>
              <a:t>经济增长</a:t>
            </a:r>
            <a:endParaRPr lang="en-US" altLang="zh-CN" dirty="0">
              <a:ea typeface="宋体" panose="02010600030101010101" pitchFamily="2" charset="-122"/>
            </a:endParaRPr>
          </a:p>
          <a:p>
            <a:pPr>
              <a:spcBef>
                <a:spcPct val="20000"/>
              </a:spcBef>
            </a:pPr>
            <a:r>
              <a:rPr lang="zh-CN" altLang="en-US" dirty="0">
                <a:ea typeface="宋体" panose="02010600030101010101" pitchFamily="2" charset="-122"/>
              </a:rPr>
              <a:t>通货膨胀</a:t>
            </a:r>
            <a:endParaRPr lang="en-US" altLang="zh-CN" dirty="0">
              <a:ea typeface="宋体" panose="02010600030101010101" pitchFamily="2" charset="-122"/>
            </a:endParaRPr>
          </a:p>
          <a:p>
            <a:pPr>
              <a:spcBef>
                <a:spcPct val="20000"/>
              </a:spcBef>
            </a:pPr>
            <a:r>
              <a:rPr lang="zh-CN" altLang="en-US" dirty="0">
                <a:ea typeface="宋体" panose="02010600030101010101" pitchFamily="2" charset="-122"/>
              </a:rPr>
              <a:t>失业</a:t>
            </a:r>
            <a:endParaRPr lang="en-US" altLang="zh-CN" dirty="0">
              <a:ea typeface="宋体" panose="02010600030101010101" pitchFamily="2" charset="-122"/>
            </a:endParaRPr>
          </a:p>
          <a:p>
            <a:pPr>
              <a:spcBef>
                <a:spcPct val="20000"/>
              </a:spcBef>
            </a:pPr>
            <a:r>
              <a:rPr lang="zh-CN" altLang="en-US" dirty="0">
                <a:ea typeface="宋体" panose="02010600030101010101" pitchFamily="2" charset="-122"/>
              </a:rPr>
              <a:t>国际经济</a:t>
            </a:r>
            <a:endParaRPr lang="en-US" altLang="zh-CN" dirty="0">
              <a:ea typeface="宋体" panose="02010600030101010101" pitchFamily="2" charset="-122"/>
            </a:endParaRPr>
          </a:p>
          <a:p>
            <a:pPr>
              <a:spcBef>
                <a:spcPct val="20000"/>
              </a:spcBef>
            </a:pPr>
            <a:r>
              <a:rPr lang="en-US" altLang="zh-CN" dirty="0">
                <a:ea typeface="宋体" panose="02010600030101010101" pitchFamily="2" charset="-122"/>
              </a:rPr>
              <a:t>……</a:t>
            </a:r>
          </a:p>
        </p:txBody>
      </p:sp>
      <p:sp>
        <p:nvSpPr>
          <p:cNvPr id="4" name="页脚占位符 1">
            <a:extLst>
              <a:ext uri="{FF2B5EF4-FFF2-40B4-BE49-F238E27FC236}">
                <a16:creationId xmlns:a16="http://schemas.microsoft.com/office/drawing/2014/main" id="{D293302A-BE88-3005-8C4D-4CEA8E918E0F}"/>
              </a:ext>
            </a:extLst>
          </p:cNvPr>
          <p:cNvSpPr>
            <a:spLocks noGrp="1"/>
          </p:cNvSpPr>
          <p:nvPr>
            <p:ph type="ftr" sz="quarter" idx="10"/>
          </p:nvPr>
        </p:nvSpPr>
        <p:spPr>
          <a:xfrm>
            <a:off x="144066" y="3226028"/>
            <a:ext cx="3698485" cy="185054"/>
          </a:xfrm>
        </p:spPr>
        <p:txBody>
          <a:body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国内生产总值</a:t>
            </a:r>
            <a:endParaRPr kumimoji="0" lang="zh-CN"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435333455"/>
      </p:ext>
    </p:extLst>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3F21523-6F34-12FA-F719-2414E5208AAE}"/>
              </a:ext>
            </a:extLst>
          </p:cNvPr>
          <p:cNvPicPr>
            <a:picLocks noChangeAspect="1"/>
          </p:cNvPicPr>
          <p:nvPr/>
        </p:nvPicPr>
        <p:blipFill>
          <a:blip r:embed="rId3"/>
          <a:stretch>
            <a:fillRect/>
          </a:stretch>
        </p:blipFill>
        <p:spPr>
          <a:xfrm>
            <a:off x="0" y="397602"/>
            <a:ext cx="4610100" cy="2822152"/>
          </a:xfrm>
          <a:prstGeom prst="rect">
            <a:avLst/>
          </a:prstGeom>
        </p:spPr>
      </p:pic>
      <p:sp>
        <p:nvSpPr>
          <p:cNvPr id="75" name="页脚占位符 1">
            <a:extLst>
              <a:ext uri="{FF2B5EF4-FFF2-40B4-BE49-F238E27FC236}">
                <a16:creationId xmlns:a16="http://schemas.microsoft.com/office/drawing/2014/main" id="{608F537B-2B9A-4021-8204-3C434AE91232}"/>
              </a:ext>
            </a:extLst>
          </p:cNvPr>
          <p:cNvSpPr>
            <a:spLocks noGrp="1"/>
          </p:cNvSpPr>
          <p:nvPr>
            <p:ph type="ftr" sz="quarter" idx="10"/>
          </p:nvPr>
        </p:nvSpPr>
        <p:spPr>
          <a:xfrm>
            <a:off x="628650" y="6356350"/>
            <a:ext cx="2057400" cy="365125"/>
          </a:xfrm>
          <a:prstGeom prst="rect">
            <a:avLst/>
          </a:prstGeom>
        </p:spPr>
        <p:txBody>
          <a:bodyPr vert="horz" lIns="91440" tIns="45720" rIns="91440" bIns="45720" rtlCol="0" anchor="ctr"/>
          <a:lstStyle>
            <a:defPPr>
              <a:defRPr lang="en-US"/>
            </a:defPPr>
            <a:lvl1pPr algn="l" defTabSz="457200"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fld id="{BCEE2579-3327-433C-A8D3-133F40BB42A3}" type="datetime1">
              <a:rPr lang="zh-CN" altLang="en-US" smtClean="0"/>
              <a:pPr>
                <a:defRPr/>
              </a:pPr>
              <a:t>2025/2/18</a:t>
            </a:fld>
            <a:endParaRPr lang="zh-CN" altLang="zh-CN"/>
          </a:p>
        </p:txBody>
      </p:sp>
      <p:sp>
        <p:nvSpPr>
          <p:cNvPr id="76" name="灯片编号占位符 2">
            <a:extLst>
              <a:ext uri="{FF2B5EF4-FFF2-40B4-BE49-F238E27FC236}">
                <a16:creationId xmlns:a16="http://schemas.microsoft.com/office/drawing/2014/main" id="{0761ABD2-974B-4481-A260-BE5239AFE06D}"/>
              </a:ext>
            </a:extLst>
          </p:cNvPr>
          <p:cNvSpPr>
            <a:spLocks noGrp="1"/>
          </p:cNvSpPr>
          <p:nvPr>
            <p:ph type="sldNum" sz="quarter" idx="11"/>
          </p:nvPr>
        </p:nvSpPr>
        <p:spPr>
          <a:xfrm>
            <a:off x="3028950" y="6356350"/>
            <a:ext cx="3086100" cy="365125"/>
          </a:xfrm>
          <a:prstGeom prst="rect">
            <a:avLst/>
          </a:prstGeom>
        </p:spPr>
        <p:txBody>
          <a:bodyPr vert="horz" lIns="91440" tIns="45720" rIns="91440" bIns="45720" rtlCol="0" anchor="ctr"/>
          <a:lstStyle>
            <a:defPPr>
              <a:defRPr lang="en-US"/>
            </a:defPPr>
            <a:lvl1pPr algn="ctr" defTabSz="457200"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altLang="zh-CN"/>
          </a:p>
        </p:txBody>
      </p:sp>
      <p:sp>
        <p:nvSpPr>
          <p:cNvPr id="16457" name="Rectangle 2">
            <a:extLst>
              <a:ext uri="{FF2B5EF4-FFF2-40B4-BE49-F238E27FC236}">
                <a16:creationId xmlns:a16="http://schemas.microsoft.com/office/drawing/2014/main" id="{032B5F1D-6587-4A59-8578-F45601889D53}"/>
              </a:ext>
            </a:extLst>
          </p:cNvPr>
          <p:cNvSpPr>
            <a:spLocks noGrp="1" noChangeArrowheads="1"/>
          </p:cNvSpPr>
          <p:nvPr>
            <p:ph type="title" idx="4294967295"/>
          </p:nvPr>
        </p:nvSpPr>
        <p:spPr>
          <a:xfrm>
            <a:off x="173679" y="122443"/>
            <a:ext cx="1185340" cy="434606"/>
          </a:xfrm>
          <a:noFill/>
        </p:spPr>
        <p:txBody>
          <a:bodyPr anchor="t"/>
          <a:lstStyle/>
          <a:p>
            <a:pPr algn="l"/>
            <a:r>
              <a:rPr lang="en-US" altLang="zh-CN" sz="1412" dirty="0">
                <a:latin typeface="Garamond" panose="02020404030301010803" pitchFamily="18" charset="0"/>
                <a:ea typeface="微软雅黑 Light" panose="020B0502040204020203" pitchFamily="34" charset="-122"/>
              </a:rPr>
              <a:t>1.</a:t>
            </a:r>
            <a:r>
              <a:rPr lang="zh-CN" altLang="en-US" sz="1412" dirty="0">
                <a:latin typeface="Garamond" panose="02020404030301010803" pitchFamily="18" charset="0"/>
                <a:ea typeface="微软雅黑 Light" panose="020B0502040204020203" pitchFamily="34" charset="-122"/>
              </a:rPr>
              <a:t> </a:t>
            </a:r>
            <a:r>
              <a:rPr lang="zh-CN" altLang="zh-CN" sz="1412" dirty="0">
                <a:latin typeface="Garamond" panose="02020404030301010803" pitchFamily="18" charset="0"/>
                <a:ea typeface="微软雅黑 Light" panose="020B0502040204020203" pitchFamily="34" charset="-122"/>
              </a:rPr>
              <a:t>经济增长</a:t>
            </a:r>
          </a:p>
        </p:txBody>
      </p:sp>
      <p:sp>
        <p:nvSpPr>
          <p:cNvPr id="4" name="文本框 3">
            <a:extLst>
              <a:ext uri="{FF2B5EF4-FFF2-40B4-BE49-F238E27FC236}">
                <a16:creationId xmlns:a16="http://schemas.microsoft.com/office/drawing/2014/main" id="{FBDD39B5-63D9-9B2F-DB9B-FA307D8D069C}"/>
              </a:ext>
            </a:extLst>
          </p:cNvPr>
          <p:cNvSpPr txBox="1"/>
          <p:nvPr/>
        </p:nvSpPr>
        <p:spPr>
          <a:xfrm>
            <a:off x="72802" y="3238557"/>
            <a:ext cx="3061368" cy="230832"/>
          </a:xfrm>
          <a:prstGeom prst="rect">
            <a:avLst/>
          </a:prstGeom>
          <a:noFill/>
        </p:spPr>
        <p:txBody>
          <a:bodyPr wrap="square">
            <a:spAutoFit/>
          </a:bodyPr>
          <a:lstStyle/>
          <a:p>
            <a:r>
              <a:rPr lang="en-US" altLang="zh-CN" sz="900" dirty="0">
                <a:solidFill>
                  <a:schemeClr val="bg2">
                    <a:lumMod val="60000"/>
                    <a:lumOff val="40000"/>
                  </a:schemeClr>
                </a:solidFill>
                <a:latin typeface="Garamond" panose="02020404030301010803" pitchFamily="18" charset="0"/>
                <a:ea typeface="KaiTi" panose="02010609060101010101" pitchFamily="49" charset="-122"/>
              </a:rPr>
              <a:t>Source</a:t>
            </a:r>
            <a:r>
              <a:rPr lang="zh-CN" altLang="en-US" sz="900" dirty="0">
                <a:solidFill>
                  <a:schemeClr val="bg2">
                    <a:lumMod val="60000"/>
                    <a:lumOff val="40000"/>
                  </a:schemeClr>
                </a:solidFill>
                <a:latin typeface="Garamond" panose="02020404030301010803" pitchFamily="18" charset="0"/>
                <a:ea typeface="KaiTi" panose="02010609060101010101" pitchFamily="49" charset="-122"/>
              </a:rPr>
              <a:t>：世界银行数据库</a:t>
            </a:r>
          </a:p>
        </p:txBody>
      </p:sp>
      <p:sp>
        <p:nvSpPr>
          <p:cNvPr id="5" name="文本框 4">
            <a:extLst>
              <a:ext uri="{FF2B5EF4-FFF2-40B4-BE49-F238E27FC236}">
                <a16:creationId xmlns:a16="http://schemas.microsoft.com/office/drawing/2014/main" id="{90FFFB26-56AB-3EE1-DD05-7E4B8E6C5928}"/>
              </a:ext>
            </a:extLst>
          </p:cNvPr>
          <p:cNvSpPr txBox="1"/>
          <p:nvPr/>
        </p:nvSpPr>
        <p:spPr>
          <a:xfrm>
            <a:off x="432842" y="2970118"/>
            <a:ext cx="3888432" cy="230832"/>
          </a:xfrm>
          <a:prstGeom prst="rect">
            <a:avLst/>
          </a:prstGeom>
          <a:noFill/>
        </p:spPr>
        <p:txBody>
          <a:bodyPr wrap="square">
            <a:spAutoFit/>
          </a:bodyPr>
          <a:lstStyle/>
          <a:p>
            <a:pPr algn="ctr"/>
            <a:r>
              <a:rPr lang="en-US" altLang="zh-CN" sz="900" dirty="0">
                <a:latin typeface="Garamond" panose="02020404030301010803" pitchFamily="18" charset="0"/>
                <a:ea typeface="KaiTi" panose="02010609060101010101" pitchFamily="49" charset="-122"/>
              </a:rPr>
              <a:t>1960-2021</a:t>
            </a:r>
            <a:r>
              <a:rPr lang="zh-CN" altLang="en-US" sz="900" dirty="0">
                <a:latin typeface="Garamond" panose="02020404030301010803" pitchFamily="18" charset="0"/>
                <a:ea typeface="KaiTi" panose="02010609060101010101" pitchFamily="49" charset="-122"/>
              </a:rPr>
              <a:t>年全球各主要经济体</a:t>
            </a:r>
            <a:r>
              <a:rPr lang="en-US" altLang="zh-CN" sz="900" dirty="0">
                <a:latin typeface="Garamond" panose="02020404030301010803" pitchFamily="18" charset="0"/>
                <a:ea typeface="KaiTi" panose="02010609060101010101" pitchFamily="49" charset="-122"/>
              </a:rPr>
              <a:t>GDP</a:t>
            </a:r>
            <a:r>
              <a:rPr lang="zh-CN" altLang="en-US" sz="900" dirty="0">
                <a:latin typeface="Garamond" panose="02020404030301010803" pitchFamily="18" charset="0"/>
                <a:ea typeface="KaiTi" panose="02010609060101010101" pitchFamily="49" charset="-122"/>
              </a:rPr>
              <a:t>（</a:t>
            </a:r>
            <a:r>
              <a:rPr lang="en-US" altLang="zh-CN" sz="900" dirty="0">
                <a:latin typeface="Garamond" panose="02020404030301010803" pitchFamily="18" charset="0"/>
                <a:ea typeface="KaiTi" panose="02010609060101010101" pitchFamily="49" charset="-122"/>
              </a:rPr>
              <a:t>2015</a:t>
            </a:r>
            <a:r>
              <a:rPr lang="zh-CN" altLang="en-US" sz="900" dirty="0">
                <a:latin typeface="Garamond" panose="02020404030301010803" pitchFamily="18" charset="0"/>
                <a:ea typeface="KaiTi" panose="02010609060101010101" pitchFamily="49" charset="-122"/>
              </a:rPr>
              <a:t>年不变价美元）</a:t>
            </a:r>
          </a:p>
        </p:txBody>
      </p:sp>
      <p:sp>
        <p:nvSpPr>
          <p:cNvPr id="6" name="Rectangle 74">
            <a:extLst>
              <a:ext uri="{FF2B5EF4-FFF2-40B4-BE49-F238E27FC236}">
                <a16:creationId xmlns:a16="http://schemas.microsoft.com/office/drawing/2014/main" id="{7440AF2E-B6A7-0340-FEFF-F1247DE1B583}"/>
              </a:ext>
            </a:extLst>
          </p:cNvPr>
          <p:cNvSpPr txBox="1">
            <a:spLocks noChangeArrowheads="1"/>
          </p:cNvSpPr>
          <p:nvPr/>
        </p:nvSpPr>
        <p:spPr bwMode="auto">
          <a:xfrm>
            <a:off x="72802" y="383059"/>
            <a:ext cx="3767546" cy="423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a:lnSpc>
                <a:spcPct val="85000"/>
              </a:lnSpc>
              <a:spcBef>
                <a:spcPct val="20000"/>
              </a:spcBef>
            </a:pPr>
            <a:r>
              <a:rPr lang="zh-CN" altLang="zh-CN" sz="1200" b="1" dirty="0">
                <a:latin typeface="Garamond" panose="02020404030301010803" pitchFamily="18" charset="0"/>
                <a:ea typeface="微软雅黑 Light" panose="020B0502040204020203" pitchFamily="34" charset="-122"/>
              </a:rPr>
              <a:t>事实</a:t>
            </a:r>
            <a:r>
              <a:rPr lang="en-US" altLang="zh-CN" sz="1200" b="1" dirty="0">
                <a:latin typeface="Garamond" panose="02020404030301010803" pitchFamily="18" charset="0"/>
                <a:ea typeface="微软雅黑 Light" panose="020B0502040204020203" pitchFamily="34" charset="-122"/>
              </a:rPr>
              <a:t>1</a:t>
            </a:r>
            <a:r>
              <a:rPr lang="zh-CN" altLang="zh-CN" sz="1200" b="1" dirty="0">
                <a:latin typeface="Garamond" panose="02020404030301010803" pitchFamily="18" charset="0"/>
                <a:ea typeface="微软雅黑 Light" panose="020B0502040204020203" pitchFamily="34" charset="-122"/>
              </a:rPr>
              <a:t>:</a:t>
            </a:r>
            <a:r>
              <a:rPr lang="zh-CN" altLang="en-US" sz="1200" b="1" dirty="0">
                <a:latin typeface="Garamond" panose="02020404030301010803" pitchFamily="18" charset="0"/>
                <a:ea typeface="微软雅黑 Light" panose="020B0502040204020203" pitchFamily="34" charset="-122"/>
              </a:rPr>
              <a:t>  </a:t>
            </a:r>
            <a:r>
              <a:rPr lang="zh-CN" altLang="zh-CN" sz="1200" dirty="0">
                <a:latin typeface="Garamond" panose="02020404030301010803" pitchFamily="18" charset="0"/>
                <a:ea typeface="微软雅黑 Light" panose="020B0502040204020203" pitchFamily="34" charset="-122"/>
              </a:rPr>
              <a:t>世界各国的经济增长有很大差别</a:t>
            </a:r>
          </a:p>
        </p:txBody>
      </p:sp>
    </p:spTree>
    <p:extLst>
      <p:ext uri="{BB962C8B-B14F-4D97-AF65-F5344CB8AC3E}">
        <p14:creationId xmlns:p14="http://schemas.microsoft.com/office/powerpoint/2010/main" val="357496344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5"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BA9059C-0BEF-CA74-ECEE-D0C1B76E47C9}"/>
              </a:ext>
            </a:extLst>
          </p:cNvPr>
          <p:cNvSpPr>
            <a:spLocks noGrp="1"/>
          </p:cNvSpPr>
          <p:nvPr>
            <p:ph type="sldNum" sz="quarter" idx="11"/>
          </p:nvPr>
        </p:nvSpPr>
        <p:spPr/>
        <p:txBody>
          <a:bodyPr/>
          <a:lstStyle/>
          <a:p>
            <a:fld id="{8FC9ECCE-9A67-6F4D-96F4-AF59AF685F27}" type="slidenum">
              <a:rPr lang="zh-CN" altLang="zh-CN" smtClean="0"/>
              <a:pPr/>
              <a:t>23</a:t>
            </a:fld>
            <a:endParaRPr lang="en-US" altLang="zh-CN"/>
          </a:p>
        </p:txBody>
      </p:sp>
      <p:pic>
        <p:nvPicPr>
          <p:cNvPr id="4" name="图片 3">
            <a:extLst>
              <a:ext uri="{FF2B5EF4-FFF2-40B4-BE49-F238E27FC236}">
                <a16:creationId xmlns:a16="http://schemas.microsoft.com/office/drawing/2014/main" id="{830CAD01-1BF4-82CB-C338-333F02E7DF6A}"/>
              </a:ext>
            </a:extLst>
          </p:cNvPr>
          <p:cNvPicPr>
            <a:picLocks noChangeAspect="1"/>
          </p:cNvPicPr>
          <p:nvPr/>
        </p:nvPicPr>
        <p:blipFill>
          <a:blip r:embed="rId2"/>
          <a:stretch>
            <a:fillRect/>
          </a:stretch>
        </p:blipFill>
        <p:spPr>
          <a:xfrm>
            <a:off x="0" y="383036"/>
            <a:ext cx="4610100" cy="2694678"/>
          </a:xfrm>
          <a:prstGeom prst="rect">
            <a:avLst/>
          </a:prstGeom>
        </p:spPr>
      </p:pic>
      <p:sp>
        <p:nvSpPr>
          <p:cNvPr id="5" name="文本框 4">
            <a:extLst>
              <a:ext uri="{FF2B5EF4-FFF2-40B4-BE49-F238E27FC236}">
                <a16:creationId xmlns:a16="http://schemas.microsoft.com/office/drawing/2014/main" id="{64DB29DF-AA65-432A-D48D-52520EB51457}"/>
              </a:ext>
            </a:extLst>
          </p:cNvPr>
          <p:cNvSpPr txBox="1"/>
          <p:nvPr/>
        </p:nvSpPr>
        <p:spPr>
          <a:xfrm>
            <a:off x="72802" y="3238557"/>
            <a:ext cx="3061368" cy="230832"/>
          </a:xfrm>
          <a:prstGeom prst="rect">
            <a:avLst/>
          </a:prstGeom>
          <a:noFill/>
        </p:spPr>
        <p:txBody>
          <a:bodyPr wrap="square">
            <a:spAutoFit/>
          </a:bodyPr>
          <a:lstStyle/>
          <a:p>
            <a:r>
              <a:rPr lang="en-US" altLang="zh-CN" sz="900" dirty="0">
                <a:solidFill>
                  <a:schemeClr val="bg2">
                    <a:lumMod val="60000"/>
                    <a:lumOff val="40000"/>
                  </a:schemeClr>
                </a:solidFill>
                <a:latin typeface="Garamond" panose="02020404030301010803" pitchFamily="18" charset="0"/>
                <a:ea typeface="KaiTi" panose="02010609060101010101" pitchFamily="49" charset="-122"/>
              </a:rPr>
              <a:t>Source</a:t>
            </a:r>
            <a:r>
              <a:rPr lang="zh-CN" altLang="en-US" sz="900" dirty="0">
                <a:solidFill>
                  <a:schemeClr val="bg2">
                    <a:lumMod val="60000"/>
                    <a:lumOff val="40000"/>
                  </a:schemeClr>
                </a:solidFill>
                <a:latin typeface="Garamond" panose="02020404030301010803" pitchFamily="18" charset="0"/>
                <a:ea typeface="KaiTi" panose="02010609060101010101" pitchFamily="49" charset="-122"/>
              </a:rPr>
              <a:t>：世界银行数据库</a:t>
            </a:r>
          </a:p>
        </p:txBody>
      </p:sp>
      <p:sp>
        <p:nvSpPr>
          <p:cNvPr id="6" name="文本框 5">
            <a:extLst>
              <a:ext uri="{FF2B5EF4-FFF2-40B4-BE49-F238E27FC236}">
                <a16:creationId xmlns:a16="http://schemas.microsoft.com/office/drawing/2014/main" id="{7F190C7D-0D14-B63C-982B-3A4BD053AADD}"/>
              </a:ext>
            </a:extLst>
          </p:cNvPr>
          <p:cNvSpPr txBox="1"/>
          <p:nvPr/>
        </p:nvSpPr>
        <p:spPr>
          <a:xfrm>
            <a:off x="456011" y="3021379"/>
            <a:ext cx="3888432" cy="230832"/>
          </a:xfrm>
          <a:prstGeom prst="rect">
            <a:avLst/>
          </a:prstGeom>
          <a:noFill/>
        </p:spPr>
        <p:txBody>
          <a:bodyPr wrap="square">
            <a:spAutoFit/>
          </a:bodyPr>
          <a:lstStyle/>
          <a:p>
            <a:pPr algn="ctr"/>
            <a:r>
              <a:rPr lang="en-US" altLang="zh-CN" sz="900" dirty="0">
                <a:latin typeface="Garamond" panose="02020404030301010803" pitchFamily="18" charset="0"/>
                <a:ea typeface="KaiTi" panose="02010609060101010101" pitchFamily="49" charset="-122"/>
              </a:rPr>
              <a:t>1960-2021</a:t>
            </a:r>
            <a:r>
              <a:rPr lang="zh-CN" altLang="en-US" sz="900" dirty="0">
                <a:latin typeface="Garamond" panose="02020404030301010803" pitchFamily="18" charset="0"/>
                <a:ea typeface="KaiTi" panose="02010609060101010101" pitchFamily="49" charset="-122"/>
              </a:rPr>
              <a:t>年全球各主要经济体</a:t>
            </a:r>
            <a:r>
              <a:rPr lang="zh-CN" altLang="en-US" sz="900" b="1" dirty="0">
                <a:latin typeface="Garamond" panose="02020404030301010803" pitchFamily="18" charset="0"/>
                <a:ea typeface="KaiTi" panose="02010609060101010101" pitchFamily="49" charset="-122"/>
              </a:rPr>
              <a:t>人均</a:t>
            </a:r>
            <a:r>
              <a:rPr lang="en-US" altLang="zh-CN" sz="900" b="1" dirty="0">
                <a:latin typeface="Garamond" panose="02020404030301010803" pitchFamily="18" charset="0"/>
                <a:ea typeface="KaiTi" panose="02010609060101010101" pitchFamily="49" charset="-122"/>
              </a:rPr>
              <a:t>GDP</a:t>
            </a:r>
            <a:r>
              <a:rPr lang="zh-CN" altLang="en-US" sz="900" dirty="0">
                <a:latin typeface="Garamond" panose="02020404030301010803" pitchFamily="18" charset="0"/>
                <a:ea typeface="KaiTi" panose="02010609060101010101" pitchFamily="49" charset="-122"/>
              </a:rPr>
              <a:t>（</a:t>
            </a:r>
            <a:r>
              <a:rPr lang="en-US" altLang="zh-CN" sz="900" dirty="0">
                <a:latin typeface="Garamond" panose="02020404030301010803" pitchFamily="18" charset="0"/>
                <a:ea typeface="KaiTi" panose="02010609060101010101" pitchFamily="49" charset="-122"/>
              </a:rPr>
              <a:t>2015</a:t>
            </a:r>
            <a:r>
              <a:rPr lang="zh-CN" altLang="en-US" sz="900" dirty="0">
                <a:latin typeface="Garamond" panose="02020404030301010803" pitchFamily="18" charset="0"/>
                <a:ea typeface="KaiTi" panose="02010609060101010101" pitchFamily="49" charset="-122"/>
              </a:rPr>
              <a:t>年不变价美元）</a:t>
            </a:r>
          </a:p>
        </p:txBody>
      </p:sp>
      <p:sp>
        <p:nvSpPr>
          <p:cNvPr id="7" name="Rectangle 2">
            <a:extLst>
              <a:ext uri="{FF2B5EF4-FFF2-40B4-BE49-F238E27FC236}">
                <a16:creationId xmlns:a16="http://schemas.microsoft.com/office/drawing/2014/main" id="{9C9A90BF-066A-5204-A3CB-8441E58AA985}"/>
              </a:ext>
            </a:extLst>
          </p:cNvPr>
          <p:cNvSpPr txBox="1">
            <a:spLocks noChangeArrowheads="1"/>
          </p:cNvSpPr>
          <p:nvPr/>
        </p:nvSpPr>
        <p:spPr bwMode="auto">
          <a:xfrm>
            <a:off x="173679" y="122443"/>
            <a:ext cx="1185340" cy="434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a:lstStyle>
          <a:p>
            <a:pPr algn="l"/>
            <a:r>
              <a:rPr lang="en-US" altLang="zh-CN" sz="1412" dirty="0">
                <a:latin typeface="Garamond" panose="02020404030301010803" pitchFamily="18" charset="0"/>
                <a:ea typeface="微软雅黑 Light" panose="020B0502040204020203" pitchFamily="34" charset="-122"/>
              </a:rPr>
              <a:t>1.</a:t>
            </a:r>
            <a:r>
              <a:rPr lang="zh-CN" altLang="en-US" sz="1412" dirty="0">
                <a:latin typeface="Garamond" panose="02020404030301010803" pitchFamily="18" charset="0"/>
                <a:ea typeface="微软雅黑 Light" panose="020B0502040204020203" pitchFamily="34" charset="-122"/>
              </a:rPr>
              <a:t> </a:t>
            </a:r>
            <a:r>
              <a:rPr lang="zh-CN" altLang="zh-CN" sz="1412" dirty="0">
                <a:latin typeface="Garamond" panose="02020404030301010803" pitchFamily="18" charset="0"/>
                <a:ea typeface="微软雅黑 Light" panose="020B0502040204020203" pitchFamily="34" charset="-122"/>
              </a:rPr>
              <a:t>经济增长</a:t>
            </a:r>
          </a:p>
        </p:txBody>
      </p:sp>
    </p:spTree>
    <p:extLst>
      <p:ext uri="{BB962C8B-B14F-4D97-AF65-F5344CB8AC3E}">
        <p14:creationId xmlns:p14="http://schemas.microsoft.com/office/powerpoint/2010/main" val="21601315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8FF39FDC-5E94-E63B-09D8-3165D09D948B}"/>
              </a:ext>
            </a:extLst>
          </p:cNvPr>
          <p:cNvPicPr>
            <a:picLocks noChangeAspect="1"/>
          </p:cNvPicPr>
          <p:nvPr/>
        </p:nvPicPr>
        <p:blipFill>
          <a:blip r:embed="rId2"/>
          <a:stretch>
            <a:fillRect/>
          </a:stretch>
        </p:blipFill>
        <p:spPr>
          <a:xfrm>
            <a:off x="0" y="385518"/>
            <a:ext cx="4610100" cy="2689714"/>
          </a:xfrm>
          <a:prstGeom prst="rect">
            <a:avLst/>
          </a:prstGeom>
        </p:spPr>
      </p:pic>
      <p:sp>
        <p:nvSpPr>
          <p:cNvPr id="76" name="灯片编号占位符 2">
            <a:extLst>
              <a:ext uri="{FF2B5EF4-FFF2-40B4-BE49-F238E27FC236}">
                <a16:creationId xmlns:a16="http://schemas.microsoft.com/office/drawing/2014/main" id="{4EF87FF2-6E5A-44B2-9CF2-4BDBE2AB0081}"/>
              </a:ext>
            </a:extLst>
          </p:cNvPr>
          <p:cNvSpPr>
            <a:spLocks noGrp="1"/>
          </p:cNvSpPr>
          <p:nvPr>
            <p:ph type="sldNum" sz="quarter" idx="11"/>
          </p:nvPr>
        </p:nvSpPr>
        <p:spPr>
          <a:xfrm>
            <a:off x="3028950" y="6356350"/>
            <a:ext cx="3086100" cy="365125"/>
          </a:xfrm>
          <a:prstGeom prst="rect">
            <a:avLst/>
          </a:prstGeom>
        </p:spPr>
        <p:txBody>
          <a:bodyPr vert="horz" lIns="91440" tIns="45720" rIns="91440" bIns="45720" rtlCol="0" anchor="ctr"/>
          <a:lstStyle>
            <a:defPPr>
              <a:defRPr lang="en-US"/>
            </a:defPPr>
            <a:lvl1pPr algn="ctr" defTabSz="457200"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endParaRPr lang="en-US" altLang="zh-CN"/>
          </a:p>
        </p:txBody>
      </p:sp>
      <p:sp>
        <p:nvSpPr>
          <p:cNvPr id="18506" name="Rectangle 74">
            <a:extLst>
              <a:ext uri="{FF2B5EF4-FFF2-40B4-BE49-F238E27FC236}">
                <a16:creationId xmlns:a16="http://schemas.microsoft.com/office/drawing/2014/main" id="{ED9F57E4-3614-49E0-8BBA-B22058129B63}"/>
              </a:ext>
            </a:extLst>
          </p:cNvPr>
          <p:cNvSpPr>
            <a:spLocks noGrp="1" noChangeArrowheads="1"/>
          </p:cNvSpPr>
          <p:nvPr>
            <p:ph type="body" idx="4294967295"/>
          </p:nvPr>
        </p:nvSpPr>
        <p:spPr>
          <a:xfrm>
            <a:off x="72802" y="146199"/>
            <a:ext cx="3767546" cy="423193"/>
          </a:xfrm>
        </p:spPr>
        <p:txBody>
          <a:bodyPr/>
          <a:lstStyle/>
          <a:p>
            <a:pPr>
              <a:lnSpc>
                <a:spcPct val="85000"/>
              </a:lnSpc>
              <a:spcBef>
                <a:spcPct val="20000"/>
              </a:spcBef>
            </a:pPr>
            <a:r>
              <a:rPr lang="zh-CN" altLang="zh-CN" sz="1200" b="1" dirty="0">
                <a:latin typeface="Garamond" panose="02020404030301010803" pitchFamily="18" charset="0"/>
                <a:ea typeface="微软雅黑 Light" panose="020B0502040204020203" pitchFamily="34" charset="-122"/>
              </a:rPr>
              <a:t>事实 2:</a:t>
            </a:r>
            <a:r>
              <a:rPr lang="zh-CN" altLang="en-US" sz="1200" b="1" dirty="0">
                <a:latin typeface="Garamond" panose="02020404030301010803" pitchFamily="18" charset="0"/>
                <a:ea typeface="微软雅黑 Light" panose="020B0502040204020203" pitchFamily="34" charset="-122"/>
              </a:rPr>
              <a:t> </a:t>
            </a:r>
            <a:r>
              <a:rPr lang="zh-CN" altLang="zh-CN" sz="1200" dirty="0">
                <a:latin typeface="Garamond" panose="02020404030301010803" pitchFamily="18" charset="0"/>
                <a:ea typeface="微软雅黑 Light" panose="020B0502040204020203" pitchFamily="34" charset="-122"/>
              </a:rPr>
              <a:t>世界各国的经济增长率有很大差别</a:t>
            </a:r>
          </a:p>
        </p:txBody>
      </p:sp>
      <p:sp>
        <p:nvSpPr>
          <p:cNvPr id="3" name="文本框 2">
            <a:extLst>
              <a:ext uri="{FF2B5EF4-FFF2-40B4-BE49-F238E27FC236}">
                <a16:creationId xmlns:a16="http://schemas.microsoft.com/office/drawing/2014/main" id="{87832AB5-6CA0-654E-900F-7BC46061FAE1}"/>
              </a:ext>
            </a:extLst>
          </p:cNvPr>
          <p:cNvSpPr txBox="1"/>
          <p:nvPr/>
        </p:nvSpPr>
        <p:spPr>
          <a:xfrm>
            <a:off x="72802" y="3238557"/>
            <a:ext cx="3061368" cy="230832"/>
          </a:xfrm>
          <a:prstGeom prst="rect">
            <a:avLst/>
          </a:prstGeom>
          <a:noFill/>
        </p:spPr>
        <p:txBody>
          <a:bodyPr wrap="square">
            <a:spAutoFit/>
          </a:bodyPr>
          <a:lstStyle/>
          <a:p>
            <a:r>
              <a:rPr lang="en-US" altLang="zh-CN" sz="900" dirty="0">
                <a:solidFill>
                  <a:schemeClr val="bg2">
                    <a:lumMod val="60000"/>
                    <a:lumOff val="40000"/>
                  </a:schemeClr>
                </a:solidFill>
                <a:latin typeface="Garamond" panose="02020404030301010803" pitchFamily="18" charset="0"/>
                <a:ea typeface="KaiTi" panose="02010609060101010101" pitchFamily="49" charset="-122"/>
              </a:rPr>
              <a:t>Source</a:t>
            </a:r>
            <a:r>
              <a:rPr lang="zh-CN" altLang="en-US" sz="900" dirty="0">
                <a:solidFill>
                  <a:schemeClr val="bg2">
                    <a:lumMod val="60000"/>
                    <a:lumOff val="40000"/>
                  </a:schemeClr>
                </a:solidFill>
                <a:latin typeface="Garamond" panose="02020404030301010803" pitchFamily="18" charset="0"/>
                <a:ea typeface="KaiTi" panose="02010609060101010101" pitchFamily="49" charset="-122"/>
              </a:rPr>
              <a:t>：世界银行数据库</a:t>
            </a:r>
          </a:p>
        </p:txBody>
      </p:sp>
      <p:sp>
        <p:nvSpPr>
          <p:cNvPr id="4" name="文本框 3">
            <a:extLst>
              <a:ext uri="{FF2B5EF4-FFF2-40B4-BE49-F238E27FC236}">
                <a16:creationId xmlns:a16="http://schemas.microsoft.com/office/drawing/2014/main" id="{68FF8429-4AF1-EE3F-4C0B-F7E294A80C0A}"/>
              </a:ext>
            </a:extLst>
          </p:cNvPr>
          <p:cNvSpPr txBox="1"/>
          <p:nvPr/>
        </p:nvSpPr>
        <p:spPr>
          <a:xfrm>
            <a:off x="432842" y="3007725"/>
            <a:ext cx="3888432" cy="230832"/>
          </a:xfrm>
          <a:prstGeom prst="rect">
            <a:avLst/>
          </a:prstGeom>
          <a:noFill/>
        </p:spPr>
        <p:txBody>
          <a:bodyPr wrap="square">
            <a:spAutoFit/>
          </a:bodyPr>
          <a:lstStyle/>
          <a:p>
            <a:pPr algn="ctr"/>
            <a:r>
              <a:rPr lang="en-US" altLang="zh-CN" sz="900" dirty="0">
                <a:latin typeface="Garamond" panose="02020404030301010803" pitchFamily="18" charset="0"/>
                <a:ea typeface="KaiTi" panose="02010609060101010101" pitchFamily="49" charset="-122"/>
              </a:rPr>
              <a:t>1960-2021</a:t>
            </a:r>
            <a:r>
              <a:rPr lang="zh-CN" altLang="en-US" sz="900" dirty="0">
                <a:latin typeface="Garamond" panose="02020404030301010803" pitchFamily="18" charset="0"/>
                <a:ea typeface="KaiTi" panose="02010609060101010101" pitchFamily="49" charset="-122"/>
              </a:rPr>
              <a:t>年全球各主要经济体</a:t>
            </a:r>
            <a:r>
              <a:rPr lang="zh-CN" altLang="en-US" sz="900" b="1" dirty="0">
                <a:latin typeface="Garamond" panose="02020404030301010803" pitchFamily="18" charset="0"/>
                <a:ea typeface="KaiTi" panose="02010609060101010101" pitchFamily="49" charset="-122"/>
              </a:rPr>
              <a:t>人均</a:t>
            </a:r>
            <a:r>
              <a:rPr lang="en-US" altLang="zh-CN" sz="900" b="1" dirty="0">
                <a:latin typeface="Garamond" panose="02020404030301010803" pitchFamily="18" charset="0"/>
                <a:ea typeface="KaiTi" panose="02010609060101010101" pitchFamily="49" charset="-122"/>
              </a:rPr>
              <a:t>GDP</a:t>
            </a:r>
            <a:r>
              <a:rPr lang="zh-CN" altLang="en-US" sz="900" b="1" dirty="0">
                <a:latin typeface="Garamond" panose="02020404030301010803" pitchFamily="18" charset="0"/>
                <a:ea typeface="KaiTi" panose="02010609060101010101" pitchFamily="49" charset="-122"/>
              </a:rPr>
              <a:t>增长率</a:t>
            </a:r>
          </a:p>
        </p:txBody>
      </p:sp>
    </p:spTree>
    <p:extLst>
      <p:ext uri="{BB962C8B-B14F-4D97-AF65-F5344CB8AC3E}">
        <p14:creationId xmlns:p14="http://schemas.microsoft.com/office/powerpoint/2010/main" val="500295542"/>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506"/>
                                        </p:tgtEl>
                                        <p:attrNameLst>
                                          <p:attrName>style.visibility</p:attrName>
                                        </p:attrNameLst>
                                      </p:cBhvr>
                                      <p:to>
                                        <p:strVal val="visible"/>
                                      </p:to>
                                    </p:set>
                                    <p:animEffect transition="in" filter="dissolve">
                                      <p:cBhvr>
                                        <p:cTn id="7" dur="500"/>
                                        <p:tgtEl>
                                          <p:spTgt spid="18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06" grpId="0" bldLvl="5"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679754" y="331553"/>
            <a:ext cx="1717211" cy="2060654"/>
          </a:xfrm>
        </p:spPr>
      </p:pic>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fld id="{FAD6B5C5-F173-4E8F-B7DC-6ED3A3EC0E6C}" type="slidenum">
              <a:rPr lang="zh-CN" altLang="en-US" smtClean="0"/>
              <a:pPr>
                <a:defRPr/>
              </a:pPr>
              <a:t>25</a:t>
            </a:fld>
            <a:endParaRPr lang="zh-CN" altLang="en-US"/>
          </a:p>
        </p:txBody>
      </p:sp>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6944" y="1766665"/>
            <a:ext cx="1666827" cy="1536512"/>
          </a:xfrm>
          <a:prstGeom prst="rect">
            <a:avLst/>
          </a:prstGeom>
        </p:spPr>
      </p:pic>
      <p:pic>
        <p:nvPicPr>
          <p:cNvPr id="10" name="图片 9"/>
          <p:cNvPicPr>
            <a:picLocks noChangeAspect="1"/>
          </p:cNvPicPr>
          <p:nvPr/>
        </p:nvPicPr>
        <p:blipFill>
          <a:blip r:embed="rId4"/>
          <a:stretch>
            <a:fillRect/>
          </a:stretch>
        </p:blipFill>
        <p:spPr>
          <a:xfrm>
            <a:off x="316944" y="331553"/>
            <a:ext cx="2225009" cy="1390630"/>
          </a:xfrm>
          <a:prstGeom prst="rect">
            <a:avLst/>
          </a:prstGeom>
        </p:spPr>
      </p:pic>
      <p:sp>
        <p:nvSpPr>
          <p:cNvPr id="11" name="文本框 10"/>
          <p:cNvSpPr txBox="1"/>
          <p:nvPr/>
        </p:nvSpPr>
        <p:spPr>
          <a:xfrm>
            <a:off x="2101235" y="2514711"/>
            <a:ext cx="2414236" cy="511487"/>
          </a:xfrm>
          <a:prstGeom prst="rect">
            <a:avLst/>
          </a:prstGeom>
          <a:noFill/>
        </p:spPr>
        <p:txBody>
          <a:bodyPr wrap="square" rtlCol="0">
            <a:spAutoFit/>
          </a:bodyPr>
          <a:lstStyle/>
          <a:p>
            <a:r>
              <a:rPr lang="zh-CN" altLang="en-US" sz="908" b="1" dirty="0"/>
              <a:t>左上图</a:t>
            </a:r>
            <a:r>
              <a:rPr lang="zh-CN" altLang="en-US" sz="908" dirty="0"/>
              <a:t>：印钞厂的一幕</a:t>
            </a:r>
            <a:endParaRPr lang="en-US" altLang="zh-CN" sz="908" dirty="0"/>
          </a:p>
          <a:p>
            <a:r>
              <a:rPr lang="zh-CN" altLang="en-US" sz="908" b="1" dirty="0"/>
              <a:t>左下图</a:t>
            </a:r>
            <a:r>
              <a:rPr lang="zh-CN" altLang="en-US" sz="908" dirty="0"/>
              <a:t>：民众用一麻袋装的钱放到黄包车上</a:t>
            </a:r>
            <a:endParaRPr lang="en-US" altLang="zh-CN" sz="908" dirty="0"/>
          </a:p>
          <a:p>
            <a:r>
              <a:rPr lang="zh-CN" altLang="en-US" sz="908" b="1" dirty="0"/>
              <a:t>右    图</a:t>
            </a:r>
            <a:r>
              <a:rPr lang="zh-CN" altLang="en-US" sz="908" dirty="0"/>
              <a:t>：买东西的妇女所带的钱</a:t>
            </a:r>
          </a:p>
        </p:txBody>
      </p:sp>
      <p:sp>
        <p:nvSpPr>
          <p:cNvPr id="5" name="Rectangle 2">
            <a:extLst>
              <a:ext uri="{FF2B5EF4-FFF2-40B4-BE49-F238E27FC236}">
                <a16:creationId xmlns:a16="http://schemas.microsoft.com/office/drawing/2014/main" id="{DF8593D3-412C-CA25-7259-A18A1CD6FE6B}"/>
              </a:ext>
            </a:extLst>
          </p:cNvPr>
          <p:cNvSpPr txBox="1">
            <a:spLocks noChangeArrowheads="1"/>
          </p:cNvSpPr>
          <p:nvPr/>
        </p:nvSpPr>
        <p:spPr>
          <a:xfrm>
            <a:off x="144810" y="92008"/>
            <a:ext cx="1185340" cy="217304"/>
          </a:xfrm>
          <a:prstGeom prst="rect">
            <a:avLst/>
          </a:prstGeom>
          <a:noFill/>
        </p:spPr>
        <p:txBody>
          <a:bodyPr wrap="square" lIns="0" tIns="0" rIns="0" bIns="0" anchor="t">
            <a:spAutoFit/>
          </a:bodyPr>
          <a:lstStyle>
            <a:lvl1pPr eaLnBrk="1" hangingPunct="1">
              <a:defRPr sz="1200" b="1" i="0">
                <a:solidFill>
                  <a:srgbClr val="CC0000"/>
                </a:solidFill>
                <a:latin typeface="Times New Roman"/>
                <a:ea typeface="SimSun" panose="02010600030101010101" pitchFamily="2" charset="-122"/>
                <a:cs typeface="Times New Roman"/>
              </a:defRPr>
            </a:lvl1pPr>
          </a:lstStyle>
          <a:p>
            <a:pPr algn="l"/>
            <a:r>
              <a:rPr lang="en-US" altLang="zh-CN" sz="1412" kern="0" dirty="0">
                <a:latin typeface="Garamond" panose="02020404030301010803" pitchFamily="18" charset="0"/>
                <a:ea typeface="微软雅黑 Light" panose="020B0502040204020203" pitchFamily="34" charset="-122"/>
              </a:rPr>
              <a:t>2.</a:t>
            </a:r>
            <a:r>
              <a:rPr lang="zh-CN" altLang="en-US" sz="1412" kern="0" dirty="0">
                <a:latin typeface="Garamond" panose="02020404030301010803" pitchFamily="18" charset="0"/>
                <a:ea typeface="微软雅黑 Light" panose="020B0502040204020203" pitchFamily="34" charset="-122"/>
              </a:rPr>
              <a:t> 通货膨胀</a:t>
            </a:r>
            <a:endParaRPr lang="zh-CN" altLang="zh-CN" sz="1412" kern="0" dirty="0">
              <a:latin typeface="Garamond" panose="02020404030301010803" pitchFamily="18" charset="0"/>
              <a:ea typeface="微软雅黑 Light" panose="020B0502040204020203" pitchFamily="34" charset="-122"/>
            </a:endParaRPr>
          </a:p>
        </p:txBody>
      </p:sp>
    </p:spTree>
    <p:extLst>
      <p:ext uri="{BB962C8B-B14F-4D97-AF65-F5344CB8AC3E}">
        <p14:creationId xmlns:p14="http://schemas.microsoft.com/office/powerpoint/2010/main" val="37135605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39504" y="660491"/>
            <a:ext cx="2198376" cy="1185837"/>
          </a:xfrm>
        </p:spPr>
        <p:txBody>
          <a:bodyPr/>
          <a:lstStyle/>
          <a:p>
            <a:pPr>
              <a:lnSpc>
                <a:spcPct val="150000"/>
              </a:lnSpc>
            </a:pPr>
            <a:r>
              <a:rPr lang="zh-CN" altLang="en-US" sz="1050" b="1" dirty="0"/>
              <a:t>失业的基本问题：</a:t>
            </a:r>
            <a:endParaRPr lang="en-US" altLang="zh-CN" sz="1050" b="1" dirty="0"/>
          </a:p>
          <a:p>
            <a:pPr>
              <a:lnSpc>
                <a:spcPct val="150000"/>
              </a:lnSpc>
              <a:buFont typeface="Wingdings" panose="05000000000000000000" pitchFamily="2" charset="2"/>
              <a:buChar char="p"/>
            </a:pPr>
            <a:r>
              <a:rPr lang="zh-CN" altLang="en-US" sz="1050" dirty="0"/>
              <a:t>劳动市场是否总是均衡的，哪些因素影响了劳动市场的均衡？</a:t>
            </a:r>
            <a:endParaRPr lang="en-US" altLang="zh-CN" sz="1050" dirty="0"/>
          </a:p>
          <a:p>
            <a:pPr>
              <a:lnSpc>
                <a:spcPct val="150000"/>
              </a:lnSpc>
              <a:buFont typeface="Wingdings" panose="05000000000000000000" pitchFamily="2" charset="2"/>
              <a:buChar char="p"/>
            </a:pPr>
            <a:r>
              <a:rPr lang="zh-CN" altLang="en-US" sz="1050" dirty="0"/>
              <a:t>市场经济能否自发地保持充分就业？</a:t>
            </a:r>
            <a:endParaRPr lang="en-US" altLang="zh-CN" sz="1050" dirty="0"/>
          </a:p>
          <a:p>
            <a:pPr>
              <a:lnSpc>
                <a:spcPct val="150000"/>
              </a:lnSpc>
              <a:buFont typeface="Wingdings" panose="05000000000000000000" pitchFamily="2" charset="2"/>
              <a:buChar char="p"/>
            </a:pPr>
            <a:r>
              <a:rPr lang="zh-CN" altLang="en-US" sz="1050" dirty="0"/>
              <a:t>失业率是否越低越好？</a:t>
            </a:r>
          </a:p>
        </p:txBody>
      </p:sp>
      <p:sp>
        <p:nvSpPr>
          <p:cNvPr id="4" name="日期占位符 3"/>
          <p:cNvSpPr>
            <a:spLocks noGrp="1"/>
          </p:cNvSpPr>
          <p:nvPr>
            <p:ph type="dt" sz="half" idx="10"/>
          </p:nvPr>
        </p:nvSpPr>
        <p:spPr>
          <a:xfrm>
            <a:off x="628650" y="6356350"/>
            <a:ext cx="2057400" cy="365125"/>
          </a:xfrm>
          <a:prstGeom prst="rect">
            <a:avLst/>
          </a:prstGeom>
        </p:spPr>
        <p:txBody>
          <a:bodyPr vert="horz" lIns="91440" tIns="45720" rIns="91440" bIns="45720" rtlCol="0" anchor="ctr"/>
          <a:lstStyle>
            <a:defPPr>
              <a:defRPr lang="en-US"/>
            </a:defPPr>
            <a:lvl1pPr algn="l" defTabSz="457200"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fld id="{88E74CBE-2322-4706-A00B-18479DB58106}" type="datetime1">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l" defTabSz="457200" rtl="0" eaLnBrk="1" fontAlgn="auto" latinLnBrk="0" hangingPunct="1">
                <a:lnSpc>
                  <a:spcPct val="100000"/>
                </a:lnSpc>
                <a:spcBef>
                  <a:spcPts val="0"/>
                </a:spcBef>
                <a:spcAft>
                  <a:spcPts val="0"/>
                </a:spcAft>
                <a:buClrTx/>
                <a:buSzTx/>
                <a:buFontTx/>
                <a:buNone/>
                <a:tabLst/>
                <a:defRPr/>
              </a:pPr>
              <a:t>2025/2/18</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6" name="灯片编号占位符 5"/>
          <p:cNvSpPr>
            <a:spLocks noGrp="1"/>
          </p:cNvSpPr>
          <p:nvPr>
            <p:ph type="sldNum" sz="quarter" idx="12"/>
          </p:nvPr>
        </p:nvSpPr>
        <p:spPr>
          <a:xfrm>
            <a:off x="6457950" y="6356350"/>
            <a:ext cx="2057400" cy="365125"/>
          </a:xfrm>
          <a:prstGeom prst="rect">
            <a:avLst/>
          </a:prstGeom>
        </p:spPr>
        <p:txBody>
          <a:bodyPr vert="horz" lIns="91440" tIns="45720" rIns="91440" bIns="45720" rtlCol="0" anchor="ctr"/>
          <a:lstStyle>
            <a:defPPr>
              <a:defRPr lang="en-US"/>
            </a:defPPr>
            <a:lvl1pPr algn="r" defTabSz="457200"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FAD6B5C5-F173-4E8F-B7DC-6ED3A3EC0E6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2" name="页脚占位符 1">
            <a:extLst>
              <a:ext uri="{FF2B5EF4-FFF2-40B4-BE49-F238E27FC236}">
                <a16:creationId xmlns:a16="http://schemas.microsoft.com/office/drawing/2014/main" id="{C336D3D5-2A7A-4F4F-A06B-A09A44B07474}"/>
              </a:ext>
            </a:extLst>
          </p:cNvPr>
          <p:cNvSpPr>
            <a:spLocks noGrp="1"/>
          </p:cNvSpPr>
          <p:nvPr>
            <p:ph type="ftr" sz="quarter" idx="11"/>
          </p:nvPr>
        </p:nvSpPr>
        <p:spPr>
          <a:xfrm>
            <a:off x="3028950" y="6356350"/>
            <a:ext cx="3086100" cy="365125"/>
          </a:xfrm>
          <a:prstGeom prst="rect">
            <a:avLst/>
          </a:prstGeom>
        </p:spPr>
        <p:txBody>
          <a:bodyPr vert="horz" lIns="91440" tIns="45720" rIns="91440" bIns="45720" rtlCol="0" anchor="ctr"/>
          <a:lstStyle>
            <a:defPPr>
              <a:defRPr lang="en-US"/>
            </a:defPPr>
            <a:lvl1pPr algn="ctr" defTabSz="457200"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8" name="Rectangle 2">
            <a:extLst>
              <a:ext uri="{FF2B5EF4-FFF2-40B4-BE49-F238E27FC236}">
                <a16:creationId xmlns:a16="http://schemas.microsoft.com/office/drawing/2014/main" id="{F186F457-278E-BF7D-0911-6FFFA92412D1}"/>
              </a:ext>
            </a:extLst>
          </p:cNvPr>
          <p:cNvSpPr txBox="1">
            <a:spLocks noChangeArrowheads="1"/>
          </p:cNvSpPr>
          <p:nvPr/>
        </p:nvSpPr>
        <p:spPr>
          <a:xfrm>
            <a:off x="159128" y="239466"/>
            <a:ext cx="1185340" cy="217304"/>
          </a:xfrm>
          <a:prstGeom prst="rect">
            <a:avLst/>
          </a:prstGeom>
          <a:noFill/>
        </p:spPr>
        <p:txBody>
          <a:bodyPr wrap="square" lIns="0" tIns="0" rIns="0" bIns="0" anchor="t">
            <a:spAutoFit/>
          </a:bodyPr>
          <a:lstStyle>
            <a:lvl1pPr eaLnBrk="1" hangingPunct="1">
              <a:defRPr sz="1200" b="1" i="0">
                <a:solidFill>
                  <a:srgbClr val="CC0000"/>
                </a:solidFill>
                <a:latin typeface="Times New Roman"/>
                <a:ea typeface="SimSun" panose="02010600030101010101" pitchFamily="2" charset="-122"/>
                <a:cs typeface="Times New Roman"/>
              </a:defRPr>
            </a:lvl1pPr>
          </a:lstStyle>
          <a:p>
            <a:pPr algn="l"/>
            <a:r>
              <a:rPr lang="en-US" altLang="zh-CN" sz="1412" kern="0" dirty="0">
                <a:latin typeface="Garamond" panose="02020404030301010803" pitchFamily="18" charset="0"/>
                <a:ea typeface="微软雅黑 Light" panose="020B0502040204020203" pitchFamily="34" charset="-122"/>
              </a:rPr>
              <a:t>3.</a:t>
            </a:r>
            <a:r>
              <a:rPr lang="zh-CN" altLang="en-US" sz="1412" kern="0" dirty="0">
                <a:latin typeface="Garamond" panose="02020404030301010803" pitchFamily="18" charset="0"/>
                <a:ea typeface="微软雅黑 Light" panose="020B0502040204020203" pitchFamily="34" charset="-122"/>
              </a:rPr>
              <a:t> 失业</a:t>
            </a:r>
            <a:endParaRPr lang="zh-CN" altLang="zh-CN" sz="1412" kern="0" dirty="0">
              <a:latin typeface="Garamond" panose="02020404030301010803" pitchFamily="18" charset="0"/>
              <a:ea typeface="微软雅黑 Light" panose="020B0502040204020203" pitchFamily="34" charset="-122"/>
            </a:endParaRPr>
          </a:p>
        </p:txBody>
      </p:sp>
      <p:pic>
        <p:nvPicPr>
          <p:cNvPr id="10" name="图片 9">
            <a:extLst>
              <a:ext uri="{FF2B5EF4-FFF2-40B4-BE49-F238E27FC236}">
                <a16:creationId xmlns:a16="http://schemas.microsoft.com/office/drawing/2014/main" id="{0CD36B2B-C26C-3319-091F-B52022A999BE}"/>
              </a:ext>
            </a:extLst>
          </p:cNvPr>
          <p:cNvPicPr>
            <a:picLocks noChangeAspect="1"/>
          </p:cNvPicPr>
          <p:nvPr/>
        </p:nvPicPr>
        <p:blipFill rotWithShape="1">
          <a:blip r:embed="rId2"/>
          <a:srcRect l="28216" r="1217" b="1"/>
          <a:stretch/>
        </p:blipFill>
        <p:spPr>
          <a:xfrm>
            <a:off x="2500293" y="831790"/>
            <a:ext cx="2119266" cy="1261343"/>
          </a:xfrm>
          <a:custGeom>
            <a:avLst/>
            <a:gdLst>
              <a:gd name="connsiteX0" fmla="*/ 1159248 w 5604670"/>
              <a:gd name="connsiteY0" fmla="*/ 0 h 2501837"/>
              <a:gd name="connsiteX1" fmla="*/ 5604670 w 5604670"/>
              <a:gd name="connsiteY1" fmla="*/ 0 h 2501837"/>
              <a:gd name="connsiteX2" fmla="*/ 5604670 w 5604670"/>
              <a:gd name="connsiteY2" fmla="*/ 2501837 h 2501837"/>
              <a:gd name="connsiteX3" fmla="*/ 0 w 5604670"/>
              <a:gd name="connsiteY3" fmla="*/ 2501837 h 2501837"/>
            </a:gdLst>
            <a:ahLst/>
            <a:cxnLst>
              <a:cxn ang="0">
                <a:pos x="connsiteX0" y="connsiteY0"/>
              </a:cxn>
              <a:cxn ang="0">
                <a:pos x="connsiteX1" y="connsiteY1"/>
              </a:cxn>
              <a:cxn ang="0">
                <a:pos x="connsiteX2" y="connsiteY2"/>
              </a:cxn>
              <a:cxn ang="0">
                <a:pos x="connsiteX3" y="connsiteY3"/>
              </a:cxn>
            </a:cxnLst>
            <a:rect l="l" t="t" r="r" b="b"/>
            <a:pathLst>
              <a:path w="5604670" h="2501837">
                <a:moveTo>
                  <a:pt x="1159248" y="0"/>
                </a:moveTo>
                <a:lnTo>
                  <a:pt x="5604670" y="0"/>
                </a:lnTo>
                <a:lnTo>
                  <a:pt x="5604670" y="2501837"/>
                </a:lnTo>
                <a:lnTo>
                  <a:pt x="0" y="2501837"/>
                </a:lnTo>
                <a:close/>
              </a:path>
            </a:pathLst>
          </a:custGeom>
        </p:spPr>
      </p:pic>
      <p:pic>
        <p:nvPicPr>
          <p:cNvPr id="11" name="图片 10">
            <a:extLst>
              <a:ext uri="{FF2B5EF4-FFF2-40B4-BE49-F238E27FC236}">
                <a16:creationId xmlns:a16="http://schemas.microsoft.com/office/drawing/2014/main" id="{BACE9427-36D2-0B4D-0D15-AA8BA71A008B}"/>
              </a:ext>
            </a:extLst>
          </p:cNvPr>
          <p:cNvPicPr>
            <a:picLocks noChangeAspect="1"/>
          </p:cNvPicPr>
          <p:nvPr/>
        </p:nvPicPr>
        <p:blipFill rotWithShape="1">
          <a:blip r:embed="rId3"/>
          <a:srcRect t="4050" r="2" b="27685"/>
          <a:stretch/>
        </p:blipFill>
        <p:spPr>
          <a:xfrm>
            <a:off x="1821084" y="2176114"/>
            <a:ext cx="2798475" cy="1260862"/>
          </a:xfrm>
          <a:custGeom>
            <a:avLst/>
            <a:gdLst>
              <a:gd name="connsiteX0" fmla="*/ 1717230 w 7400925"/>
              <a:gd name="connsiteY0" fmla="*/ 0 h 2500884"/>
              <a:gd name="connsiteX1" fmla="*/ 7400925 w 7400925"/>
              <a:gd name="connsiteY1" fmla="*/ 0 h 2500884"/>
              <a:gd name="connsiteX2" fmla="*/ 7400925 w 7400925"/>
              <a:gd name="connsiteY2" fmla="*/ 2500884 h 2500884"/>
              <a:gd name="connsiteX3" fmla="*/ 0 w 7400925"/>
              <a:gd name="connsiteY3" fmla="*/ 2500884 h 2500884"/>
              <a:gd name="connsiteX4" fmla="*/ 0 w 7400925"/>
              <a:gd name="connsiteY4" fmla="*/ 2500883 h 2500884"/>
              <a:gd name="connsiteX5" fmla="*/ 552186 w 7400925"/>
              <a:gd name="connsiteY5" fmla="*/ 2500883 h 2500884"/>
              <a:gd name="connsiteX6" fmla="*/ 558423 w 7400925"/>
              <a:gd name="connsiteY6" fmla="*/ 2500883 h 2500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00925" h="2500884">
                <a:moveTo>
                  <a:pt x="1717230" y="0"/>
                </a:moveTo>
                <a:lnTo>
                  <a:pt x="7400925" y="0"/>
                </a:lnTo>
                <a:lnTo>
                  <a:pt x="7400925" y="2500884"/>
                </a:lnTo>
                <a:lnTo>
                  <a:pt x="0" y="2500884"/>
                </a:lnTo>
                <a:lnTo>
                  <a:pt x="0" y="2500883"/>
                </a:lnTo>
                <a:lnTo>
                  <a:pt x="552186" y="2500883"/>
                </a:lnTo>
                <a:lnTo>
                  <a:pt x="558423" y="2500883"/>
                </a:lnTo>
                <a:close/>
              </a:path>
            </a:pathLst>
          </a:custGeom>
        </p:spPr>
      </p:pic>
      <p:sp>
        <p:nvSpPr>
          <p:cNvPr id="12" name="标题 1">
            <a:extLst>
              <a:ext uri="{FF2B5EF4-FFF2-40B4-BE49-F238E27FC236}">
                <a16:creationId xmlns:a16="http://schemas.microsoft.com/office/drawing/2014/main" id="{94681267-7DA0-67DB-F49C-6E359FF786F2}"/>
              </a:ext>
            </a:extLst>
          </p:cNvPr>
          <p:cNvSpPr>
            <a:spLocks noGrp="1"/>
          </p:cNvSpPr>
          <p:nvPr>
            <p:ph type="title"/>
          </p:nvPr>
        </p:nvSpPr>
        <p:spPr>
          <a:xfrm>
            <a:off x="139504" y="2339953"/>
            <a:ext cx="1805506" cy="203721"/>
          </a:xfrm>
        </p:spPr>
        <p:txBody>
          <a:bodyPr>
            <a:normAutofit/>
          </a:bodyPr>
          <a:lstStyle/>
          <a:p>
            <a:pPr algn="ctr"/>
            <a:r>
              <a:rPr lang="zh-CN" altLang="en-US" b="1" dirty="0">
                <a:solidFill>
                  <a:schemeClr val="bg1">
                    <a:lumMod val="50000"/>
                  </a:schemeClr>
                </a:solidFill>
              </a:rPr>
              <a:t>电影：</a:t>
            </a:r>
            <a:r>
              <a:rPr lang="en-US" altLang="zh-CN" b="1" dirty="0">
                <a:solidFill>
                  <a:schemeClr val="bg1">
                    <a:lumMod val="50000"/>
                  </a:schemeClr>
                </a:solidFill>
              </a:rPr>
              <a:t>《</a:t>
            </a:r>
            <a:r>
              <a:rPr lang="zh-CN" altLang="en-US" b="1" dirty="0">
                <a:solidFill>
                  <a:schemeClr val="bg1">
                    <a:lumMod val="50000"/>
                  </a:schemeClr>
                </a:solidFill>
              </a:rPr>
              <a:t>当幸福来敲门</a:t>
            </a:r>
            <a:r>
              <a:rPr lang="en-US" altLang="zh-CN" b="1" dirty="0">
                <a:solidFill>
                  <a:schemeClr val="bg1">
                    <a:lumMod val="50000"/>
                  </a:schemeClr>
                </a:solidFill>
              </a:rPr>
              <a:t>》</a:t>
            </a:r>
            <a:endParaRPr lang="zh-CN" altLang="en-US" b="1" dirty="0">
              <a:solidFill>
                <a:schemeClr val="bg1">
                  <a:lumMod val="50000"/>
                </a:schemeClr>
              </a:solidFill>
            </a:endParaRPr>
          </a:p>
        </p:txBody>
      </p:sp>
      <p:sp>
        <p:nvSpPr>
          <p:cNvPr id="13" name="内容占位符 2">
            <a:extLst>
              <a:ext uri="{FF2B5EF4-FFF2-40B4-BE49-F238E27FC236}">
                <a16:creationId xmlns:a16="http://schemas.microsoft.com/office/drawing/2014/main" id="{9DA9C739-2383-39BF-569E-1075F25B7BAA}"/>
              </a:ext>
            </a:extLst>
          </p:cNvPr>
          <p:cNvSpPr txBox="1">
            <a:spLocks/>
          </p:cNvSpPr>
          <p:nvPr/>
        </p:nvSpPr>
        <p:spPr>
          <a:xfrm>
            <a:off x="72802" y="2472288"/>
            <a:ext cx="1921901" cy="346651"/>
          </a:xfrm>
          <a:prstGeom prst="rect">
            <a:avLst/>
          </a:prstGeom>
        </p:spPr>
        <p:txBody>
          <a:bodyPr wrap="square" lIns="0" tIns="0" rIns="0" bIns="0" anchor="ctr">
            <a:normAutofit fontScale="70000" lnSpcReduction="20000"/>
          </a:bodyPr>
          <a:lstStyle>
            <a:lvl1pPr marL="0" eaLnBrk="1" hangingPunct="1">
              <a:defRPr sz="1000" b="0" i="0">
                <a:solidFill>
                  <a:schemeClr val="tx1"/>
                </a:solidFill>
                <a:latin typeface="Garamond" panose="02020404030301010803" pitchFamily="18" charset="0"/>
                <a:ea typeface="SimSun" panose="02010600030101010101" pitchFamily="2" charset="-122"/>
                <a:cs typeface="Times New Roman"/>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algn="ctr"/>
            <a:r>
              <a:rPr lang="en-US" altLang="zh-CN" sz="2017" kern="0" dirty="0">
                <a:solidFill>
                  <a:schemeClr val="bg1">
                    <a:lumMod val="50000"/>
                  </a:schemeClr>
                </a:solidFill>
              </a:rPr>
              <a:t>The Pursuit of </a:t>
            </a:r>
            <a:r>
              <a:rPr lang="en-US" altLang="zh-CN" sz="2017" kern="0" dirty="0" err="1">
                <a:solidFill>
                  <a:schemeClr val="bg1">
                    <a:lumMod val="50000"/>
                  </a:schemeClr>
                </a:solidFill>
              </a:rPr>
              <a:t>Happyness</a:t>
            </a:r>
            <a:endParaRPr lang="en-US" altLang="zh-CN" sz="2017" kern="0" dirty="0">
              <a:solidFill>
                <a:schemeClr val="bg1">
                  <a:lumMod val="50000"/>
                </a:schemeClr>
              </a:solidFill>
            </a:endParaRPr>
          </a:p>
        </p:txBody>
      </p:sp>
    </p:spTree>
    <p:extLst>
      <p:ext uri="{BB962C8B-B14F-4D97-AF65-F5344CB8AC3E}">
        <p14:creationId xmlns:p14="http://schemas.microsoft.com/office/powerpoint/2010/main" val="1066978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arn(inVertical)">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13">
                                            <p:txEl>
                                              <p:pRg st="0" end="0"/>
                                            </p:txEl>
                                          </p:spTgt>
                                        </p:tgtEl>
                                        <p:attrNameLst>
                                          <p:attrName>style.visibility</p:attrName>
                                        </p:attrNameLst>
                                      </p:cBhvr>
                                      <p:to>
                                        <p:strVal val="visible"/>
                                      </p:to>
                                    </p:set>
                                    <p:animEffect transition="in" filter="barn(inVertical)">
                                      <p:cBhvr>
                                        <p:cTn id="18"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EC9C5045-BC86-64B9-C9E9-4321121F2017}"/>
              </a:ext>
            </a:extLst>
          </p:cNvPr>
          <p:cNvSpPr>
            <a:spLocks noGrp="1"/>
          </p:cNvSpPr>
          <p:nvPr>
            <p:ph type="sldNum" sz="quarter" idx="11"/>
          </p:nvPr>
        </p:nvSpPr>
        <p:spPr/>
        <p:txBody>
          <a:bodyPr/>
          <a:lstStyle/>
          <a:p>
            <a:pPr defTabSz="461040" fontAlgn="base">
              <a:spcBef>
                <a:spcPct val="0"/>
              </a:spcBef>
              <a:spcAft>
                <a:spcPct val="0"/>
              </a:spcAft>
            </a:pPr>
            <a:fld id="{E4BF3FFE-FF3E-0840-8B1D-41A780A74E14}" type="slidenum">
              <a:rPr lang="zh-CN" altLang="zh-CN">
                <a:latin typeface="Arial" panose="020B0604020202020204" pitchFamily="34" charset="0"/>
              </a:rPr>
              <a:pPr defTabSz="461040" fontAlgn="base">
                <a:spcBef>
                  <a:spcPct val="0"/>
                </a:spcBef>
                <a:spcAft>
                  <a:spcPct val="0"/>
                </a:spcAft>
              </a:pPr>
              <a:t>27</a:t>
            </a:fld>
            <a:endParaRPr lang="en-US" altLang="zh-CN">
              <a:latin typeface="Arial" panose="020B0604020202020204" pitchFamily="34" charset="0"/>
            </a:endParaRPr>
          </a:p>
        </p:txBody>
      </p:sp>
      <p:sp>
        <p:nvSpPr>
          <p:cNvPr id="12290" name="Rectangle 6">
            <a:extLst>
              <a:ext uri="{FF2B5EF4-FFF2-40B4-BE49-F238E27FC236}">
                <a16:creationId xmlns:a16="http://schemas.microsoft.com/office/drawing/2014/main" id="{92C0FAA6-9DD5-89D1-FD4B-7D243CAB1596}"/>
              </a:ext>
            </a:extLst>
          </p:cNvPr>
          <p:cNvSpPr>
            <a:spLocks noGrp="1" noChangeArrowheads="1"/>
          </p:cNvSpPr>
          <p:nvPr>
            <p:ph type="title" idx="4294967295"/>
          </p:nvPr>
        </p:nvSpPr>
        <p:spPr/>
        <p:txBody>
          <a:bodyPr/>
          <a:lstStyle/>
          <a:p>
            <a:r>
              <a:rPr lang="zh-CN" altLang="zh-CN" sz="1815" dirty="0">
                <a:ea typeface="宋体" panose="02010600030101010101" pitchFamily="2" charset="-122"/>
              </a:rPr>
              <a:t>收入与支出</a:t>
            </a:r>
            <a:endParaRPr lang="zh-CN" altLang="en-US" sz="1815" dirty="0">
              <a:ea typeface="宋体" panose="02010600030101010101" pitchFamily="2" charset="-122"/>
            </a:endParaRPr>
          </a:p>
        </p:txBody>
      </p:sp>
      <p:sp>
        <p:nvSpPr>
          <p:cNvPr id="12291" name="Rectangle 7">
            <a:extLst>
              <a:ext uri="{FF2B5EF4-FFF2-40B4-BE49-F238E27FC236}">
                <a16:creationId xmlns:a16="http://schemas.microsoft.com/office/drawing/2014/main" id="{3AB4BC31-9E6A-49FE-39CC-D63B888918D7}"/>
              </a:ext>
            </a:extLst>
          </p:cNvPr>
          <p:cNvSpPr>
            <a:spLocks noGrp="1" noChangeArrowheads="1"/>
          </p:cNvSpPr>
          <p:nvPr>
            <p:ph type="body" idx="4294967295"/>
          </p:nvPr>
        </p:nvSpPr>
        <p:spPr>
          <a:xfrm>
            <a:off x="188086" y="509819"/>
            <a:ext cx="4191509" cy="1097300"/>
          </a:xfrm>
        </p:spPr>
        <p:txBody>
          <a:bodyPr/>
          <a:lstStyle/>
          <a:p>
            <a:r>
              <a:rPr lang="zh-CN" altLang="zh-CN" b="1">
                <a:solidFill>
                  <a:srgbClr val="CC0000"/>
                </a:solidFill>
                <a:ea typeface="宋体" panose="02010600030101010101" pitchFamily="2" charset="-122"/>
              </a:rPr>
              <a:t>国内生产总值 (GDP)</a:t>
            </a:r>
            <a:r>
              <a:rPr lang="zh-CN" altLang="zh-CN">
                <a:ea typeface="宋体" panose="02010600030101010101" pitchFamily="2" charset="-122"/>
              </a:rPr>
              <a:t> 衡量经济中所有人的总收入  </a:t>
            </a:r>
          </a:p>
          <a:p>
            <a:r>
              <a:rPr lang="zh-CN" altLang="zh-CN">
                <a:ea typeface="宋体" panose="02010600030101010101" pitchFamily="2" charset="-122"/>
              </a:rPr>
              <a:t>GDP也衡量用于经济中物品与劳务生产的总支出</a:t>
            </a:r>
          </a:p>
        </p:txBody>
      </p:sp>
      <p:sp>
        <p:nvSpPr>
          <p:cNvPr id="12292" name="Text Box 8">
            <a:extLst>
              <a:ext uri="{FF2B5EF4-FFF2-40B4-BE49-F238E27FC236}">
                <a16:creationId xmlns:a16="http://schemas.microsoft.com/office/drawing/2014/main" id="{5FFF500F-20FC-2ADE-F56A-836882D3F12E}"/>
              </a:ext>
            </a:extLst>
          </p:cNvPr>
          <p:cNvSpPr txBox="1">
            <a:spLocks noChangeArrowheads="1"/>
          </p:cNvSpPr>
          <p:nvPr/>
        </p:nvSpPr>
        <p:spPr bwMode="auto">
          <a:xfrm>
            <a:off x="456208" y="1735978"/>
            <a:ext cx="3627252" cy="1179737"/>
          </a:xfrm>
          <a:prstGeom prst="rect">
            <a:avLst/>
          </a:prstGeom>
          <a:gradFill rotWithShape="1">
            <a:gsLst>
              <a:gs pos="0">
                <a:srgbClr val="FFFFCC"/>
              </a:gs>
              <a:gs pos="50000">
                <a:srgbClr val="FFCC99"/>
              </a:gs>
              <a:gs pos="100000">
                <a:srgbClr val="FFFFCC"/>
              </a:gs>
            </a:gsLst>
            <a:lin ang="18900000" scaled="1"/>
          </a:gra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lnSpc>
                <a:spcPct val="120000"/>
              </a:lnSpc>
              <a:spcBef>
                <a:spcPct val="0"/>
              </a:spcBef>
              <a:spcAft>
                <a:spcPct val="0"/>
              </a:spcAft>
            </a:pPr>
            <a:r>
              <a:rPr lang="zh-CN" altLang="zh-CN" sz="1412">
                <a:solidFill>
                  <a:srgbClr val="000000"/>
                </a:solidFill>
                <a:ea typeface="宋体" panose="02010600030101010101" pitchFamily="2" charset="-122"/>
              </a:rPr>
              <a:t>对一个整体经济而言，</a:t>
            </a:r>
            <a:br>
              <a:rPr lang="zh-CN" altLang="en-US" sz="1412">
                <a:solidFill>
                  <a:srgbClr val="000000"/>
                </a:solidFill>
                <a:ea typeface="宋体" panose="02010600030101010101" pitchFamily="2" charset="-122"/>
              </a:rPr>
            </a:br>
            <a:r>
              <a:rPr lang="zh-CN" altLang="zh-CN" sz="1412" b="1">
                <a:solidFill>
                  <a:srgbClr val="FF3300"/>
                </a:solidFill>
                <a:ea typeface="宋体" panose="02010600030101010101" pitchFamily="2" charset="-122"/>
              </a:rPr>
              <a:t>收入等于支出</a:t>
            </a:r>
            <a:br>
              <a:rPr lang="zh-CN" altLang="en-US" sz="1412">
                <a:solidFill>
                  <a:srgbClr val="000000"/>
                </a:solidFill>
                <a:ea typeface="宋体" panose="02010600030101010101" pitchFamily="2" charset="-122"/>
              </a:rPr>
            </a:br>
            <a:r>
              <a:rPr lang="zh-CN" altLang="zh-CN" sz="1412">
                <a:solidFill>
                  <a:srgbClr val="000000"/>
                </a:solidFill>
                <a:ea typeface="宋体" panose="02010600030101010101" pitchFamily="2" charset="-122"/>
              </a:rPr>
              <a:t>因为某个买者的</a:t>
            </a:r>
            <a:r>
              <a:rPr lang="en-US" altLang="zh-CN" sz="1412">
                <a:solidFill>
                  <a:srgbClr val="000000"/>
                </a:solidFill>
                <a:ea typeface="宋体" panose="02010600030101010101" pitchFamily="2" charset="-122"/>
              </a:rPr>
              <a:t>1</a:t>
            </a:r>
            <a:r>
              <a:rPr lang="zh-CN" altLang="zh-CN" sz="1412">
                <a:solidFill>
                  <a:srgbClr val="000000"/>
                </a:solidFill>
                <a:ea typeface="宋体" panose="02010600030101010101" pitchFamily="2" charset="-122"/>
              </a:rPr>
              <a:t>美元支出正是某个卖者的</a:t>
            </a:r>
            <a:r>
              <a:rPr lang="en-US" altLang="zh-CN" sz="1412">
                <a:solidFill>
                  <a:srgbClr val="000000"/>
                </a:solidFill>
                <a:ea typeface="宋体" panose="02010600030101010101" pitchFamily="2" charset="-122"/>
              </a:rPr>
              <a:t>1</a:t>
            </a:r>
            <a:r>
              <a:rPr lang="zh-CN" altLang="zh-CN" sz="1412">
                <a:solidFill>
                  <a:srgbClr val="000000"/>
                </a:solidFill>
                <a:ea typeface="宋体" panose="02010600030101010101" pitchFamily="2" charset="-122"/>
              </a:rPr>
              <a:t>美元收入</a:t>
            </a:r>
            <a:endParaRPr lang="zh-CN" altLang="en-US" sz="1412">
              <a:solidFill>
                <a:srgbClr val="000000"/>
              </a:solidFill>
              <a:ea typeface="宋体" panose="02010600030101010101" pitchFamily="2" charset="-122"/>
            </a:endParaRPr>
          </a:p>
        </p:txBody>
      </p:sp>
      <p:sp>
        <p:nvSpPr>
          <p:cNvPr id="4" name="页脚占位符 1">
            <a:extLst>
              <a:ext uri="{FF2B5EF4-FFF2-40B4-BE49-F238E27FC236}">
                <a16:creationId xmlns:a16="http://schemas.microsoft.com/office/drawing/2014/main" id="{3EA9E974-DF20-3386-B4BD-D9A18F4C91BF}"/>
              </a:ext>
            </a:extLst>
          </p:cNvPr>
          <p:cNvSpPr>
            <a:spLocks noGrp="1"/>
          </p:cNvSpPr>
          <p:nvPr>
            <p:ph type="ftr" sz="quarter" idx="10"/>
          </p:nvPr>
        </p:nvSpPr>
        <p:spPr>
          <a:xfrm>
            <a:off x="144066" y="3226028"/>
            <a:ext cx="3698485" cy="185054"/>
          </a:xfrm>
        </p:spPr>
        <p:txBody>
          <a:bodyPr/>
          <a:lstStyle/>
          <a:p>
            <a:pPr defTabSz="461040" fontAlgn="base">
              <a:spcBef>
                <a:spcPct val="0"/>
              </a:spcBef>
              <a:spcAft>
                <a:spcPct val="0"/>
              </a:spcAft>
            </a:pPr>
            <a:r>
              <a:rPr lang="zh-CN" altLang="en-US" sz="908" dirty="0">
                <a:latin typeface="Arial" panose="020B0604020202020204" pitchFamily="34" charset="0"/>
              </a:rPr>
              <a:t>国内生产总值</a:t>
            </a:r>
            <a:endParaRPr lang="zh-CN" altLang="zh-CN" sz="908" dirty="0">
              <a:latin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2292"/>
                                        </p:tgtEl>
                                        <p:attrNameLst>
                                          <p:attrName>style.visibility</p:attrName>
                                        </p:attrNameLst>
                                      </p:cBhvr>
                                      <p:to>
                                        <p:strVal val="visible"/>
                                      </p:to>
                                    </p:set>
                                    <p:animEffect transition="in" filter="dissolve">
                                      <p:cBhvr>
                                        <p:cTn id="7" dur="500"/>
                                        <p:tgtEl>
                                          <p:spTgt spid="12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3C6E49A8-7026-3A47-555E-4EC74BFDE913}"/>
              </a:ext>
            </a:extLst>
          </p:cNvPr>
          <p:cNvSpPr>
            <a:spLocks noGrp="1"/>
          </p:cNvSpPr>
          <p:nvPr>
            <p:ph type="sldNum" sz="quarter" idx="11"/>
          </p:nvPr>
        </p:nvSpPr>
        <p:spPr/>
        <p:txBody>
          <a:bodyPr/>
          <a:lstStyle/>
          <a:p>
            <a:fld id="{8FC9ECCE-9A67-6F4D-96F4-AF59AF685F27}" type="slidenum">
              <a:rPr lang="zh-CN" altLang="zh-CN" smtClean="0"/>
              <a:pPr/>
              <a:t>28</a:t>
            </a:fld>
            <a:endParaRPr lang="en-US" altLang="zh-CN"/>
          </a:p>
        </p:txBody>
      </p:sp>
      <p:sp>
        <p:nvSpPr>
          <p:cNvPr id="5" name="文本框 4">
            <a:extLst>
              <a:ext uri="{FF2B5EF4-FFF2-40B4-BE49-F238E27FC236}">
                <a16:creationId xmlns:a16="http://schemas.microsoft.com/office/drawing/2014/main" id="{9FBA0CCC-E487-764E-5634-BCC2D401023C}"/>
              </a:ext>
            </a:extLst>
          </p:cNvPr>
          <p:cNvSpPr txBox="1"/>
          <p:nvPr/>
        </p:nvSpPr>
        <p:spPr>
          <a:xfrm>
            <a:off x="216818" y="578247"/>
            <a:ext cx="4176464" cy="1169551"/>
          </a:xfrm>
          <a:prstGeom prst="rect">
            <a:avLst/>
          </a:prstGeom>
          <a:noFill/>
        </p:spPr>
        <p:txBody>
          <a:bodyPr wrap="square">
            <a:spAutoFit/>
          </a:bodyPr>
          <a:lstStyle/>
          <a:p>
            <a:pPr algn="just"/>
            <a:r>
              <a:rPr lang="en-US" altLang="zh-CN" sz="1400" kern="100" dirty="0">
                <a:effectLst/>
                <a:latin typeface="Garamond" panose="02020404030301010803" pitchFamily="18" charset="0"/>
                <a:ea typeface="SimSun" panose="02010600030101010101" pitchFamily="2" charset="-122"/>
                <a:cs typeface="Times New Roman" panose="02020603050405020304" pitchFamily="18" charset="0"/>
              </a:rPr>
              <a:t> </a:t>
            </a:r>
            <a:endParaRPr lang="zh-CN" altLang="zh-CN" sz="1400" kern="100" dirty="0">
              <a:effectLst/>
              <a:latin typeface="Garamond" panose="02020404030301010803" pitchFamily="18" charset="0"/>
              <a:ea typeface="SimSun" panose="02010600030101010101" pitchFamily="2" charset="-122"/>
              <a:cs typeface="Times New Roman" panose="02020603050405020304" pitchFamily="18" charset="0"/>
            </a:endParaRPr>
          </a:p>
          <a:p>
            <a:pPr algn="just"/>
            <a:r>
              <a:rPr lang="zh-CN" altLang="zh-CN" sz="1400" kern="100" dirty="0">
                <a:effectLst/>
                <a:latin typeface="Garamond" panose="02020404030301010803" pitchFamily="18" charset="0"/>
                <a:ea typeface="SimSun" panose="02010600030101010101" pitchFamily="2" charset="-122"/>
                <a:cs typeface="Times New Roman" panose="02020603050405020304" pitchFamily="18" charset="0"/>
              </a:rPr>
              <a:t>一千零一夜 第</a:t>
            </a:r>
            <a:r>
              <a:rPr lang="en-US" altLang="zh-CN" sz="1400" kern="100" dirty="0">
                <a:effectLst/>
                <a:latin typeface="Garamond" panose="02020404030301010803" pitchFamily="18" charset="0"/>
                <a:ea typeface="SimSun" panose="02010600030101010101" pitchFamily="2" charset="-122"/>
                <a:cs typeface="Times New Roman" panose="02020603050405020304" pitchFamily="18" charset="0"/>
              </a:rPr>
              <a:t>10</a:t>
            </a:r>
            <a:r>
              <a:rPr lang="zh-CN" altLang="zh-CN" sz="1400" kern="100" dirty="0">
                <a:effectLst/>
                <a:latin typeface="Garamond" panose="02020404030301010803" pitchFamily="18" charset="0"/>
                <a:ea typeface="SimSun" panose="02010600030101010101" pitchFamily="2" charset="-122"/>
                <a:cs typeface="Times New Roman" panose="02020603050405020304" pitchFamily="18" charset="0"/>
              </a:rPr>
              <a:t>集《小镇传奇》</a:t>
            </a:r>
          </a:p>
          <a:p>
            <a:pPr algn="just"/>
            <a:r>
              <a:rPr lang="zh-CN" altLang="zh-CN" sz="1400" kern="100" dirty="0">
                <a:effectLst/>
                <a:latin typeface="Garamond" panose="02020404030301010803" pitchFamily="18" charset="0"/>
                <a:ea typeface="SimSun" panose="02010600030101010101" pitchFamily="2" charset="-122"/>
                <a:cs typeface="Times New Roman" panose="02020603050405020304" pitchFamily="18" charset="0"/>
              </a:rPr>
              <a:t>【【</a:t>
            </a:r>
            <a:r>
              <a:rPr lang="en-US" altLang="zh-CN" sz="1400" kern="100" dirty="0">
                <a:effectLst/>
                <a:latin typeface="Garamond" panose="02020404030301010803" pitchFamily="18" charset="0"/>
                <a:ea typeface="SimSun" panose="02010600030101010101" pitchFamily="2" charset="-122"/>
                <a:cs typeface="Times New Roman" panose="02020603050405020304" pitchFamily="18" charset="0"/>
              </a:rPr>
              <a:t>720P</a:t>
            </a:r>
            <a:r>
              <a:rPr lang="zh-CN" altLang="zh-CN" sz="1400" kern="100" dirty="0">
                <a:effectLst/>
                <a:latin typeface="Garamond" panose="02020404030301010803" pitchFamily="18" charset="0"/>
                <a:ea typeface="SimSun" panose="02010600030101010101" pitchFamily="2" charset="-122"/>
                <a:cs typeface="Times New Roman" panose="02020603050405020304" pitchFamily="18" charset="0"/>
              </a:rPr>
              <a:t>】一千零一夜</a:t>
            </a:r>
            <a:r>
              <a:rPr lang="en-US" altLang="zh-CN" sz="1400" kern="100" dirty="0">
                <a:effectLst/>
                <a:latin typeface="Garamond" panose="02020404030301010803" pitchFamily="18" charset="0"/>
                <a:ea typeface="SimSun" panose="02010600030101010101" pitchFamily="2" charset="-122"/>
                <a:cs typeface="Times New Roman" panose="02020603050405020304" pitchFamily="18" charset="0"/>
              </a:rPr>
              <a:t> 01—50</a:t>
            </a:r>
            <a:r>
              <a:rPr lang="zh-CN" altLang="zh-CN" sz="1400" kern="100" dirty="0">
                <a:effectLst/>
                <a:latin typeface="Garamond" panose="02020404030301010803" pitchFamily="18" charset="0"/>
                <a:ea typeface="SimSun" panose="02010600030101010101" pitchFamily="2" charset="-122"/>
                <a:cs typeface="Times New Roman" panose="02020603050405020304" pitchFamily="18" charset="0"/>
              </a:rPr>
              <a:t>【国语】</a:t>
            </a:r>
            <a:r>
              <a:rPr lang="en-US" altLang="zh-CN" sz="1400" kern="100" dirty="0">
                <a:effectLst/>
                <a:latin typeface="Garamond" panose="02020404030301010803" pitchFamily="18" charset="0"/>
                <a:ea typeface="SimSun" panose="02010600030101010101" pitchFamily="2" charset="-122"/>
                <a:cs typeface="Times New Roman" panose="02020603050405020304" pitchFamily="18" charset="0"/>
              </a:rPr>
              <a:t>-</a:t>
            </a:r>
            <a:r>
              <a:rPr lang="zh-CN" altLang="zh-CN" sz="1400" kern="100" dirty="0">
                <a:effectLst/>
                <a:latin typeface="Garamond" panose="02020404030301010803" pitchFamily="18" charset="0"/>
                <a:ea typeface="SimSun" panose="02010600030101010101" pitchFamily="2" charset="-122"/>
                <a:cs typeface="Times New Roman" panose="02020603050405020304" pitchFamily="18" charset="0"/>
              </a:rPr>
              <a:t>哔哩哔哩】 </a:t>
            </a:r>
            <a:r>
              <a:rPr lang="en-US" altLang="zh-CN" sz="1400" u="sng" kern="100" dirty="0">
                <a:solidFill>
                  <a:srgbClr val="467886"/>
                </a:solidFill>
                <a:effectLst/>
                <a:latin typeface="Garamond" panose="02020404030301010803" pitchFamily="18" charset="0"/>
                <a:ea typeface="SimSun" panose="02010600030101010101" pitchFamily="2" charset="-122"/>
                <a:cs typeface="Times New Roman" panose="02020603050405020304" pitchFamily="18" charset="0"/>
                <a:hlinkClick r:id="rId2"/>
              </a:rPr>
              <a:t>https://b23.tv/qQ4EvcK</a:t>
            </a:r>
            <a:endParaRPr lang="zh-CN" altLang="zh-CN" sz="1400" kern="100" dirty="0">
              <a:effectLst/>
              <a:latin typeface="Garamond" panose="02020404030301010803" pitchFamily="18" charset="0"/>
              <a:ea typeface="SimSun" panose="02010600030101010101" pitchFamily="2" charset="-122"/>
              <a:cs typeface="Times New Roman" panose="02020603050405020304" pitchFamily="18" charset="0"/>
            </a:endParaRPr>
          </a:p>
          <a:p>
            <a:pPr algn="just"/>
            <a:r>
              <a:rPr lang="en-US" altLang="zh-CN" sz="1400" kern="100" dirty="0">
                <a:effectLst/>
                <a:latin typeface="Garamond" panose="02020404030301010803" pitchFamily="18" charset="0"/>
                <a:ea typeface="SimSun" panose="02010600030101010101" pitchFamily="2" charset="-122"/>
                <a:cs typeface="Times New Roman" panose="02020603050405020304" pitchFamily="18" charset="0"/>
              </a:rPr>
              <a:t> </a:t>
            </a:r>
            <a:endParaRPr lang="zh-CN" altLang="zh-CN" sz="1400" kern="100" dirty="0">
              <a:effectLst/>
              <a:latin typeface="Garamond" panose="02020404030301010803" pitchFamily="18" charset="0"/>
              <a:ea typeface="SimSun" panose="02010600030101010101" pitchFamily="2" charset="-122"/>
              <a:cs typeface="Times New Roman" panose="02020603050405020304" pitchFamily="18" charset="0"/>
            </a:endParaRPr>
          </a:p>
        </p:txBody>
      </p:sp>
      <p:sp>
        <p:nvSpPr>
          <p:cNvPr id="6" name="Rectangle 6">
            <a:extLst>
              <a:ext uri="{FF2B5EF4-FFF2-40B4-BE49-F238E27FC236}">
                <a16:creationId xmlns:a16="http://schemas.microsoft.com/office/drawing/2014/main" id="{9F781722-A22F-82B3-E3CB-DE13D0187693}"/>
              </a:ext>
            </a:extLst>
          </p:cNvPr>
          <p:cNvSpPr txBox="1">
            <a:spLocks noChangeArrowheads="1"/>
          </p:cNvSpPr>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a:lstStyle>
          <a:p>
            <a:r>
              <a:rPr lang="en-US" altLang="zh-CN" sz="1815" dirty="0">
                <a:ea typeface="宋体" panose="02010600030101010101" pitchFamily="2" charset="-122"/>
              </a:rPr>
              <a:t>GDP</a:t>
            </a:r>
            <a:r>
              <a:rPr lang="zh-CN" altLang="en-US" sz="1815" dirty="0">
                <a:ea typeface="宋体" panose="02010600030101010101" pitchFamily="2" charset="-122"/>
              </a:rPr>
              <a:t>的循环</a:t>
            </a:r>
          </a:p>
        </p:txBody>
      </p:sp>
      <p:sp>
        <p:nvSpPr>
          <p:cNvPr id="8" name="文本框 7">
            <a:extLst>
              <a:ext uri="{FF2B5EF4-FFF2-40B4-BE49-F238E27FC236}">
                <a16:creationId xmlns:a16="http://schemas.microsoft.com/office/drawing/2014/main" id="{4F98050D-0495-6042-1B6E-6B87D2E078C8}"/>
              </a:ext>
            </a:extLst>
          </p:cNvPr>
          <p:cNvSpPr txBox="1"/>
          <p:nvPr/>
        </p:nvSpPr>
        <p:spPr>
          <a:xfrm>
            <a:off x="221476" y="2162775"/>
            <a:ext cx="4099798" cy="338554"/>
          </a:xfrm>
          <a:prstGeom prst="rect">
            <a:avLst/>
          </a:prstGeom>
          <a:noFill/>
        </p:spPr>
        <p:txBody>
          <a:bodyPr wrap="square">
            <a:spAutoFit/>
          </a:bodyPr>
          <a:lstStyle/>
          <a:p>
            <a:pPr algn="just"/>
            <a:r>
              <a:rPr lang="zh-CN" altLang="zh-CN" sz="1600" kern="100" dirty="0">
                <a:effectLst/>
                <a:latin typeface="DengXian" panose="02010600030101010101" pitchFamily="2" charset="-122"/>
                <a:ea typeface="宋体" panose="02010600030101010101" pitchFamily="2" charset="-122"/>
                <a:cs typeface="Times New Roman" panose="02020603050405020304" pitchFamily="18" charset="0"/>
              </a:rPr>
              <a:t>钱为什么要散出去才能造福社会？</a:t>
            </a:r>
            <a:endParaRPr lang="zh-CN" altLang="zh-CN" sz="16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88455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D1B59CE-B624-DEBA-3E1C-2611BF35B1C0}"/>
              </a:ext>
            </a:extLst>
          </p:cNvPr>
          <p:cNvSpPr>
            <a:spLocks noGrp="1"/>
          </p:cNvSpPr>
          <p:nvPr>
            <p:ph type="sldNum" sz="quarter" idx="11"/>
          </p:nvPr>
        </p:nvSpPr>
        <p:spPr/>
        <p:txBody>
          <a:bodyPr/>
          <a:lstStyle/>
          <a:p>
            <a:fld id="{8FC9ECCE-9A67-6F4D-96F4-AF59AF685F27}" type="slidenum">
              <a:rPr lang="zh-CN" altLang="zh-CN" smtClean="0"/>
              <a:pPr/>
              <a:t>29</a:t>
            </a:fld>
            <a:endParaRPr lang="en-US" altLang="zh-CN"/>
          </a:p>
        </p:txBody>
      </p:sp>
      <p:sp>
        <p:nvSpPr>
          <p:cNvPr id="5" name="Rectangle 6">
            <a:extLst>
              <a:ext uri="{FF2B5EF4-FFF2-40B4-BE49-F238E27FC236}">
                <a16:creationId xmlns:a16="http://schemas.microsoft.com/office/drawing/2014/main" id="{6B64F532-9C7F-6DF9-DFBE-FA0968A60A2D}"/>
              </a:ext>
            </a:extLst>
          </p:cNvPr>
          <p:cNvSpPr txBox="1">
            <a:spLocks noChangeArrowheads="1"/>
          </p:cNvSpPr>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a:lstStyle>
          <a:p>
            <a:r>
              <a:rPr lang="zh-CN" altLang="zh-CN" sz="1815" dirty="0">
                <a:ea typeface="宋体" panose="02010600030101010101" pitchFamily="2" charset="-122"/>
              </a:rPr>
              <a:t>收入与支出</a:t>
            </a:r>
            <a:r>
              <a:rPr lang="zh-CN" altLang="en-US" sz="1815" dirty="0">
                <a:ea typeface="宋体" panose="02010600030101010101" pitchFamily="2" charset="-122"/>
              </a:rPr>
              <a:t>的循环</a:t>
            </a:r>
          </a:p>
        </p:txBody>
      </p:sp>
      <p:pic>
        <p:nvPicPr>
          <p:cNvPr id="8" name="图片 7">
            <a:extLst>
              <a:ext uri="{FF2B5EF4-FFF2-40B4-BE49-F238E27FC236}">
                <a16:creationId xmlns:a16="http://schemas.microsoft.com/office/drawing/2014/main" id="{5EA4F9BC-1669-252C-3BB2-472E10A7D699}"/>
              </a:ext>
            </a:extLst>
          </p:cNvPr>
          <p:cNvPicPr>
            <a:picLocks noChangeAspect="1"/>
          </p:cNvPicPr>
          <p:nvPr/>
        </p:nvPicPr>
        <p:blipFill>
          <a:blip r:embed="rId2"/>
          <a:stretch>
            <a:fillRect/>
          </a:stretch>
        </p:blipFill>
        <p:spPr>
          <a:xfrm>
            <a:off x="734117" y="667781"/>
            <a:ext cx="516516" cy="432048"/>
          </a:xfrm>
          <a:prstGeom prst="rect">
            <a:avLst/>
          </a:prstGeom>
        </p:spPr>
      </p:pic>
      <p:pic>
        <p:nvPicPr>
          <p:cNvPr id="9" name="图片 8">
            <a:extLst>
              <a:ext uri="{FF2B5EF4-FFF2-40B4-BE49-F238E27FC236}">
                <a16:creationId xmlns:a16="http://schemas.microsoft.com/office/drawing/2014/main" id="{047E77CC-61C9-A073-68CA-ED57788EF80D}"/>
              </a:ext>
            </a:extLst>
          </p:cNvPr>
          <p:cNvPicPr>
            <a:picLocks noChangeAspect="1"/>
          </p:cNvPicPr>
          <p:nvPr/>
        </p:nvPicPr>
        <p:blipFill>
          <a:blip r:embed="rId3"/>
          <a:stretch>
            <a:fillRect/>
          </a:stretch>
        </p:blipFill>
        <p:spPr>
          <a:xfrm>
            <a:off x="194057" y="374308"/>
            <a:ext cx="568251" cy="714459"/>
          </a:xfrm>
          <a:prstGeom prst="rect">
            <a:avLst/>
          </a:prstGeom>
        </p:spPr>
      </p:pic>
      <p:pic>
        <p:nvPicPr>
          <p:cNvPr id="7" name="图片 6">
            <a:extLst>
              <a:ext uri="{FF2B5EF4-FFF2-40B4-BE49-F238E27FC236}">
                <a16:creationId xmlns:a16="http://schemas.microsoft.com/office/drawing/2014/main" id="{715173BD-0388-8749-5345-B1ADD4FBF04A}"/>
              </a:ext>
            </a:extLst>
          </p:cNvPr>
          <p:cNvPicPr>
            <a:picLocks noChangeAspect="1"/>
          </p:cNvPicPr>
          <p:nvPr/>
        </p:nvPicPr>
        <p:blipFill>
          <a:blip r:embed="rId4"/>
          <a:stretch>
            <a:fillRect/>
          </a:stretch>
        </p:blipFill>
        <p:spPr>
          <a:xfrm>
            <a:off x="91498" y="580696"/>
            <a:ext cx="264577" cy="432048"/>
          </a:xfrm>
          <a:prstGeom prst="rect">
            <a:avLst/>
          </a:prstGeom>
        </p:spPr>
      </p:pic>
      <p:sp>
        <p:nvSpPr>
          <p:cNvPr id="11" name="文本框 10">
            <a:extLst>
              <a:ext uri="{FF2B5EF4-FFF2-40B4-BE49-F238E27FC236}">
                <a16:creationId xmlns:a16="http://schemas.microsoft.com/office/drawing/2014/main" id="{15FEC81F-A220-3E8A-F9DF-2545F35701E4}"/>
              </a:ext>
            </a:extLst>
          </p:cNvPr>
          <p:cNvSpPr txBox="1"/>
          <p:nvPr/>
        </p:nvSpPr>
        <p:spPr>
          <a:xfrm>
            <a:off x="542416" y="1831123"/>
            <a:ext cx="720080" cy="276999"/>
          </a:xfrm>
          <a:prstGeom prst="rect">
            <a:avLst/>
          </a:prstGeom>
          <a:ln/>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kumimoji="1" lang="zh-CN" altLang="en-US" sz="1200" dirty="0">
                <a:solidFill>
                  <a:sysClr val="windowText" lastClr="000000"/>
                </a:solidFill>
                <a:latin typeface="SimSun" panose="02010600030101010101" pitchFamily="2" charset="-122"/>
                <a:ea typeface="SimSun" panose="02010600030101010101" pitchFamily="2" charset="-122"/>
              </a:rPr>
              <a:t>家庭</a:t>
            </a:r>
          </a:p>
        </p:txBody>
      </p:sp>
      <p:sp>
        <p:nvSpPr>
          <p:cNvPr id="12" name="文本框 11">
            <a:extLst>
              <a:ext uri="{FF2B5EF4-FFF2-40B4-BE49-F238E27FC236}">
                <a16:creationId xmlns:a16="http://schemas.microsoft.com/office/drawing/2014/main" id="{F7565E41-3C27-AE30-0B74-F839D6B6DBB8}"/>
              </a:ext>
            </a:extLst>
          </p:cNvPr>
          <p:cNvSpPr txBox="1"/>
          <p:nvPr/>
        </p:nvSpPr>
        <p:spPr>
          <a:xfrm>
            <a:off x="2978951" y="1831123"/>
            <a:ext cx="720080" cy="276999"/>
          </a:xfrm>
          <a:prstGeom prst="rect">
            <a:avLst/>
          </a:prstGeom>
          <a:ln/>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kumimoji="1" lang="zh-CN" altLang="en-US" sz="1200" dirty="0">
                <a:latin typeface="SimSun" panose="02010600030101010101" pitchFamily="2" charset="-122"/>
                <a:ea typeface="SimSun" panose="02010600030101010101" pitchFamily="2" charset="-122"/>
              </a:rPr>
              <a:t>企业</a:t>
            </a:r>
          </a:p>
        </p:txBody>
      </p:sp>
      <p:cxnSp>
        <p:nvCxnSpPr>
          <p:cNvPr id="14" name="曲线连接符 13">
            <a:extLst>
              <a:ext uri="{FF2B5EF4-FFF2-40B4-BE49-F238E27FC236}">
                <a16:creationId xmlns:a16="http://schemas.microsoft.com/office/drawing/2014/main" id="{4D0EC628-9D22-2219-7928-08EE1631CE59}"/>
              </a:ext>
            </a:extLst>
          </p:cNvPr>
          <p:cNvCxnSpPr>
            <a:cxnSpLocks/>
            <a:stCxn id="11" idx="2"/>
            <a:endCxn id="12" idx="2"/>
          </p:cNvCxnSpPr>
          <p:nvPr/>
        </p:nvCxnSpPr>
        <p:spPr>
          <a:xfrm rot="16200000" flipH="1">
            <a:off x="2120723" y="889854"/>
            <a:ext cx="12700" cy="2436535"/>
          </a:xfrm>
          <a:prstGeom prst="curvedConnector3">
            <a:avLst>
              <a:gd name="adj1" fmla="val 688237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曲线连接符 18">
            <a:extLst>
              <a:ext uri="{FF2B5EF4-FFF2-40B4-BE49-F238E27FC236}">
                <a16:creationId xmlns:a16="http://schemas.microsoft.com/office/drawing/2014/main" id="{8BE9DF37-740F-2DF2-4BFB-0B077932C4BB}"/>
              </a:ext>
            </a:extLst>
          </p:cNvPr>
          <p:cNvCxnSpPr>
            <a:cxnSpLocks/>
            <a:stCxn id="12" idx="0"/>
            <a:endCxn id="11" idx="0"/>
          </p:cNvCxnSpPr>
          <p:nvPr/>
        </p:nvCxnSpPr>
        <p:spPr>
          <a:xfrm rot="16200000" flipV="1">
            <a:off x="2120724" y="612855"/>
            <a:ext cx="12700" cy="2436535"/>
          </a:xfrm>
          <a:prstGeom prst="curvedConnector3">
            <a:avLst>
              <a:gd name="adj1" fmla="val 3865866"/>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5AC6A4C4-30F3-E0B6-17A3-BFF2A02E0FF9}"/>
              </a:ext>
            </a:extLst>
          </p:cNvPr>
          <p:cNvSpPr txBox="1"/>
          <p:nvPr/>
        </p:nvSpPr>
        <p:spPr>
          <a:xfrm>
            <a:off x="1404844" y="2749782"/>
            <a:ext cx="1469436" cy="400110"/>
          </a:xfrm>
          <a:prstGeom prst="rect">
            <a:avLst/>
          </a:prstGeom>
          <a:noFill/>
        </p:spPr>
        <p:txBody>
          <a:bodyPr wrap="square" rtlCol="0">
            <a:spAutoFit/>
          </a:bodyPr>
          <a:lstStyle/>
          <a:p>
            <a:pPr algn="ctr"/>
            <a:r>
              <a:rPr kumimoji="1" lang="zh-CN" altLang="en-US" sz="1000" dirty="0">
                <a:latin typeface="FangSong" panose="02010609060101010101" pitchFamily="49" charset="-122"/>
                <a:ea typeface="FangSong" panose="02010609060101010101" pitchFamily="49" charset="-122"/>
              </a:rPr>
              <a:t>土地、资本</a:t>
            </a:r>
            <a:endParaRPr kumimoji="1" lang="en-US" altLang="zh-CN" sz="1000" dirty="0">
              <a:latin typeface="FangSong" panose="02010609060101010101" pitchFamily="49" charset="-122"/>
              <a:ea typeface="FangSong" panose="02010609060101010101" pitchFamily="49" charset="-122"/>
            </a:endParaRPr>
          </a:p>
          <a:p>
            <a:pPr algn="ctr"/>
            <a:r>
              <a:rPr kumimoji="1" lang="zh-CN" altLang="en-US" sz="1000" dirty="0">
                <a:latin typeface="FangSong" panose="02010609060101010101" pitchFamily="49" charset="-122"/>
                <a:ea typeface="FangSong" panose="02010609060101010101" pitchFamily="49" charset="-122"/>
              </a:rPr>
              <a:t>劳动力、企业家精神</a:t>
            </a:r>
            <a:endParaRPr kumimoji="1" lang="en-US" altLang="zh-CN" sz="1000" dirty="0">
              <a:latin typeface="FangSong" panose="02010609060101010101" pitchFamily="49" charset="-122"/>
              <a:ea typeface="FangSong" panose="02010609060101010101" pitchFamily="49" charset="-122"/>
            </a:endParaRPr>
          </a:p>
        </p:txBody>
      </p:sp>
      <p:sp>
        <p:nvSpPr>
          <p:cNvPr id="28" name="文本框 27">
            <a:extLst>
              <a:ext uri="{FF2B5EF4-FFF2-40B4-BE49-F238E27FC236}">
                <a16:creationId xmlns:a16="http://schemas.microsoft.com/office/drawing/2014/main" id="{5C4E12C0-FFDE-2484-2176-02A72FE563AE}"/>
              </a:ext>
            </a:extLst>
          </p:cNvPr>
          <p:cNvSpPr txBox="1"/>
          <p:nvPr/>
        </p:nvSpPr>
        <p:spPr>
          <a:xfrm>
            <a:off x="1733507" y="2424408"/>
            <a:ext cx="971854" cy="400110"/>
          </a:xfrm>
          <a:prstGeom prst="rect">
            <a:avLst/>
          </a:prstGeom>
          <a:noFill/>
        </p:spPr>
        <p:txBody>
          <a:bodyPr wrap="square" rtlCol="0">
            <a:spAutoFit/>
          </a:bodyPr>
          <a:lstStyle/>
          <a:p>
            <a:r>
              <a:rPr kumimoji="1" lang="zh-CN" altLang="en-US" sz="1000" dirty="0">
                <a:solidFill>
                  <a:srgbClr val="C00000"/>
                </a:solidFill>
                <a:latin typeface="FangSong" panose="02010609060101010101" pitchFamily="49" charset="-122"/>
                <a:ea typeface="FangSong" panose="02010609060101010101" pitchFamily="49" charset="-122"/>
              </a:rPr>
              <a:t>租金、利息、</a:t>
            </a:r>
            <a:endParaRPr kumimoji="1" lang="en-US" altLang="zh-CN" sz="1000" dirty="0">
              <a:solidFill>
                <a:srgbClr val="C00000"/>
              </a:solidFill>
              <a:latin typeface="FangSong" panose="02010609060101010101" pitchFamily="49" charset="-122"/>
              <a:ea typeface="FangSong" panose="02010609060101010101" pitchFamily="49" charset="-122"/>
            </a:endParaRPr>
          </a:p>
          <a:p>
            <a:r>
              <a:rPr kumimoji="1" lang="zh-CN" altLang="en-US" sz="1000" dirty="0">
                <a:solidFill>
                  <a:srgbClr val="C00000"/>
                </a:solidFill>
                <a:latin typeface="FangSong" panose="02010609060101010101" pitchFamily="49" charset="-122"/>
                <a:ea typeface="FangSong" panose="02010609060101010101" pitchFamily="49" charset="-122"/>
              </a:rPr>
              <a:t>工资、利润</a:t>
            </a:r>
          </a:p>
        </p:txBody>
      </p:sp>
      <p:cxnSp>
        <p:nvCxnSpPr>
          <p:cNvPr id="34" name="曲线连接符 33">
            <a:extLst>
              <a:ext uri="{FF2B5EF4-FFF2-40B4-BE49-F238E27FC236}">
                <a16:creationId xmlns:a16="http://schemas.microsoft.com/office/drawing/2014/main" id="{C2B0620A-45F4-72C1-A62C-89F5254430ED}"/>
              </a:ext>
            </a:extLst>
          </p:cNvPr>
          <p:cNvCxnSpPr>
            <a:cxnSpLocks/>
          </p:cNvCxnSpPr>
          <p:nvPr/>
        </p:nvCxnSpPr>
        <p:spPr>
          <a:xfrm rot="16200000" flipH="1">
            <a:off x="2120724" y="605108"/>
            <a:ext cx="12700" cy="2436535"/>
          </a:xfrm>
          <a:prstGeom prst="curvedConnector3">
            <a:avLst>
              <a:gd name="adj1" fmla="val -7084189"/>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曲线连接符 35">
            <a:extLst>
              <a:ext uri="{FF2B5EF4-FFF2-40B4-BE49-F238E27FC236}">
                <a16:creationId xmlns:a16="http://schemas.microsoft.com/office/drawing/2014/main" id="{CA4748A1-3434-C866-99C8-EE096FC87F23}"/>
              </a:ext>
            </a:extLst>
          </p:cNvPr>
          <p:cNvCxnSpPr>
            <a:cxnSpLocks/>
          </p:cNvCxnSpPr>
          <p:nvPr/>
        </p:nvCxnSpPr>
        <p:spPr>
          <a:xfrm rot="16200000" flipV="1">
            <a:off x="2133212" y="916444"/>
            <a:ext cx="12700" cy="2436535"/>
          </a:xfrm>
          <a:prstGeom prst="curvedConnector3">
            <a:avLst>
              <a:gd name="adj1" fmla="val -3926362"/>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BDCDD90E-BEA8-214A-D7D2-2583AF02013E}"/>
              </a:ext>
            </a:extLst>
          </p:cNvPr>
          <p:cNvSpPr txBox="1"/>
          <p:nvPr/>
        </p:nvSpPr>
        <p:spPr>
          <a:xfrm>
            <a:off x="1770015" y="1324617"/>
            <a:ext cx="1196098" cy="246221"/>
          </a:xfrm>
          <a:prstGeom prst="rect">
            <a:avLst/>
          </a:prstGeom>
          <a:noFill/>
        </p:spPr>
        <p:txBody>
          <a:bodyPr wrap="square" rtlCol="0">
            <a:spAutoFit/>
          </a:bodyPr>
          <a:lstStyle/>
          <a:p>
            <a:r>
              <a:rPr kumimoji="1" lang="zh-CN" altLang="en-US" sz="1000" dirty="0">
                <a:latin typeface="FangSong" panose="02010609060101010101" pitchFamily="49" charset="-122"/>
                <a:ea typeface="FangSong" panose="02010609060101010101" pitchFamily="49" charset="-122"/>
              </a:rPr>
              <a:t>产品和服务</a:t>
            </a:r>
          </a:p>
        </p:txBody>
      </p:sp>
      <p:sp>
        <p:nvSpPr>
          <p:cNvPr id="43" name="文本框 42">
            <a:extLst>
              <a:ext uri="{FF2B5EF4-FFF2-40B4-BE49-F238E27FC236}">
                <a16:creationId xmlns:a16="http://schemas.microsoft.com/office/drawing/2014/main" id="{C3D23692-C0F6-DD35-3978-88241FBEDA5F}"/>
              </a:ext>
            </a:extLst>
          </p:cNvPr>
          <p:cNvSpPr txBox="1"/>
          <p:nvPr/>
        </p:nvSpPr>
        <p:spPr>
          <a:xfrm>
            <a:off x="1790693" y="909729"/>
            <a:ext cx="720080" cy="246221"/>
          </a:xfrm>
          <a:prstGeom prst="rect">
            <a:avLst/>
          </a:prstGeom>
          <a:noFill/>
        </p:spPr>
        <p:txBody>
          <a:bodyPr wrap="square" rtlCol="0">
            <a:spAutoFit/>
          </a:bodyPr>
          <a:lstStyle/>
          <a:p>
            <a:r>
              <a:rPr kumimoji="1" lang="zh-CN" altLang="en-US" sz="1000" dirty="0">
                <a:solidFill>
                  <a:srgbClr val="C00000"/>
                </a:solidFill>
                <a:latin typeface="FangSong" panose="02010609060101010101" pitchFamily="49" charset="-122"/>
                <a:ea typeface="FangSong" panose="02010609060101010101" pitchFamily="49" charset="-122"/>
              </a:rPr>
              <a:t>家庭支出</a:t>
            </a:r>
          </a:p>
        </p:txBody>
      </p:sp>
      <p:sp>
        <p:nvSpPr>
          <p:cNvPr id="44" name="Rectangle 6">
            <a:extLst>
              <a:ext uri="{FF2B5EF4-FFF2-40B4-BE49-F238E27FC236}">
                <a16:creationId xmlns:a16="http://schemas.microsoft.com/office/drawing/2014/main" id="{CD8673E8-8E30-CECD-BDDC-2AC96D4DB1E3}"/>
              </a:ext>
            </a:extLst>
          </p:cNvPr>
          <p:cNvSpPr txBox="1">
            <a:spLocks noChangeArrowheads="1"/>
          </p:cNvSpPr>
          <p:nvPr/>
        </p:nvSpPr>
        <p:spPr bwMode="auto">
          <a:xfrm>
            <a:off x="247153" y="3119594"/>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a:lstStyle>
          <a:p>
            <a:r>
              <a:rPr lang="zh-CN" altLang="en-US" sz="1050" dirty="0">
                <a:solidFill>
                  <a:srgbClr val="FF0000"/>
                </a:solidFill>
                <a:latin typeface="SimSun" panose="02010600030101010101" pitchFamily="2" charset="-122"/>
                <a:ea typeface="SimSun" panose="02010600030101010101" pitchFamily="2" charset="-122"/>
              </a:rPr>
              <a:t>如何衡量一个国家的生产总值？</a:t>
            </a:r>
          </a:p>
        </p:txBody>
      </p:sp>
      <p:grpSp>
        <p:nvGrpSpPr>
          <p:cNvPr id="61" name="组合 60">
            <a:extLst>
              <a:ext uri="{FF2B5EF4-FFF2-40B4-BE49-F238E27FC236}">
                <a16:creationId xmlns:a16="http://schemas.microsoft.com/office/drawing/2014/main" id="{E8A3871A-A40E-AD38-F1B7-13CC25678FA8}"/>
              </a:ext>
            </a:extLst>
          </p:cNvPr>
          <p:cNvGrpSpPr/>
          <p:nvPr/>
        </p:nvGrpSpPr>
        <p:grpSpPr>
          <a:xfrm>
            <a:off x="3126484" y="846240"/>
            <a:ext cx="1392118" cy="400110"/>
            <a:chOff x="3126484" y="846240"/>
            <a:chExt cx="1392118" cy="400110"/>
          </a:xfrm>
        </p:grpSpPr>
        <p:sp>
          <p:nvSpPr>
            <p:cNvPr id="48" name="椭圆形标注 47">
              <a:extLst>
                <a:ext uri="{FF2B5EF4-FFF2-40B4-BE49-F238E27FC236}">
                  <a16:creationId xmlns:a16="http://schemas.microsoft.com/office/drawing/2014/main" id="{0FBE0DDF-E22E-C89A-194F-125364B69AB3}"/>
                </a:ext>
              </a:extLst>
            </p:cNvPr>
            <p:cNvSpPr/>
            <p:nvPr/>
          </p:nvSpPr>
          <p:spPr>
            <a:xfrm>
              <a:off x="3180549" y="873999"/>
              <a:ext cx="1126299" cy="365212"/>
            </a:xfrm>
            <a:prstGeom prst="wedgeEllipseCallout">
              <a:avLst>
                <a:gd name="adj1" fmla="val -38974"/>
                <a:gd name="adj2" fmla="val 145742"/>
              </a:avLst>
            </a:prstGeom>
            <a:solidFill>
              <a:schemeClr val="bg1"/>
            </a:solidFill>
            <a:ln w="63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050" dirty="0">
                <a:solidFill>
                  <a:schemeClr val="tx1"/>
                </a:solidFill>
                <a:latin typeface="KaiTi" panose="02010609060101010101" pitchFamily="49" charset="-122"/>
                <a:ea typeface="KaiTi" panose="02010609060101010101" pitchFamily="49" charset="-122"/>
              </a:endParaRPr>
            </a:p>
          </p:txBody>
        </p:sp>
        <p:sp>
          <p:nvSpPr>
            <p:cNvPr id="50" name="文本框 49">
              <a:extLst>
                <a:ext uri="{FF2B5EF4-FFF2-40B4-BE49-F238E27FC236}">
                  <a16:creationId xmlns:a16="http://schemas.microsoft.com/office/drawing/2014/main" id="{0EFDF2DD-D3DA-C5DC-8CE1-558210871321}"/>
                </a:ext>
              </a:extLst>
            </p:cNvPr>
            <p:cNvSpPr txBox="1"/>
            <p:nvPr/>
          </p:nvSpPr>
          <p:spPr>
            <a:xfrm>
              <a:off x="3126484" y="846240"/>
              <a:ext cx="873835" cy="400110"/>
            </a:xfrm>
            <a:prstGeom prst="rect">
              <a:avLst/>
            </a:prstGeom>
            <a:noFill/>
          </p:spPr>
          <p:txBody>
            <a:bodyPr wrap="square">
              <a:spAutoFit/>
            </a:bodyPr>
            <a:lstStyle/>
            <a:p>
              <a:pPr algn="ctr"/>
              <a:r>
                <a:rPr kumimoji="1" lang="zh-CN" altLang="en-US" sz="1000" dirty="0">
                  <a:solidFill>
                    <a:schemeClr val="tx1"/>
                  </a:solidFill>
                  <a:latin typeface="KaiTi" panose="02010609060101010101" pitchFamily="49" charset="-122"/>
                  <a:ea typeface="KaiTi" panose="02010609060101010101" pitchFamily="49" charset="-122"/>
                </a:rPr>
                <a:t>家庭</a:t>
              </a:r>
              <a:endParaRPr kumimoji="1" lang="en-US" altLang="zh-CN" sz="1000" dirty="0">
                <a:solidFill>
                  <a:schemeClr val="tx1"/>
                </a:solidFill>
                <a:latin typeface="KaiTi" panose="02010609060101010101" pitchFamily="49" charset="-122"/>
                <a:ea typeface="KaiTi" panose="02010609060101010101" pitchFamily="49" charset="-122"/>
              </a:endParaRPr>
            </a:p>
            <a:p>
              <a:pPr algn="ctr"/>
              <a:r>
                <a:rPr kumimoji="1" lang="zh-CN" altLang="en-US" sz="1000" dirty="0">
                  <a:solidFill>
                    <a:schemeClr val="tx1"/>
                  </a:solidFill>
                  <a:latin typeface="KaiTi" panose="02010609060101010101" pitchFamily="49" charset="-122"/>
                  <a:ea typeface="KaiTi" panose="02010609060101010101" pitchFamily="49" charset="-122"/>
                </a:rPr>
                <a:t>总支出</a:t>
              </a:r>
            </a:p>
          </p:txBody>
        </p:sp>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AD1CE059-CC6F-243D-0A06-B85F17111984}"/>
                    </a:ext>
                  </a:extLst>
                </p:cNvPr>
                <p:cNvSpPr txBox="1"/>
                <p:nvPr/>
              </p:nvSpPr>
              <p:spPr>
                <a:xfrm>
                  <a:off x="3482036" y="877602"/>
                  <a:ext cx="1036566" cy="3416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800" b="0" i="1" smtClean="0">
                            <a:latin typeface="Cambria Math" panose="02040503050406030204" pitchFamily="18" charset="0"/>
                          </a:rPr>
                          <m:t>=</m:t>
                        </m:r>
                        <m:nary>
                          <m:naryPr>
                            <m:chr m:val="∑"/>
                            <m:ctrlPr>
                              <a:rPr kumimoji="1" lang="en-US" altLang="zh-CN" sz="800" b="0" i="1" smtClean="0">
                                <a:latin typeface="Cambria Math" panose="02040503050406030204" pitchFamily="18" charset="0"/>
                              </a:rPr>
                            </m:ctrlPr>
                          </m:naryPr>
                          <m:sub>
                            <m:r>
                              <m:rPr>
                                <m:sty m:val="p"/>
                                <m:brk m:alnAt="23"/>
                              </m:rPr>
                              <a:rPr kumimoji="1" lang="en-US" altLang="zh-CN" sz="800" i="1">
                                <a:latin typeface="Cambria Math" panose="02040503050406030204" pitchFamily="18" charset="0"/>
                              </a:rPr>
                              <m:t>i</m:t>
                            </m:r>
                            <m:r>
                              <a:rPr kumimoji="1" lang="en-US" altLang="zh-CN" sz="800" b="0" i="1" smtClean="0">
                                <a:latin typeface="Cambria Math" panose="02040503050406030204" pitchFamily="18" charset="0"/>
                              </a:rPr>
                              <m:t>=1</m:t>
                            </m:r>
                          </m:sub>
                          <m:sup>
                            <m:r>
                              <a:rPr kumimoji="1" lang="en-US" altLang="zh-CN" sz="800" b="0" i="1" smtClean="0">
                                <a:latin typeface="Cambria Math" panose="02040503050406030204" pitchFamily="18" charset="0"/>
                              </a:rPr>
                              <m:t>+</m:t>
                            </m:r>
                            <m:r>
                              <a:rPr kumimoji="1" lang="en-US" altLang="zh-CN" sz="800" b="0" i="1" smtClean="0">
                                <a:latin typeface="Cambria Math" panose="02040503050406030204" pitchFamily="18" charset="0"/>
                                <a:ea typeface="Cambria Math" panose="02040503050406030204" pitchFamily="18" charset="0"/>
                              </a:rPr>
                              <m:t>∞</m:t>
                            </m:r>
                          </m:sup>
                          <m:e>
                            <m:sSub>
                              <m:sSubPr>
                                <m:ctrlPr>
                                  <a:rPr kumimoji="1" lang="en-US" altLang="zh-CN" sz="800" b="0" i="1" smtClean="0">
                                    <a:latin typeface="Cambria Math" panose="02040503050406030204" pitchFamily="18" charset="0"/>
                                  </a:rPr>
                                </m:ctrlPr>
                              </m:sSubPr>
                              <m:e>
                                <m:r>
                                  <a:rPr kumimoji="1" lang="en-US" altLang="zh-CN" sz="800" b="0" i="1" smtClean="0">
                                    <a:latin typeface="Cambria Math" panose="02040503050406030204" pitchFamily="18" charset="0"/>
                                  </a:rPr>
                                  <m:t>𝑝</m:t>
                                </m:r>
                              </m:e>
                              <m:sub>
                                <m:r>
                                  <a:rPr kumimoji="1" lang="en-US" altLang="zh-CN" sz="800" b="0" i="1" smtClean="0">
                                    <a:latin typeface="Cambria Math" panose="02040503050406030204" pitchFamily="18" charset="0"/>
                                  </a:rPr>
                                  <m:t>𝑖</m:t>
                                </m:r>
                              </m:sub>
                            </m:sSub>
                            <m:sSub>
                              <m:sSubPr>
                                <m:ctrlPr>
                                  <a:rPr kumimoji="1" lang="en-US" altLang="zh-CN" sz="800" b="0" i="1" smtClean="0">
                                    <a:latin typeface="Cambria Math" panose="02040503050406030204" pitchFamily="18" charset="0"/>
                                  </a:rPr>
                                </m:ctrlPr>
                              </m:sSubPr>
                              <m:e>
                                <m:r>
                                  <a:rPr kumimoji="1" lang="en-US" altLang="zh-CN" sz="800" b="0" i="1" smtClean="0">
                                    <a:latin typeface="Cambria Math" panose="02040503050406030204" pitchFamily="18" charset="0"/>
                                  </a:rPr>
                                  <m:t>𝑞</m:t>
                                </m:r>
                              </m:e>
                              <m:sub>
                                <m:r>
                                  <a:rPr kumimoji="1" lang="en-US" altLang="zh-CN" sz="800" b="0" i="1" smtClean="0">
                                    <a:latin typeface="Cambria Math" panose="02040503050406030204" pitchFamily="18" charset="0"/>
                                  </a:rPr>
                                  <m:t>𝑖</m:t>
                                </m:r>
                              </m:sub>
                            </m:sSub>
                          </m:e>
                        </m:nary>
                      </m:oMath>
                    </m:oMathPara>
                  </a14:m>
                  <a:endParaRPr kumimoji="1" lang="zh-CN" altLang="en-US" sz="800" dirty="0"/>
                </a:p>
              </p:txBody>
            </p:sp>
          </mc:Choice>
          <mc:Fallback xmlns="">
            <p:sp>
              <p:nvSpPr>
                <p:cNvPr id="51" name="文本框 50">
                  <a:extLst>
                    <a:ext uri="{FF2B5EF4-FFF2-40B4-BE49-F238E27FC236}">
                      <a16:creationId xmlns:a16="http://schemas.microsoft.com/office/drawing/2014/main" id="{AD1CE059-CC6F-243D-0A06-B85F17111984}"/>
                    </a:ext>
                  </a:extLst>
                </p:cNvPr>
                <p:cNvSpPr txBox="1">
                  <a:spLocks noRot="1" noChangeAspect="1" noMove="1" noResize="1" noEditPoints="1" noAdjustHandles="1" noChangeArrowheads="1" noChangeShapeType="1" noTextEdit="1"/>
                </p:cNvSpPr>
                <p:nvPr/>
              </p:nvSpPr>
              <p:spPr>
                <a:xfrm>
                  <a:off x="3482036" y="877602"/>
                  <a:ext cx="1036566" cy="341632"/>
                </a:xfrm>
                <a:prstGeom prst="rect">
                  <a:avLst/>
                </a:prstGeom>
                <a:blipFill>
                  <a:blip r:embed="rId5"/>
                  <a:stretch>
                    <a:fillRect t="-118519" b="-177778"/>
                  </a:stretch>
                </a:blipFill>
              </p:spPr>
              <p:txBody>
                <a:bodyPr/>
                <a:lstStyle/>
                <a:p>
                  <a:r>
                    <a:rPr lang="zh-CN" altLang="en-US">
                      <a:noFill/>
                    </a:rPr>
                    <a:t> </a:t>
                  </a:r>
                </a:p>
              </p:txBody>
            </p:sp>
          </mc:Fallback>
        </mc:AlternateContent>
      </p:grpSp>
      <p:grpSp>
        <p:nvGrpSpPr>
          <p:cNvPr id="62" name="组合 61">
            <a:extLst>
              <a:ext uri="{FF2B5EF4-FFF2-40B4-BE49-F238E27FC236}">
                <a16:creationId xmlns:a16="http://schemas.microsoft.com/office/drawing/2014/main" id="{072991F4-D09C-08DD-08D3-E4F3CDA6A8BF}"/>
              </a:ext>
            </a:extLst>
          </p:cNvPr>
          <p:cNvGrpSpPr/>
          <p:nvPr/>
        </p:nvGrpSpPr>
        <p:grpSpPr>
          <a:xfrm>
            <a:off x="3262113" y="2165102"/>
            <a:ext cx="1392118" cy="449408"/>
            <a:chOff x="3262113" y="2165102"/>
            <a:chExt cx="1392118" cy="449408"/>
          </a:xfrm>
        </p:grpSpPr>
        <p:sp>
          <p:nvSpPr>
            <p:cNvPr id="52" name="椭圆形标注 51">
              <a:extLst>
                <a:ext uri="{FF2B5EF4-FFF2-40B4-BE49-F238E27FC236}">
                  <a16:creationId xmlns:a16="http://schemas.microsoft.com/office/drawing/2014/main" id="{B7227E5A-022B-127D-D637-E1DF859C124E}"/>
                </a:ext>
              </a:extLst>
            </p:cNvPr>
            <p:cNvSpPr/>
            <p:nvPr/>
          </p:nvSpPr>
          <p:spPr>
            <a:xfrm>
              <a:off x="3380743" y="2165102"/>
              <a:ext cx="1032468" cy="449408"/>
            </a:xfrm>
            <a:prstGeom prst="wedgeEllipseCallout">
              <a:avLst>
                <a:gd name="adj1" fmla="val -58604"/>
                <a:gd name="adj2" fmla="val -135"/>
              </a:avLst>
            </a:prstGeom>
            <a:solidFill>
              <a:schemeClr val="bg1"/>
            </a:solid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050" dirty="0">
                <a:solidFill>
                  <a:schemeClr val="tx1"/>
                </a:solidFill>
                <a:latin typeface="KaiTi" panose="02010609060101010101" pitchFamily="49" charset="-122"/>
                <a:ea typeface="KaiTi" panose="02010609060101010101" pitchFamily="49" charset="-122"/>
              </a:endParaRPr>
            </a:p>
          </p:txBody>
        </p:sp>
        <p:sp>
          <p:nvSpPr>
            <p:cNvPr id="53" name="文本框 52">
              <a:extLst>
                <a:ext uri="{FF2B5EF4-FFF2-40B4-BE49-F238E27FC236}">
                  <a16:creationId xmlns:a16="http://schemas.microsoft.com/office/drawing/2014/main" id="{62E32DC0-AA6D-7946-B421-4BC07193358D}"/>
                </a:ext>
              </a:extLst>
            </p:cNvPr>
            <p:cNvSpPr txBox="1"/>
            <p:nvPr/>
          </p:nvSpPr>
          <p:spPr>
            <a:xfrm>
              <a:off x="3262113" y="2165102"/>
              <a:ext cx="873835" cy="400110"/>
            </a:xfrm>
            <a:prstGeom prst="rect">
              <a:avLst/>
            </a:prstGeom>
            <a:noFill/>
          </p:spPr>
          <p:txBody>
            <a:bodyPr wrap="square">
              <a:spAutoFit/>
            </a:bodyPr>
            <a:lstStyle/>
            <a:p>
              <a:pPr algn="ctr"/>
              <a:r>
                <a:rPr kumimoji="1" lang="zh-CN" altLang="en-US" sz="1000" dirty="0">
                  <a:latin typeface="KaiTi" panose="02010609060101010101" pitchFamily="49" charset="-122"/>
                  <a:ea typeface="KaiTi" panose="02010609060101010101" pitchFamily="49" charset="-122"/>
                </a:rPr>
                <a:t>企业</a:t>
              </a:r>
              <a:endParaRPr kumimoji="1" lang="en-US" altLang="zh-CN" sz="1000" dirty="0">
                <a:latin typeface="KaiTi" panose="02010609060101010101" pitchFamily="49" charset="-122"/>
                <a:ea typeface="KaiTi" panose="02010609060101010101" pitchFamily="49" charset="-122"/>
              </a:endParaRPr>
            </a:p>
            <a:p>
              <a:pPr algn="ctr"/>
              <a:r>
                <a:rPr kumimoji="1" lang="zh-CN" altLang="en-US" sz="1000" dirty="0">
                  <a:solidFill>
                    <a:schemeClr val="tx1"/>
                  </a:solidFill>
                  <a:latin typeface="KaiTi" panose="02010609060101010101" pitchFamily="49" charset="-122"/>
                  <a:ea typeface="KaiTi" panose="02010609060101010101" pitchFamily="49" charset="-122"/>
                </a:rPr>
                <a:t>总收入</a:t>
              </a:r>
            </a:p>
          </p:txBody>
        </p:sp>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B5C40A19-CB41-EDA3-945D-9194020D9D5C}"/>
                    </a:ext>
                  </a:extLst>
                </p:cNvPr>
                <p:cNvSpPr txBox="1"/>
                <p:nvPr/>
              </p:nvSpPr>
              <p:spPr>
                <a:xfrm>
                  <a:off x="3617665" y="2196464"/>
                  <a:ext cx="1036566" cy="3416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800" b="0" i="1" smtClean="0">
                            <a:latin typeface="Cambria Math" panose="02040503050406030204" pitchFamily="18" charset="0"/>
                          </a:rPr>
                          <m:t>=</m:t>
                        </m:r>
                        <m:nary>
                          <m:naryPr>
                            <m:chr m:val="∑"/>
                            <m:ctrlPr>
                              <a:rPr kumimoji="1" lang="en-US" altLang="zh-CN" sz="800" b="0" i="1" smtClean="0">
                                <a:latin typeface="Cambria Math" panose="02040503050406030204" pitchFamily="18" charset="0"/>
                              </a:rPr>
                            </m:ctrlPr>
                          </m:naryPr>
                          <m:sub>
                            <m:r>
                              <m:rPr>
                                <m:sty m:val="p"/>
                                <m:brk m:alnAt="23"/>
                              </m:rPr>
                              <a:rPr kumimoji="1" lang="en-US" altLang="zh-CN" sz="800" i="1">
                                <a:latin typeface="Cambria Math" panose="02040503050406030204" pitchFamily="18" charset="0"/>
                              </a:rPr>
                              <m:t>i</m:t>
                            </m:r>
                            <m:r>
                              <a:rPr kumimoji="1" lang="en-US" altLang="zh-CN" sz="800" b="0" i="1" smtClean="0">
                                <a:latin typeface="Cambria Math" panose="02040503050406030204" pitchFamily="18" charset="0"/>
                              </a:rPr>
                              <m:t>=1</m:t>
                            </m:r>
                          </m:sub>
                          <m:sup>
                            <m:r>
                              <a:rPr kumimoji="1" lang="en-US" altLang="zh-CN" sz="800" b="0" i="1" smtClean="0">
                                <a:latin typeface="Cambria Math" panose="02040503050406030204" pitchFamily="18" charset="0"/>
                              </a:rPr>
                              <m:t>+</m:t>
                            </m:r>
                            <m:r>
                              <a:rPr kumimoji="1" lang="en-US" altLang="zh-CN" sz="800" b="0" i="1" smtClean="0">
                                <a:latin typeface="Cambria Math" panose="02040503050406030204" pitchFamily="18" charset="0"/>
                                <a:ea typeface="Cambria Math" panose="02040503050406030204" pitchFamily="18" charset="0"/>
                              </a:rPr>
                              <m:t>∞</m:t>
                            </m:r>
                          </m:sup>
                          <m:e>
                            <m:sSub>
                              <m:sSubPr>
                                <m:ctrlPr>
                                  <a:rPr kumimoji="1" lang="en-US" altLang="zh-CN" sz="800" b="0" i="1" smtClean="0">
                                    <a:latin typeface="Cambria Math" panose="02040503050406030204" pitchFamily="18" charset="0"/>
                                  </a:rPr>
                                </m:ctrlPr>
                              </m:sSubPr>
                              <m:e>
                                <m:r>
                                  <a:rPr kumimoji="1" lang="en-US" altLang="zh-CN" sz="800" b="0" i="1" smtClean="0">
                                    <a:latin typeface="Cambria Math" panose="02040503050406030204" pitchFamily="18" charset="0"/>
                                  </a:rPr>
                                  <m:t>𝑝</m:t>
                                </m:r>
                              </m:e>
                              <m:sub>
                                <m:r>
                                  <a:rPr kumimoji="1" lang="en-US" altLang="zh-CN" sz="800" b="0" i="1" smtClean="0">
                                    <a:latin typeface="Cambria Math" panose="02040503050406030204" pitchFamily="18" charset="0"/>
                                  </a:rPr>
                                  <m:t>𝑖</m:t>
                                </m:r>
                              </m:sub>
                            </m:sSub>
                            <m:sSub>
                              <m:sSubPr>
                                <m:ctrlPr>
                                  <a:rPr kumimoji="1" lang="en-US" altLang="zh-CN" sz="800" b="0" i="1" smtClean="0">
                                    <a:latin typeface="Cambria Math" panose="02040503050406030204" pitchFamily="18" charset="0"/>
                                  </a:rPr>
                                </m:ctrlPr>
                              </m:sSubPr>
                              <m:e>
                                <m:r>
                                  <a:rPr kumimoji="1" lang="en-US" altLang="zh-CN" sz="800" b="0" i="1" smtClean="0">
                                    <a:latin typeface="Cambria Math" panose="02040503050406030204" pitchFamily="18" charset="0"/>
                                  </a:rPr>
                                  <m:t>𝑞</m:t>
                                </m:r>
                              </m:e>
                              <m:sub>
                                <m:r>
                                  <a:rPr kumimoji="1" lang="en-US" altLang="zh-CN" sz="800" b="0" i="1" smtClean="0">
                                    <a:latin typeface="Cambria Math" panose="02040503050406030204" pitchFamily="18" charset="0"/>
                                  </a:rPr>
                                  <m:t>𝑖</m:t>
                                </m:r>
                              </m:sub>
                            </m:sSub>
                          </m:e>
                        </m:nary>
                      </m:oMath>
                    </m:oMathPara>
                  </a14:m>
                  <a:endParaRPr kumimoji="1" lang="zh-CN" altLang="en-US" sz="800" dirty="0"/>
                </a:p>
              </p:txBody>
            </p:sp>
          </mc:Choice>
          <mc:Fallback xmlns="">
            <p:sp>
              <p:nvSpPr>
                <p:cNvPr id="54" name="文本框 53">
                  <a:extLst>
                    <a:ext uri="{FF2B5EF4-FFF2-40B4-BE49-F238E27FC236}">
                      <a16:creationId xmlns:a16="http://schemas.microsoft.com/office/drawing/2014/main" id="{B5C40A19-CB41-EDA3-945D-9194020D9D5C}"/>
                    </a:ext>
                  </a:extLst>
                </p:cNvPr>
                <p:cNvSpPr txBox="1">
                  <a:spLocks noRot="1" noChangeAspect="1" noMove="1" noResize="1" noEditPoints="1" noAdjustHandles="1" noChangeArrowheads="1" noChangeShapeType="1" noTextEdit="1"/>
                </p:cNvSpPr>
                <p:nvPr/>
              </p:nvSpPr>
              <p:spPr>
                <a:xfrm>
                  <a:off x="3617665" y="2196464"/>
                  <a:ext cx="1036566" cy="341632"/>
                </a:xfrm>
                <a:prstGeom prst="rect">
                  <a:avLst/>
                </a:prstGeom>
                <a:blipFill>
                  <a:blip r:embed="rId6"/>
                  <a:stretch>
                    <a:fillRect t="-110714" b="-171429"/>
                  </a:stretch>
                </a:blipFill>
              </p:spPr>
              <p:txBody>
                <a:bodyPr/>
                <a:lstStyle/>
                <a:p>
                  <a:r>
                    <a:rPr lang="zh-CN" altLang="en-US">
                      <a:noFill/>
                    </a:rPr>
                    <a:t> </a:t>
                  </a:r>
                </a:p>
              </p:txBody>
            </p:sp>
          </mc:Fallback>
        </mc:AlternateContent>
      </p:grpSp>
      <p:grpSp>
        <p:nvGrpSpPr>
          <p:cNvPr id="60" name="组合 59">
            <a:extLst>
              <a:ext uri="{FF2B5EF4-FFF2-40B4-BE49-F238E27FC236}">
                <a16:creationId xmlns:a16="http://schemas.microsoft.com/office/drawing/2014/main" id="{C4529DF6-879A-3CFA-5414-7C0C62D2DA09}"/>
              </a:ext>
            </a:extLst>
          </p:cNvPr>
          <p:cNvGrpSpPr/>
          <p:nvPr/>
        </p:nvGrpSpPr>
        <p:grpSpPr>
          <a:xfrm>
            <a:off x="42572" y="2157871"/>
            <a:ext cx="930569" cy="461818"/>
            <a:chOff x="42572" y="2157871"/>
            <a:chExt cx="930569" cy="461818"/>
          </a:xfrm>
        </p:grpSpPr>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38A161F1-0A3E-5AD2-4BD9-991475D2EA08}"/>
                    </a:ext>
                  </a:extLst>
                </p:cNvPr>
                <p:cNvSpPr txBox="1"/>
                <p:nvPr/>
              </p:nvSpPr>
              <p:spPr>
                <a:xfrm>
                  <a:off x="73664" y="2358784"/>
                  <a:ext cx="899477" cy="2609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700" b="0" i="1" smtClean="0">
                            <a:latin typeface="Cambria Math" panose="02040503050406030204" pitchFamily="18" charset="0"/>
                          </a:rPr>
                          <m:t>=</m:t>
                        </m:r>
                        <m:nary>
                          <m:naryPr>
                            <m:chr m:val="∑"/>
                            <m:subHide m:val="on"/>
                            <m:supHide m:val="on"/>
                            <m:ctrlPr>
                              <a:rPr kumimoji="1" lang="en-US" altLang="zh-CN" sz="700" b="0" i="1" smtClean="0">
                                <a:latin typeface="Cambria Math" panose="02040503050406030204" pitchFamily="18" charset="0"/>
                              </a:rPr>
                            </m:ctrlPr>
                          </m:naryPr>
                          <m:sub/>
                          <m:sup/>
                          <m:e>
                            <m:r>
                              <a:rPr kumimoji="1" lang="zh-CN" altLang="en-US" sz="700" i="1">
                                <a:latin typeface="Cambria Math" panose="02040503050406030204" pitchFamily="18" charset="0"/>
                              </a:rPr>
                              <m:t>生产要素</m:t>
                            </m:r>
                            <m:r>
                              <a:rPr kumimoji="1" lang="zh-CN" altLang="en-US" sz="700" i="1" smtClean="0">
                                <a:latin typeface="Cambria Math" panose="02040503050406030204" pitchFamily="18" charset="0"/>
                              </a:rPr>
                              <m:t>的</m:t>
                            </m:r>
                            <m:r>
                              <a:rPr kumimoji="1" lang="zh-CN" altLang="en-US" sz="700" i="1">
                                <a:latin typeface="Cambria Math" panose="02040503050406030204" pitchFamily="18" charset="0"/>
                              </a:rPr>
                              <m:t>回报</m:t>
                            </m:r>
                          </m:e>
                        </m:nary>
                      </m:oMath>
                    </m:oMathPara>
                  </a14:m>
                  <a:endParaRPr kumimoji="1" lang="zh-CN" altLang="en-US" sz="700" dirty="0">
                    <a:latin typeface="KaiTi" panose="02010609060101010101" pitchFamily="49" charset="-122"/>
                    <a:ea typeface="KaiTi" panose="02010609060101010101" pitchFamily="49" charset="-122"/>
                  </a:endParaRPr>
                </a:p>
              </p:txBody>
            </p:sp>
          </mc:Choice>
          <mc:Fallback xmlns="">
            <p:sp>
              <p:nvSpPr>
                <p:cNvPr id="59" name="文本框 58">
                  <a:extLst>
                    <a:ext uri="{FF2B5EF4-FFF2-40B4-BE49-F238E27FC236}">
                      <a16:creationId xmlns:a16="http://schemas.microsoft.com/office/drawing/2014/main" id="{38A161F1-0A3E-5AD2-4BD9-991475D2EA08}"/>
                    </a:ext>
                  </a:extLst>
                </p:cNvPr>
                <p:cNvSpPr txBox="1">
                  <a:spLocks noRot="1" noChangeAspect="1" noMove="1" noResize="1" noEditPoints="1" noAdjustHandles="1" noChangeArrowheads="1" noChangeShapeType="1" noTextEdit="1"/>
                </p:cNvSpPr>
                <p:nvPr/>
              </p:nvSpPr>
              <p:spPr>
                <a:xfrm>
                  <a:off x="73664" y="2358784"/>
                  <a:ext cx="899477" cy="260905"/>
                </a:xfrm>
                <a:prstGeom prst="rect">
                  <a:avLst/>
                </a:prstGeom>
                <a:blipFill>
                  <a:blip r:embed="rId7"/>
                  <a:stretch>
                    <a:fillRect l="-23611" t="-136364" r="-2778" b="-186364"/>
                  </a:stretch>
                </a:blipFill>
              </p:spPr>
              <p:txBody>
                <a:bodyPr/>
                <a:lstStyle/>
                <a:p>
                  <a:r>
                    <a:rPr lang="zh-CN" altLang="en-US">
                      <a:noFill/>
                    </a:rPr>
                    <a:t> </a:t>
                  </a:r>
                </a:p>
              </p:txBody>
            </p:sp>
          </mc:Fallback>
        </mc:AlternateContent>
        <p:sp>
          <p:nvSpPr>
            <p:cNvPr id="56" name="椭圆形标注 55">
              <a:extLst>
                <a:ext uri="{FF2B5EF4-FFF2-40B4-BE49-F238E27FC236}">
                  <a16:creationId xmlns:a16="http://schemas.microsoft.com/office/drawing/2014/main" id="{AFCC4859-B76B-F529-8AB0-4D5BA3AC782F}"/>
                </a:ext>
              </a:extLst>
            </p:cNvPr>
            <p:cNvSpPr/>
            <p:nvPr/>
          </p:nvSpPr>
          <p:spPr>
            <a:xfrm>
              <a:off x="55485" y="2176115"/>
              <a:ext cx="917656" cy="443573"/>
            </a:xfrm>
            <a:prstGeom prst="wedgeEllipseCallout">
              <a:avLst>
                <a:gd name="adj1" fmla="val 61709"/>
                <a:gd name="adj2" fmla="val -7436"/>
              </a:avLst>
            </a:prstGeom>
            <a:noFill/>
            <a:ln w="63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050" dirty="0">
                <a:solidFill>
                  <a:schemeClr val="tx1"/>
                </a:solidFill>
                <a:latin typeface="KaiTi" panose="02010609060101010101" pitchFamily="49" charset="-122"/>
                <a:ea typeface="KaiTi" panose="02010609060101010101" pitchFamily="49" charset="-122"/>
              </a:endParaRPr>
            </a:p>
          </p:txBody>
        </p:sp>
        <p:sp>
          <p:nvSpPr>
            <p:cNvPr id="57" name="文本框 56">
              <a:extLst>
                <a:ext uri="{FF2B5EF4-FFF2-40B4-BE49-F238E27FC236}">
                  <a16:creationId xmlns:a16="http://schemas.microsoft.com/office/drawing/2014/main" id="{D26420D7-4DD9-D35A-F8C9-E25DE8B1B923}"/>
                </a:ext>
              </a:extLst>
            </p:cNvPr>
            <p:cNvSpPr txBox="1"/>
            <p:nvPr/>
          </p:nvSpPr>
          <p:spPr>
            <a:xfrm>
              <a:off x="42572" y="2157871"/>
              <a:ext cx="873835" cy="246221"/>
            </a:xfrm>
            <a:prstGeom prst="rect">
              <a:avLst/>
            </a:prstGeom>
            <a:noFill/>
          </p:spPr>
          <p:txBody>
            <a:bodyPr wrap="square">
              <a:spAutoFit/>
            </a:bodyPr>
            <a:lstStyle/>
            <a:p>
              <a:pPr algn="ctr"/>
              <a:r>
                <a:rPr kumimoji="1" lang="zh-CN" altLang="en-US" sz="1000" dirty="0">
                  <a:solidFill>
                    <a:schemeClr val="tx1"/>
                  </a:solidFill>
                  <a:latin typeface="KaiTi" panose="02010609060101010101" pitchFamily="49" charset="-122"/>
                  <a:ea typeface="KaiTi" panose="02010609060101010101" pitchFamily="49" charset="-122"/>
                </a:rPr>
                <a:t>家庭总收入</a:t>
              </a:r>
            </a:p>
          </p:txBody>
        </p:sp>
      </p:grpSp>
    </p:spTree>
    <p:extLst>
      <p:ext uri="{BB962C8B-B14F-4D97-AF65-F5344CB8AC3E}">
        <p14:creationId xmlns:p14="http://schemas.microsoft.com/office/powerpoint/2010/main" val="2955609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wipe(up)">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wipe(up)">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nodeType="click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wipe(right)">
                                      <p:cBhvr>
                                        <p:cTn id="47" dur="500"/>
                                        <p:tgtEl>
                                          <p:spTgt spid="3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wipe(right)">
                                      <p:cBhvr>
                                        <p:cTn id="52" dur="500"/>
                                        <p:tgtEl>
                                          <p:spTgt spid="1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9"/>
                                        </p:tgtEl>
                                        <p:attrNameLst>
                                          <p:attrName>style.visibility</p:attrName>
                                        </p:attrNameLst>
                                      </p:cBhvr>
                                      <p:to>
                                        <p:strVal val="visible"/>
                                      </p:to>
                                    </p:set>
                                    <p:animEffect transition="in" filter="wipe(left)">
                                      <p:cBhvr>
                                        <p:cTn id="57" dur="500"/>
                                        <p:tgtEl>
                                          <p:spTgt spid="3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wipe(left)">
                                      <p:cBhvr>
                                        <p:cTn id="62" dur="500"/>
                                        <p:tgtEl>
                                          <p:spTgt spid="34"/>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1" nodeType="clickEffect">
                                  <p:stCondLst>
                                    <p:cond delay="0"/>
                                  </p:stCondLst>
                                  <p:childTnLst>
                                    <p:set>
                                      <p:cBhvr>
                                        <p:cTn id="66" dur="1" fill="hold">
                                          <p:stCondLst>
                                            <p:cond delay="0"/>
                                          </p:stCondLst>
                                        </p:cTn>
                                        <p:tgtEl>
                                          <p:spTgt spid="43"/>
                                        </p:tgtEl>
                                        <p:attrNameLst>
                                          <p:attrName>style.visibility</p:attrName>
                                        </p:attrNameLst>
                                      </p:cBhvr>
                                      <p:to>
                                        <p:strVal val="visible"/>
                                      </p:to>
                                    </p:set>
                                    <p:animEffect transition="in" filter="dissolve">
                                      <p:cBhvr>
                                        <p:cTn id="67" dur="500"/>
                                        <p:tgtEl>
                                          <p:spTgt spid="4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44"/>
                                        </p:tgtEl>
                                        <p:attrNameLst>
                                          <p:attrName>style.visibility</p:attrName>
                                        </p:attrNameLst>
                                      </p:cBhvr>
                                      <p:to>
                                        <p:strVal val="visible"/>
                                      </p:to>
                                    </p:set>
                                    <p:animEffect transition="in" filter="wipe(left)">
                                      <p:cBhvr>
                                        <p:cTn id="72" dur="500"/>
                                        <p:tgtEl>
                                          <p:spTgt spid="44"/>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nodeType="clickEffect">
                                  <p:stCondLst>
                                    <p:cond delay="0"/>
                                  </p:stCondLst>
                                  <p:childTnLst>
                                    <p:set>
                                      <p:cBhvr>
                                        <p:cTn id="76" dur="1" fill="hold">
                                          <p:stCondLst>
                                            <p:cond delay="0"/>
                                          </p:stCondLst>
                                        </p:cTn>
                                        <p:tgtEl>
                                          <p:spTgt spid="61"/>
                                        </p:tgtEl>
                                        <p:attrNameLst>
                                          <p:attrName>style.visibility</p:attrName>
                                        </p:attrNameLst>
                                      </p:cBhvr>
                                      <p:to>
                                        <p:strVal val="visible"/>
                                      </p:to>
                                    </p:set>
                                    <p:animEffect transition="in" filter="wipe(down)">
                                      <p:cBhvr>
                                        <p:cTn id="77" dur="500"/>
                                        <p:tgtEl>
                                          <p:spTgt spid="61"/>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2" fill="hold" nodeType="clickEffect">
                                  <p:stCondLst>
                                    <p:cond delay="0"/>
                                  </p:stCondLst>
                                  <p:childTnLst>
                                    <p:set>
                                      <p:cBhvr>
                                        <p:cTn id="81" dur="1" fill="hold">
                                          <p:stCondLst>
                                            <p:cond delay="0"/>
                                          </p:stCondLst>
                                        </p:cTn>
                                        <p:tgtEl>
                                          <p:spTgt spid="60"/>
                                        </p:tgtEl>
                                        <p:attrNameLst>
                                          <p:attrName>style.visibility</p:attrName>
                                        </p:attrNameLst>
                                      </p:cBhvr>
                                      <p:to>
                                        <p:strVal val="visible"/>
                                      </p:to>
                                    </p:set>
                                    <p:animEffect transition="in" filter="wipe(right)">
                                      <p:cBhvr>
                                        <p:cTn id="82" dur="500"/>
                                        <p:tgtEl>
                                          <p:spTgt spid="60"/>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62"/>
                                        </p:tgtEl>
                                        <p:attrNameLst>
                                          <p:attrName>style.visibility</p:attrName>
                                        </p:attrNameLst>
                                      </p:cBhvr>
                                      <p:to>
                                        <p:strVal val="visible"/>
                                      </p:to>
                                    </p:set>
                                    <p:animEffect transition="in" filter="wipe(left)">
                                      <p:cBhvr>
                                        <p:cTn id="87"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24" grpId="0"/>
      <p:bldP spid="28" grpId="0"/>
      <p:bldP spid="39" grpId="0"/>
      <p:bldP spid="43" grpId="1"/>
      <p:bldP spid="4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CD22D05-5890-71A2-E385-1AC7FE6859FB}"/>
              </a:ext>
            </a:extLst>
          </p:cNvPr>
          <p:cNvSpPr>
            <a:spLocks noGrp="1"/>
          </p:cNvSpPr>
          <p:nvPr>
            <p:ph type="sldNum" sz="quarter" idx="11"/>
          </p:nvPr>
        </p:nvSpPr>
        <p:spPr/>
        <p:txBody>
          <a:bodyPr/>
          <a:lstStyle/>
          <a:p>
            <a:pPr defTabSz="461040" fontAlgn="base">
              <a:spcBef>
                <a:spcPct val="0"/>
              </a:spcBef>
              <a:spcAft>
                <a:spcPct val="0"/>
              </a:spcAft>
            </a:pPr>
            <a:fld id="{72F005FF-FB2C-2E45-8BCC-12773CA6E14A}" type="slidenum">
              <a:rPr lang="zh-CN" altLang="zh-CN">
                <a:latin typeface="Arial" panose="020B0604020202020204" pitchFamily="34" charset="0"/>
              </a:rPr>
              <a:pPr defTabSz="461040" fontAlgn="base">
                <a:spcBef>
                  <a:spcPct val="0"/>
                </a:spcBef>
                <a:spcAft>
                  <a:spcPct val="0"/>
                </a:spcAft>
              </a:pPr>
              <a:t>30</a:t>
            </a:fld>
            <a:endParaRPr lang="en-US" altLang="zh-CN">
              <a:latin typeface="Arial" panose="020B0604020202020204" pitchFamily="34" charset="0"/>
            </a:endParaRPr>
          </a:p>
        </p:txBody>
      </p:sp>
      <p:sp>
        <p:nvSpPr>
          <p:cNvPr id="14338" name="Rectangle 2">
            <a:extLst>
              <a:ext uri="{FF2B5EF4-FFF2-40B4-BE49-F238E27FC236}">
                <a16:creationId xmlns:a16="http://schemas.microsoft.com/office/drawing/2014/main" id="{98EB6D87-7B0B-79AD-5E5B-7D52D1A1149A}"/>
              </a:ext>
            </a:extLst>
          </p:cNvPr>
          <p:cNvSpPr>
            <a:spLocks noGrp="1" noChangeArrowheads="1"/>
          </p:cNvSpPr>
          <p:nvPr>
            <p:ph type="title" idx="4294967295"/>
          </p:nvPr>
        </p:nvSpPr>
        <p:spPr/>
        <p:txBody>
          <a:bodyPr/>
          <a:lstStyle/>
          <a:p>
            <a:r>
              <a:rPr lang="zh-CN" altLang="en-US" sz="1815" dirty="0">
                <a:ea typeface="宋体" panose="02010600030101010101" pitchFamily="2" charset="-122"/>
              </a:rPr>
              <a:t>宏观经济学的</a:t>
            </a:r>
            <a:r>
              <a:rPr lang="zh-CN" altLang="en-US" sz="1815">
                <a:ea typeface="宋体" panose="02010600030101010101" pitchFamily="2" charset="-122"/>
              </a:rPr>
              <a:t>第一个模型：</a:t>
            </a:r>
            <a:r>
              <a:rPr lang="zh-CN" altLang="zh-CN" sz="1815">
                <a:ea typeface="宋体" panose="02010600030101010101" pitchFamily="2" charset="-122"/>
              </a:rPr>
              <a:t>循环流量图</a:t>
            </a:r>
            <a:endParaRPr lang="zh-CN" altLang="en-US" sz="1815">
              <a:ea typeface="宋体" panose="02010600030101010101" pitchFamily="2" charset="-122"/>
            </a:endParaRPr>
          </a:p>
        </p:txBody>
      </p:sp>
      <p:sp>
        <p:nvSpPr>
          <p:cNvPr id="14339" name="Rectangle 3">
            <a:extLst>
              <a:ext uri="{FF2B5EF4-FFF2-40B4-BE49-F238E27FC236}">
                <a16:creationId xmlns:a16="http://schemas.microsoft.com/office/drawing/2014/main" id="{8577C4FD-3D89-6FB2-CCA7-B5256BFA070A}"/>
              </a:ext>
            </a:extLst>
          </p:cNvPr>
          <p:cNvSpPr>
            <a:spLocks noGrp="1" noChangeArrowheads="1"/>
          </p:cNvSpPr>
          <p:nvPr>
            <p:ph type="body" idx="4294967295"/>
          </p:nvPr>
        </p:nvSpPr>
        <p:spPr>
          <a:xfrm>
            <a:off x="229705" y="532230"/>
            <a:ext cx="4132282" cy="2569170"/>
          </a:xfrm>
        </p:spPr>
        <p:txBody>
          <a:bodyPr/>
          <a:lstStyle/>
          <a:p>
            <a:pPr>
              <a:spcBef>
                <a:spcPct val="20000"/>
              </a:spcBef>
            </a:pPr>
            <a:r>
              <a:rPr lang="zh-CN" altLang="zh-CN">
                <a:ea typeface="宋体" panose="02010600030101010101" pitchFamily="2" charset="-122"/>
              </a:rPr>
              <a:t>宏观经济的一个简单描述</a:t>
            </a:r>
          </a:p>
          <a:p>
            <a:pPr>
              <a:spcBef>
                <a:spcPct val="20000"/>
              </a:spcBef>
            </a:pPr>
            <a:r>
              <a:rPr lang="zh-CN" altLang="zh-CN">
                <a:ea typeface="宋体" panose="02010600030101010101" pitchFamily="2" charset="-122"/>
              </a:rPr>
              <a:t>用支出，收益，要素支付和收入来说明GDP</a:t>
            </a:r>
          </a:p>
          <a:p>
            <a:pPr>
              <a:spcBef>
                <a:spcPct val="50000"/>
              </a:spcBef>
            </a:pPr>
            <a:r>
              <a:rPr lang="zh-CN" altLang="zh-CN">
                <a:ea typeface="宋体" panose="02010600030101010101" pitchFamily="2" charset="-122"/>
              </a:rPr>
              <a:t>预备知识：</a:t>
            </a:r>
          </a:p>
          <a:p>
            <a:pPr lvl="1">
              <a:lnSpc>
                <a:spcPct val="105000"/>
              </a:lnSpc>
              <a:spcBef>
                <a:spcPct val="25000"/>
              </a:spcBef>
            </a:pPr>
            <a:r>
              <a:rPr lang="zh-CN" altLang="zh-CN" b="1">
                <a:solidFill>
                  <a:srgbClr val="800080"/>
                </a:solidFill>
                <a:ea typeface="宋体" panose="02010600030101010101" pitchFamily="2" charset="-122"/>
              </a:rPr>
              <a:t>生产要素：</a:t>
            </a:r>
            <a:r>
              <a:rPr lang="zh-CN" altLang="zh-CN">
                <a:ea typeface="宋体" panose="02010600030101010101" pitchFamily="2" charset="-122"/>
              </a:rPr>
              <a:t>诸如劳动，土地，资本，自然资源等投入  </a:t>
            </a:r>
          </a:p>
          <a:p>
            <a:pPr lvl="1">
              <a:lnSpc>
                <a:spcPct val="105000"/>
              </a:lnSpc>
              <a:spcBef>
                <a:spcPct val="25000"/>
              </a:spcBef>
            </a:pPr>
            <a:r>
              <a:rPr lang="zh-CN" altLang="zh-CN" b="1">
                <a:solidFill>
                  <a:srgbClr val="800080"/>
                </a:solidFill>
                <a:ea typeface="宋体" panose="02010600030101010101" pitchFamily="2" charset="-122"/>
              </a:rPr>
              <a:t>要素支付：</a:t>
            </a:r>
            <a:r>
              <a:rPr lang="zh-CN" altLang="zh-CN">
                <a:ea typeface="宋体" panose="02010600030101010101" pitchFamily="2" charset="-122"/>
              </a:rPr>
              <a:t>支付给生产要素的报酬（例如，工资，租金）</a:t>
            </a:r>
          </a:p>
        </p:txBody>
      </p:sp>
      <p:sp>
        <p:nvSpPr>
          <p:cNvPr id="4" name="页脚占位符 1">
            <a:extLst>
              <a:ext uri="{FF2B5EF4-FFF2-40B4-BE49-F238E27FC236}">
                <a16:creationId xmlns:a16="http://schemas.microsoft.com/office/drawing/2014/main" id="{D293302A-BE88-3005-8C4D-4CEA8E918E0F}"/>
              </a:ext>
            </a:extLst>
          </p:cNvPr>
          <p:cNvSpPr>
            <a:spLocks noGrp="1"/>
          </p:cNvSpPr>
          <p:nvPr>
            <p:ph type="ftr" sz="quarter" idx="10"/>
          </p:nvPr>
        </p:nvSpPr>
        <p:spPr>
          <a:xfrm>
            <a:off x="144066" y="3226028"/>
            <a:ext cx="3698485" cy="185054"/>
          </a:xfrm>
        </p:spPr>
        <p:txBody>
          <a:bodyPr/>
          <a:lstStyle/>
          <a:p>
            <a:pPr defTabSz="461040" fontAlgn="base">
              <a:spcBef>
                <a:spcPct val="0"/>
              </a:spcBef>
              <a:spcAft>
                <a:spcPct val="0"/>
              </a:spcAft>
            </a:pPr>
            <a:r>
              <a:rPr lang="zh-CN" altLang="en-US" sz="908" dirty="0">
                <a:latin typeface="Arial" panose="020B0604020202020204" pitchFamily="34" charset="0"/>
              </a:rPr>
              <a:t>国内生产总值</a:t>
            </a:r>
            <a:endParaRPr lang="zh-CN" altLang="zh-CN" sz="908" dirty="0">
              <a:latin typeface="Arial" panose="020B0604020202020204" pitchFamily="34" charset="0"/>
            </a:endParaRPr>
          </a:p>
        </p:txBody>
      </p:sp>
    </p:spTree>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E4B7A46D-5742-B120-24BD-D3DF4E144CD4}"/>
              </a:ext>
            </a:extLst>
          </p:cNvPr>
          <p:cNvSpPr>
            <a:spLocks noGrp="1"/>
          </p:cNvSpPr>
          <p:nvPr>
            <p:ph type="sldNum" sz="quarter" idx="11"/>
          </p:nvPr>
        </p:nvSpPr>
        <p:spPr/>
        <p:txBody>
          <a:bodyPr/>
          <a:lstStyle/>
          <a:p>
            <a:pPr defTabSz="461040" fontAlgn="base">
              <a:spcBef>
                <a:spcPct val="0"/>
              </a:spcBef>
              <a:spcAft>
                <a:spcPct val="0"/>
              </a:spcAft>
            </a:pPr>
            <a:fld id="{958588DD-06FF-6C49-890E-4E89B1101ADD}" type="slidenum">
              <a:rPr lang="zh-CN" altLang="zh-CN">
                <a:latin typeface="Arial" panose="020B0604020202020204" pitchFamily="34" charset="0"/>
              </a:rPr>
              <a:pPr defTabSz="461040" fontAlgn="base">
                <a:spcBef>
                  <a:spcPct val="0"/>
                </a:spcBef>
                <a:spcAft>
                  <a:spcPct val="0"/>
                </a:spcAft>
              </a:pPr>
              <a:t>31</a:t>
            </a:fld>
            <a:endParaRPr lang="en-US" altLang="zh-CN">
              <a:latin typeface="Arial" panose="020B0604020202020204" pitchFamily="34" charset="0"/>
            </a:endParaRPr>
          </a:p>
        </p:txBody>
      </p:sp>
      <p:sp>
        <p:nvSpPr>
          <p:cNvPr id="16386" name="Rectangle 2">
            <a:extLst>
              <a:ext uri="{FF2B5EF4-FFF2-40B4-BE49-F238E27FC236}">
                <a16:creationId xmlns:a16="http://schemas.microsoft.com/office/drawing/2014/main" id="{02533CEC-D2A6-C8E7-9529-820281E7E6BA}"/>
              </a:ext>
            </a:extLst>
          </p:cNvPr>
          <p:cNvSpPr>
            <a:spLocks noChangeArrowheads="1"/>
          </p:cNvSpPr>
          <p:nvPr/>
        </p:nvSpPr>
        <p:spPr bwMode="auto">
          <a:xfrm>
            <a:off x="100046" y="1480662"/>
            <a:ext cx="1026067" cy="49462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16387" name="Rectangle 2">
            <a:extLst>
              <a:ext uri="{FF2B5EF4-FFF2-40B4-BE49-F238E27FC236}">
                <a16:creationId xmlns:a16="http://schemas.microsoft.com/office/drawing/2014/main" id="{7DAFBE87-9099-CF17-380E-B236E5089B63}"/>
              </a:ext>
            </a:extLst>
          </p:cNvPr>
          <p:cNvSpPr>
            <a:spLocks noChangeArrowheads="1"/>
          </p:cNvSpPr>
          <p:nvPr/>
        </p:nvSpPr>
        <p:spPr bwMode="auto">
          <a:xfrm>
            <a:off x="3317512" y="1474259"/>
            <a:ext cx="1134917" cy="49862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16388" name="Rectangle 3">
            <a:extLst>
              <a:ext uri="{FF2B5EF4-FFF2-40B4-BE49-F238E27FC236}">
                <a16:creationId xmlns:a16="http://schemas.microsoft.com/office/drawing/2014/main" id="{05A29744-294C-335B-0C5C-D2AC94A0673B}"/>
              </a:ext>
            </a:extLst>
          </p:cNvPr>
          <p:cNvSpPr>
            <a:spLocks noGrp="1" noChangeArrowheads="1"/>
          </p:cNvSpPr>
          <p:nvPr>
            <p:ph type="title" idx="4294967295"/>
          </p:nvPr>
        </p:nvSpPr>
        <p:spPr>
          <a:xfrm>
            <a:off x="115253" y="68018"/>
            <a:ext cx="4149090" cy="284930"/>
          </a:xfrm>
        </p:spPr>
        <p:txBody>
          <a:bodyPr/>
          <a:lstStyle/>
          <a:p>
            <a:pPr algn="l"/>
            <a:r>
              <a:rPr lang="zh-CN" altLang="zh-CN" sz="1815">
                <a:ea typeface="宋体" panose="02010600030101010101" pitchFamily="2" charset="-122"/>
              </a:rPr>
              <a:t>循环流量图</a:t>
            </a:r>
            <a:endParaRPr lang="zh-CN" altLang="en-US" sz="1815">
              <a:ea typeface="宋体" panose="02010600030101010101" pitchFamily="2" charset="-122"/>
            </a:endParaRPr>
          </a:p>
        </p:txBody>
      </p:sp>
      <p:sp>
        <p:nvSpPr>
          <p:cNvPr id="16389" name="Text Box 4">
            <a:extLst>
              <a:ext uri="{FF2B5EF4-FFF2-40B4-BE49-F238E27FC236}">
                <a16:creationId xmlns:a16="http://schemas.microsoft.com/office/drawing/2014/main" id="{81777773-29A3-9916-24F0-E89D1E7E393E}"/>
              </a:ext>
            </a:extLst>
          </p:cNvPr>
          <p:cNvSpPr txBox="1">
            <a:spLocks noChangeArrowheads="1"/>
          </p:cNvSpPr>
          <p:nvPr/>
        </p:nvSpPr>
        <p:spPr bwMode="auto">
          <a:xfrm>
            <a:off x="1421448" y="445790"/>
            <a:ext cx="3002168" cy="992836"/>
          </a:xfrm>
          <a:prstGeom prst="rect">
            <a:avLst/>
          </a:prstGeom>
          <a:solidFill>
            <a:srgbClr val="FFFFCC"/>
          </a:solidFill>
          <a:ln>
            <a:noFill/>
          </a:ln>
          <a:effectLst>
            <a:outerShdw dist="71842"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0513" indent="-23177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146477" indent="-116861" defTabSz="461040" fontAlgn="base">
              <a:spcBef>
                <a:spcPct val="15000"/>
              </a:spcBef>
              <a:spcAft>
                <a:spcPct val="0"/>
              </a:spcAft>
              <a:buClr>
                <a:srgbClr val="CC0000"/>
              </a:buClr>
            </a:pPr>
            <a:r>
              <a:rPr lang="zh-CN" altLang="zh-CN" sz="1361" b="1">
                <a:solidFill>
                  <a:srgbClr val="000000"/>
                </a:solidFill>
                <a:ea typeface="宋体" panose="02010600030101010101" pitchFamily="2" charset="-122"/>
              </a:rPr>
              <a:t>家庭</a:t>
            </a:r>
            <a:r>
              <a:rPr lang="en-US" altLang="zh-CN" sz="1361">
                <a:solidFill>
                  <a:srgbClr val="000000"/>
                </a:solidFill>
                <a:ea typeface="宋体" panose="02010600030101010101" pitchFamily="2" charset="-122"/>
              </a:rPr>
              <a:t>:</a:t>
            </a:r>
          </a:p>
          <a:p>
            <a:pPr marL="146477" indent="-116861" defTabSz="461040" fontAlgn="base">
              <a:spcBef>
                <a:spcPct val="15000"/>
              </a:spcBef>
              <a:spcAft>
                <a:spcPct val="0"/>
              </a:spcAft>
              <a:buClr>
                <a:srgbClr val="CC0000"/>
              </a:buClr>
              <a:buFont typeface="Wingdings" pitchFamily="2" charset="2"/>
              <a:buChar char="§"/>
            </a:pPr>
            <a:r>
              <a:rPr lang="zh-CN" altLang="zh-CN" sz="1361">
                <a:solidFill>
                  <a:srgbClr val="000000"/>
                </a:solidFill>
                <a:ea typeface="宋体" panose="02010600030101010101" pitchFamily="2" charset="-122"/>
              </a:rPr>
              <a:t>拥有生产要素，出售或出租它们给企业以换取收入</a:t>
            </a:r>
            <a:endParaRPr lang="zh-CN" altLang="en-US" sz="1361">
              <a:solidFill>
                <a:srgbClr val="000000"/>
              </a:solidFill>
              <a:ea typeface="宋体" panose="02010600030101010101" pitchFamily="2" charset="-122"/>
            </a:endParaRPr>
          </a:p>
          <a:p>
            <a:pPr marL="146477" indent="-116861" defTabSz="461040" fontAlgn="base">
              <a:spcBef>
                <a:spcPct val="15000"/>
              </a:spcBef>
              <a:spcAft>
                <a:spcPct val="0"/>
              </a:spcAft>
              <a:buClr>
                <a:srgbClr val="CC0000"/>
              </a:buClr>
              <a:buFont typeface="Wingdings" pitchFamily="2" charset="2"/>
              <a:buChar char="§"/>
            </a:pPr>
            <a:r>
              <a:rPr lang="zh-CN" altLang="zh-CN" sz="1361">
                <a:solidFill>
                  <a:srgbClr val="000000"/>
                </a:solidFill>
                <a:ea typeface="宋体" panose="02010600030101010101" pitchFamily="2" charset="-122"/>
              </a:rPr>
              <a:t>购买并消费物品与劳务</a:t>
            </a:r>
            <a:endParaRPr lang="zh-CN" altLang="en-US" sz="1361">
              <a:solidFill>
                <a:srgbClr val="000000"/>
              </a:solidFill>
              <a:ea typeface="宋体" panose="02010600030101010101" pitchFamily="2" charset="-122"/>
            </a:endParaRPr>
          </a:p>
        </p:txBody>
      </p:sp>
      <p:grpSp>
        <p:nvGrpSpPr>
          <p:cNvPr id="16390" name="Group 6">
            <a:extLst>
              <a:ext uri="{FF2B5EF4-FFF2-40B4-BE49-F238E27FC236}">
                <a16:creationId xmlns:a16="http://schemas.microsoft.com/office/drawing/2014/main" id="{E3F26989-3BD0-8DB5-8A1B-B3A280FB7795}"/>
              </a:ext>
            </a:extLst>
          </p:cNvPr>
          <p:cNvGrpSpPr>
            <a:grpSpLocks/>
          </p:cNvGrpSpPr>
          <p:nvPr/>
        </p:nvGrpSpPr>
        <p:grpSpPr bwMode="auto">
          <a:xfrm>
            <a:off x="3339922" y="1498269"/>
            <a:ext cx="1090097" cy="450606"/>
            <a:chOff x="0" y="0"/>
            <a:chExt cx="1362" cy="563"/>
          </a:xfrm>
        </p:grpSpPr>
        <p:sp>
          <p:nvSpPr>
            <p:cNvPr id="16391" name="Rectangle 6">
              <a:extLst>
                <a:ext uri="{FF2B5EF4-FFF2-40B4-BE49-F238E27FC236}">
                  <a16:creationId xmlns:a16="http://schemas.microsoft.com/office/drawing/2014/main" id="{72D1AF57-5941-6951-30F7-C63FF3487F29}"/>
                </a:ext>
              </a:extLst>
            </p:cNvPr>
            <p:cNvSpPr>
              <a:spLocks noChangeArrowheads="1"/>
            </p:cNvSpPr>
            <p:nvPr/>
          </p:nvSpPr>
          <p:spPr bwMode="auto">
            <a:xfrm>
              <a:off x="0" y="0"/>
              <a:ext cx="1362" cy="56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16392" name="Text Box 7">
              <a:extLst>
                <a:ext uri="{FF2B5EF4-FFF2-40B4-BE49-F238E27FC236}">
                  <a16:creationId xmlns:a16="http://schemas.microsoft.com/office/drawing/2014/main" id="{B3F7B92A-3FB6-49EB-C6C1-08E46FCFF025}"/>
                </a:ext>
              </a:extLst>
            </p:cNvPr>
            <p:cNvSpPr txBox="1">
              <a:spLocks noChangeArrowheads="1"/>
            </p:cNvSpPr>
            <p:nvPr/>
          </p:nvSpPr>
          <p:spPr bwMode="auto">
            <a:xfrm>
              <a:off x="29" y="128"/>
              <a:ext cx="1309" cy="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361">
                  <a:solidFill>
                    <a:srgbClr val="000000"/>
                  </a:solidFill>
                  <a:ea typeface="宋体" panose="02010600030101010101" pitchFamily="2" charset="-122"/>
                </a:rPr>
                <a:t>家庭</a:t>
              </a:r>
            </a:p>
          </p:txBody>
        </p:sp>
      </p:grpSp>
      <p:grpSp>
        <p:nvGrpSpPr>
          <p:cNvPr id="16393" name="Group 9">
            <a:extLst>
              <a:ext uri="{FF2B5EF4-FFF2-40B4-BE49-F238E27FC236}">
                <a16:creationId xmlns:a16="http://schemas.microsoft.com/office/drawing/2014/main" id="{98A8C651-6DA2-EC83-09B0-FCC4D90B0664}"/>
              </a:ext>
            </a:extLst>
          </p:cNvPr>
          <p:cNvGrpSpPr>
            <a:grpSpLocks/>
          </p:cNvGrpSpPr>
          <p:nvPr/>
        </p:nvGrpSpPr>
        <p:grpSpPr bwMode="auto">
          <a:xfrm>
            <a:off x="121655" y="1503071"/>
            <a:ext cx="980447" cy="450606"/>
            <a:chOff x="0" y="0"/>
            <a:chExt cx="1225" cy="563"/>
          </a:xfrm>
        </p:grpSpPr>
        <p:sp>
          <p:nvSpPr>
            <p:cNvPr id="16394" name="Rectangle 9">
              <a:extLst>
                <a:ext uri="{FF2B5EF4-FFF2-40B4-BE49-F238E27FC236}">
                  <a16:creationId xmlns:a16="http://schemas.microsoft.com/office/drawing/2014/main" id="{894292D8-B3DA-028A-9643-CC2AFE63E6DB}"/>
                </a:ext>
              </a:extLst>
            </p:cNvPr>
            <p:cNvSpPr>
              <a:spLocks noChangeArrowheads="1"/>
            </p:cNvSpPr>
            <p:nvPr/>
          </p:nvSpPr>
          <p:spPr bwMode="auto">
            <a:xfrm>
              <a:off x="0" y="0"/>
              <a:ext cx="1225" cy="56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16395" name="Text Box 10">
              <a:extLst>
                <a:ext uri="{FF2B5EF4-FFF2-40B4-BE49-F238E27FC236}">
                  <a16:creationId xmlns:a16="http://schemas.microsoft.com/office/drawing/2014/main" id="{28FE5C86-D27C-9284-901D-083CEC1C0B10}"/>
                </a:ext>
              </a:extLst>
            </p:cNvPr>
            <p:cNvSpPr txBox="1">
              <a:spLocks noChangeArrowheads="1"/>
            </p:cNvSpPr>
            <p:nvPr/>
          </p:nvSpPr>
          <p:spPr bwMode="auto">
            <a:xfrm>
              <a:off x="115" y="113"/>
              <a:ext cx="1021" cy="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361">
                  <a:solidFill>
                    <a:srgbClr val="000000"/>
                  </a:solidFill>
                  <a:ea typeface="宋体" panose="02010600030101010101" pitchFamily="2" charset="-122"/>
                </a:rPr>
                <a:t>企业</a:t>
              </a:r>
            </a:p>
          </p:txBody>
        </p:sp>
      </p:grpSp>
      <p:sp>
        <p:nvSpPr>
          <p:cNvPr id="16396" name="Text Box 9">
            <a:extLst>
              <a:ext uri="{FF2B5EF4-FFF2-40B4-BE49-F238E27FC236}">
                <a16:creationId xmlns:a16="http://schemas.microsoft.com/office/drawing/2014/main" id="{3EBEB6E6-5CC0-BB6D-DB8A-CD928723578F}"/>
              </a:ext>
            </a:extLst>
          </p:cNvPr>
          <p:cNvSpPr txBox="1">
            <a:spLocks noChangeArrowheads="1"/>
          </p:cNvSpPr>
          <p:nvPr/>
        </p:nvSpPr>
        <p:spPr bwMode="auto">
          <a:xfrm>
            <a:off x="112051" y="2052922"/>
            <a:ext cx="2558766" cy="992836"/>
          </a:xfrm>
          <a:prstGeom prst="rect">
            <a:avLst/>
          </a:prstGeom>
          <a:solidFill>
            <a:srgbClr val="FFFFCC"/>
          </a:solidFill>
          <a:ln>
            <a:noFill/>
          </a:ln>
          <a:effectLst>
            <a:outerShdw dist="71842"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0513" indent="-23177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146477" indent="-116861" defTabSz="461040" fontAlgn="base">
              <a:spcBef>
                <a:spcPct val="15000"/>
              </a:spcBef>
              <a:spcAft>
                <a:spcPct val="0"/>
              </a:spcAft>
              <a:buClr>
                <a:srgbClr val="CC0000"/>
              </a:buClr>
            </a:pPr>
            <a:r>
              <a:rPr lang="zh-CN" altLang="zh-CN" sz="1361" b="1">
                <a:solidFill>
                  <a:srgbClr val="000000"/>
                </a:solidFill>
                <a:ea typeface="宋体" panose="02010600030101010101" pitchFamily="2" charset="-122"/>
              </a:rPr>
              <a:t>企业</a:t>
            </a:r>
            <a:r>
              <a:rPr lang="en-US" altLang="zh-CN" sz="1361">
                <a:solidFill>
                  <a:srgbClr val="000000"/>
                </a:solidFill>
                <a:ea typeface="宋体" panose="02010600030101010101" pitchFamily="2" charset="-122"/>
              </a:rPr>
              <a:t>:</a:t>
            </a:r>
          </a:p>
          <a:p>
            <a:pPr marL="146477" indent="-116861" defTabSz="461040" fontAlgn="base">
              <a:spcBef>
                <a:spcPct val="15000"/>
              </a:spcBef>
              <a:spcAft>
                <a:spcPct val="0"/>
              </a:spcAft>
              <a:buClr>
                <a:srgbClr val="CC0000"/>
              </a:buClr>
              <a:buFont typeface="Wingdings" pitchFamily="2" charset="2"/>
              <a:buChar char="§"/>
            </a:pPr>
            <a:r>
              <a:rPr lang="zh-CN" altLang="zh-CN" sz="1361">
                <a:solidFill>
                  <a:srgbClr val="000000"/>
                </a:solidFill>
                <a:ea typeface="宋体" panose="02010600030101010101" pitchFamily="2" charset="-122"/>
              </a:rPr>
              <a:t>购买或租赁生产要素，用它们来生产物品与劳务</a:t>
            </a:r>
            <a:endParaRPr lang="zh-CN" altLang="en-US" sz="1361">
              <a:solidFill>
                <a:srgbClr val="000000"/>
              </a:solidFill>
              <a:ea typeface="宋体" panose="02010600030101010101" pitchFamily="2" charset="-122"/>
            </a:endParaRPr>
          </a:p>
          <a:p>
            <a:pPr marL="146477" indent="-116861" defTabSz="461040" fontAlgn="base">
              <a:spcBef>
                <a:spcPct val="15000"/>
              </a:spcBef>
              <a:spcAft>
                <a:spcPct val="0"/>
              </a:spcAft>
              <a:buClr>
                <a:srgbClr val="CC0000"/>
              </a:buClr>
              <a:buFont typeface="Wingdings" pitchFamily="2" charset="2"/>
              <a:buChar char="§"/>
            </a:pPr>
            <a:r>
              <a:rPr lang="zh-CN" altLang="zh-CN" sz="1361">
                <a:solidFill>
                  <a:srgbClr val="000000"/>
                </a:solidFill>
                <a:ea typeface="宋体" panose="02010600030101010101" pitchFamily="2" charset="-122"/>
              </a:rPr>
              <a:t>出售物品与劳务</a:t>
            </a:r>
            <a:endParaRPr lang="zh-CN" altLang="en-US" sz="1361">
              <a:solidFill>
                <a:srgbClr val="000000"/>
              </a:solidFill>
              <a:ea typeface="宋体" panose="02010600030101010101" pitchFamily="2" charset="-122"/>
            </a:endParaRPr>
          </a:p>
        </p:txBody>
      </p:sp>
      <p:sp>
        <p:nvSpPr>
          <p:cNvPr id="4" name="页脚占位符 1">
            <a:extLst>
              <a:ext uri="{FF2B5EF4-FFF2-40B4-BE49-F238E27FC236}">
                <a16:creationId xmlns:a16="http://schemas.microsoft.com/office/drawing/2014/main" id="{E0B1D428-798E-2691-514B-216A3BDA62AA}"/>
              </a:ext>
            </a:extLst>
          </p:cNvPr>
          <p:cNvSpPr>
            <a:spLocks noGrp="1"/>
          </p:cNvSpPr>
          <p:nvPr>
            <p:ph type="ftr" sz="quarter" idx="10"/>
          </p:nvPr>
        </p:nvSpPr>
        <p:spPr>
          <a:xfrm>
            <a:off x="144066" y="3226028"/>
            <a:ext cx="3698485" cy="185054"/>
          </a:xfrm>
        </p:spPr>
        <p:txBody>
          <a:bodyPr/>
          <a:lstStyle/>
          <a:p>
            <a:pPr defTabSz="461040" fontAlgn="base">
              <a:spcBef>
                <a:spcPct val="0"/>
              </a:spcBef>
              <a:spcAft>
                <a:spcPct val="0"/>
              </a:spcAft>
            </a:pPr>
            <a:r>
              <a:rPr lang="zh-CN" altLang="en-US" sz="908" dirty="0">
                <a:latin typeface="Arial" panose="020B0604020202020204" pitchFamily="34" charset="0"/>
              </a:rPr>
              <a:t>国内生产总值</a:t>
            </a:r>
            <a:endParaRPr lang="zh-CN" altLang="zh-CN" sz="908" dirty="0">
              <a:latin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6390"/>
                                        </p:tgtEl>
                                        <p:attrNameLst>
                                          <p:attrName>style.visibility</p:attrName>
                                        </p:attrNameLst>
                                      </p:cBhvr>
                                      <p:to>
                                        <p:strVal val="visible"/>
                                      </p:to>
                                    </p:set>
                                    <p:animEffect transition="in" filter="dissolve">
                                      <p:cBhvr>
                                        <p:cTn id="7" dur="500"/>
                                        <p:tgtEl>
                                          <p:spTgt spid="163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6393"/>
                                        </p:tgtEl>
                                        <p:attrNameLst>
                                          <p:attrName>style.visibility</p:attrName>
                                        </p:attrNameLst>
                                      </p:cBhvr>
                                      <p:to>
                                        <p:strVal val="visible"/>
                                      </p:to>
                                    </p:set>
                                    <p:animEffect transition="in" filter="dissolve">
                                      <p:cBhvr>
                                        <p:cTn id="12" dur="500"/>
                                        <p:tgtEl>
                                          <p:spTgt spid="1639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6389"/>
                                        </p:tgtEl>
                                        <p:attrNameLst>
                                          <p:attrName>style.visibility</p:attrName>
                                        </p:attrNameLst>
                                      </p:cBhvr>
                                      <p:to>
                                        <p:strVal val="visible"/>
                                      </p:to>
                                    </p:set>
                                    <p:animEffect transition="in" filter="dissolve">
                                      <p:cBhvr>
                                        <p:cTn id="17" dur="500"/>
                                        <p:tgtEl>
                                          <p:spTgt spid="16389"/>
                                        </p:tgtEl>
                                      </p:cBhvr>
                                    </p:animEffect>
                                  </p:childTnLst>
                                </p:cTn>
                              </p:par>
                              <p:par>
                                <p:cTn id="18" presetID="9" presetClass="entr" presetSubtype="0" fill="hold" nodeType="withEffect">
                                  <p:stCondLst>
                                    <p:cond delay="0"/>
                                  </p:stCondLst>
                                  <p:childTnLst>
                                    <p:set>
                                      <p:cBhvr>
                                        <p:cTn id="19" dur="1" fill="hold">
                                          <p:stCondLst>
                                            <p:cond delay="0"/>
                                          </p:stCondLst>
                                        </p:cTn>
                                        <p:tgtEl>
                                          <p:spTgt spid="16387"/>
                                        </p:tgtEl>
                                        <p:attrNameLst>
                                          <p:attrName>style.visibility</p:attrName>
                                        </p:attrNameLst>
                                      </p:cBhvr>
                                      <p:to>
                                        <p:strVal val="visible"/>
                                      </p:to>
                                    </p:set>
                                    <p:animEffect transition="in" filter="dissolve">
                                      <p:cBhvr>
                                        <p:cTn id="20" dur="500"/>
                                        <p:tgtEl>
                                          <p:spTgt spid="1638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xit" presetSubtype="0" fill="hold" nodeType="clickEffect">
                                  <p:stCondLst>
                                    <p:cond delay="0"/>
                                  </p:stCondLst>
                                  <p:childTnLst>
                                    <p:animEffect transition="out" filter="dissolve">
                                      <p:cBhvr>
                                        <p:cTn id="24" dur="500"/>
                                        <p:tgtEl>
                                          <p:spTgt spid="16387"/>
                                        </p:tgtEl>
                                      </p:cBhvr>
                                    </p:animEffect>
                                    <p:set>
                                      <p:cBhvr>
                                        <p:cTn id="25" dur="1" fill="hold">
                                          <p:stCondLst>
                                            <p:cond delay="499"/>
                                          </p:stCondLst>
                                        </p:cTn>
                                        <p:tgtEl>
                                          <p:spTgt spid="16387"/>
                                        </p:tgtEl>
                                        <p:attrNameLst>
                                          <p:attrName>style.visibility</p:attrName>
                                        </p:attrNameLst>
                                      </p:cBhvr>
                                      <p:to>
                                        <p:strVal val="hidden"/>
                                      </p:to>
                                    </p:set>
                                  </p:childTnLst>
                                </p:cTn>
                              </p:par>
                              <p:par>
                                <p:cTn id="26" presetID="9" presetClass="exit" presetSubtype="0" fill="hold" nodeType="withEffect">
                                  <p:stCondLst>
                                    <p:cond delay="0"/>
                                  </p:stCondLst>
                                  <p:childTnLst>
                                    <p:animEffect transition="out" filter="dissolve">
                                      <p:cBhvr>
                                        <p:cTn id="27" dur="500"/>
                                        <p:tgtEl>
                                          <p:spTgt spid="16389"/>
                                        </p:tgtEl>
                                      </p:cBhvr>
                                    </p:animEffect>
                                    <p:set>
                                      <p:cBhvr>
                                        <p:cTn id="28" dur="1" fill="hold">
                                          <p:stCondLst>
                                            <p:cond delay="499"/>
                                          </p:stCondLst>
                                        </p:cTn>
                                        <p:tgtEl>
                                          <p:spTgt spid="16389"/>
                                        </p:tgtEl>
                                        <p:attrNameLst>
                                          <p:attrName>style.visibility</p:attrName>
                                        </p:attrNameLst>
                                      </p:cBhvr>
                                      <p:to>
                                        <p:strVal val="hidden"/>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nodeType="clickEffect">
                                  <p:stCondLst>
                                    <p:cond delay="0"/>
                                  </p:stCondLst>
                                  <p:childTnLst>
                                    <p:set>
                                      <p:cBhvr>
                                        <p:cTn id="32" dur="1" fill="hold">
                                          <p:stCondLst>
                                            <p:cond delay="0"/>
                                          </p:stCondLst>
                                        </p:cTn>
                                        <p:tgtEl>
                                          <p:spTgt spid="16396"/>
                                        </p:tgtEl>
                                        <p:attrNameLst>
                                          <p:attrName>style.visibility</p:attrName>
                                        </p:attrNameLst>
                                      </p:cBhvr>
                                      <p:to>
                                        <p:strVal val="visible"/>
                                      </p:to>
                                    </p:set>
                                    <p:animEffect transition="in" filter="dissolve">
                                      <p:cBhvr>
                                        <p:cTn id="33" dur="500"/>
                                        <p:tgtEl>
                                          <p:spTgt spid="16396"/>
                                        </p:tgtEl>
                                      </p:cBhvr>
                                    </p:animEffect>
                                  </p:childTnLst>
                                </p:cTn>
                              </p:par>
                              <p:par>
                                <p:cTn id="34" presetID="9" presetClass="entr" presetSubtype="0" fill="hold" nodeType="withEffect">
                                  <p:stCondLst>
                                    <p:cond delay="0"/>
                                  </p:stCondLst>
                                  <p:childTnLst>
                                    <p:set>
                                      <p:cBhvr>
                                        <p:cTn id="35" dur="1" fill="hold">
                                          <p:stCondLst>
                                            <p:cond delay="0"/>
                                          </p:stCondLst>
                                        </p:cTn>
                                        <p:tgtEl>
                                          <p:spTgt spid="16386"/>
                                        </p:tgtEl>
                                        <p:attrNameLst>
                                          <p:attrName>style.visibility</p:attrName>
                                        </p:attrNameLst>
                                      </p:cBhvr>
                                      <p:to>
                                        <p:strVal val="visible"/>
                                      </p:to>
                                    </p:set>
                                    <p:animEffect transition="in" filter="dissolve">
                                      <p:cBhvr>
                                        <p:cTn id="36" dur="500"/>
                                        <p:tgtEl>
                                          <p:spTgt spid="16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animBg="1" autoUpdateAnimBg="0"/>
      <p:bldP spid="16387" grpId="0" animBg="1" autoUpdateAnimBg="0"/>
      <p:bldP spid="16387" grpId="1" animBg="1" autoUpdateAnimBg="0"/>
      <p:bldP spid="16389" grpId="0" bldLvl="0" animBg="1" autoUpdateAnimBg="0"/>
      <p:bldP spid="16389" grpId="1" bldLvl="0" animBg="1" autoUpdateAnimBg="0"/>
      <p:bldP spid="16396" grpId="0" bldLvl="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8BFE5883-04F2-B20A-51CC-683C95F7B995}"/>
              </a:ext>
            </a:extLst>
          </p:cNvPr>
          <p:cNvSpPr>
            <a:spLocks noGrp="1"/>
          </p:cNvSpPr>
          <p:nvPr>
            <p:ph type="sldNum" sz="quarter" idx="11"/>
          </p:nvPr>
        </p:nvSpPr>
        <p:spPr/>
        <p:txBody>
          <a:bodyPr/>
          <a:lstStyle/>
          <a:p>
            <a:pPr defTabSz="461040" fontAlgn="base">
              <a:spcBef>
                <a:spcPct val="0"/>
              </a:spcBef>
              <a:spcAft>
                <a:spcPct val="0"/>
              </a:spcAft>
            </a:pPr>
            <a:fld id="{E6C85C5C-D50E-D947-ADA3-0B412AC193A2}" type="slidenum">
              <a:rPr lang="zh-CN" altLang="zh-CN">
                <a:latin typeface="Arial" panose="020B0604020202020204" pitchFamily="34" charset="0"/>
              </a:rPr>
              <a:pPr defTabSz="461040" fontAlgn="base">
                <a:spcBef>
                  <a:spcPct val="0"/>
                </a:spcBef>
                <a:spcAft>
                  <a:spcPct val="0"/>
                </a:spcAft>
              </a:pPr>
              <a:t>32</a:t>
            </a:fld>
            <a:endParaRPr lang="en-US" altLang="zh-CN">
              <a:latin typeface="Arial" panose="020B0604020202020204" pitchFamily="34" charset="0"/>
            </a:endParaRPr>
          </a:p>
        </p:txBody>
      </p:sp>
      <p:sp>
        <p:nvSpPr>
          <p:cNvPr id="18434" name="Rectangle 2">
            <a:extLst>
              <a:ext uri="{FF2B5EF4-FFF2-40B4-BE49-F238E27FC236}">
                <a16:creationId xmlns:a16="http://schemas.microsoft.com/office/drawing/2014/main" id="{B8612985-E185-ABFD-AC1B-94C021C802ED}"/>
              </a:ext>
            </a:extLst>
          </p:cNvPr>
          <p:cNvSpPr>
            <a:spLocks noGrp="1" noChangeArrowheads="1"/>
          </p:cNvSpPr>
          <p:nvPr>
            <p:ph type="title" idx="4294967295"/>
          </p:nvPr>
        </p:nvSpPr>
        <p:spPr>
          <a:xfrm>
            <a:off x="115253" y="72820"/>
            <a:ext cx="4149090" cy="278527"/>
          </a:xfrm>
        </p:spPr>
        <p:txBody>
          <a:bodyPr/>
          <a:lstStyle/>
          <a:p>
            <a:pPr algn="l"/>
            <a:r>
              <a:rPr lang="zh-CN" altLang="en-US" sz="1815">
                <a:ea typeface="宋体" panose="02010600030101010101" pitchFamily="2" charset="-122"/>
              </a:rPr>
              <a:t>循环流量图</a:t>
            </a:r>
          </a:p>
        </p:txBody>
      </p:sp>
      <p:grpSp>
        <p:nvGrpSpPr>
          <p:cNvPr id="18435" name="Group 3">
            <a:extLst>
              <a:ext uri="{FF2B5EF4-FFF2-40B4-BE49-F238E27FC236}">
                <a16:creationId xmlns:a16="http://schemas.microsoft.com/office/drawing/2014/main" id="{AA3FB361-74B5-F3F7-3DB4-9FB50ABDC422}"/>
              </a:ext>
            </a:extLst>
          </p:cNvPr>
          <p:cNvGrpSpPr>
            <a:grpSpLocks/>
          </p:cNvGrpSpPr>
          <p:nvPr/>
        </p:nvGrpSpPr>
        <p:grpSpPr bwMode="auto">
          <a:xfrm>
            <a:off x="1692772" y="2237806"/>
            <a:ext cx="1221356" cy="851588"/>
            <a:chOff x="0" y="0"/>
            <a:chExt cx="1526" cy="1064"/>
          </a:xfrm>
        </p:grpSpPr>
        <p:sp>
          <p:nvSpPr>
            <p:cNvPr id="18436" name="Oval 4">
              <a:extLst>
                <a:ext uri="{FF2B5EF4-FFF2-40B4-BE49-F238E27FC236}">
                  <a16:creationId xmlns:a16="http://schemas.microsoft.com/office/drawing/2014/main" id="{8A2DE1AC-56AB-CD32-0238-D61F58D9DA98}"/>
                </a:ext>
              </a:extLst>
            </p:cNvPr>
            <p:cNvSpPr>
              <a:spLocks noChangeArrowheads="1"/>
            </p:cNvSpPr>
            <p:nvPr/>
          </p:nvSpPr>
          <p:spPr bwMode="auto">
            <a:xfrm>
              <a:off x="23" y="0"/>
              <a:ext cx="1462" cy="1064"/>
            </a:xfrm>
            <a:prstGeom prst="ellipse">
              <a:avLst/>
            </a:pr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18437" name="Text Box 5">
              <a:extLst>
                <a:ext uri="{FF2B5EF4-FFF2-40B4-BE49-F238E27FC236}">
                  <a16:creationId xmlns:a16="http://schemas.microsoft.com/office/drawing/2014/main" id="{31E45A84-B4E3-F4B3-85C5-96FF11889A05}"/>
                </a:ext>
              </a:extLst>
            </p:cNvPr>
            <p:cNvSpPr txBox="1">
              <a:spLocks noChangeArrowheads="1"/>
            </p:cNvSpPr>
            <p:nvPr/>
          </p:nvSpPr>
          <p:spPr bwMode="auto">
            <a:xfrm>
              <a:off x="0" y="136"/>
              <a:ext cx="1526" cy="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311">
                  <a:solidFill>
                    <a:srgbClr val="000000"/>
                  </a:solidFill>
                  <a:ea typeface="宋体" panose="02010600030101010101" pitchFamily="2" charset="-122"/>
                </a:rPr>
                <a:t>生产要素</a:t>
              </a:r>
            </a:p>
            <a:p>
              <a:pPr algn="ctr" defTabSz="461040" fontAlgn="base">
                <a:spcBef>
                  <a:spcPct val="50000"/>
                </a:spcBef>
                <a:spcAft>
                  <a:spcPct val="0"/>
                </a:spcAft>
              </a:pPr>
              <a:r>
                <a:rPr lang="zh-CN" altLang="zh-CN" sz="1311">
                  <a:solidFill>
                    <a:srgbClr val="000000"/>
                  </a:solidFill>
                  <a:ea typeface="宋体" panose="02010600030101010101" pitchFamily="2" charset="-122"/>
                </a:rPr>
                <a:t>市场</a:t>
              </a:r>
              <a:endParaRPr lang="zh-CN" altLang="en-US" sz="1311">
                <a:solidFill>
                  <a:srgbClr val="000000"/>
                </a:solidFill>
                <a:ea typeface="宋体" panose="02010600030101010101" pitchFamily="2" charset="-122"/>
              </a:endParaRPr>
            </a:p>
          </p:txBody>
        </p:sp>
      </p:grpSp>
      <p:grpSp>
        <p:nvGrpSpPr>
          <p:cNvPr id="18438" name="Group 6">
            <a:extLst>
              <a:ext uri="{FF2B5EF4-FFF2-40B4-BE49-F238E27FC236}">
                <a16:creationId xmlns:a16="http://schemas.microsoft.com/office/drawing/2014/main" id="{24F5672C-E2DC-7EEA-510B-497DF0F3F944}"/>
              </a:ext>
            </a:extLst>
          </p:cNvPr>
          <p:cNvGrpSpPr>
            <a:grpSpLocks/>
          </p:cNvGrpSpPr>
          <p:nvPr/>
        </p:nvGrpSpPr>
        <p:grpSpPr bwMode="auto">
          <a:xfrm>
            <a:off x="3339922" y="1498269"/>
            <a:ext cx="1090097" cy="450606"/>
            <a:chOff x="0" y="0"/>
            <a:chExt cx="1362" cy="563"/>
          </a:xfrm>
        </p:grpSpPr>
        <p:sp>
          <p:nvSpPr>
            <p:cNvPr id="18439" name="Rectangle 7">
              <a:extLst>
                <a:ext uri="{FF2B5EF4-FFF2-40B4-BE49-F238E27FC236}">
                  <a16:creationId xmlns:a16="http://schemas.microsoft.com/office/drawing/2014/main" id="{E20B2FD1-E815-6B2E-845B-E3C04A2B42B2}"/>
                </a:ext>
              </a:extLst>
            </p:cNvPr>
            <p:cNvSpPr>
              <a:spLocks noChangeArrowheads="1"/>
            </p:cNvSpPr>
            <p:nvPr/>
          </p:nvSpPr>
          <p:spPr bwMode="auto">
            <a:xfrm>
              <a:off x="0" y="0"/>
              <a:ext cx="1362" cy="56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18440" name="Text Box 8">
              <a:extLst>
                <a:ext uri="{FF2B5EF4-FFF2-40B4-BE49-F238E27FC236}">
                  <a16:creationId xmlns:a16="http://schemas.microsoft.com/office/drawing/2014/main" id="{D8CD6A61-FCB1-19CA-0067-C2CD0A6BA65C}"/>
                </a:ext>
              </a:extLst>
            </p:cNvPr>
            <p:cNvSpPr txBox="1">
              <a:spLocks noChangeArrowheads="1"/>
            </p:cNvSpPr>
            <p:nvPr/>
          </p:nvSpPr>
          <p:spPr bwMode="auto">
            <a:xfrm>
              <a:off x="29" y="128"/>
              <a:ext cx="1309" cy="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361">
                  <a:solidFill>
                    <a:srgbClr val="000000"/>
                  </a:solidFill>
                  <a:ea typeface="宋体" panose="02010600030101010101" pitchFamily="2" charset="-122"/>
                </a:rPr>
                <a:t>家庭</a:t>
              </a:r>
              <a:endParaRPr lang="zh-CN" altLang="en-US" sz="1361">
                <a:solidFill>
                  <a:srgbClr val="000000"/>
                </a:solidFill>
                <a:ea typeface="宋体" panose="02010600030101010101" pitchFamily="2" charset="-122"/>
              </a:endParaRPr>
            </a:p>
          </p:txBody>
        </p:sp>
      </p:grpSp>
      <p:grpSp>
        <p:nvGrpSpPr>
          <p:cNvPr id="18441" name="Group 9">
            <a:extLst>
              <a:ext uri="{FF2B5EF4-FFF2-40B4-BE49-F238E27FC236}">
                <a16:creationId xmlns:a16="http://schemas.microsoft.com/office/drawing/2014/main" id="{D6B47087-A032-2FC9-6A10-54631D567BFA}"/>
              </a:ext>
            </a:extLst>
          </p:cNvPr>
          <p:cNvGrpSpPr>
            <a:grpSpLocks/>
          </p:cNvGrpSpPr>
          <p:nvPr/>
        </p:nvGrpSpPr>
        <p:grpSpPr bwMode="auto">
          <a:xfrm>
            <a:off x="121655" y="1503071"/>
            <a:ext cx="980447" cy="450606"/>
            <a:chOff x="0" y="0"/>
            <a:chExt cx="1225" cy="563"/>
          </a:xfrm>
        </p:grpSpPr>
        <p:sp>
          <p:nvSpPr>
            <p:cNvPr id="18442" name="Rectangle 10">
              <a:extLst>
                <a:ext uri="{FF2B5EF4-FFF2-40B4-BE49-F238E27FC236}">
                  <a16:creationId xmlns:a16="http://schemas.microsoft.com/office/drawing/2014/main" id="{4DDE75FB-F73F-B573-D797-D39F74D5A7BB}"/>
                </a:ext>
              </a:extLst>
            </p:cNvPr>
            <p:cNvSpPr>
              <a:spLocks noChangeArrowheads="1"/>
            </p:cNvSpPr>
            <p:nvPr/>
          </p:nvSpPr>
          <p:spPr bwMode="auto">
            <a:xfrm>
              <a:off x="0" y="0"/>
              <a:ext cx="1225" cy="56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18443" name="Text Box 11">
              <a:extLst>
                <a:ext uri="{FF2B5EF4-FFF2-40B4-BE49-F238E27FC236}">
                  <a16:creationId xmlns:a16="http://schemas.microsoft.com/office/drawing/2014/main" id="{0003B256-44CD-6B6E-CAFD-4BFC11EFD929}"/>
                </a:ext>
              </a:extLst>
            </p:cNvPr>
            <p:cNvSpPr txBox="1">
              <a:spLocks noChangeArrowheads="1"/>
            </p:cNvSpPr>
            <p:nvPr/>
          </p:nvSpPr>
          <p:spPr bwMode="auto">
            <a:xfrm>
              <a:off x="115" y="113"/>
              <a:ext cx="1021" cy="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361">
                  <a:solidFill>
                    <a:srgbClr val="000000"/>
                  </a:solidFill>
                  <a:ea typeface="宋体" panose="02010600030101010101" pitchFamily="2" charset="-122"/>
                </a:rPr>
                <a:t>企业</a:t>
              </a:r>
            </a:p>
          </p:txBody>
        </p:sp>
      </p:grpSp>
      <p:grpSp>
        <p:nvGrpSpPr>
          <p:cNvPr id="18444" name="Group 12">
            <a:extLst>
              <a:ext uri="{FF2B5EF4-FFF2-40B4-BE49-F238E27FC236}">
                <a16:creationId xmlns:a16="http://schemas.microsoft.com/office/drawing/2014/main" id="{A8BEDDEA-86AD-1D5A-AD68-4892C1558D07}"/>
              </a:ext>
            </a:extLst>
          </p:cNvPr>
          <p:cNvGrpSpPr>
            <a:grpSpLocks/>
          </p:cNvGrpSpPr>
          <p:nvPr/>
        </p:nvGrpSpPr>
        <p:grpSpPr bwMode="auto">
          <a:xfrm>
            <a:off x="2883714" y="1948074"/>
            <a:ext cx="1462266" cy="1106104"/>
            <a:chOff x="0" y="0"/>
            <a:chExt cx="1827" cy="1382"/>
          </a:xfrm>
        </p:grpSpPr>
        <p:grpSp>
          <p:nvGrpSpPr>
            <p:cNvPr id="18445" name="Group 13">
              <a:extLst>
                <a:ext uri="{FF2B5EF4-FFF2-40B4-BE49-F238E27FC236}">
                  <a16:creationId xmlns:a16="http://schemas.microsoft.com/office/drawing/2014/main" id="{19CDAAE5-A6BA-25F1-EC04-1FE2ECB6B6BD}"/>
                </a:ext>
              </a:extLst>
            </p:cNvPr>
            <p:cNvGrpSpPr>
              <a:grpSpLocks/>
            </p:cNvGrpSpPr>
            <p:nvPr/>
          </p:nvGrpSpPr>
          <p:grpSpPr bwMode="auto">
            <a:xfrm rot="5400000">
              <a:off x="263" y="-263"/>
              <a:ext cx="1048" cy="1573"/>
              <a:chOff x="0" y="0"/>
              <a:chExt cx="1008" cy="752"/>
            </a:xfrm>
          </p:grpSpPr>
          <p:sp>
            <p:nvSpPr>
              <p:cNvPr id="18446" name="Line 14">
                <a:extLst>
                  <a:ext uri="{FF2B5EF4-FFF2-40B4-BE49-F238E27FC236}">
                    <a16:creationId xmlns:a16="http://schemas.microsoft.com/office/drawing/2014/main" id="{E6C7E349-0536-6FFD-6C17-7C9240004F63}"/>
                  </a:ext>
                </a:extLst>
              </p:cNvPr>
              <p:cNvSpPr>
                <a:spLocks noChangeShapeType="1"/>
              </p:cNvSpPr>
              <p:nvPr/>
            </p:nvSpPr>
            <p:spPr bwMode="auto">
              <a:xfrm flipH="1">
                <a:off x="0" y="0"/>
                <a:ext cx="1008" cy="0"/>
              </a:xfrm>
              <a:prstGeom prst="line">
                <a:avLst/>
              </a:prstGeom>
              <a:noFill/>
              <a:ln w="57150">
                <a:solidFill>
                  <a:srgbClr val="009900"/>
                </a:solidFill>
                <a:round/>
                <a:headEnd/>
                <a:tailEnd type="stealth" w="lg" len="lg"/>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18447" name="Line 15">
                <a:extLst>
                  <a:ext uri="{FF2B5EF4-FFF2-40B4-BE49-F238E27FC236}">
                    <a16:creationId xmlns:a16="http://schemas.microsoft.com/office/drawing/2014/main" id="{3639FC63-EDA5-8210-9495-89F552AE09C8}"/>
                  </a:ext>
                </a:extLst>
              </p:cNvPr>
              <p:cNvSpPr>
                <a:spLocks noChangeShapeType="1"/>
              </p:cNvSpPr>
              <p:nvPr/>
            </p:nvSpPr>
            <p:spPr bwMode="auto">
              <a:xfrm>
                <a:off x="990" y="1"/>
                <a:ext cx="0" cy="751"/>
              </a:xfrm>
              <a:prstGeom prst="line">
                <a:avLst/>
              </a:prstGeom>
              <a:noFill/>
              <a:ln w="57150">
                <a:solidFill>
                  <a:srgbClr val="0099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18448" name="Text Box 16">
              <a:extLst>
                <a:ext uri="{FF2B5EF4-FFF2-40B4-BE49-F238E27FC236}">
                  <a16:creationId xmlns:a16="http://schemas.microsoft.com/office/drawing/2014/main" id="{F323F8DA-C229-352F-3EB1-A7798C287C20}"/>
                </a:ext>
              </a:extLst>
            </p:cNvPr>
            <p:cNvSpPr txBox="1">
              <a:spLocks noChangeArrowheads="1"/>
            </p:cNvSpPr>
            <p:nvPr/>
          </p:nvSpPr>
          <p:spPr bwMode="auto">
            <a:xfrm>
              <a:off x="218" y="1024"/>
              <a:ext cx="1609"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50000"/>
                </a:spcBef>
                <a:spcAft>
                  <a:spcPct val="0"/>
                </a:spcAft>
              </a:pPr>
              <a:r>
                <a:rPr lang="zh-CN" altLang="zh-CN" sz="1261">
                  <a:solidFill>
                    <a:srgbClr val="000000"/>
                  </a:solidFill>
                  <a:ea typeface="宋体" panose="02010600030101010101" pitchFamily="2" charset="-122"/>
                </a:rPr>
                <a:t>收入</a:t>
              </a:r>
              <a:r>
                <a:rPr lang="zh-CN" altLang="en-US" sz="1261">
                  <a:solidFill>
                    <a:srgbClr val="000000"/>
                  </a:solidFill>
                  <a:ea typeface="宋体" panose="02010600030101010101" pitchFamily="2" charset="-122"/>
                </a:rPr>
                <a:t> </a:t>
              </a:r>
              <a:r>
                <a:rPr lang="en-US" altLang="zh-CN" sz="1261">
                  <a:solidFill>
                    <a:srgbClr val="000000"/>
                  </a:solidFill>
                  <a:ea typeface="宋体" panose="02010600030101010101" pitchFamily="2" charset="-122"/>
                </a:rPr>
                <a:t>(=GDP)</a:t>
              </a:r>
            </a:p>
          </p:txBody>
        </p:sp>
      </p:grpSp>
      <p:grpSp>
        <p:nvGrpSpPr>
          <p:cNvPr id="18449" name="Group 17">
            <a:extLst>
              <a:ext uri="{FF2B5EF4-FFF2-40B4-BE49-F238E27FC236}">
                <a16:creationId xmlns:a16="http://schemas.microsoft.com/office/drawing/2014/main" id="{FBAAB3D3-A59E-AFE4-4CFE-71EABCC2D6B2}"/>
              </a:ext>
            </a:extLst>
          </p:cNvPr>
          <p:cNvGrpSpPr>
            <a:grpSpLocks/>
          </p:cNvGrpSpPr>
          <p:nvPr/>
        </p:nvGrpSpPr>
        <p:grpSpPr bwMode="auto">
          <a:xfrm>
            <a:off x="244112" y="1963282"/>
            <a:ext cx="1700890" cy="1253934"/>
            <a:chOff x="0" y="0"/>
            <a:chExt cx="1857" cy="1825"/>
          </a:xfrm>
        </p:grpSpPr>
        <p:grpSp>
          <p:nvGrpSpPr>
            <p:cNvPr id="18450" name="Group 18">
              <a:extLst>
                <a:ext uri="{FF2B5EF4-FFF2-40B4-BE49-F238E27FC236}">
                  <a16:creationId xmlns:a16="http://schemas.microsoft.com/office/drawing/2014/main" id="{5F24245E-5BE7-8A40-8EFD-C453B469A103}"/>
                </a:ext>
              </a:extLst>
            </p:cNvPr>
            <p:cNvGrpSpPr>
              <a:grpSpLocks/>
            </p:cNvGrpSpPr>
            <p:nvPr/>
          </p:nvGrpSpPr>
          <p:grpSpPr bwMode="auto">
            <a:xfrm>
              <a:off x="149" y="0"/>
              <a:ext cx="1708" cy="1029"/>
              <a:chOff x="0" y="0"/>
              <a:chExt cx="1684" cy="1029"/>
            </a:xfrm>
          </p:grpSpPr>
          <p:sp>
            <p:nvSpPr>
              <p:cNvPr id="18451" name="Line 19">
                <a:extLst>
                  <a:ext uri="{FF2B5EF4-FFF2-40B4-BE49-F238E27FC236}">
                    <a16:creationId xmlns:a16="http://schemas.microsoft.com/office/drawing/2014/main" id="{85D6C52E-A28F-1946-20FB-B686D3AB78BD}"/>
                  </a:ext>
                </a:extLst>
              </p:cNvPr>
              <p:cNvSpPr>
                <a:spLocks noChangeShapeType="1"/>
              </p:cNvSpPr>
              <p:nvPr/>
            </p:nvSpPr>
            <p:spPr bwMode="auto">
              <a:xfrm rot="10800000" flipH="1">
                <a:off x="0" y="1029"/>
                <a:ext cx="1684" cy="0"/>
              </a:xfrm>
              <a:prstGeom prst="line">
                <a:avLst/>
              </a:prstGeom>
              <a:noFill/>
              <a:ln w="57150">
                <a:solidFill>
                  <a:srgbClr val="009900"/>
                </a:solidFill>
                <a:round/>
                <a:headEnd/>
                <a:tailEnd type="stealth" w="lg" len="lg"/>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18452" name="Line 20">
                <a:extLst>
                  <a:ext uri="{FF2B5EF4-FFF2-40B4-BE49-F238E27FC236}">
                    <a16:creationId xmlns:a16="http://schemas.microsoft.com/office/drawing/2014/main" id="{8DD8B0B1-D0FF-114E-D3EF-004E3B411192}"/>
                  </a:ext>
                </a:extLst>
              </p:cNvPr>
              <p:cNvSpPr>
                <a:spLocks noChangeShapeType="1"/>
              </p:cNvSpPr>
              <p:nvPr/>
            </p:nvSpPr>
            <p:spPr bwMode="auto">
              <a:xfrm rot="10800000">
                <a:off x="18" y="0"/>
                <a:ext cx="0" cy="1029"/>
              </a:xfrm>
              <a:prstGeom prst="line">
                <a:avLst/>
              </a:prstGeom>
              <a:noFill/>
              <a:ln w="57150">
                <a:solidFill>
                  <a:srgbClr val="0099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18453" name="Text Box 21">
              <a:extLst>
                <a:ext uri="{FF2B5EF4-FFF2-40B4-BE49-F238E27FC236}">
                  <a16:creationId xmlns:a16="http://schemas.microsoft.com/office/drawing/2014/main" id="{F81BC9B5-9CAD-CBD8-723C-CFBFADF98BC9}"/>
                </a:ext>
              </a:extLst>
            </p:cNvPr>
            <p:cNvSpPr txBox="1">
              <a:spLocks noChangeArrowheads="1"/>
            </p:cNvSpPr>
            <p:nvPr/>
          </p:nvSpPr>
          <p:spPr bwMode="auto">
            <a:xfrm>
              <a:off x="0" y="1019"/>
              <a:ext cx="1408" cy="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lnSpc>
                  <a:spcPct val="95000"/>
                </a:lnSpc>
                <a:spcBef>
                  <a:spcPct val="50000"/>
                </a:spcBef>
                <a:spcAft>
                  <a:spcPct val="0"/>
                </a:spcAft>
              </a:pPr>
              <a:r>
                <a:rPr lang="zh-CN" altLang="zh-CN" sz="1261">
                  <a:solidFill>
                    <a:srgbClr val="000000"/>
                  </a:solidFill>
                  <a:ea typeface="宋体" panose="02010600030101010101" pitchFamily="2" charset="-122"/>
                </a:rPr>
                <a:t>工资、租金和利润</a:t>
              </a:r>
              <a:r>
                <a:rPr lang="zh-CN" altLang="en-US" sz="1261">
                  <a:solidFill>
                    <a:srgbClr val="000000"/>
                  </a:solidFill>
                  <a:ea typeface="宋体" panose="02010600030101010101" pitchFamily="2" charset="-122"/>
                </a:rPr>
                <a:t> </a:t>
              </a:r>
              <a:r>
                <a:rPr lang="en-US" altLang="zh-CN" sz="1261">
                  <a:solidFill>
                    <a:srgbClr val="000000"/>
                  </a:solidFill>
                  <a:ea typeface="宋体" panose="02010600030101010101" pitchFamily="2" charset="-122"/>
                </a:rPr>
                <a:t>(=GDP)</a:t>
              </a:r>
            </a:p>
          </p:txBody>
        </p:sp>
      </p:grpSp>
      <p:grpSp>
        <p:nvGrpSpPr>
          <p:cNvPr id="18454" name="Group 22">
            <a:extLst>
              <a:ext uri="{FF2B5EF4-FFF2-40B4-BE49-F238E27FC236}">
                <a16:creationId xmlns:a16="http://schemas.microsoft.com/office/drawing/2014/main" id="{292DB329-AF08-1419-FB2A-B668CE6154E8}"/>
              </a:ext>
            </a:extLst>
          </p:cNvPr>
          <p:cNvGrpSpPr>
            <a:grpSpLocks/>
          </p:cNvGrpSpPr>
          <p:nvPr/>
        </p:nvGrpSpPr>
        <p:grpSpPr bwMode="auto">
          <a:xfrm>
            <a:off x="584266" y="1956078"/>
            <a:ext cx="1120510" cy="648295"/>
            <a:chOff x="0" y="0"/>
            <a:chExt cx="1400" cy="810"/>
          </a:xfrm>
        </p:grpSpPr>
        <p:grpSp>
          <p:nvGrpSpPr>
            <p:cNvPr id="18455" name="Group 23">
              <a:extLst>
                <a:ext uri="{FF2B5EF4-FFF2-40B4-BE49-F238E27FC236}">
                  <a16:creationId xmlns:a16="http://schemas.microsoft.com/office/drawing/2014/main" id="{6DEB0A76-C2FD-9EE5-8EA4-43F9132E169C}"/>
                </a:ext>
              </a:extLst>
            </p:cNvPr>
            <p:cNvGrpSpPr>
              <a:grpSpLocks/>
            </p:cNvGrpSpPr>
            <p:nvPr/>
          </p:nvGrpSpPr>
          <p:grpSpPr bwMode="auto">
            <a:xfrm>
              <a:off x="0" y="0"/>
              <a:ext cx="1400" cy="810"/>
              <a:chOff x="0" y="0"/>
              <a:chExt cx="879" cy="774"/>
            </a:xfrm>
          </p:grpSpPr>
          <p:sp>
            <p:nvSpPr>
              <p:cNvPr id="18456" name="Line 24">
                <a:extLst>
                  <a:ext uri="{FF2B5EF4-FFF2-40B4-BE49-F238E27FC236}">
                    <a16:creationId xmlns:a16="http://schemas.microsoft.com/office/drawing/2014/main" id="{57117763-B57C-6119-B773-023AC1893D57}"/>
                  </a:ext>
                </a:extLst>
              </p:cNvPr>
              <p:cNvSpPr>
                <a:spLocks noChangeShapeType="1"/>
              </p:cNvSpPr>
              <p:nvPr/>
            </p:nvSpPr>
            <p:spPr bwMode="auto">
              <a:xfrm rot="5400000" flipH="1" flipV="1">
                <a:off x="-386" y="387"/>
                <a:ext cx="774" cy="0"/>
              </a:xfrm>
              <a:prstGeom prst="line">
                <a:avLst/>
              </a:prstGeom>
              <a:noFill/>
              <a:ln w="57150">
                <a:solidFill>
                  <a:srgbClr val="CC0000"/>
                </a:solidFill>
                <a:round/>
                <a:headEnd/>
                <a:tailEnd type="stealth" w="lg" len="lg"/>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18457" name="Line 25">
                <a:extLst>
                  <a:ext uri="{FF2B5EF4-FFF2-40B4-BE49-F238E27FC236}">
                    <a16:creationId xmlns:a16="http://schemas.microsoft.com/office/drawing/2014/main" id="{1F642A5C-D4C1-F738-CDAD-A5105C0038B9}"/>
                  </a:ext>
                </a:extLst>
              </p:cNvPr>
              <p:cNvSpPr>
                <a:spLocks noChangeShapeType="1"/>
              </p:cNvSpPr>
              <p:nvPr/>
            </p:nvSpPr>
            <p:spPr bwMode="auto">
              <a:xfrm rot="5400000" flipV="1">
                <a:off x="440" y="311"/>
                <a:ext cx="0" cy="879"/>
              </a:xfrm>
              <a:prstGeom prst="line">
                <a:avLst/>
              </a:prstGeom>
              <a:noFill/>
              <a:ln w="57150">
                <a:solidFill>
                  <a:srgbClr val="CC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18458" name="Text Box 26">
              <a:extLst>
                <a:ext uri="{FF2B5EF4-FFF2-40B4-BE49-F238E27FC236}">
                  <a16:creationId xmlns:a16="http://schemas.microsoft.com/office/drawing/2014/main" id="{43470BC4-EF1F-985B-4879-AF049393CF1E}"/>
                </a:ext>
              </a:extLst>
            </p:cNvPr>
            <p:cNvSpPr txBox="1">
              <a:spLocks noChangeArrowheads="1"/>
            </p:cNvSpPr>
            <p:nvPr/>
          </p:nvSpPr>
          <p:spPr bwMode="auto">
            <a:xfrm>
              <a:off x="28" y="294"/>
              <a:ext cx="1262"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lnSpc>
                  <a:spcPct val="90000"/>
                </a:lnSpc>
                <a:spcBef>
                  <a:spcPct val="50000"/>
                </a:spcBef>
                <a:spcAft>
                  <a:spcPct val="0"/>
                </a:spcAft>
              </a:pPr>
              <a:r>
                <a:rPr lang="zh-CN" altLang="zh-CN" sz="1261">
                  <a:solidFill>
                    <a:srgbClr val="000000"/>
                  </a:solidFill>
                  <a:ea typeface="宋体" panose="02010600030101010101" pitchFamily="2" charset="-122"/>
                </a:rPr>
                <a:t>生产投入</a:t>
              </a:r>
              <a:endParaRPr lang="zh-CN" altLang="en-US" sz="1261">
                <a:solidFill>
                  <a:srgbClr val="000000"/>
                </a:solidFill>
                <a:ea typeface="宋体" panose="02010600030101010101" pitchFamily="2" charset="-122"/>
              </a:endParaRPr>
            </a:p>
          </p:txBody>
        </p:sp>
      </p:grpSp>
      <p:grpSp>
        <p:nvGrpSpPr>
          <p:cNvPr id="18459" name="Group 27">
            <a:extLst>
              <a:ext uri="{FF2B5EF4-FFF2-40B4-BE49-F238E27FC236}">
                <a16:creationId xmlns:a16="http://schemas.microsoft.com/office/drawing/2014/main" id="{7B73A350-6705-94CB-E34E-583BA2016F9B}"/>
              </a:ext>
            </a:extLst>
          </p:cNvPr>
          <p:cNvGrpSpPr>
            <a:grpSpLocks/>
          </p:cNvGrpSpPr>
          <p:nvPr/>
        </p:nvGrpSpPr>
        <p:grpSpPr bwMode="auto">
          <a:xfrm>
            <a:off x="2890117" y="1948074"/>
            <a:ext cx="1071688" cy="695517"/>
            <a:chOff x="0" y="0"/>
            <a:chExt cx="1339" cy="869"/>
          </a:xfrm>
        </p:grpSpPr>
        <p:grpSp>
          <p:nvGrpSpPr>
            <p:cNvPr id="18460" name="Group 28">
              <a:extLst>
                <a:ext uri="{FF2B5EF4-FFF2-40B4-BE49-F238E27FC236}">
                  <a16:creationId xmlns:a16="http://schemas.microsoft.com/office/drawing/2014/main" id="{D79E3E20-A78F-086B-577E-AEFC724D1C84}"/>
                </a:ext>
              </a:extLst>
            </p:cNvPr>
            <p:cNvGrpSpPr>
              <a:grpSpLocks/>
            </p:cNvGrpSpPr>
            <p:nvPr/>
          </p:nvGrpSpPr>
          <p:grpSpPr bwMode="auto">
            <a:xfrm>
              <a:off x="0" y="0"/>
              <a:ext cx="1339" cy="820"/>
              <a:chOff x="0" y="0"/>
              <a:chExt cx="1339" cy="796"/>
            </a:xfrm>
          </p:grpSpPr>
          <p:sp>
            <p:nvSpPr>
              <p:cNvPr id="18461" name="Line 29">
                <a:extLst>
                  <a:ext uri="{FF2B5EF4-FFF2-40B4-BE49-F238E27FC236}">
                    <a16:creationId xmlns:a16="http://schemas.microsoft.com/office/drawing/2014/main" id="{543A283B-A7A1-24AE-3FBF-4829C1BEF5D7}"/>
                  </a:ext>
                </a:extLst>
              </p:cNvPr>
              <p:cNvSpPr>
                <a:spLocks noChangeShapeType="1"/>
              </p:cNvSpPr>
              <p:nvPr/>
            </p:nvSpPr>
            <p:spPr bwMode="auto">
              <a:xfrm flipH="1" flipV="1">
                <a:off x="0" y="792"/>
                <a:ext cx="1339" cy="0"/>
              </a:xfrm>
              <a:prstGeom prst="line">
                <a:avLst/>
              </a:prstGeom>
              <a:noFill/>
              <a:ln w="57150">
                <a:solidFill>
                  <a:srgbClr val="CC0000"/>
                </a:solidFill>
                <a:round/>
                <a:headEnd/>
                <a:tailEnd type="stealth" w="lg" len="lg"/>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18462" name="Line 30">
                <a:extLst>
                  <a:ext uri="{FF2B5EF4-FFF2-40B4-BE49-F238E27FC236}">
                    <a16:creationId xmlns:a16="http://schemas.microsoft.com/office/drawing/2014/main" id="{6E7E1F0D-51FE-8DBF-1CE9-95D1A4B4E476}"/>
                  </a:ext>
                </a:extLst>
              </p:cNvPr>
              <p:cNvSpPr>
                <a:spLocks noChangeShapeType="1"/>
              </p:cNvSpPr>
              <p:nvPr/>
            </p:nvSpPr>
            <p:spPr bwMode="auto">
              <a:xfrm flipV="1">
                <a:off x="1320" y="0"/>
                <a:ext cx="0" cy="796"/>
              </a:xfrm>
              <a:prstGeom prst="line">
                <a:avLst/>
              </a:prstGeom>
              <a:noFill/>
              <a:ln w="57150">
                <a:solidFill>
                  <a:srgbClr val="CC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18463" name="Text Box 31">
              <a:extLst>
                <a:ext uri="{FF2B5EF4-FFF2-40B4-BE49-F238E27FC236}">
                  <a16:creationId xmlns:a16="http://schemas.microsoft.com/office/drawing/2014/main" id="{488B7225-D6F2-0C83-E325-5914B0A5F932}"/>
                </a:ext>
              </a:extLst>
            </p:cNvPr>
            <p:cNvSpPr txBox="1">
              <a:spLocks noChangeArrowheads="1"/>
            </p:cNvSpPr>
            <p:nvPr/>
          </p:nvSpPr>
          <p:spPr bwMode="auto">
            <a:xfrm>
              <a:off x="71" y="317"/>
              <a:ext cx="1262" cy="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defTabSz="461040" fontAlgn="base">
                <a:lnSpc>
                  <a:spcPct val="90000"/>
                </a:lnSpc>
                <a:spcBef>
                  <a:spcPct val="50000"/>
                </a:spcBef>
                <a:spcAft>
                  <a:spcPct val="0"/>
                </a:spcAft>
              </a:pPr>
              <a:r>
                <a:rPr lang="zh-CN" altLang="zh-CN" sz="1261">
                  <a:solidFill>
                    <a:srgbClr val="000000"/>
                  </a:solidFill>
                  <a:ea typeface="宋体" panose="02010600030101010101" pitchFamily="2" charset="-122"/>
                </a:rPr>
                <a:t>劳动、土地和资本</a:t>
              </a:r>
              <a:endParaRPr lang="zh-CN" altLang="en-US" sz="1261">
                <a:solidFill>
                  <a:srgbClr val="000000"/>
                </a:solidFill>
                <a:ea typeface="宋体" panose="02010600030101010101" pitchFamily="2" charset="-122"/>
              </a:endParaRPr>
            </a:p>
          </p:txBody>
        </p:sp>
      </p:grpSp>
      <p:grpSp>
        <p:nvGrpSpPr>
          <p:cNvPr id="18464" name="Group 32">
            <a:extLst>
              <a:ext uri="{FF2B5EF4-FFF2-40B4-BE49-F238E27FC236}">
                <a16:creationId xmlns:a16="http://schemas.microsoft.com/office/drawing/2014/main" id="{7DFEC6E1-CC32-5C6C-1280-BE1F4AF4BB48}"/>
              </a:ext>
            </a:extLst>
          </p:cNvPr>
          <p:cNvGrpSpPr>
            <a:grpSpLocks/>
          </p:cNvGrpSpPr>
          <p:nvPr/>
        </p:nvGrpSpPr>
        <p:grpSpPr bwMode="auto">
          <a:xfrm>
            <a:off x="2854901" y="452193"/>
            <a:ext cx="1596727" cy="1042875"/>
            <a:chOff x="0" y="0"/>
            <a:chExt cx="1995" cy="1303"/>
          </a:xfrm>
        </p:grpSpPr>
        <p:grpSp>
          <p:nvGrpSpPr>
            <p:cNvPr id="18465" name="Group 33">
              <a:extLst>
                <a:ext uri="{FF2B5EF4-FFF2-40B4-BE49-F238E27FC236}">
                  <a16:creationId xmlns:a16="http://schemas.microsoft.com/office/drawing/2014/main" id="{314BC283-8380-772E-44B0-A4A666C0E4D9}"/>
                </a:ext>
              </a:extLst>
            </p:cNvPr>
            <p:cNvGrpSpPr>
              <a:grpSpLocks/>
            </p:cNvGrpSpPr>
            <p:nvPr/>
          </p:nvGrpSpPr>
          <p:grpSpPr bwMode="auto">
            <a:xfrm>
              <a:off x="0" y="289"/>
              <a:ext cx="1621" cy="1014"/>
              <a:chOff x="0" y="0"/>
              <a:chExt cx="1661" cy="998"/>
            </a:xfrm>
          </p:grpSpPr>
          <p:sp>
            <p:nvSpPr>
              <p:cNvPr id="18466" name="Line 34">
                <a:extLst>
                  <a:ext uri="{FF2B5EF4-FFF2-40B4-BE49-F238E27FC236}">
                    <a16:creationId xmlns:a16="http://schemas.microsoft.com/office/drawing/2014/main" id="{2230ED58-9928-ACB8-14CB-AE16C816AE5D}"/>
                  </a:ext>
                </a:extLst>
              </p:cNvPr>
              <p:cNvSpPr>
                <a:spLocks noChangeShapeType="1"/>
              </p:cNvSpPr>
              <p:nvPr/>
            </p:nvSpPr>
            <p:spPr bwMode="auto">
              <a:xfrm flipH="1">
                <a:off x="0" y="9"/>
                <a:ext cx="1661" cy="0"/>
              </a:xfrm>
              <a:prstGeom prst="line">
                <a:avLst/>
              </a:prstGeom>
              <a:noFill/>
              <a:ln w="57150">
                <a:solidFill>
                  <a:srgbClr val="009900"/>
                </a:solidFill>
                <a:round/>
                <a:headEnd/>
                <a:tailEnd type="stealth" w="lg" len="lg"/>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18467" name="Line 35">
                <a:extLst>
                  <a:ext uri="{FF2B5EF4-FFF2-40B4-BE49-F238E27FC236}">
                    <a16:creationId xmlns:a16="http://schemas.microsoft.com/office/drawing/2014/main" id="{C3193324-3410-96A6-F594-E8C3F4479D9A}"/>
                  </a:ext>
                </a:extLst>
              </p:cNvPr>
              <p:cNvSpPr>
                <a:spLocks noChangeShapeType="1"/>
              </p:cNvSpPr>
              <p:nvPr/>
            </p:nvSpPr>
            <p:spPr bwMode="auto">
              <a:xfrm>
                <a:off x="1641" y="0"/>
                <a:ext cx="0" cy="998"/>
              </a:xfrm>
              <a:prstGeom prst="line">
                <a:avLst/>
              </a:prstGeom>
              <a:noFill/>
              <a:ln w="57150">
                <a:solidFill>
                  <a:srgbClr val="0099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18468" name="Text Box 36">
              <a:extLst>
                <a:ext uri="{FF2B5EF4-FFF2-40B4-BE49-F238E27FC236}">
                  <a16:creationId xmlns:a16="http://schemas.microsoft.com/office/drawing/2014/main" id="{AD7EB70A-C746-C390-4325-83A1EAF15C0C}"/>
                </a:ext>
              </a:extLst>
            </p:cNvPr>
            <p:cNvSpPr txBox="1">
              <a:spLocks noChangeArrowheads="1"/>
            </p:cNvSpPr>
            <p:nvPr/>
          </p:nvSpPr>
          <p:spPr bwMode="auto">
            <a:xfrm>
              <a:off x="176" y="0"/>
              <a:ext cx="1819"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50000"/>
                </a:spcBef>
                <a:spcAft>
                  <a:spcPct val="0"/>
                </a:spcAft>
              </a:pPr>
              <a:r>
                <a:rPr lang="zh-CN" altLang="zh-CN" sz="1261">
                  <a:solidFill>
                    <a:srgbClr val="000000"/>
                  </a:solidFill>
                  <a:ea typeface="宋体" panose="02010600030101010101" pitchFamily="2" charset="-122"/>
                </a:rPr>
                <a:t>支出</a:t>
              </a:r>
              <a:r>
                <a:rPr lang="en-US" altLang="zh-CN" sz="1261">
                  <a:solidFill>
                    <a:srgbClr val="000000"/>
                  </a:solidFill>
                  <a:ea typeface="宋体" panose="02010600030101010101" pitchFamily="2" charset="-122"/>
                </a:rPr>
                <a:t>(=GDP)</a:t>
              </a:r>
            </a:p>
          </p:txBody>
        </p:sp>
      </p:grpSp>
      <p:grpSp>
        <p:nvGrpSpPr>
          <p:cNvPr id="18469" name="Group 37">
            <a:extLst>
              <a:ext uri="{FF2B5EF4-FFF2-40B4-BE49-F238E27FC236}">
                <a16:creationId xmlns:a16="http://schemas.microsoft.com/office/drawing/2014/main" id="{4B9F3CCA-8F92-41B9-2EE6-9F8FD65A0116}"/>
              </a:ext>
            </a:extLst>
          </p:cNvPr>
          <p:cNvGrpSpPr>
            <a:grpSpLocks/>
          </p:cNvGrpSpPr>
          <p:nvPr/>
        </p:nvGrpSpPr>
        <p:grpSpPr bwMode="auto">
          <a:xfrm>
            <a:off x="2878111" y="839569"/>
            <a:ext cx="1073289" cy="804367"/>
            <a:chOff x="0" y="0"/>
            <a:chExt cx="1341" cy="1005"/>
          </a:xfrm>
        </p:grpSpPr>
        <p:grpSp>
          <p:nvGrpSpPr>
            <p:cNvPr id="18470" name="Group 38">
              <a:extLst>
                <a:ext uri="{FF2B5EF4-FFF2-40B4-BE49-F238E27FC236}">
                  <a16:creationId xmlns:a16="http://schemas.microsoft.com/office/drawing/2014/main" id="{59071EB1-7E0E-ACA7-E2A3-7FE65C782606}"/>
                </a:ext>
              </a:extLst>
            </p:cNvPr>
            <p:cNvGrpSpPr>
              <a:grpSpLocks/>
            </p:cNvGrpSpPr>
            <p:nvPr/>
          </p:nvGrpSpPr>
          <p:grpSpPr bwMode="auto">
            <a:xfrm>
              <a:off x="0" y="0"/>
              <a:ext cx="1341" cy="816"/>
              <a:chOff x="0" y="0"/>
              <a:chExt cx="1341" cy="816"/>
            </a:xfrm>
          </p:grpSpPr>
          <p:sp>
            <p:nvSpPr>
              <p:cNvPr id="18471" name="Line 39">
                <a:extLst>
                  <a:ext uri="{FF2B5EF4-FFF2-40B4-BE49-F238E27FC236}">
                    <a16:creationId xmlns:a16="http://schemas.microsoft.com/office/drawing/2014/main" id="{5CB525AC-805E-634A-E5B8-3FAAEDD1A17D}"/>
                  </a:ext>
                </a:extLst>
              </p:cNvPr>
              <p:cNvSpPr>
                <a:spLocks noChangeShapeType="1"/>
              </p:cNvSpPr>
              <p:nvPr/>
            </p:nvSpPr>
            <p:spPr bwMode="auto">
              <a:xfrm rot="16200000" flipH="1" flipV="1">
                <a:off x="914" y="408"/>
                <a:ext cx="816" cy="0"/>
              </a:xfrm>
              <a:prstGeom prst="line">
                <a:avLst/>
              </a:prstGeom>
              <a:noFill/>
              <a:ln w="57150">
                <a:solidFill>
                  <a:srgbClr val="CC0000"/>
                </a:solidFill>
                <a:round/>
                <a:headEnd/>
                <a:tailEnd type="stealth" w="lg" len="lg"/>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18472" name="Line 40">
                <a:extLst>
                  <a:ext uri="{FF2B5EF4-FFF2-40B4-BE49-F238E27FC236}">
                    <a16:creationId xmlns:a16="http://schemas.microsoft.com/office/drawing/2014/main" id="{0F8E5821-3143-3784-3247-39C347F90AD6}"/>
                  </a:ext>
                </a:extLst>
              </p:cNvPr>
              <p:cNvSpPr>
                <a:spLocks noChangeShapeType="1"/>
              </p:cNvSpPr>
              <p:nvPr/>
            </p:nvSpPr>
            <p:spPr bwMode="auto">
              <a:xfrm rot="16200000" flipV="1">
                <a:off x="671" y="-659"/>
                <a:ext cx="0" cy="1341"/>
              </a:xfrm>
              <a:prstGeom prst="line">
                <a:avLst/>
              </a:prstGeom>
              <a:noFill/>
              <a:ln w="57150">
                <a:solidFill>
                  <a:srgbClr val="CC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18473" name="Text Box 41">
              <a:extLst>
                <a:ext uri="{FF2B5EF4-FFF2-40B4-BE49-F238E27FC236}">
                  <a16:creationId xmlns:a16="http://schemas.microsoft.com/office/drawing/2014/main" id="{E3436296-5049-1418-56F0-53B7755E5423}"/>
                </a:ext>
              </a:extLst>
            </p:cNvPr>
            <p:cNvSpPr txBox="1">
              <a:spLocks noChangeArrowheads="1"/>
            </p:cNvSpPr>
            <p:nvPr/>
          </p:nvSpPr>
          <p:spPr bwMode="auto">
            <a:xfrm>
              <a:off x="499" y="17"/>
              <a:ext cx="825" cy="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defTabSz="461040" fontAlgn="base">
                <a:lnSpc>
                  <a:spcPct val="90000"/>
                </a:lnSpc>
                <a:spcBef>
                  <a:spcPct val="50000"/>
                </a:spcBef>
                <a:spcAft>
                  <a:spcPct val="0"/>
                </a:spcAft>
              </a:pPr>
              <a:r>
                <a:rPr lang="zh-CN" altLang="zh-CN" sz="1261">
                  <a:solidFill>
                    <a:srgbClr val="000000"/>
                  </a:solidFill>
                  <a:ea typeface="宋体" panose="02010600030101010101" pitchFamily="2" charset="-122"/>
                </a:rPr>
                <a:t>物品和劳务的购买</a:t>
              </a:r>
              <a:endParaRPr lang="zh-CN" altLang="en-US" sz="1261">
                <a:solidFill>
                  <a:srgbClr val="000000"/>
                </a:solidFill>
                <a:ea typeface="宋体" panose="02010600030101010101" pitchFamily="2" charset="-122"/>
              </a:endParaRPr>
            </a:p>
          </p:txBody>
        </p:sp>
      </p:grpSp>
      <p:grpSp>
        <p:nvGrpSpPr>
          <p:cNvPr id="18474" name="Group 42">
            <a:extLst>
              <a:ext uri="{FF2B5EF4-FFF2-40B4-BE49-F238E27FC236}">
                <a16:creationId xmlns:a16="http://schemas.microsoft.com/office/drawing/2014/main" id="{B69B8510-AD41-1AFB-7D3B-14663FFD4B86}"/>
              </a:ext>
            </a:extLst>
          </p:cNvPr>
          <p:cNvGrpSpPr>
            <a:grpSpLocks/>
          </p:cNvGrpSpPr>
          <p:nvPr/>
        </p:nvGrpSpPr>
        <p:grpSpPr bwMode="auto">
          <a:xfrm>
            <a:off x="563457" y="811557"/>
            <a:ext cx="1138919" cy="799564"/>
            <a:chOff x="0" y="0"/>
            <a:chExt cx="1423" cy="999"/>
          </a:xfrm>
        </p:grpSpPr>
        <p:grpSp>
          <p:nvGrpSpPr>
            <p:cNvPr id="18475" name="Group 43">
              <a:extLst>
                <a:ext uri="{FF2B5EF4-FFF2-40B4-BE49-F238E27FC236}">
                  <a16:creationId xmlns:a16="http://schemas.microsoft.com/office/drawing/2014/main" id="{E714E67D-2D22-C174-CA2C-1252044A85A1}"/>
                </a:ext>
              </a:extLst>
            </p:cNvPr>
            <p:cNvGrpSpPr>
              <a:grpSpLocks/>
            </p:cNvGrpSpPr>
            <p:nvPr/>
          </p:nvGrpSpPr>
          <p:grpSpPr bwMode="auto">
            <a:xfrm>
              <a:off x="0" y="0"/>
              <a:ext cx="1423" cy="861"/>
              <a:chOff x="0" y="0"/>
              <a:chExt cx="1423" cy="885"/>
            </a:xfrm>
          </p:grpSpPr>
          <p:sp>
            <p:nvSpPr>
              <p:cNvPr id="18476" name="Line 44">
                <a:extLst>
                  <a:ext uri="{FF2B5EF4-FFF2-40B4-BE49-F238E27FC236}">
                    <a16:creationId xmlns:a16="http://schemas.microsoft.com/office/drawing/2014/main" id="{617D0F6C-5681-86E5-F5A1-CC5CB0E15572}"/>
                  </a:ext>
                </a:extLst>
              </p:cNvPr>
              <p:cNvSpPr>
                <a:spLocks noChangeShapeType="1"/>
              </p:cNvSpPr>
              <p:nvPr/>
            </p:nvSpPr>
            <p:spPr bwMode="auto">
              <a:xfrm rot="10800000" flipH="1" flipV="1">
                <a:off x="0" y="12"/>
                <a:ext cx="1423" cy="0"/>
              </a:xfrm>
              <a:prstGeom prst="line">
                <a:avLst/>
              </a:prstGeom>
              <a:noFill/>
              <a:ln w="57150">
                <a:solidFill>
                  <a:srgbClr val="CC0000"/>
                </a:solidFill>
                <a:round/>
                <a:headEnd/>
                <a:tailEnd type="stealth" w="lg" len="lg"/>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18477" name="Line 45">
                <a:extLst>
                  <a:ext uri="{FF2B5EF4-FFF2-40B4-BE49-F238E27FC236}">
                    <a16:creationId xmlns:a16="http://schemas.microsoft.com/office/drawing/2014/main" id="{BB80558F-8CA8-02CE-7C1B-BE996A265B83}"/>
                  </a:ext>
                </a:extLst>
              </p:cNvPr>
              <p:cNvSpPr>
                <a:spLocks noChangeShapeType="1"/>
              </p:cNvSpPr>
              <p:nvPr/>
            </p:nvSpPr>
            <p:spPr bwMode="auto">
              <a:xfrm rot="10800000" flipV="1">
                <a:off x="17" y="0"/>
                <a:ext cx="0" cy="885"/>
              </a:xfrm>
              <a:prstGeom prst="line">
                <a:avLst/>
              </a:prstGeom>
              <a:noFill/>
              <a:ln w="57150">
                <a:solidFill>
                  <a:srgbClr val="CC00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18478" name="Text Box 46">
              <a:extLst>
                <a:ext uri="{FF2B5EF4-FFF2-40B4-BE49-F238E27FC236}">
                  <a16:creationId xmlns:a16="http://schemas.microsoft.com/office/drawing/2014/main" id="{F0B6C196-CAAB-2D22-18DC-F31BF6D71A18}"/>
                </a:ext>
              </a:extLst>
            </p:cNvPr>
            <p:cNvSpPr txBox="1">
              <a:spLocks noChangeArrowheads="1"/>
            </p:cNvSpPr>
            <p:nvPr/>
          </p:nvSpPr>
          <p:spPr bwMode="auto">
            <a:xfrm>
              <a:off x="41" y="11"/>
              <a:ext cx="825" cy="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lnSpc>
                  <a:spcPct val="90000"/>
                </a:lnSpc>
                <a:spcBef>
                  <a:spcPct val="50000"/>
                </a:spcBef>
                <a:spcAft>
                  <a:spcPct val="0"/>
                </a:spcAft>
              </a:pPr>
              <a:r>
                <a:rPr lang="zh-CN" altLang="zh-CN" sz="1261">
                  <a:solidFill>
                    <a:srgbClr val="000000"/>
                  </a:solidFill>
                  <a:ea typeface="宋体" panose="02010600030101010101" pitchFamily="2" charset="-122"/>
                </a:rPr>
                <a:t>物品和劳务的销售</a:t>
              </a:r>
              <a:endParaRPr lang="zh-CN" altLang="en-US" sz="1261">
                <a:solidFill>
                  <a:srgbClr val="000000"/>
                </a:solidFill>
                <a:ea typeface="宋体" panose="02010600030101010101" pitchFamily="2" charset="-122"/>
              </a:endParaRPr>
            </a:p>
          </p:txBody>
        </p:sp>
      </p:grpSp>
      <p:grpSp>
        <p:nvGrpSpPr>
          <p:cNvPr id="18479" name="Group 47">
            <a:extLst>
              <a:ext uri="{FF2B5EF4-FFF2-40B4-BE49-F238E27FC236}">
                <a16:creationId xmlns:a16="http://schemas.microsoft.com/office/drawing/2014/main" id="{908E0A6C-DAD9-7FE9-C806-F78171DD66D1}"/>
              </a:ext>
            </a:extLst>
          </p:cNvPr>
          <p:cNvGrpSpPr>
            <a:grpSpLocks/>
          </p:cNvGrpSpPr>
          <p:nvPr/>
        </p:nvGrpSpPr>
        <p:grpSpPr bwMode="auto">
          <a:xfrm>
            <a:off x="299337" y="440187"/>
            <a:ext cx="1455863" cy="1053280"/>
            <a:chOff x="0" y="0"/>
            <a:chExt cx="1819" cy="1316"/>
          </a:xfrm>
        </p:grpSpPr>
        <p:grpSp>
          <p:nvGrpSpPr>
            <p:cNvPr id="18480" name="Group 48">
              <a:extLst>
                <a:ext uri="{FF2B5EF4-FFF2-40B4-BE49-F238E27FC236}">
                  <a16:creationId xmlns:a16="http://schemas.microsoft.com/office/drawing/2014/main" id="{4D5D6B46-2099-68DB-FECA-49F39F711FB5}"/>
                </a:ext>
              </a:extLst>
            </p:cNvPr>
            <p:cNvGrpSpPr>
              <a:grpSpLocks/>
            </p:cNvGrpSpPr>
            <p:nvPr/>
          </p:nvGrpSpPr>
          <p:grpSpPr bwMode="auto">
            <a:xfrm rot="-5400000">
              <a:off x="417" y="-53"/>
              <a:ext cx="1055" cy="1683"/>
              <a:chOff x="0" y="0"/>
              <a:chExt cx="1008" cy="752"/>
            </a:xfrm>
          </p:grpSpPr>
          <p:sp>
            <p:nvSpPr>
              <p:cNvPr id="18481" name="Line 49">
                <a:extLst>
                  <a:ext uri="{FF2B5EF4-FFF2-40B4-BE49-F238E27FC236}">
                    <a16:creationId xmlns:a16="http://schemas.microsoft.com/office/drawing/2014/main" id="{FC999CDD-149F-C7EC-B43D-BAEEAD5ABC8C}"/>
                  </a:ext>
                </a:extLst>
              </p:cNvPr>
              <p:cNvSpPr>
                <a:spLocks noChangeShapeType="1"/>
              </p:cNvSpPr>
              <p:nvPr/>
            </p:nvSpPr>
            <p:spPr bwMode="auto">
              <a:xfrm flipH="1">
                <a:off x="0" y="0"/>
                <a:ext cx="1008" cy="0"/>
              </a:xfrm>
              <a:prstGeom prst="line">
                <a:avLst/>
              </a:prstGeom>
              <a:noFill/>
              <a:ln w="57150">
                <a:solidFill>
                  <a:srgbClr val="009900"/>
                </a:solidFill>
                <a:round/>
                <a:headEnd/>
                <a:tailEnd type="stealth" w="lg" len="lg"/>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18482" name="Line 50">
                <a:extLst>
                  <a:ext uri="{FF2B5EF4-FFF2-40B4-BE49-F238E27FC236}">
                    <a16:creationId xmlns:a16="http://schemas.microsoft.com/office/drawing/2014/main" id="{D4AB9789-B9C5-2FAC-147C-F01166C97601}"/>
                  </a:ext>
                </a:extLst>
              </p:cNvPr>
              <p:cNvSpPr>
                <a:spLocks noChangeShapeType="1"/>
              </p:cNvSpPr>
              <p:nvPr/>
            </p:nvSpPr>
            <p:spPr bwMode="auto">
              <a:xfrm>
                <a:off x="990" y="1"/>
                <a:ext cx="0" cy="751"/>
              </a:xfrm>
              <a:prstGeom prst="line">
                <a:avLst/>
              </a:prstGeom>
              <a:noFill/>
              <a:ln w="57150">
                <a:solidFill>
                  <a:srgbClr val="00990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18483" name="Text Box 51">
              <a:extLst>
                <a:ext uri="{FF2B5EF4-FFF2-40B4-BE49-F238E27FC236}">
                  <a16:creationId xmlns:a16="http://schemas.microsoft.com/office/drawing/2014/main" id="{340DC0E9-6678-D8CF-414D-0EB6FC9D41EF}"/>
                </a:ext>
              </a:extLst>
            </p:cNvPr>
            <p:cNvSpPr txBox="1">
              <a:spLocks noChangeArrowheads="1"/>
            </p:cNvSpPr>
            <p:nvPr/>
          </p:nvSpPr>
          <p:spPr bwMode="auto">
            <a:xfrm>
              <a:off x="0" y="0"/>
              <a:ext cx="1819"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50000"/>
                </a:spcBef>
                <a:spcAft>
                  <a:spcPct val="0"/>
                </a:spcAft>
              </a:pPr>
              <a:r>
                <a:rPr lang="zh-CN" altLang="zh-CN" sz="1261">
                  <a:solidFill>
                    <a:srgbClr val="000000"/>
                  </a:solidFill>
                  <a:ea typeface="宋体" panose="02010600030101010101" pitchFamily="2" charset="-122"/>
                </a:rPr>
                <a:t>收入</a:t>
              </a:r>
              <a:r>
                <a:rPr lang="zh-CN" altLang="en-US" sz="1261">
                  <a:solidFill>
                    <a:srgbClr val="000000"/>
                  </a:solidFill>
                  <a:ea typeface="宋体" panose="02010600030101010101" pitchFamily="2" charset="-122"/>
                </a:rPr>
                <a:t> </a:t>
              </a:r>
              <a:r>
                <a:rPr lang="en-US" altLang="zh-CN" sz="1261">
                  <a:solidFill>
                    <a:srgbClr val="000000"/>
                  </a:solidFill>
                  <a:ea typeface="宋体" panose="02010600030101010101" pitchFamily="2" charset="-122"/>
                </a:rPr>
                <a:t>(=GDP)</a:t>
              </a:r>
            </a:p>
          </p:txBody>
        </p:sp>
      </p:grpSp>
      <p:grpSp>
        <p:nvGrpSpPr>
          <p:cNvPr id="18484" name="Group 52">
            <a:extLst>
              <a:ext uri="{FF2B5EF4-FFF2-40B4-BE49-F238E27FC236}">
                <a16:creationId xmlns:a16="http://schemas.microsoft.com/office/drawing/2014/main" id="{4815478E-1AE6-4E0A-C0F3-304610258AFC}"/>
              </a:ext>
            </a:extLst>
          </p:cNvPr>
          <p:cNvGrpSpPr>
            <a:grpSpLocks/>
          </p:cNvGrpSpPr>
          <p:nvPr/>
        </p:nvGrpSpPr>
        <p:grpSpPr bwMode="auto">
          <a:xfrm>
            <a:off x="1707178" y="412975"/>
            <a:ext cx="1170133" cy="851588"/>
            <a:chOff x="0" y="0"/>
            <a:chExt cx="1462" cy="1064"/>
          </a:xfrm>
        </p:grpSpPr>
        <p:sp>
          <p:nvSpPr>
            <p:cNvPr id="18485" name="Oval 53">
              <a:extLst>
                <a:ext uri="{FF2B5EF4-FFF2-40B4-BE49-F238E27FC236}">
                  <a16:creationId xmlns:a16="http://schemas.microsoft.com/office/drawing/2014/main" id="{F38F3195-AF5A-35CB-A57C-83CE7B6CA768}"/>
                </a:ext>
              </a:extLst>
            </p:cNvPr>
            <p:cNvSpPr>
              <a:spLocks noChangeArrowheads="1"/>
            </p:cNvSpPr>
            <p:nvPr/>
          </p:nvSpPr>
          <p:spPr bwMode="auto">
            <a:xfrm>
              <a:off x="0" y="0"/>
              <a:ext cx="1462" cy="1064"/>
            </a:xfrm>
            <a:prstGeom prst="ellipse">
              <a:avLst/>
            </a:pr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18486" name="Text Box 54">
              <a:extLst>
                <a:ext uri="{FF2B5EF4-FFF2-40B4-BE49-F238E27FC236}">
                  <a16:creationId xmlns:a16="http://schemas.microsoft.com/office/drawing/2014/main" id="{1B48D29F-98DD-BF7F-B4A3-CAF66BCB56F6}"/>
                </a:ext>
              </a:extLst>
            </p:cNvPr>
            <p:cNvSpPr txBox="1">
              <a:spLocks noChangeArrowheads="1"/>
            </p:cNvSpPr>
            <p:nvPr/>
          </p:nvSpPr>
          <p:spPr bwMode="auto">
            <a:xfrm>
              <a:off x="57" y="157"/>
              <a:ext cx="1371" cy="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311">
                  <a:solidFill>
                    <a:srgbClr val="000000"/>
                  </a:solidFill>
                  <a:ea typeface="宋体" panose="02010600030101010101" pitchFamily="2" charset="-122"/>
                </a:rPr>
                <a:t>物品与劳务市场</a:t>
              </a:r>
              <a:endParaRPr lang="zh-CN" altLang="en-US" sz="1311">
                <a:solidFill>
                  <a:srgbClr val="000000"/>
                </a:solidFill>
                <a:ea typeface="宋体" panose="02010600030101010101" pitchFamily="2" charset="-122"/>
              </a:endParaRPr>
            </a:p>
          </p:txBody>
        </p:sp>
      </p:grpSp>
      <p:sp>
        <p:nvSpPr>
          <p:cNvPr id="4" name="页脚占位符 1">
            <a:extLst>
              <a:ext uri="{FF2B5EF4-FFF2-40B4-BE49-F238E27FC236}">
                <a16:creationId xmlns:a16="http://schemas.microsoft.com/office/drawing/2014/main" id="{5CC50E5C-B6A5-2832-79B8-8FDBC048E00B}"/>
              </a:ext>
            </a:extLst>
          </p:cNvPr>
          <p:cNvSpPr>
            <a:spLocks noGrp="1"/>
          </p:cNvSpPr>
          <p:nvPr>
            <p:ph type="ftr" sz="quarter" idx="10"/>
          </p:nvPr>
        </p:nvSpPr>
        <p:spPr>
          <a:xfrm>
            <a:off x="144066" y="3226028"/>
            <a:ext cx="3698485" cy="185054"/>
          </a:xfrm>
        </p:spPr>
        <p:txBody>
          <a:bodyPr/>
          <a:lstStyle/>
          <a:p>
            <a:pPr defTabSz="461040" fontAlgn="base">
              <a:spcBef>
                <a:spcPct val="0"/>
              </a:spcBef>
              <a:spcAft>
                <a:spcPct val="0"/>
              </a:spcAft>
            </a:pPr>
            <a:r>
              <a:rPr lang="zh-CN" altLang="en-US" sz="908" dirty="0">
                <a:latin typeface="Arial" panose="020B0604020202020204" pitchFamily="34" charset="0"/>
              </a:rPr>
              <a:t>国内生产总值</a:t>
            </a:r>
            <a:endParaRPr lang="zh-CN" altLang="zh-CN" sz="908" dirty="0">
              <a:latin typeface="Arial" panose="020B0604020202020204" pitchFamily="34"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8435"/>
                                        </p:tgtEl>
                                        <p:attrNameLst>
                                          <p:attrName>style.visibility</p:attrName>
                                        </p:attrNameLst>
                                      </p:cBhvr>
                                      <p:to>
                                        <p:strVal val="visible"/>
                                      </p:to>
                                    </p:set>
                                    <p:animEffect transition="in" filter="dissolve">
                                      <p:cBhvr>
                                        <p:cTn id="7" dur="500"/>
                                        <p:tgtEl>
                                          <p:spTgt spid="184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12" fill="hold" nodeType="clickEffect">
                                  <p:stCondLst>
                                    <p:cond delay="0"/>
                                  </p:stCondLst>
                                  <p:childTnLst>
                                    <p:set>
                                      <p:cBhvr>
                                        <p:cTn id="11" dur="1" fill="hold">
                                          <p:stCondLst>
                                            <p:cond delay="0"/>
                                          </p:stCondLst>
                                        </p:cTn>
                                        <p:tgtEl>
                                          <p:spTgt spid="18459"/>
                                        </p:tgtEl>
                                        <p:attrNameLst>
                                          <p:attrName>style.visibility</p:attrName>
                                        </p:attrNameLst>
                                      </p:cBhvr>
                                      <p:to>
                                        <p:strVal val="visible"/>
                                      </p:to>
                                    </p:set>
                                    <p:animEffect transition="in" filter="strips(downLeft)">
                                      <p:cBhvr>
                                        <p:cTn id="12" dur="500"/>
                                        <p:tgtEl>
                                          <p:spTgt spid="18459"/>
                                        </p:tgtEl>
                                      </p:cBhvr>
                                    </p:animEffect>
                                  </p:childTnLst>
                                </p:cTn>
                              </p:par>
                            </p:childTnLst>
                          </p:cTn>
                        </p:par>
                        <p:par>
                          <p:cTn id="13" fill="hold" nodeType="afterGroup">
                            <p:stCondLst>
                              <p:cond delay="500"/>
                            </p:stCondLst>
                            <p:childTnLst>
                              <p:par>
                                <p:cTn id="14" presetID="18" presetClass="entr" presetSubtype="9" fill="hold" nodeType="afterEffect">
                                  <p:stCondLst>
                                    <p:cond delay="0"/>
                                  </p:stCondLst>
                                  <p:childTnLst>
                                    <p:set>
                                      <p:cBhvr>
                                        <p:cTn id="15" dur="1" fill="hold">
                                          <p:stCondLst>
                                            <p:cond delay="0"/>
                                          </p:stCondLst>
                                        </p:cTn>
                                        <p:tgtEl>
                                          <p:spTgt spid="18454"/>
                                        </p:tgtEl>
                                        <p:attrNameLst>
                                          <p:attrName>style.visibility</p:attrName>
                                        </p:attrNameLst>
                                      </p:cBhvr>
                                      <p:to>
                                        <p:strVal val="visible"/>
                                      </p:to>
                                    </p:set>
                                    <p:animEffect transition="in" filter="strips(upLeft)">
                                      <p:cBhvr>
                                        <p:cTn id="16" dur="500"/>
                                        <p:tgtEl>
                                          <p:spTgt spid="1845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8" presetClass="entr" presetSubtype="6" fill="hold" nodeType="clickEffect">
                                  <p:stCondLst>
                                    <p:cond delay="0"/>
                                  </p:stCondLst>
                                  <p:childTnLst>
                                    <p:set>
                                      <p:cBhvr>
                                        <p:cTn id="20" dur="1" fill="hold">
                                          <p:stCondLst>
                                            <p:cond delay="0"/>
                                          </p:stCondLst>
                                        </p:cTn>
                                        <p:tgtEl>
                                          <p:spTgt spid="18449"/>
                                        </p:tgtEl>
                                        <p:attrNameLst>
                                          <p:attrName>style.visibility</p:attrName>
                                        </p:attrNameLst>
                                      </p:cBhvr>
                                      <p:to>
                                        <p:strVal val="visible"/>
                                      </p:to>
                                    </p:set>
                                    <p:animEffect transition="in" filter="strips(downRight)">
                                      <p:cBhvr>
                                        <p:cTn id="21" dur="500"/>
                                        <p:tgtEl>
                                          <p:spTgt spid="18449"/>
                                        </p:tgtEl>
                                      </p:cBhvr>
                                    </p:animEffect>
                                  </p:childTnLst>
                                </p:cTn>
                              </p:par>
                            </p:childTnLst>
                          </p:cTn>
                        </p:par>
                        <p:par>
                          <p:cTn id="22" fill="hold" nodeType="afterGroup">
                            <p:stCondLst>
                              <p:cond delay="500"/>
                            </p:stCondLst>
                            <p:childTnLst>
                              <p:par>
                                <p:cTn id="23" presetID="18" presetClass="entr" presetSubtype="3" fill="hold" nodeType="afterEffect">
                                  <p:stCondLst>
                                    <p:cond delay="0"/>
                                  </p:stCondLst>
                                  <p:childTnLst>
                                    <p:set>
                                      <p:cBhvr>
                                        <p:cTn id="24" dur="1" fill="hold">
                                          <p:stCondLst>
                                            <p:cond delay="0"/>
                                          </p:stCondLst>
                                        </p:cTn>
                                        <p:tgtEl>
                                          <p:spTgt spid="18444"/>
                                        </p:tgtEl>
                                        <p:attrNameLst>
                                          <p:attrName>style.visibility</p:attrName>
                                        </p:attrNameLst>
                                      </p:cBhvr>
                                      <p:to>
                                        <p:strVal val="visible"/>
                                      </p:to>
                                    </p:set>
                                    <p:animEffect transition="in" filter="strips(upRight)">
                                      <p:cBhvr>
                                        <p:cTn id="25" dur="500"/>
                                        <p:tgtEl>
                                          <p:spTgt spid="1844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nodeType="clickEffect">
                                  <p:stCondLst>
                                    <p:cond delay="0"/>
                                  </p:stCondLst>
                                  <p:childTnLst>
                                    <p:set>
                                      <p:cBhvr>
                                        <p:cTn id="29" dur="1" fill="hold">
                                          <p:stCondLst>
                                            <p:cond delay="0"/>
                                          </p:stCondLst>
                                        </p:cTn>
                                        <p:tgtEl>
                                          <p:spTgt spid="18484"/>
                                        </p:tgtEl>
                                        <p:attrNameLst>
                                          <p:attrName>style.visibility</p:attrName>
                                        </p:attrNameLst>
                                      </p:cBhvr>
                                      <p:to>
                                        <p:strVal val="visible"/>
                                      </p:to>
                                    </p:set>
                                    <p:animEffect transition="in" filter="dissolve">
                                      <p:cBhvr>
                                        <p:cTn id="30" dur="500"/>
                                        <p:tgtEl>
                                          <p:spTgt spid="1848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8" presetClass="entr" presetSubtype="9" fill="hold" nodeType="clickEffect">
                                  <p:stCondLst>
                                    <p:cond delay="0"/>
                                  </p:stCondLst>
                                  <p:childTnLst>
                                    <p:set>
                                      <p:cBhvr>
                                        <p:cTn id="34" dur="1" fill="hold">
                                          <p:stCondLst>
                                            <p:cond delay="0"/>
                                          </p:stCondLst>
                                        </p:cTn>
                                        <p:tgtEl>
                                          <p:spTgt spid="18464"/>
                                        </p:tgtEl>
                                        <p:attrNameLst>
                                          <p:attrName>style.visibility</p:attrName>
                                        </p:attrNameLst>
                                      </p:cBhvr>
                                      <p:to>
                                        <p:strVal val="visible"/>
                                      </p:to>
                                    </p:set>
                                    <p:animEffect transition="in" filter="strips(upLeft)">
                                      <p:cBhvr>
                                        <p:cTn id="35" dur="500"/>
                                        <p:tgtEl>
                                          <p:spTgt spid="18464"/>
                                        </p:tgtEl>
                                      </p:cBhvr>
                                    </p:animEffect>
                                  </p:childTnLst>
                                </p:cTn>
                              </p:par>
                            </p:childTnLst>
                          </p:cTn>
                        </p:par>
                        <p:par>
                          <p:cTn id="36" fill="hold" nodeType="afterGroup">
                            <p:stCondLst>
                              <p:cond delay="500"/>
                            </p:stCondLst>
                            <p:childTnLst>
                              <p:par>
                                <p:cTn id="37" presetID="18" presetClass="entr" presetSubtype="12" fill="hold" nodeType="afterEffect">
                                  <p:stCondLst>
                                    <p:cond delay="0"/>
                                  </p:stCondLst>
                                  <p:childTnLst>
                                    <p:set>
                                      <p:cBhvr>
                                        <p:cTn id="38" dur="1" fill="hold">
                                          <p:stCondLst>
                                            <p:cond delay="0"/>
                                          </p:stCondLst>
                                        </p:cTn>
                                        <p:tgtEl>
                                          <p:spTgt spid="18479"/>
                                        </p:tgtEl>
                                        <p:attrNameLst>
                                          <p:attrName>style.visibility</p:attrName>
                                        </p:attrNameLst>
                                      </p:cBhvr>
                                      <p:to>
                                        <p:strVal val="visible"/>
                                      </p:to>
                                    </p:set>
                                    <p:animEffect transition="in" filter="strips(downLeft)">
                                      <p:cBhvr>
                                        <p:cTn id="39" dur="500"/>
                                        <p:tgtEl>
                                          <p:spTgt spid="18479"/>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8" presetClass="entr" presetSubtype="3" fill="hold" nodeType="clickEffect">
                                  <p:stCondLst>
                                    <p:cond delay="0"/>
                                  </p:stCondLst>
                                  <p:childTnLst>
                                    <p:set>
                                      <p:cBhvr>
                                        <p:cTn id="43" dur="1" fill="hold">
                                          <p:stCondLst>
                                            <p:cond delay="0"/>
                                          </p:stCondLst>
                                        </p:cTn>
                                        <p:tgtEl>
                                          <p:spTgt spid="18474"/>
                                        </p:tgtEl>
                                        <p:attrNameLst>
                                          <p:attrName>style.visibility</p:attrName>
                                        </p:attrNameLst>
                                      </p:cBhvr>
                                      <p:to>
                                        <p:strVal val="visible"/>
                                      </p:to>
                                    </p:set>
                                    <p:animEffect transition="in" filter="strips(upRight)">
                                      <p:cBhvr>
                                        <p:cTn id="44" dur="500"/>
                                        <p:tgtEl>
                                          <p:spTgt spid="18474"/>
                                        </p:tgtEl>
                                      </p:cBhvr>
                                    </p:animEffect>
                                  </p:childTnLst>
                                </p:cTn>
                              </p:par>
                            </p:childTnLst>
                          </p:cTn>
                        </p:par>
                        <p:par>
                          <p:cTn id="45" fill="hold" nodeType="afterGroup">
                            <p:stCondLst>
                              <p:cond delay="500"/>
                            </p:stCondLst>
                            <p:childTnLst>
                              <p:par>
                                <p:cTn id="46" presetID="18" presetClass="entr" presetSubtype="6" fill="hold" nodeType="afterEffect">
                                  <p:stCondLst>
                                    <p:cond delay="0"/>
                                  </p:stCondLst>
                                  <p:childTnLst>
                                    <p:set>
                                      <p:cBhvr>
                                        <p:cTn id="47" dur="1" fill="hold">
                                          <p:stCondLst>
                                            <p:cond delay="0"/>
                                          </p:stCondLst>
                                        </p:cTn>
                                        <p:tgtEl>
                                          <p:spTgt spid="18469"/>
                                        </p:tgtEl>
                                        <p:attrNameLst>
                                          <p:attrName>style.visibility</p:attrName>
                                        </p:attrNameLst>
                                      </p:cBhvr>
                                      <p:to>
                                        <p:strVal val="visible"/>
                                      </p:to>
                                    </p:set>
                                    <p:animEffect transition="in" filter="strips(downRight)">
                                      <p:cBhvr>
                                        <p:cTn id="48" dur="500"/>
                                        <p:tgtEl>
                                          <p:spTgt spid="18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275079C1-C74B-7B63-4BBD-5EBDB145490B}"/>
              </a:ext>
            </a:extLst>
          </p:cNvPr>
          <p:cNvSpPr>
            <a:spLocks noGrp="1"/>
          </p:cNvSpPr>
          <p:nvPr>
            <p:ph type="sldNum" sz="quarter" idx="11"/>
          </p:nvPr>
        </p:nvSpPr>
        <p:spPr/>
        <p:txBody>
          <a:bodyPr/>
          <a:lstStyle/>
          <a:p>
            <a:pPr defTabSz="461040" fontAlgn="base">
              <a:spcBef>
                <a:spcPct val="0"/>
              </a:spcBef>
              <a:spcAft>
                <a:spcPct val="0"/>
              </a:spcAft>
            </a:pPr>
            <a:fld id="{20EECA67-7BA4-D745-9B50-1B92C070D2A6}" type="slidenum">
              <a:rPr lang="zh-CN" altLang="zh-CN">
                <a:latin typeface="Arial" panose="020B0604020202020204" pitchFamily="34" charset="0"/>
              </a:rPr>
              <a:pPr defTabSz="461040" fontAlgn="base">
                <a:spcBef>
                  <a:spcPct val="0"/>
                </a:spcBef>
                <a:spcAft>
                  <a:spcPct val="0"/>
                </a:spcAft>
              </a:pPr>
              <a:t>33</a:t>
            </a:fld>
            <a:endParaRPr lang="en-US" altLang="zh-CN">
              <a:latin typeface="Arial" panose="020B0604020202020204" pitchFamily="34" charset="0"/>
            </a:endParaRPr>
          </a:p>
        </p:txBody>
      </p:sp>
      <p:sp>
        <p:nvSpPr>
          <p:cNvPr id="20482" name="Rectangle 2">
            <a:extLst>
              <a:ext uri="{FF2B5EF4-FFF2-40B4-BE49-F238E27FC236}">
                <a16:creationId xmlns:a16="http://schemas.microsoft.com/office/drawing/2014/main" id="{60799179-BB7B-2561-123F-4061D04BA950}"/>
              </a:ext>
            </a:extLst>
          </p:cNvPr>
          <p:cNvSpPr>
            <a:spLocks noGrp="1" noChangeArrowheads="1"/>
          </p:cNvSpPr>
          <p:nvPr>
            <p:ph type="title" idx="4294967295"/>
          </p:nvPr>
        </p:nvSpPr>
        <p:spPr>
          <a:xfrm>
            <a:off x="122456" y="109637"/>
            <a:ext cx="4379595" cy="388977"/>
          </a:xfrm>
        </p:spPr>
        <p:txBody>
          <a:bodyPr/>
          <a:lstStyle/>
          <a:p>
            <a:r>
              <a:rPr lang="zh-CN" altLang="en-US" sz="1815">
                <a:ea typeface="宋体" panose="02010600030101010101" pitchFamily="2" charset="-122"/>
              </a:rPr>
              <a:t>这张图省略了什么</a:t>
            </a:r>
          </a:p>
        </p:txBody>
      </p:sp>
      <p:sp>
        <p:nvSpPr>
          <p:cNvPr id="20483" name="Rectangle 3">
            <a:extLst>
              <a:ext uri="{FF2B5EF4-FFF2-40B4-BE49-F238E27FC236}">
                <a16:creationId xmlns:a16="http://schemas.microsoft.com/office/drawing/2014/main" id="{D869660A-2012-B0CF-1A0F-ABD91BA68058}"/>
              </a:ext>
            </a:extLst>
          </p:cNvPr>
          <p:cNvSpPr>
            <a:spLocks noGrp="1" noChangeArrowheads="1"/>
          </p:cNvSpPr>
          <p:nvPr>
            <p:ph type="body" idx="4294967295"/>
          </p:nvPr>
        </p:nvSpPr>
        <p:spPr>
          <a:xfrm>
            <a:off x="252115" y="501816"/>
            <a:ext cx="3973810" cy="2630798"/>
          </a:xfrm>
        </p:spPr>
        <p:txBody>
          <a:bodyPr/>
          <a:lstStyle/>
          <a:p>
            <a:pPr>
              <a:spcBef>
                <a:spcPct val="5000"/>
              </a:spcBef>
            </a:pPr>
            <a:r>
              <a:rPr lang="zh-CN" altLang="zh-CN">
                <a:ea typeface="宋体" panose="02010600030101010101" pitchFamily="2" charset="-122"/>
              </a:rPr>
              <a:t>政府</a:t>
            </a:r>
          </a:p>
          <a:p>
            <a:pPr lvl="1">
              <a:lnSpc>
                <a:spcPct val="105000"/>
              </a:lnSpc>
              <a:spcBef>
                <a:spcPct val="5000"/>
              </a:spcBef>
            </a:pPr>
            <a:r>
              <a:rPr lang="zh-CN" altLang="zh-CN">
                <a:ea typeface="宋体" panose="02010600030101010101" pitchFamily="2" charset="-122"/>
              </a:rPr>
              <a:t>征税，购买物品与劳务</a:t>
            </a:r>
          </a:p>
          <a:p>
            <a:pPr>
              <a:spcBef>
                <a:spcPct val="55000"/>
              </a:spcBef>
            </a:pPr>
            <a:r>
              <a:rPr lang="zh-CN" altLang="zh-CN">
                <a:ea typeface="宋体" panose="02010600030101010101" pitchFamily="2" charset="-122"/>
              </a:rPr>
              <a:t>金融体系</a:t>
            </a:r>
            <a:endParaRPr lang="zh-CN" altLang="en-US">
              <a:ea typeface="宋体" panose="02010600030101010101" pitchFamily="2" charset="-122"/>
            </a:endParaRPr>
          </a:p>
          <a:p>
            <a:pPr lvl="1">
              <a:lnSpc>
                <a:spcPct val="105000"/>
              </a:lnSpc>
              <a:spcBef>
                <a:spcPct val="5000"/>
              </a:spcBef>
            </a:pPr>
            <a:r>
              <a:rPr lang="zh-CN" altLang="zh-CN">
                <a:ea typeface="宋体" panose="02010600030101010101" pitchFamily="2" charset="-122"/>
              </a:rPr>
              <a:t>在储蓄者资金的供给和借款者贷款的需求之间达成均衡</a:t>
            </a:r>
            <a:endParaRPr lang="zh-CN" altLang="en-US">
              <a:ea typeface="宋体" panose="02010600030101010101" pitchFamily="2" charset="-122"/>
            </a:endParaRPr>
          </a:p>
          <a:p>
            <a:pPr>
              <a:spcBef>
                <a:spcPct val="55000"/>
              </a:spcBef>
            </a:pPr>
            <a:r>
              <a:rPr lang="zh-CN" altLang="zh-CN">
                <a:ea typeface="宋体" panose="02010600030101010101" pitchFamily="2" charset="-122"/>
              </a:rPr>
              <a:t>外国部门</a:t>
            </a:r>
          </a:p>
          <a:p>
            <a:pPr lvl="1">
              <a:lnSpc>
                <a:spcPct val="105000"/>
              </a:lnSpc>
              <a:spcBef>
                <a:spcPct val="5000"/>
              </a:spcBef>
            </a:pPr>
            <a:r>
              <a:rPr lang="zh-CN" altLang="zh-CN">
                <a:ea typeface="宋体" panose="02010600030101010101" pitchFamily="2" charset="-122"/>
              </a:rPr>
              <a:t>物品与劳务贸易，金融资产，外国居民的货币</a:t>
            </a:r>
          </a:p>
        </p:txBody>
      </p:sp>
      <p:sp>
        <p:nvSpPr>
          <p:cNvPr id="4" name="页脚占位符 1">
            <a:extLst>
              <a:ext uri="{FF2B5EF4-FFF2-40B4-BE49-F238E27FC236}">
                <a16:creationId xmlns:a16="http://schemas.microsoft.com/office/drawing/2014/main" id="{2C7A47F5-8297-E543-A8DC-5398E1D61741}"/>
              </a:ext>
            </a:extLst>
          </p:cNvPr>
          <p:cNvSpPr>
            <a:spLocks noGrp="1"/>
          </p:cNvSpPr>
          <p:nvPr>
            <p:ph type="ftr" sz="quarter" idx="10"/>
          </p:nvPr>
        </p:nvSpPr>
        <p:spPr>
          <a:xfrm>
            <a:off x="144066" y="3226028"/>
            <a:ext cx="3698485" cy="185054"/>
          </a:xfrm>
        </p:spPr>
        <p:txBody>
          <a:bodyPr/>
          <a:lstStyle/>
          <a:p>
            <a:pPr defTabSz="461040" fontAlgn="base">
              <a:spcBef>
                <a:spcPct val="0"/>
              </a:spcBef>
              <a:spcAft>
                <a:spcPct val="0"/>
              </a:spcAft>
            </a:pPr>
            <a:r>
              <a:rPr lang="zh-CN" altLang="en-US" sz="908" dirty="0">
                <a:latin typeface="Arial" panose="020B0604020202020204" pitchFamily="34" charset="0"/>
              </a:rPr>
              <a:t>国内生产总值</a:t>
            </a:r>
            <a:endParaRPr lang="zh-CN" altLang="zh-CN" sz="908" dirty="0">
              <a:latin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wipe(left)">
                                      <p:cBhvr>
                                        <p:cTn id="7" dur="500"/>
                                        <p:tgtEl>
                                          <p:spTgt spid="20483">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20483">
                                            <p:txEl>
                                              <p:pRg st="1" end="1"/>
                                            </p:txEl>
                                          </p:spTgt>
                                        </p:tgtEl>
                                        <p:attrNameLst>
                                          <p:attrName>style.visibility</p:attrName>
                                        </p:attrNameLst>
                                      </p:cBhvr>
                                      <p:to>
                                        <p:strVal val="visible"/>
                                      </p:to>
                                    </p:set>
                                    <p:animEffect transition="in" filter="wipe(left)">
                                      <p:cBhvr>
                                        <p:cTn id="10" dur="500"/>
                                        <p:tgtEl>
                                          <p:spTgt spid="20483">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animEffect transition="in" filter="wipe(left)">
                                      <p:cBhvr>
                                        <p:cTn id="15" dur="500"/>
                                        <p:tgtEl>
                                          <p:spTgt spid="20483">
                                            <p:txEl>
                                              <p:pRg st="2" end="2"/>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20483">
                                            <p:txEl>
                                              <p:pRg st="3" end="3"/>
                                            </p:txEl>
                                          </p:spTgt>
                                        </p:tgtEl>
                                        <p:attrNameLst>
                                          <p:attrName>style.visibility</p:attrName>
                                        </p:attrNameLst>
                                      </p:cBhvr>
                                      <p:to>
                                        <p:strVal val="visible"/>
                                      </p:to>
                                    </p:set>
                                    <p:animEffect transition="in" filter="wipe(left)">
                                      <p:cBhvr>
                                        <p:cTn id="18" dur="500"/>
                                        <p:tgtEl>
                                          <p:spTgt spid="20483">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20483">
                                            <p:txEl>
                                              <p:pRg st="4" end="4"/>
                                            </p:txEl>
                                          </p:spTgt>
                                        </p:tgtEl>
                                        <p:attrNameLst>
                                          <p:attrName>style.visibility</p:attrName>
                                        </p:attrNameLst>
                                      </p:cBhvr>
                                      <p:to>
                                        <p:strVal val="visible"/>
                                      </p:to>
                                    </p:set>
                                    <p:animEffect transition="in" filter="wipe(left)">
                                      <p:cBhvr>
                                        <p:cTn id="23" dur="500"/>
                                        <p:tgtEl>
                                          <p:spTgt spid="20483">
                                            <p:txEl>
                                              <p:pRg st="4" end="4"/>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20483">
                                            <p:txEl>
                                              <p:pRg st="5" end="5"/>
                                            </p:txEl>
                                          </p:spTgt>
                                        </p:tgtEl>
                                        <p:attrNameLst>
                                          <p:attrName>style.visibility</p:attrName>
                                        </p:attrNameLst>
                                      </p:cBhvr>
                                      <p:to>
                                        <p:strVal val="visible"/>
                                      </p:to>
                                    </p:set>
                                    <p:animEffect transition="in" filter="wipe(left)">
                                      <p:cBhvr>
                                        <p:cTn id="26" dur="500"/>
                                        <p:tgtEl>
                                          <p:spTgt spid="2048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571DE559-A912-14A8-DD5E-DEDF913F2D26}"/>
              </a:ext>
            </a:extLst>
          </p:cNvPr>
          <p:cNvSpPr>
            <a:spLocks noGrp="1"/>
          </p:cNvSpPr>
          <p:nvPr>
            <p:ph type="sldNum" sz="quarter" idx="11"/>
          </p:nvPr>
        </p:nvSpPr>
        <p:spPr/>
        <p:txBody>
          <a:bodyPr/>
          <a:lstStyle/>
          <a:p>
            <a:pPr defTabSz="461040" fontAlgn="base">
              <a:spcBef>
                <a:spcPct val="0"/>
              </a:spcBef>
              <a:spcAft>
                <a:spcPct val="0"/>
              </a:spcAft>
            </a:pPr>
            <a:fld id="{B3DF5493-BAE7-D74E-AC92-75054DA463C6}" type="slidenum">
              <a:rPr lang="zh-CN" altLang="zh-CN">
                <a:latin typeface="Arial" panose="020B0604020202020204" pitchFamily="34" charset="0"/>
              </a:rPr>
              <a:pPr defTabSz="461040" fontAlgn="base">
                <a:spcBef>
                  <a:spcPct val="0"/>
                </a:spcBef>
                <a:spcAft>
                  <a:spcPct val="0"/>
                </a:spcAft>
              </a:pPr>
              <a:t>34</a:t>
            </a:fld>
            <a:endParaRPr lang="en-US" altLang="zh-CN">
              <a:latin typeface="Arial" panose="020B0604020202020204" pitchFamily="34" charset="0"/>
            </a:endParaRPr>
          </a:p>
        </p:txBody>
      </p:sp>
      <p:sp>
        <p:nvSpPr>
          <p:cNvPr id="22530" name="Rectangle 2">
            <a:extLst>
              <a:ext uri="{FF2B5EF4-FFF2-40B4-BE49-F238E27FC236}">
                <a16:creationId xmlns:a16="http://schemas.microsoft.com/office/drawing/2014/main" id="{5515F9FC-2D79-076C-58BA-93FBF7229885}"/>
              </a:ext>
            </a:extLst>
          </p:cNvPr>
          <p:cNvSpPr>
            <a:spLocks noChangeArrowheads="1"/>
          </p:cNvSpPr>
          <p:nvPr/>
        </p:nvSpPr>
        <p:spPr bwMode="auto">
          <a:xfrm>
            <a:off x="1718383" y="897996"/>
            <a:ext cx="736335" cy="32494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22531" name="Rectangle 3">
            <a:extLst>
              <a:ext uri="{FF2B5EF4-FFF2-40B4-BE49-F238E27FC236}">
                <a16:creationId xmlns:a16="http://schemas.microsoft.com/office/drawing/2014/main" id="{18E8B290-9727-8A5A-37E7-049AB597D583}"/>
              </a:ext>
            </a:extLst>
          </p:cNvPr>
          <p:cNvSpPr>
            <a:spLocks noGrp="1" noChangeArrowheads="1"/>
          </p:cNvSpPr>
          <p:nvPr>
            <p:ph type="body" idx="4294967295"/>
          </p:nvPr>
        </p:nvSpPr>
        <p:spPr>
          <a:xfrm>
            <a:off x="219300" y="578651"/>
            <a:ext cx="3823342" cy="901211"/>
          </a:xfrm>
        </p:spPr>
        <p:txBody>
          <a:bodyPr/>
          <a:lstStyle/>
          <a:p>
            <a:pPr>
              <a:lnSpc>
                <a:spcPct val="120000"/>
              </a:lnSpc>
              <a:buFont typeface="Wingdings" pitchFamily="2" charset="2"/>
              <a:buNone/>
            </a:pPr>
            <a:r>
              <a:rPr lang="zh-CN" altLang="zh-CN" sz="1513" dirty="0">
                <a:ea typeface="宋体" panose="02010600030101010101" pitchFamily="2" charset="-122"/>
              </a:rPr>
              <a:t>         </a:t>
            </a:r>
            <a:r>
              <a:rPr lang="zh-CN" altLang="zh-CN" dirty="0">
                <a:ea typeface="宋体" panose="02010600030101010101" pitchFamily="2" charset="-122"/>
              </a:rPr>
              <a:t>在某一既定时期一个国家</a:t>
            </a:r>
            <a:r>
              <a:rPr lang="zh-CN" altLang="en-US" dirty="0">
                <a:ea typeface="宋体" panose="02010600030101010101" pitchFamily="2" charset="-122"/>
              </a:rPr>
              <a:t>（或地区）</a:t>
            </a:r>
            <a:r>
              <a:rPr lang="zh-CN" altLang="zh-CN" dirty="0">
                <a:ea typeface="宋体" panose="02010600030101010101" pitchFamily="2" charset="-122"/>
              </a:rPr>
              <a:t>内生产的所有最终物品与劳务的市场价值</a:t>
            </a:r>
            <a:r>
              <a:rPr lang="zh-CN" altLang="en-US" dirty="0">
                <a:ea typeface="宋体" panose="02010600030101010101" pitchFamily="2" charset="-122"/>
              </a:rPr>
              <a:t>的总和</a:t>
            </a:r>
            <a:endParaRPr lang="zh-CN" altLang="zh-CN" dirty="0">
              <a:ea typeface="宋体" panose="02010600030101010101" pitchFamily="2" charset="-122"/>
            </a:endParaRPr>
          </a:p>
        </p:txBody>
      </p:sp>
      <p:sp>
        <p:nvSpPr>
          <p:cNvPr id="22532" name="Rectangle 4">
            <a:extLst>
              <a:ext uri="{FF2B5EF4-FFF2-40B4-BE49-F238E27FC236}">
                <a16:creationId xmlns:a16="http://schemas.microsoft.com/office/drawing/2014/main" id="{EC67C37A-5294-F6DF-64BE-A4A0C3BEEFCA}"/>
              </a:ext>
            </a:extLst>
          </p:cNvPr>
          <p:cNvSpPr>
            <a:spLocks noGrp="1" noChangeArrowheads="1"/>
          </p:cNvSpPr>
          <p:nvPr>
            <p:ph type="title" idx="4294967295"/>
          </p:nvPr>
        </p:nvSpPr>
        <p:spPr>
          <a:xfrm>
            <a:off x="172879" y="167264"/>
            <a:ext cx="4240332" cy="276926"/>
          </a:xfrm>
        </p:spPr>
        <p:txBody>
          <a:bodyPr/>
          <a:lstStyle/>
          <a:p>
            <a:pPr algn="l"/>
            <a:r>
              <a:rPr lang="zh-CN" altLang="zh-CN" sz="1815">
                <a:ea typeface="宋体" panose="02010600030101010101" pitchFamily="2" charset="-122"/>
              </a:rPr>
              <a:t>国内生产总值（</a:t>
            </a:r>
            <a:r>
              <a:rPr lang="en-US" altLang="zh-CN" sz="1815">
                <a:ea typeface="宋体" panose="02010600030101010101" pitchFamily="2" charset="-122"/>
              </a:rPr>
              <a:t>GDP</a:t>
            </a:r>
            <a:r>
              <a:rPr lang="zh-CN" altLang="zh-CN" sz="1815">
                <a:ea typeface="宋体" panose="02010600030101010101" pitchFamily="2" charset="-122"/>
              </a:rPr>
              <a:t>）：</a:t>
            </a:r>
          </a:p>
        </p:txBody>
      </p:sp>
      <p:sp>
        <p:nvSpPr>
          <p:cNvPr id="22533" name="Text Box 5">
            <a:extLst>
              <a:ext uri="{FF2B5EF4-FFF2-40B4-BE49-F238E27FC236}">
                <a16:creationId xmlns:a16="http://schemas.microsoft.com/office/drawing/2014/main" id="{2793F774-DF8D-1C2F-F179-63326B8E6570}"/>
              </a:ext>
            </a:extLst>
          </p:cNvPr>
          <p:cNvSpPr txBox="1">
            <a:spLocks noChangeArrowheads="1"/>
          </p:cNvSpPr>
          <p:nvPr/>
        </p:nvSpPr>
        <p:spPr bwMode="auto">
          <a:xfrm>
            <a:off x="183284" y="1560698"/>
            <a:ext cx="4219522" cy="327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lnSpc>
                <a:spcPct val="110000"/>
              </a:lnSpc>
              <a:spcBef>
                <a:spcPct val="25000"/>
              </a:spcBef>
              <a:spcAft>
                <a:spcPct val="0"/>
              </a:spcAft>
            </a:pPr>
            <a:r>
              <a:rPr lang="zh-CN" altLang="zh-CN" sz="1412">
                <a:solidFill>
                  <a:srgbClr val="008080"/>
                </a:solidFill>
                <a:ea typeface="宋体" panose="02010600030101010101" pitchFamily="2" charset="-122"/>
              </a:rPr>
              <a:t>物品用它们的市场价值来评价，那:</a:t>
            </a:r>
            <a:endParaRPr lang="en-US" altLang="zh-CN" sz="1412">
              <a:solidFill>
                <a:srgbClr val="008080"/>
              </a:solidFill>
              <a:ea typeface="宋体" panose="02010600030101010101" pitchFamily="2" charset="-122"/>
            </a:endParaRPr>
          </a:p>
        </p:txBody>
      </p:sp>
      <p:sp>
        <p:nvSpPr>
          <p:cNvPr id="22534" name="Text Box 7">
            <a:extLst>
              <a:ext uri="{FF2B5EF4-FFF2-40B4-BE49-F238E27FC236}">
                <a16:creationId xmlns:a16="http://schemas.microsoft.com/office/drawing/2014/main" id="{32C7B3D6-ABE5-011C-92F3-26E3C106D242}"/>
              </a:ext>
            </a:extLst>
          </p:cNvPr>
          <p:cNvSpPr txBox="1">
            <a:spLocks noChangeArrowheads="1"/>
          </p:cNvSpPr>
          <p:nvPr/>
        </p:nvSpPr>
        <p:spPr bwMode="auto">
          <a:xfrm>
            <a:off x="239309" y="1832822"/>
            <a:ext cx="4052246" cy="1320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144075" indent="-144075" defTabSz="461040" fontAlgn="base">
              <a:lnSpc>
                <a:spcPct val="110000"/>
              </a:lnSpc>
              <a:spcBef>
                <a:spcPct val="25000"/>
              </a:spcBef>
              <a:spcAft>
                <a:spcPct val="0"/>
              </a:spcAft>
              <a:buClr>
                <a:srgbClr val="777777"/>
              </a:buClr>
              <a:buSzPct val="120000"/>
              <a:buFont typeface="Wingdings" pitchFamily="2" charset="2"/>
              <a:buChar char="§"/>
            </a:pPr>
            <a:r>
              <a:rPr lang="zh-CN" altLang="zh-CN" sz="1412" dirty="0">
                <a:solidFill>
                  <a:srgbClr val="008080"/>
                </a:solidFill>
                <a:ea typeface="宋体" panose="02010600030101010101" pitchFamily="2" charset="-122"/>
              </a:rPr>
              <a:t>所有物品都用相同的单位来衡量</a:t>
            </a:r>
            <a:r>
              <a:rPr lang="zh-CN" altLang="en-US" sz="1412" dirty="0">
                <a:solidFill>
                  <a:srgbClr val="008080"/>
                </a:solidFill>
                <a:ea typeface="宋体" panose="02010600030101010101" pitchFamily="2" charset="-122"/>
              </a:rPr>
              <a:t> </a:t>
            </a:r>
            <a:r>
              <a:rPr lang="en-US" altLang="zh-CN" sz="1412" dirty="0">
                <a:solidFill>
                  <a:srgbClr val="008080"/>
                </a:solidFill>
                <a:ea typeface="宋体" panose="02010600030101010101" pitchFamily="2" charset="-122"/>
              </a:rPr>
              <a:t>(</a:t>
            </a:r>
            <a:r>
              <a:rPr lang="zh-CN" altLang="zh-CN" sz="1412" dirty="0">
                <a:solidFill>
                  <a:srgbClr val="008080"/>
                </a:solidFill>
                <a:ea typeface="宋体" panose="02010600030101010101" pitchFamily="2" charset="-122"/>
              </a:rPr>
              <a:t>比如</a:t>
            </a:r>
            <a:r>
              <a:rPr lang="zh-CN" altLang="en-US" sz="1412" dirty="0">
                <a:solidFill>
                  <a:srgbClr val="008080"/>
                </a:solidFill>
                <a:ea typeface="宋体" panose="02010600030101010101" pitchFamily="2" charset="-122"/>
              </a:rPr>
              <a:t>，在中国用人民币，</a:t>
            </a:r>
            <a:r>
              <a:rPr lang="zh-CN" altLang="zh-CN" sz="1412" dirty="0">
                <a:solidFill>
                  <a:srgbClr val="008080"/>
                </a:solidFill>
                <a:ea typeface="宋体" panose="02010600030101010101" pitchFamily="2" charset="-122"/>
              </a:rPr>
              <a:t>在美国用美元</a:t>
            </a:r>
            <a:r>
              <a:rPr lang="en-US" altLang="zh-CN" sz="1412" dirty="0">
                <a:solidFill>
                  <a:srgbClr val="008080"/>
                </a:solidFill>
                <a:ea typeface="宋体" panose="02010600030101010101" pitchFamily="2" charset="-122"/>
              </a:rPr>
              <a:t>……)</a:t>
            </a:r>
          </a:p>
          <a:p>
            <a:pPr marL="144075" indent="-144075" defTabSz="461040" fontAlgn="base">
              <a:lnSpc>
                <a:spcPct val="110000"/>
              </a:lnSpc>
              <a:spcBef>
                <a:spcPct val="25000"/>
              </a:spcBef>
              <a:spcAft>
                <a:spcPct val="0"/>
              </a:spcAft>
              <a:buClr>
                <a:srgbClr val="777777"/>
              </a:buClr>
              <a:buSzPct val="120000"/>
              <a:buFont typeface="Wingdings" pitchFamily="2" charset="2"/>
              <a:buChar char="§"/>
            </a:pPr>
            <a:r>
              <a:rPr lang="zh-CN" altLang="zh-CN" sz="1412" dirty="0">
                <a:solidFill>
                  <a:srgbClr val="008080"/>
                </a:solidFill>
                <a:ea typeface="宋体" panose="02010600030101010101" pitchFamily="2" charset="-122"/>
              </a:rPr>
              <a:t>那些没有市场价值的物品被排除在外，比如你为自己而做的家务</a:t>
            </a:r>
            <a:endParaRPr lang="zh-CN" altLang="en-US" sz="1412" dirty="0">
              <a:solidFill>
                <a:srgbClr val="008080"/>
              </a:solidFill>
              <a:ea typeface="宋体" panose="02010600030101010101" pitchFamily="2" charset="-122"/>
            </a:endParaRPr>
          </a:p>
        </p:txBody>
      </p:sp>
      <p:sp>
        <p:nvSpPr>
          <p:cNvPr id="22535" name="Line 8">
            <a:extLst>
              <a:ext uri="{FF2B5EF4-FFF2-40B4-BE49-F238E27FC236}">
                <a16:creationId xmlns:a16="http://schemas.microsoft.com/office/drawing/2014/main" id="{A058B033-4666-8062-3C90-AF2A01DCDA37}"/>
              </a:ext>
            </a:extLst>
          </p:cNvPr>
          <p:cNvSpPr>
            <a:spLocks noChangeShapeType="1"/>
          </p:cNvSpPr>
          <p:nvPr/>
        </p:nvSpPr>
        <p:spPr bwMode="auto">
          <a:xfrm>
            <a:off x="135262" y="1499070"/>
            <a:ext cx="4308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 name="页脚占位符 1">
            <a:extLst>
              <a:ext uri="{FF2B5EF4-FFF2-40B4-BE49-F238E27FC236}">
                <a16:creationId xmlns:a16="http://schemas.microsoft.com/office/drawing/2014/main" id="{ADDE91C1-C583-123C-4F69-C7177110F22E}"/>
              </a:ext>
            </a:extLst>
          </p:cNvPr>
          <p:cNvSpPr>
            <a:spLocks noGrp="1"/>
          </p:cNvSpPr>
          <p:nvPr>
            <p:ph type="ftr" sz="quarter" idx="10"/>
          </p:nvPr>
        </p:nvSpPr>
        <p:spPr>
          <a:xfrm>
            <a:off x="144066" y="3226028"/>
            <a:ext cx="3698485" cy="185054"/>
          </a:xfrm>
        </p:spPr>
        <p:txBody>
          <a:bodyPr/>
          <a:lstStyle/>
          <a:p>
            <a:pPr defTabSz="461040" fontAlgn="base">
              <a:spcBef>
                <a:spcPct val="0"/>
              </a:spcBef>
              <a:spcAft>
                <a:spcPct val="0"/>
              </a:spcAft>
            </a:pPr>
            <a:r>
              <a:rPr lang="zh-CN" altLang="en-US" sz="908" dirty="0">
                <a:latin typeface="Arial" panose="020B0604020202020204" pitchFamily="34" charset="0"/>
              </a:rPr>
              <a:t>国内生产总值</a:t>
            </a:r>
            <a:endParaRPr lang="zh-CN" altLang="zh-CN" sz="908" dirty="0">
              <a:latin typeface="Arial" panose="020B0604020202020204" pitchFamily="34"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wipe(left)">
                                      <p:cBhvr>
                                        <p:cTn id="7" dur="500"/>
                                        <p:tgtEl>
                                          <p:spTgt spid="22531">
                                            <p:txEl>
                                              <p:pRg st="0" end="0"/>
                                            </p:txEl>
                                          </p:spTgt>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2535"/>
                                        </p:tgtEl>
                                        <p:attrNameLst>
                                          <p:attrName>style.visibility</p:attrName>
                                        </p:attrNameLst>
                                      </p:cBhvr>
                                      <p:to>
                                        <p:strVal val="visible"/>
                                      </p:to>
                                    </p:set>
                                    <p:animEffect transition="in" filter="wipe(left)">
                                      <p:cBhvr>
                                        <p:cTn id="11" dur="500"/>
                                        <p:tgtEl>
                                          <p:spTgt spid="2253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22530"/>
                                        </p:tgtEl>
                                        <p:attrNameLst>
                                          <p:attrName>style.visibility</p:attrName>
                                        </p:attrNameLst>
                                      </p:cBhvr>
                                      <p:to>
                                        <p:strVal val="visible"/>
                                      </p:to>
                                    </p:set>
                                    <p:animEffect transition="in" filter="dissolve">
                                      <p:cBhvr>
                                        <p:cTn id="16" dur="500"/>
                                        <p:tgtEl>
                                          <p:spTgt spid="22530"/>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22533"/>
                                        </p:tgtEl>
                                        <p:attrNameLst>
                                          <p:attrName>style.visibility</p:attrName>
                                        </p:attrNameLst>
                                      </p:cBhvr>
                                      <p:to>
                                        <p:strVal val="visible"/>
                                      </p:to>
                                    </p:set>
                                    <p:animEffect transition="in" filter="wipe(left)">
                                      <p:cBhvr>
                                        <p:cTn id="20" dur="500"/>
                                        <p:tgtEl>
                                          <p:spTgt spid="2253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22534">
                                            <p:txEl>
                                              <p:pRg st="0" end="0"/>
                                            </p:txEl>
                                          </p:spTgt>
                                        </p:tgtEl>
                                        <p:attrNameLst>
                                          <p:attrName>style.visibility</p:attrName>
                                        </p:attrNameLst>
                                      </p:cBhvr>
                                      <p:to>
                                        <p:strVal val="visible"/>
                                      </p:to>
                                    </p:set>
                                    <p:animEffect transition="in" filter="wipe(left)">
                                      <p:cBhvr>
                                        <p:cTn id="25" dur="500"/>
                                        <p:tgtEl>
                                          <p:spTgt spid="22534">
                                            <p:txEl>
                                              <p:pRg st="0" end="0"/>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22534">
                                            <p:txEl>
                                              <p:pRg st="1" end="1"/>
                                            </p:txEl>
                                          </p:spTgt>
                                        </p:tgtEl>
                                        <p:attrNameLst>
                                          <p:attrName>style.visibility</p:attrName>
                                        </p:attrNameLst>
                                      </p:cBhvr>
                                      <p:to>
                                        <p:strVal val="visible"/>
                                      </p:to>
                                    </p:set>
                                    <p:animEffect transition="in" filter="wipe(left)">
                                      <p:cBhvr>
                                        <p:cTn id="30" dur="500"/>
                                        <p:tgtEl>
                                          <p:spTgt spid="2253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ldLvl="0" animBg="1" autoUpdateAnimBg="0"/>
      <p:bldP spid="22531" grpId="0" build="p" autoUpdateAnimBg="0"/>
      <p:bldP spid="22533" grpId="0" autoUpdateAnimBg="0"/>
      <p:bldP spid="22534"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CECF0B8-6D57-8B27-F2F0-4E9D890D7260}"/>
              </a:ext>
            </a:extLst>
          </p:cNvPr>
          <p:cNvSpPr>
            <a:spLocks noGrp="1"/>
          </p:cNvSpPr>
          <p:nvPr>
            <p:ph type="sldNum" sz="quarter" idx="11"/>
          </p:nvPr>
        </p:nvSpPr>
        <p:spPr/>
        <p:txBody>
          <a:bodyPr/>
          <a:lstStyle/>
          <a:p>
            <a:pPr defTabSz="461040" fontAlgn="base">
              <a:spcBef>
                <a:spcPct val="0"/>
              </a:spcBef>
              <a:spcAft>
                <a:spcPct val="0"/>
              </a:spcAft>
            </a:pPr>
            <a:fld id="{F18C5557-E428-1C4E-82F0-1A29CFC78342}" type="slidenum">
              <a:rPr lang="zh-CN" altLang="zh-CN">
                <a:latin typeface="Arial" panose="020B0604020202020204" pitchFamily="34" charset="0"/>
              </a:rPr>
              <a:pPr defTabSz="461040" fontAlgn="base">
                <a:spcBef>
                  <a:spcPct val="0"/>
                </a:spcBef>
                <a:spcAft>
                  <a:spcPct val="0"/>
                </a:spcAft>
              </a:pPr>
              <a:t>35</a:t>
            </a:fld>
            <a:endParaRPr lang="en-US" altLang="zh-CN">
              <a:latin typeface="Arial" panose="020B0604020202020204" pitchFamily="34" charset="0"/>
            </a:endParaRPr>
          </a:p>
        </p:txBody>
      </p:sp>
      <p:sp>
        <p:nvSpPr>
          <p:cNvPr id="24578" name="Rectangle 2">
            <a:extLst>
              <a:ext uri="{FF2B5EF4-FFF2-40B4-BE49-F238E27FC236}">
                <a16:creationId xmlns:a16="http://schemas.microsoft.com/office/drawing/2014/main" id="{2318F73C-72D9-7B9E-2A72-7A8B2F4108C5}"/>
              </a:ext>
            </a:extLst>
          </p:cNvPr>
          <p:cNvSpPr>
            <a:spLocks noChangeArrowheads="1"/>
          </p:cNvSpPr>
          <p:nvPr/>
        </p:nvSpPr>
        <p:spPr bwMode="auto">
          <a:xfrm rot="10800000" flipV="1">
            <a:off x="3830545" y="472202"/>
            <a:ext cx="526640" cy="36096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24579" name="Rectangle 3">
            <a:extLst>
              <a:ext uri="{FF2B5EF4-FFF2-40B4-BE49-F238E27FC236}">
                <a16:creationId xmlns:a16="http://schemas.microsoft.com/office/drawing/2014/main" id="{5AF5BD29-04FF-B8EE-5699-5CDF6D51E62D}"/>
              </a:ext>
            </a:extLst>
          </p:cNvPr>
          <p:cNvSpPr>
            <a:spLocks noGrp="1" noChangeArrowheads="1"/>
          </p:cNvSpPr>
          <p:nvPr>
            <p:ph type="body" idx="4294967295"/>
          </p:nvPr>
        </p:nvSpPr>
        <p:spPr>
          <a:xfrm>
            <a:off x="470614" y="480206"/>
            <a:ext cx="3823342" cy="946832"/>
          </a:xfrm>
          <a:noFill/>
        </p:spPr>
        <p:txBody>
          <a:bodyPr/>
          <a:lstStyle/>
          <a:p>
            <a:pPr>
              <a:lnSpc>
                <a:spcPct val="120000"/>
              </a:lnSpc>
              <a:buFont typeface="Wingdings" pitchFamily="2" charset="2"/>
              <a:buNone/>
            </a:pPr>
            <a:r>
              <a:rPr lang="zh-CN" altLang="zh-CN" sz="1513" dirty="0">
                <a:ea typeface="宋体" panose="02010600030101010101" pitchFamily="2" charset="-122"/>
              </a:rPr>
              <a:t>    </a:t>
            </a:r>
            <a:r>
              <a:rPr lang="zh-CN" altLang="zh-CN" dirty="0">
                <a:ea typeface="宋体" panose="02010600030101010101" pitchFamily="2" charset="-122"/>
              </a:rPr>
              <a:t>  在某一既定时期一个国家内生产的所有</a:t>
            </a:r>
            <a:r>
              <a:rPr lang="zh-CN" altLang="zh-CN" dirty="0">
                <a:highlight>
                  <a:srgbClr val="00FFFF"/>
                </a:highlight>
                <a:ea typeface="宋体" panose="02010600030101010101" pitchFamily="2" charset="-122"/>
              </a:rPr>
              <a:t>最终</a:t>
            </a:r>
            <a:r>
              <a:rPr lang="zh-CN" altLang="zh-CN" dirty="0">
                <a:ea typeface="宋体" panose="02010600030101010101" pitchFamily="2" charset="-122"/>
              </a:rPr>
              <a:t>物品和劳务的市场价值</a:t>
            </a:r>
          </a:p>
        </p:txBody>
      </p:sp>
      <p:sp>
        <p:nvSpPr>
          <p:cNvPr id="24580" name="Rectangle 4">
            <a:extLst>
              <a:ext uri="{FF2B5EF4-FFF2-40B4-BE49-F238E27FC236}">
                <a16:creationId xmlns:a16="http://schemas.microsoft.com/office/drawing/2014/main" id="{E7721CE6-3931-8C34-4656-D16C2E00D9FE}"/>
              </a:ext>
            </a:extLst>
          </p:cNvPr>
          <p:cNvSpPr>
            <a:spLocks noGrp="1" noChangeArrowheads="1"/>
          </p:cNvSpPr>
          <p:nvPr>
            <p:ph type="title" idx="4294967295"/>
          </p:nvPr>
        </p:nvSpPr>
        <p:spPr>
          <a:xfrm>
            <a:off x="172879" y="167264"/>
            <a:ext cx="4240332" cy="276926"/>
          </a:xfrm>
        </p:spPr>
        <p:txBody>
          <a:bodyPr/>
          <a:lstStyle/>
          <a:p>
            <a:pPr algn="l"/>
            <a:r>
              <a:rPr lang="zh-CN" altLang="zh-CN" sz="1815">
                <a:ea typeface="宋体" panose="02010600030101010101" pitchFamily="2" charset="-122"/>
              </a:rPr>
              <a:t>国内生产总值</a:t>
            </a:r>
            <a:r>
              <a:rPr lang="zh-CN" altLang="en-US" sz="1815">
                <a:ea typeface="宋体" panose="02010600030101010101" pitchFamily="2" charset="-122"/>
              </a:rPr>
              <a:t> </a:t>
            </a:r>
            <a:r>
              <a:rPr lang="en-US" altLang="zh-CN" sz="1815">
                <a:ea typeface="宋体" panose="02010600030101010101" pitchFamily="2" charset="-122"/>
              </a:rPr>
              <a:t>(GDP) </a:t>
            </a:r>
            <a:r>
              <a:rPr lang="zh-CN" altLang="zh-CN" sz="1815">
                <a:ea typeface="宋体" panose="02010600030101010101" pitchFamily="2" charset="-122"/>
              </a:rPr>
              <a:t>：</a:t>
            </a:r>
            <a:endParaRPr lang="zh-CN" altLang="en-US" sz="1815">
              <a:ea typeface="宋体" panose="02010600030101010101" pitchFamily="2" charset="-122"/>
            </a:endParaRPr>
          </a:p>
        </p:txBody>
      </p:sp>
      <p:sp>
        <p:nvSpPr>
          <p:cNvPr id="24581" name="Text Box 5">
            <a:extLst>
              <a:ext uri="{FF2B5EF4-FFF2-40B4-BE49-F238E27FC236}">
                <a16:creationId xmlns:a16="http://schemas.microsoft.com/office/drawing/2014/main" id="{98E7307D-FCCD-81CF-18F2-4C0A17CE6DE5}"/>
              </a:ext>
            </a:extLst>
          </p:cNvPr>
          <p:cNvSpPr txBox="1">
            <a:spLocks noChangeArrowheads="1"/>
          </p:cNvSpPr>
          <p:nvPr/>
        </p:nvSpPr>
        <p:spPr bwMode="auto">
          <a:xfrm>
            <a:off x="183284" y="1560698"/>
            <a:ext cx="4219522" cy="343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lnSpc>
                <a:spcPct val="110000"/>
              </a:lnSpc>
              <a:spcBef>
                <a:spcPct val="25000"/>
              </a:spcBef>
              <a:spcAft>
                <a:spcPct val="0"/>
              </a:spcAft>
            </a:pPr>
            <a:r>
              <a:rPr lang="zh-CN" altLang="zh-CN" sz="1412" b="1">
                <a:solidFill>
                  <a:srgbClr val="008080"/>
                </a:solidFill>
                <a:ea typeface="宋体" panose="02010600030101010101" pitchFamily="2" charset="-122"/>
              </a:rPr>
              <a:t>最终物品：</a:t>
            </a:r>
            <a:r>
              <a:rPr lang="zh-CN" altLang="zh-CN" sz="1412">
                <a:solidFill>
                  <a:srgbClr val="008080"/>
                </a:solidFill>
                <a:ea typeface="宋体" panose="02010600030101010101" pitchFamily="2" charset="-122"/>
              </a:rPr>
              <a:t>为终端使用者所准备</a:t>
            </a:r>
            <a:endParaRPr lang="zh-CN" altLang="en-US" sz="1412">
              <a:solidFill>
                <a:srgbClr val="008080"/>
              </a:solidFill>
              <a:ea typeface="宋体" panose="02010600030101010101" pitchFamily="2" charset="-122"/>
            </a:endParaRPr>
          </a:p>
        </p:txBody>
      </p:sp>
      <p:sp>
        <p:nvSpPr>
          <p:cNvPr id="24582" name="Text Box 6">
            <a:extLst>
              <a:ext uri="{FF2B5EF4-FFF2-40B4-BE49-F238E27FC236}">
                <a16:creationId xmlns:a16="http://schemas.microsoft.com/office/drawing/2014/main" id="{620DB732-83E8-BCD1-16E3-A7DA37B65FF0}"/>
              </a:ext>
            </a:extLst>
          </p:cNvPr>
          <p:cNvSpPr txBox="1">
            <a:spLocks noChangeArrowheads="1"/>
          </p:cNvSpPr>
          <p:nvPr/>
        </p:nvSpPr>
        <p:spPr bwMode="auto">
          <a:xfrm>
            <a:off x="180083" y="1863236"/>
            <a:ext cx="3988216" cy="1336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lnSpc>
                <a:spcPct val="110000"/>
              </a:lnSpc>
              <a:spcBef>
                <a:spcPct val="30000"/>
              </a:spcBef>
              <a:spcAft>
                <a:spcPct val="0"/>
              </a:spcAft>
            </a:pPr>
            <a:r>
              <a:rPr lang="zh-CN" altLang="zh-CN" sz="1412" b="1">
                <a:solidFill>
                  <a:srgbClr val="008080"/>
                </a:solidFill>
                <a:ea typeface="宋体" panose="02010600030101010101" pitchFamily="2" charset="-122"/>
              </a:rPr>
              <a:t>中间物品：</a:t>
            </a:r>
            <a:r>
              <a:rPr lang="zh-CN" altLang="zh-CN" sz="1412">
                <a:solidFill>
                  <a:srgbClr val="008080"/>
                </a:solidFill>
                <a:ea typeface="宋体" panose="02010600030101010101" pitchFamily="2" charset="-122"/>
              </a:rPr>
              <a:t>生产其他物品的一种组成成份或要素</a:t>
            </a:r>
            <a:r>
              <a:rPr lang="zh-CN" altLang="en-US" sz="1412">
                <a:solidFill>
                  <a:srgbClr val="008080"/>
                </a:solidFill>
                <a:ea typeface="宋体" panose="02010600030101010101" pitchFamily="2" charset="-122"/>
              </a:rPr>
              <a:t> </a:t>
            </a:r>
          </a:p>
          <a:p>
            <a:pPr defTabSz="461040" fontAlgn="base">
              <a:lnSpc>
                <a:spcPct val="110000"/>
              </a:lnSpc>
              <a:spcBef>
                <a:spcPct val="30000"/>
              </a:spcBef>
              <a:spcAft>
                <a:spcPct val="0"/>
              </a:spcAft>
            </a:pPr>
            <a:r>
              <a:rPr lang="en-US" altLang="zh-CN" sz="1412">
                <a:solidFill>
                  <a:srgbClr val="008080"/>
                </a:solidFill>
                <a:ea typeface="宋体" panose="02010600030101010101" pitchFamily="2" charset="-122"/>
              </a:rPr>
              <a:t>GDP</a:t>
            </a:r>
            <a:r>
              <a:rPr lang="zh-CN" altLang="zh-CN" sz="1412">
                <a:solidFill>
                  <a:srgbClr val="008080"/>
                </a:solidFill>
                <a:ea typeface="宋体" panose="02010600030101010101" pitchFamily="2" charset="-122"/>
              </a:rPr>
              <a:t>只包括最终产品</a:t>
            </a:r>
            <a:r>
              <a:rPr lang="en-US" altLang="zh-CN" sz="1412">
                <a:solidFill>
                  <a:srgbClr val="008080"/>
                </a:solidFill>
                <a:ea typeface="宋体" panose="02010600030101010101" pitchFamily="2" charset="-122"/>
              </a:rPr>
              <a:t>—</a:t>
            </a:r>
            <a:r>
              <a:rPr lang="zh-CN" altLang="zh-CN" sz="1412">
                <a:solidFill>
                  <a:srgbClr val="008080"/>
                </a:solidFill>
                <a:ea typeface="宋体" panose="02010600030101010101" pitchFamily="2" charset="-122"/>
              </a:rPr>
              <a:t>生产过程中使用的中间物品的价值已经包含在最终物品的价值中</a:t>
            </a:r>
            <a:endParaRPr lang="zh-CN" altLang="en-US" sz="1412">
              <a:solidFill>
                <a:srgbClr val="008080"/>
              </a:solidFill>
              <a:ea typeface="宋体" panose="02010600030101010101" pitchFamily="2" charset="-122"/>
            </a:endParaRPr>
          </a:p>
        </p:txBody>
      </p:sp>
      <p:sp>
        <p:nvSpPr>
          <p:cNvPr id="24583" name="Line 8">
            <a:extLst>
              <a:ext uri="{FF2B5EF4-FFF2-40B4-BE49-F238E27FC236}">
                <a16:creationId xmlns:a16="http://schemas.microsoft.com/office/drawing/2014/main" id="{2EC7260E-0BF0-3210-C1B9-BF9D12925B41}"/>
              </a:ext>
            </a:extLst>
          </p:cNvPr>
          <p:cNvSpPr>
            <a:spLocks noChangeShapeType="1"/>
          </p:cNvSpPr>
          <p:nvPr/>
        </p:nvSpPr>
        <p:spPr bwMode="auto">
          <a:xfrm>
            <a:off x="135262" y="1499070"/>
            <a:ext cx="4308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 name="页脚占位符 1">
            <a:extLst>
              <a:ext uri="{FF2B5EF4-FFF2-40B4-BE49-F238E27FC236}">
                <a16:creationId xmlns:a16="http://schemas.microsoft.com/office/drawing/2014/main" id="{50B4029A-D220-868A-EE68-97FF4058D2DE}"/>
              </a:ext>
            </a:extLst>
          </p:cNvPr>
          <p:cNvSpPr>
            <a:spLocks noGrp="1"/>
          </p:cNvSpPr>
          <p:nvPr>
            <p:ph type="ftr" sz="quarter" idx="10"/>
          </p:nvPr>
        </p:nvSpPr>
        <p:spPr>
          <a:xfrm>
            <a:off x="144066" y="3226028"/>
            <a:ext cx="3698485" cy="185054"/>
          </a:xfrm>
        </p:spPr>
        <p:txBody>
          <a:bodyPr/>
          <a:lstStyle/>
          <a:p>
            <a:pPr defTabSz="461040" fontAlgn="base">
              <a:spcBef>
                <a:spcPct val="0"/>
              </a:spcBef>
              <a:spcAft>
                <a:spcPct val="0"/>
              </a:spcAft>
            </a:pPr>
            <a:r>
              <a:rPr lang="zh-CN" altLang="en-US" sz="908" dirty="0">
                <a:latin typeface="Arial" panose="020B0604020202020204" pitchFamily="34" charset="0"/>
              </a:rPr>
              <a:t>国内生产总值</a:t>
            </a:r>
            <a:endParaRPr lang="zh-CN" altLang="zh-CN" sz="908" dirty="0">
              <a:latin typeface="Arial" panose="020B0604020202020204" pitchFamily="34"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4581"/>
                                        </p:tgtEl>
                                        <p:attrNameLst>
                                          <p:attrName>style.visibility</p:attrName>
                                        </p:attrNameLst>
                                      </p:cBhvr>
                                      <p:to>
                                        <p:strVal val="visible"/>
                                      </p:to>
                                    </p:set>
                                    <p:animEffect transition="in" filter="wipe(left)">
                                      <p:cBhvr>
                                        <p:cTn id="7" dur="500"/>
                                        <p:tgtEl>
                                          <p:spTgt spid="2458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4582">
                                            <p:txEl>
                                              <p:pRg st="0" end="0"/>
                                            </p:txEl>
                                          </p:spTgt>
                                        </p:tgtEl>
                                        <p:attrNameLst>
                                          <p:attrName>style.visibility</p:attrName>
                                        </p:attrNameLst>
                                      </p:cBhvr>
                                      <p:to>
                                        <p:strVal val="visible"/>
                                      </p:to>
                                    </p:set>
                                    <p:animEffect transition="in" filter="wipe(left)">
                                      <p:cBhvr>
                                        <p:cTn id="12" dur="500"/>
                                        <p:tgtEl>
                                          <p:spTgt spid="2458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4582">
                                            <p:txEl>
                                              <p:pRg st="1" end="1"/>
                                            </p:txEl>
                                          </p:spTgt>
                                        </p:tgtEl>
                                        <p:attrNameLst>
                                          <p:attrName>style.visibility</p:attrName>
                                        </p:attrNameLst>
                                      </p:cBhvr>
                                      <p:to>
                                        <p:strVal val="visible"/>
                                      </p:to>
                                    </p:set>
                                    <p:animEffect transition="in" filter="wipe(left)">
                                      <p:cBhvr>
                                        <p:cTn id="17" dur="500"/>
                                        <p:tgtEl>
                                          <p:spTgt spid="2458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autoUpdateAnimBg="0"/>
      <p:bldP spid="24582"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DA32927-ACB5-630E-B96B-C1901C1BBB17}"/>
              </a:ext>
            </a:extLst>
          </p:cNvPr>
          <p:cNvSpPr>
            <a:spLocks noGrp="1"/>
          </p:cNvSpPr>
          <p:nvPr>
            <p:ph type="sldNum" sz="quarter" idx="11"/>
          </p:nvPr>
        </p:nvSpPr>
        <p:spPr/>
        <p:txBody>
          <a:bodyPr/>
          <a:lstStyle/>
          <a:p>
            <a:pPr defTabSz="461040" fontAlgn="base">
              <a:spcBef>
                <a:spcPct val="0"/>
              </a:spcBef>
              <a:spcAft>
                <a:spcPct val="0"/>
              </a:spcAft>
            </a:pPr>
            <a:fld id="{134B6BCF-86F7-D84B-97A3-C89A4653C77F}" type="slidenum">
              <a:rPr lang="zh-CN" altLang="zh-CN">
                <a:latin typeface="Arial" panose="020B0604020202020204" pitchFamily="34" charset="0"/>
              </a:rPr>
              <a:pPr defTabSz="461040" fontAlgn="base">
                <a:spcBef>
                  <a:spcPct val="0"/>
                </a:spcBef>
                <a:spcAft>
                  <a:spcPct val="0"/>
                </a:spcAft>
              </a:pPr>
              <a:t>36</a:t>
            </a:fld>
            <a:endParaRPr lang="en-US" altLang="zh-CN">
              <a:latin typeface="Arial" panose="020B0604020202020204" pitchFamily="34" charset="0"/>
            </a:endParaRPr>
          </a:p>
        </p:txBody>
      </p:sp>
      <p:sp>
        <p:nvSpPr>
          <p:cNvPr id="25602" name="Rectangle 2">
            <a:extLst>
              <a:ext uri="{FF2B5EF4-FFF2-40B4-BE49-F238E27FC236}">
                <a16:creationId xmlns:a16="http://schemas.microsoft.com/office/drawing/2014/main" id="{0E452914-FCEE-AE26-FFC1-DD75C592940F}"/>
              </a:ext>
            </a:extLst>
          </p:cNvPr>
          <p:cNvSpPr>
            <a:spLocks noChangeArrowheads="1"/>
          </p:cNvSpPr>
          <p:nvPr/>
        </p:nvSpPr>
        <p:spPr bwMode="auto">
          <a:xfrm>
            <a:off x="696317" y="827564"/>
            <a:ext cx="374571" cy="264120"/>
          </a:xfrm>
          <a:prstGeom prst="rect">
            <a:avLst/>
          </a:prstGeom>
          <a:solidFill>
            <a:srgbClr val="FFD9D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25603" name="Rectangle 3">
            <a:extLst>
              <a:ext uri="{FF2B5EF4-FFF2-40B4-BE49-F238E27FC236}">
                <a16:creationId xmlns:a16="http://schemas.microsoft.com/office/drawing/2014/main" id="{8568BD90-651F-5DAB-1AE3-5EBB76DF38FE}"/>
              </a:ext>
            </a:extLst>
          </p:cNvPr>
          <p:cNvSpPr>
            <a:spLocks noChangeArrowheads="1"/>
          </p:cNvSpPr>
          <p:nvPr/>
        </p:nvSpPr>
        <p:spPr bwMode="auto">
          <a:xfrm>
            <a:off x="1215754" y="818760"/>
            <a:ext cx="408186" cy="263320"/>
          </a:xfrm>
          <a:prstGeom prst="rect">
            <a:avLst/>
          </a:prstGeom>
          <a:solidFill>
            <a:srgbClr val="FFD9D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25604" name="Rectangle 10">
            <a:extLst>
              <a:ext uri="{FF2B5EF4-FFF2-40B4-BE49-F238E27FC236}">
                <a16:creationId xmlns:a16="http://schemas.microsoft.com/office/drawing/2014/main" id="{943FC672-0F36-705E-7565-0EB23255EB95}"/>
              </a:ext>
            </a:extLst>
          </p:cNvPr>
          <p:cNvSpPr>
            <a:spLocks noGrp="1" noChangeArrowheads="1"/>
          </p:cNvSpPr>
          <p:nvPr>
            <p:ph type="body" idx="4294967295"/>
          </p:nvPr>
        </p:nvSpPr>
        <p:spPr>
          <a:xfrm>
            <a:off x="470614" y="496213"/>
            <a:ext cx="3823342" cy="946832"/>
          </a:xfrm>
          <a:noFill/>
        </p:spPr>
        <p:txBody>
          <a:bodyPr/>
          <a:lstStyle/>
          <a:p>
            <a:pPr>
              <a:lnSpc>
                <a:spcPct val="120000"/>
              </a:lnSpc>
              <a:buFont typeface="Wingdings" pitchFamily="2" charset="2"/>
              <a:buNone/>
            </a:pPr>
            <a:r>
              <a:rPr lang="zh-CN" altLang="zh-CN" sz="1513" dirty="0">
                <a:ea typeface="宋体" panose="02010600030101010101" pitchFamily="2" charset="-122"/>
              </a:rPr>
              <a:t>      </a:t>
            </a:r>
            <a:r>
              <a:rPr lang="zh-CN" altLang="zh-CN" dirty="0">
                <a:ea typeface="宋体" panose="02010600030101010101" pitchFamily="2" charset="-122"/>
              </a:rPr>
              <a:t>在某一既定时期一个国家内生产的所有最终</a:t>
            </a:r>
            <a:r>
              <a:rPr lang="zh-CN" altLang="zh-CN" dirty="0">
                <a:highlight>
                  <a:srgbClr val="00FFFF"/>
                </a:highlight>
                <a:ea typeface="宋体" panose="02010600030101010101" pitchFamily="2" charset="-122"/>
              </a:rPr>
              <a:t>物品和劳务</a:t>
            </a:r>
            <a:r>
              <a:rPr lang="zh-CN" altLang="zh-CN" dirty="0">
                <a:ea typeface="宋体" panose="02010600030101010101" pitchFamily="2" charset="-122"/>
              </a:rPr>
              <a:t>的市场价值</a:t>
            </a:r>
          </a:p>
        </p:txBody>
      </p:sp>
      <p:sp>
        <p:nvSpPr>
          <p:cNvPr id="25605" name="Rectangle 5">
            <a:extLst>
              <a:ext uri="{FF2B5EF4-FFF2-40B4-BE49-F238E27FC236}">
                <a16:creationId xmlns:a16="http://schemas.microsoft.com/office/drawing/2014/main" id="{E656BCB6-564A-1FB3-C691-C8D119AB3D3D}"/>
              </a:ext>
            </a:extLst>
          </p:cNvPr>
          <p:cNvSpPr>
            <a:spLocks noGrp="1" noChangeArrowheads="1"/>
          </p:cNvSpPr>
          <p:nvPr>
            <p:ph type="title" idx="4294967295"/>
          </p:nvPr>
        </p:nvSpPr>
        <p:spPr>
          <a:xfrm>
            <a:off x="172879" y="167264"/>
            <a:ext cx="4240332" cy="276926"/>
          </a:xfrm>
        </p:spPr>
        <p:txBody>
          <a:bodyPr/>
          <a:lstStyle/>
          <a:p>
            <a:pPr algn="l"/>
            <a:r>
              <a:rPr lang="zh-CN" altLang="zh-CN" sz="1815">
                <a:ea typeface="宋体" panose="02010600030101010101" pitchFamily="2" charset="-122"/>
              </a:rPr>
              <a:t>国内生产总值</a:t>
            </a:r>
            <a:r>
              <a:rPr lang="zh-CN" altLang="en-US" sz="1815">
                <a:ea typeface="宋体" panose="02010600030101010101" pitchFamily="2" charset="-122"/>
              </a:rPr>
              <a:t> </a:t>
            </a:r>
            <a:r>
              <a:rPr lang="en-US" altLang="zh-CN" sz="1815">
                <a:ea typeface="宋体" panose="02010600030101010101" pitchFamily="2" charset="-122"/>
              </a:rPr>
              <a:t>(GDP)</a:t>
            </a:r>
            <a:r>
              <a:rPr lang="zh-CN" altLang="zh-CN" sz="1815">
                <a:ea typeface="宋体" panose="02010600030101010101" pitchFamily="2" charset="-122"/>
              </a:rPr>
              <a:t>：</a:t>
            </a:r>
            <a:endParaRPr lang="zh-CN" altLang="en-US" sz="1815">
              <a:ea typeface="宋体" panose="02010600030101010101" pitchFamily="2" charset="-122"/>
            </a:endParaRPr>
          </a:p>
        </p:txBody>
      </p:sp>
      <p:sp>
        <p:nvSpPr>
          <p:cNvPr id="25606" name="Text Box 6">
            <a:extLst>
              <a:ext uri="{FF2B5EF4-FFF2-40B4-BE49-F238E27FC236}">
                <a16:creationId xmlns:a16="http://schemas.microsoft.com/office/drawing/2014/main" id="{1251B5D9-08C6-271B-90C9-7E51A085F487}"/>
              </a:ext>
            </a:extLst>
          </p:cNvPr>
          <p:cNvSpPr txBox="1">
            <a:spLocks noChangeArrowheads="1"/>
          </p:cNvSpPr>
          <p:nvPr/>
        </p:nvSpPr>
        <p:spPr bwMode="auto">
          <a:xfrm>
            <a:off x="183284" y="1560698"/>
            <a:ext cx="4219522" cy="573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lnSpc>
                <a:spcPct val="110000"/>
              </a:lnSpc>
              <a:spcBef>
                <a:spcPct val="25000"/>
              </a:spcBef>
              <a:spcAft>
                <a:spcPct val="0"/>
              </a:spcAft>
            </a:pPr>
            <a:r>
              <a:rPr lang="en-US" altLang="zh-CN" sz="1412">
                <a:solidFill>
                  <a:srgbClr val="008080"/>
                </a:solidFill>
                <a:ea typeface="宋体" panose="02010600030101010101" pitchFamily="2" charset="-122"/>
              </a:rPr>
              <a:t>GDP</a:t>
            </a:r>
            <a:r>
              <a:rPr lang="zh-CN" altLang="zh-CN" sz="1412">
                <a:solidFill>
                  <a:srgbClr val="008080"/>
                </a:solidFill>
                <a:ea typeface="宋体" panose="02010600030101010101" pitchFamily="2" charset="-122"/>
              </a:rPr>
              <a:t>包括有形的物品</a:t>
            </a:r>
            <a:br>
              <a:rPr lang="zh-CN" altLang="en-US" sz="1412">
                <a:solidFill>
                  <a:srgbClr val="008080"/>
                </a:solidFill>
                <a:ea typeface="宋体" panose="02010600030101010101" pitchFamily="2" charset="-122"/>
              </a:rPr>
            </a:br>
            <a:r>
              <a:rPr lang="en-US" altLang="zh-CN" sz="1412">
                <a:solidFill>
                  <a:srgbClr val="008080"/>
                </a:solidFill>
                <a:ea typeface="宋体" panose="02010600030101010101" pitchFamily="2" charset="-122"/>
              </a:rPr>
              <a:t>(</a:t>
            </a:r>
            <a:r>
              <a:rPr lang="zh-CN" altLang="zh-CN" sz="1412">
                <a:solidFill>
                  <a:srgbClr val="008080"/>
                </a:solidFill>
                <a:ea typeface="宋体" panose="02010600030101010101" pitchFamily="2" charset="-122"/>
              </a:rPr>
              <a:t>比如</a:t>
            </a:r>
            <a:r>
              <a:rPr lang="en-US" altLang="zh-CN" sz="1412">
                <a:solidFill>
                  <a:srgbClr val="008080"/>
                </a:solidFill>
                <a:ea typeface="宋体" panose="02010600030101010101" pitchFamily="2" charset="-122"/>
              </a:rPr>
              <a:t>DVD, </a:t>
            </a:r>
            <a:r>
              <a:rPr lang="zh-CN" altLang="zh-CN" sz="1412">
                <a:solidFill>
                  <a:srgbClr val="008080"/>
                </a:solidFill>
                <a:ea typeface="宋体" panose="02010600030101010101" pitchFamily="2" charset="-122"/>
              </a:rPr>
              <a:t>山地自行车</a:t>
            </a:r>
            <a:r>
              <a:rPr lang="en-US" altLang="zh-CN" sz="1412">
                <a:solidFill>
                  <a:srgbClr val="008080"/>
                </a:solidFill>
                <a:ea typeface="宋体" panose="02010600030101010101" pitchFamily="2" charset="-122"/>
              </a:rPr>
              <a:t>, </a:t>
            </a:r>
            <a:r>
              <a:rPr lang="zh-CN" altLang="zh-CN" sz="1412">
                <a:solidFill>
                  <a:srgbClr val="008080"/>
                </a:solidFill>
                <a:ea typeface="宋体" panose="02010600030101010101" pitchFamily="2" charset="-122"/>
              </a:rPr>
              <a:t>啤酒</a:t>
            </a:r>
            <a:r>
              <a:rPr lang="en-US" altLang="zh-CN" sz="1412">
                <a:solidFill>
                  <a:srgbClr val="008080"/>
                </a:solidFill>
                <a:ea typeface="宋体" panose="02010600030101010101" pitchFamily="2" charset="-122"/>
              </a:rPr>
              <a:t>)</a:t>
            </a:r>
          </a:p>
        </p:txBody>
      </p:sp>
      <p:sp>
        <p:nvSpPr>
          <p:cNvPr id="25607" name="Text Box 8">
            <a:extLst>
              <a:ext uri="{FF2B5EF4-FFF2-40B4-BE49-F238E27FC236}">
                <a16:creationId xmlns:a16="http://schemas.microsoft.com/office/drawing/2014/main" id="{7E85849D-09E7-B3D7-F2B1-FFE89291D48D}"/>
              </a:ext>
            </a:extLst>
          </p:cNvPr>
          <p:cNvSpPr txBox="1">
            <a:spLocks noChangeArrowheads="1"/>
          </p:cNvSpPr>
          <p:nvPr/>
        </p:nvSpPr>
        <p:spPr bwMode="auto">
          <a:xfrm>
            <a:off x="188086" y="2105746"/>
            <a:ext cx="4219522" cy="565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lnSpc>
                <a:spcPct val="110000"/>
              </a:lnSpc>
              <a:spcBef>
                <a:spcPct val="25000"/>
              </a:spcBef>
              <a:spcAft>
                <a:spcPct val="0"/>
              </a:spcAft>
            </a:pPr>
            <a:r>
              <a:rPr lang="zh-CN" altLang="zh-CN" sz="1412">
                <a:solidFill>
                  <a:srgbClr val="008080"/>
                </a:solidFill>
                <a:ea typeface="宋体" panose="02010600030101010101" pitchFamily="2" charset="-122"/>
              </a:rPr>
              <a:t>也包括无形的劳务</a:t>
            </a:r>
            <a:br>
              <a:rPr lang="zh-CN" altLang="en-US" sz="1412">
                <a:solidFill>
                  <a:srgbClr val="008080"/>
                </a:solidFill>
                <a:ea typeface="宋体" panose="02010600030101010101" pitchFamily="2" charset="-122"/>
              </a:rPr>
            </a:br>
            <a:r>
              <a:rPr lang="en-US" altLang="zh-CN" sz="1412">
                <a:solidFill>
                  <a:srgbClr val="008080"/>
                </a:solidFill>
                <a:ea typeface="宋体" panose="02010600030101010101" pitchFamily="2" charset="-122"/>
              </a:rPr>
              <a:t>(</a:t>
            </a:r>
            <a:r>
              <a:rPr lang="zh-CN" altLang="zh-CN" sz="1412">
                <a:solidFill>
                  <a:srgbClr val="008080"/>
                </a:solidFill>
                <a:ea typeface="宋体" panose="02010600030101010101" pitchFamily="2" charset="-122"/>
              </a:rPr>
              <a:t>比如干洗</a:t>
            </a:r>
            <a:r>
              <a:rPr lang="en-US" altLang="zh-CN" sz="1412">
                <a:solidFill>
                  <a:srgbClr val="008080"/>
                </a:solidFill>
                <a:ea typeface="宋体" panose="02010600030101010101" pitchFamily="2" charset="-122"/>
              </a:rPr>
              <a:t>, </a:t>
            </a:r>
            <a:r>
              <a:rPr lang="zh-CN" altLang="zh-CN" sz="1412">
                <a:solidFill>
                  <a:srgbClr val="008080"/>
                </a:solidFill>
                <a:ea typeface="宋体" panose="02010600030101010101" pitchFamily="2" charset="-122"/>
              </a:rPr>
              <a:t>音乐会</a:t>
            </a:r>
            <a:r>
              <a:rPr lang="en-US" altLang="zh-CN" sz="1412">
                <a:solidFill>
                  <a:srgbClr val="008080"/>
                </a:solidFill>
                <a:ea typeface="宋体" panose="02010600030101010101" pitchFamily="2" charset="-122"/>
              </a:rPr>
              <a:t>, </a:t>
            </a:r>
            <a:r>
              <a:rPr lang="zh-CN" altLang="zh-CN" sz="1412">
                <a:solidFill>
                  <a:srgbClr val="008080"/>
                </a:solidFill>
                <a:ea typeface="宋体" panose="02010600030101010101" pitchFamily="2" charset="-122"/>
              </a:rPr>
              <a:t>移动电话服务</a:t>
            </a:r>
            <a:r>
              <a:rPr lang="en-US" altLang="zh-CN" sz="1412">
                <a:solidFill>
                  <a:srgbClr val="008080"/>
                </a:solidFill>
                <a:ea typeface="宋体" panose="02010600030101010101" pitchFamily="2" charset="-122"/>
              </a:rPr>
              <a:t>)</a:t>
            </a:r>
          </a:p>
        </p:txBody>
      </p:sp>
      <p:sp>
        <p:nvSpPr>
          <p:cNvPr id="25608" name="Line 12">
            <a:extLst>
              <a:ext uri="{FF2B5EF4-FFF2-40B4-BE49-F238E27FC236}">
                <a16:creationId xmlns:a16="http://schemas.microsoft.com/office/drawing/2014/main" id="{1F675B0D-C687-E98E-F8B5-F78AED55716D}"/>
              </a:ext>
            </a:extLst>
          </p:cNvPr>
          <p:cNvSpPr>
            <a:spLocks noChangeShapeType="1"/>
          </p:cNvSpPr>
          <p:nvPr/>
        </p:nvSpPr>
        <p:spPr bwMode="auto">
          <a:xfrm>
            <a:off x="135262" y="1499070"/>
            <a:ext cx="4308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 name="页脚占位符 1">
            <a:extLst>
              <a:ext uri="{FF2B5EF4-FFF2-40B4-BE49-F238E27FC236}">
                <a16:creationId xmlns:a16="http://schemas.microsoft.com/office/drawing/2014/main" id="{067E3089-0790-67FA-C810-5619D0FD3270}"/>
              </a:ext>
            </a:extLst>
          </p:cNvPr>
          <p:cNvSpPr>
            <a:spLocks noGrp="1"/>
          </p:cNvSpPr>
          <p:nvPr>
            <p:ph type="ftr" sz="quarter" idx="10"/>
          </p:nvPr>
        </p:nvSpPr>
        <p:spPr>
          <a:xfrm>
            <a:off x="144066" y="3226028"/>
            <a:ext cx="3698485" cy="185054"/>
          </a:xfrm>
        </p:spPr>
        <p:txBody>
          <a:bodyPr/>
          <a:lstStyle/>
          <a:p>
            <a:pPr defTabSz="461040" fontAlgn="base">
              <a:spcBef>
                <a:spcPct val="0"/>
              </a:spcBef>
              <a:spcAft>
                <a:spcPct val="0"/>
              </a:spcAft>
            </a:pPr>
            <a:r>
              <a:rPr lang="zh-CN" altLang="en-US" sz="908" dirty="0">
                <a:latin typeface="Arial" panose="020B0604020202020204" pitchFamily="34" charset="0"/>
              </a:rPr>
              <a:t>国内生产总值</a:t>
            </a:r>
            <a:endParaRPr lang="zh-CN" altLang="zh-CN" sz="908" dirty="0">
              <a:latin typeface="Arial" panose="020B0604020202020204" pitchFamily="34"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5606"/>
                                        </p:tgtEl>
                                        <p:attrNameLst>
                                          <p:attrName>style.visibility</p:attrName>
                                        </p:attrNameLst>
                                      </p:cBhvr>
                                      <p:to>
                                        <p:strVal val="visible"/>
                                      </p:to>
                                    </p:set>
                                    <p:animEffect transition="in" filter="wipe(left)">
                                      <p:cBhvr>
                                        <p:cTn id="7" dur="500"/>
                                        <p:tgtEl>
                                          <p:spTgt spid="256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5602"/>
                                        </p:tgtEl>
                                        <p:attrNameLst>
                                          <p:attrName>style.visibility</p:attrName>
                                        </p:attrNameLst>
                                      </p:cBhvr>
                                      <p:to>
                                        <p:strVal val="visible"/>
                                      </p:to>
                                    </p:set>
                                    <p:animEffect transition="in" filter="dissolve">
                                      <p:cBhvr>
                                        <p:cTn id="12" dur="500"/>
                                        <p:tgtEl>
                                          <p:spTgt spid="25602"/>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5607"/>
                                        </p:tgtEl>
                                        <p:attrNameLst>
                                          <p:attrName>style.visibility</p:attrName>
                                        </p:attrNameLst>
                                      </p:cBhvr>
                                      <p:to>
                                        <p:strVal val="visible"/>
                                      </p:to>
                                    </p:set>
                                    <p:animEffect transition="in" filter="wipe(left)">
                                      <p:cBhvr>
                                        <p:cTn id="16" dur="500"/>
                                        <p:tgtEl>
                                          <p:spTgt spid="256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bldLvl="0" animBg="1" autoUpdateAnimBg="0"/>
      <p:bldP spid="25606" grpId="0" autoUpdateAnimBg="0"/>
      <p:bldP spid="25607"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549878B3-F06C-2DB0-323A-D890865C86FD}"/>
              </a:ext>
            </a:extLst>
          </p:cNvPr>
          <p:cNvSpPr>
            <a:spLocks noGrp="1"/>
          </p:cNvSpPr>
          <p:nvPr>
            <p:ph type="sldNum" sz="quarter" idx="11"/>
          </p:nvPr>
        </p:nvSpPr>
        <p:spPr/>
        <p:txBody>
          <a:bodyPr/>
          <a:lstStyle/>
          <a:p>
            <a:pPr defTabSz="461040" fontAlgn="base">
              <a:spcBef>
                <a:spcPct val="0"/>
              </a:spcBef>
              <a:spcAft>
                <a:spcPct val="0"/>
              </a:spcAft>
            </a:pPr>
            <a:fld id="{DA72DC90-FB1A-9C44-8522-14767E41A8BA}" type="slidenum">
              <a:rPr lang="zh-CN" altLang="zh-CN">
                <a:latin typeface="Arial" panose="020B0604020202020204" pitchFamily="34" charset="0"/>
              </a:rPr>
              <a:pPr defTabSz="461040" fontAlgn="base">
                <a:spcBef>
                  <a:spcPct val="0"/>
                </a:spcBef>
                <a:spcAft>
                  <a:spcPct val="0"/>
                </a:spcAft>
              </a:pPr>
              <a:t>37</a:t>
            </a:fld>
            <a:endParaRPr lang="en-US" altLang="zh-CN">
              <a:latin typeface="Arial" panose="020B0604020202020204" pitchFamily="34" charset="0"/>
            </a:endParaRPr>
          </a:p>
        </p:txBody>
      </p:sp>
      <p:sp>
        <p:nvSpPr>
          <p:cNvPr id="26626" name="Rectangle 2">
            <a:extLst>
              <a:ext uri="{FF2B5EF4-FFF2-40B4-BE49-F238E27FC236}">
                <a16:creationId xmlns:a16="http://schemas.microsoft.com/office/drawing/2014/main" id="{896D779D-B394-C167-3C88-5419981E82C6}"/>
              </a:ext>
            </a:extLst>
          </p:cNvPr>
          <p:cNvSpPr>
            <a:spLocks noChangeArrowheads="1"/>
          </p:cNvSpPr>
          <p:nvPr/>
        </p:nvSpPr>
        <p:spPr bwMode="auto">
          <a:xfrm>
            <a:off x="3326316" y="564244"/>
            <a:ext cx="569059" cy="28573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26627" name="Rectangle 8">
            <a:extLst>
              <a:ext uri="{FF2B5EF4-FFF2-40B4-BE49-F238E27FC236}">
                <a16:creationId xmlns:a16="http://schemas.microsoft.com/office/drawing/2014/main" id="{0A614F1C-A28D-CA97-C60F-33E448402B7B}"/>
              </a:ext>
            </a:extLst>
          </p:cNvPr>
          <p:cNvSpPr>
            <a:spLocks noGrp="1" noChangeArrowheads="1"/>
          </p:cNvSpPr>
          <p:nvPr>
            <p:ph type="body" idx="4294967295"/>
          </p:nvPr>
        </p:nvSpPr>
        <p:spPr>
          <a:xfrm>
            <a:off x="348959" y="479405"/>
            <a:ext cx="3823342" cy="946831"/>
          </a:xfrm>
          <a:noFill/>
        </p:spPr>
        <p:txBody>
          <a:bodyPr/>
          <a:lstStyle/>
          <a:p>
            <a:pPr>
              <a:lnSpc>
                <a:spcPct val="120000"/>
              </a:lnSpc>
              <a:buFont typeface="Wingdings" pitchFamily="2" charset="2"/>
              <a:buNone/>
            </a:pPr>
            <a:r>
              <a:rPr lang="zh-CN" altLang="zh-CN" sz="1513" dirty="0">
                <a:ea typeface="宋体" panose="02010600030101010101" pitchFamily="2" charset="-122"/>
              </a:rPr>
              <a:t>              </a:t>
            </a:r>
            <a:r>
              <a:rPr lang="zh-CN" altLang="zh-CN" dirty="0">
                <a:ea typeface="宋体" panose="02010600030101010101" pitchFamily="2" charset="-122"/>
              </a:rPr>
              <a:t>在某一既定时期一个国家内</a:t>
            </a:r>
            <a:r>
              <a:rPr lang="zh-CN" altLang="zh-CN" dirty="0">
                <a:highlight>
                  <a:srgbClr val="00FFFF"/>
                </a:highlight>
                <a:ea typeface="宋体" panose="02010600030101010101" pitchFamily="2" charset="-122"/>
              </a:rPr>
              <a:t>生产</a:t>
            </a:r>
            <a:r>
              <a:rPr lang="zh-CN" altLang="zh-CN" dirty="0">
                <a:ea typeface="宋体" panose="02010600030101010101" pitchFamily="2" charset="-122"/>
              </a:rPr>
              <a:t>的所有最终物品和劳务的市场价值</a:t>
            </a:r>
          </a:p>
          <a:p>
            <a:pPr>
              <a:lnSpc>
                <a:spcPct val="120000"/>
              </a:lnSpc>
              <a:buFont typeface="Wingdings" pitchFamily="2" charset="2"/>
              <a:buNone/>
            </a:pPr>
            <a:endParaRPr lang="zh-CN" altLang="zh-CN" dirty="0">
              <a:ea typeface="宋体" panose="02010600030101010101" pitchFamily="2" charset="-122"/>
            </a:endParaRPr>
          </a:p>
        </p:txBody>
      </p:sp>
      <p:sp>
        <p:nvSpPr>
          <p:cNvPr id="26628" name="Rectangle 4">
            <a:extLst>
              <a:ext uri="{FF2B5EF4-FFF2-40B4-BE49-F238E27FC236}">
                <a16:creationId xmlns:a16="http://schemas.microsoft.com/office/drawing/2014/main" id="{FAD6E2B6-37F7-539D-A8DA-DA5374D2890A}"/>
              </a:ext>
            </a:extLst>
          </p:cNvPr>
          <p:cNvSpPr>
            <a:spLocks noGrp="1" noChangeArrowheads="1"/>
          </p:cNvSpPr>
          <p:nvPr>
            <p:ph type="title" idx="4294967295"/>
          </p:nvPr>
        </p:nvSpPr>
        <p:spPr>
          <a:xfrm>
            <a:off x="172879" y="167264"/>
            <a:ext cx="4240332" cy="276926"/>
          </a:xfrm>
        </p:spPr>
        <p:txBody>
          <a:bodyPr/>
          <a:lstStyle/>
          <a:p>
            <a:pPr algn="l"/>
            <a:r>
              <a:rPr lang="zh-CN" altLang="zh-CN" sz="1815">
                <a:ea typeface="宋体" panose="02010600030101010101" pitchFamily="2" charset="-122"/>
              </a:rPr>
              <a:t>国内生产总值</a:t>
            </a:r>
            <a:r>
              <a:rPr lang="zh-CN" altLang="en-US" sz="1815">
                <a:ea typeface="宋体" panose="02010600030101010101" pitchFamily="2" charset="-122"/>
              </a:rPr>
              <a:t> </a:t>
            </a:r>
            <a:r>
              <a:rPr lang="en-US" altLang="zh-CN" sz="1815">
                <a:ea typeface="宋体" panose="02010600030101010101" pitchFamily="2" charset="-122"/>
              </a:rPr>
              <a:t>(GDP)</a:t>
            </a:r>
            <a:r>
              <a:rPr lang="zh-CN" altLang="zh-CN" sz="1815">
                <a:ea typeface="宋体" panose="02010600030101010101" pitchFamily="2" charset="-122"/>
              </a:rPr>
              <a:t>：</a:t>
            </a:r>
            <a:endParaRPr lang="zh-CN" altLang="en-US" sz="1815">
              <a:ea typeface="宋体" panose="02010600030101010101" pitchFamily="2" charset="-122"/>
            </a:endParaRPr>
          </a:p>
        </p:txBody>
      </p:sp>
      <p:sp>
        <p:nvSpPr>
          <p:cNvPr id="26629" name="Text Box 5">
            <a:extLst>
              <a:ext uri="{FF2B5EF4-FFF2-40B4-BE49-F238E27FC236}">
                <a16:creationId xmlns:a16="http://schemas.microsoft.com/office/drawing/2014/main" id="{16E3F4C0-25D6-9F51-78CE-405F0EA32EC3}"/>
              </a:ext>
            </a:extLst>
          </p:cNvPr>
          <p:cNvSpPr txBox="1">
            <a:spLocks noChangeArrowheads="1"/>
          </p:cNvSpPr>
          <p:nvPr/>
        </p:nvSpPr>
        <p:spPr bwMode="auto">
          <a:xfrm>
            <a:off x="183284" y="1560698"/>
            <a:ext cx="4219522" cy="560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lnSpc>
                <a:spcPct val="110000"/>
              </a:lnSpc>
              <a:spcBef>
                <a:spcPct val="25000"/>
              </a:spcBef>
              <a:spcAft>
                <a:spcPct val="0"/>
              </a:spcAft>
            </a:pPr>
            <a:r>
              <a:rPr lang="en-US" altLang="zh-CN" sz="1412">
                <a:solidFill>
                  <a:srgbClr val="008080"/>
                </a:solidFill>
                <a:ea typeface="宋体" panose="02010600030101010101" pitchFamily="2" charset="-122"/>
              </a:rPr>
              <a:t>GDP </a:t>
            </a:r>
            <a:r>
              <a:rPr lang="zh-CN" altLang="zh-CN" sz="1412">
                <a:solidFill>
                  <a:srgbClr val="008080"/>
                </a:solidFill>
                <a:ea typeface="宋体" panose="02010600030101010101" pitchFamily="2" charset="-122"/>
              </a:rPr>
              <a:t>只包括现期生产的物品，不包括过去生产的物品</a:t>
            </a:r>
            <a:endParaRPr lang="zh-CN" altLang="en-US" sz="1412">
              <a:solidFill>
                <a:srgbClr val="008080"/>
              </a:solidFill>
              <a:ea typeface="宋体" panose="02010600030101010101" pitchFamily="2" charset="-122"/>
            </a:endParaRPr>
          </a:p>
        </p:txBody>
      </p:sp>
      <p:sp>
        <p:nvSpPr>
          <p:cNvPr id="26630" name="Line 10">
            <a:extLst>
              <a:ext uri="{FF2B5EF4-FFF2-40B4-BE49-F238E27FC236}">
                <a16:creationId xmlns:a16="http://schemas.microsoft.com/office/drawing/2014/main" id="{3EAF13EF-9579-4638-FEFD-78C8442BE0CE}"/>
              </a:ext>
            </a:extLst>
          </p:cNvPr>
          <p:cNvSpPr>
            <a:spLocks noChangeShapeType="1"/>
          </p:cNvSpPr>
          <p:nvPr/>
        </p:nvSpPr>
        <p:spPr bwMode="auto">
          <a:xfrm>
            <a:off x="135262" y="1499070"/>
            <a:ext cx="4308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 name="页脚占位符 1">
            <a:extLst>
              <a:ext uri="{FF2B5EF4-FFF2-40B4-BE49-F238E27FC236}">
                <a16:creationId xmlns:a16="http://schemas.microsoft.com/office/drawing/2014/main" id="{2E868C47-6219-F519-3C60-2B90AB5BEC6F}"/>
              </a:ext>
            </a:extLst>
          </p:cNvPr>
          <p:cNvSpPr>
            <a:spLocks noGrp="1"/>
          </p:cNvSpPr>
          <p:nvPr>
            <p:ph type="ftr" sz="quarter" idx="10"/>
          </p:nvPr>
        </p:nvSpPr>
        <p:spPr>
          <a:xfrm>
            <a:off x="144066" y="3226028"/>
            <a:ext cx="3698485" cy="185054"/>
          </a:xfrm>
        </p:spPr>
        <p:txBody>
          <a:bodyPr/>
          <a:lstStyle/>
          <a:p>
            <a:pPr defTabSz="461040" fontAlgn="base">
              <a:spcBef>
                <a:spcPct val="0"/>
              </a:spcBef>
              <a:spcAft>
                <a:spcPct val="0"/>
              </a:spcAft>
            </a:pPr>
            <a:r>
              <a:rPr lang="zh-CN" altLang="en-US" sz="908" dirty="0">
                <a:latin typeface="Arial" panose="020B0604020202020204" pitchFamily="34" charset="0"/>
              </a:rPr>
              <a:t>国内生产总值</a:t>
            </a:r>
            <a:endParaRPr lang="zh-CN" altLang="zh-CN" sz="908" dirty="0">
              <a:latin typeface="Arial" panose="020B0604020202020204" pitchFamily="34"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6629"/>
                                        </p:tgtEl>
                                        <p:attrNameLst>
                                          <p:attrName>style.visibility</p:attrName>
                                        </p:attrNameLst>
                                      </p:cBhvr>
                                      <p:to>
                                        <p:strVal val="visible"/>
                                      </p:to>
                                    </p:set>
                                    <p:animEffect transition="in" filter="wipe(left)">
                                      <p:cBhvr>
                                        <p:cTn id="7" dur="500"/>
                                        <p:tgtEl>
                                          <p:spTgt spid="26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9"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76F37BC9-ACAF-3874-1836-2334763FFE17}"/>
              </a:ext>
            </a:extLst>
          </p:cNvPr>
          <p:cNvSpPr>
            <a:spLocks noGrp="1"/>
          </p:cNvSpPr>
          <p:nvPr>
            <p:ph type="sldNum" sz="quarter" idx="11"/>
          </p:nvPr>
        </p:nvSpPr>
        <p:spPr/>
        <p:txBody>
          <a:bodyPr/>
          <a:lstStyle/>
          <a:p>
            <a:pPr defTabSz="461040" fontAlgn="base">
              <a:spcBef>
                <a:spcPct val="0"/>
              </a:spcBef>
              <a:spcAft>
                <a:spcPct val="0"/>
              </a:spcAft>
            </a:pPr>
            <a:fld id="{814B096B-EE9B-5E44-B0DC-DA341625DAF0}" type="slidenum">
              <a:rPr lang="zh-CN" altLang="zh-CN">
                <a:latin typeface="Arial" panose="020B0604020202020204" pitchFamily="34" charset="0"/>
              </a:rPr>
              <a:pPr defTabSz="461040" fontAlgn="base">
                <a:spcBef>
                  <a:spcPct val="0"/>
                </a:spcBef>
                <a:spcAft>
                  <a:spcPct val="0"/>
                </a:spcAft>
              </a:pPr>
              <a:t>38</a:t>
            </a:fld>
            <a:endParaRPr lang="en-US" altLang="zh-CN">
              <a:latin typeface="Arial" panose="020B0604020202020204" pitchFamily="34" charset="0"/>
            </a:endParaRPr>
          </a:p>
        </p:txBody>
      </p:sp>
      <p:sp>
        <p:nvSpPr>
          <p:cNvPr id="27650" name="Rectangle 2">
            <a:extLst>
              <a:ext uri="{FF2B5EF4-FFF2-40B4-BE49-F238E27FC236}">
                <a16:creationId xmlns:a16="http://schemas.microsoft.com/office/drawing/2014/main" id="{B5F59478-C027-3969-8BB7-79E0DB74044A}"/>
              </a:ext>
            </a:extLst>
          </p:cNvPr>
          <p:cNvSpPr>
            <a:spLocks noChangeArrowheads="1"/>
          </p:cNvSpPr>
          <p:nvPr/>
        </p:nvSpPr>
        <p:spPr bwMode="auto">
          <a:xfrm>
            <a:off x="2457920" y="520224"/>
            <a:ext cx="968441" cy="281728"/>
          </a:xfrm>
          <a:prstGeom prst="rect">
            <a:avLst/>
          </a:prstGeom>
          <a:solidFill>
            <a:srgbClr val="DEBD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27651" name="Rectangle 8">
            <a:extLst>
              <a:ext uri="{FF2B5EF4-FFF2-40B4-BE49-F238E27FC236}">
                <a16:creationId xmlns:a16="http://schemas.microsoft.com/office/drawing/2014/main" id="{248106C8-B170-7345-82F7-9448439FCB07}"/>
              </a:ext>
            </a:extLst>
          </p:cNvPr>
          <p:cNvSpPr>
            <a:spLocks noGrp="1" noChangeArrowheads="1"/>
          </p:cNvSpPr>
          <p:nvPr>
            <p:ph type="body" idx="4294967295"/>
          </p:nvPr>
        </p:nvSpPr>
        <p:spPr>
          <a:xfrm>
            <a:off x="470614" y="480206"/>
            <a:ext cx="3823342" cy="946832"/>
          </a:xfrm>
          <a:noFill/>
        </p:spPr>
        <p:txBody>
          <a:bodyPr/>
          <a:lstStyle/>
          <a:p>
            <a:pPr>
              <a:lnSpc>
                <a:spcPct val="120000"/>
              </a:lnSpc>
              <a:buFont typeface="Wingdings" pitchFamily="2" charset="2"/>
              <a:buNone/>
            </a:pPr>
            <a:r>
              <a:rPr lang="zh-CN" altLang="zh-CN" sz="1513" dirty="0">
                <a:ea typeface="宋体" panose="02010600030101010101" pitchFamily="2" charset="-122"/>
              </a:rPr>
              <a:t>         在某一既定时期</a:t>
            </a:r>
            <a:r>
              <a:rPr lang="zh-CN" altLang="zh-CN" sz="1513" dirty="0">
                <a:highlight>
                  <a:srgbClr val="00FFFF"/>
                </a:highlight>
                <a:ea typeface="宋体" panose="02010600030101010101" pitchFamily="2" charset="-122"/>
              </a:rPr>
              <a:t>一个国家内</a:t>
            </a:r>
            <a:r>
              <a:rPr lang="zh-CN" altLang="zh-CN" sz="1513" dirty="0">
                <a:ea typeface="宋体" panose="02010600030101010101" pitchFamily="2" charset="-122"/>
              </a:rPr>
              <a:t>生产的所有最终物品和劳务的市场价值</a:t>
            </a:r>
          </a:p>
        </p:txBody>
      </p:sp>
      <p:sp>
        <p:nvSpPr>
          <p:cNvPr id="27652" name="Rectangle 4">
            <a:extLst>
              <a:ext uri="{FF2B5EF4-FFF2-40B4-BE49-F238E27FC236}">
                <a16:creationId xmlns:a16="http://schemas.microsoft.com/office/drawing/2014/main" id="{C76A145A-F1B6-30CB-80DB-EFE0AEF1FB25}"/>
              </a:ext>
            </a:extLst>
          </p:cNvPr>
          <p:cNvSpPr>
            <a:spLocks noGrp="1" noChangeArrowheads="1"/>
          </p:cNvSpPr>
          <p:nvPr>
            <p:ph type="title" idx="4294967295"/>
          </p:nvPr>
        </p:nvSpPr>
        <p:spPr>
          <a:xfrm>
            <a:off x="172879" y="167264"/>
            <a:ext cx="4240332" cy="276926"/>
          </a:xfrm>
        </p:spPr>
        <p:txBody>
          <a:bodyPr/>
          <a:lstStyle/>
          <a:p>
            <a:pPr algn="l"/>
            <a:r>
              <a:rPr lang="zh-CN" altLang="zh-CN" sz="1815">
                <a:ea typeface="宋体" panose="02010600030101010101" pitchFamily="2" charset="-122"/>
              </a:rPr>
              <a:t>国内生产总值</a:t>
            </a:r>
            <a:r>
              <a:rPr lang="zh-CN" altLang="en-US" sz="1815">
                <a:ea typeface="宋体" panose="02010600030101010101" pitchFamily="2" charset="-122"/>
              </a:rPr>
              <a:t> </a:t>
            </a:r>
            <a:r>
              <a:rPr lang="en-US" altLang="zh-CN" sz="1815">
                <a:ea typeface="宋体" panose="02010600030101010101" pitchFamily="2" charset="-122"/>
              </a:rPr>
              <a:t>(GDP)</a:t>
            </a:r>
            <a:r>
              <a:rPr lang="zh-CN" altLang="zh-CN" sz="1815">
                <a:ea typeface="宋体" panose="02010600030101010101" pitchFamily="2" charset="-122"/>
              </a:rPr>
              <a:t>：</a:t>
            </a:r>
            <a:endParaRPr lang="zh-CN" altLang="en-US" sz="1815">
              <a:ea typeface="宋体" panose="02010600030101010101" pitchFamily="2" charset="-122"/>
            </a:endParaRPr>
          </a:p>
        </p:txBody>
      </p:sp>
      <p:sp>
        <p:nvSpPr>
          <p:cNvPr id="27653" name="Text Box 5">
            <a:extLst>
              <a:ext uri="{FF2B5EF4-FFF2-40B4-BE49-F238E27FC236}">
                <a16:creationId xmlns:a16="http://schemas.microsoft.com/office/drawing/2014/main" id="{09EF5E56-CB14-9248-CC69-F48060D7E071}"/>
              </a:ext>
            </a:extLst>
          </p:cNvPr>
          <p:cNvSpPr txBox="1">
            <a:spLocks noChangeArrowheads="1"/>
          </p:cNvSpPr>
          <p:nvPr/>
        </p:nvSpPr>
        <p:spPr bwMode="auto">
          <a:xfrm>
            <a:off x="183284" y="1560698"/>
            <a:ext cx="4219522" cy="1543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lnSpc>
                <a:spcPct val="110000"/>
              </a:lnSpc>
              <a:spcBef>
                <a:spcPct val="25000"/>
              </a:spcBef>
              <a:spcAft>
                <a:spcPct val="0"/>
              </a:spcAft>
            </a:pPr>
            <a:r>
              <a:rPr lang="en-US" altLang="zh-CN" sz="1412">
                <a:solidFill>
                  <a:srgbClr val="008080"/>
                </a:solidFill>
                <a:ea typeface="宋体" panose="02010600030101010101" pitchFamily="2" charset="-122"/>
              </a:rPr>
              <a:t>GDP </a:t>
            </a:r>
            <a:r>
              <a:rPr lang="zh-CN" altLang="zh-CN" sz="1412">
                <a:solidFill>
                  <a:srgbClr val="008080"/>
                </a:solidFill>
                <a:ea typeface="宋体" panose="02010600030101010101" pitchFamily="2" charset="-122"/>
              </a:rPr>
              <a:t>衡量的生产价值局限于一个国家的地理范围之内，不管是由本国的国民还是住在本国的外国人生产</a:t>
            </a:r>
            <a:endParaRPr lang="zh-CN" altLang="en-US" sz="1412">
              <a:solidFill>
                <a:srgbClr val="008080"/>
              </a:solidFill>
              <a:ea typeface="宋体" panose="02010600030101010101" pitchFamily="2" charset="-122"/>
            </a:endParaRPr>
          </a:p>
        </p:txBody>
      </p:sp>
      <p:sp>
        <p:nvSpPr>
          <p:cNvPr id="27654" name="Line 10">
            <a:extLst>
              <a:ext uri="{FF2B5EF4-FFF2-40B4-BE49-F238E27FC236}">
                <a16:creationId xmlns:a16="http://schemas.microsoft.com/office/drawing/2014/main" id="{686697FF-4742-0FD4-5F65-257BC6A9693F}"/>
              </a:ext>
            </a:extLst>
          </p:cNvPr>
          <p:cNvSpPr>
            <a:spLocks noChangeShapeType="1"/>
          </p:cNvSpPr>
          <p:nvPr/>
        </p:nvSpPr>
        <p:spPr bwMode="auto">
          <a:xfrm>
            <a:off x="135262" y="1499070"/>
            <a:ext cx="4308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 name="页脚占位符 1">
            <a:extLst>
              <a:ext uri="{FF2B5EF4-FFF2-40B4-BE49-F238E27FC236}">
                <a16:creationId xmlns:a16="http://schemas.microsoft.com/office/drawing/2014/main" id="{C361459B-50F8-07BC-46D3-81D4094DCD7F}"/>
              </a:ext>
            </a:extLst>
          </p:cNvPr>
          <p:cNvSpPr>
            <a:spLocks noGrp="1"/>
          </p:cNvSpPr>
          <p:nvPr>
            <p:ph type="ftr" sz="quarter" idx="10"/>
          </p:nvPr>
        </p:nvSpPr>
        <p:spPr>
          <a:xfrm>
            <a:off x="144066" y="3226028"/>
            <a:ext cx="3698485" cy="185054"/>
          </a:xfrm>
        </p:spPr>
        <p:txBody>
          <a:bodyPr/>
          <a:lstStyle/>
          <a:p>
            <a:pPr defTabSz="461040" fontAlgn="base">
              <a:spcBef>
                <a:spcPct val="0"/>
              </a:spcBef>
              <a:spcAft>
                <a:spcPct val="0"/>
              </a:spcAft>
            </a:pPr>
            <a:r>
              <a:rPr lang="zh-CN" altLang="en-US" sz="908" dirty="0">
                <a:latin typeface="Arial" panose="020B0604020202020204" pitchFamily="34" charset="0"/>
              </a:rPr>
              <a:t>国内生产总值</a:t>
            </a:r>
            <a:endParaRPr lang="zh-CN" altLang="zh-CN" sz="908" dirty="0">
              <a:latin typeface="Arial" panose="020B0604020202020204" pitchFamily="34"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7653"/>
                                        </p:tgtEl>
                                        <p:attrNameLst>
                                          <p:attrName>style.visibility</p:attrName>
                                        </p:attrNameLst>
                                      </p:cBhvr>
                                      <p:to>
                                        <p:strVal val="visible"/>
                                      </p:to>
                                    </p:set>
                                    <p:animEffect transition="in" filter="wipe(left)">
                                      <p:cBhvr>
                                        <p:cTn id="7" dur="500"/>
                                        <p:tgtEl>
                                          <p:spTgt spid="27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3"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7E3BF670-4462-A9B8-0D04-93EE385AA52B}"/>
              </a:ext>
            </a:extLst>
          </p:cNvPr>
          <p:cNvSpPr>
            <a:spLocks noGrp="1"/>
          </p:cNvSpPr>
          <p:nvPr>
            <p:ph type="sldNum" sz="quarter" idx="11"/>
          </p:nvPr>
        </p:nvSpPr>
        <p:spPr/>
        <p:txBody>
          <a:bodyPr/>
          <a:lstStyle/>
          <a:p>
            <a:pPr defTabSz="461040" fontAlgn="base">
              <a:spcBef>
                <a:spcPct val="0"/>
              </a:spcBef>
              <a:spcAft>
                <a:spcPct val="0"/>
              </a:spcAft>
            </a:pPr>
            <a:fld id="{B6B65E24-9C3B-5E4E-A72D-9A1748A87B84}" type="slidenum">
              <a:rPr lang="zh-CN" altLang="zh-CN">
                <a:latin typeface="Arial" panose="020B0604020202020204" pitchFamily="34" charset="0"/>
              </a:rPr>
              <a:pPr defTabSz="461040" fontAlgn="base">
                <a:spcBef>
                  <a:spcPct val="0"/>
                </a:spcBef>
                <a:spcAft>
                  <a:spcPct val="0"/>
                </a:spcAft>
              </a:pPr>
              <a:t>39</a:t>
            </a:fld>
            <a:endParaRPr lang="en-US" altLang="zh-CN">
              <a:latin typeface="Arial" panose="020B0604020202020204" pitchFamily="34" charset="0"/>
            </a:endParaRPr>
          </a:p>
        </p:txBody>
      </p:sp>
      <p:sp>
        <p:nvSpPr>
          <p:cNvPr id="28674" name="Rectangle 2">
            <a:extLst>
              <a:ext uri="{FF2B5EF4-FFF2-40B4-BE49-F238E27FC236}">
                <a16:creationId xmlns:a16="http://schemas.microsoft.com/office/drawing/2014/main" id="{BE165FD6-5608-FE78-BA96-E0FCE803C750}"/>
              </a:ext>
            </a:extLst>
          </p:cNvPr>
          <p:cNvSpPr>
            <a:spLocks noChangeArrowheads="1"/>
          </p:cNvSpPr>
          <p:nvPr/>
        </p:nvSpPr>
        <p:spPr bwMode="auto">
          <a:xfrm>
            <a:off x="864394" y="497014"/>
            <a:ext cx="1354217" cy="281728"/>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28675" name="Rectangle 8">
            <a:extLst>
              <a:ext uri="{FF2B5EF4-FFF2-40B4-BE49-F238E27FC236}">
                <a16:creationId xmlns:a16="http://schemas.microsoft.com/office/drawing/2014/main" id="{4A603373-A7C9-5836-C8A8-6D7B08A0A169}"/>
              </a:ext>
            </a:extLst>
          </p:cNvPr>
          <p:cNvSpPr>
            <a:spLocks noGrp="1" noChangeArrowheads="1"/>
          </p:cNvSpPr>
          <p:nvPr>
            <p:ph type="body" idx="4294967295"/>
          </p:nvPr>
        </p:nvSpPr>
        <p:spPr>
          <a:xfrm>
            <a:off x="470614" y="480206"/>
            <a:ext cx="3823342" cy="946832"/>
          </a:xfrm>
          <a:noFill/>
        </p:spPr>
        <p:txBody>
          <a:bodyPr/>
          <a:lstStyle/>
          <a:p>
            <a:pPr>
              <a:lnSpc>
                <a:spcPct val="120000"/>
              </a:lnSpc>
              <a:buFont typeface="Wingdings" pitchFamily="2" charset="2"/>
              <a:buNone/>
            </a:pPr>
            <a:r>
              <a:rPr lang="zh-CN" altLang="zh-CN" sz="1513" dirty="0">
                <a:ea typeface="宋体" panose="02010600030101010101" pitchFamily="2" charset="-122"/>
              </a:rPr>
              <a:t>       </a:t>
            </a:r>
            <a:r>
              <a:rPr lang="zh-CN" altLang="zh-CN" sz="1513" dirty="0">
                <a:highlight>
                  <a:srgbClr val="00FFFF"/>
                </a:highlight>
                <a:ea typeface="宋体" panose="02010600030101010101" pitchFamily="2" charset="-122"/>
              </a:rPr>
              <a:t>在某一既定时期</a:t>
            </a:r>
            <a:r>
              <a:rPr lang="zh-CN" altLang="zh-CN" sz="1513" dirty="0">
                <a:ea typeface="宋体" panose="02010600030101010101" pitchFamily="2" charset="-122"/>
              </a:rPr>
              <a:t>一个国家内生产的所有最终物品和劳务的市场价值</a:t>
            </a:r>
          </a:p>
        </p:txBody>
      </p:sp>
      <p:sp>
        <p:nvSpPr>
          <p:cNvPr id="28676" name="Rectangle 4">
            <a:extLst>
              <a:ext uri="{FF2B5EF4-FFF2-40B4-BE49-F238E27FC236}">
                <a16:creationId xmlns:a16="http://schemas.microsoft.com/office/drawing/2014/main" id="{A0483784-9232-7ECF-F8F3-FC2880A15A0C}"/>
              </a:ext>
            </a:extLst>
          </p:cNvPr>
          <p:cNvSpPr>
            <a:spLocks noGrp="1" noChangeArrowheads="1"/>
          </p:cNvSpPr>
          <p:nvPr>
            <p:ph type="title" idx="4294967295"/>
          </p:nvPr>
        </p:nvSpPr>
        <p:spPr>
          <a:xfrm>
            <a:off x="172879" y="167264"/>
            <a:ext cx="4240332" cy="276926"/>
          </a:xfrm>
        </p:spPr>
        <p:txBody>
          <a:bodyPr/>
          <a:lstStyle/>
          <a:p>
            <a:pPr algn="l"/>
            <a:r>
              <a:rPr lang="zh-CN" altLang="zh-CN" sz="1815">
                <a:ea typeface="宋体" panose="02010600030101010101" pitchFamily="2" charset="-122"/>
              </a:rPr>
              <a:t>国内生产总值</a:t>
            </a:r>
            <a:r>
              <a:rPr lang="zh-CN" altLang="en-US" sz="1815">
                <a:ea typeface="宋体" panose="02010600030101010101" pitchFamily="2" charset="-122"/>
              </a:rPr>
              <a:t> </a:t>
            </a:r>
            <a:r>
              <a:rPr lang="en-US" altLang="zh-CN" sz="1815">
                <a:ea typeface="宋体" panose="02010600030101010101" pitchFamily="2" charset="-122"/>
              </a:rPr>
              <a:t>(GDP)</a:t>
            </a:r>
            <a:r>
              <a:rPr lang="zh-CN" altLang="zh-CN" sz="1815">
                <a:ea typeface="宋体" panose="02010600030101010101" pitchFamily="2" charset="-122"/>
              </a:rPr>
              <a:t>：</a:t>
            </a:r>
            <a:endParaRPr lang="zh-CN" altLang="en-US" sz="1815">
              <a:ea typeface="宋体" panose="02010600030101010101" pitchFamily="2" charset="-122"/>
            </a:endParaRPr>
          </a:p>
        </p:txBody>
      </p:sp>
      <p:sp>
        <p:nvSpPr>
          <p:cNvPr id="28677" name="Text Box 5">
            <a:extLst>
              <a:ext uri="{FF2B5EF4-FFF2-40B4-BE49-F238E27FC236}">
                <a16:creationId xmlns:a16="http://schemas.microsoft.com/office/drawing/2014/main" id="{99332F76-2700-FC03-65DB-1935A27E6EF9}"/>
              </a:ext>
            </a:extLst>
          </p:cNvPr>
          <p:cNvSpPr txBox="1">
            <a:spLocks noChangeArrowheads="1"/>
          </p:cNvSpPr>
          <p:nvPr/>
        </p:nvSpPr>
        <p:spPr bwMode="auto">
          <a:xfrm>
            <a:off x="183284" y="1560698"/>
            <a:ext cx="4219522" cy="1543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lnSpc>
                <a:spcPct val="110000"/>
              </a:lnSpc>
              <a:spcBef>
                <a:spcPct val="25000"/>
              </a:spcBef>
              <a:spcAft>
                <a:spcPct val="0"/>
              </a:spcAft>
            </a:pPr>
            <a:r>
              <a:rPr lang="zh-CN" altLang="zh-CN" sz="1412">
                <a:solidFill>
                  <a:srgbClr val="008080"/>
                </a:solidFill>
                <a:ea typeface="宋体" panose="02010600030101010101" pitchFamily="2" charset="-122"/>
              </a:rPr>
              <a:t>通常是一年或一个季度（</a:t>
            </a:r>
            <a:r>
              <a:rPr lang="en-US" altLang="zh-CN" sz="1412">
                <a:solidFill>
                  <a:srgbClr val="008080"/>
                </a:solidFill>
                <a:ea typeface="宋体" panose="02010600030101010101" pitchFamily="2" charset="-122"/>
              </a:rPr>
              <a:t>3</a:t>
            </a:r>
            <a:r>
              <a:rPr lang="zh-CN" altLang="zh-CN" sz="1412">
                <a:solidFill>
                  <a:srgbClr val="008080"/>
                </a:solidFill>
                <a:ea typeface="宋体" panose="02010600030101010101" pitchFamily="2" charset="-122"/>
              </a:rPr>
              <a:t>个月）</a:t>
            </a:r>
            <a:r>
              <a:rPr lang="zh-CN" altLang="en-US" sz="1412">
                <a:solidFill>
                  <a:srgbClr val="008080"/>
                </a:solidFill>
                <a:ea typeface="宋体" panose="02010600030101010101" pitchFamily="2" charset="-122"/>
              </a:rPr>
              <a:t> </a:t>
            </a:r>
          </a:p>
        </p:txBody>
      </p:sp>
      <p:sp>
        <p:nvSpPr>
          <p:cNvPr id="28678" name="Line 10">
            <a:extLst>
              <a:ext uri="{FF2B5EF4-FFF2-40B4-BE49-F238E27FC236}">
                <a16:creationId xmlns:a16="http://schemas.microsoft.com/office/drawing/2014/main" id="{C8657653-E689-418F-BE62-6FFDB315BC8E}"/>
              </a:ext>
            </a:extLst>
          </p:cNvPr>
          <p:cNvSpPr>
            <a:spLocks noChangeShapeType="1"/>
          </p:cNvSpPr>
          <p:nvPr/>
        </p:nvSpPr>
        <p:spPr bwMode="auto">
          <a:xfrm>
            <a:off x="135262" y="1499070"/>
            <a:ext cx="4308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 name="页脚占位符 1">
            <a:extLst>
              <a:ext uri="{FF2B5EF4-FFF2-40B4-BE49-F238E27FC236}">
                <a16:creationId xmlns:a16="http://schemas.microsoft.com/office/drawing/2014/main" id="{23EFCDEA-2610-42BF-A62E-B9E8AD82C7CF}"/>
              </a:ext>
            </a:extLst>
          </p:cNvPr>
          <p:cNvSpPr>
            <a:spLocks noGrp="1"/>
          </p:cNvSpPr>
          <p:nvPr>
            <p:ph type="ftr" sz="quarter" idx="10"/>
          </p:nvPr>
        </p:nvSpPr>
        <p:spPr>
          <a:xfrm>
            <a:off x="144066" y="3226028"/>
            <a:ext cx="3698485" cy="185054"/>
          </a:xfrm>
        </p:spPr>
        <p:txBody>
          <a:bodyPr/>
          <a:lstStyle/>
          <a:p>
            <a:pPr defTabSz="461040" fontAlgn="base">
              <a:spcBef>
                <a:spcPct val="0"/>
              </a:spcBef>
              <a:spcAft>
                <a:spcPct val="0"/>
              </a:spcAft>
            </a:pPr>
            <a:r>
              <a:rPr lang="zh-CN" altLang="en-US" sz="908" dirty="0">
                <a:latin typeface="Arial" panose="020B0604020202020204" pitchFamily="34" charset="0"/>
              </a:rPr>
              <a:t>国内生产总值</a:t>
            </a:r>
            <a:endParaRPr lang="zh-CN" altLang="zh-CN" sz="908" dirty="0">
              <a:latin typeface="Arial" panose="020B0604020202020204" pitchFamily="34"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8677"/>
                                        </p:tgtEl>
                                        <p:attrNameLst>
                                          <p:attrName>style.visibility</p:attrName>
                                        </p:attrNameLst>
                                      </p:cBhvr>
                                      <p:to>
                                        <p:strVal val="visible"/>
                                      </p:to>
                                    </p:set>
                                    <p:animEffect transition="in" filter="wipe(left)">
                                      <p:cBhvr>
                                        <p:cTn id="7" dur="500"/>
                                        <p:tgtEl>
                                          <p:spTgt spid="286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7"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595A1EA8-41A9-3E93-C5DB-11053EA48EDC}"/>
              </a:ext>
            </a:extLst>
          </p:cNvPr>
          <p:cNvSpPr>
            <a:spLocks noGrp="1"/>
          </p:cNvSpPr>
          <p:nvPr>
            <p:ph type="sldNum" sz="quarter" idx="11"/>
          </p:nvPr>
        </p:nvSpPr>
        <p:spPr/>
        <p:txBody>
          <a:bodyPr/>
          <a:lstStyle/>
          <a:p>
            <a:pPr defTabSz="461040" fontAlgn="base">
              <a:spcBef>
                <a:spcPct val="0"/>
              </a:spcBef>
              <a:spcAft>
                <a:spcPct val="0"/>
              </a:spcAft>
            </a:pPr>
            <a:fld id="{3542918B-841C-DA45-B6DA-0E82FA3166EB}" type="slidenum">
              <a:rPr lang="zh-CN" altLang="zh-CN">
                <a:latin typeface="Arial" panose="020B0604020202020204" pitchFamily="34" charset="0"/>
              </a:rPr>
              <a:pPr defTabSz="461040" fontAlgn="base">
                <a:spcBef>
                  <a:spcPct val="0"/>
                </a:spcBef>
                <a:spcAft>
                  <a:spcPct val="0"/>
                </a:spcAft>
              </a:pPr>
              <a:t>40</a:t>
            </a:fld>
            <a:endParaRPr lang="en-US" altLang="zh-CN">
              <a:latin typeface="Arial" panose="020B0604020202020204" pitchFamily="34" charset="0"/>
            </a:endParaRPr>
          </a:p>
        </p:txBody>
      </p:sp>
      <p:sp>
        <p:nvSpPr>
          <p:cNvPr id="29698" name="Rectangle 2">
            <a:extLst>
              <a:ext uri="{FF2B5EF4-FFF2-40B4-BE49-F238E27FC236}">
                <a16:creationId xmlns:a16="http://schemas.microsoft.com/office/drawing/2014/main" id="{6A8D8D9F-4666-7630-0300-54CF16C0928C}"/>
              </a:ext>
            </a:extLst>
          </p:cNvPr>
          <p:cNvSpPr>
            <a:spLocks noGrp="1" noChangeArrowheads="1"/>
          </p:cNvSpPr>
          <p:nvPr>
            <p:ph type="title" idx="4294967295"/>
          </p:nvPr>
        </p:nvSpPr>
        <p:spPr>
          <a:xfrm>
            <a:off x="172879" y="131247"/>
            <a:ext cx="4240332" cy="296135"/>
          </a:xfrm>
        </p:spPr>
        <p:txBody>
          <a:bodyPr/>
          <a:lstStyle/>
          <a:p>
            <a:r>
              <a:rPr lang="en-US" altLang="zh-CN">
                <a:ea typeface="宋体" panose="02010600030101010101" pitchFamily="2" charset="-122"/>
              </a:rPr>
              <a:t>GDP</a:t>
            </a:r>
            <a:r>
              <a:rPr lang="zh-CN" altLang="zh-CN">
                <a:ea typeface="宋体" panose="02010600030101010101" pitchFamily="2" charset="-122"/>
              </a:rPr>
              <a:t>的组成部分</a:t>
            </a:r>
          </a:p>
        </p:txBody>
      </p:sp>
      <p:sp>
        <p:nvSpPr>
          <p:cNvPr id="29699" name="Rectangle 3">
            <a:extLst>
              <a:ext uri="{FF2B5EF4-FFF2-40B4-BE49-F238E27FC236}">
                <a16:creationId xmlns:a16="http://schemas.microsoft.com/office/drawing/2014/main" id="{DC573A50-EBC0-33E2-C5E2-AAC8F22ABC94}"/>
              </a:ext>
            </a:extLst>
          </p:cNvPr>
          <p:cNvSpPr>
            <a:spLocks noGrp="1" noChangeArrowheads="1"/>
          </p:cNvSpPr>
          <p:nvPr>
            <p:ph type="body" idx="4294967295"/>
          </p:nvPr>
        </p:nvSpPr>
        <p:spPr>
          <a:xfrm>
            <a:off x="152870" y="458596"/>
            <a:ext cx="4224324" cy="2288242"/>
          </a:xfrm>
        </p:spPr>
        <p:txBody>
          <a:bodyPr/>
          <a:lstStyle/>
          <a:p>
            <a:pPr>
              <a:spcBef>
                <a:spcPct val="25000"/>
              </a:spcBef>
            </a:pPr>
            <a:r>
              <a:rPr lang="zh-CN" altLang="zh-CN">
                <a:ea typeface="宋体" panose="02010600030101010101" pitchFamily="2" charset="-122"/>
              </a:rPr>
              <a:t>GDP 是总支出</a:t>
            </a:r>
          </a:p>
          <a:p>
            <a:pPr>
              <a:spcBef>
                <a:spcPct val="25000"/>
              </a:spcBef>
            </a:pPr>
            <a:r>
              <a:rPr lang="zh-CN" altLang="zh-CN">
                <a:ea typeface="宋体" panose="02010600030101010101" pitchFamily="2" charset="-122"/>
              </a:rPr>
              <a:t>四个组成部分：</a:t>
            </a:r>
          </a:p>
          <a:p>
            <a:pPr lvl="1"/>
            <a:r>
              <a:rPr lang="zh-CN" altLang="zh-CN" sz="1412">
                <a:ea typeface="宋体" panose="02010600030101010101" pitchFamily="2" charset="-122"/>
              </a:rPr>
              <a:t>消费 （</a:t>
            </a:r>
            <a:r>
              <a:rPr lang="zh-CN" altLang="zh-CN" sz="1412" b="1">
                <a:latin typeface="Tahoma" panose="020B0604030504040204" pitchFamily="34" charset="0"/>
                <a:ea typeface="宋体" panose="02010600030101010101" pitchFamily="2" charset="-122"/>
              </a:rPr>
              <a:t>C</a:t>
            </a:r>
            <a:r>
              <a:rPr lang="zh-CN" altLang="zh-CN" sz="1412">
                <a:latin typeface="Tahoma" panose="020B0604030504040204" pitchFamily="34" charset="0"/>
                <a:ea typeface="宋体" panose="02010600030101010101" pitchFamily="2" charset="-122"/>
              </a:rPr>
              <a:t>）</a:t>
            </a:r>
          </a:p>
          <a:p>
            <a:pPr lvl="1"/>
            <a:r>
              <a:rPr lang="zh-CN" altLang="zh-CN" sz="1412">
                <a:ea typeface="宋体" panose="02010600030101010101" pitchFamily="2" charset="-122"/>
              </a:rPr>
              <a:t>投资 （</a:t>
            </a:r>
            <a:r>
              <a:rPr lang="zh-CN" altLang="zh-CN" sz="1412" b="1">
                <a:latin typeface="Tahoma" panose="020B0604030504040204" pitchFamily="34" charset="0"/>
                <a:ea typeface="宋体" panose="02010600030101010101" pitchFamily="2" charset="-122"/>
              </a:rPr>
              <a:t>I</a:t>
            </a:r>
            <a:r>
              <a:rPr lang="zh-CN" altLang="zh-CN" sz="1412">
                <a:ea typeface="宋体" panose="02010600030101010101" pitchFamily="2" charset="-122"/>
              </a:rPr>
              <a:t>）</a:t>
            </a:r>
          </a:p>
          <a:p>
            <a:pPr lvl="1"/>
            <a:r>
              <a:rPr lang="zh-CN" altLang="zh-CN" sz="1412">
                <a:ea typeface="宋体" panose="02010600030101010101" pitchFamily="2" charset="-122"/>
              </a:rPr>
              <a:t>政府购买 （</a:t>
            </a:r>
            <a:r>
              <a:rPr lang="zh-CN" altLang="zh-CN" sz="1412" b="1">
                <a:latin typeface="Tahoma" panose="020B0604030504040204" pitchFamily="34" charset="0"/>
                <a:ea typeface="宋体" panose="02010600030101010101" pitchFamily="2" charset="-122"/>
              </a:rPr>
              <a:t>G</a:t>
            </a:r>
            <a:r>
              <a:rPr lang="zh-CN" altLang="zh-CN" sz="1412">
                <a:ea typeface="宋体" panose="02010600030101010101" pitchFamily="2" charset="-122"/>
              </a:rPr>
              <a:t>）</a:t>
            </a:r>
          </a:p>
          <a:p>
            <a:pPr lvl="1"/>
            <a:r>
              <a:rPr lang="zh-CN" altLang="zh-CN" sz="1412">
                <a:ea typeface="宋体" panose="02010600030101010101" pitchFamily="2" charset="-122"/>
              </a:rPr>
              <a:t>净出口（</a:t>
            </a:r>
            <a:r>
              <a:rPr lang="zh-CN" altLang="zh-CN" sz="1412" b="1">
                <a:latin typeface="Tahoma" panose="020B0604030504040204" pitchFamily="34" charset="0"/>
                <a:ea typeface="宋体" panose="02010600030101010101" pitchFamily="2" charset="-122"/>
              </a:rPr>
              <a:t>NX</a:t>
            </a:r>
            <a:r>
              <a:rPr lang="zh-CN" altLang="zh-CN" sz="1412">
                <a:ea typeface="宋体" panose="02010600030101010101" pitchFamily="2" charset="-122"/>
              </a:rPr>
              <a:t>）</a:t>
            </a:r>
          </a:p>
          <a:p>
            <a:r>
              <a:rPr lang="zh-CN" altLang="zh-CN">
                <a:ea typeface="宋体" panose="02010600030101010101" pitchFamily="2" charset="-122"/>
              </a:rPr>
              <a:t>这四个组成部分的总和等于GDP（用</a:t>
            </a:r>
            <a:r>
              <a:rPr lang="zh-CN" altLang="zh-CN" b="1">
                <a:latin typeface="Tahoma" panose="020B0604030504040204" pitchFamily="34" charset="0"/>
                <a:ea typeface="宋体" panose="02010600030101010101" pitchFamily="2" charset="-122"/>
              </a:rPr>
              <a:t>Y</a:t>
            </a:r>
            <a:r>
              <a:rPr lang="zh-CN" altLang="zh-CN">
                <a:latin typeface="Tahoma" panose="020B0604030504040204" pitchFamily="34" charset="0"/>
                <a:ea typeface="宋体" panose="02010600030101010101" pitchFamily="2" charset="-122"/>
              </a:rPr>
              <a:t>表示）</a:t>
            </a:r>
            <a:r>
              <a:rPr lang="zh-CN" altLang="zh-CN">
                <a:ea typeface="宋体" panose="02010600030101010101" pitchFamily="2" charset="-122"/>
              </a:rPr>
              <a:t>：</a:t>
            </a:r>
          </a:p>
        </p:txBody>
      </p:sp>
      <p:sp>
        <p:nvSpPr>
          <p:cNvPr id="29700" name="Text Box 5">
            <a:extLst>
              <a:ext uri="{FF2B5EF4-FFF2-40B4-BE49-F238E27FC236}">
                <a16:creationId xmlns:a16="http://schemas.microsoft.com/office/drawing/2014/main" id="{8F9EF7F0-EF86-6858-F83B-CF123DA74887}"/>
              </a:ext>
            </a:extLst>
          </p:cNvPr>
          <p:cNvSpPr txBox="1">
            <a:spLocks noChangeArrowheads="1"/>
          </p:cNvSpPr>
          <p:nvPr/>
        </p:nvSpPr>
        <p:spPr bwMode="auto">
          <a:xfrm>
            <a:off x="921220" y="2529940"/>
            <a:ext cx="2556364" cy="366567"/>
          </a:xfrm>
          <a:prstGeom prst="rect">
            <a:avLst/>
          </a:prstGeom>
          <a:solidFill>
            <a:srgbClr val="FFFF99"/>
          </a:solidFill>
          <a:ln>
            <a:noFill/>
          </a:ln>
          <a:effectLst>
            <a:outerShdw dist="8980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en-US" altLang="zh-CN" sz="1513" b="1">
                <a:solidFill>
                  <a:srgbClr val="000000"/>
                </a:solidFill>
                <a:latin typeface="Tahoma" panose="020B0604030504040204" pitchFamily="34" charset="0"/>
                <a:ea typeface="宋体" panose="02010600030101010101" pitchFamily="2" charset="-122"/>
              </a:rPr>
              <a:t>Y  =  C  +  I  +  G  +  NX</a:t>
            </a:r>
          </a:p>
        </p:txBody>
      </p:sp>
      <p:sp>
        <p:nvSpPr>
          <p:cNvPr id="4" name="页脚占位符 1">
            <a:extLst>
              <a:ext uri="{FF2B5EF4-FFF2-40B4-BE49-F238E27FC236}">
                <a16:creationId xmlns:a16="http://schemas.microsoft.com/office/drawing/2014/main" id="{5ED206D3-FE7C-1D65-1EC7-91B92556BD9E}"/>
              </a:ext>
            </a:extLst>
          </p:cNvPr>
          <p:cNvSpPr>
            <a:spLocks noGrp="1"/>
          </p:cNvSpPr>
          <p:nvPr>
            <p:ph type="ftr" sz="quarter" idx="10"/>
          </p:nvPr>
        </p:nvSpPr>
        <p:spPr>
          <a:xfrm>
            <a:off x="144066" y="3226028"/>
            <a:ext cx="3698485" cy="185054"/>
          </a:xfrm>
        </p:spPr>
        <p:txBody>
          <a:bodyPr/>
          <a:lstStyle/>
          <a:p>
            <a:pPr defTabSz="461040" fontAlgn="base">
              <a:spcBef>
                <a:spcPct val="0"/>
              </a:spcBef>
              <a:spcAft>
                <a:spcPct val="0"/>
              </a:spcAft>
            </a:pPr>
            <a:r>
              <a:rPr lang="zh-CN" altLang="en-US" sz="908" dirty="0">
                <a:latin typeface="Arial" panose="020B0604020202020204" pitchFamily="34" charset="0"/>
              </a:rPr>
              <a:t>国内生产总值</a:t>
            </a:r>
            <a:endParaRPr lang="zh-CN" altLang="zh-CN" sz="908" dirty="0">
              <a:latin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Effect transition="in" filter="wipe(left)">
                                      <p:cBhvr>
                                        <p:cTn id="7" dur="500"/>
                                        <p:tgtEl>
                                          <p:spTgt spid="296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9699">
                                            <p:txEl>
                                              <p:pRg st="1" end="1"/>
                                            </p:txEl>
                                          </p:spTgt>
                                        </p:tgtEl>
                                        <p:attrNameLst>
                                          <p:attrName>style.visibility</p:attrName>
                                        </p:attrNameLst>
                                      </p:cBhvr>
                                      <p:to>
                                        <p:strVal val="visible"/>
                                      </p:to>
                                    </p:set>
                                    <p:animEffect transition="in" filter="wipe(left)">
                                      <p:cBhvr>
                                        <p:cTn id="12" dur="500"/>
                                        <p:tgtEl>
                                          <p:spTgt spid="29699">
                                            <p:txEl>
                                              <p:pRg st="1" end="1"/>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29699">
                                            <p:txEl>
                                              <p:pRg st="2" end="2"/>
                                            </p:txEl>
                                          </p:spTgt>
                                        </p:tgtEl>
                                        <p:attrNameLst>
                                          <p:attrName>style.visibility</p:attrName>
                                        </p:attrNameLst>
                                      </p:cBhvr>
                                      <p:to>
                                        <p:strVal val="visible"/>
                                      </p:to>
                                    </p:set>
                                    <p:animEffect transition="in" filter="wipe(left)">
                                      <p:cBhvr>
                                        <p:cTn id="15" dur="500"/>
                                        <p:tgtEl>
                                          <p:spTgt spid="29699">
                                            <p:txEl>
                                              <p:pRg st="2" end="2"/>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29699">
                                            <p:txEl>
                                              <p:pRg st="3" end="3"/>
                                            </p:txEl>
                                          </p:spTgt>
                                        </p:tgtEl>
                                        <p:attrNameLst>
                                          <p:attrName>style.visibility</p:attrName>
                                        </p:attrNameLst>
                                      </p:cBhvr>
                                      <p:to>
                                        <p:strVal val="visible"/>
                                      </p:to>
                                    </p:set>
                                    <p:animEffect transition="in" filter="wipe(left)">
                                      <p:cBhvr>
                                        <p:cTn id="18" dur="500"/>
                                        <p:tgtEl>
                                          <p:spTgt spid="29699">
                                            <p:txEl>
                                              <p:pRg st="3" end="3"/>
                                            </p:txEl>
                                          </p:spTgt>
                                        </p:tgtEl>
                                      </p:cBhvr>
                                    </p:animEffect>
                                  </p:childTnLst>
                                </p:cTn>
                              </p:par>
                              <p:par>
                                <p:cTn id="19" presetID="22" presetClass="entr" presetSubtype="8" fill="hold" nodeType="withEffect">
                                  <p:stCondLst>
                                    <p:cond delay="0"/>
                                  </p:stCondLst>
                                  <p:childTnLst>
                                    <p:set>
                                      <p:cBhvr>
                                        <p:cTn id="20" dur="1" fill="hold">
                                          <p:stCondLst>
                                            <p:cond delay="0"/>
                                          </p:stCondLst>
                                        </p:cTn>
                                        <p:tgtEl>
                                          <p:spTgt spid="29699">
                                            <p:txEl>
                                              <p:pRg st="4" end="4"/>
                                            </p:txEl>
                                          </p:spTgt>
                                        </p:tgtEl>
                                        <p:attrNameLst>
                                          <p:attrName>style.visibility</p:attrName>
                                        </p:attrNameLst>
                                      </p:cBhvr>
                                      <p:to>
                                        <p:strVal val="visible"/>
                                      </p:to>
                                    </p:set>
                                    <p:animEffect transition="in" filter="wipe(left)">
                                      <p:cBhvr>
                                        <p:cTn id="21" dur="500"/>
                                        <p:tgtEl>
                                          <p:spTgt spid="29699">
                                            <p:txEl>
                                              <p:pRg st="4" end="4"/>
                                            </p:txEl>
                                          </p:spTgt>
                                        </p:tgtEl>
                                      </p:cBhvr>
                                    </p:animEffect>
                                  </p:childTnLst>
                                </p:cTn>
                              </p:par>
                              <p:par>
                                <p:cTn id="22" presetID="22" presetClass="entr" presetSubtype="8" fill="hold" nodeType="withEffect">
                                  <p:stCondLst>
                                    <p:cond delay="0"/>
                                  </p:stCondLst>
                                  <p:childTnLst>
                                    <p:set>
                                      <p:cBhvr>
                                        <p:cTn id="23" dur="1" fill="hold">
                                          <p:stCondLst>
                                            <p:cond delay="0"/>
                                          </p:stCondLst>
                                        </p:cTn>
                                        <p:tgtEl>
                                          <p:spTgt spid="29699">
                                            <p:txEl>
                                              <p:pRg st="5" end="5"/>
                                            </p:txEl>
                                          </p:spTgt>
                                        </p:tgtEl>
                                        <p:attrNameLst>
                                          <p:attrName>style.visibility</p:attrName>
                                        </p:attrNameLst>
                                      </p:cBhvr>
                                      <p:to>
                                        <p:strVal val="visible"/>
                                      </p:to>
                                    </p:set>
                                    <p:animEffect transition="in" filter="wipe(left)">
                                      <p:cBhvr>
                                        <p:cTn id="24" dur="500"/>
                                        <p:tgtEl>
                                          <p:spTgt spid="29699">
                                            <p:txEl>
                                              <p:pRg st="5" end="5"/>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29699">
                                            <p:txEl>
                                              <p:pRg st="6" end="6"/>
                                            </p:txEl>
                                          </p:spTgt>
                                        </p:tgtEl>
                                        <p:attrNameLst>
                                          <p:attrName>style.visibility</p:attrName>
                                        </p:attrNameLst>
                                      </p:cBhvr>
                                      <p:to>
                                        <p:strVal val="visible"/>
                                      </p:to>
                                    </p:set>
                                    <p:animEffect transition="in" filter="wipe(left)">
                                      <p:cBhvr>
                                        <p:cTn id="29" dur="500"/>
                                        <p:tgtEl>
                                          <p:spTgt spid="29699">
                                            <p:txEl>
                                              <p:pRg st="6" end="6"/>
                                            </p:txEl>
                                          </p:spTgt>
                                        </p:tgtEl>
                                      </p:cBhvr>
                                    </p:animEffect>
                                  </p:childTnLst>
                                </p:cTn>
                              </p:par>
                            </p:childTnLst>
                          </p:cTn>
                        </p:par>
                        <p:par>
                          <p:cTn id="30" fill="hold" nodeType="afterGroup">
                            <p:stCondLst>
                              <p:cond delay="500"/>
                            </p:stCondLst>
                            <p:childTnLst>
                              <p:par>
                                <p:cTn id="31" presetID="9" presetClass="entr" presetSubtype="0" fill="hold" nodeType="afterEffect">
                                  <p:stCondLst>
                                    <p:cond delay="0"/>
                                  </p:stCondLst>
                                  <p:childTnLst>
                                    <p:set>
                                      <p:cBhvr>
                                        <p:cTn id="32" dur="1" fill="hold">
                                          <p:stCondLst>
                                            <p:cond delay="0"/>
                                          </p:stCondLst>
                                        </p:cTn>
                                        <p:tgtEl>
                                          <p:spTgt spid="29700"/>
                                        </p:tgtEl>
                                        <p:attrNameLst>
                                          <p:attrName>style.visibility</p:attrName>
                                        </p:attrNameLst>
                                      </p:cBhvr>
                                      <p:to>
                                        <p:strVal val="visible"/>
                                      </p:to>
                                    </p:set>
                                    <p:animEffect transition="in" filter="dissolve">
                                      <p:cBhvr>
                                        <p:cTn id="33" dur="500"/>
                                        <p:tgtEl>
                                          <p:spTgt spid="29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uiExpand="1" build="p" bldLvl="4" autoUpdateAnimBg="0"/>
      <p:bldP spid="29700"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8A0FF5CB-D512-F12B-2EF6-A5D76B3DDFE1}"/>
              </a:ext>
            </a:extLst>
          </p:cNvPr>
          <p:cNvSpPr>
            <a:spLocks noGrp="1"/>
          </p:cNvSpPr>
          <p:nvPr>
            <p:ph type="sldNum" sz="quarter" idx="11"/>
          </p:nvPr>
        </p:nvSpPr>
        <p:spPr/>
        <p:txBody>
          <a:bodyPr/>
          <a:lstStyle/>
          <a:p>
            <a:pPr defTabSz="461040" fontAlgn="base">
              <a:spcBef>
                <a:spcPct val="0"/>
              </a:spcBef>
              <a:spcAft>
                <a:spcPct val="0"/>
              </a:spcAft>
            </a:pPr>
            <a:fld id="{87E7FC70-C3AA-E04F-8E26-B24E0323E8C9}" type="slidenum">
              <a:rPr lang="zh-CN" altLang="zh-CN">
                <a:latin typeface="Arial" panose="020B0604020202020204" pitchFamily="34" charset="0"/>
              </a:rPr>
              <a:pPr defTabSz="461040" fontAlgn="base">
                <a:spcBef>
                  <a:spcPct val="0"/>
                </a:spcBef>
                <a:spcAft>
                  <a:spcPct val="0"/>
                </a:spcAft>
              </a:pPr>
              <a:t>41</a:t>
            </a:fld>
            <a:endParaRPr lang="en-US" altLang="zh-CN">
              <a:latin typeface="Arial" panose="020B0604020202020204" pitchFamily="34" charset="0"/>
            </a:endParaRPr>
          </a:p>
        </p:txBody>
      </p:sp>
      <p:sp>
        <p:nvSpPr>
          <p:cNvPr id="31746" name="Rectangle 2">
            <a:extLst>
              <a:ext uri="{FF2B5EF4-FFF2-40B4-BE49-F238E27FC236}">
                <a16:creationId xmlns:a16="http://schemas.microsoft.com/office/drawing/2014/main" id="{829D63A9-8C91-AC7F-F29C-2AFC77C3407A}"/>
              </a:ext>
            </a:extLst>
          </p:cNvPr>
          <p:cNvSpPr>
            <a:spLocks noGrp="1" noChangeArrowheads="1"/>
          </p:cNvSpPr>
          <p:nvPr>
            <p:ph type="title" idx="4294967295"/>
          </p:nvPr>
        </p:nvSpPr>
        <p:spPr/>
        <p:txBody>
          <a:bodyPr/>
          <a:lstStyle/>
          <a:p>
            <a:r>
              <a:rPr lang="zh-CN" altLang="zh-CN">
                <a:ea typeface="宋体" panose="02010600030101010101" pitchFamily="2" charset="-122"/>
              </a:rPr>
              <a:t>消费 </a:t>
            </a:r>
            <a:r>
              <a:rPr lang="en-US" altLang="zh-CN">
                <a:ea typeface="宋体" panose="02010600030101010101" pitchFamily="2" charset="-122"/>
              </a:rPr>
              <a:t>(C)</a:t>
            </a:r>
          </a:p>
        </p:txBody>
      </p:sp>
      <p:sp>
        <p:nvSpPr>
          <p:cNvPr id="31747" name="Rectangle 3">
            <a:extLst>
              <a:ext uri="{FF2B5EF4-FFF2-40B4-BE49-F238E27FC236}">
                <a16:creationId xmlns:a16="http://schemas.microsoft.com/office/drawing/2014/main" id="{F08B071E-D933-9828-9F55-366C72496D16}"/>
              </a:ext>
            </a:extLst>
          </p:cNvPr>
          <p:cNvSpPr>
            <a:spLocks noGrp="1" noChangeArrowheads="1"/>
          </p:cNvSpPr>
          <p:nvPr>
            <p:ph type="body" idx="4294967295"/>
          </p:nvPr>
        </p:nvSpPr>
        <p:spPr>
          <a:xfrm>
            <a:off x="188086" y="542634"/>
            <a:ext cx="4191509" cy="2417101"/>
          </a:xfrm>
        </p:spPr>
        <p:txBody>
          <a:bodyPr/>
          <a:lstStyle/>
          <a:p>
            <a:r>
              <a:rPr lang="zh-CN" altLang="en-US" dirty="0">
                <a:ea typeface="宋体" panose="02010600030101010101" pitchFamily="2" charset="-122"/>
              </a:rPr>
              <a:t>消费是指</a:t>
            </a:r>
            <a:r>
              <a:rPr lang="zh-CN" altLang="zh-CN" dirty="0">
                <a:ea typeface="宋体" panose="02010600030101010101" pitchFamily="2" charset="-122"/>
              </a:rPr>
              <a:t>家庭除购买新住房之外用于物品和劳务的总支出</a:t>
            </a:r>
          </a:p>
          <a:p>
            <a:r>
              <a:rPr lang="zh-CN" altLang="zh-CN" dirty="0">
                <a:ea typeface="宋体" panose="02010600030101010101" pitchFamily="2" charset="-122"/>
              </a:rPr>
              <a:t>关于居住成本的注释：  </a:t>
            </a:r>
            <a:endParaRPr lang="zh-CN" altLang="zh-CN" b="1" dirty="0">
              <a:ea typeface="宋体" panose="02010600030101010101" pitchFamily="2" charset="-122"/>
            </a:endParaRPr>
          </a:p>
          <a:p>
            <a:pPr lvl="1">
              <a:lnSpc>
                <a:spcPct val="105000"/>
              </a:lnSpc>
              <a:spcBef>
                <a:spcPct val="25000"/>
              </a:spcBef>
            </a:pPr>
            <a:r>
              <a:rPr lang="zh-CN" altLang="zh-CN" dirty="0">
                <a:ea typeface="宋体" panose="02010600030101010101" pitchFamily="2" charset="-122"/>
              </a:rPr>
              <a:t>对租房者而言，消费包括租金</a:t>
            </a:r>
          </a:p>
          <a:p>
            <a:pPr lvl="1">
              <a:lnSpc>
                <a:spcPct val="105000"/>
              </a:lnSpc>
              <a:spcBef>
                <a:spcPct val="25000"/>
              </a:spcBef>
            </a:pPr>
            <a:r>
              <a:rPr lang="zh-CN" altLang="zh-CN" dirty="0">
                <a:ea typeface="宋体" panose="02010600030101010101" pitchFamily="2" charset="-122"/>
              </a:rPr>
              <a:t>对房主而言，消费包括住房的隐含租金价值，但不包括住房的购买价格或按揭贷款</a:t>
            </a:r>
            <a:br>
              <a:rPr lang="zh-CN" altLang="zh-CN" dirty="0">
                <a:ea typeface="宋体" panose="02010600030101010101" pitchFamily="2" charset="-122"/>
              </a:rPr>
            </a:br>
            <a:endParaRPr lang="zh-CN" altLang="zh-CN" dirty="0">
              <a:ea typeface="宋体" panose="02010600030101010101" pitchFamily="2" charset="-122"/>
            </a:endParaRPr>
          </a:p>
        </p:txBody>
      </p:sp>
      <p:sp>
        <p:nvSpPr>
          <p:cNvPr id="4" name="页脚占位符 1">
            <a:extLst>
              <a:ext uri="{FF2B5EF4-FFF2-40B4-BE49-F238E27FC236}">
                <a16:creationId xmlns:a16="http://schemas.microsoft.com/office/drawing/2014/main" id="{EEFBF892-5A73-2FD1-3E83-219F0E257AAA}"/>
              </a:ext>
            </a:extLst>
          </p:cNvPr>
          <p:cNvSpPr>
            <a:spLocks noGrp="1"/>
          </p:cNvSpPr>
          <p:nvPr>
            <p:ph type="ftr" sz="quarter" idx="10"/>
          </p:nvPr>
        </p:nvSpPr>
        <p:spPr>
          <a:xfrm>
            <a:off x="144066" y="3226028"/>
            <a:ext cx="3698485" cy="185054"/>
          </a:xfrm>
        </p:spPr>
        <p:txBody>
          <a:bodyPr/>
          <a:lstStyle/>
          <a:p>
            <a:pPr defTabSz="461040" fontAlgn="base">
              <a:spcBef>
                <a:spcPct val="0"/>
              </a:spcBef>
              <a:spcAft>
                <a:spcPct val="0"/>
              </a:spcAft>
            </a:pPr>
            <a:r>
              <a:rPr lang="zh-CN" altLang="en-US" sz="908" dirty="0">
                <a:latin typeface="Arial" panose="020B0604020202020204" pitchFamily="34" charset="0"/>
              </a:rPr>
              <a:t>国内生产总值</a:t>
            </a:r>
            <a:endParaRPr lang="zh-CN" altLang="zh-CN" sz="908" dirty="0">
              <a:latin typeface="Arial" panose="020B0604020202020204" pitchFamily="34" charset="0"/>
            </a:endParaRPr>
          </a:p>
        </p:txBody>
      </p:sp>
    </p:spTree>
  </p:cSld>
  <p:clrMapOvr>
    <a:masterClrMapping/>
  </p:clrMapOvr>
  <p:transition>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4F99D15-C0DC-D492-9190-B8B3A5FC3948}"/>
              </a:ext>
            </a:extLst>
          </p:cNvPr>
          <p:cNvSpPr>
            <a:spLocks noGrp="1"/>
          </p:cNvSpPr>
          <p:nvPr>
            <p:ph type="sldNum" sz="quarter" idx="11"/>
          </p:nvPr>
        </p:nvSpPr>
        <p:spPr/>
        <p:txBody>
          <a:bodyPr/>
          <a:lstStyle/>
          <a:p>
            <a:pPr defTabSz="461040" fontAlgn="base">
              <a:spcBef>
                <a:spcPct val="0"/>
              </a:spcBef>
              <a:spcAft>
                <a:spcPct val="0"/>
              </a:spcAft>
            </a:pPr>
            <a:fld id="{D33F6E3D-E20A-F543-A3DE-68CCA822A1F8}" type="slidenum">
              <a:rPr lang="zh-CN" altLang="zh-CN">
                <a:latin typeface="Arial" panose="020B0604020202020204" pitchFamily="34" charset="0"/>
              </a:rPr>
              <a:pPr defTabSz="461040" fontAlgn="base">
                <a:spcBef>
                  <a:spcPct val="0"/>
                </a:spcBef>
                <a:spcAft>
                  <a:spcPct val="0"/>
                </a:spcAft>
              </a:pPr>
              <a:t>42</a:t>
            </a:fld>
            <a:endParaRPr lang="en-US" altLang="zh-CN">
              <a:latin typeface="Arial" panose="020B0604020202020204" pitchFamily="34" charset="0"/>
            </a:endParaRPr>
          </a:p>
        </p:txBody>
      </p:sp>
      <p:sp>
        <p:nvSpPr>
          <p:cNvPr id="33794" name="Rectangle 2">
            <a:extLst>
              <a:ext uri="{FF2B5EF4-FFF2-40B4-BE49-F238E27FC236}">
                <a16:creationId xmlns:a16="http://schemas.microsoft.com/office/drawing/2014/main" id="{B1182F41-CFBF-628C-8473-16BE524BEA32}"/>
              </a:ext>
            </a:extLst>
          </p:cNvPr>
          <p:cNvSpPr>
            <a:spLocks noGrp="1" noChangeArrowheads="1"/>
          </p:cNvSpPr>
          <p:nvPr>
            <p:ph type="title" idx="4294967295"/>
          </p:nvPr>
        </p:nvSpPr>
        <p:spPr/>
        <p:txBody>
          <a:bodyPr/>
          <a:lstStyle/>
          <a:p>
            <a:r>
              <a:rPr lang="zh-CN" altLang="zh-CN">
                <a:ea typeface="宋体" panose="02010600030101010101" pitchFamily="2" charset="-122"/>
              </a:rPr>
              <a:t>投资 （</a:t>
            </a:r>
            <a:r>
              <a:rPr lang="en-US" altLang="zh-CN">
                <a:ea typeface="宋体" panose="02010600030101010101" pitchFamily="2" charset="-122"/>
              </a:rPr>
              <a:t>I</a:t>
            </a:r>
            <a:r>
              <a:rPr lang="zh-CN" altLang="zh-CN">
                <a:ea typeface="宋体" panose="02010600030101010101" pitchFamily="2" charset="-122"/>
              </a:rPr>
              <a:t>）</a:t>
            </a:r>
            <a:endParaRPr lang="zh-CN" altLang="en-US">
              <a:ea typeface="宋体" panose="02010600030101010101" pitchFamily="2" charset="-122"/>
            </a:endParaRPr>
          </a:p>
        </p:txBody>
      </p:sp>
      <p:sp>
        <p:nvSpPr>
          <p:cNvPr id="33795" name="Rectangle 3">
            <a:extLst>
              <a:ext uri="{FF2B5EF4-FFF2-40B4-BE49-F238E27FC236}">
                <a16:creationId xmlns:a16="http://schemas.microsoft.com/office/drawing/2014/main" id="{D09E173F-AB05-7D2C-BAC5-116149F8D4D8}"/>
              </a:ext>
            </a:extLst>
          </p:cNvPr>
          <p:cNvSpPr>
            <a:spLocks noGrp="1" noChangeArrowheads="1"/>
          </p:cNvSpPr>
          <p:nvPr>
            <p:ph type="body" idx="4294967295"/>
          </p:nvPr>
        </p:nvSpPr>
        <p:spPr>
          <a:xfrm>
            <a:off x="188086" y="519424"/>
            <a:ext cx="4191509" cy="1683967"/>
          </a:xfrm>
        </p:spPr>
        <p:txBody>
          <a:bodyPr/>
          <a:lstStyle/>
          <a:p>
            <a:r>
              <a:rPr lang="zh-CN" altLang="zh-CN" dirty="0">
                <a:ea typeface="宋体" panose="02010600030101010101" pitchFamily="2" charset="-122"/>
              </a:rPr>
              <a:t>投资是对用于未来生产更多物品和劳务的物品的购买</a:t>
            </a:r>
          </a:p>
          <a:p>
            <a:r>
              <a:rPr lang="zh-CN" altLang="zh-CN" dirty="0">
                <a:ea typeface="宋体" panose="02010600030101010101" pitchFamily="2" charset="-122"/>
              </a:rPr>
              <a:t>包括下列支出：</a:t>
            </a:r>
          </a:p>
          <a:p>
            <a:pPr lvl="1"/>
            <a:r>
              <a:rPr lang="zh-CN" altLang="zh-CN" dirty="0">
                <a:ea typeface="宋体" panose="02010600030101010101" pitchFamily="2" charset="-122"/>
              </a:rPr>
              <a:t>资本设备 (比如机器, 工具)</a:t>
            </a:r>
          </a:p>
          <a:p>
            <a:pPr lvl="1"/>
            <a:r>
              <a:rPr lang="zh-CN" altLang="zh-CN" dirty="0">
                <a:ea typeface="宋体" panose="02010600030101010101" pitchFamily="2" charset="-122"/>
              </a:rPr>
              <a:t>建筑物(工厂，办公楼，住房)</a:t>
            </a:r>
          </a:p>
          <a:p>
            <a:pPr lvl="1"/>
            <a:r>
              <a:rPr lang="zh-CN" altLang="zh-CN" dirty="0">
                <a:ea typeface="宋体" panose="02010600030101010101" pitchFamily="2" charset="-122"/>
              </a:rPr>
              <a:t>存货 (已经生产出来但尚未售出的物品)</a:t>
            </a:r>
          </a:p>
        </p:txBody>
      </p:sp>
      <p:sp>
        <p:nvSpPr>
          <p:cNvPr id="33796" name="Text Box 5">
            <a:extLst>
              <a:ext uri="{FF2B5EF4-FFF2-40B4-BE49-F238E27FC236}">
                <a16:creationId xmlns:a16="http://schemas.microsoft.com/office/drawing/2014/main" id="{5837919C-F754-B8C1-2ED2-60E5F02FE323}"/>
              </a:ext>
            </a:extLst>
          </p:cNvPr>
          <p:cNvSpPr txBox="1">
            <a:spLocks noChangeArrowheads="1"/>
          </p:cNvSpPr>
          <p:nvPr/>
        </p:nvSpPr>
        <p:spPr bwMode="auto">
          <a:xfrm>
            <a:off x="950833" y="2213795"/>
            <a:ext cx="2660412" cy="853189"/>
          </a:xfrm>
          <a:prstGeom prst="rect">
            <a:avLst/>
          </a:prstGeom>
          <a:gradFill rotWithShape="1">
            <a:gsLst>
              <a:gs pos="0">
                <a:srgbClr val="FFFFCC"/>
              </a:gs>
              <a:gs pos="50000">
                <a:srgbClr val="FFCC99"/>
              </a:gs>
              <a:gs pos="100000">
                <a:srgbClr val="FFFFCC"/>
              </a:gs>
            </a:gsLst>
            <a:lin ang="18900000" scaled="1"/>
          </a:gra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lnSpc>
                <a:spcPct val="120000"/>
              </a:lnSpc>
              <a:spcBef>
                <a:spcPct val="0"/>
              </a:spcBef>
              <a:spcAft>
                <a:spcPct val="0"/>
              </a:spcAft>
            </a:pPr>
            <a:r>
              <a:rPr lang="zh-CN" altLang="zh-CN" sz="1412">
                <a:solidFill>
                  <a:srgbClr val="000000"/>
                </a:solidFill>
                <a:ea typeface="宋体" panose="02010600030101010101" pitchFamily="2" charset="-122"/>
              </a:rPr>
              <a:t>注意</a:t>
            </a:r>
            <a:r>
              <a:rPr lang="en-US" altLang="zh-CN" sz="1412">
                <a:solidFill>
                  <a:srgbClr val="000000"/>
                </a:solidFill>
                <a:ea typeface="宋体" panose="02010600030101010101" pitchFamily="2" charset="-122"/>
              </a:rPr>
              <a:t>: </a:t>
            </a:r>
            <a:r>
              <a:rPr lang="zh-CN" altLang="zh-CN" sz="1412">
                <a:solidFill>
                  <a:srgbClr val="000000"/>
                </a:solidFill>
                <a:ea typeface="宋体" panose="02010600030101010101" pitchFamily="2" charset="-122"/>
              </a:rPr>
              <a:t>“</a:t>
            </a:r>
            <a:r>
              <a:rPr lang="zh-CN" altLang="zh-CN" sz="1412" b="1">
                <a:solidFill>
                  <a:srgbClr val="FF6600"/>
                </a:solidFill>
                <a:effectLst>
                  <a:outerShdw blurRad="38100" dist="38100" dir="2700000" algn="tl">
                    <a:srgbClr val="000000"/>
                  </a:outerShdw>
                </a:effectLst>
                <a:ea typeface="宋体" panose="02010600030101010101" pitchFamily="2" charset="-122"/>
              </a:rPr>
              <a:t>投资 </a:t>
            </a:r>
            <a:r>
              <a:rPr lang="zh-CN" altLang="zh-CN" sz="1412">
                <a:solidFill>
                  <a:srgbClr val="000000"/>
                </a:solidFill>
                <a:effectLst>
                  <a:outerShdw blurRad="38100" dist="38100" dir="2700000" algn="tl">
                    <a:srgbClr val="FFFFFF"/>
                  </a:outerShdw>
                </a:effectLst>
                <a:ea typeface="宋体" panose="02010600030101010101" pitchFamily="2" charset="-122"/>
              </a:rPr>
              <a:t>”</a:t>
            </a:r>
            <a:r>
              <a:rPr lang="zh-CN" altLang="zh-CN" sz="1412">
                <a:solidFill>
                  <a:srgbClr val="000000"/>
                </a:solidFill>
                <a:ea typeface="宋体" panose="02010600030101010101" pitchFamily="2" charset="-122"/>
              </a:rPr>
              <a:t>并不是指购买股票或债券这类金融资产</a:t>
            </a:r>
            <a:endParaRPr lang="zh-CN" altLang="en-US" sz="1412">
              <a:solidFill>
                <a:srgbClr val="000000"/>
              </a:solidFill>
              <a:ea typeface="宋体" panose="02010600030101010101" pitchFamily="2" charset="-122"/>
            </a:endParaRPr>
          </a:p>
        </p:txBody>
      </p:sp>
      <p:sp>
        <p:nvSpPr>
          <p:cNvPr id="4" name="页脚占位符 1">
            <a:extLst>
              <a:ext uri="{FF2B5EF4-FFF2-40B4-BE49-F238E27FC236}">
                <a16:creationId xmlns:a16="http://schemas.microsoft.com/office/drawing/2014/main" id="{02400EA1-4ED5-8D73-EBBE-903211579FA5}"/>
              </a:ext>
            </a:extLst>
          </p:cNvPr>
          <p:cNvSpPr>
            <a:spLocks noGrp="1"/>
          </p:cNvSpPr>
          <p:nvPr>
            <p:ph type="ftr" sz="quarter" idx="10"/>
          </p:nvPr>
        </p:nvSpPr>
        <p:spPr>
          <a:xfrm>
            <a:off x="144066" y="3226028"/>
            <a:ext cx="3698485" cy="185054"/>
          </a:xfrm>
        </p:spPr>
        <p:txBody>
          <a:bodyPr/>
          <a:lstStyle/>
          <a:p>
            <a:pPr defTabSz="461040" fontAlgn="base">
              <a:spcBef>
                <a:spcPct val="0"/>
              </a:spcBef>
              <a:spcAft>
                <a:spcPct val="0"/>
              </a:spcAft>
            </a:pPr>
            <a:r>
              <a:rPr lang="zh-CN" altLang="en-US" sz="908" dirty="0">
                <a:latin typeface="Arial" panose="020B0604020202020204" pitchFamily="34" charset="0"/>
              </a:rPr>
              <a:t>国内生产总值</a:t>
            </a:r>
            <a:endParaRPr lang="zh-CN" altLang="zh-CN" sz="908" dirty="0">
              <a:latin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3796"/>
                                        </p:tgtEl>
                                        <p:attrNameLst>
                                          <p:attrName>style.visibility</p:attrName>
                                        </p:attrNameLst>
                                      </p:cBhvr>
                                      <p:to>
                                        <p:strVal val="visible"/>
                                      </p:to>
                                    </p:set>
                                    <p:animEffect transition="in" filter="dissolve">
                                      <p:cBhvr>
                                        <p:cTn id="7" dur="500"/>
                                        <p:tgtEl>
                                          <p:spTgt spid="337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animBg="1"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4D69A1DF-23A2-9726-8553-2BE81EFC84C3}"/>
              </a:ext>
            </a:extLst>
          </p:cNvPr>
          <p:cNvSpPr>
            <a:spLocks noGrp="1"/>
          </p:cNvSpPr>
          <p:nvPr>
            <p:ph type="sldNum" sz="quarter" idx="11"/>
          </p:nvPr>
        </p:nvSpPr>
        <p:spPr/>
        <p:txBody>
          <a:bodyPr/>
          <a:lstStyle/>
          <a:p>
            <a:pPr defTabSz="461040" fontAlgn="base">
              <a:spcBef>
                <a:spcPct val="0"/>
              </a:spcBef>
              <a:spcAft>
                <a:spcPct val="0"/>
              </a:spcAft>
            </a:pPr>
            <a:fld id="{9D055D5C-0349-6042-8351-8FA67690D912}" type="slidenum">
              <a:rPr lang="zh-CN" altLang="zh-CN">
                <a:latin typeface="Arial" panose="020B0604020202020204" pitchFamily="34" charset="0"/>
              </a:rPr>
              <a:pPr defTabSz="461040" fontAlgn="base">
                <a:spcBef>
                  <a:spcPct val="0"/>
                </a:spcBef>
                <a:spcAft>
                  <a:spcPct val="0"/>
                </a:spcAft>
              </a:pPr>
              <a:t>43</a:t>
            </a:fld>
            <a:endParaRPr lang="en-US" altLang="zh-CN">
              <a:latin typeface="Arial" panose="020B0604020202020204" pitchFamily="34" charset="0"/>
            </a:endParaRPr>
          </a:p>
        </p:txBody>
      </p:sp>
      <p:sp>
        <p:nvSpPr>
          <p:cNvPr id="35842" name="Rectangle 2">
            <a:extLst>
              <a:ext uri="{FF2B5EF4-FFF2-40B4-BE49-F238E27FC236}">
                <a16:creationId xmlns:a16="http://schemas.microsoft.com/office/drawing/2014/main" id="{796A1EB6-E0ED-E101-07DF-6C427DFF6BB7}"/>
              </a:ext>
            </a:extLst>
          </p:cNvPr>
          <p:cNvSpPr>
            <a:spLocks noGrp="1" noChangeArrowheads="1"/>
          </p:cNvSpPr>
          <p:nvPr>
            <p:ph type="title" idx="4294967295"/>
          </p:nvPr>
        </p:nvSpPr>
        <p:spPr/>
        <p:txBody>
          <a:bodyPr/>
          <a:lstStyle/>
          <a:p>
            <a:r>
              <a:rPr lang="zh-CN" altLang="zh-CN">
                <a:ea typeface="宋体" panose="02010600030101010101" pitchFamily="2" charset="-122"/>
              </a:rPr>
              <a:t>政府购买 （</a:t>
            </a:r>
            <a:r>
              <a:rPr lang="en-US" altLang="zh-CN">
                <a:ea typeface="宋体" panose="02010600030101010101" pitchFamily="2" charset="-122"/>
              </a:rPr>
              <a:t>G</a:t>
            </a:r>
            <a:r>
              <a:rPr lang="zh-CN" altLang="zh-CN">
                <a:ea typeface="宋体" panose="02010600030101010101" pitchFamily="2" charset="-122"/>
              </a:rPr>
              <a:t>）</a:t>
            </a:r>
            <a:endParaRPr lang="zh-CN" altLang="en-US">
              <a:ea typeface="宋体" panose="02010600030101010101" pitchFamily="2" charset="-122"/>
            </a:endParaRPr>
          </a:p>
        </p:txBody>
      </p:sp>
      <p:sp>
        <p:nvSpPr>
          <p:cNvPr id="35843" name="Rectangle 3">
            <a:extLst>
              <a:ext uri="{FF2B5EF4-FFF2-40B4-BE49-F238E27FC236}">
                <a16:creationId xmlns:a16="http://schemas.microsoft.com/office/drawing/2014/main" id="{71810B8B-C55F-DC6F-6135-C1D7E8053B66}"/>
              </a:ext>
            </a:extLst>
          </p:cNvPr>
          <p:cNvSpPr>
            <a:spLocks noGrp="1" noChangeArrowheads="1"/>
          </p:cNvSpPr>
          <p:nvPr>
            <p:ph type="body" idx="4294967295"/>
          </p:nvPr>
        </p:nvSpPr>
        <p:spPr>
          <a:xfrm>
            <a:off x="217699" y="549037"/>
            <a:ext cx="4095466" cy="2353872"/>
          </a:xfrm>
        </p:spPr>
        <p:txBody>
          <a:bodyPr/>
          <a:lstStyle/>
          <a:p>
            <a:pPr>
              <a:spcBef>
                <a:spcPct val="55000"/>
              </a:spcBef>
            </a:pPr>
            <a:r>
              <a:rPr lang="zh-CN" altLang="zh-CN" dirty="0">
                <a:ea typeface="宋体" panose="02010600030101010101" pitchFamily="2" charset="-122"/>
              </a:rPr>
              <a:t>是地方、州、和联邦政府用于物品与劳务的支出。</a:t>
            </a:r>
          </a:p>
          <a:p>
            <a:pPr>
              <a:spcBef>
                <a:spcPct val="55000"/>
              </a:spcBef>
            </a:pPr>
            <a:r>
              <a:rPr lang="zh-CN" altLang="zh-CN" dirty="0">
                <a:ea typeface="宋体" panose="02010600030101010101" pitchFamily="2" charset="-122"/>
              </a:rPr>
              <a:t>政府购买不包括</a:t>
            </a:r>
            <a:r>
              <a:rPr lang="zh-CN" altLang="zh-CN" b="1" dirty="0">
                <a:solidFill>
                  <a:srgbClr val="CC0000"/>
                </a:solidFill>
                <a:ea typeface="宋体" panose="02010600030101010101" pitchFamily="2" charset="-122"/>
              </a:rPr>
              <a:t>转移支付</a:t>
            </a:r>
            <a:r>
              <a:rPr lang="zh-CN" altLang="zh-CN" dirty="0">
                <a:ea typeface="宋体" panose="02010600030101010101" pitchFamily="2" charset="-122"/>
              </a:rPr>
              <a:t>，比如社会保障补助或失业保险补助</a:t>
            </a:r>
          </a:p>
          <a:p>
            <a:pPr>
              <a:spcBef>
                <a:spcPct val="55000"/>
              </a:spcBef>
              <a:buFont typeface="Wingdings" pitchFamily="2" charset="2"/>
              <a:buNone/>
            </a:pPr>
            <a:r>
              <a:rPr lang="zh-CN" altLang="zh-CN" dirty="0">
                <a:ea typeface="宋体" panose="02010600030101010101" pitchFamily="2" charset="-122"/>
              </a:rPr>
              <a:t>   因为它们不是物品与劳务的购买</a:t>
            </a:r>
          </a:p>
        </p:txBody>
      </p:sp>
      <p:sp>
        <p:nvSpPr>
          <p:cNvPr id="4" name="页脚占位符 1">
            <a:extLst>
              <a:ext uri="{FF2B5EF4-FFF2-40B4-BE49-F238E27FC236}">
                <a16:creationId xmlns:a16="http://schemas.microsoft.com/office/drawing/2014/main" id="{7DC9E767-45F3-D76F-57BD-C560DC8AE00F}"/>
              </a:ext>
            </a:extLst>
          </p:cNvPr>
          <p:cNvSpPr>
            <a:spLocks noGrp="1"/>
          </p:cNvSpPr>
          <p:nvPr>
            <p:ph type="ftr" sz="quarter" idx="10"/>
          </p:nvPr>
        </p:nvSpPr>
        <p:spPr>
          <a:xfrm>
            <a:off x="144066" y="3226028"/>
            <a:ext cx="3698485" cy="185054"/>
          </a:xfrm>
        </p:spPr>
        <p:txBody>
          <a:bodyPr/>
          <a:lstStyle/>
          <a:p>
            <a:pPr defTabSz="461040" fontAlgn="base">
              <a:spcBef>
                <a:spcPct val="0"/>
              </a:spcBef>
              <a:spcAft>
                <a:spcPct val="0"/>
              </a:spcAft>
            </a:pPr>
            <a:r>
              <a:rPr lang="zh-CN" altLang="en-US" sz="908" dirty="0">
                <a:latin typeface="Arial" panose="020B0604020202020204" pitchFamily="34" charset="0"/>
              </a:rPr>
              <a:t>国内生产总值</a:t>
            </a:r>
            <a:endParaRPr lang="zh-CN" altLang="zh-CN" sz="908" dirty="0">
              <a:latin typeface="Arial" panose="020B0604020202020204" pitchFamily="34" charset="0"/>
            </a:endParaRPr>
          </a:p>
        </p:txBody>
      </p:sp>
    </p:spTree>
  </p:cSld>
  <p:clrMapOvr>
    <a:masterClrMapping/>
  </p:clrMapOvr>
  <p:transition>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7D8287B-D19F-BCB1-EB32-7819BE7D513D}"/>
              </a:ext>
            </a:extLst>
          </p:cNvPr>
          <p:cNvSpPr>
            <a:spLocks noGrp="1"/>
          </p:cNvSpPr>
          <p:nvPr>
            <p:ph type="sldNum" sz="quarter" idx="11"/>
          </p:nvPr>
        </p:nvSpPr>
        <p:spPr/>
        <p:txBody>
          <a:bodyPr/>
          <a:lstStyle/>
          <a:p>
            <a:pPr defTabSz="461040" fontAlgn="base">
              <a:spcBef>
                <a:spcPct val="0"/>
              </a:spcBef>
              <a:spcAft>
                <a:spcPct val="0"/>
              </a:spcAft>
            </a:pPr>
            <a:fld id="{44BC7051-FAED-934C-AAFE-0EB2F252C8CC}" type="slidenum">
              <a:rPr lang="zh-CN" altLang="zh-CN">
                <a:latin typeface="Arial" panose="020B0604020202020204" pitchFamily="34" charset="0"/>
              </a:rPr>
              <a:pPr defTabSz="461040" fontAlgn="base">
                <a:spcBef>
                  <a:spcPct val="0"/>
                </a:spcBef>
                <a:spcAft>
                  <a:spcPct val="0"/>
                </a:spcAft>
              </a:pPr>
              <a:t>44</a:t>
            </a:fld>
            <a:endParaRPr lang="en-US" altLang="zh-CN">
              <a:latin typeface="Arial" panose="020B0604020202020204" pitchFamily="34" charset="0"/>
            </a:endParaRPr>
          </a:p>
        </p:txBody>
      </p:sp>
      <p:sp>
        <p:nvSpPr>
          <p:cNvPr id="37890" name="Rectangle 2">
            <a:extLst>
              <a:ext uri="{FF2B5EF4-FFF2-40B4-BE49-F238E27FC236}">
                <a16:creationId xmlns:a16="http://schemas.microsoft.com/office/drawing/2014/main" id="{47C551B9-53C7-07D0-192B-6641159290E1}"/>
              </a:ext>
            </a:extLst>
          </p:cNvPr>
          <p:cNvSpPr>
            <a:spLocks noGrp="1" noChangeArrowheads="1"/>
          </p:cNvSpPr>
          <p:nvPr>
            <p:ph type="title" idx="4294967295"/>
          </p:nvPr>
        </p:nvSpPr>
        <p:spPr/>
        <p:txBody>
          <a:bodyPr/>
          <a:lstStyle/>
          <a:p>
            <a:r>
              <a:rPr lang="zh-CN" altLang="zh-CN">
                <a:ea typeface="宋体" panose="02010600030101010101" pitchFamily="2" charset="-122"/>
              </a:rPr>
              <a:t>净出口 （</a:t>
            </a:r>
            <a:r>
              <a:rPr lang="en-US" altLang="zh-CN">
                <a:ea typeface="宋体" panose="02010600030101010101" pitchFamily="2" charset="-122"/>
              </a:rPr>
              <a:t>NX</a:t>
            </a:r>
            <a:r>
              <a:rPr lang="zh-CN" altLang="zh-CN">
                <a:ea typeface="宋体" panose="02010600030101010101" pitchFamily="2" charset="-122"/>
              </a:rPr>
              <a:t>）</a:t>
            </a:r>
            <a:endParaRPr lang="zh-CN" altLang="en-US">
              <a:ea typeface="宋体" panose="02010600030101010101" pitchFamily="2" charset="-122"/>
            </a:endParaRPr>
          </a:p>
        </p:txBody>
      </p:sp>
      <p:sp>
        <p:nvSpPr>
          <p:cNvPr id="37891" name="Rectangle 3">
            <a:extLst>
              <a:ext uri="{FF2B5EF4-FFF2-40B4-BE49-F238E27FC236}">
                <a16:creationId xmlns:a16="http://schemas.microsoft.com/office/drawing/2014/main" id="{54160F30-F168-48FF-0C99-8CBECD3B1E49}"/>
              </a:ext>
            </a:extLst>
          </p:cNvPr>
          <p:cNvSpPr>
            <a:spLocks noGrp="1" noChangeArrowheads="1"/>
          </p:cNvSpPr>
          <p:nvPr>
            <p:ph type="body" sz="half" idx="4294967295"/>
          </p:nvPr>
        </p:nvSpPr>
        <p:spPr>
          <a:xfrm>
            <a:off x="188086" y="509820"/>
            <a:ext cx="4089863" cy="2369879"/>
          </a:xfrm>
        </p:spPr>
        <p:txBody>
          <a:bodyPr/>
          <a:lstStyle/>
          <a:p>
            <a:r>
              <a:rPr lang="zh-CN" altLang="zh-CN" b="1">
                <a:latin typeface="Tahoma" panose="020B0604030504040204" pitchFamily="34" charset="0"/>
                <a:ea typeface="宋体" panose="02010600030101010101" pitchFamily="2" charset="-122"/>
              </a:rPr>
              <a:t>NX</a:t>
            </a:r>
            <a:r>
              <a:rPr lang="zh-CN" altLang="zh-CN">
                <a:ea typeface="宋体" panose="02010600030101010101" pitchFamily="2" charset="-122"/>
              </a:rPr>
              <a:t> = 出口 – 进口</a:t>
            </a:r>
          </a:p>
          <a:p>
            <a:r>
              <a:rPr lang="zh-CN" altLang="zh-CN">
                <a:ea typeface="宋体" panose="02010600030101010101" pitchFamily="2" charset="-122"/>
              </a:rPr>
              <a:t>出口代表外国对国内生产物品与劳务的支出</a:t>
            </a:r>
          </a:p>
          <a:p>
            <a:r>
              <a:rPr lang="zh-CN" altLang="zh-CN">
                <a:ea typeface="宋体" panose="02010600030101010101" pitchFamily="2" charset="-122"/>
              </a:rPr>
              <a:t>进口是消费，投资和政府购买中对外国生产的物品和劳务的支出</a:t>
            </a:r>
          </a:p>
          <a:p>
            <a:r>
              <a:rPr lang="zh-CN" altLang="zh-CN">
                <a:ea typeface="宋体" panose="02010600030101010101" pitchFamily="2" charset="-122"/>
              </a:rPr>
              <a:t>把所有组成部分加总起来得到：</a:t>
            </a:r>
          </a:p>
        </p:txBody>
      </p:sp>
      <p:sp>
        <p:nvSpPr>
          <p:cNvPr id="37892" name="Text Box 5">
            <a:extLst>
              <a:ext uri="{FF2B5EF4-FFF2-40B4-BE49-F238E27FC236}">
                <a16:creationId xmlns:a16="http://schemas.microsoft.com/office/drawing/2014/main" id="{2E328D35-2A7B-BC59-C8C3-E855824E499A}"/>
              </a:ext>
            </a:extLst>
          </p:cNvPr>
          <p:cNvSpPr txBox="1">
            <a:spLocks noChangeArrowheads="1"/>
          </p:cNvSpPr>
          <p:nvPr/>
        </p:nvSpPr>
        <p:spPr bwMode="auto">
          <a:xfrm>
            <a:off x="938028" y="2349857"/>
            <a:ext cx="2556364" cy="366567"/>
          </a:xfrm>
          <a:prstGeom prst="rect">
            <a:avLst/>
          </a:prstGeom>
          <a:solidFill>
            <a:srgbClr val="FFFF99"/>
          </a:solidFill>
          <a:ln>
            <a:noFill/>
          </a:ln>
          <a:effectLst>
            <a:outerShdw dist="8980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en-US" altLang="zh-CN" sz="1513" b="1">
                <a:solidFill>
                  <a:srgbClr val="000000"/>
                </a:solidFill>
                <a:latin typeface="Tahoma" panose="020B0604030504040204" pitchFamily="34" charset="0"/>
                <a:ea typeface="宋体" panose="02010600030101010101" pitchFamily="2" charset="-122"/>
              </a:rPr>
              <a:t>Y  =  C  +  I  +  G  +  NX</a:t>
            </a:r>
          </a:p>
        </p:txBody>
      </p:sp>
      <p:sp>
        <p:nvSpPr>
          <p:cNvPr id="4" name="页脚占位符 1">
            <a:extLst>
              <a:ext uri="{FF2B5EF4-FFF2-40B4-BE49-F238E27FC236}">
                <a16:creationId xmlns:a16="http://schemas.microsoft.com/office/drawing/2014/main" id="{9A84A058-DE83-6857-A0E1-4CE71FACC4D3}"/>
              </a:ext>
            </a:extLst>
          </p:cNvPr>
          <p:cNvSpPr>
            <a:spLocks noGrp="1"/>
          </p:cNvSpPr>
          <p:nvPr>
            <p:ph type="ftr" sz="quarter" idx="10"/>
          </p:nvPr>
        </p:nvSpPr>
        <p:spPr>
          <a:xfrm>
            <a:off x="144066" y="3226028"/>
            <a:ext cx="3698485" cy="185054"/>
          </a:xfrm>
        </p:spPr>
        <p:txBody>
          <a:bodyPr/>
          <a:lstStyle/>
          <a:p>
            <a:pPr defTabSz="461040" fontAlgn="base">
              <a:spcBef>
                <a:spcPct val="0"/>
              </a:spcBef>
              <a:spcAft>
                <a:spcPct val="0"/>
              </a:spcAft>
            </a:pPr>
            <a:r>
              <a:rPr lang="zh-CN" altLang="en-US" sz="908" dirty="0">
                <a:latin typeface="Arial" panose="020B0604020202020204" pitchFamily="34" charset="0"/>
              </a:rPr>
              <a:t>国内生产总值</a:t>
            </a:r>
            <a:endParaRPr lang="zh-CN" altLang="zh-CN" sz="908" dirty="0">
              <a:latin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37892"/>
                                        </p:tgtEl>
                                        <p:attrNameLst>
                                          <p:attrName>style.visibility</p:attrName>
                                        </p:attrNameLst>
                                      </p:cBhvr>
                                      <p:to>
                                        <p:strVal val="visible"/>
                                      </p:to>
                                    </p:set>
                                    <p:animEffect transition="in" filter="dissolve">
                                      <p:cBhvr>
                                        <p:cTn id="7" dur="500"/>
                                        <p:tgtEl>
                                          <p:spTgt spid="378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animBg="1"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1C521C69-06B2-FBA2-1318-8F736BBE4ECE}"/>
              </a:ext>
            </a:extLst>
          </p:cNvPr>
          <p:cNvSpPr>
            <a:spLocks noGrp="1" noChangeArrowheads="1"/>
          </p:cNvSpPr>
          <p:nvPr>
            <p:ph type="body" idx="1"/>
          </p:nvPr>
        </p:nvSpPr>
        <p:spPr>
          <a:xfrm>
            <a:off x="276126" y="681097"/>
            <a:ext cx="4179504" cy="2682822"/>
          </a:xfrm>
        </p:spPr>
        <p:txBody>
          <a:bodyPr/>
          <a:lstStyle/>
          <a:p>
            <a:pPr marL="0" indent="0">
              <a:spcBef>
                <a:spcPct val="40000"/>
              </a:spcBef>
              <a:buNone/>
            </a:pPr>
            <a:r>
              <a:rPr lang="zh-CN" altLang="zh-CN" sz="1311" dirty="0">
                <a:ea typeface="宋体" panose="02010600030101010101" pitchFamily="2" charset="-122"/>
              </a:rPr>
              <a:t>在下面的各种情形下，计算GDP及它受影响的组成部分的变化量</a:t>
            </a:r>
            <a:endParaRPr lang="zh-CN" altLang="en-US" sz="1311" dirty="0">
              <a:ea typeface="宋体" panose="02010600030101010101" pitchFamily="2" charset="-122"/>
            </a:endParaRPr>
          </a:p>
          <a:p>
            <a:pPr marL="287350" lvl="1" indent="-229720">
              <a:lnSpc>
                <a:spcPct val="105000"/>
              </a:lnSpc>
              <a:spcBef>
                <a:spcPct val="40000"/>
              </a:spcBef>
              <a:buClr>
                <a:srgbClr val="00AC56"/>
              </a:buClr>
              <a:buSzTx/>
              <a:buNone/>
            </a:pPr>
            <a:r>
              <a:rPr lang="en-US" altLang="zh-CN" sz="1311" b="1" dirty="0">
                <a:solidFill>
                  <a:srgbClr val="339966"/>
                </a:solidFill>
                <a:ea typeface="宋体" panose="02010600030101010101" pitchFamily="2" charset="-122"/>
              </a:rPr>
              <a:t>A.</a:t>
            </a:r>
            <a:r>
              <a:rPr lang="en-US" altLang="zh-CN" sz="1311" dirty="0">
                <a:solidFill>
                  <a:srgbClr val="339966"/>
                </a:solidFill>
                <a:ea typeface="宋体" panose="02010600030101010101" pitchFamily="2" charset="-122"/>
              </a:rPr>
              <a:t>	</a:t>
            </a:r>
            <a:r>
              <a:rPr lang="zh-CN" altLang="en-US" sz="1311" dirty="0">
                <a:ea typeface="宋体" panose="02010600030101010101" pitchFamily="2" charset="-122"/>
              </a:rPr>
              <a:t>你</a:t>
            </a:r>
            <a:r>
              <a:rPr lang="zh-CN" altLang="zh-CN" sz="1311" dirty="0">
                <a:ea typeface="宋体" panose="02010600030101010101" pitchFamily="2" charset="-122"/>
              </a:rPr>
              <a:t>在</a:t>
            </a:r>
            <a:r>
              <a:rPr lang="zh-CN" altLang="en-US" sz="1311" dirty="0">
                <a:ea typeface="宋体" panose="02010600030101010101" pitchFamily="2" charset="-122"/>
              </a:rPr>
              <a:t>上海</a:t>
            </a:r>
            <a:r>
              <a:rPr lang="zh-CN" altLang="zh-CN" sz="1311" dirty="0">
                <a:ea typeface="宋体" panose="02010600030101010101" pitchFamily="2" charset="-122"/>
              </a:rPr>
              <a:t>最好的饭店花了</a:t>
            </a:r>
            <a:r>
              <a:rPr lang="en-US" altLang="zh-CN" sz="1311" dirty="0">
                <a:ea typeface="宋体" panose="02010600030101010101" pitchFamily="2" charset="-122"/>
              </a:rPr>
              <a:t>¥</a:t>
            </a:r>
            <a:r>
              <a:rPr lang="zh-CN" altLang="zh-CN" sz="1311" dirty="0">
                <a:ea typeface="宋体" panose="02010600030101010101" pitchFamily="2" charset="-122"/>
              </a:rPr>
              <a:t>200</a:t>
            </a:r>
            <a:r>
              <a:rPr lang="en-US" altLang="zh-CN" sz="1311" dirty="0">
                <a:ea typeface="宋体" panose="02010600030101010101" pitchFamily="2" charset="-122"/>
              </a:rPr>
              <a:t>0</a:t>
            </a:r>
            <a:r>
              <a:rPr lang="zh-CN" altLang="zh-CN" sz="1311" dirty="0">
                <a:ea typeface="宋体" panose="02010600030101010101" pitchFamily="2" charset="-122"/>
              </a:rPr>
              <a:t>请</a:t>
            </a:r>
            <a:r>
              <a:rPr lang="zh-CN" altLang="en-US" sz="1311" dirty="0">
                <a:ea typeface="宋体" panose="02010600030101010101" pitchFamily="2" charset="-122"/>
              </a:rPr>
              <a:t>你同学</a:t>
            </a:r>
            <a:r>
              <a:rPr lang="zh-CN" altLang="zh-CN" sz="1311" dirty="0">
                <a:ea typeface="宋体" panose="02010600030101010101" pitchFamily="2" charset="-122"/>
              </a:rPr>
              <a:t>吃晚饭</a:t>
            </a:r>
            <a:endParaRPr lang="zh-CN" altLang="zh-CN" sz="1513" dirty="0">
              <a:ea typeface="宋体" panose="02010600030101010101" pitchFamily="2" charset="-122"/>
            </a:endParaRPr>
          </a:p>
          <a:p>
            <a:pPr marL="287350" lvl="1" indent="-229720">
              <a:lnSpc>
                <a:spcPct val="105000"/>
              </a:lnSpc>
              <a:spcBef>
                <a:spcPct val="40000"/>
              </a:spcBef>
              <a:buClr>
                <a:srgbClr val="00AC56"/>
              </a:buClr>
              <a:buSzTx/>
              <a:buNone/>
            </a:pPr>
            <a:r>
              <a:rPr lang="zh-CN" altLang="zh-CN" sz="1311" b="1" dirty="0">
                <a:solidFill>
                  <a:srgbClr val="339966"/>
                </a:solidFill>
                <a:ea typeface="宋体" panose="02010600030101010101" pitchFamily="2" charset="-122"/>
              </a:rPr>
              <a:t>B.</a:t>
            </a:r>
            <a:r>
              <a:rPr lang="zh-CN" altLang="zh-CN" sz="1311" dirty="0">
                <a:solidFill>
                  <a:srgbClr val="339966"/>
                </a:solidFill>
                <a:ea typeface="宋体" panose="02010600030101010101" pitchFamily="2" charset="-122"/>
              </a:rPr>
              <a:t>	</a:t>
            </a:r>
            <a:r>
              <a:rPr lang="zh-CN" altLang="en-US" sz="1311" dirty="0">
                <a:ea typeface="宋体" panose="02010600030101010101" pitchFamily="2" charset="-122"/>
              </a:rPr>
              <a:t>你</a:t>
            </a:r>
            <a:r>
              <a:rPr lang="zh-CN" altLang="zh-CN" sz="1311" dirty="0">
                <a:ea typeface="宋体" panose="02010600030101010101" pitchFamily="2" charset="-122"/>
              </a:rPr>
              <a:t>为了出版业务的需要，</a:t>
            </a:r>
            <a:r>
              <a:rPr lang="zh-CN" altLang="en-US" sz="1311" dirty="0">
                <a:ea typeface="宋体" panose="02010600030101010101" pitchFamily="2" charset="-122"/>
              </a:rPr>
              <a:t>花</a:t>
            </a:r>
            <a:r>
              <a:rPr lang="en-US" altLang="zh-CN" sz="1311" dirty="0">
                <a:ea typeface="宋体" panose="02010600030101010101" pitchFamily="2" charset="-122"/>
              </a:rPr>
              <a:t>¥50</a:t>
            </a:r>
            <a:r>
              <a:rPr lang="zh-CN" altLang="zh-CN" sz="1311" dirty="0">
                <a:ea typeface="宋体" panose="02010600030101010101" pitchFamily="2" charset="-122"/>
              </a:rPr>
              <a:t>00买了一台新笔记本。这台笔记本是在</a:t>
            </a:r>
            <a:r>
              <a:rPr lang="zh-CN" altLang="en-US" sz="1311" dirty="0">
                <a:ea typeface="宋体" panose="02010600030101010101" pitchFamily="2" charset="-122"/>
              </a:rPr>
              <a:t>美</a:t>
            </a:r>
            <a:r>
              <a:rPr lang="zh-CN" altLang="zh-CN" sz="1311" dirty="0">
                <a:ea typeface="宋体" panose="02010600030101010101" pitchFamily="2" charset="-122"/>
              </a:rPr>
              <a:t>国制造的  </a:t>
            </a:r>
          </a:p>
          <a:p>
            <a:pPr marL="287350" lvl="1" indent="-229720">
              <a:lnSpc>
                <a:spcPct val="105000"/>
              </a:lnSpc>
              <a:spcBef>
                <a:spcPct val="40000"/>
              </a:spcBef>
              <a:buClr>
                <a:srgbClr val="00AC56"/>
              </a:buClr>
              <a:buSzTx/>
              <a:buNone/>
            </a:pPr>
            <a:r>
              <a:rPr lang="zh-CN" altLang="zh-CN" sz="1311" b="1" dirty="0">
                <a:solidFill>
                  <a:srgbClr val="339966"/>
                </a:solidFill>
                <a:ea typeface="宋体" panose="02010600030101010101" pitchFamily="2" charset="-122"/>
              </a:rPr>
              <a:t>C.</a:t>
            </a:r>
            <a:r>
              <a:rPr lang="zh-CN" altLang="en-US" sz="1311" b="1" dirty="0">
                <a:solidFill>
                  <a:srgbClr val="339966"/>
                </a:solidFill>
                <a:ea typeface="宋体" panose="02010600030101010101" pitchFamily="2" charset="-122"/>
              </a:rPr>
              <a:t> </a:t>
            </a:r>
            <a:r>
              <a:rPr lang="zh-CN" altLang="zh-CN" sz="1311" dirty="0">
                <a:solidFill>
                  <a:srgbClr val="339966"/>
                </a:solidFill>
                <a:ea typeface="宋体" panose="02010600030101010101" pitchFamily="2" charset="-122"/>
              </a:rPr>
              <a:t>	</a:t>
            </a:r>
            <a:r>
              <a:rPr lang="zh-CN" altLang="en-US" sz="1311" dirty="0">
                <a:ea typeface="宋体" panose="02010600030101010101" pitchFamily="2" charset="-122"/>
              </a:rPr>
              <a:t>你</a:t>
            </a:r>
            <a:r>
              <a:rPr lang="zh-CN" altLang="zh-CN" sz="1311" dirty="0">
                <a:ea typeface="宋体" panose="02010600030101010101" pitchFamily="2" charset="-122"/>
              </a:rPr>
              <a:t>为了编辑业务的需要花了</a:t>
            </a:r>
            <a:r>
              <a:rPr lang="en-US" altLang="zh-CN" sz="1311" dirty="0">
                <a:ea typeface="宋体" panose="02010600030101010101" pitchFamily="2" charset="-122"/>
              </a:rPr>
              <a:t>¥50</a:t>
            </a:r>
            <a:r>
              <a:rPr lang="zh-CN" altLang="zh-CN" sz="1311" dirty="0">
                <a:ea typeface="宋体" panose="02010600030101010101" pitchFamily="2" charset="-122"/>
              </a:rPr>
              <a:t>00购买一台新电脑，这台电脑是由本地的制造商在去年生产的  </a:t>
            </a:r>
          </a:p>
          <a:p>
            <a:pPr marL="287350" lvl="1" indent="-229720">
              <a:lnSpc>
                <a:spcPct val="105000"/>
              </a:lnSpc>
              <a:spcBef>
                <a:spcPct val="40000"/>
              </a:spcBef>
              <a:buClr>
                <a:srgbClr val="00AC56"/>
              </a:buClr>
              <a:buSzTx/>
              <a:buNone/>
            </a:pPr>
            <a:r>
              <a:rPr lang="zh-CN" altLang="zh-CN" sz="1311" b="1" dirty="0">
                <a:solidFill>
                  <a:srgbClr val="339966"/>
                </a:solidFill>
                <a:ea typeface="宋体" panose="02010600030101010101" pitchFamily="2" charset="-122"/>
              </a:rPr>
              <a:t>D.</a:t>
            </a:r>
            <a:r>
              <a:rPr lang="zh-CN" altLang="zh-CN" sz="1311" dirty="0">
                <a:solidFill>
                  <a:srgbClr val="339966"/>
                </a:solidFill>
                <a:ea typeface="宋体" panose="02010600030101010101" pitchFamily="2" charset="-122"/>
              </a:rPr>
              <a:t>	</a:t>
            </a:r>
            <a:r>
              <a:rPr lang="zh-CN" altLang="zh-CN" sz="1311" dirty="0">
                <a:ea typeface="宋体" panose="02010600030101010101" pitchFamily="2" charset="-122"/>
              </a:rPr>
              <a:t>通用汽车公司</a:t>
            </a:r>
            <a:r>
              <a:rPr lang="zh-CN" altLang="en-US" sz="1311" dirty="0">
                <a:ea typeface="宋体" panose="02010600030101010101" pitchFamily="2" charset="-122"/>
              </a:rPr>
              <a:t>在中国</a:t>
            </a:r>
            <a:r>
              <a:rPr lang="zh-CN" altLang="zh-CN" sz="1311" dirty="0">
                <a:ea typeface="宋体" panose="02010600030101010101" pitchFamily="2" charset="-122"/>
              </a:rPr>
              <a:t>生产了价值5亿美元的汽车，但消费者只购买了价值4.7亿美元的汽车</a:t>
            </a:r>
          </a:p>
        </p:txBody>
      </p:sp>
      <p:sp>
        <p:nvSpPr>
          <p:cNvPr id="41987" name="Rectangle 8">
            <a:extLst>
              <a:ext uri="{FF2B5EF4-FFF2-40B4-BE49-F238E27FC236}">
                <a16:creationId xmlns:a16="http://schemas.microsoft.com/office/drawing/2014/main" id="{502BABA6-CD3B-42B5-942F-A5E25929E0FA}"/>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41988" name="Rectangle 4">
            <a:extLst>
              <a:ext uri="{FF2B5EF4-FFF2-40B4-BE49-F238E27FC236}">
                <a16:creationId xmlns:a16="http://schemas.microsoft.com/office/drawing/2014/main" id="{D80D9230-2A38-D802-73A9-7D561D211A92}"/>
              </a:ext>
            </a:extLst>
          </p:cNvPr>
          <p:cNvSpPr>
            <a:spLocks noGrp="1" noChangeArrowheads="1"/>
          </p:cNvSpPr>
          <p:nvPr>
            <p:ph type="title"/>
          </p:nvPr>
        </p:nvSpPr>
        <p:spPr>
          <a:xfrm>
            <a:off x="296135" y="179269"/>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prstTxWarp prst="textNoShape">
              <a:avLst/>
            </a:prstTxWarp>
          </a:bodyPr>
          <a:lstStyle/>
          <a:p>
            <a:pPr algn="l"/>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2" i="1">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1</a:t>
            </a:r>
            <a:r>
              <a:rPr lang="en-US"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en-US" altLang="zh-CN" sz="1613">
                <a:solidFill>
                  <a:srgbClr val="339966"/>
                </a:solidFill>
                <a:effectLst>
                  <a:outerShdw blurRad="38100" dist="38100" dir="2700000" algn="tl">
                    <a:srgbClr val="C0C0C0"/>
                  </a:outerShdw>
                </a:effectLst>
                <a:ea typeface="宋体" panose="02010600030101010101" pitchFamily="2" charset="-122"/>
              </a:rPr>
              <a:t>GDP</a:t>
            </a:r>
            <a:r>
              <a:rPr lang="zh-CN" altLang="zh-CN" sz="1613">
                <a:solidFill>
                  <a:srgbClr val="339966"/>
                </a:solidFill>
                <a:effectLst>
                  <a:outerShdw blurRad="38100" dist="38100" dir="2700000" algn="tl">
                    <a:srgbClr val="C0C0C0"/>
                  </a:outerShdw>
                </a:effectLst>
                <a:ea typeface="宋体" panose="02010600030101010101" pitchFamily="2" charset="-122"/>
              </a:rPr>
              <a:t>及其组成部分</a:t>
            </a:r>
          </a:p>
        </p:txBody>
      </p:sp>
      <p:grpSp>
        <p:nvGrpSpPr>
          <p:cNvPr id="41989" name="Group 5">
            <a:extLst>
              <a:ext uri="{FF2B5EF4-FFF2-40B4-BE49-F238E27FC236}">
                <a16:creationId xmlns:a16="http://schemas.microsoft.com/office/drawing/2014/main" id="{D0F2F89B-A2A4-B0F2-4461-86A3C45E8E4B}"/>
              </a:ext>
            </a:extLst>
          </p:cNvPr>
          <p:cNvGrpSpPr>
            <a:grpSpLocks/>
          </p:cNvGrpSpPr>
          <p:nvPr/>
        </p:nvGrpSpPr>
        <p:grpSpPr bwMode="auto">
          <a:xfrm>
            <a:off x="299336" y="148055"/>
            <a:ext cx="4139486" cy="529041"/>
            <a:chOff x="0" y="0"/>
            <a:chExt cx="5000" cy="661"/>
          </a:xfrm>
        </p:grpSpPr>
        <p:sp>
          <p:nvSpPr>
            <p:cNvPr id="41990" name="Line 9">
              <a:extLst>
                <a:ext uri="{FF2B5EF4-FFF2-40B4-BE49-F238E27FC236}">
                  <a16:creationId xmlns:a16="http://schemas.microsoft.com/office/drawing/2014/main" id="{4971AC16-41F4-5115-5515-0EBCDAC63B47}"/>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1991" name="Line 10">
              <a:extLst>
                <a:ext uri="{FF2B5EF4-FFF2-40B4-BE49-F238E27FC236}">
                  <a16:creationId xmlns:a16="http://schemas.microsoft.com/office/drawing/2014/main" id="{26589169-8610-5C05-3A26-470D45692CF2}"/>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Tree>
    <p:extLst>
      <p:ext uri="{BB962C8B-B14F-4D97-AF65-F5344CB8AC3E}">
        <p14:creationId xmlns:p14="http://schemas.microsoft.com/office/powerpoint/2010/main" val="1161063627"/>
      </p:ext>
    </p:extLst>
  </p:cSld>
  <p:clrMapOvr>
    <a:masterClrMapping/>
  </p:clrMapOvr>
  <p:transition spd="med">
    <p:diamon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5DEC682C-D5F5-5157-2301-0938FDCBAF68}"/>
              </a:ext>
            </a:extLst>
          </p:cNvPr>
          <p:cNvSpPr>
            <a:spLocks noGrp="1" noChangeArrowheads="1"/>
          </p:cNvSpPr>
          <p:nvPr>
            <p:ph type="body" idx="1"/>
          </p:nvPr>
        </p:nvSpPr>
        <p:spPr>
          <a:xfrm>
            <a:off x="300937" y="765135"/>
            <a:ext cx="4143488" cy="2275437"/>
          </a:xfrm>
        </p:spPr>
        <p:txBody>
          <a:bodyPr/>
          <a:lstStyle/>
          <a:p>
            <a:pPr marL="233722" indent="-233722">
              <a:spcBef>
                <a:spcPct val="40000"/>
              </a:spcBef>
              <a:buClr>
                <a:srgbClr val="00AC56"/>
              </a:buClr>
              <a:buSzTx/>
              <a:buNone/>
            </a:pPr>
            <a:r>
              <a:rPr lang="zh-CN" altLang="zh-CN" sz="1311" b="1" dirty="0">
                <a:solidFill>
                  <a:srgbClr val="339966"/>
                </a:solidFill>
                <a:ea typeface="宋体" panose="02010600030101010101" pitchFamily="2" charset="-122"/>
              </a:rPr>
              <a:t>A.</a:t>
            </a:r>
            <a:r>
              <a:rPr lang="zh-CN" altLang="en-US" sz="1311" b="1" dirty="0">
                <a:solidFill>
                  <a:srgbClr val="339966"/>
                </a:solidFill>
                <a:ea typeface="宋体" panose="02010600030101010101" pitchFamily="2" charset="-122"/>
              </a:rPr>
              <a:t> </a:t>
            </a:r>
            <a:r>
              <a:rPr lang="zh-CN" altLang="en-US" sz="1311" dirty="0">
                <a:ea typeface="宋体" panose="02010600030101010101" pitchFamily="2" charset="-122"/>
              </a:rPr>
              <a:t>你</a:t>
            </a:r>
            <a:r>
              <a:rPr lang="zh-CN" altLang="zh-CN" sz="1311" dirty="0">
                <a:ea typeface="宋体" panose="02010600030101010101" pitchFamily="2" charset="-122"/>
              </a:rPr>
              <a:t>在</a:t>
            </a:r>
            <a:r>
              <a:rPr lang="zh-CN" altLang="en-US" sz="1311" dirty="0">
                <a:ea typeface="宋体" panose="02010600030101010101" pitchFamily="2" charset="-122"/>
              </a:rPr>
              <a:t>上海</a:t>
            </a:r>
            <a:r>
              <a:rPr lang="zh-CN" altLang="zh-CN" sz="1311" dirty="0">
                <a:ea typeface="宋体" panose="02010600030101010101" pitchFamily="2" charset="-122"/>
              </a:rPr>
              <a:t>最好的饭店花了</a:t>
            </a:r>
            <a:r>
              <a:rPr lang="en-US" altLang="zh-CN" sz="1311" dirty="0">
                <a:ea typeface="宋体" panose="02010600030101010101" pitchFamily="2" charset="-122"/>
              </a:rPr>
              <a:t>¥</a:t>
            </a:r>
            <a:r>
              <a:rPr lang="zh-CN" altLang="zh-CN" sz="1311" dirty="0">
                <a:ea typeface="宋体" panose="02010600030101010101" pitchFamily="2" charset="-122"/>
              </a:rPr>
              <a:t>200</a:t>
            </a:r>
            <a:r>
              <a:rPr lang="en-US" altLang="zh-CN" sz="1311" dirty="0">
                <a:ea typeface="宋体" panose="02010600030101010101" pitchFamily="2" charset="-122"/>
              </a:rPr>
              <a:t>0</a:t>
            </a:r>
            <a:r>
              <a:rPr lang="zh-CN" altLang="zh-CN" sz="1311" dirty="0">
                <a:ea typeface="宋体" panose="02010600030101010101" pitchFamily="2" charset="-122"/>
              </a:rPr>
              <a:t>请</a:t>
            </a:r>
            <a:r>
              <a:rPr lang="zh-CN" altLang="en-US" sz="1311" dirty="0">
                <a:ea typeface="宋体" panose="02010600030101010101" pitchFamily="2" charset="-122"/>
              </a:rPr>
              <a:t>你同学</a:t>
            </a:r>
            <a:r>
              <a:rPr lang="zh-CN" altLang="zh-CN" sz="1311" dirty="0">
                <a:ea typeface="宋体" panose="02010600030101010101" pitchFamily="2" charset="-122"/>
              </a:rPr>
              <a:t>吃晚饭</a:t>
            </a:r>
            <a:endParaRPr lang="zh-CN" altLang="zh-CN" dirty="0">
              <a:ea typeface="宋体" panose="02010600030101010101" pitchFamily="2" charset="-122"/>
            </a:endParaRPr>
          </a:p>
          <a:p>
            <a:pPr marL="233722" indent="-233722">
              <a:spcBef>
                <a:spcPct val="40000"/>
              </a:spcBef>
              <a:buClr>
                <a:srgbClr val="00AC56"/>
              </a:buClr>
              <a:buSzTx/>
              <a:buNone/>
            </a:pPr>
            <a:r>
              <a:rPr lang="zh-CN" altLang="zh-CN" dirty="0">
                <a:solidFill>
                  <a:srgbClr val="CC0000"/>
                </a:solidFill>
                <a:ea typeface="宋体" panose="02010600030101010101" pitchFamily="2" charset="-122"/>
              </a:rPr>
              <a:t>	消费和 GDP都增加了200</a:t>
            </a:r>
            <a:r>
              <a:rPr lang="en-US" altLang="zh-CN" dirty="0">
                <a:solidFill>
                  <a:srgbClr val="CC0000"/>
                </a:solidFill>
                <a:ea typeface="宋体" panose="02010600030101010101" pitchFamily="2" charset="-122"/>
              </a:rPr>
              <a:t>0</a:t>
            </a:r>
            <a:r>
              <a:rPr lang="zh-CN" altLang="zh-CN" dirty="0">
                <a:solidFill>
                  <a:srgbClr val="CC0000"/>
                </a:solidFill>
                <a:ea typeface="宋体" panose="02010600030101010101" pitchFamily="2" charset="-122"/>
              </a:rPr>
              <a:t>元 </a:t>
            </a:r>
          </a:p>
          <a:p>
            <a:pPr marL="233722" indent="-233722">
              <a:spcBef>
                <a:spcPct val="80000"/>
              </a:spcBef>
              <a:buClr>
                <a:srgbClr val="00AC56"/>
              </a:buClr>
              <a:buSzTx/>
              <a:buNone/>
            </a:pPr>
            <a:r>
              <a:rPr lang="zh-CN" altLang="zh-CN" sz="1311" b="1" dirty="0">
                <a:solidFill>
                  <a:srgbClr val="339966"/>
                </a:solidFill>
                <a:ea typeface="宋体" panose="02010600030101010101" pitchFamily="2" charset="-122"/>
              </a:rPr>
              <a:t>B.</a:t>
            </a:r>
            <a:r>
              <a:rPr lang="zh-CN" altLang="zh-CN" sz="1311" dirty="0">
                <a:solidFill>
                  <a:srgbClr val="339966"/>
                </a:solidFill>
                <a:ea typeface="宋体" panose="02010600030101010101" pitchFamily="2" charset="-122"/>
              </a:rPr>
              <a:t>	</a:t>
            </a:r>
            <a:r>
              <a:rPr lang="zh-CN" altLang="en-US" sz="1311" dirty="0">
                <a:ea typeface="宋体" panose="02010600030101010101" pitchFamily="2" charset="-122"/>
              </a:rPr>
              <a:t>你</a:t>
            </a:r>
            <a:r>
              <a:rPr lang="zh-CN" altLang="zh-CN" sz="1311" dirty="0">
                <a:ea typeface="宋体" panose="02010600030101010101" pitchFamily="2" charset="-122"/>
              </a:rPr>
              <a:t>为了出版业务的需要，</a:t>
            </a:r>
            <a:r>
              <a:rPr lang="zh-CN" altLang="en-US" sz="1311" dirty="0">
                <a:ea typeface="宋体" panose="02010600030101010101" pitchFamily="2" charset="-122"/>
              </a:rPr>
              <a:t>花</a:t>
            </a:r>
            <a:r>
              <a:rPr lang="en-US" altLang="zh-CN" sz="1311" dirty="0">
                <a:ea typeface="宋体" panose="02010600030101010101" pitchFamily="2" charset="-122"/>
              </a:rPr>
              <a:t>¥50</a:t>
            </a:r>
            <a:r>
              <a:rPr lang="zh-CN" altLang="zh-CN" sz="1311" dirty="0">
                <a:ea typeface="宋体" panose="02010600030101010101" pitchFamily="2" charset="-122"/>
              </a:rPr>
              <a:t>00买了一台新笔记本。这台笔记本是在</a:t>
            </a:r>
            <a:r>
              <a:rPr lang="zh-CN" altLang="en-US" sz="1311" dirty="0">
                <a:ea typeface="宋体" panose="02010600030101010101" pitchFamily="2" charset="-122"/>
              </a:rPr>
              <a:t>美</a:t>
            </a:r>
            <a:r>
              <a:rPr lang="zh-CN" altLang="zh-CN" sz="1311" dirty="0">
                <a:ea typeface="宋体" panose="02010600030101010101" pitchFamily="2" charset="-122"/>
              </a:rPr>
              <a:t>国制造的 </a:t>
            </a:r>
            <a:endParaRPr lang="zh-CN" altLang="zh-CN" dirty="0">
              <a:ea typeface="宋体" panose="02010600030101010101" pitchFamily="2" charset="-122"/>
            </a:endParaRPr>
          </a:p>
          <a:p>
            <a:pPr marL="233722" indent="-233722">
              <a:spcBef>
                <a:spcPct val="40000"/>
              </a:spcBef>
              <a:buClr>
                <a:srgbClr val="00AC56"/>
              </a:buClr>
              <a:buSzTx/>
              <a:buNone/>
            </a:pPr>
            <a:r>
              <a:rPr lang="zh-CN" altLang="zh-CN" i="1" dirty="0">
                <a:solidFill>
                  <a:srgbClr val="CC0000"/>
                </a:solidFill>
                <a:ea typeface="宋体" panose="02010600030101010101" pitchFamily="2" charset="-122"/>
              </a:rPr>
              <a:t>	</a:t>
            </a:r>
            <a:r>
              <a:rPr lang="zh-CN" altLang="zh-CN" dirty="0">
                <a:solidFill>
                  <a:srgbClr val="CC0000"/>
                </a:solidFill>
                <a:ea typeface="宋体" panose="02010600030101010101" pitchFamily="2" charset="-122"/>
              </a:rPr>
              <a:t>投资增加</a:t>
            </a:r>
            <a:r>
              <a:rPr lang="en-US" altLang="zh-CN" dirty="0">
                <a:solidFill>
                  <a:srgbClr val="CC0000"/>
                </a:solidFill>
                <a:ea typeface="宋体" panose="02010600030101010101" pitchFamily="2" charset="-122"/>
              </a:rPr>
              <a:t>5000</a:t>
            </a:r>
            <a:r>
              <a:rPr lang="zh-CN" altLang="zh-CN" dirty="0">
                <a:solidFill>
                  <a:srgbClr val="CC0000"/>
                </a:solidFill>
                <a:ea typeface="宋体" panose="02010600030101010101" pitchFamily="2" charset="-122"/>
              </a:rPr>
              <a:t>元，净出口减少</a:t>
            </a:r>
            <a:r>
              <a:rPr lang="en-US" altLang="zh-CN" dirty="0">
                <a:solidFill>
                  <a:srgbClr val="CC0000"/>
                </a:solidFill>
                <a:ea typeface="宋体" panose="02010600030101010101" pitchFamily="2" charset="-122"/>
              </a:rPr>
              <a:t>5000</a:t>
            </a:r>
            <a:r>
              <a:rPr lang="zh-CN" altLang="zh-CN" dirty="0">
                <a:solidFill>
                  <a:srgbClr val="CC0000"/>
                </a:solidFill>
                <a:ea typeface="宋体" panose="02010600030101010101" pitchFamily="2" charset="-122"/>
              </a:rPr>
              <a:t>元, GDP 不变</a:t>
            </a:r>
            <a:endParaRPr lang="zh-CN" altLang="zh-CN" dirty="0">
              <a:ea typeface="宋体" panose="02010600030101010101" pitchFamily="2" charset="-122"/>
            </a:endParaRPr>
          </a:p>
        </p:txBody>
      </p:sp>
      <p:sp>
        <p:nvSpPr>
          <p:cNvPr id="44035" name="Rectangle 8">
            <a:extLst>
              <a:ext uri="{FF2B5EF4-FFF2-40B4-BE49-F238E27FC236}">
                <a16:creationId xmlns:a16="http://schemas.microsoft.com/office/drawing/2014/main" id="{B31492CE-94BA-2E9C-84F5-D1B01D8567E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44036" name="Rectangle 4">
            <a:extLst>
              <a:ext uri="{FF2B5EF4-FFF2-40B4-BE49-F238E27FC236}">
                <a16:creationId xmlns:a16="http://schemas.microsoft.com/office/drawing/2014/main" id="{17A5D63B-E49B-8DEC-238E-73C56341FA1A}"/>
              </a:ext>
            </a:extLst>
          </p:cNvPr>
          <p:cNvSpPr>
            <a:spLocks noGrp="1" noChangeArrowheads="1"/>
          </p:cNvSpPr>
          <p:nvPr>
            <p:ph type="title"/>
          </p:nvPr>
        </p:nvSpPr>
        <p:spPr>
          <a:xfrm>
            <a:off x="296135" y="179269"/>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prstTxWarp prst="textNoShape">
              <a:avLst/>
            </a:prstTxWarp>
          </a:bodyPr>
          <a:lstStyle/>
          <a:p>
            <a:pPr algn="l"/>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2" i="1">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1</a:t>
            </a:r>
            <a:r>
              <a:rPr lang="en-US"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1613">
                <a:solidFill>
                  <a:srgbClr val="339966"/>
                </a:solidFill>
                <a:effectLst>
                  <a:outerShdw blurRad="38100" dist="38100" dir="2700000" algn="tl">
                    <a:srgbClr val="C0C0C0"/>
                  </a:outerShdw>
                </a:effectLst>
                <a:ea typeface="宋体" panose="02010600030101010101" pitchFamily="2" charset="-122"/>
              </a:rPr>
              <a:t>参考答案</a:t>
            </a:r>
          </a:p>
        </p:txBody>
      </p:sp>
      <p:grpSp>
        <p:nvGrpSpPr>
          <p:cNvPr id="44037" name="Group 5">
            <a:extLst>
              <a:ext uri="{FF2B5EF4-FFF2-40B4-BE49-F238E27FC236}">
                <a16:creationId xmlns:a16="http://schemas.microsoft.com/office/drawing/2014/main" id="{3FEAC91A-9F8A-DB2F-5965-6BAF71CAD5F8}"/>
              </a:ext>
            </a:extLst>
          </p:cNvPr>
          <p:cNvGrpSpPr>
            <a:grpSpLocks/>
          </p:cNvGrpSpPr>
          <p:nvPr/>
        </p:nvGrpSpPr>
        <p:grpSpPr bwMode="auto">
          <a:xfrm>
            <a:off x="299336" y="148055"/>
            <a:ext cx="4139486" cy="529041"/>
            <a:chOff x="0" y="0"/>
            <a:chExt cx="5000" cy="661"/>
          </a:xfrm>
        </p:grpSpPr>
        <p:sp>
          <p:nvSpPr>
            <p:cNvPr id="44038" name="Line 9">
              <a:extLst>
                <a:ext uri="{FF2B5EF4-FFF2-40B4-BE49-F238E27FC236}">
                  <a16:creationId xmlns:a16="http://schemas.microsoft.com/office/drawing/2014/main" id="{DFE9CBB3-542C-4571-6B13-D963C751B1C5}"/>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4039" name="Line 10">
              <a:extLst>
                <a:ext uri="{FF2B5EF4-FFF2-40B4-BE49-F238E27FC236}">
                  <a16:creationId xmlns:a16="http://schemas.microsoft.com/office/drawing/2014/main" id="{2AEFFD6C-FFD7-A0A7-1902-545C25C592A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44040" name="Rectangle 8">
            <a:extLst>
              <a:ext uri="{FF2B5EF4-FFF2-40B4-BE49-F238E27FC236}">
                <a16:creationId xmlns:a16="http://schemas.microsoft.com/office/drawing/2014/main" id="{118E69A1-4AD0-8497-DAB5-52042D38B9CC}"/>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4D87A883-DF44-FD43-99DF-EF752649EE0A}"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46</a:t>
            </a:fld>
            <a:endParaRPr lang="en-US" altLang="zh-CN" sz="857">
              <a:solidFill>
                <a:srgbClr val="777777"/>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05338510"/>
      </p:ext>
    </p:extLst>
  </p:cSld>
  <p:clrMapOvr>
    <a:masterClrMapping/>
  </p:clrMapOvr>
  <p:transition spd="med">
    <p:diamon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05DFDF82-FBD3-B827-C517-9B3AF680C4B1}"/>
              </a:ext>
            </a:extLst>
          </p:cNvPr>
          <p:cNvSpPr>
            <a:spLocks noGrp="1" noChangeArrowheads="1"/>
          </p:cNvSpPr>
          <p:nvPr>
            <p:ph type="body" idx="1"/>
          </p:nvPr>
        </p:nvSpPr>
        <p:spPr>
          <a:xfrm>
            <a:off x="300937" y="714713"/>
            <a:ext cx="4143488" cy="2639602"/>
          </a:xfrm>
        </p:spPr>
        <p:txBody>
          <a:bodyPr/>
          <a:lstStyle/>
          <a:p>
            <a:pPr marL="233722" indent="-233722">
              <a:spcBef>
                <a:spcPct val="40000"/>
              </a:spcBef>
              <a:buClr>
                <a:srgbClr val="00AC56"/>
              </a:buClr>
              <a:buSzTx/>
              <a:buNone/>
            </a:pPr>
            <a:r>
              <a:rPr lang="zh-CN" altLang="zh-CN" sz="1311" b="1" dirty="0">
                <a:solidFill>
                  <a:srgbClr val="339966"/>
                </a:solidFill>
                <a:ea typeface="宋体" panose="02010600030101010101" pitchFamily="2" charset="-122"/>
              </a:rPr>
              <a:t>C.</a:t>
            </a:r>
            <a:r>
              <a:rPr lang="zh-CN" altLang="zh-CN" sz="1311" dirty="0">
                <a:solidFill>
                  <a:srgbClr val="339966"/>
                </a:solidFill>
                <a:ea typeface="宋体" panose="02010600030101010101" pitchFamily="2" charset="-122"/>
              </a:rPr>
              <a:t>	</a:t>
            </a:r>
            <a:r>
              <a:rPr lang="zh-CN" altLang="en-US" sz="1311" dirty="0">
                <a:solidFill>
                  <a:srgbClr val="339966"/>
                </a:solidFill>
                <a:ea typeface="宋体" panose="02010600030101010101" pitchFamily="2" charset="-122"/>
              </a:rPr>
              <a:t> </a:t>
            </a:r>
            <a:r>
              <a:rPr lang="zh-CN" altLang="en-US" sz="1311" dirty="0">
                <a:ea typeface="宋体" panose="02010600030101010101" pitchFamily="2" charset="-122"/>
              </a:rPr>
              <a:t>你</a:t>
            </a:r>
            <a:r>
              <a:rPr lang="zh-CN" altLang="zh-CN" sz="1311" dirty="0">
                <a:ea typeface="宋体" panose="02010600030101010101" pitchFamily="2" charset="-122"/>
              </a:rPr>
              <a:t>为了编辑业务的需要花了</a:t>
            </a:r>
            <a:r>
              <a:rPr lang="en-US" altLang="zh-CN" sz="1311" dirty="0">
                <a:ea typeface="宋体" panose="02010600030101010101" pitchFamily="2" charset="-122"/>
              </a:rPr>
              <a:t>¥50</a:t>
            </a:r>
            <a:r>
              <a:rPr lang="zh-CN" altLang="zh-CN" sz="1311" dirty="0">
                <a:ea typeface="宋体" panose="02010600030101010101" pitchFamily="2" charset="-122"/>
              </a:rPr>
              <a:t>00购买一台新电脑，这台电脑是由本地的制造商在去年生产的 </a:t>
            </a:r>
            <a:endParaRPr lang="zh-CN" altLang="zh-CN" dirty="0">
              <a:ea typeface="宋体" panose="02010600030101010101" pitchFamily="2" charset="-122"/>
            </a:endParaRPr>
          </a:p>
          <a:p>
            <a:pPr marL="233722" indent="-233722">
              <a:spcBef>
                <a:spcPct val="30000"/>
              </a:spcBef>
              <a:buClr>
                <a:srgbClr val="00AC56"/>
              </a:buClr>
              <a:buSzTx/>
              <a:buNone/>
            </a:pPr>
            <a:r>
              <a:rPr lang="zh-CN" altLang="zh-CN" i="1" dirty="0">
                <a:solidFill>
                  <a:srgbClr val="CC0000"/>
                </a:solidFill>
                <a:ea typeface="宋体" panose="02010600030101010101" pitchFamily="2" charset="-122"/>
              </a:rPr>
              <a:t>	</a:t>
            </a:r>
            <a:r>
              <a:rPr lang="zh-CN" altLang="zh-CN" dirty="0">
                <a:solidFill>
                  <a:srgbClr val="CC0000"/>
                </a:solidFill>
                <a:ea typeface="宋体" panose="02010600030101010101" pitchFamily="2" charset="-122"/>
              </a:rPr>
              <a:t>当前的GDP与投资都不变，因为电脑是在去年生产出来的</a:t>
            </a:r>
          </a:p>
          <a:p>
            <a:pPr marL="233722" indent="-233722">
              <a:spcBef>
                <a:spcPct val="75000"/>
              </a:spcBef>
              <a:buClr>
                <a:srgbClr val="00AC56"/>
              </a:buClr>
              <a:buSzTx/>
              <a:buNone/>
            </a:pPr>
            <a:r>
              <a:rPr lang="zh-CN" altLang="zh-CN" sz="1311" b="1" dirty="0">
                <a:solidFill>
                  <a:srgbClr val="339966"/>
                </a:solidFill>
                <a:ea typeface="宋体" panose="02010600030101010101" pitchFamily="2" charset="-122"/>
              </a:rPr>
              <a:t>D.</a:t>
            </a:r>
            <a:r>
              <a:rPr lang="zh-CN" altLang="zh-CN" sz="1311" dirty="0">
                <a:solidFill>
                  <a:srgbClr val="339966"/>
                </a:solidFill>
                <a:ea typeface="宋体" panose="02010600030101010101" pitchFamily="2" charset="-122"/>
              </a:rPr>
              <a:t>	</a:t>
            </a:r>
            <a:r>
              <a:rPr lang="zh-CN" altLang="zh-CN" sz="1311" dirty="0">
                <a:ea typeface="宋体" panose="02010600030101010101" pitchFamily="2" charset="-122"/>
              </a:rPr>
              <a:t>通用汽车公司</a:t>
            </a:r>
            <a:r>
              <a:rPr lang="zh-CN" altLang="en-US" sz="1311" dirty="0">
                <a:ea typeface="宋体" panose="02010600030101010101" pitchFamily="2" charset="-122"/>
              </a:rPr>
              <a:t>在中国</a:t>
            </a:r>
            <a:r>
              <a:rPr lang="zh-CN" altLang="zh-CN" sz="1311" dirty="0">
                <a:ea typeface="宋体" panose="02010600030101010101" pitchFamily="2" charset="-122"/>
              </a:rPr>
              <a:t>生产了价值5亿美元的汽车，但消费者只购买了价值4.7亿美元的汽车</a:t>
            </a:r>
          </a:p>
          <a:p>
            <a:pPr marL="233722" indent="-233722">
              <a:spcBef>
                <a:spcPct val="30000"/>
              </a:spcBef>
              <a:buClr>
                <a:srgbClr val="00AC56"/>
              </a:buClr>
              <a:buSzTx/>
              <a:buNone/>
            </a:pPr>
            <a:r>
              <a:rPr lang="zh-CN" altLang="zh-CN" dirty="0">
                <a:solidFill>
                  <a:srgbClr val="CC0000"/>
                </a:solidFill>
                <a:ea typeface="宋体" panose="02010600030101010101" pitchFamily="2" charset="-122"/>
              </a:rPr>
              <a:t>	消费增加4.7亿美元，存货投资增加0.3亿，GDP 增加5亿美元</a:t>
            </a:r>
          </a:p>
        </p:txBody>
      </p:sp>
      <p:sp>
        <p:nvSpPr>
          <p:cNvPr id="46083" name="Rectangle 8">
            <a:extLst>
              <a:ext uri="{FF2B5EF4-FFF2-40B4-BE49-F238E27FC236}">
                <a16:creationId xmlns:a16="http://schemas.microsoft.com/office/drawing/2014/main" id="{9F1F7CA1-DF73-9C70-788A-1B3505089CEA}"/>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46084" name="Rectangle 4">
            <a:extLst>
              <a:ext uri="{FF2B5EF4-FFF2-40B4-BE49-F238E27FC236}">
                <a16:creationId xmlns:a16="http://schemas.microsoft.com/office/drawing/2014/main" id="{545C44F8-25FE-F4F3-AC42-47571859B2E9}"/>
              </a:ext>
            </a:extLst>
          </p:cNvPr>
          <p:cNvSpPr>
            <a:spLocks noGrp="1" noChangeArrowheads="1"/>
          </p:cNvSpPr>
          <p:nvPr>
            <p:ph type="title"/>
          </p:nvPr>
        </p:nvSpPr>
        <p:spPr>
          <a:xfrm>
            <a:off x="296135" y="179269"/>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prstTxWarp prst="textNoShape">
              <a:avLst/>
            </a:prstTxWarp>
          </a:bodyPr>
          <a:lstStyle/>
          <a:p>
            <a:pPr algn="l"/>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2" i="1">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1</a:t>
            </a:r>
            <a:r>
              <a:rPr lang="en-US"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1613">
                <a:solidFill>
                  <a:srgbClr val="339966"/>
                </a:solidFill>
                <a:effectLst>
                  <a:outerShdw blurRad="38100" dist="38100" dir="2700000" algn="tl">
                    <a:srgbClr val="C0C0C0"/>
                  </a:outerShdw>
                </a:effectLst>
                <a:ea typeface="宋体" panose="02010600030101010101" pitchFamily="2" charset="-122"/>
              </a:rPr>
              <a:t>参考答案</a:t>
            </a:r>
          </a:p>
        </p:txBody>
      </p:sp>
      <p:grpSp>
        <p:nvGrpSpPr>
          <p:cNvPr id="46085" name="Group 5">
            <a:extLst>
              <a:ext uri="{FF2B5EF4-FFF2-40B4-BE49-F238E27FC236}">
                <a16:creationId xmlns:a16="http://schemas.microsoft.com/office/drawing/2014/main" id="{30CEFE9D-A856-C019-8FF9-6A18864582FE}"/>
              </a:ext>
            </a:extLst>
          </p:cNvPr>
          <p:cNvGrpSpPr>
            <a:grpSpLocks/>
          </p:cNvGrpSpPr>
          <p:nvPr/>
        </p:nvGrpSpPr>
        <p:grpSpPr bwMode="auto">
          <a:xfrm>
            <a:off x="299336" y="148055"/>
            <a:ext cx="4139486" cy="529041"/>
            <a:chOff x="0" y="0"/>
            <a:chExt cx="5000" cy="661"/>
          </a:xfrm>
        </p:grpSpPr>
        <p:sp>
          <p:nvSpPr>
            <p:cNvPr id="46086" name="Line 9">
              <a:extLst>
                <a:ext uri="{FF2B5EF4-FFF2-40B4-BE49-F238E27FC236}">
                  <a16:creationId xmlns:a16="http://schemas.microsoft.com/office/drawing/2014/main" id="{4209AB49-DAA8-EB16-AF7C-A631CE96C089}"/>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087" name="Line 10">
              <a:extLst>
                <a:ext uri="{FF2B5EF4-FFF2-40B4-BE49-F238E27FC236}">
                  <a16:creationId xmlns:a16="http://schemas.microsoft.com/office/drawing/2014/main" id="{A6D308F0-9F11-B0BD-3A23-83959670DC2C}"/>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46088" name="Rectangle 8">
            <a:extLst>
              <a:ext uri="{FF2B5EF4-FFF2-40B4-BE49-F238E27FC236}">
                <a16:creationId xmlns:a16="http://schemas.microsoft.com/office/drawing/2014/main" id="{63A60EAC-3E91-F405-1B6E-9112FC2B77DB}"/>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4C9D8CE9-9070-C340-8541-9AD7B8208DFE}"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47</a:t>
            </a:fld>
            <a:endParaRPr lang="en-US" altLang="zh-CN" sz="857">
              <a:solidFill>
                <a:srgbClr val="777777"/>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25538118"/>
      </p:ext>
    </p:extLst>
  </p:cSld>
  <p:clrMapOvr>
    <a:masterClrMapping/>
  </p:clrMapOvr>
  <p:transition spd="med">
    <p:diamon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97024AD7-A9D2-0C9F-D4E4-7A991FC460F0}"/>
              </a:ext>
            </a:extLst>
          </p:cNvPr>
          <p:cNvSpPr>
            <a:spLocks noGrp="1"/>
          </p:cNvSpPr>
          <p:nvPr>
            <p:ph type="sldNum" sz="quarter" idx="11"/>
          </p:nvPr>
        </p:nvSpPr>
        <p:spPr/>
        <p:txBody>
          <a:bodyPr/>
          <a:lstStyle/>
          <a:p>
            <a:pPr defTabSz="461040" fontAlgn="base">
              <a:spcBef>
                <a:spcPct val="0"/>
              </a:spcBef>
              <a:spcAft>
                <a:spcPct val="0"/>
              </a:spcAft>
            </a:pPr>
            <a:fld id="{2C812E66-A1C0-CF4F-8EDA-1423B9FF8263}" type="slidenum">
              <a:rPr lang="zh-CN" altLang="zh-CN">
                <a:latin typeface="Arial" panose="020B0604020202020204" pitchFamily="34" charset="0"/>
              </a:rPr>
              <a:pPr defTabSz="461040" fontAlgn="base">
                <a:spcBef>
                  <a:spcPct val="0"/>
                </a:spcBef>
                <a:spcAft>
                  <a:spcPct val="0"/>
                </a:spcAft>
              </a:pPr>
              <a:t>48</a:t>
            </a:fld>
            <a:endParaRPr lang="en-US" altLang="zh-CN">
              <a:latin typeface="Arial" panose="020B0604020202020204" pitchFamily="34" charset="0"/>
            </a:endParaRPr>
          </a:p>
        </p:txBody>
      </p:sp>
      <p:sp>
        <p:nvSpPr>
          <p:cNvPr id="48130" name="Rectangle 2">
            <a:extLst>
              <a:ext uri="{FF2B5EF4-FFF2-40B4-BE49-F238E27FC236}">
                <a16:creationId xmlns:a16="http://schemas.microsoft.com/office/drawing/2014/main" id="{67CAF057-564D-EE67-50E3-6C19C1AB518A}"/>
              </a:ext>
            </a:extLst>
          </p:cNvPr>
          <p:cNvSpPr>
            <a:spLocks noGrp="1" noChangeArrowheads="1"/>
          </p:cNvSpPr>
          <p:nvPr>
            <p:ph type="title" idx="4294967295"/>
          </p:nvPr>
        </p:nvSpPr>
        <p:spPr>
          <a:xfrm>
            <a:off x="113652" y="140051"/>
            <a:ext cx="4397203" cy="432997"/>
          </a:xfrm>
        </p:spPr>
        <p:txBody>
          <a:bodyPr/>
          <a:lstStyle/>
          <a:p>
            <a:r>
              <a:rPr lang="zh-CN" altLang="zh-CN" sz="1815">
                <a:ea typeface="宋体" panose="02010600030101010101" pitchFamily="2" charset="-122"/>
              </a:rPr>
              <a:t>真实</a:t>
            </a:r>
            <a:r>
              <a:rPr lang="en-US" altLang="zh-CN" sz="1815">
                <a:ea typeface="宋体" panose="02010600030101010101" pitchFamily="2" charset="-122"/>
              </a:rPr>
              <a:t>GDP</a:t>
            </a:r>
            <a:r>
              <a:rPr lang="zh-CN" altLang="zh-CN" sz="1815">
                <a:ea typeface="宋体" panose="02010600030101010101" pitchFamily="2" charset="-122"/>
              </a:rPr>
              <a:t>与名义</a:t>
            </a:r>
            <a:r>
              <a:rPr lang="en-US" altLang="zh-CN" sz="1815">
                <a:ea typeface="宋体" panose="02010600030101010101" pitchFamily="2" charset="-122"/>
              </a:rPr>
              <a:t>GDP</a:t>
            </a:r>
            <a:endParaRPr lang="zh-CN" altLang="zh-CN" sz="1815">
              <a:ea typeface="宋体" panose="02010600030101010101" pitchFamily="2" charset="-122"/>
            </a:endParaRPr>
          </a:p>
        </p:txBody>
      </p:sp>
      <p:sp>
        <p:nvSpPr>
          <p:cNvPr id="48131" name="Rectangle 3">
            <a:extLst>
              <a:ext uri="{FF2B5EF4-FFF2-40B4-BE49-F238E27FC236}">
                <a16:creationId xmlns:a16="http://schemas.microsoft.com/office/drawing/2014/main" id="{C0329AFF-FB0B-F0E0-0672-0329127865F7}"/>
              </a:ext>
            </a:extLst>
          </p:cNvPr>
          <p:cNvSpPr>
            <a:spLocks noGrp="1" noChangeArrowheads="1"/>
          </p:cNvSpPr>
          <p:nvPr>
            <p:ph type="body" idx="4294967295"/>
          </p:nvPr>
        </p:nvSpPr>
        <p:spPr>
          <a:xfrm>
            <a:off x="196890" y="624272"/>
            <a:ext cx="4206716" cy="2419502"/>
          </a:xfrm>
        </p:spPr>
        <p:txBody>
          <a:bodyPr/>
          <a:lstStyle/>
          <a:p>
            <a:pPr>
              <a:spcBef>
                <a:spcPct val="50000"/>
              </a:spcBef>
            </a:pPr>
            <a:r>
              <a:rPr lang="zh-CN" altLang="zh-CN">
                <a:ea typeface="宋体" panose="02010600030101010101" pitchFamily="2" charset="-122"/>
              </a:rPr>
              <a:t>通货膨胀会扭曲像GDP这样的经济变量，因此我们有两种类型的GDP：</a:t>
            </a:r>
          </a:p>
          <a:p>
            <a:pPr>
              <a:spcBef>
                <a:spcPct val="50000"/>
              </a:spcBef>
              <a:buFont typeface="Wingdings" pitchFamily="2" charset="2"/>
              <a:buNone/>
            </a:pPr>
            <a:r>
              <a:rPr lang="zh-CN" altLang="zh-CN">
                <a:ea typeface="宋体" panose="02010600030101010101" pitchFamily="2" charset="-122"/>
              </a:rPr>
              <a:t>   一种是经过通货膨胀校正，另一种则没有  </a:t>
            </a:r>
          </a:p>
          <a:p>
            <a:pPr>
              <a:spcBef>
                <a:spcPct val="50000"/>
              </a:spcBef>
            </a:pPr>
            <a:r>
              <a:rPr lang="zh-CN" altLang="zh-CN" b="1">
                <a:solidFill>
                  <a:srgbClr val="CC0000"/>
                </a:solidFill>
                <a:ea typeface="宋体" panose="02010600030101010101" pitchFamily="2" charset="-122"/>
              </a:rPr>
              <a:t>名义GDP</a:t>
            </a:r>
            <a:r>
              <a:rPr lang="zh-CN" altLang="zh-CN">
                <a:solidFill>
                  <a:srgbClr val="CC0000"/>
                </a:solidFill>
                <a:ea typeface="宋体" panose="02010600030101010101" pitchFamily="2" charset="-122"/>
              </a:rPr>
              <a:t> </a:t>
            </a:r>
            <a:r>
              <a:rPr lang="zh-CN" altLang="zh-CN">
                <a:ea typeface="宋体" panose="02010600030101010101" pitchFamily="2" charset="-122"/>
              </a:rPr>
              <a:t>按现期价格评价的物品与劳务的生产，它没有经过通货膨胀校正  </a:t>
            </a:r>
          </a:p>
          <a:p>
            <a:pPr>
              <a:spcBef>
                <a:spcPct val="50000"/>
              </a:spcBef>
            </a:pPr>
            <a:r>
              <a:rPr lang="zh-CN" altLang="zh-CN" b="1">
                <a:solidFill>
                  <a:srgbClr val="CC0000"/>
                </a:solidFill>
                <a:ea typeface="宋体" panose="02010600030101010101" pitchFamily="2" charset="-122"/>
              </a:rPr>
              <a:t>真实 GDP</a:t>
            </a:r>
            <a:r>
              <a:rPr lang="zh-CN" altLang="zh-CN">
                <a:solidFill>
                  <a:srgbClr val="CC0000"/>
                </a:solidFill>
                <a:ea typeface="宋体" panose="02010600030101010101" pitchFamily="2" charset="-122"/>
              </a:rPr>
              <a:t> </a:t>
            </a:r>
            <a:r>
              <a:rPr lang="zh-CN" altLang="zh-CN">
                <a:ea typeface="宋体" panose="02010600030101010101" pitchFamily="2" charset="-122"/>
              </a:rPr>
              <a:t>按</a:t>
            </a:r>
            <a:r>
              <a:rPr lang="zh-CN" altLang="zh-CN" b="1">
                <a:solidFill>
                  <a:srgbClr val="9900CC"/>
                </a:solidFill>
                <a:ea typeface="宋体" panose="02010600030101010101" pitchFamily="2" charset="-122"/>
              </a:rPr>
              <a:t>基年</a:t>
            </a:r>
            <a:r>
              <a:rPr lang="zh-CN" altLang="zh-CN">
                <a:ea typeface="宋体" panose="02010600030101010101" pitchFamily="2" charset="-122"/>
              </a:rPr>
              <a:t>价格评价的物品与劳务的生产，它经过通货膨胀校正</a:t>
            </a:r>
          </a:p>
        </p:txBody>
      </p:sp>
      <p:sp>
        <p:nvSpPr>
          <p:cNvPr id="4" name="页脚占位符 1">
            <a:extLst>
              <a:ext uri="{FF2B5EF4-FFF2-40B4-BE49-F238E27FC236}">
                <a16:creationId xmlns:a16="http://schemas.microsoft.com/office/drawing/2014/main" id="{AD2FADB8-3FB2-0016-8D5B-A5E47D7CB641}"/>
              </a:ext>
            </a:extLst>
          </p:cNvPr>
          <p:cNvSpPr>
            <a:spLocks noGrp="1"/>
          </p:cNvSpPr>
          <p:nvPr>
            <p:ph type="ftr" sz="quarter" idx="10"/>
          </p:nvPr>
        </p:nvSpPr>
        <p:spPr>
          <a:xfrm>
            <a:off x="144066" y="3226028"/>
            <a:ext cx="3698485" cy="185054"/>
          </a:xfrm>
        </p:spPr>
        <p:txBody>
          <a:bodyPr/>
          <a:lstStyle/>
          <a:p>
            <a:pPr defTabSz="461040" fontAlgn="base">
              <a:spcBef>
                <a:spcPct val="0"/>
              </a:spcBef>
              <a:spcAft>
                <a:spcPct val="0"/>
              </a:spcAft>
            </a:pPr>
            <a:r>
              <a:rPr lang="zh-CN" altLang="en-US" sz="908" dirty="0">
                <a:latin typeface="Arial" panose="020B0604020202020204" pitchFamily="34" charset="0"/>
              </a:rPr>
              <a:t>国内生产总值</a:t>
            </a:r>
            <a:endParaRPr lang="zh-CN" altLang="zh-CN" sz="908" dirty="0">
              <a:latin typeface="Arial" panose="020B0604020202020204" pitchFamily="34" charset="0"/>
            </a:endParaRPr>
          </a:p>
        </p:txBody>
      </p:sp>
    </p:spTree>
  </p:cSld>
  <p:clrMapOvr>
    <a:masterClrMapping/>
  </p:clrMapOvr>
  <p:transition>
    <p:wipe dir="r"/>
  </p:transition>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E01FD266-9E7B-B834-6C8C-6601C2DD3DB2}"/>
              </a:ext>
            </a:extLst>
          </p:cNvPr>
          <p:cNvSpPr>
            <a:spLocks noGrp="1"/>
          </p:cNvSpPr>
          <p:nvPr>
            <p:ph type="sldNum" sz="quarter" idx="11"/>
          </p:nvPr>
        </p:nvSpPr>
        <p:spPr/>
        <p:txBody>
          <a:bodyPr/>
          <a:lstStyle/>
          <a:p>
            <a:pPr defTabSz="461040" fontAlgn="base">
              <a:spcBef>
                <a:spcPct val="0"/>
              </a:spcBef>
              <a:spcAft>
                <a:spcPct val="0"/>
              </a:spcAft>
            </a:pPr>
            <a:fld id="{E9758F20-A0B3-C546-BA48-F3BE37427D5D}" type="slidenum">
              <a:rPr lang="zh-CN" altLang="zh-CN">
                <a:latin typeface="Arial" panose="020B0604020202020204" pitchFamily="34" charset="0"/>
              </a:rPr>
              <a:pPr defTabSz="461040" fontAlgn="base">
                <a:spcBef>
                  <a:spcPct val="0"/>
                </a:spcBef>
                <a:spcAft>
                  <a:spcPct val="0"/>
                </a:spcAft>
              </a:pPr>
              <a:t>49</a:t>
            </a:fld>
            <a:endParaRPr lang="en-US" altLang="zh-CN">
              <a:latin typeface="Arial" panose="020B0604020202020204" pitchFamily="34" charset="0"/>
            </a:endParaRPr>
          </a:p>
        </p:txBody>
      </p:sp>
      <p:sp>
        <p:nvSpPr>
          <p:cNvPr id="49154" name="Rectangle 2">
            <a:extLst>
              <a:ext uri="{FF2B5EF4-FFF2-40B4-BE49-F238E27FC236}">
                <a16:creationId xmlns:a16="http://schemas.microsoft.com/office/drawing/2014/main" id="{45686E9C-0282-A964-E861-BBFDBC959C31}"/>
              </a:ext>
            </a:extLst>
          </p:cNvPr>
          <p:cNvSpPr>
            <a:spLocks noGrp="1" noChangeArrowheads="1"/>
          </p:cNvSpPr>
          <p:nvPr>
            <p:ph type="title" idx="4294967295"/>
          </p:nvPr>
        </p:nvSpPr>
        <p:spPr>
          <a:xfrm>
            <a:off x="201692" y="125644"/>
            <a:ext cx="3402350" cy="286531"/>
          </a:xfrm>
        </p:spPr>
        <p:txBody>
          <a:bodyPr/>
          <a:lstStyle/>
          <a:p>
            <a:pPr algn="l"/>
            <a:r>
              <a:rPr lang="zh-CN" altLang="zh-CN" sz="1714">
                <a:ea typeface="宋体" panose="02010600030101010101" pitchFamily="2" charset="-122"/>
              </a:rPr>
              <a:t>例：</a:t>
            </a:r>
            <a:endParaRPr lang="zh-CN" altLang="en-US" sz="1714">
              <a:ea typeface="宋体" panose="02010600030101010101" pitchFamily="2" charset="-122"/>
            </a:endParaRPr>
          </a:p>
        </p:txBody>
      </p:sp>
      <p:sp>
        <p:nvSpPr>
          <p:cNvPr id="49155" name="Rectangle 3">
            <a:extLst>
              <a:ext uri="{FF2B5EF4-FFF2-40B4-BE49-F238E27FC236}">
                <a16:creationId xmlns:a16="http://schemas.microsoft.com/office/drawing/2014/main" id="{9D71C63D-DC6F-7B52-7DDF-FD0B5B87BFE5}"/>
              </a:ext>
            </a:extLst>
          </p:cNvPr>
          <p:cNvSpPr>
            <a:spLocks noGrp="1" noChangeArrowheads="1"/>
          </p:cNvSpPr>
          <p:nvPr>
            <p:ph type="body" idx="4294967295"/>
          </p:nvPr>
        </p:nvSpPr>
        <p:spPr>
          <a:xfrm>
            <a:off x="201692" y="1878442"/>
            <a:ext cx="3759542" cy="1292589"/>
          </a:xfrm>
        </p:spPr>
        <p:txBody>
          <a:bodyPr/>
          <a:lstStyle/>
          <a:p>
            <a:pPr marL="0" indent="0">
              <a:spcBef>
                <a:spcPct val="60000"/>
              </a:spcBef>
              <a:buNone/>
              <a:tabLst>
                <a:tab pos="577901" algn="l"/>
                <a:tab pos="2619767" algn="l"/>
              </a:tabLst>
            </a:pPr>
            <a:r>
              <a:rPr lang="zh-CN" altLang="zh-CN" sz="1311" dirty="0">
                <a:ea typeface="宋体" panose="02010600030101010101" pitchFamily="2" charset="-122"/>
              </a:rPr>
              <a:t>计算每年的名义GDP：</a:t>
            </a:r>
          </a:p>
          <a:p>
            <a:pPr marL="0" indent="0">
              <a:spcBef>
                <a:spcPct val="60000"/>
              </a:spcBef>
              <a:buNone/>
              <a:tabLst>
                <a:tab pos="577901" algn="l"/>
                <a:tab pos="2619767" algn="l"/>
              </a:tabLst>
            </a:pPr>
            <a:r>
              <a:rPr lang="zh-CN" altLang="zh-CN" sz="1311" dirty="0">
                <a:ea typeface="宋体" panose="02010600030101010101" pitchFamily="2" charset="-122"/>
              </a:rPr>
              <a:t>2005:	$10 x 400  +    $2 x 1000  	=   $6,000</a:t>
            </a:r>
          </a:p>
          <a:p>
            <a:pPr marL="0" indent="0">
              <a:spcBef>
                <a:spcPct val="60000"/>
              </a:spcBef>
              <a:buNone/>
              <a:tabLst>
                <a:tab pos="577901" algn="l"/>
                <a:tab pos="2619767" algn="l"/>
              </a:tabLst>
            </a:pPr>
            <a:r>
              <a:rPr lang="zh-CN" altLang="zh-CN" sz="1311" dirty="0">
                <a:ea typeface="宋体" panose="02010600030101010101" pitchFamily="2" charset="-122"/>
              </a:rPr>
              <a:t>2006:	$11 x 500  + $2.50 x 1100 	=   $8,250</a:t>
            </a:r>
          </a:p>
          <a:p>
            <a:pPr marL="0" indent="0">
              <a:spcBef>
                <a:spcPct val="60000"/>
              </a:spcBef>
              <a:buNone/>
              <a:tabLst>
                <a:tab pos="577901" algn="l"/>
                <a:tab pos="2619767" algn="l"/>
              </a:tabLst>
            </a:pPr>
            <a:r>
              <a:rPr lang="zh-CN" altLang="zh-CN" sz="1311" dirty="0">
                <a:ea typeface="宋体" panose="02010600030101010101" pitchFamily="2" charset="-122"/>
              </a:rPr>
              <a:t>2007:	$12 x 600  +    $3 x 1200 	=  $10,800</a:t>
            </a:r>
          </a:p>
        </p:txBody>
      </p:sp>
      <p:graphicFrame>
        <p:nvGraphicFramePr>
          <p:cNvPr id="49156" name="Group 4">
            <a:extLst>
              <a:ext uri="{FF2B5EF4-FFF2-40B4-BE49-F238E27FC236}">
                <a16:creationId xmlns:a16="http://schemas.microsoft.com/office/drawing/2014/main" id="{559A7ACD-2736-1E0D-F8AA-FF6113AF8BA4}"/>
              </a:ext>
            </a:extLst>
          </p:cNvPr>
          <p:cNvGraphicFramePr>
            <a:graphicFrameLocks noGrp="1"/>
          </p:cNvGraphicFramePr>
          <p:nvPr/>
        </p:nvGraphicFramePr>
        <p:xfrm>
          <a:off x="386576" y="393766"/>
          <a:ext cx="4001024" cy="1473471"/>
        </p:xfrm>
        <a:graphic>
          <a:graphicData uri="http://schemas.openxmlformats.org/drawingml/2006/table">
            <a:tbl>
              <a:tblPr/>
              <a:tblGrid>
                <a:gridCol w="800365">
                  <a:extLst>
                    <a:ext uri="{9D8B030D-6E8A-4147-A177-3AD203B41FA5}">
                      <a16:colId xmlns:a16="http://schemas.microsoft.com/office/drawing/2014/main" val="1139934861"/>
                    </a:ext>
                  </a:extLst>
                </a:gridCol>
                <a:gridCol w="799564">
                  <a:extLst>
                    <a:ext uri="{9D8B030D-6E8A-4147-A177-3AD203B41FA5}">
                      <a16:colId xmlns:a16="http://schemas.microsoft.com/office/drawing/2014/main" val="4008319959"/>
                    </a:ext>
                  </a:extLst>
                </a:gridCol>
                <a:gridCol w="793162">
                  <a:extLst>
                    <a:ext uri="{9D8B030D-6E8A-4147-A177-3AD203B41FA5}">
                      <a16:colId xmlns:a16="http://schemas.microsoft.com/office/drawing/2014/main" val="1035336951"/>
                    </a:ext>
                  </a:extLst>
                </a:gridCol>
                <a:gridCol w="807568">
                  <a:extLst>
                    <a:ext uri="{9D8B030D-6E8A-4147-A177-3AD203B41FA5}">
                      <a16:colId xmlns:a16="http://schemas.microsoft.com/office/drawing/2014/main" val="3988849660"/>
                    </a:ext>
                  </a:extLst>
                </a:gridCol>
                <a:gridCol w="800365">
                  <a:extLst>
                    <a:ext uri="{9D8B030D-6E8A-4147-A177-3AD203B41FA5}">
                      <a16:colId xmlns:a16="http://schemas.microsoft.com/office/drawing/2014/main" val="3382500702"/>
                    </a:ext>
                  </a:extLst>
                </a:gridCol>
              </a:tblGrid>
              <a:tr h="515435">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gridSpan="2">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皮萨</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hMerge="1">
                  <a:txBody>
                    <a:bodyPr/>
                    <a:lstStyle/>
                    <a:p>
                      <a:endParaRPr lang="zh-CN" altLang="en-US"/>
                    </a:p>
                  </a:txBody>
                  <a:tcPr/>
                </a:tc>
                <a:tc gridSpan="2">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拿铁咖啡</a:t>
                      </a:r>
                    </a:p>
                  </a:txBody>
                  <a:tcPr marL="46101" marR="46101" marT="23051" marB="2305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hMerge="1">
                  <a:txBody>
                    <a:bodyPr/>
                    <a:lstStyle/>
                    <a:p>
                      <a:endParaRPr lang="zh-CN" altLang="en-US"/>
                    </a:p>
                  </a:txBody>
                  <a:tcPr/>
                </a:tc>
                <a:extLst>
                  <a:ext uri="{0D108BD9-81ED-4DB2-BD59-A6C34878D82A}">
                    <a16:rowId xmlns:a16="http://schemas.microsoft.com/office/drawing/2014/main" val="2340758625"/>
                  </a:ext>
                </a:extLst>
              </a:tr>
              <a:tr h="240109">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年份</a:t>
                      </a:r>
                    </a:p>
                  </a:txBody>
                  <a:tcPr marL="46101" marR="46101" marT="23051" marB="2305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1" i="1" u="none" strike="noStrike" cap="none" normalizeH="0" baseline="0">
                          <a:ln>
                            <a:noFill/>
                          </a:ln>
                          <a:solidFill>
                            <a:schemeClr val="tx1"/>
                          </a:solidFill>
                          <a:effectLst/>
                          <a:latin typeface="Arial" panose="020B0604020202020204" pitchFamily="34" charset="0"/>
                          <a:ea typeface="宋体" panose="02010600030101010101" pitchFamily="2" charset="-122"/>
                        </a:rPr>
                        <a:t>P</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1" i="1" u="none" strike="noStrike" cap="none" normalizeH="0" baseline="0">
                          <a:ln>
                            <a:noFill/>
                          </a:ln>
                          <a:solidFill>
                            <a:schemeClr val="tx1"/>
                          </a:solidFill>
                          <a:effectLst/>
                          <a:latin typeface="Arial" panose="020B0604020202020204" pitchFamily="34" charset="0"/>
                          <a:ea typeface="宋体" panose="02010600030101010101" pitchFamily="2" charset="-122"/>
                        </a:rPr>
                        <a:t>Q</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1" i="1" u="none" strike="noStrike" cap="none" normalizeH="0" baseline="0">
                          <a:ln>
                            <a:noFill/>
                          </a:ln>
                          <a:solidFill>
                            <a:schemeClr val="tx1"/>
                          </a:solidFill>
                          <a:effectLst/>
                          <a:latin typeface="Arial" panose="020B0604020202020204" pitchFamily="34" charset="0"/>
                          <a:ea typeface="宋体" panose="02010600030101010101" pitchFamily="2" charset="-122"/>
                        </a:rPr>
                        <a:t>P</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1" i="1" u="none" strike="noStrike" cap="none" normalizeH="0" baseline="0">
                          <a:ln>
                            <a:noFill/>
                          </a:ln>
                          <a:solidFill>
                            <a:schemeClr val="tx1"/>
                          </a:solidFill>
                          <a:effectLst/>
                          <a:latin typeface="Arial" panose="020B0604020202020204" pitchFamily="34" charset="0"/>
                          <a:ea typeface="宋体" panose="02010600030101010101" pitchFamily="2" charset="-122"/>
                        </a:rPr>
                        <a:t>Q</a:t>
                      </a:r>
                    </a:p>
                  </a:txBody>
                  <a:tcPr marL="46101" marR="46101" marT="23051" marB="2305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77562372"/>
                  </a:ext>
                </a:extLst>
              </a:tr>
              <a:tr h="239309">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2005</a:t>
                      </a:r>
                    </a:p>
                  </a:txBody>
                  <a:tcPr marL="46101" marR="46101" marT="23051" marB="2305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$10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400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$2.00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1000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946745528"/>
                  </a:ext>
                </a:extLst>
              </a:tr>
              <a:tr h="239309">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2006</a:t>
                      </a:r>
                    </a:p>
                  </a:txBody>
                  <a:tcPr marL="46101" marR="46101" marT="23051" marB="2305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$11</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500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$2.50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1100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3565541832"/>
                  </a:ext>
                </a:extLst>
              </a:tr>
              <a:tr h="239309">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2007</a:t>
                      </a:r>
                    </a:p>
                  </a:txBody>
                  <a:tcPr marL="46101" marR="46101" marT="23051" marB="2305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$12</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600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$3.00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1200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2610101933"/>
                  </a:ext>
                </a:extLst>
              </a:tr>
            </a:tbl>
          </a:graphicData>
        </a:graphic>
      </p:graphicFrame>
      <p:grpSp>
        <p:nvGrpSpPr>
          <p:cNvPr id="49192" name="Group 40">
            <a:extLst>
              <a:ext uri="{FF2B5EF4-FFF2-40B4-BE49-F238E27FC236}">
                <a16:creationId xmlns:a16="http://schemas.microsoft.com/office/drawing/2014/main" id="{0FFB2FA2-7344-1D35-0489-54961E9F5B2C}"/>
              </a:ext>
            </a:extLst>
          </p:cNvPr>
          <p:cNvGrpSpPr>
            <a:grpSpLocks/>
          </p:cNvGrpSpPr>
          <p:nvPr/>
        </p:nvGrpSpPr>
        <p:grpSpPr bwMode="auto">
          <a:xfrm>
            <a:off x="3660868" y="2321044"/>
            <a:ext cx="683511" cy="345758"/>
            <a:chOff x="0" y="0"/>
            <a:chExt cx="854" cy="426"/>
          </a:xfrm>
        </p:grpSpPr>
        <p:sp>
          <p:nvSpPr>
            <p:cNvPr id="49193" name="Text Box 41">
              <a:extLst>
                <a:ext uri="{FF2B5EF4-FFF2-40B4-BE49-F238E27FC236}">
                  <a16:creationId xmlns:a16="http://schemas.microsoft.com/office/drawing/2014/main" id="{AB7FA260-04E5-3B66-F161-89ABA71F93BE}"/>
                </a:ext>
              </a:extLst>
            </p:cNvPr>
            <p:cNvSpPr txBox="1">
              <a:spLocks noChangeArrowheads="1"/>
            </p:cNvSpPr>
            <p:nvPr/>
          </p:nvSpPr>
          <p:spPr bwMode="auto">
            <a:xfrm>
              <a:off x="182" y="41"/>
              <a:ext cx="672" cy="362"/>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23051" rIns="23051">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50000"/>
                </a:spcBef>
                <a:spcAft>
                  <a:spcPct val="0"/>
                </a:spcAft>
              </a:pPr>
              <a:r>
                <a:rPr lang="en-US" altLang="zh-CN" sz="1311">
                  <a:solidFill>
                    <a:srgbClr val="000000"/>
                  </a:solidFill>
                  <a:ea typeface="宋体" panose="02010600030101010101" pitchFamily="2" charset="-122"/>
                </a:rPr>
                <a:t>37.5%</a:t>
              </a:r>
            </a:p>
          </p:txBody>
        </p:sp>
        <p:sp>
          <p:nvSpPr>
            <p:cNvPr id="49194" name="AutoShape 42">
              <a:extLst>
                <a:ext uri="{FF2B5EF4-FFF2-40B4-BE49-F238E27FC236}">
                  <a16:creationId xmlns:a16="http://schemas.microsoft.com/office/drawing/2014/main" id="{4AFCC8BC-C83E-5293-EEE5-EF15F22562F0}"/>
                </a:ext>
              </a:extLst>
            </p:cNvPr>
            <p:cNvSpPr>
              <a:spLocks/>
            </p:cNvSpPr>
            <p:nvPr/>
          </p:nvSpPr>
          <p:spPr bwMode="auto">
            <a:xfrm>
              <a:off x="0" y="0"/>
              <a:ext cx="156" cy="426"/>
            </a:xfrm>
            <a:prstGeom prst="rightBrace">
              <a:avLst>
                <a:gd name="adj1" fmla="val 22756"/>
                <a:gd name="adj2" fmla="val 50000"/>
              </a:avLst>
            </a:prstGeom>
            <a:noFill/>
            <a:ln w="19050">
              <a:solidFill>
                <a:srgbClr val="3333CC"/>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sp>
        <p:nvSpPr>
          <p:cNvPr id="49195" name="Text Box 43">
            <a:extLst>
              <a:ext uri="{FF2B5EF4-FFF2-40B4-BE49-F238E27FC236}">
                <a16:creationId xmlns:a16="http://schemas.microsoft.com/office/drawing/2014/main" id="{DF4CF1C9-2870-A941-F28C-D6E31F937171}"/>
              </a:ext>
            </a:extLst>
          </p:cNvPr>
          <p:cNvSpPr txBox="1">
            <a:spLocks noChangeArrowheads="1"/>
          </p:cNvSpPr>
          <p:nvPr/>
        </p:nvSpPr>
        <p:spPr bwMode="auto">
          <a:xfrm>
            <a:off x="3649662" y="1971285"/>
            <a:ext cx="787559" cy="244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r>
              <a:rPr lang="zh-CN" altLang="zh-CN" sz="1311" u="sng">
                <a:solidFill>
                  <a:srgbClr val="000000"/>
                </a:solidFill>
                <a:ea typeface="宋体" panose="02010600030101010101" pitchFamily="2" charset="-122"/>
              </a:rPr>
              <a:t>增加：</a:t>
            </a:r>
            <a:endParaRPr lang="zh-CN" altLang="zh-CN" sz="1311" b="1" u="sng">
              <a:solidFill>
                <a:srgbClr val="000000"/>
              </a:solidFill>
              <a:ea typeface="宋体" panose="02010600030101010101" pitchFamily="2" charset="-122"/>
            </a:endParaRPr>
          </a:p>
        </p:txBody>
      </p:sp>
      <p:grpSp>
        <p:nvGrpSpPr>
          <p:cNvPr id="49196" name="Group 44">
            <a:extLst>
              <a:ext uri="{FF2B5EF4-FFF2-40B4-BE49-F238E27FC236}">
                <a16:creationId xmlns:a16="http://schemas.microsoft.com/office/drawing/2014/main" id="{BA0D5E9A-B654-6A9E-A011-647AB3F856A2}"/>
              </a:ext>
            </a:extLst>
          </p:cNvPr>
          <p:cNvGrpSpPr>
            <a:grpSpLocks/>
          </p:cNvGrpSpPr>
          <p:nvPr/>
        </p:nvGrpSpPr>
        <p:grpSpPr bwMode="auto">
          <a:xfrm>
            <a:off x="3664870" y="2663600"/>
            <a:ext cx="673907" cy="355362"/>
            <a:chOff x="0" y="0"/>
            <a:chExt cx="842" cy="432"/>
          </a:xfrm>
        </p:grpSpPr>
        <p:sp>
          <p:nvSpPr>
            <p:cNvPr id="49197" name="Text Box 45">
              <a:extLst>
                <a:ext uri="{FF2B5EF4-FFF2-40B4-BE49-F238E27FC236}">
                  <a16:creationId xmlns:a16="http://schemas.microsoft.com/office/drawing/2014/main" id="{7D2B1996-00BC-E668-5CA2-12981D076910}"/>
                </a:ext>
              </a:extLst>
            </p:cNvPr>
            <p:cNvSpPr txBox="1">
              <a:spLocks noChangeArrowheads="1"/>
            </p:cNvSpPr>
            <p:nvPr/>
          </p:nvSpPr>
          <p:spPr bwMode="auto">
            <a:xfrm>
              <a:off x="187" y="65"/>
              <a:ext cx="655" cy="357"/>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23051" rIns="23051">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50000"/>
                </a:spcBef>
                <a:spcAft>
                  <a:spcPct val="0"/>
                </a:spcAft>
              </a:pPr>
              <a:r>
                <a:rPr lang="en-US" altLang="zh-CN" sz="1311">
                  <a:solidFill>
                    <a:srgbClr val="000000"/>
                  </a:solidFill>
                  <a:ea typeface="宋体" panose="02010600030101010101" pitchFamily="2" charset="-122"/>
                </a:rPr>
                <a:t>30.9%</a:t>
              </a:r>
            </a:p>
          </p:txBody>
        </p:sp>
        <p:sp>
          <p:nvSpPr>
            <p:cNvPr id="49198" name="AutoShape 46">
              <a:extLst>
                <a:ext uri="{FF2B5EF4-FFF2-40B4-BE49-F238E27FC236}">
                  <a16:creationId xmlns:a16="http://schemas.microsoft.com/office/drawing/2014/main" id="{6B8A25D1-A98B-ECD9-5E48-E925E9779B8E}"/>
                </a:ext>
              </a:extLst>
            </p:cNvPr>
            <p:cNvSpPr>
              <a:spLocks/>
            </p:cNvSpPr>
            <p:nvPr/>
          </p:nvSpPr>
          <p:spPr bwMode="auto">
            <a:xfrm>
              <a:off x="0" y="0"/>
              <a:ext cx="156" cy="432"/>
            </a:xfrm>
            <a:prstGeom prst="rightBrace">
              <a:avLst>
                <a:gd name="adj1" fmla="val 23077"/>
                <a:gd name="adj2" fmla="val 50000"/>
              </a:avLst>
            </a:prstGeom>
            <a:noFill/>
            <a:ln w="19050">
              <a:solidFill>
                <a:srgbClr val="3333CC"/>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sp>
        <p:nvSpPr>
          <p:cNvPr id="4" name="页脚占位符 1">
            <a:extLst>
              <a:ext uri="{FF2B5EF4-FFF2-40B4-BE49-F238E27FC236}">
                <a16:creationId xmlns:a16="http://schemas.microsoft.com/office/drawing/2014/main" id="{1B210C77-72AD-D15B-6499-43F72DFCA62B}"/>
              </a:ext>
            </a:extLst>
          </p:cNvPr>
          <p:cNvSpPr>
            <a:spLocks noGrp="1"/>
          </p:cNvSpPr>
          <p:nvPr>
            <p:ph type="ftr" sz="quarter" idx="10"/>
          </p:nvPr>
        </p:nvSpPr>
        <p:spPr>
          <a:xfrm>
            <a:off x="144066" y="3226028"/>
            <a:ext cx="3698485" cy="185054"/>
          </a:xfrm>
        </p:spPr>
        <p:txBody>
          <a:bodyPr/>
          <a:lstStyle/>
          <a:p>
            <a:pPr defTabSz="461040" fontAlgn="base">
              <a:spcBef>
                <a:spcPct val="0"/>
              </a:spcBef>
              <a:spcAft>
                <a:spcPct val="0"/>
              </a:spcAft>
            </a:pPr>
            <a:r>
              <a:rPr lang="zh-CN" altLang="en-US" sz="908" dirty="0">
                <a:latin typeface="Arial" panose="020B0604020202020204" pitchFamily="34" charset="0"/>
              </a:rPr>
              <a:t>国内生产总值</a:t>
            </a:r>
            <a:endParaRPr lang="zh-CN" altLang="zh-CN" sz="908" dirty="0">
              <a:latin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9156"/>
                                        </p:tgtEl>
                                        <p:attrNameLst>
                                          <p:attrName>style.visibility</p:attrName>
                                        </p:attrNameLst>
                                      </p:cBhvr>
                                      <p:to>
                                        <p:strVal val="visible"/>
                                      </p:to>
                                    </p:set>
                                    <p:animEffect transition="in" filter="dissolve">
                                      <p:cBhvr>
                                        <p:cTn id="7" dur="500"/>
                                        <p:tgtEl>
                                          <p:spTgt spid="491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9155">
                                            <p:txEl>
                                              <p:pRg st="0" end="0"/>
                                            </p:txEl>
                                          </p:spTgt>
                                        </p:tgtEl>
                                        <p:attrNameLst>
                                          <p:attrName>style.visibility</p:attrName>
                                        </p:attrNameLst>
                                      </p:cBhvr>
                                      <p:to>
                                        <p:strVal val="visible"/>
                                      </p:to>
                                    </p:set>
                                    <p:animEffect transition="in" filter="wipe(left)">
                                      <p:cBhvr>
                                        <p:cTn id="12" dur="500"/>
                                        <p:tgtEl>
                                          <p:spTgt spid="4915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9155">
                                            <p:txEl>
                                              <p:pRg st="1" end="1"/>
                                            </p:txEl>
                                          </p:spTgt>
                                        </p:tgtEl>
                                        <p:attrNameLst>
                                          <p:attrName>style.visibility</p:attrName>
                                        </p:attrNameLst>
                                      </p:cBhvr>
                                      <p:to>
                                        <p:strVal val="visible"/>
                                      </p:to>
                                    </p:set>
                                    <p:animEffect transition="in" filter="wipe(left)">
                                      <p:cBhvr>
                                        <p:cTn id="17" dur="500"/>
                                        <p:tgtEl>
                                          <p:spTgt spid="49155">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9155">
                                            <p:txEl>
                                              <p:pRg st="2" end="2"/>
                                            </p:txEl>
                                          </p:spTgt>
                                        </p:tgtEl>
                                        <p:attrNameLst>
                                          <p:attrName>style.visibility</p:attrName>
                                        </p:attrNameLst>
                                      </p:cBhvr>
                                      <p:to>
                                        <p:strVal val="visible"/>
                                      </p:to>
                                    </p:set>
                                    <p:animEffect transition="in" filter="wipe(left)">
                                      <p:cBhvr>
                                        <p:cTn id="22" dur="500"/>
                                        <p:tgtEl>
                                          <p:spTgt spid="49155">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9155">
                                            <p:txEl>
                                              <p:pRg st="3" end="3"/>
                                            </p:txEl>
                                          </p:spTgt>
                                        </p:tgtEl>
                                        <p:attrNameLst>
                                          <p:attrName>style.visibility</p:attrName>
                                        </p:attrNameLst>
                                      </p:cBhvr>
                                      <p:to>
                                        <p:strVal val="visible"/>
                                      </p:to>
                                    </p:set>
                                    <p:animEffect transition="in" filter="wipe(left)">
                                      <p:cBhvr>
                                        <p:cTn id="27" dur="500"/>
                                        <p:tgtEl>
                                          <p:spTgt spid="49155">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49195"/>
                                        </p:tgtEl>
                                        <p:attrNameLst>
                                          <p:attrName>style.visibility</p:attrName>
                                        </p:attrNameLst>
                                      </p:cBhvr>
                                      <p:to>
                                        <p:strVal val="visible"/>
                                      </p:to>
                                    </p:set>
                                    <p:animEffect transition="in" filter="dissolve">
                                      <p:cBhvr>
                                        <p:cTn id="32" dur="500"/>
                                        <p:tgtEl>
                                          <p:spTgt spid="49195"/>
                                        </p:tgtEl>
                                      </p:cBhvr>
                                    </p:animEffect>
                                  </p:childTnLst>
                                </p:cTn>
                              </p:par>
                              <p:par>
                                <p:cTn id="33" presetID="9" presetClass="entr" presetSubtype="0" fill="hold" nodeType="withEffect">
                                  <p:stCondLst>
                                    <p:cond delay="0"/>
                                  </p:stCondLst>
                                  <p:childTnLst>
                                    <p:set>
                                      <p:cBhvr>
                                        <p:cTn id="34" dur="1" fill="hold">
                                          <p:stCondLst>
                                            <p:cond delay="0"/>
                                          </p:stCondLst>
                                        </p:cTn>
                                        <p:tgtEl>
                                          <p:spTgt spid="49192"/>
                                        </p:tgtEl>
                                        <p:attrNameLst>
                                          <p:attrName>style.visibility</p:attrName>
                                        </p:attrNameLst>
                                      </p:cBhvr>
                                      <p:to>
                                        <p:strVal val="visible"/>
                                      </p:to>
                                    </p:set>
                                    <p:animEffect transition="in" filter="dissolve">
                                      <p:cBhvr>
                                        <p:cTn id="35" dur="500"/>
                                        <p:tgtEl>
                                          <p:spTgt spid="4919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49196"/>
                                        </p:tgtEl>
                                        <p:attrNameLst>
                                          <p:attrName>style.visibility</p:attrName>
                                        </p:attrNameLst>
                                      </p:cBhvr>
                                      <p:to>
                                        <p:strVal val="visible"/>
                                      </p:to>
                                    </p:set>
                                    <p:animEffect transition="in" filter="dissolve">
                                      <p:cBhvr>
                                        <p:cTn id="40" dur="500"/>
                                        <p:tgtEl>
                                          <p:spTgt spid="49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bldLvl="5" autoUpdateAnimBg="0"/>
      <p:bldP spid="49195"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21FBC9E-5F46-D8B7-B573-479398274309}"/>
              </a:ext>
            </a:extLst>
          </p:cNvPr>
          <p:cNvSpPr>
            <a:spLocks noGrp="1"/>
          </p:cNvSpPr>
          <p:nvPr>
            <p:ph type="sldNum" sz="quarter" idx="11"/>
          </p:nvPr>
        </p:nvSpPr>
        <p:spPr/>
        <p:txBody>
          <a:bodyPr/>
          <a:lstStyle/>
          <a:p>
            <a:pPr defTabSz="461040" fontAlgn="base">
              <a:spcBef>
                <a:spcPct val="0"/>
              </a:spcBef>
              <a:spcAft>
                <a:spcPct val="0"/>
              </a:spcAft>
            </a:pPr>
            <a:fld id="{EF51481B-3635-CE4C-AD68-F6E7CC8760F0}" type="slidenum">
              <a:rPr lang="zh-CN" altLang="zh-CN">
                <a:latin typeface="Arial" panose="020B0604020202020204" pitchFamily="34" charset="0"/>
              </a:rPr>
              <a:pPr defTabSz="461040" fontAlgn="base">
                <a:spcBef>
                  <a:spcPct val="0"/>
                </a:spcBef>
                <a:spcAft>
                  <a:spcPct val="0"/>
                </a:spcAft>
              </a:pPr>
              <a:t>50</a:t>
            </a:fld>
            <a:endParaRPr lang="en-US" altLang="zh-CN">
              <a:latin typeface="Arial" panose="020B0604020202020204" pitchFamily="34" charset="0"/>
            </a:endParaRPr>
          </a:p>
        </p:txBody>
      </p:sp>
      <p:sp>
        <p:nvSpPr>
          <p:cNvPr id="51202" name="Rectangle 2">
            <a:extLst>
              <a:ext uri="{FF2B5EF4-FFF2-40B4-BE49-F238E27FC236}">
                <a16:creationId xmlns:a16="http://schemas.microsoft.com/office/drawing/2014/main" id="{625C1127-E8FF-AEC7-80BF-91AECBA58282}"/>
              </a:ext>
            </a:extLst>
          </p:cNvPr>
          <p:cNvSpPr>
            <a:spLocks noGrp="1" noChangeArrowheads="1"/>
          </p:cNvSpPr>
          <p:nvPr>
            <p:ph type="title" idx="4294967295"/>
          </p:nvPr>
        </p:nvSpPr>
        <p:spPr>
          <a:xfrm>
            <a:off x="201692" y="125644"/>
            <a:ext cx="3402350" cy="286531"/>
          </a:xfrm>
        </p:spPr>
        <p:txBody>
          <a:bodyPr/>
          <a:lstStyle/>
          <a:p>
            <a:pPr algn="l"/>
            <a:r>
              <a:rPr lang="zh-CN" altLang="zh-CN" sz="1714">
                <a:ea typeface="宋体" panose="02010600030101010101" pitchFamily="2" charset="-122"/>
              </a:rPr>
              <a:t>例：</a:t>
            </a:r>
          </a:p>
        </p:txBody>
      </p:sp>
      <p:sp>
        <p:nvSpPr>
          <p:cNvPr id="51203" name="Rectangle 3">
            <a:extLst>
              <a:ext uri="{FF2B5EF4-FFF2-40B4-BE49-F238E27FC236}">
                <a16:creationId xmlns:a16="http://schemas.microsoft.com/office/drawing/2014/main" id="{D8685765-4BF3-4E54-6F3A-0081B0D36C63}"/>
              </a:ext>
            </a:extLst>
          </p:cNvPr>
          <p:cNvSpPr>
            <a:spLocks noGrp="1" noChangeArrowheads="1"/>
          </p:cNvSpPr>
          <p:nvPr>
            <p:ph type="body" idx="4294967295"/>
          </p:nvPr>
        </p:nvSpPr>
        <p:spPr>
          <a:xfrm>
            <a:off x="173680" y="1834423"/>
            <a:ext cx="3323914" cy="505030"/>
          </a:xfrm>
        </p:spPr>
        <p:txBody>
          <a:bodyPr/>
          <a:lstStyle/>
          <a:p>
            <a:pPr marL="0" indent="0">
              <a:spcBef>
                <a:spcPct val="50000"/>
              </a:spcBef>
              <a:buNone/>
              <a:tabLst>
                <a:tab pos="577901" algn="l"/>
                <a:tab pos="2450078" algn="l"/>
              </a:tabLst>
            </a:pPr>
            <a:r>
              <a:rPr lang="zh-CN" altLang="zh-CN" sz="1311">
                <a:ea typeface="宋体" panose="02010600030101010101" pitchFamily="2" charset="-122"/>
              </a:rPr>
              <a:t>计算每年的真实GDP, </a:t>
            </a:r>
            <a:br>
              <a:rPr lang="zh-CN" altLang="zh-CN" sz="1311">
                <a:ea typeface="宋体" panose="02010600030101010101" pitchFamily="2" charset="-122"/>
              </a:rPr>
            </a:br>
            <a:r>
              <a:rPr lang="zh-CN" altLang="zh-CN" sz="1311">
                <a:ea typeface="宋体" panose="02010600030101010101" pitchFamily="2" charset="-122"/>
              </a:rPr>
              <a:t>以2005 年作为基年:</a:t>
            </a:r>
          </a:p>
        </p:txBody>
      </p:sp>
      <p:graphicFrame>
        <p:nvGraphicFramePr>
          <p:cNvPr id="51204" name="Group 4">
            <a:extLst>
              <a:ext uri="{FF2B5EF4-FFF2-40B4-BE49-F238E27FC236}">
                <a16:creationId xmlns:a16="http://schemas.microsoft.com/office/drawing/2014/main" id="{779FC107-DCA3-C82C-16D8-ADE4F0C64334}"/>
              </a:ext>
            </a:extLst>
          </p:cNvPr>
          <p:cNvGraphicFramePr>
            <a:graphicFrameLocks noGrp="1"/>
          </p:cNvGraphicFramePr>
          <p:nvPr/>
        </p:nvGraphicFramePr>
        <p:xfrm>
          <a:off x="403384" y="373758"/>
          <a:ext cx="3804134" cy="1473471"/>
        </p:xfrm>
        <a:graphic>
          <a:graphicData uri="http://schemas.openxmlformats.org/drawingml/2006/table">
            <a:tbl>
              <a:tblPr/>
              <a:tblGrid>
                <a:gridCol w="742738">
                  <a:extLst>
                    <a:ext uri="{9D8B030D-6E8A-4147-A177-3AD203B41FA5}">
                      <a16:colId xmlns:a16="http://schemas.microsoft.com/office/drawing/2014/main" val="251195814"/>
                    </a:ext>
                  </a:extLst>
                </a:gridCol>
                <a:gridCol w="765149">
                  <a:extLst>
                    <a:ext uri="{9D8B030D-6E8A-4147-A177-3AD203B41FA5}">
                      <a16:colId xmlns:a16="http://schemas.microsoft.com/office/drawing/2014/main" val="4001121640"/>
                    </a:ext>
                  </a:extLst>
                </a:gridCol>
                <a:gridCol w="765149">
                  <a:extLst>
                    <a:ext uri="{9D8B030D-6E8A-4147-A177-3AD203B41FA5}">
                      <a16:colId xmlns:a16="http://schemas.microsoft.com/office/drawing/2014/main" val="4025723745"/>
                    </a:ext>
                  </a:extLst>
                </a:gridCol>
                <a:gridCol w="765149">
                  <a:extLst>
                    <a:ext uri="{9D8B030D-6E8A-4147-A177-3AD203B41FA5}">
                      <a16:colId xmlns:a16="http://schemas.microsoft.com/office/drawing/2014/main" val="1536363837"/>
                    </a:ext>
                  </a:extLst>
                </a:gridCol>
                <a:gridCol w="765949">
                  <a:extLst>
                    <a:ext uri="{9D8B030D-6E8A-4147-A177-3AD203B41FA5}">
                      <a16:colId xmlns:a16="http://schemas.microsoft.com/office/drawing/2014/main" val="1771703360"/>
                    </a:ext>
                  </a:extLst>
                </a:gridCol>
              </a:tblGrid>
              <a:tr h="515435">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gridSpan="2">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皮萨</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hMerge="1">
                  <a:txBody>
                    <a:bodyPr/>
                    <a:lstStyle/>
                    <a:p>
                      <a:endParaRPr lang="zh-CN" altLang="en-US"/>
                    </a:p>
                  </a:txBody>
                  <a:tcPr/>
                </a:tc>
                <a:tc gridSpan="2">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拿铁咖啡</a:t>
                      </a:r>
                    </a:p>
                  </a:txBody>
                  <a:tcPr marL="46101" marR="46101" marT="23051" marB="2305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hMerge="1">
                  <a:txBody>
                    <a:bodyPr/>
                    <a:lstStyle/>
                    <a:p>
                      <a:endParaRPr lang="zh-CN" altLang="en-US"/>
                    </a:p>
                  </a:txBody>
                  <a:tcPr/>
                </a:tc>
                <a:extLst>
                  <a:ext uri="{0D108BD9-81ED-4DB2-BD59-A6C34878D82A}">
                    <a16:rowId xmlns:a16="http://schemas.microsoft.com/office/drawing/2014/main" val="152953752"/>
                  </a:ext>
                </a:extLst>
              </a:tr>
              <a:tr h="240109">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200" b="0" i="1" u="none" strike="noStrike" cap="none" normalizeH="0" baseline="0">
                          <a:ln>
                            <a:noFill/>
                          </a:ln>
                          <a:solidFill>
                            <a:schemeClr val="tx1"/>
                          </a:solidFill>
                          <a:effectLst/>
                          <a:latin typeface="Arial" panose="020B0604020202020204" pitchFamily="34" charset="0"/>
                          <a:ea typeface="宋体" panose="02010600030101010101" pitchFamily="2" charset="-122"/>
                        </a:rPr>
                        <a:t>年份</a:t>
                      </a:r>
                    </a:p>
                  </a:txBody>
                  <a:tcPr marL="46101" marR="46101" marT="23051" marB="2305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1" i="1" u="none" strike="noStrike" cap="none" normalizeH="0" baseline="0">
                          <a:ln>
                            <a:noFill/>
                          </a:ln>
                          <a:solidFill>
                            <a:schemeClr val="tx1"/>
                          </a:solidFill>
                          <a:effectLst/>
                          <a:latin typeface="Arial" panose="020B0604020202020204" pitchFamily="34" charset="0"/>
                          <a:ea typeface="宋体" panose="02010600030101010101" pitchFamily="2" charset="-122"/>
                        </a:rPr>
                        <a:t>P</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1" i="1" u="none" strike="noStrike" cap="none" normalizeH="0" baseline="0">
                          <a:ln>
                            <a:noFill/>
                          </a:ln>
                          <a:solidFill>
                            <a:schemeClr val="tx1"/>
                          </a:solidFill>
                          <a:effectLst/>
                          <a:latin typeface="Arial" panose="020B0604020202020204" pitchFamily="34" charset="0"/>
                          <a:ea typeface="宋体" panose="02010600030101010101" pitchFamily="2" charset="-122"/>
                        </a:rPr>
                        <a:t>Q</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1" i="1" u="none" strike="noStrike" cap="none" normalizeH="0" baseline="0">
                          <a:ln>
                            <a:noFill/>
                          </a:ln>
                          <a:solidFill>
                            <a:schemeClr val="tx1"/>
                          </a:solidFill>
                          <a:effectLst/>
                          <a:latin typeface="Arial" panose="020B0604020202020204" pitchFamily="34" charset="0"/>
                          <a:ea typeface="宋体" panose="02010600030101010101" pitchFamily="2" charset="-122"/>
                        </a:rPr>
                        <a:t>P</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1" i="1" u="none" strike="noStrike" cap="none" normalizeH="0" baseline="0">
                          <a:ln>
                            <a:noFill/>
                          </a:ln>
                          <a:solidFill>
                            <a:schemeClr val="tx1"/>
                          </a:solidFill>
                          <a:effectLst/>
                          <a:latin typeface="Arial" panose="020B0604020202020204" pitchFamily="34" charset="0"/>
                          <a:ea typeface="宋体" panose="02010600030101010101" pitchFamily="2" charset="-122"/>
                        </a:rPr>
                        <a:t>Q</a:t>
                      </a:r>
                    </a:p>
                  </a:txBody>
                  <a:tcPr marL="46101" marR="46101" marT="23051" marB="2305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4018422330"/>
                  </a:ext>
                </a:extLst>
              </a:tr>
              <a:tr h="239309">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2005</a:t>
                      </a:r>
                    </a:p>
                  </a:txBody>
                  <a:tcPr marL="46101" marR="46101" marT="23051" marB="2305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$10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400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$2.00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1000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2535986314"/>
                  </a:ext>
                </a:extLst>
              </a:tr>
              <a:tr h="239309">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2006</a:t>
                      </a:r>
                    </a:p>
                  </a:txBody>
                  <a:tcPr marL="46101" marR="46101" marT="23051" marB="2305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$11</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500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$2.50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1100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3346674078"/>
                  </a:ext>
                </a:extLst>
              </a:tr>
              <a:tr h="239309">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2007</a:t>
                      </a:r>
                    </a:p>
                  </a:txBody>
                  <a:tcPr marL="46101" marR="46101" marT="23051" marB="2305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$12</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600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$3.00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1200</a:t>
                      </a:r>
                    </a:p>
                  </a:txBody>
                  <a:tcPr marL="46101" marR="46101" marT="23051" marB="2305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13826543"/>
                  </a:ext>
                </a:extLst>
              </a:tr>
            </a:tbl>
          </a:graphicData>
        </a:graphic>
      </p:graphicFrame>
      <p:grpSp>
        <p:nvGrpSpPr>
          <p:cNvPr id="51240" name="Group 40">
            <a:extLst>
              <a:ext uri="{FF2B5EF4-FFF2-40B4-BE49-F238E27FC236}">
                <a16:creationId xmlns:a16="http://schemas.microsoft.com/office/drawing/2014/main" id="{27BFC177-897E-C891-DC73-109A2176F76F}"/>
              </a:ext>
            </a:extLst>
          </p:cNvPr>
          <p:cNvGrpSpPr>
            <a:grpSpLocks/>
          </p:cNvGrpSpPr>
          <p:nvPr/>
        </p:nvGrpSpPr>
        <p:grpSpPr bwMode="auto">
          <a:xfrm>
            <a:off x="3450372" y="2405083"/>
            <a:ext cx="692315" cy="331351"/>
            <a:chOff x="0" y="0"/>
            <a:chExt cx="865" cy="414"/>
          </a:xfrm>
        </p:grpSpPr>
        <p:sp>
          <p:nvSpPr>
            <p:cNvPr id="51241" name="Text Box 41">
              <a:extLst>
                <a:ext uri="{FF2B5EF4-FFF2-40B4-BE49-F238E27FC236}">
                  <a16:creationId xmlns:a16="http://schemas.microsoft.com/office/drawing/2014/main" id="{08970C20-AF1A-2BF0-549F-F43BE4E1FBA8}"/>
                </a:ext>
              </a:extLst>
            </p:cNvPr>
            <p:cNvSpPr txBox="1">
              <a:spLocks noChangeArrowheads="1"/>
            </p:cNvSpPr>
            <p:nvPr/>
          </p:nvSpPr>
          <p:spPr bwMode="auto">
            <a:xfrm>
              <a:off x="193" y="32"/>
              <a:ext cx="672" cy="367"/>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23051" rIns="23051">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50000"/>
                </a:spcBef>
                <a:spcAft>
                  <a:spcPct val="0"/>
                </a:spcAft>
              </a:pPr>
              <a:r>
                <a:rPr lang="en-US" altLang="zh-CN" sz="1311">
                  <a:solidFill>
                    <a:srgbClr val="000000"/>
                  </a:solidFill>
                  <a:ea typeface="宋体" panose="02010600030101010101" pitchFamily="2" charset="-122"/>
                </a:rPr>
                <a:t>20.0%</a:t>
              </a:r>
            </a:p>
          </p:txBody>
        </p:sp>
        <p:sp>
          <p:nvSpPr>
            <p:cNvPr id="51242" name="AutoShape 42">
              <a:extLst>
                <a:ext uri="{FF2B5EF4-FFF2-40B4-BE49-F238E27FC236}">
                  <a16:creationId xmlns:a16="http://schemas.microsoft.com/office/drawing/2014/main" id="{ED581198-362D-F589-03E3-4EA33B967B76}"/>
                </a:ext>
              </a:extLst>
            </p:cNvPr>
            <p:cNvSpPr>
              <a:spLocks/>
            </p:cNvSpPr>
            <p:nvPr/>
          </p:nvSpPr>
          <p:spPr bwMode="auto">
            <a:xfrm>
              <a:off x="0" y="0"/>
              <a:ext cx="156" cy="414"/>
            </a:xfrm>
            <a:prstGeom prst="rightBrace">
              <a:avLst>
                <a:gd name="adj1" fmla="val 22115"/>
                <a:gd name="adj2" fmla="val 50000"/>
              </a:avLst>
            </a:prstGeom>
            <a:noFill/>
            <a:ln w="19050">
              <a:solidFill>
                <a:srgbClr val="8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sp>
        <p:nvSpPr>
          <p:cNvPr id="51243" name="Text Box 43">
            <a:extLst>
              <a:ext uri="{FF2B5EF4-FFF2-40B4-BE49-F238E27FC236}">
                <a16:creationId xmlns:a16="http://schemas.microsoft.com/office/drawing/2014/main" id="{E20963A5-A9F4-E179-CFCA-C3161A42DE86}"/>
              </a:ext>
            </a:extLst>
          </p:cNvPr>
          <p:cNvSpPr txBox="1">
            <a:spLocks noChangeArrowheads="1"/>
          </p:cNvSpPr>
          <p:nvPr/>
        </p:nvSpPr>
        <p:spPr bwMode="auto">
          <a:xfrm>
            <a:off x="3450372" y="2062527"/>
            <a:ext cx="787559" cy="244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r>
              <a:rPr lang="zh-CN" altLang="zh-CN" sz="1311" u="sng">
                <a:solidFill>
                  <a:srgbClr val="000000"/>
                </a:solidFill>
                <a:ea typeface="宋体" panose="02010600030101010101" pitchFamily="2" charset="-122"/>
              </a:rPr>
              <a:t>增加：</a:t>
            </a:r>
            <a:endParaRPr lang="zh-CN" altLang="zh-CN" sz="1311" b="1" u="sng">
              <a:solidFill>
                <a:srgbClr val="000000"/>
              </a:solidFill>
              <a:ea typeface="宋体" panose="02010600030101010101" pitchFamily="2" charset="-122"/>
            </a:endParaRPr>
          </a:p>
        </p:txBody>
      </p:sp>
      <p:grpSp>
        <p:nvGrpSpPr>
          <p:cNvPr id="51244" name="Group 44">
            <a:extLst>
              <a:ext uri="{FF2B5EF4-FFF2-40B4-BE49-F238E27FC236}">
                <a16:creationId xmlns:a16="http://schemas.microsoft.com/office/drawing/2014/main" id="{3A5F8B7A-BB3D-7A92-4685-4C09A49B3B2E}"/>
              </a:ext>
            </a:extLst>
          </p:cNvPr>
          <p:cNvGrpSpPr>
            <a:grpSpLocks/>
          </p:cNvGrpSpPr>
          <p:nvPr/>
        </p:nvGrpSpPr>
        <p:grpSpPr bwMode="auto">
          <a:xfrm>
            <a:off x="3458376" y="2738034"/>
            <a:ext cx="681110" cy="345758"/>
            <a:chOff x="0" y="0"/>
            <a:chExt cx="851" cy="432"/>
          </a:xfrm>
        </p:grpSpPr>
        <p:sp>
          <p:nvSpPr>
            <p:cNvPr id="51245" name="Text Box 45">
              <a:extLst>
                <a:ext uri="{FF2B5EF4-FFF2-40B4-BE49-F238E27FC236}">
                  <a16:creationId xmlns:a16="http://schemas.microsoft.com/office/drawing/2014/main" id="{A37AABE9-B235-ACCC-628D-C7F55E2B900C}"/>
                </a:ext>
              </a:extLst>
            </p:cNvPr>
            <p:cNvSpPr txBox="1">
              <a:spLocks noChangeArrowheads="1"/>
            </p:cNvSpPr>
            <p:nvPr/>
          </p:nvSpPr>
          <p:spPr bwMode="auto">
            <a:xfrm>
              <a:off x="196" y="65"/>
              <a:ext cx="655" cy="367"/>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23051" rIns="23051">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50000"/>
                </a:spcBef>
                <a:spcAft>
                  <a:spcPct val="0"/>
                </a:spcAft>
              </a:pPr>
              <a:r>
                <a:rPr lang="en-US" altLang="zh-CN" sz="1311">
                  <a:solidFill>
                    <a:srgbClr val="000000"/>
                  </a:solidFill>
                  <a:ea typeface="宋体" panose="02010600030101010101" pitchFamily="2" charset="-122"/>
                </a:rPr>
                <a:t>16.7%</a:t>
              </a:r>
            </a:p>
          </p:txBody>
        </p:sp>
        <p:sp>
          <p:nvSpPr>
            <p:cNvPr id="51246" name="AutoShape 46">
              <a:extLst>
                <a:ext uri="{FF2B5EF4-FFF2-40B4-BE49-F238E27FC236}">
                  <a16:creationId xmlns:a16="http://schemas.microsoft.com/office/drawing/2014/main" id="{C454415D-E647-54CF-F469-FA0D2FCE945C}"/>
                </a:ext>
              </a:extLst>
            </p:cNvPr>
            <p:cNvSpPr>
              <a:spLocks/>
            </p:cNvSpPr>
            <p:nvPr/>
          </p:nvSpPr>
          <p:spPr bwMode="auto">
            <a:xfrm>
              <a:off x="0" y="0"/>
              <a:ext cx="156" cy="414"/>
            </a:xfrm>
            <a:prstGeom prst="rightBrace">
              <a:avLst>
                <a:gd name="adj1" fmla="val 22115"/>
                <a:gd name="adj2" fmla="val 50000"/>
              </a:avLst>
            </a:prstGeom>
            <a:noFill/>
            <a:ln w="19050">
              <a:solidFill>
                <a:srgbClr val="8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grpSp>
        <p:nvGrpSpPr>
          <p:cNvPr id="51247" name="Group 47">
            <a:extLst>
              <a:ext uri="{FF2B5EF4-FFF2-40B4-BE49-F238E27FC236}">
                <a16:creationId xmlns:a16="http://schemas.microsoft.com/office/drawing/2014/main" id="{67F933DC-EE19-E024-3829-7282D170E8C9}"/>
              </a:ext>
            </a:extLst>
          </p:cNvPr>
          <p:cNvGrpSpPr>
            <a:grpSpLocks/>
          </p:cNvGrpSpPr>
          <p:nvPr/>
        </p:nvGrpSpPr>
        <p:grpSpPr bwMode="auto">
          <a:xfrm>
            <a:off x="294535" y="1162116"/>
            <a:ext cx="3091008" cy="185685"/>
            <a:chOff x="0" y="0"/>
            <a:chExt cx="3862" cy="232"/>
          </a:xfrm>
        </p:grpSpPr>
        <p:sp>
          <p:nvSpPr>
            <p:cNvPr id="51248" name="Text Box 48">
              <a:extLst>
                <a:ext uri="{FF2B5EF4-FFF2-40B4-BE49-F238E27FC236}">
                  <a16:creationId xmlns:a16="http://schemas.microsoft.com/office/drawing/2014/main" id="{CB816826-6546-1745-1D76-3A86F3A40398}"/>
                </a:ext>
              </a:extLst>
            </p:cNvPr>
            <p:cNvSpPr txBox="1">
              <a:spLocks noChangeArrowheads="1"/>
            </p:cNvSpPr>
            <p:nvPr/>
          </p:nvSpPr>
          <p:spPr bwMode="auto">
            <a:xfrm>
              <a:off x="1285" y="0"/>
              <a:ext cx="649" cy="229"/>
            </a:xfrm>
            <a:prstGeom prst="rect">
              <a:avLst/>
            </a:prstGeom>
            <a:solidFill>
              <a:schemeClr val="bg1"/>
            </a:solidFill>
            <a:ln w="12700">
              <a:solidFill>
                <a:srgbClr val="FF0000"/>
              </a:solidFill>
              <a:miter lim="800000"/>
              <a:headEnd/>
              <a:tailEnd/>
            </a:ln>
          </p:spPr>
          <p:txBody>
            <a:bodyPr anchor="ctr" anchorCtr="1"/>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50000"/>
                </a:spcBef>
                <a:spcAft>
                  <a:spcPct val="0"/>
                </a:spcAft>
              </a:pPr>
              <a:r>
                <a:rPr lang="en-US" altLang="zh-CN" sz="1210">
                  <a:solidFill>
                    <a:srgbClr val="000000"/>
                  </a:solidFill>
                  <a:ea typeface="宋体" panose="02010600030101010101" pitchFamily="2" charset="-122"/>
                </a:rPr>
                <a:t>$10</a:t>
              </a:r>
            </a:p>
          </p:txBody>
        </p:sp>
        <p:sp>
          <p:nvSpPr>
            <p:cNvPr id="51249" name="Text Box 49">
              <a:extLst>
                <a:ext uri="{FF2B5EF4-FFF2-40B4-BE49-F238E27FC236}">
                  <a16:creationId xmlns:a16="http://schemas.microsoft.com/office/drawing/2014/main" id="{19BC65B9-F255-4CC7-29E7-D3FDACDC70F6}"/>
                </a:ext>
              </a:extLst>
            </p:cNvPr>
            <p:cNvSpPr txBox="1">
              <a:spLocks noChangeArrowheads="1"/>
            </p:cNvSpPr>
            <p:nvPr/>
          </p:nvSpPr>
          <p:spPr bwMode="auto">
            <a:xfrm>
              <a:off x="3150" y="3"/>
              <a:ext cx="712" cy="229"/>
            </a:xfrm>
            <a:prstGeom prst="rect">
              <a:avLst/>
            </a:prstGeom>
            <a:solidFill>
              <a:schemeClr val="bg1"/>
            </a:solidFill>
            <a:ln w="12700">
              <a:solidFill>
                <a:srgbClr val="FF0000"/>
              </a:solidFill>
              <a:miter lim="800000"/>
              <a:headEnd/>
              <a:tailEnd/>
            </a:ln>
          </p:spPr>
          <p:txBody>
            <a:bodyPr anchor="ctr" anchorCtr="1"/>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50000"/>
                </a:spcBef>
                <a:spcAft>
                  <a:spcPct val="0"/>
                </a:spcAft>
              </a:pPr>
              <a:r>
                <a:rPr lang="en-US" altLang="zh-CN" sz="1210">
                  <a:solidFill>
                    <a:srgbClr val="000000"/>
                  </a:solidFill>
                  <a:ea typeface="宋体" panose="02010600030101010101" pitchFamily="2" charset="-122"/>
                </a:rPr>
                <a:t>$2.00</a:t>
              </a:r>
            </a:p>
          </p:txBody>
        </p:sp>
        <p:sp>
          <p:nvSpPr>
            <p:cNvPr id="51250" name="Line 50">
              <a:extLst>
                <a:ext uri="{FF2B5EF4-FFF2-40B4-BE49-F238E27FC236}">
                  <a16:creationId xmlns:a16="http://schemas.microsoft.com/office/drawing/2014/main" id="{7716D7E9-9A17-A7F0-0EA2-051EA415D1E1}"/>
                </a:ext>
              </a:extLst>
            </p:cNvPr>
            <p:cNvSpPr>
              <a:spLocks noChangeShapeType="1"/>
            </p:cNvSpPr>
            <p:nvPr/>
          </p:nvSpPr>
          <p:spPr bwMode="auto">
            <a:xfrm flipV="1">
              <a:off x="0" y="114"/>
              <a:ext cx="273" cy="0"/>
            </a:xfrm>
            <a:prstGeom prst="line">
              <a:avLst/>
            </a:prstGeom>
            <a:noFill/>
            <a:ln w="44450">
              <a:solidFill>
                <a:srgbClr val="FF0000"/>
              </a:solidFill>
              <a:round/>
              <a:headEnd/>
              <a:tailEnd type="triangle" w="lg" len="me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51251" name="Rectangle 51">
            <a:extLst>
              <a:ext uri="{FF2B5EF4-FFF2-40B4-BE49-F238E27FC236}">
                <a16:creationId xmlns:a16="http://schemas.microsoft.com/office/drawing/2014/main" id="{7373E0DA-AD36-666E-C17C-BC6857FD24CA}"/>
              </a:ext>
            </a:extLst>
          </p:cNvPr>
          <p:cNvSpPr>
            <a:spLocks noChangeArrowheads="1"/>
          </p:cNvSpPr>
          <p:nvPr/>
        </p:nvSpPr>
        <p:spPr bwMode="auto">
          <a:xfrm>
            <a:off x="116053" y="2078534"/>
            <a:ext cx="1731989" cy="19368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51252" name="Rectangle 52">
            <a:extLst>
              <a:ext uri="{FF2B5EF4-FFF2-40B4-BE49-F238E27FC236}">
                <a16:creationId xmlns:a16="http://schemas.microsoft.com/office/drawing/2014/main" id="{BFBF8806-049D-1095-EE6F-7AC731FE94D2}"/>
              </a:ext>
            </a:extLst>
          </p:cNvPr>
          <p:cNvSpPr>
            <a:spLocks noChangeArrowheads="1"/>
          </p:cNvSpPr>
          <p:nvPr/>
        </p:nvSpPr>
        <p:spPr bwMode="auto">
          <a:xfrm>
            <a:off x="211297" y="2302636"/>
            <a:ext cx="3461905" cy="890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1146175" algn="l"/>
                <a:tab pos="4859338" algn="l"/>
              </a:tabLst>
              <a:defRPr>
                <a:solidFill>
                  <a:schemeClr val="tx1"/>
                </a:solidFill>
                <a:latin typeface="Arial" panose="020B0604020202020204" pitchFamily="34" charset="0"/>
              </a:defRPr>
            </a:lvl1pPr>
            <a:lvl2pPr marL="742950" indent="-285750">
              <a:tabLst>
                <a:tab pos="1146175" algn="l"/>
                <a:tab pos="4859338" algn="l"/>
              </a:tabLst>
              <a:defRPr>
                <a:solidFill>
                  <a:schemeClr val="tx1"/>
                </a:solidFill>
                <a:latin typeface="Arial" panose="020B0604020202020204" pitchFamily="34" charset="0"/>
              </a:defRPr>
            </a:lvl2pPr>
            <a:lvl3pPr marL="1143000" indent="-228600">
              <a:tabLst>
                <a:tab pos="1146175" algn="l"/>
                <a:tab pos="4859338" algn="l"/>
              </a:tabLst>
              <a:defRPr>
                <a:solidFill>
                  <a:schemeClr val="tx1"/>
                </a:solidFill>
                <a:latin typeface="Arial" panose="020B0604020202020204" pitchFamily="34" charset="0"/>
              </a:defRPr>
            </a:lvl3pPr>
            <a:lvl4pPr marL="1600200" indent="-228600">
              <a:tabLst>
                <a:tab pos="1146175" algn="l"/>
                <a:tab pos="4859338" algn="l"/>
              </a:tabLst>
              <a:defRPr>
                <a:solidFill>
                  <a:schemeClr val="tx1"/>
                </a:solidFill>
                <a:latin typeface="Arial" panose="020B0604020202020204" pitchFamily="34" charset="0"/>
              </a:defRPr>
            </a:lvl4pPr>
            <a:lvl5pPr marL="2057400" indent="-228600">
              <a:tabLst>
                <a:tab pos="1146175" algn="l"/>
                <a:tab pos="4859338" algn="l"/>
              </a:tabLst>
              <a:defRPr>
                <a:solidFill>
                  <a:schemeClr val="tx1"/>
                </a:solidFill>
                <a:latin typeface="Arial" panose="020B0604020202020204" pitchFamily="34" charset="0"/>
              </a:defRPr>
            </a:lvl5pPr>
            <a:lvl6pPr marL="2514600" indent="-228600" fontAlgn="base">
              <a:spcBef>
                <a:spcPct val="0"/>
              </a:spcBef>
              <a:spcAft>
                <a:spcPct val="0"/>
              </a:spcAft>
              <a:tabLst>
                <a:tab pos="1146175" algn="l"/>
                <a:tab pos="4859338" algn="l"/>
              </a:tabLst>
              <a:defRPr>
                <a:solidFill>
                  <a:schemeClr val="tx1"/>
                </a:solidFill>
                <a:latin typeface="Arial" panose="020B0604020202020204" pitchFamily="34" charset="0"/>
              </a:defRPr>
            </a:lvl6pPr>
            <a:lvl7pPr marL="2971800" indent="-228600" fontAlgn="base">
              <a:spcBef>
                <a:spcPct val="0"/>
              </a:spcBef>
              <a:spcAft>
                <a:spcPct val="0"/>
              </a:spcAft>
              <a:tabLst>
                <a:tab pos="1146175" algn="l"/>
                <a:tab pos="4859338" algn="l"/>
              </a:tabLst>
              <a:defRPr>
                <a:solidFill>
                  <a:schemeClr val="tx1"/>
                </a:solidFill>
                <a:latin typeface="Arial" panose="020B0604020202020204" pitchFamily="34" charset="0"/>
              </a:defRPr>
            </a:lvl7pPr>
            <a:lvl8pPr marL="3429000" indent="-228600" fontAlgn="base">
              <a:spcBef>
                <a:spcPct val="0"/>
              </a:spcBef>
              <a:spcAft>
                <a:spcPct val="0"/>
              </a:spcAft>
              <a:tabLst>
                <a:tab pos="1146175" algn="l"/>
                <a:tab pos="4859338" algn="l"/>
              </a:tabLst>
              <a:defRPr>
                <a:solidFill>
                  <a:schemeClr val="tx1"/>
                </a:solidFill>
                <a:latin typeface="Arial" panose="020B0604020202020204" pitchFamily="34" charset="0"/>
              </a:defRPr>
            </a:lvl8pPr>
            <a:lvl9pPr marL="3886200" indent="-228600" fontAlgn="base">
              <a:spcBef>
                <a:spcPct val="0"/>
              </a:spcBef>
              <a:spcAft>
                <a:spcPct val="0"/>
              </a:spcAft>
              <a:tabLst>
                <a:tab pos="1146175" algn="l"/>
                <a:tab pos="4859338" algn="l"/>
              </a:tabLst>
              <a:defRPr>
                <a:solidFill>
                  <a:schemeClr val="tx1"/>
                </a:solidFill>
                <a:latin typeface="Arial" panose="020B0604020202020204" pitchFamily="34" charset="0"/>
              </a:defRPr>
            </a:lvl9pPr>
          </a:lstStyle>
          <a:p>
            <a:pPr defTabSz="461040" fontAlgn="base">
              <a:lnSpc>
                <a:spcPct val="105000"/>
              </a:lnSpc>
              <a:spcBef>
                <a:spcPct val="50000"/>
              </a:spcBef>
              <a:spcAft>
                <a:spcPct val="0"/>
              </a:spcAft>
              <a:buClr>
                <a:srgbClr val="00B85C"/>
              </a:buClr>
              <a:buSzPct val="120000"/>
              <a:tabLst>
                <a:tab pos="577901" algn="l"/>
                <a:tab pos="2450078" algn="l"/>
              </a:tabLst>
            </a:pPr>
            <a:r>
              <a:rPr lang="en-US" altLang="zh-CN" sz="1311" dirty="0">
                <a:solidFill>
                  <a:srgbClr val="000000"/>
                </a:solidFill>
                <a:ea typeface="宋体" panose="02010600030101010101" pitchFamily="2" charset="-122"/>
              </a:rPr>
              <a:t>2005:	$10 x 400  +  $2 x 1000  	=  $6,000</a:t>
            </a:r>
          </a:p>
          <a:p>
            <a:pPr defTabSz="461040" fontAlgn="base">
              <a:lnSpc>
                <a:spcPct val="105000"/>
              </a:lnSpc>
              <a:spcBef>
                <a:spcPct val="50000"/>
              </a:spcBef>
              <a:spcAft>
                <a:spcPct val="0"/>
              </a:spcAft>
              <a:buClr>
                <a:srgbClr val="00B85C"/>
              </a:buClr>
              <a:buSzPct val="120000"/>
              <a:tabLst>
                <a:tab pos="577901" algn="l"/>
                <a:tab pos="2450078" algn="l"/>
              </a:tabLst>
            </a:pPr>
            <a:r>
              <a:rPr lang="en-US" altLang="zh-CN" sz="1311" dirty="0">
                <a:solidFill>
                  <a:srgbClr val="000000"/>
                </a:solidFill>
                <a:ea typeface="宋体" panose="02010600030101010101" pitchFamily="2" charset="-122"/>
              </a:rPr>
              <a:t>2006:	$10 x 500  +  $2 x 1100 	=  $7,200</a:t>
            </a:r>
          </a:p>
          <a:p>
            <a:pPr defTabSz="461040" fontAlgn="base">
              <a:lnSpc>
                <a:spcPct val="105000"/>
              </a:lnSpc>
              <a:spcBef>
                <a:spcPct val="50000"/>
              </a:spcBef>
              <a:spcAft>
                <a:spcPct val="0"/>
              </a:spcAft>
              <a:buClr>
                <a:srgbClr val="00B85C"/>
              </a:buClr>
              <a:buSzPct val="120000"/>
              <a:tabLst>
                <a:tab pos="577901" algn="l"/>
                <a:tab pos="2450078" algn="l"/>
              </a:tabLst>
            </a:pPr>
            <a:r>
              <a:rPr lang="en-US" altLang="zh-CN" sz="1311" dirty="0">
                <a:solidFill>
                  <a:srgbClr val="000000"/>
                </a:solidFill>
                <a:ea typeface="宋体" panose="02010600030101010101" pitchFamily="2" charset="-122"/>
              </a:rPr>
              <a:t>2007:	$10 x 600  +  $2 x 1200 	=  $8,400</a:t>
            </a:r>
          </a:p>
        </p:txBody>
      </p:sp>
      <p:sp>
        <p:nvSpPr>
          <p:cNvPr id="4" name="页脚占位符 1">
            <a:extLst>
              <a:ext uri="{FF2B5EF4-FFF2-40B4-BE49-F238E27FC236}">
                <a16:creationId xmlns:a16="http://schemas.microsoft.com/office/drawing/2014/main" id="{7B21F8D1-84A3-29E9-5B30-D30372FB114D}"/>
              </a:ext>
            </a:extLst>
          </p:cNvPr>
          <p:cNvSpPr>
            <a:spLocks noGrp="1"/>
          </p:cNvSpPr>
          <p:nvPr>
            <p:ph type="ftr" sz="quarter" idx="10"/>
          </p:nvPr>
        </p:nvSpPr>
        <p:spPr>
          <a:xfrm>
            <a:off x="144066" y="3226028"/>
            <a:ext cx="3698485" cy="185054"/>
          </a:xfrm>
        </p:spPr>
        <p:txBody>
          <a:bodyPr/>
          <a:lstStyle/>
          <a:p>
            <a:pPr defTabSz="461040" fontAlgn="base">
              <a:spcBef>
                <a:spcPct val="0"/>
              </a:spcBef>
              <a:spcAft>
                <a:spcPct val="0"/>
              </a:spcAft>
            </a:pPr>
            <a:r>
              <a:rPr lang="zh-CN" altLang="en-US" sz="908" dirty="0">
                <a:latin typeface="Arial" panose="020B0604020202020204" pitchFamily="34" charset="0"/>
              </a:rPr>
              <a:t>国内生产总值</a:t>
            </a:r>
            <a:endParaRPr lang="zh-CN" altLang="zh-CN" sz="908" dirty="0">
              <a:latin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1251"/>
                                        </p:tgtEl>
                                        <p:attrNameLst>
                                          <p:attrName>style.visibility</p:attrName>
                                        </p:attrNameLst>
                                      </p:cBhvr>
                                      <p:to>
                                        <p:strVal val="visible"/>
                                      </p:to>
                                    </p:set>
                                    <p:animEffect transition="in" filter="dissolve">
                                      <p:cBhvr>
                                        <p:cTn id="7" dur="500"/>
                                        <p:tgtEl>
                                          <p:spTgt spid="51251"/>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51247"/>
                                        </p:tgtEl>
                                        <p:attrNameLst>
                                          <p:attrName>style.visibility</p:attrName>
                                        </p:attrNameLst>
                                      </p:cBhvr>
                                      <p:to>
                                        <p:strVal val="visible"/>
                                      </p:to>
                                    </p:set>
                                    <p:animEffect transition="in" filter="wipe(left)">
                                      <p:cBhvr>
                                        <p:cTn id="11" dur="500"/>
                                        <p:tgtEl>
                                          <p:spTgt spid="5124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51252">
                                            <p:txEl>
                                              <p:pRg st="0" end="0"/>
                                            </p:txEl>
                                          </p:spTgt>
                                        </p:tgtEl>
                                        <p:attrNameLst>
                                          <p:attrName>style.visibility</p:attrName>
                                        </p:attrNameLst>
                                      </p:cBhvr>
                                      <p:to>
                                        <p:strVal val="visible"/>
                                      </p:to>
                                    </p:set>
                                    <p:animEffect transition="in" filter="wipe(left)">
                                      <p:cBhvr>
                                        <p:cTn id="16" dur="500"/>
                                        <p:tgtEl>
                                          <p:spTgt spid="51252">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51252">
                                            <p:txEl>
                                              <p:pRg st="1" end="1"/>
                                            </p:txEl>
                                          </p:spTgt>
                                        </p:tgtEl>
                                        <p:attrNameLst>
                                          <p:attrName>style.visibility</p:attrName>
                                        </p:attrNameLst>
                                      </p:cBhvr>
                                      <p:to>
                                        <p:strVal val="visible"/>
                                      </p:to>
                                    </p:set>
                                    <p:animEffect transition="in" filter="wipe(left)">
                                      <p:cBhvr>
                                        <p:cTn id="21" dur="500"/>
                                        <p:tgtEl>
                                          <p:spTgt spid="51252">
                                            <p:txEl>
                                              <p:pRg st="1" end="1"/>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51252">
                                            <p:txEl>
                                              <p:pRg st="2" end="2"/>
                                            </p:txEl>
                                          </p:spTgt>
                                        </p:tgtEl>
                                        <p:attrNameLst>
                                          <p:attrName>style.visibility</p:attrName>
                                        </p:attrNameLst>
                                      </p:cBhvr>
                                      <p:to>
                                        <p:strVal val="visible"/>
                                      </p:to>
                                    </p:set>
                                    <p:animEffect transition="in" filter="wipe(left)">
                                      <p:cBhvr>
                                        <p:cTn id="26" dur="500"/>
                                        <p:tgtEl>
                                          <p:spTgt spid="51252">
                                            <p:txEl>
                                              <p:pRg st="2" end="2"/>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51243"/>
                                        </p:tgtEl>
                                        <p:attrNameLst>
                                          <p:attrName>style.visibility</p:attrName>
                                        </p:attrNameLst>
                                      </p:cBhvr>
                                      <p:to>
                                        <p:strVal val="visible"/>
                                      </p:to>
                                    </p:set>
                                    <p:animEffect transition="in" filter="dissolve">
                                      <p:cBhvr>
                                        <p:cTn id="31" dur="500"/>
                                        <p:tgtEl>
                                          <p:spTgt spid="51243"/>
                                        </p:tgtEl>
                                      </p:cBhvr>
                                    </p:animEffect>
                                  </p:childTnLst>
                                </p:cTn>
                              </p:par>
                              <p:par>
                                <p:cTn id="32" presetID="9" presetClass="entr" presetSubtype="0" fill="hold" nodeType="withEffect">
                                  <p:stCondLst>
                                    <p:cond delay="0"/>
                                  </p:stCondLst>
                                  <p:childTnLst>
                                    <p:set>
                                      <p:cBhvr>
                                        <p:cTn id="33" dur="1" fill="hold">
                                          <p:stCondLst>
                                            <p:cond delay="0"/>
                                          </p:stCondLst>
                                        </p:cTn>
                                        <p:tgtEl>
                                          <p:spTgt spid="51240"/>
                                        </p:tgtEl>
                                        <p:attrNameLst>
                                          <p:attrName>style.visibility</p:attrName>
                                        </p:attrNameLst>
                                      </p:cBhvr>
                                      <p:to>
                                        <p:strVal val="visible"/>
                                      </p:to>
                                    </p:set>
                                    <p:animEffect transition="in" filter="dissolve">
                                      <p:cBhvr>
                                        <p:cTn id="34" dur="500"/>
                                        <p:tgtEl>
                                          <p:spTgt spid="5124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9" presetClass="entr" presetSubtype="0" fill="hold" nodeType="clickEffect">
                                  <p:stCondLst>
                                    <p:cond delay="0"/>
                                  </p:stCondLst>
                                  <p:childTnLst>
                                    <p:set>
                                      <p:cBhvr>
                                        <p:cTn id="38" dur="1" fill="hold">
                                          <p:stCondLst>
                                            <p:cond delay="0"/>
                                          </p:stCondLst>
                                        </p:cTn>
                                        <p:tgtEl>
                                          <p:spTgt spid="51244"/>
                                        </p:tgtEl>
                                        <p:attrNameLst>
                                          <p:attrName>style.visibility</p:attrName>
                                        </p:attrNameLst>
                                      </p:cBhvr>
                                      <p:to>
                                        <p:strVal val="visible"/>
                                      </p:to>
                                    </p:set>
                                    <p:animEffect transition="in" filter="dissolve">
                                      <p:cBhvr>
                                        <p:cTn id="39" dur="500"/>
                                        <p:tgtEl>
                                          <p:spTgt spid="51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3" grpId="0" autoUpdateAnimBg="0"/>
      <p:bldP spid="51251" grpId="0" bldLvl="0" animBg="1" autoUpdateAnimBg="0"/>
      <p:bldP spid="51252"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F89D2670-0E7D-E68C-1885-B64732C230FE}"/>
              </a:ext>
            </a:extLst>
          </p:cNvPr>
          <p:cNvSpPr>
            <a:spLocks noGrp="1"/>
          </p:cNvSpPr>
          <p:nvPr>
            <p:ph type="sldNum" sz="quarter" idx="11"/>
          </p:nvPr>
        </p:nvSpPr>
        <p:spPr/>
        <p:txBody>
          <a:bodyPr/>
          <a:lstStyle/>
          <a:p>
            <a:pPr defTabSz="461040" fontAlgn="base">
              <a:spcBef>
                <a:spcPct val="0"/>
              </a:spcBef>
              <a:spcAft>
                <a:spcPct val="0"/>
              </a:spcAft>
            </a:pPr>
            <a:fld id="{8CDA2E83-CADE-4345-8C9D-A2DBC081BE8B}" type="slidenum">
              <a:rPr lang="zh-CN" altLang="zh-CN">
                <a:latin typeface="Arial" panose="020B0604020202020204" pitchFamily="34" charset="0"/>
              </a:rPr>
              <a:pPr defTabSz="461040" fontAlgn="base">
                <a:spcBef>
                  <a:spcPct val="0"/>
                </a:spcBef>
                <a:spcAft>
                  <a:spcPct val="0"/>
                </a:spcAft>
              </a:pPr>
              <a:t>51</a:t>
            </a:fld>
            <a:endParaRPr lang="en-US" altLang="zh-CN">
              <a:latin typeface="Arial" panose="020B0604020202020204" pitchFamily="34" charset="0"/>
            </a:endParaRPr>
          </a:p>
        </p:txBody>
      </p:sp>
      <p:sp>
        <p:nvSpPr>
          <p:cNvPr id="53250" name="Rectangle 2">
            <a:extLst>
              <a:ext uri="{FF2B5EF4-FFF2-40B4-BE49-F238E27FC236}">
                <a16:creationId xmlns:a16="http://schemas.microsoft.com/office/drawing/2014/main" id="{E5B45140-B048-6FCD-CB8E-F849DD5FB844}"/>
              </a:ext>
            </a:extLst>
          </p:cNvPr>
          <p:cNvSpPr>
            <a:spLocks noGrp="1" noChangeArrowheads="1"/>
          </p:cNvSpPr>
          <p:nvPr>
            <p:ph type="title" idx="4294967295"/>
          </p:nvPr>
        </p:nvSpPr>
        <p:spPr>
          <a:xfrm>
            <a:off x="201692" y="125644"/>
            <a:ext cx="3402350" cy="286531"/>
          </a:xfrm>
        </p:spPr>
        <p:txBody>
          <a:bodyPr/>
          <a:lstStyle/>
          <a:p>
            <a:pPr algn="l"/>
            <a:r>
              <a:rPr lang="zh-CN" altLang="zh-CN" sz="1815">
                <a:ea typeface="宋体" panose="02010600030101010101" pitchFamily="2" charset="-122"/>
              </a:rPr>
              <a:t>例</a:t>
            </a:r>
            <a:r>
              <a:rPr lang="en-US" altLang="zh-CN" sz="1815">
                <a:ea typeface="宋体" panose="02010600030101010101" pitchFamily="2" charset="-122"/>
              </a:rPr>
              <a:t>:</a:t>
            </a:r>
          </a:p>
        </p:txBody>
      </p:sp>
      <p:sp>
        <p:nvSpPr>
          <p:cNvPr id="53251" name="Rectangle 3">
            <a:extLst>
              <a:ext uri="{FF2B5EF4-FFF2-40B4-BE49-F238E27FC236}">
                <a16:creationId xmlns:a16="http://schemas.microsoft.com/office/drawing/2014/main" id="{94F1E3C8-0F24-F734-F898-5E4C9E884498}"/>
              </a:ext>
            </a:extLst>
          </p:cNvPr>
          <p:cNvSpPr>
            <a:spLocks noGrp="1" noChangeArrowheads="1"/>
          </p:cNvSpPr>
          <p:nvPr>
            <p:ph type="body" idx="4294967295"/>
          </p:nvPr>
        </p:nvSpPr>
        <p:spPr>
          <a:xfrm>
            <a:off x="235307" y="1812012"/>
            <a:ext cx="4063451" cy="1363821"/>
          </a:xfrm>
        </p:spPr>
        <p:txBody>
          <a:bodyPr/>
          <a:lstStyle/>
          <a:p>
            <a:pPr marL="173691" indent="-173691">
              <a:lnSpc>
                <a:spcPct val="85000"/>
              </a:lnSpc>
              <a:spcBef>
                <a:spcPct val="30000"/>
              </a:spcBef>
              <a:buNone/>
              <a:tabLst>
                <a:tab pos="2450078" algn="l"/>
              </a:tabLst>
            </a:pPr>
            <a:r>
              <a:rPr lang="zh-CN" altLang="zh-CN">
                <a:ea typeface="宋体" panose="02010600030101010101" pitchFamily="2" charset="-122"/>
              </a:rPr>
              <a:t>每年,</a:t>
            </a:r>
          </a:p>
          <a:p>
            <a:pPr marL="173691" indent="-173691">
              <a:lnSpc>
                <a:spcPct val="85000"/>
              </a:lnSpc>
              <a:spcBef>
                <a:spcPct val="30000"/>
              </a:spcBef>
              <a:tabLst>
                <a:tab pos="2450078" algn="l"/>
              </a:tabLst>
            </a:pPr>
            <a:r>
              <a:rPr lang="zh-CN" altLang="zh-CN">
                <a:ea typeface="宋体" panose="02010600030101010101" pitchFamily="2" charset="-122"/>
              </a:rPr>
              <a:t>名义GDP是用当期价格来衡量</a:t>
            </a:r>
          </a:p>
          <a:p>
            <a:pPr marL="173691" indent="-173691">
              <a:lnSpc>
                <a:spcPct val="85000"/>
              </a:lnSpc>
              <a:spcBef>
                <a:spcPct val="30000"/>
              </a:spcBef>
              <a:tabLst>
                <a:tab pos="2450078" algn="l"/>
              </a:tabLst>
            </a:pPr>
            <a:r>
              <a:rPr lang="zh-CN" altLang="zh-CN">
                <a:ea typeface="宋体" panose="02010600030101010101" pitchFamily="2" charset="-122"/>
              </a:rPr>
              <a:t>真实GDP是用不变的基年价格来衡量（本例中以2005年作为基年）</a:t>
            </a:r>
          </a:p>
        </p:txBody>
      </p:sp>
      <p:graphicFrame>
        <p:nvGraphicFramePr>
          <p:cNvPr id="53252" name="Group 4">
            <a:extLst>
              <a:ext uri="{FF2B5EF4-FFF2-40B4-BE49-F238E27FC236}">
                <a16:creationId xmlns:a16="http://schemas.microsoft.com/office/drawing/2014/main" id="{B7FB295E-4330-5E4B-17E2-2F1E6EE2802C}"/>
              </a:ext>
            </a:extLst>
          </p:cNvPr>
          <p:cNvGraphicFramePr>
            <a:graphicFrameLocks noGrp="1"/>
          </p:cNvGraphicFramePr>
          <p:nvPr/>
        </p:nvGraphicFramePr>
        <p:xfrm>
          <a:off x="221701" y="427382"/>
          <a:ext cx="3850553" cy="1234964"/>
        </p:xfrm>
        <a:graphic>
          <a:graphicData uri="http://schemas.openxmlformats.org/drawingml/2006/table">
            <a:tbl>
              <a:tblPr/>
              <a:tblGrid>
                <a:gridCol w="530641">
                  <a:extLst>
                    <a:ext uri="{9D8B030D-6E8A-4147-A177-3AD203B41FA5}">
                      <a16:colId xmlns:a16="http://schemas.microsoft.com/office/drawing/2014/main" val="3952339410"/>
                    </a:ext>
                  </a:extLst>
                </a:gridCol>
                <a:gridCol w="827577">
                  <a:extLst>
                    <a:ext uri="{9D8B030D-6E8A-4147-A177-3AD203B41FA5}">
                      <a16:colId xmlns:a16="http://schemas.microsoft.com/office/drawing/2014/main" val="1310332183"/>
                    </a:ext>
                  </a:extLst>
                </a:gridCol>
                <a:gridCol w="551451">
                  <a:extLst>
                    <a:ext uri="{9D8B030D-6E8A-4147-A177-3AD203B41FA5}">
                      <a16:colId xmlns:a16="http://schemas.microsoft.com/office/drawing/2014/main" val="2591857417"/>
                    </a:ext>
                  </a:extLst>
                </a:gridCol>
                <a:gridCol w="649896">
                  <a:extLst>
                    <a:ext uri="{9D8B030D-6E8A-4147-A177-3AD203B41FA5}">
                      <a16:colId xmlns:a16="http://schemas.microsoft.com/office/drawing/2014/main" val="549676882"/>
                    </a:ext>
                  </a:extLst>
                </a:gridCol>
                <a:gridCol w="1290988">
                  <a:extLst>
                    <a:ext uri="{9D8B030D-6E8A-4147-A177-3AD203B41FA5}">
                      <a16:colId xmlns:a16="http://schemas.microsoft.com/office/drawing/2014/main" val="3698208086"/>
                    </a:ext>
                  </a:extLst>
                </a:gridCol>
              </a:tblGrid>
              <a:tr h="466613">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年份</a:t>
                      </a: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名义 </a:t>
                      </a:r>
                      <a:b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b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GDP</a:t>
                      </a: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真实</a:t>
                      </a:r>
                      <a:b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b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GDP</a:t>
                      </a: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63882224"/>
                  </a:ext>
                </a:extLst>
              </a:tr>
              <a:tr h="256117">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2005</a:t>
                      </a:r>
                    </a:p>
                  </a:txBody>
                  <a:tcPr marL="46101" marR="46101" marT="23051" marB="23051"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$6000</a:t>
                      </a:r>
                    </a:p>
                  </a:txBody>
                  <a:tcPr marL="46101" marR="115253" marT="23051" marB="23051"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$6000</a:t>
                      </a:r>
                    </a:p>
                  </a:txBody>
                  <a:tcPr marL="46101" marR="46101" marT="23051" marB="23051"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906729967"/>
                  </a:ext>
                </a:extLst>
              </a:tr>
              <a:tr h="256117">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2006</a:t>
                      </a: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$8250</a:t>
                      </a:r>
                    </a:p>
                  </a:txBody>
                  <a:tcPr marL="46101" marR="115253" marT="23051" marB="23051" anchor="ctr"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$7200</a:t>
                      </a: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29988184"/>
                  </a:ext>
                </a:extLst>
              </a:tr>
              <a:tr h="256117">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2007</a:t>
                      </a: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$10,800</a:t>
                      </a:r>
                    </a:p>
                  </a:txBody>
                  <a:tcPr marL="46101" marR="115253" marT="23051" marB="23051" anchor="ctr"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$8400</a:t>
                      </a: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2595162078"/>
                  </a:ext>
                </a:extLst>
              </a:tr>
            </a:tbl>
          </a:graphicData>
        </a:graphic>
      </p:graphicFrame>
      <p:sp>
        <p:nvSpPr>
          <p:cNvPr id="4" name="页脚占位符 1">
            <a:extLst>
              <a:ext uri="{FF2B5EF4-FFF2-40B4-BE49-F238E27FC236}">
                <a16:creationId xmlns:a16="http://schemas.microsoft.com/office/drawing/2014/main" id="{89389C0B-CDB8-F064-F028-3B0C2859B185}"/>
              </a:ext>
            </a:extLst>
          </p:cNvPr>
          <p:cNvSpPr>
            <a:spLocks noGrp="1"/>
          </p:cNvSpPr>
          <p:nvPr>
            <p:ph type="ftr" sz="quarter" idx="10"/>
          </p:nvPr>
        </p:nvSpPr>
        <p:spPr>
          <a:xfrm>
            <a:off x="144066" y="3226028"/>
            <a:ext cx="3698485" cy="185054"/>
          </a:xfrm>
        </p:spPr>
        <p:txBody>
          <a:bodyPr/>
          <a:lstStyle/>
          <a:p>
            <a:pPr defTabSz="461040" fontAlgn="base">
              <a:spcBef>
                <a:spcPct val="0"/>
              </a:spcBef>
              <a:spcAft>
                <a:spcPct val="0"/>
              </a:spcAft>
            </a:pPr>
            <a:r>
              <a:rPr lang="zh-CN" altLang="en-US" sz="908" dirty="0">
                <a:latin typeface="Arial" panose="020B0604020202020204" pitchFamily="34" charset="0"/>
              </a:rPr>
              <a:t>国内生产总值</a:t>
            </a:r>
            <a:endParaRPr lang="zh-CN" altLang="zh-CN" sz="908" dirty="0">
              <a:latin typeface="Arial" panose="020B0604020202020204" pitchFamily="34" charset="0"/>
            </a:endParaRPr>
          </a:p>
        </p:txBody>
      </p:sp>
    </p:spTree>
  </p:cSld>
  <p:clrMapOvr>
    <a:masterClrMapping/>
  </p:clrMapOvr>
  <p:transition>
    <p:wipe dir="r"/>
  </p:transition>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8500A038-7212-7857-4C78-D2863D5F8150}"/>
              </a:ext>
            </a:extLst>
          </p:cNvPr>
          <p:cNvSpPr>
            <a:spLocks noGrp="1"/>
          </p:cNvSpPr>
          <p:nvPr>
            <p:ph type="sldNum" sz="quarter" idx="11"/>
          </p:nvPr>
        </p:nvSpPr>
        <p:spPr/>
        <p:txBody>
          <a:bodyPr/>
          <a:lstStyle/>
          <a:p>
            <a:pPr defTabSz="461040" fontAlgn="base">
              <a:spcBef>
                <a:spcPct val="0"/>
              </a:spcBef>
              <a:spcAft>
                <a:spcPct val="0"/>
              </a:spcAft>
            </a:pPr>
            <a:fld id="{AD22016C-62BF-D740-8450-98AA711E9D41}" type="slidenum">
              <a:rPr lang="zh-CN" altLang="zh-CN">
                <a:latin typeface="Arial" panose="020B0604020202020204" pitchFamily="34" charset="0"/>
              </a:rPr>
              <a:pPr defTabSz="461040" fontAlgn="base">
                <a:spcBef>
                  <a:spcPct val="0"/>
                </a:spcBef>
                <a:spcAft>
                  <a:spcPct val="0"/>
                </a:spcAft>
              </a:pPr>
              <a:t>52</a:t>
            </a:fld>
            <a:endParaRPr lang="en-US" altLang="zh-CN">
              <a:latin typeface="Arial" panose="020B0604020202020204" pitchFamily="34" charset="0"/>
            </a:endParaRPr>
          </a:p>
        </p:txBody>
      </p:sp>
      <p:sp>
        <p:nvSpPr>
          <p:cNvPr id="55298" name="Rectangle 2">
            <a:extLst>
              <a:ext uri="{FF2B5EF4-FFF2-40B4-BE49-F238E27FC236}">
                <a16:creationId xmlns:a16="http://schemas.microsoft.com/office/drawing/2014/main" id="{6D04F754-48A6-749B-D352-50DDF9410F18}"/>
              </a:ext>
            </a:extLst>
          </p:cNvPr>
          <p:cNvSpPr>
            <a:spLocks noGrp="1" noChangeArrowheads="1"/>
          </p:cNvSpPr>
          <p:nvPr>
            <p:ph type="title" idx="4294967295"/>
          </p:nvPr>
        </p:nvSpPr>
        <p:spPr>
          <a:xfrm>
            <a:off x="201692" y="125644"/>
            <a:ext cx="3402350" cy="286531"/>
          </a:xfrm>
        </p:spPr>
        <p:txBody>
          <a:bodyPr/>
          <a:lstStyle/>
          <a:p>
            <a:pPr algn="l"/>
            <a:r>
              <a:rPr lang="zh-CN" altLang="zh-CN" sz="1815">
                <a:ea typeface="宋体" panose="02010600030101010101" pitchFamily="2" charset="-122"/>
              </a:rPr>
              <a:t>例：</a:t>
            </a:r>
            <a:endParaRPr lang="zh-CN" altLang="en-US" sz="1815">
              <a:ea typeface="宋体" panose="02010600030101010101" pitchFamily="2" charset="-122"/>
            </a:endParaRPr>
          </a:p>
        </p:txBody>
      </p:sp>
      <p:sp>
        <p:nvSpPr>
          <p:cNvPr id="55299" name="Rectangle 3">
            <a:extLst>
              <a:ext uri="{FF2B5EF4-FFF2-40B4-BE49-F238E27FC236}">
                <a16:creationId xmlns:a16="http://schemas.microsoft.com/office/drawing/2014/main" id="{B0C47B36-F2A8-D208-C611-E02C0383CFA7}"/>
              </a:ext>
            </a:extLst>
          </p:cNvPr>
          <p:cNvSpPr>
            <a:spLocks noGrp="1" noChangeArrowheads="1"/>
          </p:cNvSpPr>
          <p:nvPr>
            <p:ph type="body" idx="4294967295"/>
          </p:nvPr>
        </p:nvSpPr>
        <p:spPr>
          <a:xfrm>
            <a:off x="187286" y="1739979"/>
            <a:ext cx="4058649" cy="544248"/>
          </a:xfrm>
        </p:spPr>
        <p:txBody>
          <a:bodyPr/>
          <a:lstStyle/>
          <a:p>
            <a:pPr marL="144075" indent="-144075">
              <a:lnSpc>
                <a:spcPct val="85000"/>
              </a:lnSpc>
              <a:spcBef>
                <a:spcPct val="50000"/>
              </a:spcBef>
              <a:tabLst>
                <a:tab pos="2450078" algn="l"/>
              </a:tabLst>
            </a:pPr>
            <a:r>
              <a:rPr lang="zh-CN" altLang="zh-CN">
                <a:ea typeface="宋体" panose="02010600030101010101" pitchFamily="2" charset="-122"/>
              </a:rPr>
              <a:t>名义GDP的变化反映了价格与产量的变化  </a:t>
            </a:r>
          </a:p>
        </p:txBody>
      </p:sp>
      <p:graphicFrame>
        <p:nvGraphicFramePr>
          <p:cNvPr id="55300" name="Group 4">
            <a:extLst>
              <a:ext uri="{FF2B5EF4-FFF2-40B4-BE49-F238E27FC236}">
                <a16:creationId xmlns:a16="http://schemas.microsoft.com/office/drawing/2014/main" id="{1B3CEC70-02C4-014A-2218-59062692A9CC}"/>
              </a:ext>
            </a:extLst>
          </p:cNvPr>
          <p:cNvGraphicFramePr>
            <a:graphicFrameLocks noGrp="1"/>
          </p:cNvGraphicFramePr>
          <p:nvPr/>
        </p:nvGraphicFramePr>
        <p:xfrm>
          <a:off x="221701" y="427382"/>
          <a:ext cx="3850554" cy="1234964"/>
        </p:xfrm>
        <a:graphic>
          <a:graphicData uri="http://schemas.openxmlformats.org/drawingml/2006/table">
            <a:tbl>
              <a:tblPr/>
              <a:tblGrid>
                <a:gridCol w="530641">
                  <a:extLst>
                    <a:ext uri="{9D8B030D-6E8A-4147-A177-3AD203B41FA5}">
                      <a16:colId xmlns:a16="http://schemas.microsoft.com/office/drawing/2014/main" val="1960849517"/>
                    </a:ext>
                  </a:extLst>
                </a:gridCol>
                <a:gridCol w="828378">
                  <a:extLst>
                    <a:ext uri="{9D8B030D-6E8A-4147-A177-3AD203B41FA5}">
                      <a16:colId xmlns:a16="http://schemas.microsoft.com/office/drawing/2014/main" val="268861235"/>
                    </a:ext>
                  </a:extLst>
                </a:gridCol>
                <a:gridCol w="550651">
                  <a:extLst>
                    <a:ext uri="{9D8B030D-6E8A-4147-A177-3AD203B41FA5}">
                      <a16:colId xmlns:a16="http://schemas.microsoft.com/office/drawing/2014/main" val="2625988045"/>
                    </a:ext>
                  </a:extLst>
                </a:gridCol>
                <a:gridCol w="649896">
                  <a:extLst>
                    <a:ext uri="{9D8B030D-6E8A-4147-A177-3AD203B41FA5}">
                      <a16:colId xmlns:a16="http://schemas.microsoft.com/office/drawing/2014/main" val="1237973824"/>
                    </a:ext>
                  </a:extLst>
                </a:gridCol>
                <a:gridCol w="1290988">
                  <a:extLst>
                    <a:ext uri="{9D8B030D-6E8A-4147-A177-3AD203B41FA5}">
                      <a16:colId xmlns:a16="http://schemas.microsoft.com/office/drawing/2014/main" val="1412501767"/>
                    </a:ext>
                  </a:extLst>
                </a:gridCol>
              </a:tblGrid>
              <a:tr h="466613">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年份</a:t>
                      </a: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名义 </a:t>
                      </a:r>
                      <a:b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b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GDP</a:t>
                      </a: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真实</a:t>
                      </a:r>
                      <a:b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b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GDP</a:t>
                      </a: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69996053"/>
                  </a:ext>
                </a:extLst>
              </a:tr>
              <a:tr h="256117">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2005</a:t>
                      </a:r>
                    </a:p>
                  </a:txBody>
                  <a:tcPr marL="46101" marR="46101" marT="23051" marB="23051"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$6000</a:t>
                      </a:r>
                    </a:p>
                  </a:txBody>
                  <a:tcPr marL="46101" marR="115253" marT="23051" marB="23051"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$6000</a:t>
                      </a:r>
                    </a:p>
                  </a:txBody>
                  <a:tcPr marL="46101" marR="46101" marT="23051" marB="23051"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2914903681"/>
                  </a:ext>
                </a:extLst>
              </a:tr>
              <a:tr h="256117">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2006</a:t>
                      </a: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$8250</a:t>
                      </a:r>
                    </a:p>
                  </a:txBody>
                  <a:tcPr marL="46101" marR="115253" marT="23051" marB="23051" anchor="ctr"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$7200</a:t>
                      </a: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3657225318"/>
                  </a:ext>
                </a:extLst>
              </a:tr>
              <a:tr h="256117">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2007</a:t>
                      </a: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$10,800</a:t>
                      </a:r>
                    </a:p>
                  </a:txBody>
                  <a:tcPr marL="46101" marR="115253" marT="23051" marB="23051" anchor="ctr"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$8400</a:t>
                      </a: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4220414196"/>
                  </a:ext>
                </a:extLst>
              </a:tr>
            </a:tbl>
          </a:graphicData>
        </a:graphic>
      </p:graphicFrame>
      <p:grpSp>
        <p:nvGrpSpPr>
          <p:cNvPr id="55322" name="Group 26">
            <a:extLst>
              <a:ext uri="{FF2B5EF4-FFF2-40B4-BE49-F238E27FC236}">
                <a16:creationId xmlns:a16="http://schemas.microsoft.com/office/drawing/2014/main" id="{9EB5526F-AFA0-F9F3-788F-7A066617415F}"/>
              </a:ext>
            </a:extLst>
          </p:cNvPr>
          <p:cNvGrpSpPr>
            <a:grpSpLocks/>
          </p:cNvGrpSpPr>
          <p:nvPr/>
        </p:nvGrpSpPr>
        <p:grpSpPr bwMode="auto">
          <a:xfrm>
            <a:off x="2694027" y="1006846"/>
            <a:ext cx="649896" cy="597072"/>
            <a:chOff x="0" y="0"/>
            <a:chExt cx="812" cy="746"/>
          </a:xfrm>
        </p:grpSpPr>
        <p:grpSp>
          <p:nvGrpSpPr>
            <p:cNvPr id="55323" name="Group 27">
              <a:extLst>
                <a:ext uri="{FF2B5EF4-FFF2-40B4-BE49-F238E27FC236}">
                  <a16:creationId xmlns:a16="http://schemas.microsoft.com/office/drawing/2014/main" id="{9D08A8A9-C080-8808-AADD-B39ED7D5D72C}"/>
                </a:ext>
              </a:extLst>
            </p:cNvPr>
            <p:cNvGrpSpPr>
              <a:grpSpLocks/>
            </p:cNvGrpSpPr>
            <p:nvPr/>
          </p:nvGrpSpPr>
          <p:grpSpPr bwMode="auto">
            <a:xfrm>
              <a:off x="4" y="0"/>
              <a:ext cx="808" cy="385"/>
              <a:chOff x="0" y="0"/>
              <a:chExt cx="865" cy="481"/>
            </a:xfrm>
          </p:grpSpPr>
          <p:sp>
            <p:nvSpPr>
              <p:cNvPr id="55324" name="Text Box 44">
                <a:extLst>
                  <a:ext uri="{FF2B5EF4-FFF2-40B4-BE49-F238E27FC236}">
                    <a16:creationId xmlns:a16="http://schemas.microsoft.com/office/drawing/2014/main" id="{E099DEDF-227F-C8AC-A071-83860A646C41}"/>
                  </a:ext>
                </a:extLst>
              </p:cNvPr>
              <p:cNvSpPr txBox="1">
                <a:spLocks noChangeArrowheads="1"/>
              </p:cNvSpPr>
              <p:nvPr/>
            </p:nvSpPr>
            <p:spPr bwMode="auto">
              <a:xfrm>
                <a:off x="193" y="33"/>
                <a:ext cx="672" cy="448"/>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23051" rIns="23051">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50000"/>
                  </a:spcBef>
                  <a:spcAft>
                    <a:spcPct val="0"/>
                  </a:spcAft>
                </a:pPr>
                <a:r>
                  <a:rPr lang="en-US" altLang="zh-CN" sz="1261">
                    <a:solidFill>
                      <a:srgbClr val="000000"/>
                    </a:solidFill>
                    <a:ea typeface="宋体" panose="02010600030101010101" pitchFamily="2" charset="-122"/>
                  </a:rPr>
                  <a:t>20.0%</a:t>
                </a:r>
              </a:p>
            </p:txBody>
          </p:sp>
          <p:sp>
            <p:nvSpPr>
              <p:cNvPr id="55325" name="AutoShape 45">
                <a:extLst>
                  <a:ext uri="{FF2B5EF4-FFF2-40B4-BE49-F238E27FC236}">
                    <a16:creationId xmlns:a16="http://schemas.microsoft.com/office/drawing/2014/main" id="{29AF8288-711F-74EA-CB2A-C05144EDCF7B}"/>
                  </a:ext>
                </a:extLst>
              </p:cNvPr>
              <p:cNvSpPr>
                <a:spLocks/>
              </p:cNvSpPr>
              <p:nvPr/>
            </p:nvSpPr>
            <p:spPr bwMode="auto">
              <a:xfrm>
                <a:off x="0" y="0"/>
                <a:ext cx="156" cy="414"/>
              </a:xfrm>
              <a:prstGeom prst="rightBrace">
                <a:avLst>
                  <a:gd name="adj1" fmla="val 22115"/>
                  <a:gd name="adj2" fmla="val 50000"/>
                </a:avLst>
              </a:prstGeom>
              <a:noFill/>
              <a:ln w="19050">
                <a:solidFill>
                  <a:srgbClr val="8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grpSp>
          <p:nvGrpSpPr>
            <p:cNvPr id="55326" name="Group 30">
              <a:extLst>
                <a:ext uri="{FF2B5EF4-FFF2-40B4-BE49-F238E27FC236}">
                  <a16:creationId xmlns:a16="http://schemas.microsoft.com/office/drawing/2014/main" id="{AA099075-E005-BAD8-D91A-93877DFFF3E0}"/>
                </a:ext>
              </a:extLst>
            </p:cNvPr>
            <p:cNvGrpSpPr>
              <a:grpSpLocks/>
            </p:cNvGrpSpPr>
            <p:nvPr/>
          </p:nvGrpSpPr>
          <p:grpSpPr bwMode="auto">
            <a:xfrm>
              <a:off x="0" y="330"/>
              <a:ext cx="812" cy="416"/>
              <a:chOff x="0" y="0"/>
              <a:chExt cx="851" cy="465"/>
            </a:xfrm>
          </p:grpSpPr>
          <p:sp>
            <p:nvSpPr>
              <p:cNvPr id="55327" name="Text Box 47">
                <a:extLst>
                  <a:ext uri="{FF2B5EF4-FFF2-40B4-BE49-F238E27FC236}">
                    <a16:creationId xmlns:a16="http://schemas.microsoft.com/office/drawing/2014/main" id="{3A443FD6-97A5-DAF0-CE26-4162835F9162}"/>
                  </a:ext>
                </a:extLst>
              </p:cNvPr>
              <p:cNvSpPr txBox="1">
                <a:spLocks noChangeArrowheads="1"/>
              </p:cNvSpPr>
              <p:nvPr/>
            </p:nvSpPr>
            <p:spPr bwMode="auto">
              <a:xfrm>
                <a:off x="196" y="65"/>
                <a:ext cx="655" cy="400"/>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23051" rIns="23051">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50000"/>
                  </a:spcBef>
                  <a:spcAft>
                    <a:spcPct val="0"/>
                  </a:spcAft>
                </a:pPr>
                <a:r>
                  <a:rPr lang="en-US" altLang="zh-CN" sz="1261">
                    <a:solidFill>
                      <a:srgbClr val="000000"/>
                    </a:solidFill>
                    <a:ea typeface="宋体" panose="02010600030101010101" pitchFamily="2" charset="-122"/>
                  </a:rPr>
                  <a:t>16.7%</a:t>
                </a:r>
              </a:p>
            </p:txBody>
          </p:sp>
          <p:sp>
            <p:nvSpPr>
              <p:cNvPr id="55328" name="AutoShape 48">
                <a:extLst>
                  <a:ext uri="{FF2B5EF4-FFF2-40B4-BE49-F238E27FC236}">
                    <a16:creationId xmlns:a16="http://schemas.microsoft.com/office/drawing/2014/main" id="{CE3497C7-730C-BBF5-4140-A3D1541F13BA}"/>
                  </a:ext>
                </a:extLst>
              </p:cNvPr>
              <p:cNvSpPr>
                <a:spLocks/>
              </p:cNvSpPr>
              <p:nvPr/>
            </p:nvSpPr>
            <p:spPr bwMode="auto">
              <a:xfrm>
                <a:off x="0" y="0"/>
                <a:ext cx="156" cy="414"/>
              </a:xfrm>
              <a:prstGeom prst="rightBrace">
                <a:avLst>
                  <a:gd name="adj1" fmla="val 22115"/>
                  <a:gd name="adj2" fmla="val 50000"/>
                </a:avLst>
              </a:prstGeom>
              <a:noFill/>
              <a:ln w="19050">
                <a:solidFill>
                  <a:srgbClr val="8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grpSp>
      <p:grpSp>
        <p:nvGrpSpPr>
          <p:cNvPr id="55329" name="Group 33">
            <a:extLst>
              <a:ext uri="{FF2B5EF4-FFF2-40B4-BE49-F238E27FC236}">
                <a16:creationId xmlns:a16="http://schemas.microsoft.com/office/drawing/2014/main" id="{26B1765F-BD67-578D-D3AA-7DAD2DC31212}"/>
              </a:ext>
            </a:extLst>
          </p:cNvPr>
          <p:cNvGrpSpPr>
            <a:grpSpLocks/>
          </p:cNvGrpSpPr>
          <p:nvPr/>
        </p:nvGrpSpPr>
        <p:grpSpPr bwMode="auto">
          <a:xfrm>
            <a:off x="1479874" y="988437"/>
            <a:ext cx="652297" cy="619482"/>
            <a:chOff x="0" y="0"/>
            <a:chExt cx="815" cy="774"/>
          </a:xfrm>
        </p:grpSpPr>
        <p:grpSp>
          <p:nvGrpSpPr>
            <p:cNvPr id="55330" name="Group 34">
              <a:extLst>
                <a:ext uri="{FF2B5EF4-FFF2-40B4-BE49-F238E27FC236}">
                  <a16:creationId xmlns:a16="http://schemas.microsoft.com/office/drawing/2014/main" id="{0FA3BC8C-C142-12D9-7463-5F32BF236E64}"/>
                </a:ext>
              </a:extLst>
            </p:cNvPr>
            <p:cNvGrpSpPr>
              <a:grpSpLocks/>
            </p:cNvGrpSpPr>
            <p:nvPr/>
          </p:nvGrpSpPr>
          <p:grpSpPr bwMode="auto">
            <a:xfrm>
              <a:off x="0" y="0"/>
              <a:ext cx="809" cy="393"/>
              <a:chOff x="0" y="0"/>
              <a:chExt cx="854" cy="457"/>
            </a:xfrm>
          </p:grpSpPr>
          <p:sp>
            <p:nvSpPr>
              <p:cNvPr id="55331" name="Text Box 51">
                <a:extLst>
                  <a:ext uri="{FF2B5EF4-FFF2-40B4-BE49-F238E27FC236}">
                    <a16:creationId xmlns:a16="http://schemas.microsoft.com/office/drawing/2014/main" id="{0A05F171-505A-6E60-6A03-5B9CB73CBDB7}"/>
                  </a:ext>
                </a:extLst>
              </p:cNvPr>
              <p:cNvSpPr txBox="1">
                <a:spLocks noChangeArrowheads="1"/>
              </p:cNvSpPr>
              <p:nvPr/>
            </p:nvSpPr>
            <p:spPr bwMode="auto">
              <a:xfrm>
                <a:off x="182" y="41"/>
                <a:ext cx="672" cy="416"/>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23051" rIns="23051">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50000"/>
                  </a:spcBef>
                  <a:spcAft>
                    <a:spcPct val="0"/>
                  </a:spcAft>
                </a:pPr>
                <a:r>
                  <a:rPr lang="en-US" altLang="zh-CN" sz="1261">
                    <a:solidFill>
                      <a:srgbClr val="000000"/>
                    </a:solidFill>
                    <a:ea typeface="宋体" panose="02010600030101010101" pitchFamily="2" charset="-122"/>
                  </a:rPr>
                  <a:t>37.5%</a:t>
                </a:r>
              </a:p>
            </p:txBody>
          </p:sp>
          <p:sp>
            <p:nvSpPr>
              <p:cNvPr id="55332" name="AutoShape 52">
                <a:extLst>
                  <a:ext uri="{FF2B5EF4-FFF2-40B4-BE49-F238E27FC236}">
                    <a16:creationId xmlns:a16="http://schemas.microsoft.com/office/drawing/2014/main" id="{823B8E4A-604A-EE78-A6C9-076988308679}"/>
                  </a:ext>
                </a:extLst>
              </p:cNvPr>
              <p:cNvSpPr>
                <a:spLocks/>
              </p:cNvSpPr>
              <p:nvPr/>
            </p:nvSpPr>
            <p:spPr bwMode="auto">
              <a:xfrm>
                <a:off x="0" y="0"/>
                <a:ext cx="156" cy="426"/>
              </a:xfrm>
              <a:prstGeom prst="rightBrace">
                <a:avLst>
                  <a:gd name="adj1" fmla="val 22756"/>
                  <a:gd name="adj2" fmla="val 50000"/>
                </a:avLst>
              </a:prstGeom>
              <a:noFill/>
              <a:ln w="19050">
                <a:solidFill>
                  <a:srgbClr val="3333CC"/>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grpSp>
          <p:nvGrpSpPr>
            <p:cNvPr id="55333" name="Group 37">
              <a:extLst>
                <a:ext uri="{FF2B5EF4-FFF2-40B4-BE49-F238E27FC236}">
                  <a16:creationId xmlns:a16="http://schemas.microsoft.com/office/drawing/2014/main" id="{CCE1427C-8488-4D4D-9DF7-2BAC573B79A3}"/>
                </a:ext>
              </a:extLst>
            </p:cNvPr>
            <p:cNvGrpSpPr>
              <a:grpSpLocks/>
            </p:cNvGrpSpPr>
            <p:nvPr/>
          </p:nvGrpSpPr>
          <p:grpSpPr bwMode="auto">
            <a:xfrm>
              <a:off x="3" y="364"/>
              <a:ext cx="812" cy="410"/>
              <a:chOff x="0" y="0"/>
              <a:chExt cx="842" cy="499"/>
            </a:xfrm>
          </p:grpSpPr>
          <p:sp>
            <p:nvSpPr>
              <p:cNvPr id="55334" name="Text Box 54">
                <a:extLst>
                  <a:ext uri="{FF2B5EF4-FFF2-40B4-BE49-F238E27FC236}">
                    <a16:creationId xmlns:a16="http://schemas.microsoft.com/office/drawing/2014/main" id="{92FDAFC3-63A6-ABD8-BC29-3C57F28BDED4}"/>
                  </a:ext>
                </a:extLst>
              </p:cNvPr>
              <p:cNvSpPr txBox="1">
                <a:spLocks noChangeArrowheads="1"/>
              </p:cNvSpPr>
              <p:nvPr/>
            </p:nvSpPr>
            <p:spPr bwMode="auto">
              <a:xfrm>
                <a:off x="187" y="64"/>
                <a:ext cx="655" cy="43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23051" rIns="23051">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50000"/>
                  </a:spcBef>
                  <a:spcAft>
                    <a:spcPct val="0"/>
                  </a:spcAft>
                </a:pPr>
                <a:r>
                  <a:rPr lang="en-US" altLang="zh-CN" sz="1261">
                    <a:solidFill>
                      <a:srgbClr val="000000"/>
                    </a:solidFill>
                    <a:ea typeface="宋体" panose="02010600030101010101" pitchFamily="2" charset="-122"/>
                  </a:rPr>
                  <a:t>30.9%</a:t>
                </a:r>
              </a:p>
            </p:txBody>
          </p:sp>
          <p:sp>
            <p:nvSpPr>
              <p:cNvPr id="55335" name="AutoShape 55">
                <a:extLst>
                  <a:ext uri="{FF2B5EF4-FFF2-40B4-BE49-F238E27FC236}">
                    <a16:creationId xmlns:a16="http://schemas.microsoft.com/office/drawing/2014/main" id="{712F2BEA-129F-7975-B8E7-A74F4CA524A8}"/>
                  </a:ext>
                </a:extLst>
              </p:cNvPr>
              <p:cNvSpPr>
                <a:spLocks/>
              </p:cNvSpPr>
              <p:nvPr/>
            </p:nvSpPr>
            <p:spPr bwMode="auto">
              <a:xfrm>
                <a:off x="0" y="0"/>
                <a:ext cx="156" cy="432"/>
              </a:xfrm>
              <a:prstGeom prst="rightBrace">
                <a:avLst>
                  <a:gd name="adj1" fmla="val 23077"/>
                  <a:gd name="adj2" fmla="val 50000"/>
                </a:avLst>
              </a:prstGeom>
              <a:noFill/>
              <a:ln w="19050">
                <a:solidFill>
                  <a:srgbClr val="3333CC"/>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grpSp>
      <p:sp>
        <p:nvSpPr>
          <p:cNvPr id="55336" name="Rectangle 56">
            <a:extLst>
              <a:ext uri="{FF2B5EF4-FFF2-40B4-BE49-F238E27FC236}">
                <a16:creationId xmlns:a16="http://schemas.microsoft.com/office/drawing/2014/main" id="{F5F309D8-523C-04ED-EE66-5B3C140581A8}"/>
              </a:ext>
            </a:extLst>
          </p:cNvPr>
          <p:cNvSpPr>
            <a:spLocks noChangeArrowheads="1"/>
          </p:cNvSpPr>
          <p:nvPr/>
        </p:nvSpPr>
        <p:spPr bwMode="auto">
          <a:xfrm>
            <a:off x="201692" y="2237006"/>
            <a:ext cx="4047444" cy="71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tabLst>
                <a:tab pos="4859338" algn="l"/>
              </a:tabLst>
              <a:defRPr>
                <a:solidFill>
                  <a:schemeClr val="tx1"/>
                </a:solidFill>
                <a:latin typeface="Arial" panose="020B0604020202020204" pitchFamily="34" charset="0"/>
              </a:defRPr>
            </a:lvl1pPr>
            <a:lvl2pPr marL="742950" indent="-285750">
              <a:tabLst>
                <a:tab pos="4859338" algn="l"/>
              </a:tabLst>
              <a:defRPr>
                <a:solidFill>
                  <a:schemeClr val="tx1"/>
                </a:solidFill>
                <a:latin typeface="Arial" panose="020B0604020202020204" pitchFamily="34" charset="0"/>
              </a:defRPr>
            </a:lvl2pPr>
            <a:lvl3pPr marL="1143000" indent="-228600">
              <a:tabLst>
                <a:tab pos="4859338" algn="l"/>
              </a:tabLst>
              <a:defRPr>
                <a:solidFill>
                  <a:schemeClr val="tx1"/>
                </a:solidFill>
                <a:latin typeface="Arial" panose="020B0604020202020204" pitchFamily="34" charset="0"/>
              </a:defRPr>
            </a:lvl3pPr>
            <a:lvl4pPr marL="1600200" indent="-228600">
              <a:tabLst>
                <a:tab pos="4859338" algn="l"/>
              </a:tabLst>
              <a:defRPr>
                <a:solidFill>
                  <a:schemeClr val="tx1"/>
                </a:solidFill>
                <a:latin typeface="Arial" panose="020B0604020202020204" pitchFamily="34" charset="0"/>
              </a:defRPr>
            </a:lvl4pPr>
            <a:lvl5pPr marL="2057400" indent="-228600">
              <a:tabLst>
                <a:tab pos="4859338" algn="l"/>
              </a:tabLst>
              <a:defRPr>
                <a:solidFill>
                  <a:schemeClr val="tx1"/>
                </a:solidFill>
                <a:latin typeface="Arial" panose="020B0604020202020204" pitchFamily="34" charset="0"/>
              </a:defRPr>
            </a:lvl5pPr>
            <a:lvl6pPr marL="2514600" indent="-228600" fontAlgn="base">
              <a:spcBef>
                <a:spcPct val="0"/>
              </a:spcBef>
              <a:spcAft>
                <a:spcPct val="0"/>
              </a:spcAft>
              <a:tabLst>
                <a:tab pos="4859338" algn="l"/>
              </a:tabLst>
              <a:defRPr>
                <a:solidFill>
                  <a:schemeClr val="tx1"/>
                </a:solidFill>
                <a:latin typeface="Arial" panose="020B0604020202020204" pitchFamily="34" charset="0"/>
              </a:defRPr>
            </a:lvl6pPr>
            <a:lvl7pPr marL="2971800" indent="-228600" fontAlgn="base">
              <a:spcBef>
                <a:spcPct val="0"/>
              </a:spcBef>
              <a:spcAft>
                <a:spcPct val="0"/>
              </a:spcAft>
              <a:tabLst>
                <a:tab pos="4859338" algn="l"/>
              </a:tabLst>
              <a:defRPr>
                <a:solidFill>
                  <a:schemeClr val="tx1"/>
                </a:solidFill>
                <a:latin typeface="Arial" panose="020B0604020202020204" pitchFamily="34" charset="0"/>
              </a:defRPr>
            </a:lvl7pPr>
            <a:lvl8pPr marL="3429000" indent="-228600" fontAlgn="base">
              <a:spcBef>
                <a:spcPct val="0"/>
              </a:spcBef>
              <a:spcAft>
                <a:spcPct val="0"/>
              </a:spcAft>
              <a:tabLst>
                <a:tab pos="4859338" algn="l"/>
              </a:tabLst>
              <a:defRPr>
                <a:solidFill>
                  <a:schemeClr val="tx1"/>
                </a:solidFill>
                <a:latin typeface="Arial" panose="020B0604020202020204" pitchFamily="34" charset="0"/>
              </a:defRPr>
            </a:lvl8pPr>
            <a:lvl9pPr marL="3886200" indent="-228600" fontAlgn="base">
              <a:spcBef>
                <a:spcPct val="0"/>
              </a:spcBef>
              <a:spcAft>
                <a:spcPct val="0"/>
              </a:spcAft>
              <a:tabLst>
                <a:tab pos="4859338" algn="l"/>
              </a:tabLst>
              <a:defRPr>
                <a:solidFill>
                  <a:schemeClr val="tx1"/>
                </a:solidFill>
                <a:latin typeface="Arial" panose="020B0604020202020204" pitchFamily="34" charset="0"/>
              </a:defRPr>
            </a:lvl9pPr>
          </a:lstStyle>
          <a:p>
            <a:pPr marL="144075" indent="-144075" defTabSz="461040" fontAlgn="base">
              <a:lnSpc>
                <a:spcPct val="105000"/>
              </a:lnSpc>
              <a:spcBef>
                <a:spcPct val="50000"/>
              </a:spcBef>
              <a:spcAft>
                <a:spcPct val="0"/>
              </a:spcAft>
              <a:buClr>
                <a:srgbClr val="339966"/>
              </a:buClr>
              <a:buSzPct val="120000"/>
              <a:buFont typeface="Wingdings" pitchFamily="2" charset="2"/>
              <a:buChar char="§"/>
              <a:tabLst>
                <a:tab pos="2450078" algn="l"/>
              </a:tabLst>
            </a:pPr>
            <a:r>
              <a:rPr lang="zh-CN" altLang="zh-CN" sz="1412">
                <a:solidFill>
                  <a:srgbClr val="000000"/>
                </a:solidFill>
                <a:ea typeface="宋体" panose="02010600030101010101" pitchFamily="2" charset="-122"/>
              </a:rPr>
              <a:t>真实</a:t>
            </a:r>
            <a:r>
              <a:rPr lang="en-US" altLang="zh-CN" sz="1412">
                <a:solidFill>
                  <a:srgbClr val="000000"/>
                </a:solidFill>
                <a:ea typeface="宋体" panose="02010600030101010101" pitchFamily="2" charset="-122"/>
              </a:rPr>
              <a:t>GDP</a:t>
            </a:r>
            <a:r>
              <a:rPr lang="zh-CN" altLang="zh-CN" sz="1412">
                <a:solidFill>
                  <a:srgbClr val="000000"/>
                </a:solidFill>
                <a:ea typeface="宋体" panose="02010600030101010101" pitchFamily="2" charset="-122"/>
              </a:rPr>
              <a:t>的变化是价格不变时（就是零通货膨胀条件），</a:t>
            </a:r>
            <a:r>
              <a:rPr lang="en-US" altLang="zh-CN" sz="1412">
                <a:solidFill>
                  <a:srgbClr val="000000"/>
                </a:solidFill>
                <a:ea typeface="宋体" panose="02010600030101010101" pitchFamily="2" charset="-122"/>
              </a:rPr>
              <a:t>GDP</a:t>
            </a:r>
            <a:r>
              <a:rPr lang="zh-CN" altLang="zh-CN" sz="1412">
                <a:solidFill>
                  <a:srgbClr val="000000"/>
                </a:solidFill>
                <a:ea typeface="宋体" panose="02010600030101010101" pitchFamily="2" charset="-122"/>
              </a:rPr>
              <a:t>数量的变化 </a:t>
            </a:r>
            <a:br>
              <a:rPr lang="zh-CN" altLang="zh-CN" sz="1311">
                <a:solidFill>
                  <a:srgbClr val="000000"/>
                </a:solidFill>
                <a:ea typeface="宋体" panose="02010600030101010101" pitchFamily="2" charset="-122"/>
              </a:rPr>
            </a:br>
            <a:endParaRPr lang="zh-CN" altLang="en-US" sz="1311">
              <a:solidFill>
                <a:srgbClr val="000000"/>
              </a:solidFill>
              <a:ea typeface="宋体" panose="02010600030101010101" pitchFamily="2" charset="-122"/>
            </a:endParaRPr>
          </a:p>
        </p:txBody>
      </p:sp>
      <p:sp>
        <p:nvSpPr>
          <p:cNvPr id="55337" name="Rectangle 57">
            <a:extLst>
              <a:ext uri="{FF2B5EF4-FFF2-40B4-BE49-F238E27FC236}">
                <a16:creationId xmlns:a16="http://schemas.microsoft.com/office/drawing/2014/main" id="{2D9BAA1B-AA28-1E73-726E-1E1DEC7ED221}"/>
              </a:ext>
            </a:extLst>
          </p:cNvPr>
          <p:cNvSpPr>
            <a:spLocks noChangeArrowheads="1"/>
          </p:cNvSpPr>
          <p:nvPr/>
        </p:nvSpPr>
        <p:spPr bwMode="auto">
          <a:xfrm>
            <a:off x="218500" y="2875697"/>
            <a:ext cx="4047443" cy="267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tabLst>
                <a:tab pos="4859338" algn="l"/>
              </a:tabLst>
              <a:defRPr>
                <a:solidFill>
                  <a:schemeClr val="tx1"/>
                </a:solidFill>
                <a:latin typeface="Arial" panose="020B0604020202020204" pitchFamily="34" charset="0"/>
              </a:defRPr>
            </a:lvl1pPr>
            <a:lvl2pPr marL="742950" indent="-285750">
              <a:tabLst>
                <a:tab pos="4859338" algn="l"/>
              </a:tabLst>
              <a:defRPr>
                <a:solidFill>
                  <a:schemeClr val="tx1"/>
                </a:solidFill>
                <a:latin typeface="Arial" panose="020B0604020202020204" pitchFamily="34" charset="0"/>
              </a:defRPr>
            </a:lvl2pPr>
            <a:lvl3pPr marL="1143000" indent="-228600">
              <a:tabLst>
                <a:tab pos="4859338" algn="l"/>
              </a:tabLst>
              <a:defRPr>
                <a:solidFill>
                  <a:schemeClr val="tx1"/>
                </a:solidFill>
                <a:latin typeface="Arial" panose="020B0604020202020204" pitchFamily="34" charset="0"/>
              </a:defRPr>
            </a:lvl3pPr>
            <a:lvl4pPr marL="1600200" indent="-228600">
              <a:tabLst>
                <a:tab pos="4859338" algn="l"/>
              </a:tabLst>
              <a:defRPr>
                <a:solidFill>
                  <a:schemeClr val="tx1"/>
                </a:solidFill>
                <a:latin typeface="Arial" panose="020B0604020202020204" pitchFamily="34" charset="0"/>
              </a:defRPr>
            </a:lvl4pPr>
            <a:lvl5pPr marL="2057400" indent="-228600">
              <a:tabLst>
                <a:tab pos="4859338" algn="l"/>
              </a:tabLst>
              <a:defRPr>
                <a:solidFill>
                  <a:schemeClr val="tx1"/>
                </a:solidFill>
                <a:latin typeface="Arial" panose="020B0604020202020204" pitchFamily="34" charset="0"/>
              </a:defRPr>
            </a:lvl5pPr>
            <a:lvl6pPr marL="2514600" indent="-228600" fontAlgn="base">
              <a:spcBef>
                <a:spcPct val="0"/>
              </a:spcBef>
              <a:spcAft>
                <a:spcPct val="0"/>
              </a:spcAft>
              <a:tabLst>
                <a:tab pos="4859338" algn="l"/>
              </a:tabLst>
              <a:defRPr>
                <a:solidFill>
                  <a:schemeClr val="tx1"/>
                </a:solidFill>
                <a:latin typeface="Arial" panose="020B0604020202020204" pitchFamily="34" charset="0"/>
              </a:defRPr>
            </a:lvl6pPr>
            <a:lvl7pPr marL="2971800" indent="-228600" fontAlgn="base">
              <a:spcBef>
                <a:spcPct val="0"/>
              </a:spcBef>
              <a:spcAft>
                <a:spcPct val="0"/>
              </a:spcAft>
              <a:tabLst>
                <a:tab pos="4859338" algn="l"/>
              </a:tabLst>
              <a:defRPr>
                <a:solidFill>
                  <a:schemeClr val="tx1"/>
                </a:solidFill>
                <a:latin typeface="Arial" panose="020B0604020202020204" pitchFamily="34" charset="0"/>
              </a:defRPr>
            </a:lvl7pPr>
            <a:lvl8pPr marL="3429000" indent="-228600" fontAlgn="base">
              <a:spcBef>
                <a:spcPct val="0"/>
              </a:spcBef>
              <a:spcAft>
                <a:spcPct val="0"/>
              </a:spcAft>
              <a:tabLst>
                <a:tab pos="4859338" algn="l"/>
              </a:tabLst>
              <a:defRPr>
                <a:solidFill>
                  <a:schemeClr val="tx1"/>
                </a:solidFill>
                <a:latin typeface="Arial" panose="020B0604020202020204" pitchFamily="34" charset="0"/>
              </a:defRPr>
            </a:lvl8pPr>
            <a:lvl9pPr marL="3886200" indent="-228600" fontAlgn="base">
              <a:spcBef>
                <a:spcPct val="0"/>
              </a:spcBef>
              <a:spcAft>
                <a:spcPct val="0"/>
              </a:spcAft>
              <a:tabLst>
                <a:tab pos="4859338" algn="l"/>
              </a:tabLst>
              <a:defRPr>
                <a:solidFill>
                  <a:schemeClr val="tx1"/>
                </a:solidFill>
                <a:latin typeface="Arial" panose="020B0604020202020204" pitchFamily="34" charset="0"/>
              </a:defRPr>
            </a:lvl9pPr>
          </a:lstStyle>
          <a:p>
            <a:pPr marL="144075" indent="-144075" algn="ctr" defTabSz="461040" fontAlgn="base">
              <a:lnSpc>
                <a:spcPct val="105000"/>
              </a:lnSpc>
              <a:spcBef>
                <a:spcPct val="25000"/>
              </a:spcBef>
              <a:spcAft>
                <a:spcPct val="0"/>
              </a:spcAft>
              <a:buClr>
                <a:srgbClr val="00B85C"/>
              </a:buClr>
              <a:buSzPct val="120000"/>
              <a:tabLst>
                <a:tab pos="2450078" algn="l"/>
              </a:tabLst>
            </a:pPr>
            <a:r>
              <a:rPr lang="zh-CN" altLang="zh-CN" sz="1412">
                <a:solidFill>
                  <a:srgbClr val="CC0000"/>
                </a:solidFill>
                <a:ea typeface="宋体" panose="02010600030101010101" pitchFamily="2" charset="-122"/>
              </a:rPr>
              <a:t>因此，真实</a:t>
            </a:r>
            <a:r>
              <a:rPr lang="zh-CN" altLang="en-US" sz="1412">
                <a:solidFill>
                  <a:srgbClr val="CC0000"/>
                </a:solidFill>
                <a:ea typeface="宋体" panose="02010600030101010101" pitchFamily="2" charset="-122"/>
              </a:rPr>
              <a:t> </a:t>
            </a:r>
            <a:r>
              <a:rPr lang="en-US" altLang="zh-CN" sz="1412">
                <a:solidFill>
                  <a:srgbClr val="CC0000"/>
                </a:solidFill>
                <a:ea typeface="宋体" panose="02010600030101010101" pitchFamily="2" charset="-122"/>
              </a:rPr>
              <a:t>GDP</a:t>
            </a:r>
            <a:r>
              <a:rPr lang="zh-CN" altLang="zh-CN" sz="1412">
                <a:solidFill>
                  <a:srgbClr val="CC0000"/>
                </a:solidFill>
                <a:ea typeface="宋体" panose="02010600030101010101" pitchFamily="2" charset="-122"/>
              </a:rPr>
              <a:t>经过通货膨胀校正</a:t>
            </a:r>
            <a:endParaRPr lang="zh-CN" altLang="en-US" sz="1412">
              <a:solidFill>
                <a:srgbClr val="CC0000"/>
              </a:solidFill>
              <a:ea typeface="宋体" panose="02010600030101010101" pitchFamily="2" charset="-122"/>
            </a:endParaRPr>
          </a:p>
        </p:txBody>
      </p:sp>
      <p:sp>
        <p:nvSpPr>
          <p:cNvPr id="4" name="页脚占位符 1">
            <a:extLst>
              <a:ext uri="{FF2B5EF4-FFF2-40B4-BE49-F238E27FC236}">
                <a16:creationId xmlns:a16="http://schemas.microsoft.com/office/drawing/2014/main" id="{4B970699-6608-867D-FBEC-DE5D2DA45870}"/>
              </a:ext>
            </a:extLst>
          </p:cNvPr>
          <p:cNvSpPr>
            <a:spLocks noGrp="1"/>
          </p:cNvSpPr>
          <p:nvPr>
            <p:ph type="ftr" sz="quarter" idx="10"/>
          </p:nvPr>
        </p:nvSpPr>
        <p:spPr>
          <a:xfrm>
            <a:off x="144066" y="3226028"/>
            <a:ext cx="3698485" cy="185054"/>
          </a:xfrm>
        </p:spPr>
        <p:txBody>
          <a:bodyPr/>
          <a:lstStyle/>
          <a:p>
            <a:pPr defTabSz="461040" fontAlgn="base">
              <a:spcBef>
                <a:spcPct val="0"/>
              </a:spcBef>
              <a:spcAft>
                <a:spcPct val="0"/>
              </a:spcAft>
            </a:pPr>
            <a:r>
              <a:rPr lang="zh-CN" altLang="en-US" sz="908" dirty="0">
                <a:latin typeface="Arial" panose="020B0604020202020204" pitchFamily="34" charset="0"/>
              </a:rPr>
              <a:t>国内生产总值</a:t>
            </a:r>
            <a:endParaRPr lang="zh-CN" altLang="zh-CN" sz="908" dirty="0">
              <a:latin typeface="Arial" panose="020B0604020202020204" pitchFamily="34"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5329"/>
                                        </p:tgtEl>
                                        <p:attrNameLst>
                                          <p:attrName>style.visibility</p:attrName>
                                        </p:attrNameLst>
                                      </p:cBhvr>
                                      <p:to>
                                        <p:strVal val="visible"/>
                                      </p:to>
                                    </p:set>
                                    <p:animEffect transition="in" filter="dissolve">
                                      <p:cBhvr>
                                        <p:cTn id="7" dur="500"/>
                                        <p:tgtEl>
                                          <p:spTgt spid="55329"/>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55299">
                                            <p:txEl>
                                              <p:pRg st="0" end="0"/>
                                            </p:txEl>
                                          </p:spTgt>
                                        </p:tgtEl>
                                        <p:attrNameLst>
                                          <p:attrName>style.visibility</p:attrName>
                                        </p:attrNameLst>
                                      </p:cBhvr>
                                      <p:to>
                                        <p:strVal val="visible"/>
                                      </p:to>
                                    </p:set>
                                    <p:animEffect transition="in" filter="wipe(left)">
                                      <p:cBhvr>
                                        <p:cTn id="11" dur="500"/>
                                        <p:tgtEl>
                                          <p:spTgt spid="55299">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55322"/>
                                        </p:tgtEl>
                                        <p:attrNameLst>
                                          <p:attrName>style.visibility</p:attrName>
                                        </p:attrNameLst>
                                      </p:cBhvr>
                                      <p:to>
                                        <p:strVal val="visible"/>
                                      </p:to>
                                    </p:set>
                                    <p:animEffect transition="in" filter="dissolve">
                                      <p:cBhvr>
                                        <p:cTn id="16" dur="500"/>
                                        <p:tgtEl>
                                          <p:spTgt spid="55322"/>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55336"/>
                                        </p:tgtEl>
                                        <p:attrNameLst>
                                          <p:attrName>style.visibility</p:attrName>
                                        </p:attrNameLst>
                                      </p:cBhvr>
                                      <p:to>
                                        <p:strVal val="visible"/>
                                      </p:to>
                                    </p:set>
                                    <p:animEffect transition="in" filter="wipe(left)">
                                      <p:cBhvr>
                                        <p:cTn id="20" dur="500"/>
                                        <p:tgtEl>
                                          <p:spTgt spid="5533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55337"/>
                                        </p:tgtEl>
                                        <p:attrNameLst>
                                          <p:attrName>style.visibility</p:attrName>
                                        </p:attrNameLst>
                                      </p:cBhvr>
                                      <p:to>
                                        <p:strVal val="visible"/>
                                      </p:to>
                                    </p:set>
                                    <p:animEffect transition="in" filter="wipe(left)">
                                      <p:cBhvr>
                                        <p:cTn id="25" dur="500"/>
                                        <p:tgtEl>
                                          <p:spTgt spid="553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bldLvl="5" autoUpdateAnimBg="0"/>
      <p:bldP spid="55336" grpId="0" autoUpdateAnimBg="0"/>
      <p:bldP spid="55337"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showMasterSp="0">
  <p:cSld>
    <p:bg bwMode="auto">
      <p:bgPr>
        <a:solidFill>
          <a:srgbClr val="CCFFCC"/>
        </a:solidFill>
        <a:effectLst/>
      </p:bgPr>
    </p:bg>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4B07CC95-3F00-C54E-7E37-BF4F00936FF3}"/>
              </a:ext>
            </a:extLst>
          </p:cNvPr>
          <p:cNvSpPr>
            <a:spLocks noGrp="1" noChangeArrowheads="1"/>
          </p:cNvSpPr>
          <p:nvPr>
            <p:ph type="title" idx="4294967295"/>
          </p:nvPr>
        </p:nvSpPr>
        <p:spPr>
          <a:xfrm>
            <a:off x="100846" y="140051"/>
            <a:ext cx="4394802" cy="410587"/>
          </a:xfrm>
        </p:spPr>
        <p:txBody>
          <a:bodyPr/>
          <a:lstStyle/>
          <a:p>
            <a:r>
              <a:rPr lang="zh-CN" altLang="zh-CN" sz="1815">
                <a:ea typeface="宋体" panose="02010600030101010101" pitchFamily="2" charset="-122"/>
              </a:rPr>
              <a:t>美国的名义</a:t>
            </a:r>
            <a:r>
              <a:rPr lang="en-US" altLang="zh-CN" sz="1815">
                <a:ea typeface="宋体" panose="02010600030101010101" pitchFamily="2" charset="-122"/>
              </a:rPr>
              <a:t>GDP</a:t>
            </a:r>
            <a:r>
              <a:rPr lang="zh-CN" altLang="zh-CN" sz="1815">
                <a:ea typeface="宋体" panose="02010600030101010101" pitchFamily="2" charset="-122"/>
              </a:rPr>
              <a:t>与真实</a:t>
            </a:r>
            <a:r>
              <a:rPr lang="en-US" altLang="zh-CN" sz="1815">
                <a:ea typeface="宋体" panose="02010600030101010101" pitchFamily="2" charset="-122"/>
              </a:rPr>
              <a:t>GDP</a:t>
            </a:r>
            <a:r>
              <a:rPr lang="zh-CN" altLang="zh-CN" sz="1815">
                <a:ea typeface="宋体" panose="02010600030101010101" pitchFamily="2" charset="-122"/>
              </a:rPr>
              <a:t>：</a:t>
            </a:r>
            <a:r>
              <a:rPr lang="zh-CN" altLang="en-US" sz="1815">
                <a:ea typeface="宋体" panose="02010600030101010101" pitchFamily="2" charset="-122"/>
              </a:rPr>
              <a:t>  </a:t>
            </a:r>
            <a:br>
              <a:rPr lang="zh-CN" altLang="en-US" sz="1815">
                <a:ea typeface="宋体" panose="02010600030101010101" pitchFamily="2" charset="-122"/>
              </a:rPr>
            </a:br>
            <a:r>
              <a:rPr lang="en-US" altLang="zh-CN" sz="1815">
                <a:ea typeface="宋体" panose="02010600030101010101" pitchFamily="2" charset="-122"/>
              </a:rPr>
              <a:t>1965-2007</a:t>
            </a:r>
          </a:p>
        </p:txBody>
      </p:sp>
      <p:graphicFrame>
        <p:nvGraphicFramePr>
          <p:cNvPr id="57347" name="Object 4">
            <a:extLst>
              <a:ext uri="{FF2B5EF4-FFF2-40B4-BE49-F238E27FC236}">
                <a16:creationId xmlns:a16="http://schemas.microsoft.com/office/drawing/2014/main" id="{81DC5405-8B3D-3BB3-A235-EF83BFA4BD14}"/>
              </a:ext>
            </a:extLst>
          </p:cNvPr>
          <p:cNvGraphicFramePr>
            <a:graphicFrameLocks noChangeAspect="1"/>
          </p:cNvGraphicFramePr>
          <p:nvPr/>
        </p:nvGraphicFramePr>
        <p:xfrm>
          <a:off x="6403" y="515422"/>
          <a:ext cx="4546871" cy="2646806"/>
        </p:xfrm>
        <a:graphic>
          <a:graphicData uri="http://schemas.openxmlformats.org/presentationml/2006/ole">
            <mc:AlternateContent xmlns:mc="http://schemas.openxmlformats.org/markup-compatibility/2006">
              <mc:Choice xmlns:v="urn:schemas-microsoft-com:vml" Requires="v">
                <p:oleObj r:id="rId3" imgW="6032500" imgH="3517900" progId="Excel.Chart.8">
                  <p:embed/>
                </p:oleObj>
              </mc:Choice>
              <mc:Fallback>
                <p:oleObj r:id="rId3" imgW="6032500" imgH="3517900" progId="Excel.Chart.8">
                  <p:embed/>
                  <p:pic>
                    <p:nvPicPr>
                      <p:cNvPr id="57347" name="Object 4">
                        <a:extLst>
                          <a:ext uri="{FF2B5EF4-FFF2-40B4-BE49-F238E27FC236}">
                            <a16:creationId xmlns:a16="http://schemas.microsoft.com/office/drawing/2014/main" id="{81DC5405-8B3D-3BB3-A235-EF83BFA4BD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3" y="515422"/>
                        <a:ext cx="4546871" cy="2646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7348" name="Text Box 5">
            <a:extLst>
              <a:ext uri="{FF2B5EF4-FFF2-40B4-BE49-F238E27FC236}">
                <a16:creationId xmlns:a16="http://schemas.microsoft.com/office/drawing/2014/main" id="{F02BC73F-35B0-8C69-5DEB-21EEEEC9A37C}"/>
              </a:ext>
            </a:extLst>
          </p:cNvPr>
          <p:cNvSpPr txBox="1">
            <a:spLocks noChangeArrowheads="1"/>
          </p:cNvSpPr>
          <p:nvPr/>
        </p:nvSpPr>
        <p:spPr bwMode="auto">
          <a:xfrm>
            <a:off x="1176536" y="1307783"/>
            <a:ext cx="1104503" cy="480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311">
                <a:solidFill>
                  <a:srgbClr val="000000"/>
                </a:solidFill>
                <a:ea typeface="宋体" panose="02010600030101010101" pitchFamily="2" charset="-122"/>
              </a:rPr>
              <a:t>真实</a:t>
            </a:r>
            <a:r>
              <a:rPr lang="en-US" altLang="zh-CN" sz="1311">
                <a:solidFill>
                  <a:srgbClr val="000000"/>
                </a:solidFill>
                <a:ea typeface="宋体" panose="02010600030101010101" pitchFamily="2" charset="-122"/>
              </a:rPr>
              <a:t>GDP</a:t>
            </a:r>
            <a:r>
              <a:rPr lang="en-US" altLang="zh-CN" sz="1210">
                <a:solidFill>
                  <a:srgbClr val="000000"/>
                </a:solidFill>
                <a:ea typeface="宋体" panose="02010600030101010101" pitchFamily="2" charset="-122"/>
              </a:rPr>
              <a:t>(</a:t>
            </a:r>
            <a:r>
              <a:rPr lang="zh-CN" altLang="zh-CN" sz="1210">
                <a:solidFill>
                  <a:srgbClr val="000000"/>
                </a:solidFill>
                <a:ea typeface="宋体" panose="02010600030101010101" pitchFamily="2" charset="-122"/>
              </a:rPr>
              <a:t>基年是</a:t>
            </a:r>
            <a:r>
              <a:rPr lang="en-US" altLang="zh-CN" sz="1210">
                <a:solidFill>
                  <a:srgbClr val="000000"/>
                </a:solidFill>
                <a:ea typeface="宋体" panose="02010600030101010101" pitchFamily="2" charset="-122"/>
              </a:rPr>
              <a:t>2000</a:t>
            </a:r>
            <a:r>
              <a:rPr lang="zh-CN" altLang="zh-CN" sz="1210">
                <a:solidFill>
                  <a:srgbClr val="000000"/>
                </a:solidFill>
                <a:ea typeface="宋体" panose="02010600030101010101" pitchFamily="2" charset="-122"/>
              </a:rPr>
              <a:t>年</a:t>
            </a:r>
            <a:r>
              <a:rPr lang="en-US" altLang="zh-CN" sz="1210">
                <a:solidFill>
                  <a:srgbClr val="000000"/>
                </a:solidFill>
                <a:ea typeface="宋体" panose="02010600030101010101" pitchFamily="2" charset="-122"/>
              </a:rPr>
              <a:t>)</a:t>
            </a:r>
          </a:p>
        </p:txBody>
      </p:sp>
      <p:sp>
        <p:nvSpPr>
          <p:cNvPr id="57349" name="Text Box 6">
            <a:extLst>
              <a:ext uri="{FF2B5EF4-FFF2-40B4-BE49-F238E27FC236}">
                <a16:creationId xmlns:a16="http://schemas.microsoft.com/office/drawing/2014/main" id="{BE6A6627-E2C1-D4EF-4282-ED22EC3C6F9E}"/>
              </a:ext>
            </a:extLst>
          </p:cNvPr>
          <p:cNvSpPr txBox="1">
            <a:spLocks noChangeArrowheads="1"/>
          </p:cNvSpPr>
          <p:nvPr/>
        </p:nvSpPr>
        <p:spPr bwMode="auto">
          <a:xfrm>
            <a:off x="2871708" y="2200989"/>
            <a:ext cx="815572" cy="495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311">
                <a:solidFill>
                  <a:srgbClr val="000000"/>
                </a:solidFill>
                <a:ea typeface="宋体" panose="02010600030101010101" pitchFamily="2" charset="-122"/>
              </a:rPr>
              <a:t>名义</a:t>
            </a:r>
            <a:r>
              <a:rPr lang="en-US" altLang="zh-CN" sz="1311">
                <a:solidFill>
                  <a:srgbClr val="000000"/>
                </a:solidFill>
                <a:ea typeface="宋体" panose="02010600030101010101" pitchFamily="2" charset="-122"/>
              </a:rPr>
              <a:t>GDP</a:t>
            </a:r>
            <a:endParaRPr lang="en-US" altLang="zh-CN" sz="1210">
              <a:solidFill>
                <a:srgbClr val="000000"/>
              </a:solidFill>
              <a:ea typeface="宋体" panose="02010600030101010101" pitchFamily="2" charset="-122"/>
            </a:endParaRPr>
          </a:p>
        </p:txBody>
      </p:sp>
      <p:sp>
        <p:nvSpPr>
          <p:cNvPr id="57350" name="Line 7">
            <a:extLst>
              <a:ext uri="{FF2B5EF4-FFF2-40B4-BE49-F238E27FC236}">
                <a16:creationId xmlns:a16="http://schemas.microsoft.com/office/drawing/2014/main" id="{3CB3E3EC-46B2-7BE3-BF64-7161044A9B9F}"/>
              </a:ext>
            </a:extLst>
          </p:cNvPr>
          <p:cNvSpPr>
            <a:spLocks noChangeShapeType="1"/>
          </p:cNvSpPr>
          <p:nvPr/>
        </p:nvSpPr>
        <p:spPr bwMode="auto">
          <a:xfrm flipH="1" flipV="1">
            <a:off x="2607588" y="2181781"/>
            <a:ext cx="326549" cy="1240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57351" name="Line 8">
            <a:extLst>
              <a:ext uri="{FF2B5EF4-FFF2-40B4-BE49-F238E27FC236}">
                <a16:creationId xmlns:a16="http://schemas.microsoft.com/office/drawing/2014/main" id="{DE71616C-2F7D-1C4A-8055-8800694C5F24}"/>
              </a:ext>
            </a:extLst>
          </p:cNvPr>
          <p:cNvSpPr>
            <a:spLocks noChangeShapeType="1"/>
          </p:cNvSpPr>
          <p:nvPr/>
        </p:nvSpPr>
        <p:spPr bwMode="auto">
          <a:xfrm>
            <a:off x="2033726" y="1467055"/>
            <a:ext cx="553052" cy="3233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57352" name="Rectangle 8">
            <a:extLst>
              <a:ext uri="{FF2B5EF4-FFF2-40B4-BE49-F238E27FC236}">
                <a16:creationId xmlns:a16="http://schemas.microsoft.com/office/drawing/2014/main" id="{B77FC198-A8A4-4C50-1B88-1C43B922B383}"/>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F83AEF6B-1DBA-034F-A029-35D324C743C4}" type="slidenum">
              <a:rPr lang="zh-CN" altLang="zh-CN" sz="857">
                <a:solidFill>
                  <a:srgbClr val="777777"/>
                </a:solidFill>
                <a:latin typeface="Arial" panose="020B0604020202020204" pitchFamily="34" charset="0"/>
                <a:ea typeface="宋体" panose="02010600030101010101" pitchFamily="2" charset="-122"/>
              </a:rPr>
              <a:pPr algn="r" defTabSz="461040" fontAlgn="base">
                <a:spcBef>
                  <a:spcPct val="0"/>
                </a:spcBef>
                <a:spcAft>
                  <a:spcPct val="0"/>
                </a:spcAft>
              </a:pPr>
              <a:t>53</a:t>
            </a:fld>
            <a:endParaRPr lang="en-US" altLang="zh-CN" sz="857">
              <a:solidFill>
                <a:srgbClr val="777777"/>
              </a:solidFill>
              <a:latin typeface="Arial" panose="020B0604020202020204" pitchFamily="34" charset="0"/>
              <a:ea typeface="宋体" panose="02010600030101010101" pitchFamily="2" charset="-122"/>
            </a:endParaRPr>
          </a:p>
        </p:txBody>
      </p:sp>
    </p:spTree>
  </p:cSld>
  <p:clrMapOvr>
    <a:masterClrMapping/>
  </p:clrMapOvr>
  <p:transition>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8802058D-A520-AE18-00A9-9CB33B19C7B0}"/>
              </a:ext>
            </a:extLst>
          </p:cNvPr>
          <p:cNvSpPr>
            <a:spLocks noGrp="1"/>
          </p:cNvSpPr>
          <p:nvPr>
            <p:ph type="sldNum" sz="quarter" idx="11"/>
          </p:nvPr>
        </p:nvSpPr>
        <p:spPr/>
        <p:txBody>
          <a:bodyPr/>
          <a:lstStyle/>
          <a:p>
            <a:pPr defTabSz="461040" fontAlgn="base">
              <a:spcBef>
                <a:spcPct val="0"/>
              </a:spcBef>
              <a:spcAft>
                <a:spcPct val="0"/>
              </a:spcAft>
            </a:pPr>
            <a:fld id="{6D11537A-76C7-3149-8955-8442A1FF812B}" type="slidenum">
              <a:rPr lang="zh-CN" altLang="zh-CN">
                <a:latin typeface="Arial" panose="020B0604020202020204" pitchFamily="34" charset="0"/>
              </a:rPr>
              <a:pPr defTabSz="461040" fontAlgn="base">
                <a:spcBef>
                  <a:spcPct val="0"/>
                </a:spcBef>
                <a:spcAft>
                  <a:spcPct val="0"/>
                </a:spcAft>
              </a:pPr>
              <a:t>54</a:t>
            </a:fld>
            <a:endParaRPr lang="en-US" altLang="zh-CN">
              <a:latin typeface="Arial" panose="020B0604020202020204" pitchFamily="34" charset="0"/>
            </a:endParaRPr>
          </a:p>
        </p:txBody>
      </p:sp>
      <p:sp>
        <p:nvSpPr>
          <p:cNvPr id="59394" name="Rectangle 2">
            <a:extLst>
              <a:ext uri="{FF2B5EF4-FFF2-40B4-BE49-F238E27FC236}">
                <a16:creationId xmlns:a16="http://schemas.microsoft.com/office/drawing/2014/main" id="{96622A9D-1B46-9315-78AE-AB5AF72549A3}"/>
              </a:ext>
            </a:extLst>
          </p:cNvPr>
          <p:cNvSpPr>
            <a:spLocks noGrp="1" noChangeArrowheads="1"/>
          </p:cNvSpPr>
          <p:nvPr>
            <p:ph type="title" idx="4294967295"/>
          </p:nvPr>
        </p:nvSpPr>
        <p:spPr>
          <a:xfrm>
            <a:off x="230505" y="117641"/>
            <a:ext cx="4149090" cy="432997"/>
          </a:xfrm>
        </p:spPr>
        <p:txBody>
          <a:bodyPr/>
          <a:lstStyle/>
          <a:p>
            <a:r>
              <a:rPr lang="en-US" altLang="zh-CN" sz="2017">
                <a:ea typeface="宋体" panose="02010600030101010101" pitchFamily="2" charset="-122"/>
              </a:rPr>
              <a:t> GDP</a:t>
            </a:r>
            <a:r>
              <a:rPr lang="zh-CN" altLang="zh-CN" sz="2017">
                <a:ea typeface="宋体" panose="02010600030101010101" pitchFamily="2" charset="-122"/>
              </a:rPr>
              <a:t>平减指数</a:t>
            </a:r>
          </a:p>
        </p:txBody>
      </p:sp>
      <p:sp>
        <p:nvSpPr>
          <p:cNvPr id="59395" name="Rectangle 3">
            <a:extLst>
              <a:ext uri="{FF2B5EF4-FFF2-40B4-BE49-F238E27FC236}">
                <a16:creationId xmlns:a16="http://schemas.microsoft.com/office/drawing/2014/main" id="{B452EDF1-EBD2-D335-3E1A-C1A5750B96D5}"/>
              </a:ext>
            </a:extLst>
          </p:cNvPr>
          <p:cNvSpPr>
            <a:spLocks noGrp="1" noChangeArrowheads="1"/>
          </p:cNvSpPr>
          <p:nvPr>
            <p:ph type="body" idx="4294967295"/>
          </p:nvPr>
        </p:nvSpPr>
        <p:spPr>
          <a:xfrm>
            <a:off x="199291" y="529028"/>
            <a:ext cx="4052246" cy="874798"/>
          </a:xfrm>
        </p:spPr>
        <p:txBody>
          <a:bodyPr/>
          <a:lstStyle/>
          <a:p>
            <a:r>
              <a:rPr lang="zh-CN" altLang="zh-CN">
                <a:ea typeface="宋体" panose="02010600030101010101" pitchFamily="2" charset="-122"/>
              </a:rPr>
              <a:t>GDP平减指数是对总体价格水平的衡量   </a:t>
            </a:r>
          </a:p>
          <a:p>
            <a:r>
              <a:rPr lang="zh-CN" altLang="zh-CN">
                <a:ea typeface="宋体" panose="02010600030101010101" pitchFamily="2" charset="-122"/>
              </a:rPr>
              <a:t>定义:</a:t>
            </a:r>
          </a:p>
        </p:txBody>
      </p:sp>
      <p:sp>
        <p:nvSpPr>
          <p:cNvPr id="59396" name="Rectangle 5">
            <a:extLst>
              <a:ext uri="{FF2B5EF4-FFF2-40B4-BE49-F238E27FC236}">
                <a16:creationId xmlns:a16="http://schemas.microsoft.com/office/drawing/2014/main" id="{0C52F0B5-A2CB-A20C-5154-305457225FF3}"/>
              </a:ext>
            </a:extLst>
          </p:cNvPr>
          <p:cNvSpPr>
            <a:spLocks noChangeArrowheads="1"/>
          </p:cNvSpPr>
          <p:nvPr/>
        </p:nvSpPr>
        <p:spPr bwMode="auto">
          <a:xfrm>
            <a:off x="194489" y="2207392"/>
            <a:ext cx="4077057" cy="776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172890" indent="-172890" defTabSz="461040" fontAlgn="base">
              <a:lnSpc>
                <a:spcPct val="105000"/>
              </a:lnSpc>
              <a:spcBef>
                <a:spcPct val="45000"/>
              </a:spcBef>
              <a:spcAft>
                <a:spcPct val="0"/>
              </a:spcAft>
              <a:buClr>
                <a:srgbClr val="339966"/>
              </a:buClr>
              <a:buSzPct val="120000"/>
              <a:buFont typeface="Wingdings" pitchFamily="2" charset="2"/>
              <a:buChar char="§"/>
            </a:pPr>
            <a:r>
              <a:rPr lang="zh-CN" altLang="zh-CN" sz="1412">
                <a:solidFill>
                  <a:srgbClr val="000000"/>
                </a:solidFill>
                <a:ea typeface="宋体" panose="02010600030101010101" pitchFamily="2" charset="-122"/>
              </a:rPr>
              <a:t>衡量经济</a:t>
            </a:r>
            <a:r>
              <a:rPr lang="zh-CN" altLang="zh-CN" sz="1412" b="1">
                <a:solidFill>
                  <a:srgbClr val="CC0000"/>
                </a:solidFill>
                <a:ea typeface="宋体" panose="02010600030101010101" pitchFamily="2" charset="-122"/>
              </a:rPr>
              <a:t>通货膨胀率</a:t>
            </a:r>
            <a:r>
              <a:rPr lang="zh-CN" altLang="zh-CN" sz="1412">
                <a:solidFill>
                  <a:srgbClr val="000000"/>
                </a:solidFill>
                <a:ea typeface="宋体" panose="02010600030101010101" pitchFamily="2" charset="-122"/>
              </a:rPr>
              <a:t>的一种方法是计算从一年到下一年</a:t>
            </a:r>
            <a:r>
              <a:rPr lang="en-US" altLang="zh-CN" sz="1412">
                <a:solidFill>
                  <a:srgbClr val="000000"/>
                </a:solidFill>
                <a:ea typeface="宋体" panose="02010600030101010101" pitchFamily="2" charset="-122"/>
              </a:rPr>
              <a:t>GDP</a:t>
            </a:r>
            <a:r>
              <a:rPr lang="zh-CN" altLang="zh-CN" sz="1412">
                <a:solidFill>
                  <a:srgbClr val="000000"/>
                </a:solidFill>
                <a:ea typeface="宋体" panose="02010600030101010101" pitchFamily="2" charset="-122"/>
              </a:rPr>
              <a:t>平减指数增加的百分比</a:t>
            </a:r>
            <a:endParaRPr lang="zh-CN" altLang="en-US" sz="1412">
              <a:solidFill>
                <a:srgbClr val="000000"/>
              </a:solidFill>
              <a:ea typeface="宋体" panose="02010600030101010101" pitchFamily="2" charset="-122"/>
            </a:endParaRPr>
          </a:p>
        </p:txBody>
      </p:sp>
      <p:grpSp>
        <p:nvGrpSpPr>
          <p:cNvPr id="59397" name="Group 5">
            <a:extLst>
              <a:ext uri="{FF2B5EF4-FFF2-40B4-BE49-F238E27FC236}">
                <a16:creationId xmlns:a16="http://schemas.microsoft.com/office/drawing/2014/main" id="{5E9DFA05-39F5-2B5D-3B54-6A64F29443FC}"/>
              </a:ext>
            </a:extLst>
          </p:cNvPr>
          <p:cNvGrpSpPr>
            <a:grpSpLocks/>
          </p:cNvGrpSpPr>
          <p:nvPr/>
        </p:nvGrpSpPr>
        <p:grpSpPr bwMode="auto">
          <a:xfrm>
            <a:off x="590669" y="1396623"/>
            <a:ext cx="3483187" cy="625885"/>
            <a:chOff x="0" y="0"/>
            <a:chExt cx="4144" cy="782"/>
          </a:xfrm>
        </p:grpSpPr>
        <p:sp>
          <p:nvSpPr>
            <p:cNvPr id="59398" name="Text Box 6">
              <a:extLst>
                <a:ext uri="{FF2B5EF4-FFF2-40B4-BE49-F238E27FC236}">
                  <a16:creationId xmlns:a16="http://schemas.microsoft.com/office/drawing/2014/main" id="{A572FE3B-FE51-1F7E-2136-3DDF5D11D33A}"/>
                </a:ext>
              </a:extLst>
            </p:cNvPr>
            <p:cNvSpPr txBox="1">
              <a:spLocks noChangeArrowheads="1"/>
            </p:cNvSpPr>
            <p:nvPr/>
          </p:nvSpPr>
          <p:spPr bwMode="auto">
            <a:xfrm>
              <a:off x="0" y="0"/>
              <a:ext cx="4144" cy="779"/>
            </a:xfrm>
            <a:prstGeom prst="rect">
              <a:avLst/>
            </a:prstGeom>
            <a:solidFill>
              <a:srgbClr val="FFFF99"/>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lIns="138303"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50000"/>
                </a:spcBef>
                <a:spcAft>
                  <a:spcPct val="0"/>
                </a:spcAft>
              </a:pPr>
              <a:r>
                <a:rPr lang="en-US" altLang="zh-CN" sz="1462">
                  <a:solidFill>
                    <a:srgbClr val="000000"/>
                  </a:solidFill>
                  <a:ea typeface="宋体" panose="02010600030101010101" pitchFamily="2" charset="-122"/>
                </a:rPr>
                <a:t>GDP</a:t>
              </a:r>
              <a:r>
                <a:rPr lang="zh-CN" altLang="zh-CN" sz="1462">
                  <a:solidFill>
                    <a:srgbClr val="000000"/>
                  </a:solidFill>
                  <a:ea typeface="宋体" panose="02010600030101010101" pitchFamily="2" charset="-122"/>
                </a:rPr>
                <a:t>平减指数</a:t>
              </a:r>
              <a:r>
                <a:rPr lang="en-US" altLang="zh-CN" sz="1462">
                  <a:solidFill>
                    <a:srgbClr val="000000"/>
                  </a:solidFill>
                  <a:ea typeface="宋体" panose="02010600030101010101" pitchFamily="2" charset="-122"/>
                </a:rPr>
                <a:t>=  100 </a:t>
              </a:r>
              <a:r>
                <a:rPr lang="en-US" altLang="zh-CN" sz="1462">
                  <a:solidFill>
                    <a:srgbClr val="000000"/>
                  </a:solidFill>
                  <a:latin typeface="Tahoma" panose="020B0604030504040204" pitchFamily="34" charset="0"/>
                  <a:ea typeface="宋体" panose="02010600030101010101" pitchFamily="2" charset="-122"/>
                </a:rPr>
                <a:t>x</a:t>
              </a:r>
              <a:r>
                <a:rPr lang="en-US" altLang="zh-CN" sz="1462">
                  <a:solidFill>
                    <a:srgbClr val="000000"/>
                  </a:solidFill>
                  <a:ea typeface="宋体" panose="02010600030101010101" pitchFamily="2" charset="-122"/>
                </a:rPr>
                <a:t> </a:t>
              </a:r>
            </a:p>
          </p:txBody>
        </p:sp>
        <p:grpSp>
          <p:nvGrpSpPr>
            <p:cNvPr id="59399" name="Group 7">
              <a:extLst>
                <a:ext uri="{FF2B5EF4-FFF2-40B4-BE49-F238E27FC236}">
                  <a16:creationId xmlns:a16="http://schemas.microsoft.com/office/drawing/2014/main" id="{004F74BF-D5A7-E2AD-9B61-C761313A9375}"/>
                </a:ext>
              </a:extLst>
            </p:cNvPr>
            <p:cNvGrpSpPr>
              <a:grpSpLocks/>
            </p:cNvGrpSpPr>
            <p:nvPr/>
          </p:nvGrpSpPr>
          <p:grpSpPr bwMode="auto">
            <a:xfrm>
              <a:off x="2464" y="72"/>
              <a:ext cx="1578" cy="710"/>
              <a:chOff x="0" y="0"/>
              <a:chExt cx="1578" cy="710"/>
            </a:xfrm>
          </p:grpSpPr>
          <p:sp>
            <p:nvSpPr>
              <p:cNvPr id="59400" name="Text Box 7">
                <a:extLst>
                  <a:ext uri="{FF2B5EF4-FFF2-40B4-BE49-F238E27FC236}">
                    <a16:creationId xmlns:a16="http://schemas.microsoft.com/office/drawing/2014/main" id="{90B149B7-B4F5-2B5D-DD6A-803D9FEC64E9}"/>
                  </a:ext>
                </a:extLst>
              </p:cNvPr>
              <p:cNvSpPr txBox="1">
                <a:spLocks noChangeArrowheads="1"/>
              </p:cNvSpPr>
              <p:nvPr/>
            </p:nvSpPr>
            <p:spPr bwMode="auto">
              <a:xfrm>
                <a:off x="0" y="0"/>
                <a:ext cx="1574"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462">
                    <a:solidFill>
                      <a:srgbClr val="000000"/>
                    </a:solidFill>
                    <a:ea typeface="宋体" panose="02010600030101010101" pitchFamily="2" charset="-122"/>
                  </a:rPr>
                  <a:t>名义 </a:t>
                </a:r>
                <a:r>
                  <a:rPr lang="en-US" altLang="zh-CN" sz="1462">
                    <a:solidFill>
                      <a:srgbClr val="000000"/>
                    </a:solidFill>
                    <a:ea typeface="宋体" panose="02010600030101010101" pitchFamily="2" charset="-122"/>
                  </a:rPr>
                  <a:t>GDP</a:t>
                </a:r>
              </a:p>
            </p:txBody>
          </p:sp>
          <p:sp>
            <p:nvSpPr>
              <p:cNvPr id="59401" name="Text Box 8">
                <a:extLst>
                  <a:ext uri="{FF2B5EF4-FFF2-40B4-BE49-F238E27FC236}">
                    <a16:creationId xmlns:a16="http://schemas.microsoft.com/office/drawing/2014/main" id="{93458384-CE48-7889-9B3B-ACCCE56825C1}"/>
                  </a:ext>
                </a:extLst>
              </p:cNvPr>
              <p:cNvSpPr txBox="1">
                <a:spLocks noChangeArrowheads="1"/>
              </p:cNvSpPr>
              <p:nvPr/>
            </p:nvSpPr>
            <p:spPr bwMode="auto">
              <a:xfrm>
                <a:off x="4" y="314"/>
                <a:ext cx="1574"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462">
                    <a:solidFill>
                      <a:srgbClr val="000000"/>
                    </a:solidFill>
                    <a:ea typeface="宋体" panose="02010600030101010101" pitchFamily="2" charset="-122"/>
                  </a:rPr>
                  <a:t>真实 </a:t>
                </a:r>
                <a:r>
                  <a:rPr lang="en-US" altLang="zh-CN" sz="1462">
                    <a:solidFill>
                      <a:srgbClr val="000000"/>
                    </a:solidFill>
                    <a:ea typeface="宋体" panose="02010600030101010101" pitchFamily="2" charset="-122"/>
                  </a:rPr>
                  <a:t>GDP</a:t>
                </a:r>
              </a:p>
            </p:txBody>
          </p:sp>
          <p:sp>
            <p:nvSpPr>
              <p:cNvPr id="59402" name="Line 9">
                <a:extLst>
                  <a:ext uri="{FF2B5EF4-FFF2-40B4-BE49-F238E27FC236}">
                    <a16:creationId xmlns:a16="http://schemas.microsoft.com/office/drawing/2014/main" id="{79C0BA30-E169-8F71-0F00-E507C93F88BA}"/>
                  </a:ext>
                </a:extLst>
              </p:cNvPr>
              <p:cNvSpPr>
                <a:spLocks noChangeShapeType="1"/>
              </p:cNvSpPr>
              <p:nvPr/>
            </p:nvSpPr>
            <p:spPr bwMode="auto">
              <a:xfrm>
                <a:off x="93" y="336"/>
                <a:ext cx="13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grpSp>
      <p:sp>
        <p:nvSpPr>
          <p:cNvPr id="4" name="页脚占位符 1">
            <a:extLst>
              <a:ext uri="{FF2B5EF4-FFF2-40B4-BE49-F238E27FC236}">
                <a16:creationId xmlns:a16="http://schemas.microsoft.com/office/drawing/2014/main" id="{FC6DA7D8-59E6-9E3D-F73B-405A0E4515CF}"/>
              </a:ext>
            </a:extLst>
          </p:cNvPr>
          <p:cNvSpPr>
            <a:spLocks noGrp="1"/>
          </p:cNvSpPr>
          <p:nvPr>
            <p:ph type="ftr" sz="quarter" idx="10"/>
          </p:nvPr>
        </p:nvSpPr>
        <p:spPr>
          <a:xfrm>
            <a:off x="144066" y="3226028"/>
            <a:ext cx="3698485" cy="185054"/>
          </a:xfrm>
        </p:spPr>
        <p:txBody>
          <a:bodyPr/>
          <a:lstStyle/>
          <a:p>
            <a:pPr defTabSz="461040" fontAlgn="base">
              <a:spcBef>
                <a:spcPct val="0"/>
              </a:spcBef>
              <a:spcAft>
                <a:spcPct val="0"/>
              </a:spcAft>
            </a:pPr>
            <a:r>
              <a:rPr lang="zh-CN" altLang="en-US" sz="908" dirty="0">
                <a:latin typeface="Arial" panose="020B0604020202020204" pitchFamily="34" charset="0"/>
              </a:rPr>
              <a:t>国内生产总值</a:t>
            </a:r>
            <a:endParaRPr lang="zh-CN" altLang="zh-CN" sz="908" dirty="0">
              <a:latin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59397"/>
                                        </p:tgtEl>
                                        <p:attrNameLst>
                                          <p:attrName>style.visibility</p:attrName>
                                        </p:attrNameLst>
                                      </p:cBhvr>
                                      <p:to>
                                        <p:strVal val="visible"/>
                                      </p:to>
                                    </p:set>
                                    <p:animEffect transition="in" filter="dissolve">
                                      <p:cBhvr>
                                        <p:cTn id="7" dur="500"/>
                                        <p:tgtEl>
                                          <p:spTgt spid="593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9396"/>
                                        </p:tgtEl>
                                        <p:attrNameLst>
                                          <p:attrName>style.visibility</p:attrName>
                                        </p:attrNameLst>
                                      </p:cBhvr>
                                      <p:to>
                                        <p:strVal val="visible"/>
                                      </p:to>
                                    </p:set>
                                    <p:animEffect transition="in" filter="wipe(left)">
                                      <p:cBhvr>
                                        <p:cTn id="12" dur="500"/>
                                        <p:tgtEl>
                                          <p:spTgt spid="59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6"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3A3D550A-CA61-55CA-AF07-39550FFAE028}"/>
              </a:ext>
            </a:extLst>
          </p:cNvPr>
          <p:cNvSpPr>
            <a:spLocks noGrp="1"/>
          </p:cNvSpPr>
          <p:nvPr>
            <p:ph type="sldNum" sz="quarter" idx="11"/>
          </p:nvPr>
        </p:nvSpPr>
        <p:spPr/>
        <p:txBody>
          <a:bodyPr/>
          <a:lstStyle/>
          <a:p>
            <a:pPr defTabSz="461040" fontAlgn="base">
              <a:spcBef>
                <a:spcPct val="0"/>
              </a:spcBef>
              <a:spcAft>
                <a:spcPct val="0"/>
              </a:spcAft>
            </a:pPr>
            <a:fld id="{2CD10290-F54D-E344-B810-8F96B93B3726}" type="slidenum">
              <a:rPr lang="zh-CN" altLang="zh-CN">
                <a:latin typeface="Arial" panose="020B0604020202020204" pitchFamily="34" charset="0"/>
              </a:rPr>
              <a:pPr defTabSz="461040" fontAlgn="base">
                <a:spcBef>
                  <a:spcPct val="0"/>
                </a:spcBef>
                <a:spcAft>
                  <a:spcPct val="0"/>
                </a:spcAft>
              </a:pPr>
              <a:t>55</a:t>
            </a:fld>
            <a:endParaRPr lang="en-US" altLang="zh-CN">
              <a:latin typeface="Arial" panose="020B0604020202020204" pitchFamily="34" charset="0"/>
            </a:endParaRPr>
          </a:p>
        </p:txBody>
      </p:sp>
      <p:sp>
        <p:nvSpPr>
          <p:cNvPr id="61442" name="Rectangle 2">
            <a:extLst>
              <a:ext uri="{FF2B5EF4-FFF2-40B4-BE49-F238E27FC236}">
                <a16:creationId xmlns:a16="http://schemas.microsoft.com/office/drawing/2014/main" id="{C8685688-FA75-0140-A7F9-32F77FCF2E76}"/>
              </a:ext>
            </a:extLst>
          </p:cNvPr>
          <p:cNvSpPr>
            <a:spLocks noGrp="1" noChangeArrowheads="1"/>
          </p:cNvSpPr>
          <p:nvPr>
            <p:ph type="title" idx="4294967295"/>
          </p:nvPr>
        </p:nvSpPr>
        <p:spPr>
          <a:xfrm>
            <a:off x="201692" y="125644"/>
            <a:ext cx="3402350" cy="286531"/>
          </a:xfrm>
        </p:spPr>
        <p:txBody>
          <a:bodyPr/>
          <a:lstStyle/>
          <a:p>
            <a:pPr algn="l"/>
            <a:r>
              <a:rPr lang="zh-CN" altLang="zh-CN" sz="1714">
                <a:ea typeface="宋体" panose="02010600030101010101" pitchFamily="2" charset="-122"/>
              </a:rPr>
              <a:t>例：</a:t>
            </a:r>
            <a:endParaRPr lang="zh-CN" altLang="en-US" sz="1714">
              <a:ea typeface="宋体" panose="02010600030101010101" pitchFamily="2" charset="-122"/>
            </a:endParaRPr>
          </a:p>
        </p:txBody>
      </p:sp>
      <p:sp>
        <p:nvSpPr>
          <p:cNvPr id="61443" name="Rectangle 3">
            <a:extLst>
              <a:ext uri="{FF2B5EF4-FFF2-40B4-BE49-F238E27FC236}">
                <a16:creationId xmlns:a16="http://schemas.microsoft.com/office/drawing/2014/main" id="{0F5871BD-5A9C-F668-515E-661D8AAEAA6F}"/>
              </a:ext>
            </a:extLst>
          </p:cNvPr>
          <p:cNvSpPr>
            <a:spLocks noGrp="1" noChangeArrowheads="1"/>
          </p:cNvSpPr>
          <p:nvPr>
            <p:ph type="body" idx="4294967295"/>
          </p:nvPr>
        </p:nvSpPr>
        <p:spPr>
          <a:xfrm>
            <a:off x="168077" y="1839225"/>
            <a:ext cx="4106671" cy="273725"/>
          </a:xfrm>
        </p:spPr>
        <p:txBody>
          <a:bodyPr/>
          <a:lstStyle/>
          <a:p>
            <a:pPr marL="144075" indent="-144075">
              <a:spcBef>
                <a:spcPct val="50000"/>
              </a:spcBef>
              <a:buNone/>
              <a:tabLst>
                <a:tab pos="2450078" algn="l"/>
              </a:tabLst>
            </a:pPr>
            <a:r>
              <a:rPr lang="zh-CN" altLang="zh-CN">
                <a:ea typeface="宋体" panose="02010600030101010101" pitchFamily="2" charset="-122"/>
              </a:rPr>
              <a:t>计算每年的GDP 平减指数：</a:t>
            </a:r>
          </a:p>
        </p:txBody>
      </p:sp>
      <p:graphicFrame>
        <p:nvGraphicFramePr>
          <p:cNvPr id="61444" name="Group 4">
            <a:extLst>
              <a:ext uri="{FF2B5EF4-FFF2-40B4-BE49-F238E27FC236}">
                <a16:creationId xmlns:a16="http://schemas.microsoft.com/office/drawing/2014/main" id="{38E5CF31-F649-5FE5-700E-2F57341665DE}"/>
              </a:ext>
            </a:extLst>
          </p:cNvPr>
          <p:cNvGraphicFramePr>
            <a:graphicFrameLocks noGrp="1"/>
          </p:cNvGraphicFramePr>
          <p:nvPr/>
        </p:nvGraphicFramePr>
        <p:xfrm>
          <a:off x="277727" y="472202"/>
          <a:ext cx="3927388" cy="1166932"/>
        </p:xfrm>
        <a:graphic>
          <a:graphicData uri="http://schemas.openxmlformats.org/drawingml/2006/table">
            <a:tbl>
              <a:tblPr/>
              <a:tblGrid>
                <a:gridCol w="556253">
                  <a:extLst>
                    <a:ext uri="{9D8B030D-6E8A-4147-A177-3AD203B41FA5}">
                      <a16:colId xmlns:a16="http://schemas.microsoft.com/office/drawing/2014/main" val="728387358"/>
                    </a:ext>
                  </a:extLst>
                </a:gridCol>
                <a:gridCol w="904412">
                  <a:extLst>
                    <a:ext uri="{9D8B030D-6E8A-4147-A177-3AD203B41FA5}">
                      <a16:colId xmlns:a16="http://schemas.microsoft.com/office/drawing/2014/main" val="905918934"/>
                    </a:ext>
                  </a:extLst>
                </a:gridCol>
                <a:gridCol w="849987">
                  <a:extLst>
                    <a:ext uri="{9D8B030D-6E8A-4147-A177-3AD203B41FA5}">
                      <a16:colId xmlns:a16="http://schemas.microsoft.com/office/drawing/2014/main" val="3765460706"/>
                    </a:ext>
                  </a:extLst>
                </a:gridCol>
                <a:gridCol w="724330">
                  <a:extLst>
                    <a:ext uri="{9D8B030D-6E8A-4147-A177-3AD203B41FA5}">
                      <a16:colId xmlns:a16="http://schemas.microsoft.com/office/drawing/2014/main" val="2387959041"/>
                    </a:ext>
                  </a:extLst>
                </a:gridCol>
                <a:gridCol w="892406">
                  <a:extLst>
                    <a:ext uri="{9D8B030D-6E8A-4147-A177-3AD203B41FA5}">
                      <a16:colId xmlns:a16="http://schemas.microsoft.com/office/drawing/2014/main" val="3705139793"/>
                    </a:ext>
                  </a:extLst>
                </a:gridCol>
              </a:tblGrid>
              <a:tr h="432997">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年份</a:t>
                      </a: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名义 </a:t>
                      </a:r>
                      <a:br>
                        <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br>
                      <a:r>
                        <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GDP</a:t>
                      </a: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真实</a:t>
                      </a:r>
                      <a:br>
                        <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br>
                      <a:r>
                        <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GDP</a:t>
                      </a: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GDP </a:t>
                      </a:r>
                      <a:br>
                        <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br>
                      <a:r>
                        <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平减指数</a:t>
                      </a: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89587626"/>
                  </a:ext>
                </a:extLst>
              </a:tr>
              <a:tr h="244912">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2005</a:t>
                      </a:r>
                    </a:p>
                  </a:txBody>
                  <a:tcPr marL="46101" marR="46101" marT="23051" marB="23051"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$6000</a:t>
                      </a:r>
                    </a:p>
                  </a:txBody>
                  <a:tcPr marL="46101" marR="115253" marT="23051" marB="23051"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$6000</a:t>
                      </a:r>
                    </a:p>
                  </a:txBody>
                  <a:tcPr marL="46101" marR="46101" marT="23051" marB="23051"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anchorCtr="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3584351261"/>
                  </a:ext>
                </a:extLst>
              </a:tr>
              <a:tr h="244912">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2006</a:t>
                      </a: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$8250</a:t>
                      </a:r>
                    </a:p>
                  </a:txBody>
                  <a:tcPr marL="46101" marR="115253" marT="23051" marB="23051" anchor="ctr"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$7200</a:t>
                      </a: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4125226053"/>
                  </a:ext>
                </a:extLst>
              </a:tr>
              <a:tr h="244111">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2007</a:t>
                      </a: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$10,800</a:t>
                      </a:r>
                    </a:p>
                  </a:txBody>
                  <a:tcPr marL="46101" marR="115253" marT="23051" marB="23051" anchor="ctr"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$8400</a:t>
                      </a: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anchorCtr="1" horzOverflow="overflow">
                    <a:lnL>
                      <a:noFill/>
                    </a:lnL>
                    <a:lnR>
                      <a:noFill/>
                    </a:lnR>
                    <a:lnT>
                      <a:noFill/>
                    </a:lnT>
                    <a:lnB>
                      <a:noFill/>
                    </a:lnB>
                    <a:lnTlToBr>
                      <a:noFill/>
                    </a:lnTlToBr>
                    <a:lnBlToTr>
                      <a:noFill/>
                    </a:lnBlToTr>
                    <a:no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893384269"/>
                  </a:ext>
                </a:extLst>
              </a:tr>
            </a:tbl>
          </a:graphicData>
        </a:graphic>
      </p:graphicFrame>
      <p:grpSp>
        <p:nvGrpSpPr>
          <p:cNvPr id="61466" name="Group 26">
            <a:extLst>
              <a:ext uri="{FF2B5EF4-FFF2-40B4-BE49-F238E27FC236}">
                <a16:creationId xmlns:a16="http://schemas.microsoft.com/office/drawing/2014/main" id="{3B1D26A3-0E90-5A59-8BDF-6CAE4F186333}"/>
              </a:ext>
            </a:extLst>
          </p:cNvPr>
          <p:cNvGrpSpPr>
            <a:grpSpLocks/>
          </p:cNvGrpSpPr>
          <p:nvPr/>
        </p:nvGrpSpPr>
        <p:grpSpPr bwMode="auto">
          <a:xfrm>
            <a:off x="340156" y="927610"/>
            <a:ext cx="3160639" cy="1503085"/>
            <a:chOff x="0" y="0"/>
            <a:chExt cx="3949" cy="1878"/>
          </a:xfrm>
        </p:grpSpPr>
        <p:sp>
          <p:nvSpPr>
            <p:cNvPr id="61467" name="Rectangle 43">
              <a:extLst>
                <a:ext uri="{FF2B5EF4-FFF2-40B4-BE49-F238E27FC236}">
                  <a16:creationId xmlns:a16="http://schemas.microsoft.com/office/drawing/2014/main" id="{EF6F19B5-7247-E23B-ECC4-514E39065F24}"/>
                </a:ext>
              </a:extLst>
            </p:cNvPr>
            <p:cNvSpPr>
              <a:spLocks noChangeArrowheads="1"/>
            </p:cNvSpPr>
            <p:nvPr/>
          </p:nvSpPr>
          <p:spPr bwMode="auto">
            <a:xfrm>
              <a:off x="0" y="1536"/>
              <a:ext cx="3949"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1200150" algn="l"/>
                </a:tabLst>
                <a:defRPr>
                  <a:solidFill>
                    <a:schemeClr val="tx1"/>
                  </a:solidFill>
                  <a:latin typeface="Arial" panose="020B0604020202020204" pitchFamily="34" charset="0"/>
                </a:defRPr>
              </a:lvl1pPr>
              <a:lvl2pPr marL="742950" indent="-285750">
                <a:tabLst>
                  <a:tab pos="1200150" algn="l"/>
                </a:tabLst>
                <a:defRPr>
                  <a:solidFill>
                    <a:schemeClr val="tx1"/>
                  </a:solidFill>
                  <a:latin typeface="Arial" panose="020B0604020202020204" pitchFamily="34" charset="0"/>
                </a:defRPr>
              </a:lvl2pPr>
              <a:lvl3pPr marL="1143000" indent="-228600">
                <a:tabLst>
                  <a:tab pos="1200150" algn="l"/>
                </a:tabLst>
                <a:defRPr>
                  <a:solidFill>
                    <a:schemeClr val="tx1"/>
                  </a:solidFill>
                  <a:latin typeface="Arial" panose="020B0604020202020204" pitchFamily="34" charset="0"/>
                </a:defRPr>
              </a:lvl3pPr>
              <a:lvl4pPr marL="1600200" indent="-228600">
                <a:tabLst>
                  <a:tab pos="1200150" algn="l"/>
                </a:tabLst>
                <a:defRPr>
                  <a:solidFill>
                    <a:schemeClr val="tx1"/>
                  </a:solidFill>
                  <a:latin typeface="Arial" panose="020B0604020202020204" pitchFamily="34" charset="0"/>
                </a:defRPr>
              </a:lvl4pPr>
              <a:lvl5pPr marL="2057400" indent="-228600">
                <a:tabLst>
                  <a:tab pos="1200150" algn="l"/>
                </a:tabLst>
                <a:defRPr>
                  <a:solidFill>
                    <a:schemeClr val="tx1"/>
                  </a:solidFill>
                  <a:latin typeface="Arial" panose="020B0604020202020204" pitchFamily="34" charset="0"/>
                </a:defRPr>
              </a:lvl5pPr>
              <a:lvl6pPr marL="2514600" indent="-228600" fontAlgn="base">
                <a:spcBef>
                  <a:spcPct val="0"/>
                </a:spcBef>
                <a:spcAft>
                  <a:spcPct val="0"/>
                </a:spcAft>
                <a:tabLst>
                  <a:tab pos="1200150" algn="l"/>
                </a:tabLst>
                <a:defRPr>
                  <a:solidFill>
                    <a:schemeClr val="tx1"/>
                  </a:solidFill>
                  <a:latin typeface="Arial" panose="020B0604020202020204" pitchFamily="34" charset="0"/>
                </a:defRPr>
              </a:lvl6pPr>
              <a:lvl7pPr marL="2971800" indent="-228600" fontAlgn="base">
                <a:spcBef>
                  <a:spcPct val="0"/>
                </a:spcBef>
                <a:spcAft>
                  <a:spcPct val="0"/>
                </a:spcAft>
                <a:tabLst>
                  <a:tab pos="1200150" algn="l"/>
                </a:tabLst>
                <a:defRPr>
                  <a:solidFill>
                    <a:schemeClr val="tx1"/>
                  </a:solidFill>
                  <a:latin typeface="Arial" panose="020B0604020202020204" pitchFamily="34" charset="0"/>
                </a:defRPr>
              </a:lvl7pPr>
              <a:lvl8pPr marL="3429000" indent="-228600" fontAlgn="base">
                <a:spcBef>
                  <a:spcPct val="0"/>
                </a:spcBef>
                <a:spcAft>
                  <a:spcPct val="0"/>
                </a:spcAft>
                <a:tabLst>
                  <a:tab pos="1200150" algn="l"/>
                </a:tabLst>
                <a:defRPr>
                  <a:solidFill>
                    <a:schemeClr val="tx1"/>
                  </a:solidFill>
                  <a:latin typeface="Arial" panose="020B0604020202020204" pitchFamily="34" charset="0"/>
                </a:defRPr>
              </a:lvl8pPr>
              <a:lvl9pPr marL="3886200" indent="-228600" fontAlgn="base">
                <a:spcBef>
                  <a:spcPct val="0"/>
                </a:spcBef>
                <a:spcAft>
                  <a:spcPct val="0"/>
                </a:spcAft>
                <a:tabLst>
                  <a:tab pos="1200150" algn="l"/>
                </a:tabLst>
                <a:defRPr>
                  <a:solidFill>
                    <a:schemeClr val="tx1"/>
                  </a:solidFill>
                  <a:latin typeface="Arial" panose="020B0604020202020204" pitchFamily="34" charset="0"/>
                </a:defRPr>
              </a:lvl9pPr>
            </a:lstStyle>
            <a:p>
              <a:pPr defTabSz="461040" fontAlgn="base">
                <a:lnSpc>
                  <a:spcPct val="105000"/>
                </a:lnSpc>
                <a:spcBef>
                  <a:spcPct val="50000"/>
                </a:spcBef>
                <a:spcAft>
                  <a:spcPct val="0"/>
                </a:spcAft>
                <a:buClr>
                  <a:srgbClr val="00B85C"/>
                </a:buClr>
                <a:buSzPct val="120000"/>
                <a:tabLst>
                  <a:tab pos="605116" algn="l"/>
                </a:tabLst>
              </a:pPr>
              <a:r>
                <a:rPr lang="en-US" altLang="zh-CN" sz="1210">
                  <a:solidFill>
                    <a:srgbClr val="000000"/>
                  </a:solidFill>
                  <a:ea typeface="宋体" panose="02010600030101010101" pitchFamily="2" charset="-122"/>
                </a:rPr>
                <a:t>2005:	100 x (6000/6000)  = 	</a:t>
              </a:r>
              <a:r>
                <a:rPr lang="en-US" altLang="zh-CN" sz="1210">
                  <a:solidFill>
                    <a:srgbClr val="FF0000"/>
                  </a:solidFill>
                  <a:ea typeface="宋体" panose="02010600030101010101" pitchFamily="2" charset="-122"/>
                </a:rPr>
                <a:t>100.0</a:t>
              </a:r>
            </a:p>
          </p:txBody>
        </p:sp>
        <p:sp>
          <p:nvSpPr>
            <p:cNvPr id="61468" name="Rectangle 44">
              <a:extLst>
                <a:ext uri="{FF2B5EF4-FFF2-40B4-BE49-F238E27FC236}">
                  <a16:creationId xmlns:a16="http://schemas.microsoft.com/office/drawing/2014/main" id="{EB4E0527-EBAB-ECD7-01A3-D4AA28F2101D}"/>
                </a:ext>
              </a:extLst>
            </p:cNvPr>
            <p:cNvSpPr>
              <a:spLocks noChangeArrowheads="1"/>
            </p:cNvSpPr>
            <p:nvPr/>
          </p:nvSpPr>
          <p:spPr bwMode="auto">
            <a:xfrm>
              <a:off x="2815" y="0"/>
              <a:ext cx="805"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lnSpc>
                  <a:spcPct val="105000"/>
                </a:lnSpc>
                <a:spcBef>
                  <a:spcPct val="50000"/>
                </a:spcBef>
                <a:spcAft>
                  <a:spcPct val="0"/>
                </a:spcAft>
                <a:buClr>
                  <a:srgbClr val="00B85C"/>
                </a:buClr>
                <a:buSzPct val="120000"/>
              </a:pPr>
              <a:r>
                <a:rPr lang="en-US" altLang="zh-CN" sz="1210" dirty="0">
                  <a:solidFill>
                    <a:srgbClr val="FF0000"/>
                  </a:solidFill>
                  <a:ea typeface="宋体" panose="02010600030101010101" pitchFamily="2" charset="-122"/>
                </a:rPr>
                <a:t>100.0</a:t>
              </a:r>
            </a:p>
          </p:txBody>
        </p:sp>
      </p:grpSp>
      <p:grpSp>
        <p:nvGrpSpPr>
          <p:cNvPr id="61469" name="Group 29">
            <a:extLst>
              <a:ext uri="{FF2B5EF4-FFF2-40B4-BE49-F238E27FC236}">
                <a16:creationId xmlns:a16="http://schemas.microsoft.com/office/drawing/2014/main" id="{B6094DFB-C449-94AE-FCFD-7B3D2877F62F}"/>
              </a:ext>
            </a:extLst>
          </p:cNvPr>
          <p:cNvGrpSpPr>
            <a:grpSpLocks/>
          </p:cNvGrpSpPr>
          <p:nvPr/>
        </p:nvGrpSpPr>
        <p:grpSpPr bwMode="auto">
          <a:xfrm>
            <a:off x="344157" y="1178124"/>
            <a:ext cx="3160640" cy="1547905"/>
            <a:chOff x="0" y="0"/>
            <a:chExt cx="3949" cy="1934"/>
          </a:xfrm>
        </p:grpSpPr>
        <p:sp>
          <p:nvSpPr>
            <p:cNvPr id="61470" name="Rectangle 46">
              <a:extLst>
                <a:ext uri="{FF2B5EF4-FFF2-40B4-BE49-F238E27FC236}">
                  <a16:creationId xmlns:a16="http://schemas.microsoft.com/office/drawing/2014/main" id="{84DC6DDA-CCE2-0A9A-070E-E926A933610C}"/>
                </a:ext>
              </a:extLst>
            </p:cNvPr>
            <p:cNvSpPr>
              <a:spLocks noChangeArrowheads="1"/>
            </p:cNvSpPr>
            <p:nvPr/>
          </p:nvSpPr>
          <p:spPr bwMode="auto">
            <a:xfrm>
              <a:off x="0" y="1592"/>
              <a:ext cx="3949"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1200150" algn="l"/>
                </a:tabLst>
                <a:defRPr>
                  <a:solidFill>
                    <a:schemeClr val="tx1"/>
                  </a:solidFill>
                  <a:latin typeface="Arial" panose="020B0604020202020204" pitchFamily="34" charset="0"/>
                </a:defRPr>
              </a:lvl1pPr>
              <a:lvl2pPr marL="742950" indent="-285750">
                <a:tabLst>
                  <a:tab pos="1200150" algn="l"/>
                </a:tabLst>
                <a:defRPr>
                  <a:solidFill>
                    <a:schemeClr val="tx1"/>
                  </a:solidFill>
                  <a:latin typeface="Arial" panose="020B0604020202020204" pitchFamily="34" charset="0"/>
                </a:defRPr>
              </a:lvl2pPr>
              <a:lvl3pPr marL="1143000" indent="-228600">
                <a:tabLst>
                  <a:tab pos="1200150" algn="l"/>
                </a:tabLst>
                <a:defRPr>
                  <a:solidFill>
                    <a:schemeClr val="tx1"/>
                  </a:solidFill>
                  <a:latin typeface="Arial" panose="020B0604020202020204" pitchFamily="34" charset="0"/>
                </a:defRPr>
              </a:lvl3pPr>
              <a:lvl4pPr marL="1600200" indent="-228600">
                <a:tabLst>
                  <a:tab pos="1200150" algn="l"/>
                </a:tabLst>
                <a:defRPr>
                  <a:solidFill>
                    <a:schemeClr val="tx1"/>
                  </a:solidFill>
                  <a:latin typeface="Arial" panose="020B0604020202020204" pitchFamily="34" charset="0"/>
                </a:defRPr>
              </a:lvl4pPr>
              <a:lvl5pPr marL="2057400" indent="-228600">
                <a:tabLst>
                  <a:tab pos="1200150" algn="l"/>
                </a:tabLst>
                <a:defRPr>
                  <a:solidFill>
                    <a:schemeClr val="tx1"/>
                  </a:solidFill>
                  <a:latin typeface="Arial" panose="020B0604020202020204" pitchFamily="34" charset="0"/>
                </a:defRPr>
              </a:lvl5pPr>
              <a:lvl6pPr marL="2514600" indent="-228600" fontAlgn="base">
                <a:spcBef>
                  <a:spcPct val="0"/>
                </a:spcBef>
                <a:spcAft>
                  <a:spcPct val="0"/>
                </a:spcAft>
                <a:tabLst>
                  <a:tab pos="1200150" algn="l"/>
                </a:tabLst>
                <a:defRPr>
                  <a:solidFill>
                    <a:schemeClr val="tx1"/>
                  </a:solidFill>
                  <a:latin typeface="Arial" panose="020B0604020202020204" pitchFamily="34" charset="0"/>
                </a:defRPr>
              </a:lvl6pPr>
              <a:lvl7pPr marL="2971800" indent="-228600" fontAlgn="base">
                <a:spcBef>
                  <a:spcPct val="0"/>
                </a:spcBef>
                <a:spcAft>
                  <a:spcPct val="0"/>
                </a:spcAft>
                <a:tabLst>
                  <a:tab pos="1200150" algn="l"/>
                </a:tabLst>
                <a:defRPr>
                  <a:solidFill>
                    <a:schemeClr val="tx1"/>
                  </a:solidFill>
                  <a:latin typeface="Arial" panose="020B0604020202020204" pitchFamily="34" charset="0"/>
                </a:defRPr>
              </a:lvl7pPr>
              <a:lvl8pPr marL="3429000" indent="-228600" fontAlgn="base">
                <a:spcBef>
                  <a:spcPct val="0"/>
                </a:spcBef>
                <a:spcAft>
                  <a:spcPct val="0"/>
                </a:spcAft>
                <a:tabLst>
                  <a:tab pos="1200150" algn="l"/>
                </a:tabLst>
                <a:defRPr>
                  <a:solidFill>
                    <a:schemeClr val="tx1"/>
                  </a:solidFill>
                  <a:latin typeface="Arial" panose="020B0604020202020204" pitchFamily="34" charset="0"/>
                </a:defRPr>
              </a:lvl8pPr>
              <a:lvl9pPr marL="3886200" indent="-228600" fontAlgn="base">
                <a:spcBef>
                  <a:spcPct val="0"/>
                </a:spcBef>
                <a:spcAft>
                  <a:spcPct val="0"/>
                </a:spcAft>
                <a:tabLst>
                  <a:tab pos="1200150" algn="l"/>
                </a:tabLst>
                <a:defRPr>
                  <a:solidFill>
                    <a:schemeClr val="tx1"/>
                  </a:solidFill>
                  <a:latin typeface="Arial" panose="020B0604020202020204" pitchFamily="34" charset="0"/>
                </a:defRPr>
              </a:lvl9pPr>
            </a:lstStyle>
            <a:p>
              <a:pPr defTabSz="461040" fontAlgn="base">
                <a:lnSpc>
                  <a:spcPct val="105000"/>
                </a:lnSpc>
                <a:spcBef>
                  <a:spcPct val="50000"/>
                </a:spcBef>
                <a:spcAft>
                  <a:spcPct val="0"/>
                </a:spcAft>
                <a:buClr>
                  <a:srgbClr val="00B85C"/>
                </a:buClr>
                <a:buSzPct val="120000"/>
                <a:tabLst>
                  <a:tab pos="605116" algn="l"/>
                </a:tabLst>
              </a:pPr>
              <a:r>
                <a:rPr lang="en-US" altLang="zh-CN" sz="1210">
                  <a:solidFill>
                    <a:srgbClr val="000000"/>
                  </a:solidFill>
                  <a:ea typeface="宋体" panose="02010600030101010101" pitchFamily="2" charset="-122"/>
                </a:rPr>
                <a:t>2006:	100 x (8250/7200)  = 	</a:t>
              </a:r>
              <a:r>
                <a:rPr lang="en-US" altLang="zh-CN" sz="1210">
                  <a:solidFill>
                    <a:srgbClr val="FF0000"/>
                  </a:solidFill>
                  <a:ea typeface="宋体" panose="02010600030101010101" pitchFamily="2" charset="-122"/>
                </a:rPr>
                <a:t>114.6</a:t>
              </a:r>
            </a:p>
          </p:txBody>
        </p:sp>
        <p:sp>
          <p:nvSpPr>
            <p:cNvPr id="61471" name="Rectangle 47">
              <a:extLst>
                <a:ext uri="{FF2B5EF4-FFF2-40B4-BE49-F238E27FC236}">
                  <a16:creationId xmlns:a16="http://schemas.microsoft.com/office/drawing/2014/main" id="{32B267A3-A564-876A-E48F-BEB6E0FC92A2}"/>
                </a:ext>
              </a:extLst>
            </p:cNvPr>
            <p:cNvSpPr>
              <a:spLocks noChangeArrowheads="1"/>
            </p:cNvSpPr>
            <p:nvPr/>
          </p:nvSpPr>
          <p:spPr bwMode="auto">
            <a:xfrm>
              <a:off x="2810" y="0"/>
              <a:ext cx="803"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lnSpc>
                  <a:spcPct val="105000"/>
                </a:lnSpc>
                <a:spcBef>
                  <a:spcPct val="50000"/>
                </a:spcBef>
                <a:spcAft>
                  <a:spcPct val="0"/>
                </a:spcAft>
                <a:buClr>
                  <a:srgbClr val="00B85C"/>
                </a:buClr>
                <a:buSzPct val="120000"/>
              </a:pPr>
              <a:r>
                <a:rPr lang="en-US" altLang="zh-CN" sz="1210" dirty="0">
                  <a:solidFill>
                    <a:srgbClr val="FF0000"/>
                  </a:solidFill>
                  <a:ea typeface="宋体" panose="02010600030101010101" pitchFamily="2" charset="-122"/>
                </a:rPr>
                <a:t>114.6</a:t>
              </a:r>
            </a:p>
          </p:txBody>
        </p:sp>
      </p:grpSp>
      <p:grpSp>
        <p:nvGrpSpPr>
          <p:cNvPr id="61472" name="Group 32">
            <a:extLst>
              <a:ext uri="{FF2B5EF4-FFF2-40B4-BE49-F238E27FC236}">
                <a16:creationId xmlns:a16="http://schemas.microsoft.com/office/drawing/2014/main" id="{7064FB3F-637A-A574-40E9-113AA658AC7B}"/>
              </a:ext>
            </a:extLst>
          </p:cNvPr>
          <p:cNvGrpSpPr>
            <a:grpSpLocks/>
          </p:cNvGrpSpPr>
          <p:nvPr/>
        </p:nvGrpSpPr>
        <p:grpSpPr bwMode="auto">
          <a:xfrm>
            <a:off x="342556" y="1417433"/>
            <a:ext cx="3160640" cy="1620738"/>
            <a:chOff x="0" y="0"/>
            <a:chExt cx="3949" cy="2025"/>
          </a:xfrm>
        </p:grpSpPr>
        <p:sp>
          <p:nvSpPr>
            <p:cNvPr id="61473" name="Rectangle 49">
              <a:extLst>
                <a:ext uri="{FF2B5EF4-FFF2-40B4-BE49-F238E27FC236}">
                  <a16:creationId xmlns:a16="http://schemas.microsoft.com/office/drawing/2014/main" id="{1029D6A3-4C3E-B37C-0E07-0055DF5B8676}"/>
                </a:ext>
              </a:extLst>
            </p:cNvPr>
            <p:cNvSpPr>
              <a:spLocks noChangeArrowheads="1"/>
            </p:cNvSpPr>
            <p:nvPr/>
          </p:nvSpPr>
          <p:spPr bwMode="auto">
            <a:xfrm>
              <a:off x="0" y="1683"/>
              <a:ext cx="3949"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1081088" algn="l"/>
                </a:tabLst>
                <a:defRPr>
                  <a:solidFill>
                    <a:schemeClr val="tx1"/>
                  </a:solidFill>
                  <a:latin typeface="Arial" panose="020B0604020202020204" pitchFamily="34" charset="0"/>
                </a:defRPr>
              </a:lvl1pPr>
              <a:lvl2pPr marL="742950" indent="-285750">
                <a:tabLst>
                  <a:tab pos="1081088" algn="l"/>
                </a:tabLst>
                <a:defRPr>
                  <a:solidFill>
                    <a:schemeClr val="tx1"/>
                  </a:solidFill>
                  <a:latin typeface="Arial" panose="020B0604020202020204" pitchFamily="34" charset="0"/>
                </a:defRPr>
              </a:lvl2pPr>
              <a:lvl3pPr marL="1143000" indent="-228600">
                <a:tabLst>
                  <a:tab pos="1081088" algn="l"/>
                </a:tabLst>
                <a:defRPr>
                  <a:solidFill>
                    <a:schemeClr val="tx1"/>
                  </a:solidFill>
                  <a:latin typeface="Arial" panose="020B0604020202020204" pitchFamily="34" charset="0"/>
                </a:defRPr>
              </a:lvl3pPr>
              <a:lvl4pPr marL="1600200" indent="-228600">
                <a:tabLst>
                  <a:tab pos="1081088" algn="l"/>
                </a:tabLst>
                <a:defRPr>
                  <a:solidFill>
                    <a:schemeClr val="tx1"/>
                  </a:solidFill>
                  <a:latin typeface="Arial" panose="020B0604020202020204" pitchFamily="34" charset="0"/>
                </a:defRPr>
              </a:lvl4pPr>
              <a:lvl5pPr marL="2057400" indent="-228600">
                <a:tabLst>
                  <a:tab pos="1081088" algn="l"/>
                </a:tabLst>
                <a:defRPr>
                  <a:solidFill>
                    <a:schemeClr val="tx1"/>
                  </a:solidFill>
                  <a:latin typeface="Arial" panose="020B0604020202020204" pitchFamily="34" charset="0"/>
                </a:defRPr>
              </a:lvl5pPr>
              <a:lvl6pPr marL="2514600" indent="-228600" fontAlgn="base">
                <a:spcBef>
                  <a:spcPct val="0"/>
                </a:spcBef>
                <a:spcAft>
                  <a:spcPct val="0"/>
                </a:spcAft>
                <a:tabLst>
                  <a:tab pos="1081088" algn="l"/>
                </a:tabLst>
                <a:defRPr>
                  <a:solidFill>
                    <a:schemeClr val="tx1"/>
                  </a:solidFill>
                  <a:latin typeface="Arial" panose="020B0604020202020204" pitchFamily="34" charset="0"/>
                </a:defRPr>
              </a:lvl6pPr>
              <a:lvl7pPr marL="2971800" indent="-228600" fontAlgn="base">
                <a:spcBef>
                  <a:spcPct val="0"/>
                </a:spcBef>
                <a:spcAft>
                  <a:spcPct val="0"/>
                </a:spcAft>
                <a:tabLst>
                  <a:tab pos="1081088" algn="l"/>
                </a:tabLst>
                <a:defRPr>
                  <a:solidFill>
                    <a:schemeClr val="tx1"/>
                  </a:solidFill>
                  <a:latin typeface="Arial" panose="020B0604020202020204" pitchFamily="34" charset="0"/>
                </a:defRPr>
              </a:lvl7pPr>
              <a:lvl8pPr marL="3429000" indent="-228600" fontAlgn="base">
                <a:spcBef>
                  <a:spcPct val="0"/>
                </a:spcBef>
                <a:spcAft>
                  <a:spcPct val="0"/>
                </a:spcAft>
                <a:tabLst>
                  <a:tab pos="1081088" algn="l"/>
                </a:tabLst>
                <a:defRPr>
                  <a:solidFill>
                    <a:schemeClr val="tx1"/>
                  </a:solidFill>
                  <a:latin typeface="Arial" panose="020B0604020202020204" pitchFamily="34" charset="0"/>
                </a:defRPr>
              </a:lvl8pPr>
              <a:lvl9pPr marL="3886200" indent="-228600" fontAlgn="base">
                <a:spcBef>
                  <a:spcPct val="0"/>
                </a:spcBef>
                <a:spcAft>
                  <a:spcPct val="0"/>
                </a:spcAft>
                <a:tabLst>
                  <a:tab pos="1081088" algn="l"/>
                </a:tabLst>
                <a:defRPr>
                  <a:solidFill>
                    <a:schemeClr val="tx1"/>
                  </a:solidFill>
                  <a:latin typeface="Arial" panose="020B0604020202020204" pitchFamily="34" charset="0"/>
                </a:defRPr>
              </a:lvl9pPr>
            </a:lstStyle>
            <a:p>
              <a:pPr defTabSz="461040" fontAlgn="base">
                <a:lnSpc>
                  <a:spcPct val="105000"/>
                </a:lnSpc>
                <a:spcBef>
                  <a:spcPct val="50000"/>
                </a:spcBef>
                <a:spcAft>
                  <a:spcPct val="0"/>
                </a:spcAft>
                <a:buClr>
                  <a:srgbClr val="00B85C"/>
                </a:buClr>
                <a:buSzPct val="120000"/>
                <a:tabLst>
                  <a:tab pos="545085" algn="l"/>
                </a:tabLst>
              </a:pPr>
              <a:r>
                <a:rPr lang="en-US" altLang="zh-CN" sz="1210">
                  <a:solidFill>
                    <a:srgbClr val="000000"/>
                  </a:solidFill>
                  <a:ea typeface="宋体" panose="02010600030101010101" pitchFamily="2" charset="-122"/>
                </a:rPr>
                <a:t>2007:	100 x (10,800/8400) = 	</a:t>
              </a:r>
              <a:r>
                <a:rPr lang="en-US" altLang="zh-CN" sz="1210">
                  <a:solidFill>
                    <a:srgbClr val="FF0000"/>
                  </a:solidFill>
                  <a:ea typeface="宋体" panose="02010600030101010101" pitchFamily="2" charset="-122"/>
                </a:rPr>
                <a:t>128.6</a:t>
              </a:r>
            </a:p>
          </p:txBody>
        </p:sp>
        <p:sp>
          <p:nvSpPr>
            <p:cNvPr id="61474" name="Rectangle 50">
              <a:extLst>
                <a:ext uri="{FF2B5EF4-FFF2-40B4-BE49-F238E27FC236}">
                  <a16:creationId xmlns:a16="http://schemas.microsoft.com/office/drawing/2014/main" id="{4DE4259A-B478-7A95-B594-9D1244D9105E}"/>
                </a:ext>
              </a:extLst>
            </p:cNvPr>
            <p:cNvSpPr>
              <a:spLocks noChangeArrowheads="1"/>
            </p:cNvSpPr>
            <p:nvPr/>
          </p:nvSpPr>
          <p:spPr bwMode="auto">
            <a:xfrm>
              <a:off x="2812" y="0"/>
              <a:ext cx="801"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lnSpc>
                  <a:spcPct val="105000"/>
                </a:lnSpc>
                <a:spcBef>
                  <a:spcPct val="50000"/>
                </a:spcBef>
                <a:spcAft>
                  <a:spcPct val="0"/>
                </a:spcAft>
                <a:buClr>
                  <a:srgbClr val="00B85C"/>
                </a:buClr>
                <a:buSzPct val="120000"/>
              </a:pPr>
              <a:r>
                <a:rPr lang="en-US" altLang="zh-CN" sz="1210" dirty="0">
                  <a:solidFill>
                    <a:srgbClr val="FF0000"/>
                  </a:solidFill>
                  <a:ea typeface="宋体" panose="02010600030101010101" pitchFamily="2" charset="-122"/>
                </a:rPr>
                <a:t>128.6</a:t>
              </a:r>
            </a:p>
          </p:txBody>
        </p:sp>
      </p:grpSp>
      <p:grpSp>
        <p:nvGrpSpPr>
          <p:cNvPr id="61475" name="Group 35">
            <a:extLst>
              <a:ext uri="{FF2B5EF4-FFF2-40B4-BE49-F238E27FC236}">
                <a16:creationId xmlns:a16="http://schemas.microsoft.com/office/drawing/2014/main" id="{970334A2-1CFB-212A-54E5-00EEBB11D814}"/>
              </a:ext>
            </a:extLst>
          </p:cNvPr>
          <p:cNvGrpSpPr>
            <a:grpSpLocks/>
          </p:cNvGrpSpPr>
          <p:nvPr/>
        </p:nvGrpSpPr>
        <p:grpSpPr bwMode="auto">
          <a:xfrm>
            <a:off x="3195856" y="1018051"/>
            <a:ext cx="646695" cy="296135"/>
            <a:chOff x="0" y="0"/>
            <a:chExt cx="808" cy="370"/>
          </a:xfrm>
        </p:grpSpPr>
        <p:sp>
          <p:nvSpPr>
            <p:cNvPr id="61476" name="Text Box 52">
              <a:extLst>
                <a:ext uri="{FF2B5EF4-FFF2-40B4-BE49-F238E27FC236}">
                  <a16:creationId xmlns:a16="http://schemas.microsoft.com/office/drawing/2014/main" id="{90DAB19A-9A6D-7394-A835-2AE2D9432923}"/>
                </a:ext>
              </a:extLst>
            </p:cNvPr>
            <p:cNvSpPr txBox="1">
              <a:spLocks noChangeArrowheads="1"/>
            </p:cNvSpPr>
            <p:nvPr/>
          </p:nvSpPr>
          <p:spPr bwMode="auto">
            <a:xfrm>
              <a:off x="180" y="12"/>
              <a:ext cx="628" cy="358"/>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23051" rIns="23051">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50000"/>
                </a:spcBef>
                <a:spcAft>
                  <a:spcPct val="0"/>
                </a:spcAft>
              </a:pPr>
              <a:r>
                <a:rPr lang="en-US" altLang="zh-CN" sz="1261">
                  <a:solidFill>
                    <a:srgbClr val="000000"/>
                  </a:solidFill>
                  <a:ea typeface="宋体" panose="02010600030101010101" pitchFamily="2" charset="-122"/>
                </a:rPr>
                <a:t>14.6%</a:t>
              </a:r>
            </a:p>
          </p:txBody>
        </p:sp>
        <p:sp>
          <p:nvSpPr>
            <p:cNvPr id="61477" name="AutoShape 53">
              <a:extLst>
                <a:ext uri="{FF2B5EF4-FFF2-40B4-BE49-F238E27FC236}">
                  <a16:creationId xmlns:a16="http://schemas.microsoft.com/office/drawing/2014/main" id="{E70EAB86-8952-5887-F1BB-EA7FAE67802E}"/>
                </a:ext>
              </a:extLst>
            </p:cNvPr>
            <p:cNvSpPr>
              <a:spLocks/>
            </p:cNvSpPr>
            <p:nvPr/>
          </p:nvSpPr>
          <p:spPr bwMode="auto">
            <a:xfrm>
              <a:off x="0" y="0"/>
              <a:ext cx="146" cy="331"/>
            </a:xfrm>
            <a:prstGeom prst="rightBrace">
              <a:avLst>
                <a:gd name="adj1" fmla="val 18893"/>
                <a:gd name="adj2" fmla="val 50000"/>
              </a:avLst>
            </a:prstGeom>
            <a:noFill/>
            <a:ln w="19050">
              <a:solidFill>
                <a:srgbClr val="66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grpSp>
        <p:nvGrpSpPr>
          <p:cNvPr id="61478" name="Group 38">
            <a:extLst>
              <a:ext uri="{FF2B5EF4-FFF2-40B4-BE49-F238E27FC236}">
                <a16:creationId xmlns:a16="http://schemas.microsoft.com/office/drawing/2014/main" id="{5AB009AE-6ABE-43DE-B278-77DC32E58234}"/>
              </a:ext>
            </a:extLst>
          </p:cNvPr>
          <p:cNvGrpSpPr>
            <a:grpSpLocks/>
          </p:cNvGrpSpPr>
          <p:nvPr/>
        </p:nvGrpSpPr>
        <p:grpSpPr bwMode="auto">
          <a:xfrm>
            <a:off x="3198257" y="1282171"/>
            <a:ext cx="649896" cy="329751"/>
            <a:chOff x="0" y="0"/>
            <a:chExt cx="812" cy="412"/>
          </a:xfrm>
        </p:grpSpPr>
        <p:sp>
          <p:nvSpPr>
            <p:cNvPr id="61479" name="Text Box 55">
              <a:extLst>
                <a:ext uri="{FF2B5EF4-FFF2-40B4-BE49-F238E27FC236}">
                  <a16:creationId xmlns:a16="http://schemas.microsoft.com/office/drawing/2014/main" id="{FFD7EEE3-160E-1330-11DC-40BC58CF88EE}"/>
                </a:ext>
              </a:extLst>
            </p:cNvPr>
            <p:cNvSpPr txBox="1">
              <a:spLocks noChangeArrowheads="1"/>
            </p:cNvSpPr>
            <p:nvPr/>
          </p:nvSpPr>
          <p:spPr bwMode="auto">
            <a:xfrm>
              <a:off x="187" y="54"/>
              <a:ext cx="625" cy="358"/>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23051" rIns="23051">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50000"/>
                </a:spcBef>
                <a:spcAft>
                  <a:spcPct val="0"/>
                </a:spcAft>
              </a:pPr>
              <a:r>
                <a:rPr lang="en-US" altLang="zh-CN" sz="1261">
                  <a:solidFill>
                    <a:srgbClr val="000000"/>
                  </a:solidFill>
                  <a:ea typeface="宋体" panose="02010600030101010101" pitchFamily="2" charset="-122"/>
                </a:rPr>
                <a:t>12.2%</a:t>
              </a:r>
            </a:p>
          </p:txBody>
        </p:sp>
        <p:sp>
          <p:nvSpPr>
            <p:cNvPr id="61480" name="AutoShape 56">
              <a:extLst>
                <a:ext uri="{FF2B5EF4-FFF2-40B4-BE49-F238E27FC236}">
                  <a16:creationId xmlns:a16="http://schemas.microsoft.com/office/drawing/2014/main" id="{B4CEFD6B-8BB1-07C2-F451-AB265CF303CE}"/>
                </a:ext>
              </a:extLst>
            </p:cNvPr>
            <p:cNvSpPr>
              <a:spLocks/>
            </p:cNvSpPr>
            <p:nvPr/>
          </p:nvSpPr>
          <p:spPr bwMode="auto">
            <a:xfrm>
              <a:off x="0" y="0"/>
              <a:ext cx="149" cy="341"/>
            </a:xfrm>
            <a:prstGeom prst="rightBrace">
              <a:avLst>
                <a:gd name="adj1" fmla="val 19072"/>
                <a:gd name="adj2" fmla="val 50000"/>
              </a:avLst>
            </a:prstGeom>
            <a:noFill/>
            <a:ln w="19050">
              <a:solidFill>
                <a:srgbClr val="66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sp>
        <p:nvSpPr>
          <p:cNvPr id="4" name="页脚占位符 1">
            <a:extLst>
              <a:ext uri="{FF2B5EF4-FFF2-40B4-BE49-F238E27FC236}">
                <a16:creationId xmlns:a16="http://schemas.microsoft.com/office/drawing/2014/main" id="{36BD836B-8218-77C2-1C54-F542BE99A3BF}"/>
              </a:ext>
            </a:extLst>
          </p:cNvPr>
          <p:cNvSpPr>
            <a:spLocks noGrp="1"/>
          </p:cNvSpPr>
          <p:nvPr>
            <p:ph type="ftr" sz="quarter" idx="10"/>
          </p:nvPr>
        </p:nvSpPr>
        <p:spPr>
          <a:xfrm>
            <a:off x="144066" y="3226028"/>
            <a:ext cx="3698485" cy="185054"/>
          </a:xfrm>
        </p:spPr>
        <p:txBody>
          <a:bodyPr/>
          <a:lstStyle/>
          <a:p>
            <a:pPr defTabSz="461040" fontAlgn="base">
              <a:spcBef>
                <a:spcPct val="0"/>
              </a:spcBef>
              <a:spcAft>
                <a:spcPct val="0"/>
              </a:spcAft>
            </a:pPr>
            <a:r>
              <a:rPr lang="zh-CN" altLang="en-US" sz="908" dirty="0">
                <a:latin typeface="Arial" panose="020B0604020202020204" pitchFamily="34" charset="0"/>
              </a:rPr>
              <a:t>国内生产总值</a:t>
            </a:r>
            <a:endParaRPr lang="zh-CN" altLang="zh-CN" sz="908" dirty="0">
              <a:latin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1466"/>
                                        </p:tgtEl>
                                        <p:attrNameLst>
                                          <p:attrName>style.visibility</p:attrName>
                                        </p:attrNameLst>
                                      </p:cBhvr>
                                      <p:to>
                                        <p:strVal val="visible"/>
                                      </p:to>
                                    </p:set>
                                    <p:animEffect transition="in" filter="wipe(left)">
                                      <p:cBhvr>
                                        <p:cTn id="7" dur="500"/>
                                        <p:tgtEl>
                                          <p:spTgt spid="61466"/>
                                        </p:tgtEl>
                                      </p:cBhvr>
                                    </p:animEffect>
                                  </p:childTnLst>
                                  <p:subTnLst>
                                    <p:animClr clrSpc="rgb" dir="cw">
                                      <p:cBhvr override="childStyle">
                                        <p:cTn dur="1" fill="hold" display="0" masterRel="nextClick" afterEffect="1"/>
                                        <p:tgtEl>
                                          <p:spTgt spid="61466"/>
                                        </p:tgtEl>
                                        <p:attrNameLst>
                                          <p:attrName>ppt_c</p:attrName>
                                        </p:attrNameLst>
                                      </p:cBhvr>
                                      <p:to>
                                        <a:srgbClr val="000000"/>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1469"/>
                                        </p:tgtEl>
                                        <p:attrNameLst>
                                          <p:attrName>style.visibility</p:attrName>
                                        </p:attrNameLst>
                                      </p:cBhvr>
                                      <p:to>
                                        <p:strVal val="visible"/>
                                      </p:to>
                                    </p:set>
                                    <p:animEffect transition="in" filter="wipe(left)">
                                      <p:cBhvr>
                                        <p:cTn id="12" dur="500"/>
                                        <p:tgtEl>
                                          <p:spTgt spid="61469"/>
                                        </p:tgtEl>
                                      </p:cBhvr>
                                    </p:animEffect>
                                  </p:childTnLst>
                                  <p:subTnLst>
                                    <p:animClr clrSpc="rgb" dir="cw">
                                      <p:cBhvr override="childStyle">
                                        <p:cTn dur="1" fill="hold" display="0" masterRel="nextClick" afterEffect="1"/>
                                        <p:tgtEl>
                                          <p:spTgt spid="61469"/>
                                        </p:tgtEl>
                                        <p:attrNameLst>
                                          <p:attrName>ppt_c</p:attrName>
                                        </p:attrNameLst>
                                      </p:cBhvr>
                                      <p:to>
                                        <a:srgbClr val="000000"/>
                                      </p:to>
                                    </p:animClr>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1472"/>
                                        </p:tgtEl>
                                        <p:attrNameLst>
                                          <p:attrName>style.visibility</p:attrName>
                                        </p:attrNameLst>
                                      </p:cBhvr>
                                      <p:to>
                                        <p:strVal val="visible"/>
                                      </p:to>
                                    </p:set>
                                    <p:animEffect transition="in" filter="wipe(left)">
                                      <p:cBhvr>
                                        <p:cTn id="17" dur="500"/>
                                        <p:tgtEl>
                                          <p:spTgt spid="61472"/>
                                        </p:tgtEl>
                                      </p:cBhvr>
                                    </p:animEffect>
                                  </p:childTnLst>
                                  <p:subTnLst>
                                    <p:animClr clrSpc="rgb" dir="cw">
                                      <p:cBhvr override="childStyle">
                                        <p:cTn dur="1" fill="hold" display="0" masterRel="nextClick" afterEffect="1"/>
                                        <p:tgtEl>
                                          <p:spTgt spid="61472"/>
                                        </p:tgtEl>
                                        <p:attrNameLst>
                                          <p:attrName>ppt_c</p:attrName>
                                        </p:attrNameLst>
                                      </p:cBhvr>
                                      <p:to>
                                        <a:srgbClr val="000000"/>
                                      </p:to>
                                    </p:animClr>
                                  </p:sub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61475"/>
                                        </p:tgtEl>
                                        <p:attrNameLst>
                                          <p:attrName>style.visibility</p:attrName>
                                        </p:attrNameLst>
                                      </p:cBhvr>
                                      <p:to>
                                        <p:strVal val="visible"/>
                                      </p:to>
                                    </p:set>
                                    <p:animEffect transition="in" filter="dissolve">
                                      <p:cBhvr>
                                        <p:cTn id="22" dur="500"/>
                                        <p:tgtEl>
                                          <p:spTgt spid="6147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61478"/>
                                        </p:tgtEl>
                                        <p:attrNameLst>
                                          <p:attrName>style.visibility</p:attrName>
                                        </p:attrNameLst>
                                      </p:cBhvr>
                                      <p:to>
                                        <p:strVal val="visible"/>
                                      </p:to>
                                    </p:set>
                                    <p:animEffect transition="in" filter="dissolve">
                                      <p:cBhvr>
                                        <p:cTn id="27" dur="500"/>
                                        <p:tgtEl>
                                          <p:spTgt spid="61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8">
            <a:extLst>
              <a:ext uri="{FF2B5EF4-FFF2-40B4-BE49-F238E27FC236}">
                <a16:creationId xmlns:a16="http://schemas.microsoft.com/office/drawing/2014/main" id="{759736C8-C214-47C4-6471-923353957EA6}"/>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62467" name="Rectangle 4">
            <a:extLst>
              <a:ext uri="{FF2B5EF4-FFF2-40B4-BE49-F238E27FC236}">
                <a16:creationId xmlns:a16="http://schemas.microsoft.com/office/drawing/2014/main" id="{F46781F4-0A70-8228-BC68-2B647EB00A48}"/>
              </a:ext>
            </a:extLst>
          </p:cNvPr>
          <p:cNvSpPr>
            <a:spLocks noGrp="1" noChangeArrowheads="1"/>
          </p:cNvSpPr>
          <p:nvPr>
            <p:ph type="title"/>
          </p:nvPr>
        </p:nvSpPr>
        <p:spPr>
          <a:xfrm>
            <a:off x="296135" y="179269"/>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prstTxWarp prst="textNoShape">
              <a:avLst/>
            </a:prstTxWarp>
          </a:bodyPr>
          <a:lstStyle/>
          <a:p>
            <a:pPr algn="l"/>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2" i="1">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2</a:t>
            </a:r>
            <a:r>
              <a:rPr lang="en-US"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en-US" altLang="zh-CN" sz="1815">
                <a:solidFill>
                  <a:srgbClr val="339966"/>
                </a:solidFill>
                <a:effectLst>
                  <a:outerShdw blurRad="38100" dist="38100" dir="2700000" algn="tl">
                    <a:srgbClr val="C0C0C0"/>
                  </a:outerShdw>
                </a:effectLst>
                <a:ea typeface="宋体" panose="02010600030101010101" pitchFamily="2" charset="-122"/>
              </a:rPr>
              <a:t>GDP</a:t>
            </a:r>
            <a:r>
              <a:rPr lang="zh-CN" altLang="zh-CN" sz="1815">
                <a:solidFill>
                  <a:srgbClr val="339966"/>
                </a:solidFill>
                <a:effectLst>
                  <a:outerShdw blurRad="38100" dist="38100" dir="2700000" algn="tl">
                    <a:srgbClr val="C0C0C0"/>
                  </a:outerShdw>
                </a:effectLst>
                <a:ea typeface="宋体" panose="02010600030101010101" pitchFamily="2" charset="-122"/>
              </a:rPr>
              <a:t>的计算</a:t>
            </a:r>
            <a:endParaRPr lang="zh-CN" altLang="en-US" sz="1815">
              <a:solidFill>
                <a:srgbClr val="339966"/>
              </a:solidFill>
              <a:effectLst>
                <a:outerShdw blurRad="38100" dist="38100" dir="2700000" algn="tl">
                  <a:srgbClr val="C0C0C0"/>
                </a:outerShdw>
              </a:effectLst>
              <a:ea typeface="宋体" panose="02010600030101010101" pitchFamily="2" charset="-122"/>
            </a:endParaRPr>
          </a:p>
        </p:txBody>
      </p:sp>
      <p:grpSp>
        <p:nvGrpSpPr>
          <p:cNvPr id="62468" name="Group 4">
            <a:extLst>
              <a:ext uri="{FF2B5EF4-FFF2-40B4-BE49-F238E27FC236}">
                <a16:creationId xmlns:a16="http://schemas.microsoft.com/office/drawing/2014/main" id="{0458FF7F-2B9A-DCA1-98EA-C606B6ED8521}"/>
              </a:ext>
            </a:extLst>
          </p:cNvPr>
          <p:cNvGrpSpPr>
            <a:grpSpLocks/>
          </p:cNvGrpSpPr>
          <p:nvPr/>
        </p:nvGrpSpPr>
        <p:grpSpPr bwMode="auto">
          <a:xfrm>
            <a:off x="299336" y="148055"/>
            <a:ext cx="4139486" cy="529041"/>
            <a:chOff x="0" y="0"/>
            <a:chExt cx="5000" cy="661"/>
          </a:xfrm>
        </p:grpSpPr>
        <p:sp>
          <p:nvSpPr>
            <p:cNvPr id="62469" name="Line 9">
              <a:extLst>
                <a:ext uri="{FF2B5EF4-FFF2-40B4-BE49-F238E27FC236}">
                  <a16:creationId xmlns:a16="http://schemas.microsoft.com/office/drawing/2014/main" id="{16B2E3B2-1FD5-32C7-8EEB-2F7462B603E7}"/>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62470" name="Line 10">
              <a:extLst>
                <a:ext uri="{FF2B5EF4-FFF2-40B4-BE49-F238E27FC236}">
                  <a16:creationId xmlns:a16="http://schemas.microsoft.com/office/drawing/2014/main" id="{F9470D8E-C840-792F-E4ED-B9DA5B47FAC6}"/>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62471" name="Rectangle 7">
            <a:extLst>
              <a:ext uri="{FF2B5EF4-FFF2-40B4-BE49-F238E27FC236}">
                <a16:creationId xmlns:a16="http://schemas.microsoft.com/office/drawing/2014/main" id="{A5314DC1-052E-90CA-4DFA-E47A9FAAF571}"/>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B5C3997D-77A6-7048-B0BF-6D6B598E9ED0}"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56</a:t>
            </a:fld>
            <a:endParaRPr lang="en-US" altLang="zh-CN" sz="857">
              <a:solidFill>
                <a:srgbClr val="777777"/>
              </a:solidFill>
              <a:latin typeface="Tahoma" panose="020B0604030504040204" pitchFamily="34" charset="0"/>
              <a:ea typeface="宋体" panose="02010600030101010101" pitchFamily="2" charset="-122"/>
            </a:endParaRPr>
          </a:p>
        </p:txBody>
      </p:sp>
      <p:sp>
        <p:nvSpPr>
          <p:cNvPr id="62472" name="Rectangle 49">
            <a:extLst>
              <a:ext uri="{FF2B5EF4-FFF2-40B4-BE49-F238E27FC236}">
                <a16:creationId xmlns:a16="http://schemas.microsoft.com/office/drawing/2014/main" id="{447FD1FA-5CAB-9A68-0632-73F372EA17FF}"/>
              </a:ext>
            </a:extLst>
          </p:cNvPr>
          <p:cNvSpPr>
            <a:spLocks noChangeArrowheads="1"/>
          </p:cNvSpPr>
          <p:nvPr/>
        </p:nvSpPr>
        <p:spPr bwMode="auto">
          <a:xfrm>
            <a:off x="292133" y="1896851"/>
            <a:ext cx="4149090" cy="1302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5000"/>
              </a:lnSpc>
              <a:spcBef>
                <a:spcPct val="45000"/>
              </a:spcBef>
              <a:buClr>
                <a:srgbClr val="339966"/>
              </a:buClr>
              <a:buSzPct val="120000"/>
              <a:buFont typeface="Wingdings" pitchFamily="2" charset="2"/>
              <a:buChar char="§"/>
              <a:defRPr sz="2800">
                <a:solidFill>
                  <a:schemeClr val="tx1"/>
                </a:solidFill>
                <a:latin typeface="Arial" panose="020B0604020202020204" pitchFamily="34" charset="0"/>
              </a:defRPr>
            </a:lvl1pPr>
            <a:lvl2pPr marL="681038" indent="-514350">
              <a:spcBef>
                <a:spcPct val="15000"/>
              </a:spcBef>
              <a:buClr>
                <a:srgbClr val="996633"/>
              </a:buClr>
              <a:buSzPct val="120000"/>
              <a:buFont typeface="Wingdings"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defTabSz="461040" fontAlgn="base">
              <a:spcBef>
                <a:spcPct val="40000"/>
              </a:spcBef>
              <a:spcAft>
                <a:spcPct val="0"/>
              </a:spcAft>
              <a:buClr>
                <a:srgbClr val="003399"/>
              </a:buClr>
              <a:buNone/>
            </a:pPr>
            <a:r>
              <a:rPr lang="zh-CN" altLang="zh-CN" sz="1412">
                <a:solidFill>
                  <a:srgbClr val="000000"/>
                </a:solidFill>
                <a:ea typeface="宋体" panose="02010600030101010101" pitchFamily="2" charset="-122"/>
              </a:rPr>
              <a:t>使用上述数据解决以下问题：</a:t>
            </a:r>
            <a:endParaRPr lang="zh-CN" altLang="en-US" sz="1412">
              <a:solidFill>
                <a:srgbClr val="000000"/>
              </a:solidFill>
              <a:ea typeface="宋体" panose="02010600030101010101" pitchFamily="2" charset="-122"/>
            </a:endParaRPr>
          </a:p>
          <a:p>
            <a:pPr marL="343379" lvl="1" indent="-259335" defTabSz="461040" fontAlgn="base">
              <a:lnSpc>
                <a:spcPct val="105000"/>
              </a:lnSpc>
              <a:spcBef>
                <a:spcPct val="40000"/>
              </a:spcBef>
              <a:spcAft>
                <a:spcPct val="0"/>
              </a:spcAft>
              <a:buClr>
                <a:srgbClr val="003399"/>
              </a:buClr>
              <a:buNone/>
            </a:pPr>
            <a:r>
              <a:rPr lang="en-US" altLang="zh-CN" sz="1311" b="1">
                <a:solidFill>
                  <a:srgbClr val="339966"/>
                </a:solidFill>
                <a:ea typeface="宋体" panose="02010600030101010101" pitchFamily="2" charset="-122"/>
              </a:rPr>
              <a:t>A.  </a:t>
            </a:r>
            <a:r>
              <a:rPr lang="zh-CN" altLang="zh-CN" sz="1412">
                <a:solidFill>
                  <a:srgbClr val="000000"/>
                </a:solidFill>
                <a:ea typeface="宋体" panose="02010600030101010101" pitchFamily="2" charset="-122"/>
              </a:rPr>
              <a:t>计算 2007年的名义GDP</a:t>
            </a:r>
          </a:p>
          <a:p>
            <a:pPr marL="343379" lvl="1" indent="-259335" defTabSz="461040" fontAlgn="base">
              <a:lnSpc>
                <a:spcPct val="105000"/>
              </a:lnSpc>
              <a:spcBef>
                <a:spcPct val="40000"/>
              </a:spcBef>
              <a:spcAft>
                <a:spcPct val="0"/>
              </a:spcAft>
              <a:buClr>
                <a:srgbClr val="003399"/>
              </a:buClr>
              <a:buNone/>
            </a:pPr>
            <a:r>
              <a:rPr lang="zh-CN" altLang="zh-CN" sz="1311" b="1">
                <a:solidFill>
                  <a:srgbClr val="339966"/>
                </a:solidFill>
                <a:ea typeface="宋体" panose="02010600030101010101" pitchFamily="2" charset="-122"/>
              </a:rPr>
              <a:t>B. 	</a:t>
            </a:r>
            <a:r>
              <a:rPr lang="zh-CN" altLang="zh-CN" sz="1412">
                <a:solidFill>
                  <a:srgbClr val="000000"/>
                </a:solidFill>
                <a:ea typeface="宋体" panose="02010600030101010101" pitchFamily="2" charset="-122"/>
              </a:rPr>
              <a:t>计算2008年真实GDP</a:t>
            </a:r>
          </a:p>
          <a:p>
            <a:pPr marL="343379" lvl="1" indent="-259335" defTabSz="461040" fontAlgn="base">
              <a:lnSpc>
                <a:spcPct val="105000"/>
              </a:lnSpc>
              <a:spcBef>
                <a:spcPct val="40000"/>
              </a:spcBef>
              <a:spcAft>
                <a:spcPct val="0"/>
              </a:spcAft>
              <a:buClr>
                <a:srgbClr val="003399"/>
              </a:buClr>
              <a:buNone/>
            </a:pPr>
            <a:r>
              <a:rPr lang="zh-CN" altLang="zh-CN" sz="1311" b="1">
                <a:solidFill>
                  <a:srgbClr val="339966"/>
                </a:solidFill>
                <a:ea typeface="宋体" panose="02010600030101010101" pitchFamily="2" charset="-122"/>
              </a:rPr>
              <a:t>C. 	</a:t>
            </a:r>
            <a:r>
              <a:rPr lang="zh-CN" altLang="zh-CN" sz="1412">
                <a:solidFill>
                  <a:srgbClr val="000000"/>
                </a:solidFill>
                <a:ea typeface="宋体" panose="02010600030101010101" pitchFamily="2" charset="-122"/>
              </a:rPr>
              <a:t>计算2009年的GDP平减指数 </a:t>
            </a:r>
          </a:p>
        </p:txBody>
      </p:sp>
      <p:graphicFrame>
        <p:nvGraphicFramePr>
          <p:cNvPr id="62473" name="Group 9">
            <a:extLst>
              <a:ext uri="{FF2B5EF4-FFF2-40B4-BE49-F238E27FC236}">
                <a16:creationId xmlns:a16="http://schemas.microsoft.com/office/drawing/2014/main" id="{947B9BB6-BE7A-C447-5103-7D6B03C58F59}"/>
              </a:ext>
            </a:extLst>
          </p:cNvPr>
          <p:cNvGraphicFramePr>
            <a:graphicFrameLocks noGrp="1"/>
          </p:cNvGraphicFramePr>
          <p:nvPr/>
        </p:nvGraphicFramePr>
        <p:xfrm>
          <a:off x="312943" y="775540"/>
          <a:ext cx="4200315" cy="1004618"/>
        </p:xfrm>
        <a:graphic>
          <a:graphicData uri="http://schemas.openxmlformats.org/drawingml/2006/table">
            <a:tbl>
              <a:tblPr/>
              <a:tblGrid>
                <a:gridCol w="687513">
                  <a:extLst>
                    <a:ext uri="{9D8B030D-6E8A-4147-A177-3AD203B41FA5}">
                      <a16:colId xmlns:a16="http://schemas.microsoft.com/office/drawing/2014/main" val="2089049497"/>
                    </a:ext>
                  </a:extLst>
                </a:gridCol>
                <a:gridCol w="657900">
                  <a:extLst>
                    <a:ext uri="{9D8B030D-6E8A-4147-A177-3AD203B41FA5}">
                      <a16:colId xmlns:a16="http://schemas.microsoft.com/office/drawing/2014/main" val="2586878840"/>
                    </a:ext>
                  </a:extLst>
                </a:gridCol>
                <a:gridCol w="587468">
                  <a:extLst>
                    <a:ext uri="{9D8B030D-6E8A-4147-A177-3AD203B41FA5}">
                      <a16:colId xmlns:a16="http://schemas.microsoft.com/office/drawing/2014/main" val="1185805327"/>
                    </a:ext>
                  </a:extLst>
                </a:gridCol>
                <a:gridCol w="528241">
                  <a:extLst>
                    <a:ext uri="{9D8B030D-6E8A-4147-A177-3AD203B41FA5}">
                      <a16:colId xmlns:a16="http://schemas.microsoft.com/office/drawing/2014/main" val="4233433380"/>
                    </a:ext>
                  </a:extLst>
                </a:gridCol>
                <a:gridCol w="572261">
                  <a:extLst>
                    <a:ext uri="{9D8B030D-6E8A-4147-A177-3AD203B41FA5}">
                      <a16:colId xmlns:a16="http://schemas.microsoft.com/office/drawing/2014/main" val="396626776"/>
                    </a:ext>
                  </a:extLst>
                </a:gridCol>
                <a:gridCol w="597072">
                  <a:extLst>
                    <a:ext uri="{9D8B030D-6E8A-4147-A177-3AD203B41FA5}">
                      <a16:colId xmlns:a16="http://schemas.microsoft.com/office/drawing/2014/main" val="4061294749"/>
                    </a:ext>
                  </a:extLst>
                </a:gridCol>
                <a:gridCol w="569860">
                  <a:extLst>
                    <a:ext uri="{9D8B030D-6E8A-4147-A177-3AD203B41FA5}">
                      <a16:colId xmlns:a16="http://schemas.microsoft.com/office/drawing/2014/main" val="3775615860"/>
                    </a:ext>
                  </a:extLst>
                </a:gridCol>
              </a:tblGrid>
              <a:tr h="256117">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gridSpan="2">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2007 (基年)</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gridSpan="2">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2008</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gridSpan="2">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2009</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extLst>
                  <a:ext uri="{0D108BD9-81ED-4DB2-BD59-A6C34878D82A}">
                    <a16:rowId xmlns:a16="http://schemas.microsoft.com/office/drawing/2014/main" val="1389841268"/>
                  </a:ext>
                </a:extLst>
              </a:tr>
              <a:tr h="256117">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1" u="none" strike="noStrike" cap="none" normalizeH="0" baseline="0">
                          <a:ln>
                            <a:noFill/>
                          </a:ln>
                          <a:solidFill>
                            <a:schemeClr val="tx1"/>
                          </a:solidFill>
                          <a:effectLst/>
                          <a:latin typeface="Arial" panose="020B0604020202020204" pitchFamily="34" charset="0"/>
                          <a:ea typeface="宋体" panose="02010600030101010101" pitchFamily="2" charset="-122"/>
                        </a:rPr>
                        <a:t>P</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1" u="none" strike="noStrike" cap="none" normalizeH="0" baseline="0">
                          <a:ln>
                            <a:noFill/>
                          </a:ln>
                          <a:solidFill>
                            <a:schemeClr val="tx1"/>
                          </a:solidFill>
                          <a:effectLst/>
                          <a:latin typeface="Arial" panose="020B0604020202020204" pitchFamily="34" charset="0"/>
                          <a:ea typeface="宋体" panose="02010600030101010101" pitchFamily="2" charset="-122"/>
                        </a:rPr>
                        <a:t>Q</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1" u="none" strike="noStrike" cap="none" normalizeH="0" baseline="0">
                          <a:ln>
                            <a:noFill/>
                          </a:ln>
                          <a:solidFill>
                            <a:schemeClr val="tx1"/>
                          </a:solidFill>
                          <a:effectLst/>
                          <a:latin typeface="Arial" panose="020B0604020202020204" pitchFamily="34" charset="0"/>
                          <a:ea typeface="宋体" panose="02010600030101010101" pitchFamily="2" charset="-122"/>
                        </a:rPr>
                        <a:t>P</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1" u="none" strike="noStrike" cap="none" normalizeH="0" baseline="0">
                          <a:ln>
                            <a:noFill/>
                          </a:ln>
                          <a:solidFill>
                            <a:schemeClr val="tx1"/>
                          </a:solidFill>
                          <a:effectLst/>
                          <a:latin typeface="Arial" panose="020B0604020202020204" pitchFamily="34" charset="0"/>
                          <a:ea typeface="宋体" panose="02010600030101010101" pitchFamily="2" charset="-122"/>
                        </a:rPr>
                        <a:t>Q</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1" u="none" strike="noStrike" cap="none" normalizeH="0" baseline="0">
                          <a:ln>
                            <a:noFill/>
                          </a:ln>
                          <a:solidFill>
                            <a:schemeClr val="tx1"/>
                          </a:solidFill>
                          <a:effectLst/>
                          <a:latin typeface="Arial" panose="020B0604020202020204" pitchFamily="34" charset="0"/>
                          <a:ea typeface="宋体" panose="02010600030101010101" pitchFamily="2" charset="-122"/>
                        </a:rPr>
                        <a:t>P</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1" u="none" strike="noStrike" cap="none" normalizeH="0" baseline="0">
                          <a:ln>
                            <a:noFill/>
                          </a:ln>
                          <a:solidFill>
                            <a:schemeClr val="tx1"/>
                          </a:solidFill>
                          <a:effectLst/>
                          <a:latin typeface="Arial" panose="020B0604020202020204" pitchFamily="34" charset="0"/>
                          <a:ea typeface="宋体" panose="02010600030101010101" pitchFamily="2" charset="-122"/>
                        </a:rPr>
                        <a:t>Q</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732703359"/>
                  </a:ext>
                </a:extLst>
              </a:tr>
              <a:tr h="246512">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物品 A</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$30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900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$31</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1,000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$36</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1050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232280395"/>
                  </a:ext>
                </a:extLst>
              </a:tr>
              <a:tr h="245872">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物品 B</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$100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192</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$102</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$100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205</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381961496"/>
                  </a:ext>
                </a:extLst>
              </a:tr>
            </a:tbl>
          </a:graphicData>
        </a:graphic>
      </p:graphicFrame>
    </p:spTree>
    <p:extLst>
      <p:ext uri="{BB962C8B-B14F-4D97-AF65-F5344CB8AC3E}">
        <p14:creationId xmlns:p14="http://schemas.microsoft.com/office/powerpoint/2010/main" val="1882752966"/>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2472">
                                            <p:txEl>
                                              <p:pRg st="1" end="1"/>
                                            </p:txEl>
                                          </p:spTgt>
                                        </p:tgtEl>
                                        <p:attrNameLst>
                                          <p:attrName>style.visibility</p:attrName>
                                        </p:attrNameLst>
                                      </p:cBhvr>
                                      <p:to>
                                        <p:strVal val="visible"/>
                                      </p:to>
                                    </p:set>
                                    <p:animEffect transition="in" filter="wipe(left)">
                                      <p:cBhvr>
                                        <p:cTn id="7" dur="500"/>
                                        <p:tgtEl>
                                          <p:spTgt spid="62472">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2472">
                                            <p:txEl>
                                              <p:pRg st="2" end="2"/>
                                            </p:txEl>
                                          </p:spTgt>
                                        </p:tgtEl>
                                        <p:attrNameLst>
                                          <p:attrName>style.visibility</p:attrName>
                                        </p:attrNameLst>
                                      </p:cBhvr>
                                      <p:to>
                                        <p:strVal val="visible"/>
                                      </p:to>
                                    </p:set>
                                    <p:animEffect transition="in" filter="wipe(left)">
                                      <p:cBhvr>
                                        <p:cTn id="12" dur="500"/>
                                        <p:tgtEl>
                                          <p:spTgt spid="62472">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2472">
                                            <p:txEl>
                                              <p:pRg st="3" end="3"/>
                                            </p:txEl>
                                          </p:spTgt>
                                        </p:tgtEl>
                                        <p:attrNameLst>
                                          <p:attrName>style.visibility</p:attrName>
                                        </p:attrNameLst>
                                      </p:cBhvr>
                                      <p:to>
                                        <p:strVal val="visible"/>
                                      </p:to>
                                    </p:set>
                                    <p:animEffect transition="in" filter="wipe(left)">
                                      <p:cBhvr>
                                        <p:cTn id="17" dur="500"/>
                                        <p:tgtEl>
                                          <p:spTgt spid="6247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2" grpId="0" build="p" bldLvl="5"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8">
            <a:extLst>
              <a:ext uri="{FF2B5EF4-FFF2-40B4-BE49-F238E27FC236}">
                <a16:creationId xmlns:a16="http://schemas.microsoft.com/office/drawing/2014/main" id="{17951953-A33B-9C6A-B896-4EB9D1DC0F25}"/>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64515" name="Rectangle 4">
            <a:extLst>
              <a:ext uri="{FF2B5EF4-FFF2-40B4-BE49-F238E27FC236}">
                <a16:creationId xmlns:a16="http://schemas.microsoft.com/office/drawing/2014/main" id="{E39CD299-5945-4CB3-34A1-565EB47E0C97}"/>
              </a:ext>
            </a:extLst>
          </p:cNvPr>
          <p:cNvSpPr>
            <a:spLocks noGrp="1" noChangeArrowheads="1"/>
          </p:cNvSpPr>
          <p:nvPr>
            <p:ph type="title"/>
          </p:nvPr>
        </p:nvSpPr>
        <p:spPr>
          <a:xfrm>
            <a:off x="296135" y="179269"/>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prstTxWarp prst="textNoShape">
              <a:avLst/>
            </a:prstTxWarp>
          </a:bodyPr>
          <a:lstStyle/>
          <a:p>
            <a:pPr algn="l"/>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2" i="1">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2</a:t>
            </a:r>
            <a:r>
              <a:rPr lang="en-US"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1815">
                <a:solidFill>
                  <a:srgbClr val="339966"/>
                </a:solidFill>
                <a:effectLst>
                  <a:outerShdw blurRad="38100" dist="38100" dir="2700000" algn="tl">
                    <a:srgbClr val="C0C0C0"/>
                  </a:outerShdw>
                </a:effectLst>
                <a:ea typeface="宋体" panose="02010600030101010101" pitchFamily="2" charset="-122"/>
              </a:rPr>
              <a:t>参考答案</a:t>
            </a:r>
          </a:p>
        </p:txBody>
      </p:sp>
      <p:grpSp>
        <p:nvGrpSpPr>
          <p:cNvPr id="64516" name="Group 4">
            <a:extLst>
              <a:ext uri="{FF2B5EF4-FFF2-40B4-BE49-F238E27FC236}">
                <a16:creationId xmlns:a16="http://schemas.microsoft.com/office/drawing/2014/main" id="{5783FCCC-73A5-61DE-BCDE-914E5C5F7C06}"/>
              </a:ext>
            </a:extLst>
          </p:cNvPr>
          <p:cNvGrpSpPr>
            <a:grpSpLocks/>
          </p:cNvGrpSpPr>
          <p:nvPr/>
        </p:nvGrpSpPr>
        <p:grpSpPr bwMode="auto">
          <a:xfrm>
            <a:off x="299336" y="148055"/>
            <a:ext cx="4139486" cy="529041"/>
            <a:chOff x="0" y="0"/>
            <a:chExt cx="5000" cy="661"/>
          </a:xfrm>
        </p:grpSpPr>
        <p:sp>
          <p:nvSpPr>
            <p:cNvPr id="64517" name="Line 9">
              <a:extLst>
                <a:ext uri="{FF2B5EF4-FFF2-40B4-BE49-F238E27FC236}">
                  <a16:creationId xmlns:a16="http://schemas.microsoft.com/office/drawing/2014/main" id="{1D0DE643-2DD6-BCCD-5FE3-7A1B1EDFD2F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64518" name="Line 10">
              <a:extLst>
                <a:ext uri="{FF2B5EF4-FFF2-40B4-BE49-F238E27FC236}">
                  <a16:creationId xmlns:a16="http://schemas.microsoft.com/office/drawing/2014/main" id="{BFEAFE3B-2FC3-5C3F-2B5E-15EB53002FA2}"/>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64519" name="Rectangle 7">
            <a:extLst>
              <a:ext uri="{FF2B5EF4-FFF2-40B4-BE49-F238E27FC236}">
                <a16:creationId xmlns:a16="http://schemas.microsoft.com/office/drawing/2014/main" id="{09FAA73F-CA57-48AF-A7FD-39363B6A9EFF}"/>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6EDC255F-469A-AC47-8903-7D6301C0A74A}"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57</a:t>
            </a:fld>
            <a:endParaRPr lang="en-US" altLang="zh-CN" sz="857">
              <a:solidFill>
                <a:srgbClr val="777777"/>
              </a:solidFill>
              <a:latin typeface="Tahoma" panose="020B0604030504040204" pitchFamily="34" charset="0"/>
              <a:ea typeface="宋体" panose="02010600030101010101" pitchFamily="2" charset="-122"/>
            </a:endParaRPr>
          </a:p>
        </p:txBody>
      </p:sp>
      <p:sp>
        <p:nvSpPr>
          <p:cNvPr id="64520" name="Rectangle 10">
            <a:extLst>
              <a:ext uri="{FF2B5EF4-FFF2-40B4-BE49-F238E27FC236}">
                <a16:creationId xmlns:a16="http://schemas.microsoft.com/office/drawing/2014/main" id="{B9B5E522-8BFD-373D-90AD-CE830401B904}"/>
              </a:ext>
            </a:extLst>
          </p:cNvPr>
          <p:cNvSpPr>
            <a:spLocks noChangeArrowheads="1"/>
          </p:cNvSpPr>
          <p:nvPr/>
        </p:nvSpPr>
        <p:spPr bwMode="auto">
          <a:xfrm>
            <a:off x="292134" y="1852030"/>
            <a:ext cx="3967407" cy="13670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lnSpc>
                <a:spcPct val="105000"/>
              </a:lnSpc>
              <a:spcBef>
                <a:spcPct val="45000"/>
              </a:spcBef>
              <a:buClr>
                <a:srgbClr val="339966"/>
              </a:buClr>
              <a:buSzPct val="120000"/>
              <a:buFont typeface="Wingdings"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marL="230520" indent="-230520" defTabSz="461040" fontAlgn="base">
              <a:spcBef>
                <a:spcPct val="40000"/>
              </a:spcBef>
              <a:spcAft>
                <a:spcPct val="0"/>
              </a:spcAft>
              <a:buClr>
                <a:srgbClr val="003399"/>
              </a:buClr>
              <a:buNone/>
            </a:pPr>
            <a:r>
              <a:rPr lang="zh-CN" altLang="zh-CN" sz="1311" b="1">
                <a:solidFill>
                  <a:srgbClr val="339966"/>
                </a:solidFill>
                <a:ea typeface="宋体" panose="02010600030101010101" pitchFamily="2" charset="-122"/>
              </a:rPr>
              <a:t>A. </a:t>
            </a:r>
            <a:r>
              <a:rPr lang="zh-CN" altLang="zh-CN" sz="1412">
                <a:solidFill>
                  <a:srgbClr val="000000"/>
                </a:solidFill>
                <a:ea typeface="宋体" panose="02010600030101010101" pitchFamily="2" charset="-122"/>
              </a:rPr>
              <a:t>计算2007年的名义GDP</a:t>
            </a:r>
          </a:p>
          <a:p>
            <a:pPr marL="230520" indent="-230520" defTabSz="461040" fontAlgn="base">
              <a:spcBef>
                <a:spcPct val="35000"/>
              </a:spcBef>
              <a:spcAft>
                <a:spcPct val="0"/>
              </a:spcAft>
              <a:buClr>
                <a:srgbClr val="003399"/>
              </a:buClr>
              <a:buNone/>
            </a:pPr>
            <a:r>
              <a:rPr lang="zh-CN" altLang="zh-CN" sz="1412">
                <a:solidFill>
                  <a:srgbClr val="000000"/>
                </a:solidFill>
                <a:ea typeface="宋体" panose="02010600030101010101" pitchFamily="2" charset="-122"/>
              </a:rPr>
              <a:t>	</a:t>
            </a:r>
            <a:r>
              <a:rPr lang="zh-CN" altLang="zh-CN" sz="1412">
                <a:solidFill>
                  <a:srgbClr val="FF0000"/>
                </a:solidFill>
                <a:ea typeface="宋体" panose="02010600030101010101" pitchFamily="2" charset="-122"/>
              </a:rPr>
              <a:t>$30 x 900  +  $100 x 192  =  </a:t>
            </a:r>
            <a:r>
              <a:rPr lang="zh-CN" altLang="zh-CN" sz="1412" u="sng">
                <a:solidFill>
                  <a:srgbClr val="FF0000"/>
                </a:solidFill>
                <a:ea typeface="宋体" panose="02010600030101010101" pitchFamily="2" charset="-122"/>
              </a:rPr>
              <a:t>$46,200</a:t>
            </a:r>
          </a:p>
          <a:p>
            <a:pPr marL="230520" indent="-230520" defTabSz="461040" fontAlgn="base">
              <a:spcBef>
                <a:spcPct val="80000"/>
              </a:spcBef>
              <a:spcAft>
                <a:spcPct val="0"/>
              </a:spcAft>
              <a:buClr>
                <a:srgbClr val="003399"/>
              </a:buClr>
              <a:buNone/>
            </a:pPr>
            <a:r>
              <a:rPr lang="zh-CN" altLang="zh-CN" sz="1311" b="1">
                <a:solidFill>
                  <a:srgbClr val="339966"/>
                </a:solidFill>
                <a:ea typeface="宋体" panose="02010600030101010101" pitchFamily="2" charset="-122"/>
              </a:rPr>
              <a:t>B.	</a:t>
            </a:r>
            <a:r>
              <a:rPr lang="zh-CN" altLang="zh-CN" sz="1412">
                <a:solidFill>
                  <a:srgbClr val="000000"/>
                </a:solidFill>
                <a:ea typeface="宋体" panose="02010600030101010101" pitchFamily="2" charset="-122"/>
              </a:rPr>
              <a:t>计算2008年的真实GDP</a:t>
            </a:r>
          </a:p>
          <a:p>
            <a:pPr marL="230520" indent="-230520" defTabSz="461040" fontAlgn="base">
              <a:spcBef>
                <a:spcPct val="80000"/>
              </a:spcBef>
              <a:spcAft>
                <a:spcPct val="0"/>
              </a:spcAft>
              <a:buClr>
                <a:srgbClr val="003399"/>
              </a:buClr>
              <a:buNone/>
            </a:pPr>
            <a:r>
              <a:rPr lang="zh-CN" altLang="zh-CN" sz="1412">
                <a:solidFill>
                  <a:srgbClr val="000000"/>
                </a:solidFill>
                <a:ea typeface="宋体" panose="02010600030101010101" pitchFamily="2" charset="-122"/>
              </a:rPr>
              <a:t>	</a:t>
            </a:r>
            <a:r>
              <a:rPr lang="zh-CN" altLang="zh-CN" sz="1412">
                <a:solidFill>
                  <a:srgbClr val="FF0000"/>
                </a:solidFill>
                <a:ea typeface="宋体" panose="02010600030101010101" pitchFamily="2" charset="-122"/>
              </a:rPr>
              <a:t>$30 x 1000  +  $100 x 200  =  </a:t>
            </a:r>
            <a:r>
              <a:rPr lang="zh-CN" altLang="zh-CN" sz="1412" u="sng">
                <a:solidFill>
                  <a:srgbClr val="FF0000"/>
                </a:solidFill>
                <a:ea typeface="宋体" panose="02010600030101010101" pitchFamily="2" charset="-122"/>
              </a:rPr>
              <a:t>$50,000</a:t>
            </a:r>
          </a:p>
        </p:txBody>
      </p:sp>
      <p:graphicFrame>
        <p:nvGraphicFramePr>
          <p:cNvPr id="64521" name="Group 9">
            <a:extLst>
              <a:ext uri="{FF2B5EF4-FFF2-40B4-BE49-F238E27FC236}">
                <a16:creationId xmlns:a16="http://schemas.microsoft.com/office/drawing/2014/main" id="{7EB918C4-0D5D-AEDA-F6BB-788244EF336C}"/>
              </a:ext>
            </a:extLst>
          </p:cNvPr>
          <p:cNvGraphicFramePr>
            <a:graphicFrameLocks noGrp="1"/>
          </p:cNvGraphicFramePr>
          <p:nvPr/>
        </p:nvGraphicFramePr>
        <p:xfrm>
          <a:off x="312943" y="775540"/>
          <a:ext cx="4200315" cy="1004618"/>
        </p:xfrm>
        <a:graphic>
          <a:graphicData uri="http://schemas.openxmlformats.org/drawingml/2006/table">
            <a:tbl>
              <a:tblPr/>
              <a:tblGrid>
                <a:gridCol w="687513">
                  <a:extLst>
                    <a:ext uri="{9D8B030D-6E8A-4147-A177-3AD203B41FA5}">
                      <a16:colId xmlns:a16="http://schemas.microsoft.com/office/drawing/2014/main" val="1172434534"/>
                    </a:ext>
                  </a:extLst>
                </a:gridCol>
                <a:gridCol w="657900">
                  <a:extLst>
                    <a:ext uri="{9D8B030D-6E8A-4147-A177-3AD203B41FA5}">
                      <a16:colId xmlns:a16="http://schemas.microsoft.com/office/drawing/2014/main" val="2833816147"/>
                    </a:ext>
                  </a:extLst>
                </a:gridCol>
                <a:gridCol w="587468">
                  <a:extLst>
                    <a:ext uri="{9D8B030D-6E8A-4147-A177-3AD203B41FA5}">
                      <a16:colId xmlns:a16="http://schemas.microsoft.com/office/drawing/2014/main" val="2731845187"/>
                    </a:ext>
                  </a:extLst>
                </a:gridCol>
                <a:gridCol w="528241">
                  <a:extLst>
                    <a:ext uri="{9D8B030D-6E8A-4147-A177-3AD203B41FA5}">
                      <a16:colId xmlns:a16="http://schemas.microsoft.com/office/drawing/2014/main" val="3702904285"/>
                    </a:ext>
                  </a:extLst>
                </a:gridCol>
                <a:gridCol w="572261">
                  <a:extLst>
                    <a:ext uri="{9D8B030D-6E8A-4147-A177-3AD203B41FA5}">
                      <a16:colId xmlns:a16="http://schemas.microsoft.com/office/drawing/2014/main" val="1742369983"/>
                    </a:ext>
                  </a:extLst>
                </a:gridCol>
                <a:gridCol w="597072">
                  <a:extLst>
                    <a:ext uri="{9D8B030D-6E8A-4147-A177-3AD203B41FA5}">
                      <a16:colId xmlns:a16="http://schemas.microsoft.com/office/drawing/2014/main" val="2923023083"/>
                    </a:ext>
                  </a:extLst>
                </a:gridCol>
                <a:gridCol w="569860">
                  <a:extLst>
                    <a:ext uri="{9D8B030D-6E8A-4147-A177-3AD203B41FA5}">
                      <a16:colId xmlns:a16="http://schemas.microsoft.com/office/drawing/2014/main" val="346829277"/>
                    </a:ext>
                  </a:extLst>
                </a:gridCol>
              </a:tblGrid>
              <a:tr h="256117">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gridSpan="2">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2007 (基年)</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gridSpan="2">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2008</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gridSpan="2">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2009</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extLst>
                  <a:ext uri="{0D108BD9-81ED-4DB2-BD59-A6C34878D82A}">
                    <a16:rowId xmlns:a16="http://schemas.microsoft.com/office/drawing/2014/main" val="1929162074"/>
                  </a:ext>
                </a:extLst>
              </a:tr>
              <a:tr h="256117">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1" u="none" strike="noStrike" cap="none" normalizeH="0" baseline="0">
                          <a:ln>
                            <a:noFill/>
                          </a:ln>
                          <a:solidFill>
                            <a:schemeClr val="tx1"/>
                          </a:solidFill>
                          <a:effectLst/>
                          <a:latin typeface="Arial" panose="020B0604020202020204" pitchFamily="34" charset="0"/>
                          <a:ea typeface="宋体" panose="02010600030101010101" pitchFamily="2" charset="-122"/>
                        </a:rPr>
                        <a:t>P</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1" u="none" strike="noStrike" cap="none" normalizeH="0" baseline="0">
                          <a:ln>
                            <a:noFill/>
                          </a:ln>
                          <a:solidFill>
                            <a:schemeClr val="tx1"/>
                          </a:solidFill>
                          <a:effectLst/>
                          <a:latin typeface="Arial" panose="020B0604020202020204" pitchFamily="34" charset="0"/>
                          <a:ea typeface="宋体" panose="02010600030101010101" pitchFamily="2" charset="-122"/>
                        </a:rPr>
                        <a:t>Q</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1" u="none" strike="noStrike" cap="none" normalizeH="0" baseline="0">
                          <a:ln>
                            <a:noFill/>
                          </a:ln>
                          <a:solidFill>
                            <a:schemeClr val="tx1"/>
                          </a:solidFill>
                          <a:effectLst/>
                          <a:latin typeface="Arial" panose="020B0604020202020204" pitchFamily="34" charset="0"/>
                          <a:ea typeface="宋体" panose="02010600030101010101" pitchFamily="2" charset="-122"/>
                        </a:rPr>
                        <a:t>P</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1" u="none" strike="noStrike" cap="none" normalizeH="0" baseline="0">
                          <a:ln>
                            <a:noFill/>
                          </a:ln>
                          <a:solidFill>
                            <a:schemeClr val="tx1"/>
                          </a:solidFill>
                          <a:effectLst/>
                          <a:latin typeface="Arial" panose="020B0604020202020204" pitchFamily="34" charset="0"/>
                          <a:ea typeface="宋体" panose="02010600030101010101" pitchFamily="2" charset="-122"/>
                        </a:rPr>
                        <a:t>Q</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1" u="none" strike="noStrike" cap="none" normalizeH="0" baseline="0">
                          <a:ln>
                            <a:noFill/>
                          </a:ln>
                          <a:solidFill>
                            <a:schemeClr val="tx1"/>
                          </a:solidFill>
                          <a:effectLst/>
                          <a:latin typeface="Arial" panose="020B0604020202020204" pitchFamily="34" charset="0"/>
                          <a:ea typeface="宋体" panose="02010600030101010101" pitchFamily="2" charset="-122"/>
                        </a:rPr>
                        <a:t>P</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1" u="none" strike="noStrike" cap="none" normalizeH="0" baseline="0">
                          <a:ln>
                            <a:noFill/>
                          </a:ln>
                          <a:solidFill>
                            <a:schemeClr val="tx1"/>
                          </a:solidFill>
                          <a:effectLst/>
                          <a:latin typeface="Arial" panose="020B0604020202020204" pitchFamily="34" charset="0"/>
                          <a:ea typeface="宋体" panose="02010600030101010101" pitchFamily="2" charset="-122"/>
                        </a:rPr>
                        <a:t>Q</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234484752"/>
                  </a:ext>
                </a:extLst>
              </a:tr>
              <a:tr h="246512">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物品 A</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$30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900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$31</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1,000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$36</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1050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93617990"/>
                  </a:ext>
                </a:extLst>
              </a:tr>
              <a:tr h="245872">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物品 B</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$100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192</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$102</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$100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205</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530729052"/>
                  </a:ext>
                </a:extLst>
              </a:tr>
            </a:tbl>
          </a:graphicData>
        </a:graphic>
      </p:graphicFrame>
    </p:spTree>
    <p:extLst>
      <p:ext uri="{BB962C8B-B14F-4D97-AF65-F5344CB8AC3E}">
        <p14:creationId xmlns:p14="http://schemas.microsoft.com/office/powerpoint/2010/main" val="3307225648"/>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4520">
                                            <p:txEl>
                                              <p:pRg st="1" end="1"/>
                                            </p:txEl>
                                          </p:spTgt>
                                        </p:tgtEl>
                                        <p:attrNameLst>
                                          <p:attrName>style.visibility</p:attrName>
                                        </p:attrNameLst>
                                      </p:cBhvr>
                                      <p:to>
                                        <p:strVal val="visible"/>
                                      </p:to>
                                    </p:set>
                                    <p:animEffect transition="in" filter="wipe(left)">
                                      <p:cBhvr>
                                        <p:cTn id="7" dur="500"/>
                                        <p:tgtEl>
                                          <p:spTgt spid="64520">
                                            <p:txEl>
                                              <p:pRg st="1" end="1"/>
                                            </p:txEl>
                                          </p:spTgt>
                                        </p:tgtEl>
                                      </p:cBhvr>
                                    </p:animEffect>
                                  </p:childTnLst>
                                  <p:subTnLst>
                                    <p:animClr clrSpc="rgb" dir="cw">
                                      <p:cBhvr override="childStyle">
                                        <p:cTn dur="1" fill="hold" display="0" masterRel="nextClick" afterEffect="1"/>
                                        <p:tgtEl>
                                          <p:spTgt spid="64520">
                                            <p:txEl>
                                              <p:pRg st="1" end="1"/>
                                            </p:txEl>
                                          </p:spTgt>
                                        </p:tgtEl>
                                        <p:attrNameLst>
                                          <p:attrName>ppt_c</p:attrName>
                                        </p:attrNameLst>
                                      </p:cBhvr>
                                      <p:to>
                                        <a:schemeClr val="bg2"/>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4520">
                                            <p:txEl>
                                              <p:pRg st="2" end="2"/>
                                            </p:txEl>
                                          </p:spTgt>
                                        </p:tgtEl>
                                        <p:attrNameLst>
                                          <p:attrName>style.visibility</p:attrName>
                                        </p:attrNameLst>
                                      </p:cBhvr>
                                      <p:to>
                                        <p:strVal val="visible"/>
                                      </p:to>
                                    </p:set>
                                    <p:animEffect transition="in" filter="wipe(left)">
                                      <p:cBhvr>
                                        <p:cTn id="12" dur="500"/>
                                        <p:tgtEl>
                                          <p:spTgt spid="64520">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4520">
                                            <p:txEl>
                                              <p:pRg st="3" end="3"/>
                                            </p:txEl>
                                          </p:spTgt>
                                        </p:tgtEl>
                                        <p:attrNameLst>
                                          <p:attrName>style.visibility</p:attrName>
                                        </p:attrNameLst>
                                      </p:cBhvr>
                                      <p:to>
                                        <p:strVal val="visible"/>
                                      </p:to>
                                    </p:set>
                                    <p:animEffect transition="in" filter="wipe(left)">
                                      <p:cBhvr>
                                        <p:cTn id="17" dur="500"/>
                                        <p:tgtEl>
                                          <p:spTgt spid="6452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20" grpId="0" build="p" bldLvl="5"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8">
            <a:extLst>
              <a:ext uri="{FF2B5EF4-FFF2-40B4-BE49-F238E27FC236}">
                <a16:creationId xmlns:a16="http://schemas.microsoft.com/office/drawing/2014/main" id="{3106717C-45F9-FD4D-199E-FCB4DB545126}"/>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65539" name="Rectangle 4">
            <a:extLst>
              <a:ext uri="{FF2B5EF4-FFF2-40B4-BE49-F238E27FC236}">
                <a16:creationId xmlns:a16="http://schemas.microsoft.com/office/drawing/2014/main" id="{B927B5DC-9F43-9E97-A808-94095A88DE5E}"/>
              </a:ext>
            </a:extLst>
          </p:cNvPr>
          <p:cNvSpPr>
            <a:spLocks noGrp="1" noChangeArrowheads="1"/>
          </p:cNvSpPr>
          <p:nvPr>
            <p:ph type="title"/>
          </p:nvPr>
        </p:nvSpPr>
        <p:spPr>
          <a:xfrm>
            <a:off x="296135" y="179269"/>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0" numCol="1" anchor="t" anchorCtr="0" compatLnSpc="1">
            <a:prstTxWarp prst="textNoShape">
              <a:avLst/>
            </a:prstTxWarp>
          </a:bodyPr>
          <a:lstStyle/>
          <a:p>
            <a:pPr algn="l"/>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2" i="1">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2</a:t>
            </a:r>
            <a:r>
              <a:rPr lang="en-US"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1815">
                <a:solidFill>
                  <a:srgbClr val="339966"/>
                </a:solidFill>
                <a:effectLst>
                  <a:outerShdw blurRad="38100" dist="38100" dir="2700000" algn="tl">
                    <a:srgbClr val="C0C0C0"/>
                  </a:outerShdw>
                </a:effectLst>
                <a:ea typeface="宋体" panose="02010600030101010101" pitchFamily="2" charset="-122"/>
              </a:rPr>
              <a:t>参考答案</a:t>
            </a:r>
          </a:p>
        </p:txBody>
      </p:sp>
      <p:grpSp>
        <p:nvGrpSpPr>
          <p:cNvPr id="65540" name="Group 4">
            <a:extLst>
              <a:ext uri="{FF2B5EF4-FFF2-40B4-BE49-F238E27FC236}">
                <a16:creationId xmlns:a16="http://schemas.microsoft.com/office/drawing/2014/main" id="{88626968-396C-5298-96A5-69AF4D1C17C5}"/>
              </a:ext>
            </a:extLst>
          </p:cNvPr>
          <p:cNvGrpSpPr>
            <a:grpSpLocks/>
          </p:cNvGrpSpPr>
          <p:nvPr/>
        </p:nvGrpSpPr>
        <p:grpSpPr bwMode="auto">
          <a:xfrm>
            <a:off x="299336" y="148055"/>
            <a:ext cx="4139486" cy="529041"/>
            <a:chOff x="0" y="0"/>
            <a:chExt cx="5000" cy="661"/>
          </a:xfrm>
        </p:grpSpPr>
        <p:sp>
          <p:nvSpPr>
            <p:cNvPr id="65541" name="Line 9">
              <a:extLst>
                <a:ext uri="{FF2B5EF4-FFF2-40B4-BE49-F238E27FC236}">
                  <a16:creationId xmlns:a16="http://schemas.microsoft.com/office/drawing/2014/main" id="{5F01616B-CB0E-DD74-5E3D-7C883651B715}"/>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65542" name="Line 10">
              <a:extLst>
                <a:ext uri="{FF2B5EF4-FFF2-40B4-BE49-F238E27FC236}">
                  <a16:creationId xmlns:a16="http://schemas.microsoft.com/office/drawing/2014/main" id="{AF2B2D91-D90C-39E7-AB60-17EC0609216E}"/>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65543" name="Rectangle 7">
            <a:extLst>
              <a:ext uri="{FF2B5EF4-FFF2-40B4-BE49-F238E27FC236}">
                <a16:creationId xmlns:a16="http://schemas.microsoft.com/office/drawing/2014/main" id="{86E58994-FAFC-2CFA-89C6-24D3C3DB7AB7}"/>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C7ADAC20-857C-FE48-A259-AD173C97707F}"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58</a:t>
            </a:fld>
            <a:endParaRPr lang="en-US" altLang="zh-CN" sz="857">
              <a:solidFill>
                <a:srgbClr val="777777"/>
              </a:solidFill>
              <a:latin typeface="Tahoma" panose="020B0604030504040204" pitchFamily="34" charset="0"/>
              <a:ea typeface="宋体" panose="02010600030101010101" pitchFamily="2" charset="-122"/>
            </a:endParaRPr>
          </a:p>
        </p:txBody>
      </p:sp>
      <p:sp>
        <p:nvSpPr>
          <p:cNvPr id="65544" name="Rectangle 11">
            <a:extLst>
              <a:ext uri="{FF2B5EF4-FFF2-40B4-BE49-F238E27FC236}">
                <a16:creationId xmlns:a16="http://schemas.microsoft.com/office/drawing/2014/main" id="{A26B2A97-1D62-107C-F754-795FCBC4C654}"/>
              </a:ext>
            </a:extLst>
          </p:cNvPr>
          <p:cNvSpPr>
            <a:spLocks noChangeArrowheads="1"/>
          </p:cNvSpPr>
          <p:nvPr/>
        </p:nvSpPr>
        <p:spPr bwMode="auto">
          <a:xfrm>
            <a:off x="308941" y="1852031"/>
            <a:ext cx="4146689" cy="148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lnSpc>
                <a:spcPct val="105000"/>
              </a:lnSpc>
              <a:spcBef>
                <a:spcPct val="45000"/>
              </a:spcBef>
              <a:buClr>
                <a:srgbClr val="339966"/>
              </a:buClr>
              <a:buSzPct val="120000"/>
              <a:buFont typeface="Wingdings"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marL="230520" indent="-230520" defTabSz="461040" fontAlgn="base">
              <a:spcAft>
                <a:spcPct val="0"/>
              </a:spcAft>
              <a:buClr>
                <a:srgbClr val="003399"/>
              </a:buClr>
              <a:buNone/>
            </a:pPr>
            <a:r>
              <a:rPr lang="zh-CN" altLang="zh-CN" sz="1311" b="1">
                <a:solidFill>
                  <a:srgbClr val="339966"/>
                </a:solidFill>
                <a:ea typeface="宋体" panose="02010600030101010101" pitchFamily="2" charset="-122"/>
              </a:rPr>
              <a:t>C.	</a:t>
            </a:r>
            <a:r>
              <a:rPr lang="zh-CN" altLang="zh-CN" sz="1361">
                <a:solidFill>
                  <a:srgbClr val="000000"/>
                </a:solidFill>
                <a:ea typeface="宋体" panose="02010600030101010101" pitchFamily="2" charset="-122"/>
              </a:rPr>
              <a:t>计算2009年GDP平减指数</a:t>
            </a:r>
          </a:p>
          <a:p>
            <a:pPr marL="230520" indent="-230520" defTabSz="461040" fontAlgn="base">
              <a:spcBef>
                <a:spcPct val="40000"/>
              </a:spcBef>
              <a:spcAft>
                <a:spcPct val="0"/>
              </a:spcAft>
              <a:buClr>
                <a:srgbClr val="003399"/>
              </a:buClr>
              <a:buNone/>
            </a:pPr>
            <a:r>
              <a:rPr lang="zh-CN" altLang="zh-CN" sz="1311">
                <a:solidFill>
                  <a:srgbClr val="FF0000"/>
                </a:solidFill>
                <a:ea typeface="宋体" panose="02010600030101010101" pitchFamily="2" charset="-122"/>
              </a:rPr>
              <a:t>  名义GDP  =  $36 x 1050  +  $100 x 205  =  </a:t>
            </a:r>
            <a:r>
              <a:rPr lang="zh-CN" altLang="zh-CN" sz="1311" u="sng">
                <a:solidFill>
                  <a:srgbClr val="FF0000"/>
                </a:solidFill>
                <a:ea typeface="宋体" panose="02010600030101010101" pitchFamily="2" charset="-122"/>
              </a:rPr>
              <a:t>$58,300</a:t>
            </a:r>
            <a:endParaRPr lang="zh-CN" altLang="zh-CN" sz="1311">
              <a:solidFill>
                <a:srgbClr val="FF0000"/>
              </a:solidFill>
              <a:ea typeface="宋体" panose="02010600030101010101" pitchFamily="2" charset="-122"/>
            </a:endParaRPr>
          </a:p>
          <a:p>
            <a:pPr marL="230520" indent="-230520" defTabSz="461040" fontAlgn="base">
              <a:spcAft>
                <a:spcPct val="0"/>
              </a:spcAft>
              <a:buClr>
                <a:srgbClr val="003399"/>
              </a:buClr>
              <a:buNone/>
            </a:pPr>
            <a:r>
              <a:rPr lang="zh-CN" altLang="zh-CN" sz="1311">
                <a:solidFill>
                  <a:srgbClr val="FF0000"/>
                </a:solidFill>
                <a:ea typeface="宋体" panose="02010600030101010101" pitchFamily="2" charset="-122"/>
              </a:rPr>
              <a:t>  真实GDP  =  $30 x 1050  +  $100 x 205  =  </a:t>
            </a:r>
            <a:r>
              <a:rPr lang="zh-CN" altLang="zh-CN" sz="1311" u="sng">
                <a:solidFill>
                  <a:srgbClr val="FF0000"/>
                </a:solidFill>
                <a:ea typeface="宋体" panose="02010600030101010101" pitchFamily="2" charset="-122"/>
              </a:rPr>
              <a:t>$52,000</a:t>
            </a:r>
            <a:endParaRPr lang="zh-CN" altLang="zh-CN" sz="1311">
              <a:solidFill>
                <a:srgbClr val="FF0000"/>
              </a:solidFill>
              <a:ea typeface="宋体" panose="02010600030101010101" pitchFamily="2" charset="-122"/>
            </a:endParaRPr>
          </a:p>
          <a:p>
            <a:pPr marL="230520" indent="-230520" defTabSz="461040" fontAlgn="base">
              <a:spcAft>
                <a:spcPct val="0"/>
              </a:spcAft>
              <a:buClr>
                <a:srgbClr val="003399"/>
              </a:buClr>
              <a:buNone/>
            </a:pPr>
            <a:r>
              <a:rPr lang="zh-CN" altLang="zh-CN" sz="1311">
                <a:solidFill>
                  <a:srgbClr val="FF0000"/>
                </a:solidFill>
                <a:ea typeface="宋体" panose="02010600030101010101" pitchFamily="2" charset="-122"/>
              </a:rPr>
              <a:t>  GDP平减指数 = 100 x (名义 GDP)/(真实 GDP)</a:t>
            </a:r>
          </a:p>
          <a:p>
            <a:pPr marL="230520" indent="-230520" defTabSz="461040" fontAlgn="base">
              <a:spcBef>
                <a:spcPct val="20000"/>
              </a:spcBef>
              <a:spcAft>
                <a:spcPct val="0"/>
              </a:spcAft>
              <a:buClr>
                <a:srgbClr val="003399"/>
              </a:buClr>
              <a:buNone/>
            </a:pPr>
            <a:r>
              <a:rPr lang="zh-CN" altLang="zh-CN" sz="1311">
                <a:solidFill>
                  <a:srgbClr val="FF0000"/>
                </a:solidFill>
                <a:ea typeface="宋体" panose="02010600030101010101" pitchFamily="2" charset="-122"/>
              </a:rPr>
              <a:t>			    = 100 x ($58,300)/($52,000) =  </a:t>
            </a:r>
            <a:r>
              <a:rPr lang="zh-CN" altLang="zh-CN" sz="1311" u="sng">
                <a:solidFill>
                  <a:srgbClr val="FF0000"/>
                </a:solidFill>
                <a:ea typeface="宋体" panose="02010600030101010101" pitchFamily="2" charset="-122"/>
              </a:rPr>
              <a:t>112.1</a:t>
            </a:r>
          </a:p>
        </p:txBody>
      </p:sp>
      <p:graphicFrame>
        <p:nvGraphicFramePr>
          <p:cNvPr id="65545" name="Group 9">
            <a:extLst>
              <a:ext uri="{FF2B5EF4-FFF2-40B4-BE49-F238E27FC236}">
                <a16:creationId xmlns:a16="http://schemas.microsoft.com/office/drawing/2014/main" id="{B9DA6BDA-B391-7D12-FE7B-AEC199B04C4D}"/>
              </a:ext>
            </a:extLst>
          </p:cNvPr>
          <p:cNvGraphicFramePr>
            <a:graphicFrameLocks noGrp="1"/>
          </p:cNvGraphicFramePr>
          <p:nvPr/>
        </p:nvGraphicFramePr>
        <p:xfrm>
          <a:off x="312943" y="775541"/>
          <a:ext cx="4200315" cy="1003978"/>
        </p:xfrm>
        <a:graphic>
          <a:graphicData uri="http://schemas.openxmlformats.org/drawingml/2006/table">
            <a:tbl>
              <a:tblPr/>
              <a:tblGrid>
                <a:gridCol w="687513">
                  <a:extLst>
                    <a:ext uri="{9D8B030D-6E8A-4147-A177-3AD203B41FA5}">
                      <a16:colId xmlns:a16="http://schemas.microsoft.com/office/drawing/2014/main" val="1134134260"/>
                    </a:ext>
                  </a:extLst>
                </a:gridCol>
                <a:gridCol w="657900">
                  <a:extLst>
                    <a:ext uri="{9D8B030D-6E8A-4147-A177-3AD203B41FA5}">
                      <a16:colId xmlns:a16="http://schemas.microsoft.com/office/drawing/2014/main" val="3078420723"/>
                    </a:ext>
                  </a:extLst>
                </a:gridCol>
                <a:gridCol w="587468">
                  <a:extLst>
                    <a:ext uri="{9D8B030D-6E8A-4147-A177-3AD203B41FA5}">
                      <a16:colId xmlns:a16="http://schemas.microsoft.com/office/drawing/2014/main" val="3187584798"/>
                    </a:ext>
                  </a:extLst>
                </a:gridCol>
                <a:gridCol w="528241">
                  <a:extLst>
                    <a:ext uri="{9D8B030D-6E8A-4147-A177-3AD203B41FA5}">
                      <a16:colId xmlns:a16="http://schemas.microsoft.com/office/drawing/2014/main" val="406681867"/>
                    </a:ext>
                  </a:extLst>
                </a:gridCol>
                <a:gridCol w="572261">
                  <a:extLst>
                    <a:ext uri="{9D8B030D-6E8A-4147-A177-3AD203B41FA5}">
                      <a16:colId xmlns:a16="http://schemas.microsoft.com/office/drawing/2014/main" val="586118013"/>
                    </a:ext>
                  </a:extLst>
                </a:gridCol>
                <a:gridCol w="597072">
                  <a:extLst>
                    <a:ext uri="{9D8B030D-6E8A-4147-A177-3AD203B41FA5}">
                      <a16:colId xmlns:a16="http://schemas.microsoft.com/office/drawing/2014/main" val="4222360616"/>
                    </a:ext>
                  </a:extLst>
                </a:gridCol>
                <a:gridCol w="569860">
                  <a:extLst>
                    <a:ext uri="{9D8B030D-6E8A-4147-A177-3AD203B41FA5}">
                      <a16:colId xmlns:a16="http://schemas.microsoft.com/office/drawing/2014/main" val="1871212716"/>
                    </a:ext>
                  </a:extLst>
                </a:gridCol>
              </a:tblGrid>
              <a:tr h="256117">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gridSpan="2">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2007 (基年)</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gridSpan="2">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2008</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gridSpan="2">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2009</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extLst>
                  <a:ext uri="{0D108BD9-81ED-4DB2-BD59-A6C34878D82A}">
                    <a16:rowId xmlns:a16="http://schemas.microsoft.com/office/drawing/2014/main" val="3871529326"/>
                  </a:ext>
                </a:extLst>
              </a:tr>
              <a:tr h="256117">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1" u="none" strike="noStrike" cap="none" normalizeH="0" baseline="0">
                          <a:ln>
                            <a:noFill/>
                          </a:ln>
                          <a:solidFill>
                            <a:schemeClr val="tx1"/>
                          </a:solidFill>
                          <a:effectLst/>
                          <a:latin typeface="Arial" panose="020B0604020202020204" pitchFamily="34" charset="0"/>
                          <a:ea typeface="宋体" panose="02010600030101010101" pitchFamily="2" charset="-122"/>
                        </a:rPr>
                        <a:t>P</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1" u="none" strike="noStrike" cap="none" normalizeH="0" baseline="0">
                          <a:ln>
                            <a:noFill/>
                          </a:ln>
                          <a:solidFill>
                            <a:schemeClr val="tx1"/>
                          </a:solidFill>
                          <a:effectLst/>
                          <a:latin typeface="Arial" panose="020B0604020202020204" pitchFamily="34" charset="0"/>
                          <a:ea typeface="宋体" panose="02010600030101010101" pitchFamily="2" charset="-122"/>
                        </a:rPr>
                        <a:t>Q</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1" u="none" strike="noStrike" cap="none" normalizeH="0" baseline="0">
                          <a:ln>
                            <a:noFill/>
                          </a:ln>
                          <a:solidFill>
                            <a:schemeClr val="tx1"/>
                          </a:solidFill>
                          <a:effectLst/>
                          <a:latin typeface="Arial" panose="020B0604020202020204" pitchFamily="34" charset="0"/>
                          <a:ea typeface="宋体" panose="02010600030101010101" pitchFamily="2" charset="-122"/>
                        </a:rPr>
                        <a:t>P</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1" u="none" strike="noStrike" cap="none" normalizeH="0" baseline="0">
                          <a:ln>
                            <a:noFill/>
                          </a:ln>
                          <a:solidFill>
                            <a:schemeClr val="tx1"/>
                          </a:solidFill>
                          <a:effectLst/>
                          <a:latin typeface="Arial" panose="020B0604020202020204" pitchFamily="34" charset="0"/>
                          <a:ea typeface="宋体" panose="02010600030101010101" pitchFamily="2" charset="-122"/>
                        </a:rPr>
                        <a:t>Q</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1" u="none" strike="noStrike" cap="none" normalizeH="0" baseline="0">
                          <a:ln>
                            <a:noFill/>
                          </a:ln>
                          <a:solidFill>
                            <a:schemeClr val="tx1"/>
                          </a:solidFill>
                          <a:effectLst/>
                          <a:latin typeface="Arial" panose="020B0604020202020204" pitchFamily="34" charset="0"/>
                          <a:ea typeface="宋体" panose="02010600030101010101" pitchFamily="2" charset="-122"/>
                        </a:rPr>
                        <a:t>P</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1" u="none" strike="noStrike" cap="none" normalizeH="0" baseline="0">
                          <a:ln>
                            <a:noFill/>
                          </a:ln>
                          <a:solidFill>
                            <a:schemeClr val="tx1"/>
                          </a:solidFill>
                          <a:effectLst/>
                          <a:latin typeface="Arial" panose="020B0604020202020204" pitchFamily="34" charset="0"/>
                          <a:ea typeface="宋体" panose="02010600030101010101" pitchFamily="2" charset="-122"/>
                        </a:rPr>
                        <a:t>Q</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279862418"/>
                  </a:ext>
                </a:extLst>
              </a:tr>
              <a:tr h="245872">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Good A</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$30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900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$31</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1,000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$36</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1050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610572360"/>
                  </a:ext>
                </a:extLst>
              </a:tr>
              <a:tr h="245872">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Good B</a:t>
                      </a:r>
                    </a:p>
                  </a:txBody>
                  <a:tcPr marL="46101" marR="46101"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$100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192</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$102</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$100</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a:spcBef>
                          <a:spcPct val="15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205</a:t>
                      </a:r>
                    </a:p>
                  </a:txBody>
                  <a:tcPr marL="23051" marR="92202" marT="23051" marB="2305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765560854"/>
                  </a:ext>
                </a:extLst>
              </a:tr>
            </a:tbl>
          </a:graphicData>
        </a:graphic>
      </p:graphicFrame>
    </p:spTree>
    <p:extLst>
      <p:ext uri="{BB962C8B-B14F-4D97-AF65-F5344CB8AC3E}">
        <p14:creationId xmlns:p14="http://schemas.microsoft.com/office/powerpoint/2010/main" val="1979733389"/>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5544">
                                            <p:txEl>
                                              <p:pRg st="0" end="0"/>
                                            </p:txEl>
                                          </p:spTgt>
                                        </p:tgtEl>
                                        <p:attrNameLst>
                                          <p:attrName>style.visibility</p:attrName>
                                        </p:attrNameLst>
                                      </p:cBhvr>
                                      <p:to>
                                        <p:strVal val="visible"/>
                                      </p:to>
                                    </p:set>
                                    <p:animEffect transition="in" filter="wipe(left)">
                                      <p:cBhvr>
                                        <p:cTn id="7" dur="500"/>
                                        <p:tgtEl>
                                          <p:spTgt spid="6554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5544">
                                            <p:txEl>
                                              <p:pRg st="1" end="1"/>
                                            </p:txEl>
                                          </p:spTgt>
                                        </p:tgtEl>
                                        <p:attrNameLst>
                                          <p:attrName>style.visibility</p:attrName>
                                        </p:attrNameLst>
                                      </p:cBhvr>
                                      <p:to>
                                        <p:strVal val="visible"/>
                                      </p:to>
                                    </p:set>
                                    <p:animEffect transition="in" filter="wipe(left)">
                                      <p:cBhvr>
                                        <p:cTn id="12" dur="500"/>
                                        <p:tgtEl>
                                          <p:spTgt spid="65544">
                                            <p:txEl>
                                              <p:pRg st="1" end="1"/>
                                            </p:txEl>
                                          </p:spTgt>
                                        </p:tgtEl>
                                      </p:cBhvr>
                                    </p:animEffect>
                                  </p:childTnLst>
                                  <p:subTnLst>
                                    <p:animClr clrSpc="rgb" dir="cw">
                                      <p:cBhvr override="childStyle">
                                        <p:cTn dur="1" fill="hold" display="0" masterRel="nextClick" afterEffect="1"/>
                                        <p:tgtEl>
                                          <p:spTgt spid="65544">
                                            <p:txEl>
                                              <p:pRg st="1" end="1"/>
                                            </p:txEl>
                                          </p:spTgt>
                                        </p:tgtEl>
                                        <p:attrNameLst>
                                          <p:attrName>ppt_c</p:attrName>
                                        </p:attrNameLst>
                                      </p:cBhvr>
                                      <p:to>
                                        <a:schemeClr val="bg2"/>
                                      </p:to>
                                    </p:animClr>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5544">
                                            <p:txEl>
                                              <p:pRg st="2" end="2"/>
                                            </p:txEl>
                                          </p:spTgt>
                                        </p:tgtEl>
                                        <p:attrNameLst>
                                          <p:attrName>style.visibility</p:attrName>
                                        </p:attrNameLst>
                                      </p:cBhvr>
                                      <p:to>
                                        <p:strVal val="visible"/>
                                      </p:to>
                                    </p:set>
                                    <p:animEffect transition="in" filter="wipe(left)">
                                      <p:cBhvr>
                                        <p:cTn id="17" dur="500"/>
                                        <p:tgtEl>
                                          <p:spTgt spid="65544">
                                            <p:txEl>
                                              <p:pRg st="2" end="2"/>
                                            </p:txEl>
                                          </p:spTgt>
                                        </p:tgtEl>
                                      </p:cBhvr>
                                    </p:animEffect>
                                  </p:childTnLst>
                                  <p:subTnLst>
                                    <p:animClr clrSpc="rgb" dir="cw">
                                      <p:cBhvr override="childStyle">
                                        <p:cTn dur="1" fill="hold" display="0" masterRel="nextClick" afterEffect="1"/>
                                        <p:tgtEl>
                                          <p:spTgt spid="65544">
                                            <p:txEl>
                                              <p:pRg st="2" end="2"/>
                                            </p:txEl>
                                          </p:spTgt>
                                        </p:tgtEl>
                                        <p:attrNameLst>
                                          <p:attrName>ppt_c</p:attrName>
                                        </p:attrNameLst>
                                      </p:cBhvr>
                                      <p:to>
                                        <a:schemeClr val="bg2"/>
                                      </p:to>
                                    </p:animClr>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5544">
                                            <p:txEl>
                                              <p:pRg st="3" end="3"/>
                                            </p:txEl>
                                          </p:spTgt>
                                        </p:tgtEl>
                                        <p:attrNameLst>
                                          <p:attrName>style.visibility</p:attrName>
                                        </p:attrNameLst>
                                      </p:cBhvr>
                                      <p:to>
                                        <p:strVal val="visible"/>
                                      </p:to>
                                    </p:set>
                                    <p:animEffect transition="in" filter="wipe(left)">
                                      <p:cBhvr>
                                        <p:cTn id="22" dur="500"/>
                                        <p:tgtEl>
                                          <p:spTgt spid="6554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5544">
                                            <p:txEl>
                                              <p:pRg st="4" end="4"/>
                                            </p:txEl>
                                          </p:spTgt>
                                        </p:tgtEl>
                                        <p:attrNameLst>
                                          <p:attrName>style.visibility</p:attrName>
                                        </p:attrNameLst>
                                      </p:cBhvr>
                                      <p:to>
                                        <p:strVal val="visible"/>
                                      </p:to>
                                    </p:set>
                                    <p:animEffect transition="in" filter="wipe(left)">
                                      <p:cBhvr>
                                        <p:cTn id="27" dur="500"/>
                                        <p:tgtEl>
                                          <p:spTgt spid="6554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4" grpId="0" build="p" bldLvl="5"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30505" y="650255"/>
            <a:ext cx="4162777" cy="2304256"/>
          </a:xfrm>
        </p:spPr>
        <p:txBody>
          <a:bodyPr/>
          <a:lstStyle/>
          <a:p>
            <a:r>
              <a:rPr lang="zh-CN" altLang="en-US" sz="1210" b="1" dirty="0"/>
              <a:t>国内生产净值</a:t>
            </a:r>
            <a:r>
              <a:rPr lang="en-US" altLang="zh-CN" sz="1210" b="1" dirty="0"/>
              <a:t>(net domestic product, NDP)</a:t>
            </a:r>
          </a:p>
          <a:p>
            <a:pPr marL="0" indent="0">
              <a:buNone/>
            </a:pPr>
            <a:r>
              <a:rPr lang="zh-CN" altLang="en-US" sz="1210" dirty="0"/>
              <a:t>    一个国家或地区在一定时期内（通常为一年）所生产的最终产品和服务按市场价格计算的净值。</a:t>
            </a:r>
            <a:endParaRPr lang="en-US" altLang="zh-CN" sz="1210" dirty="0"/>
          </a:p>
          <a:p>
            <a:r>
              <a:rPr lang="zh-CN" altLang="en-US" sz="1210" b="1" dirty="0"/>
              <a:t>国民收入（</a:t>
            </a:r>
            <a:r>
              <a:rPr lang="en-US" altLang="zh-CN" sz="1210" b="1" dirty="0"/>
              <a:t>national income</a:t>
            </a:r>
            <a:r>
              <a:rPr lang="zh-CN" altLang="en-US" sz="1210" b="1" dirty="0"/>
              <a:t>，</a:t>
            </a:r>
            <a:r>
              <a:rPr lang="en-US" altLang="zh-CN" sz="1210" b="1" dirty="0"/>
              <a:t>NI</a:t>
            </a:r>
            <a:r>
              <a:rPr lang="zh-CN" altLang="en-US" sz="1210" b="1" dirty="0"/>
              <a:t>）</a:t>
            </a:r>
            <a:endParaRPr lang="en-US" altLang="zh-CN" sz="1210" b="1" dirty="0"/>
          </a:p>
          <a:p>
            <a:pPr marL="0" indent="0">
              <a:buNone/>
            </a:pPr>
            <a:r>
              <a:rPr lang="zh-CN" altLang="en-US" sz="1210" dirty="0"/>
              <a:t>    一国国民拥有的各种生产要素所得到的实际报酬</a:t>
            </a:r>
            <a:endParaRPr lang="en-US" altLang="zh-CN" sz="1210" dirty="0"/>
          </a:p>
          <a:p>
            <a:r>
              <a:rPr lang="zh-CN" altLang="en-US" sz="1210" b="1" dirty="0"/>
              <a:t>个人收入（</a:t>
            </a:r>
            <a:r>
              <a:rPr lang="en-US" altLang="zh-CN" sz="1210" b="1" dirty="0"/>
              <a:t>personal income</a:t>
            </a:r>
            <a:r>
              <a:rPr lang="zh-CN" altLang="en-US" sz="1210" b="1" dirty="0"/>
              <a:t>，</a:t>
            </a:r>
            <a:r>
              <a:rPr lang="en-US" altLang="zh-CN" sz="1210" b="1" dirty="0"/>
              <a:t>PI</a:t>
            </a:r>
            <a:r>
              <a:rPr lang="zh-CN" altLang="en-US" sz="1210" b="1" dirty="0"/>
              <a:t>）</a:t>
            </a:r>
            <a:endParaRPr lang="en-US" altLang="zh-CN" sz="1210" b="1" dirty="0"/>
          </a:p>
          <a:p>
            <a:pPr marL="0" indent="0">
              <a:buNone/>
            </a:pPr>
            <a:r>
              <a:rPr lang="zh-CN" altLang="en-US" sz="1210" dirty="0"/>
              <a:t>    国民收入经过各种调整和转移支付后作为公民个人得到的收入之和。</a:t>
            </a:r>
            <a:endParaRPr lang="en-US" altLang="zh-CN" sz="1210" dirty="0"/>
          </a:p>
          <a:p>
            <a:r>
              <a:rPr lang="zh-CN" altLang="en-US" sz="1210" b="1" dirty="0"/>
              <a:t>个人可支配收入（</a:t>
            </a:r>
            <a:r>
              <a:rPr lang="en-US" altLang="zh-CN" sz="1210" b="1" dirty="0"/>
              <a:t>disposable personal income</a:t>
            </a:r>
            <a:r>
              <a:rPr lang="zh-CN" altLang="en-US" sz="1210" b="1" dirty="0"/>
              <a:t>）</a:t>
            </a:r>
            <a:endParaRPr lang="en-US" altLang="zh-CN" sz="1210" b="1" dirty="0"/>
          </a:p>
          <a:p>
            <a:pPr marL="0" indent="0">
              <a:buNone/>
            </a:pPr>
            <a:r>
              <a:rPr lang="zh-CN" altLang="en-US" sz="1210" dirty="0"/>
              <a:t>    个人收入减去“个人所得税和其他非税支付”后归个人支付的部分。</a:t>
            </a:r>
          </a:p>
        </p:txBody>
      </p:sp>
      <p:sp>
        <p:nvSpPr>
          <p:cNvPr id="4" name="日期占位符 3"/>
          <p:cNvSpPr>
            <a:spLocks noGrp="1"/>
          </p:cNvSpPr>
          <p:nvPr>
            <p:ph type="dt" sz="half" idx="10"/>
          </p:nvPr>
        </p:nvSpPr>
        <p:spPr/>
        <p:txBody>
          <a:bodyPr/>
          <a:lstStyle/>
          <a:p>
            <a:pPr marL="0" marR="0" lvl="0" indent="0" algn="l" defTabSz="230520" rtl="0" eaLnBrk="1" fontAlgn="auto" latinLnBrk="0" hangingPunct="1">
              <a:lnSpc>
                <a:spcPct val="100000"/>
              </a:lnSpc>
              <a:spcBef>
                <a:spcPts val="0"/>
              </a:spcBef>
              <a:spcAft>
                <a:spcPts val="0"/>
              </a:spcAft>
              <a:buClrTx/>
              <a:buSzTx/>
              <a:buFontTx/>
              <a:buNone/>
              <a:tabLst/>
              <a:defRPr/>
            </a:pPr>
            <a:fld id="{628846EC-7AEB-4CE8-9D8C-B435AD20C840}" type="datetime1">
              <a:rPr kumimoji="0" lang="zh-CN" altLang="en-US" sz="605"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pPr marL="0" marR="0" lvl="0" indent="0" algn="l" defTabSz="230520" rtl="0" eaLnBrk="1" fontAlgn="auto" latinLnBrk="0" hangingPunct="1">
                <a:lnSpc>
                  <a:spcPct val="100000"/>
                </a:lnSpc>
                <a:spcBef>
                  <a:spcPts val="0"/>
                </a:spcBef>
                <a:spcAft>
                  <a:spcPts val="0"/>
                </a:spcAft>
                <a:buClrTx/>
                <a:buSzTx/>
                <a:buFontTx/>
                <a:buNone/>
                <a:tabLst/>
                <a:defRPr/>
              </a:pPr>
              <a:t>2025/2/18</a:t>
            </a:fld>
            <a:endParaRPr kumimoji="0" lang="zh-CN" altLang="en-US" sz="605"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230520" rtl="0" eaLnBrk="1" fontAlgn="auto" latinLnBrk="0" hangingPunct="1">
              <a:lnSpc>
                <a:spcPct val="100000"/>
              </a:lnSpc>
              <a:spcBef>
                <a:spcPts val="0"/>
              </a:spcBef>
              <a:spcAft>
                <a:spcPts val="0"/>
              </a:spcAft>
              <a:buClrTx/>
              <a:buSzTx/>
              <a:buFontTx/>
              <a:buNone/>
              <a:tabLst/>
              <a:defRPr/>
            </a:pPr>
            <a:r>
              <a:rPr kumimoji="0" lang="zh-CN" altLang="en-US" sz="605"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a:t>
            </a:r>
            <a:r>
              <a:rPr kumimoji="0" lang="en-US" altLang="zh-CN" sz="605"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1</a:t>
            </a:r>
            <a:r>
              <a:rPr kumimoji="0" lang="zh-CN" altLang="en-US" sz="605"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节 国民收入核算的基本概念</a:t>
            </a:r>
          </a:p>
        </p:txBody>
      </p:sp>
      <p:sp>
        <p:nvSpPr>
          <p:cNvPr id="6" name="灯片编号占位符 5"/>
          <p:cNvSpPr>
            <a:spLocks noGrp="1"/>
          </p:cNvSpPr>
          <p:nvPr>
            <p:ph type="sldNum" sz="quarter" idx="12"/>
          </p:nvPr>
        </p:nvSpPr>
        <p:spPr/>
        <p:txBody>
          <a:bodyPr/>
          <a:lstStyle/>
          <a:p>
            <a:pPr marL="0" marR="0" lvl="0" indent="0" algn="r" defTabSz="230520" rtl="0" eaLnBrk="1" fontAlgn="auto" latinLnBrk="0" hangingPunct="1">
              <a:lnSpc>
                <a:spcPct val="100000"/>
              </a:lnSpc>
              <a:spcBef>
                <a:spcPts val="0"/>
              </a:spcBef>
              <a:spcAft>
                <a:spcPts val="0"/>
              </a:spcAft>
              <a:buClrTx/>
              <a:buSzTx/>
              <a:buFontTx/>
              <a:buNone/>
              <a:tabLst/>
              <a:defRPr/>
            </a:pPr>
            <a:fld id="{FAD6B5C5-F173-4E8F-B7DC-6ED3A3EC0E6C}" type="slidenum">
              <a:rPr kumimoji="0" lang="zh-CN" altLang="en-US" sz="605"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pPr marL="0" marR="0" lvl="0" indent="0" algn="r" defTabSz="230520" rtl="0" eaLnBrk="1" fontAlgn="auto" latinLnBrk="0" hangingPunct="1">
                <a:lnSpc>
                  <a:spcPct val="100000"/>
                </a:lnSpc>
                <a:spcBef>
                  <a:spcPts val="0"/>
                </a:spcBef>
                <a:spcAft>
                  <a:spcPts val="0"/>
                </a:spcAft>
                <a:buClrTx/>
                <a:buSzTx/>
                <a:buFontTx/>
                <a:buNone/>
                <a:tabLst/>
                <a:defRPr/>
              </a:pPr>
              <a:t>59</a:t>
            </a:fld>
            <a:endParaRPr kumimoji="0" lang="zh-CN" altLang="en-US" sz="605"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0" name="Rectangle 2">
            <a:extLst>
              <a:ext uri="{FF2B5EF4-FFF2-40B4-BE49-F238E27FC236}">
                <a16:creationId xmlns:a16="http://schemas.microsoft.com/office/drawing/2014/main" id="{D9F97376-423D-7C4E-743D-3FBFF0E4A897}"/>
              </a:ext>
            </a:extLst>
          </p:cNvPr>
          <p:cNvSpPr txBox="1">
            <a:spLocks noChangeArrowheads="1"/>
          </p:cNvSpPr>
          <p:nvPr/>
        </p:nvSpPr>
        <p:spPr bwMode="auto">
          <a:xfrm>
            <a:off x="230505" y="117641"/>
            <a:ext cx="4149090" cy="432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a:lstStyle>
          <a:p>
            <a:r>
              <a:rPr lang="en-US" altLang="zh-CN" sz="2017" dirty="0">
                <a:ea typeface="宋体" panose="02010600030101010101" pitchFamily="2" charset="-122"/>
              </a:rPr>
              <a:t> </a:t>
            </a:r>
            <a:r>
              <a:rPr lang="zh-CN" altLang="en-US" sz="2017" dirty="0">
                <a:ea typeface="宋体" panose="02010600030101010101" pitchFamily="2" charset="-122"/>
              </a:rPr>
              <a:t>与</a:t>
            </a:r>
            <a:r>
              <a:rPr lang="en-US" altLang="zh-CN" sz="2017" dirty="0">
                <a:ea typeface="宋体" panose="02010600030101010101" pitchFamily="2" charset="-122"/>
              </a:rPr>
              <a:t>GDP</a:t>
            </a:r>
            <a:r>
              <a:rPr lang="zh-CN" altLang="en-US" sz="2017" dirty="0">
                <a:ea typeface="宋体" panose="02010600030101010101" pitchFamily="2" charset="-122"/>
              </a:rPr>
              <a:t>相关的其他指标</a:t>
            </a:r>
            <a:endParaRPr lang="zh-CN" altLang="zh-CN" sz="2017" dirty="0">
              <a:ea typeface="宋体" panose="02010600030101010101" pitchFamily="2" charset="-122"/>
            </a:endParaRPr>
          </a:p>
        </p:txBody>
      </p:sp>
    </p:spTree>
    <p:extLst>
      <p:ext uri="{BB962C8B-B14F-4D97-AF65-F5344CB8AC3E}">
        <p14:creationId xmlns:p14="http://schemas.microsoft.com/office/powerpoint/2010/main" val="18051772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内容占位符 7"/>
          <p:cNvGraphicFramePr>
            <a:graphicFrameLocks noGrp="1"/>
          </p:cNvGraphicFramePr>
          <p:nvPr>
            <p:ph idx="1"/>
            <p:extLst>
              <p:ext uri="{D42A27DB-BD31-4B8C-83A1-F6EECF244321}">
                <p14:modId xmlns:p14="http://schemas.microsoft.com/office/powerpoint/2010/main" val="3344218583"/>
              </p:ext>
            </p:extLst>
          </p:nvPr>
        </p:nvGraphicFramePr>
        <p:xfrm>
          <a:off x="316944" y="650255"/>
          <a:ext cx="3917137" cy="2565062"/>
        </p:xfrm>
        <a:graphic>
          <a:graphicData uri="http://schemas.openxmlformats.org/drawingml/2006/table">
            <a:tbl>
              <a:tblPr firstRow="1" bandRow="1">
                <a:tableStyleId>{5940675A-B579-460E-94D1-54222C63F5DA}</a:tableStyleId>
              </a:tblPr>
              <a:tblGrid>
                <a:gridCol w="3917137">
                  <a:extLst>
                    <a:ext uri="{9D8B030D-6E8A-4147-A177-3AD203B41FA5}">
                      <a16:colId xmlns:a16="http://schemas.microsoft.com/office/drawing/2014/main" val="3849347649"/>
                    </a:ext>
                  </a:extLst>
                </a:gridCol>
              </a:tblGrid>
              <a:tr h="221416">
                <a:tc>
                  <a:txBody>
                    <a:bodyPr/>
                    <a:lstStyle/>
                    <a:p>
                      <a:r>
                        <a:rPr lang="zh-CN" altLang="en-US" sz="1000" dirty="0"/>
                        <a:t>国内生产总值</a:t>
                      </a:r>
                      <a:r>
                        <a:rPr lang="en-US" altLang="zh-CN" sz="1000" dirty="0"/>
                        <a:t>(GDP</a:t>
                      </a:r>
                      <a:r>
                        <a:rPr lang="zh-CN" altLang="en-US" sz="1000" dirty="0"/>
                        <a:t>，</a:t>
                      </a:r>
                      <a:r>
                        <a:rPr lang="en-US" altLang="zh-CN" sz="1000" dirty="0"/>
                        <a:t>gross domestic product)</a:t>
                      </a:r>
                      <a:endParaRPr lang="zh-CN" altLang="en-US" sz="1000" dirty="0"/>
                    </a:p>
                  </a:txBody>
                  <a:tcPr marL="46101" marR="46101" marT="23051" marB="23051">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549793461"/>
                  </a:ext>
                </a:extLst>
              </a:tr>
              <a:tr h="221416">
                <a:tc>
                  <a:txBody>
                    <a:bodyPr/>
                    <a:lstStyle/>
                    <a:p>
                      <a:r>
                        <a:rPr lang="en-US" altLang="zh-CN" sz="1000" dirty="0">
                          <a:latin typeface="KaiTi" panose="02010609060101010101" pitchFamily="49" charset="-122"/>
                          <a:ea typeface="KaiTi" panose="02010609060101010101" pitchFamily="49" charset="-122"/>
                        </a:rPr>
                        <a:t>    </a:t>
                      </a:r>
                      <a:r>
                        <a:rPr lang="zh-CN" altLang="en-US" sz="1000" dirty="0">
                          <a:latin typeface="KaiTi" panose="02010609060101010101" pitchFamily="49" charset="-122"/>
                          <a:ea typeface="KaiTi" panose="02010609060101010101" pitchFamily="49" charset="-122"/>
                        </a:rPr>
                        <a:t>减：折旧</a:t>
                      </a:r>
                    </a:p>
                  </a:txBody>
                  <a:tcPr marL="46101" marR="46101" marT="23051" marB="23051">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789703098"/>
                  </a:ext>
                </a:extLst>
              </a:tr>
              <a:tr h="2214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dirty="0"/>
                        <a:t>国内生产净值</a:t>
                      </a:r>
                      <a:r>
                        <a:rPr lang="en-US" altLang="zh-CN" sz="1000" dirty="0"/>
                        <a:t>(NDP</a:t>
                      </a:r>
                      <a:r>
                        <a:rPr lang="zh-CN" altLang="en-US" sz="1000" dirty="0"/>
                        <a:t>，</a:t>
                      </a:r>
                      <a:r>
                        <a:rPr lang="en-US" altLang="zh-CN" sz="1000" dirty="0"/>
                        <a:t>)</a:t>
                      </a:r>
                      <a:endParaRPr lang="zh-CN" altLang="en-US" sz="1000" dirty="0"/>
                    </a:p>
                  </a:txBody>
                  <a:tcPr marL="46101" marR="46101" marT="23051" marB="23051">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180354354"/>
                  </a:ext>
                </a:extLst>
              </a:tr>
              <a:tr h="221416">
                <a:tc>
                  <a:txBody>
                    <a:bodyPr/>
                    <a:lstStyle/>
                    <a:p>
                      <a:pPr marL="0" marR="0" lvl="0" indent="0" algn="l" defTabSz="461040" rtl="0" eaLnBrk="1" fontAlgn="auto" latinLnBrk="0" hangingPunct="1">
                        <a:lnSpc>
                          <a:spcPct val="100000"/>
                        </a:lnSpc>
                        <a:spcBef>
                          <a:spcPts val="0"/>
                        </a:spcBef>
                        <a:spcAft>
                          <a:spcPts val="0"/>
                        </a:spcAft>
                        <a:buClrTx/>
                        <a:buSzTx/>
                        <a:buFontTx/>
                        <a:buNone/>
                        <a:tabLst/>
                        <a:defRPr/>
                      </a:pPr>
                      <a:r>
                        <a:rPr lang="en-US" altLang="zh-CN" sz="1000" kern="1200" dirty="0">
                          <a:solidFill>
                            <a:schemeClr val="tx1"/>
                          </a:solidFill>
                          <a:latin typeface="KaiTi" panose="02010609060101010101" pitchFamily="49" charset="-122"/>
                          <a:ea typeface="KaiTi" panose="02010609060101010101" pitchFamily="49" charset="-122"/>
                          <a:cs typeface="+mn-cs"/>
                        </a:rPr>
                        <a:t>    </a:t>
                      </a:r>
                      <a:r>
                        <a:rPr lang="zh-CN" altLang="en-US" sz="1000" kern="1200" dirty="0">
                          <a:solidFill>
                            <a:schemeClr val="tx1"/>
                          </a:solidFill>
                          <a:latin typeface="KaiTi" panose="02010609060101010101" pitchFamily="49" charset="-122"/>
                          <a:ea typeface="KaiTi" panose="02010609060101010101" pitchFamily="49" charset="-122"/>
                          <a:cs typeface="+mn-cs"/>
                        </a:rPr>
                        <a:t>减：间接税、企业转移支付</a:t>
                      </a:r>
                    </a:p>
                  </a:txBody>
                  <a:tcPr marL="46101" marR="46101" marT="23051" marB="23051">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904636172"/>
                  </a:ext>
                </a:extLst>
              </a:tr>
              <a:tr h="221416">
                <a:tc>
                  <a:txBody>
                    <a:bodyPr/>
                    <a:lstStyle/>
                    <a:p>
                      <a:pPr marL="0" marR="0" lvl="0" indent="0" algn="l" defTabSz="461040" rtl="0" eaLnBrk="1" fontAlgn="auto" latinLnBrk="0" hangingPunct="1">
                        <a:lnSpc>
                          <a:spcPct val="100000"/>
                        </a:lnSpc>
                        <a:spcBef>
                          <a:spcPts val="0"/>
                        </a:spcBef>
                        <a:spcAft>
                          <a:spcPts val="0"/>
                        </a:spcAft>
                        <a:buClrTx/>
                        <a:buSzTx/>
                        <a:buFontTx/>
                        <a:buNone/>
                        <a:tabLst/>
                        <a:defRPr/>
                      </a:pPr>
                      <a:r>
                        <a:rPr lang="en-US" altLang="zh-CN" sz="1000" kern="1200" dirty="0">
                          <a:solidFill>
                            <a:schemeClr val="tx1"/>
                          </a:solidFill>
                          <a:latin typeface="KaiTi" panose="02010609060101010101" pitchFamily="49" charset="-122"/>
                          <a:ea typeface="KaiTi" panose="02010609060101010101" pitchFamily="49" charset="-122"/>
                          <a:cs typeface="+mn-cs"/>
                        </a:rPr>
                        <a:t>    </a:t>
                      </a:r>
                      <a:r>
                        <a:rPr lang="zh-CN" altLang="en-US" sz="1000" kern="1200" dirty="0">
                          <a:solidFill>
                            <a:schemeClr val="tx1"/>
                          </a:solidFill>
                          <a:latin typeface="KaiTi" panose="02010609060101010101" pitchFamily="49" charset="-122"/>
                          <a:ea typeface="KaiTi" panose="02010609060101010101" pitchFamily="49" charset="-122"/>
                          <a:cs typeface="+mn-cs"/>
                        </a:rPr>
                        <a:t>加：政府补助金</a:t>
                      </a:r>
                    </a:p>
                  </a:txBody>
                  <a:tcPr marL="46101" marR="46101" marT="23051" marB="23051">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098046245"/>
                  </a:ext>
                </a:extLst>
              </a:tr>
              <a:tr h="2214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dirty="0"/>
                        <a:t>国民收入</a:t>
                      </a:r>
                      <a:r>
                        <a:rPr lang="en-US" altLang="zh-CN" sz="1000" dirty="0"/>
                        <a:t>(NI)</a:t>
                      </a:r>
                      <a:endParaRPr lang="zh-CN" altLang="en-US" sz="1000" dirty="0"/>
                    </a:p>
                  </a:txBody>
                  <a:tcPr marL="46101" marR="46101" marT="23051" marB="23051">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778438750"/>
                  </a:ext>
                </a:extLst>
              </a:tr>
              <a:tr h="221416">
                <a:tc>
                  <a:txBody>
                    <a:bodyPr/>
                    <a:lstStyle/>
                    <a:p>
                      <a:pPr marL="0" marR="0" lvl="0" indent="0" algn="l" defTabSz="461040" rtl="0" eaLnBrk="1" fontAlgn="auto" latinLnBrk="0" hangingPunct="1">
                        <a:lnSpc>
                          <a:spcPct val="100000"/>
                        </a:lnSpc>
                        <a:spcBef>
                          <a:spcPts val="0"/>
                        </a:spcBef>
                        <a:spcAft>
                          <a:spcPts val="0"/>
                        </a:spcAft>
                        <a:buClrTx/>
                        <a:buSzTx/>
                        <a:buFontTx/>
                        <a:buNone/>
                        <a:tabLst/>
                        <a:defRPr/>
                      </a:pPr>
                      <a:r>
                        <a:rPr lang="en-US" altLang="zh-CN" sz="1000" kern="1200" dirty="0">
                          <a:solidFill>
                            <a:schemeClr val="tx1"/>
                          </a:solidFill>
                          <a:latin typeface="KaiTi" panose="02010609060101010101" pitchFamily="49" charset="-122"/>
                          <a:ea typeface="KaiTi" panose="02010609060101010101" pitchFamily="49" charset="-122"/>
                          <a:cs typeface="+mn-cs"/>
                        </a:rPr>
                        <a:t>    </a:t>
                      </a:r>
                      <a:r>
                        <a:rPr lang="zh-CN" altLang="en-US" sz="1000" kern="1200" dirty="0">
                          <a:solidFill>
                            <a:schemeClr val="tx1"/>
                          </a:solidFill>
                          <a:latin typeface="KaiTi" panose="02010609060101010101" pitchFamily="49" charset="-122"/>
                          <a:ea typeface="KaiTi" panose="02010609060101010101" pitchFamily="49" charset="-122"/>
                          <a:cs typeface="+mn-cs"/>
                        </a:rPr>
                        <a:t>减：企业向政府交纳的所得税、留存收益</a:t>
                      </a:r>
                    </a:p>
                  </a:txBody>
                  <a:tcPr marL="46101" marR="46101" marT="23051" marB="23051">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142205329"/>
                  </a:ext>
                </a:extLst>
              </a:tr>
              <a:tr h="221416">
                <a:tc>
                  <a:txBody>
                    <a:bodyPr/>
                    <a:lstStyle/>
                    <a:p>
                      <a:pPr marL="0" marR="0" lvl="0" indent="0" algn="l" defTabSz="461040" rtl="0" eaLnBrk="1" fontAlgn="auto" latinLnBrk="0" hangingPunct="1">
                        <a:lnSpc>
                          <a:spcPct val="100000"/>
                        </a:lnSpc>
                        <a:spcBef>
                          <a:spcPts val="0"/>
                        </a:spcBef>
                        <a:spcAft>
                          <a:spcPts val="0"/>
                        </a:spcAft>
                        <a:buClrTx/>
                        <a:buSzTx/>
                        <a:buFontTx/>
                        <a:buNone/>
                        <a:tabLst/>
                        <a:defRPr/>
                      </a:pPr>
                      <a:r>
                        <a:rPr lang="en-US" altLang="zh-CN" sz="1000" kern="1200" dirty="0">
                          <a:solidFill>
                            <a:schemeClr val="tx1"/>
                          </a:solidFill>
                          <a:latin typeface="KaiTi" panose="02010609060101010101" pitchFamily="49" charset="-122"/>
                          <a:ea typeface="KaiTi" panose="02010609060101010101" pitchFamily="49" charset="-122"/>
                          <a:cs typeface="+mn-cs"/>
                        </a:rPr>
                        <a:t>    </a:t>
                      </a:r>
                      <a:r>
                        <a:rPr lang="zh-CN" altLang="en-US" sz="1000" kern="1200" dirty="0">
                          <a:solidFill>
                            <a:schemeClr val="tx1"/>
                          </a:solidFill>
                          <a:latin typeface="KaiTi" panose="02010609060101010101" pitchFamily="49" charset="-122"/>
                          <a:ea typeface="KaiTi" panose="02010609060101010101" pitchFamily="49" charset="-122"/>
                          <a:cs typeface="+mn-cs"/>
                        </a:rPr>
                        <a:t>加：政府给个人的退伍军人津贴、工人失业救济金、职工养老金等</a:t>
                      </a:r>
                    </a:p>
                  </a:txBody>
                  <a:tcPr marL="46101" marR="46101" marT="23051" marB="23051">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991712465"/>
                  </a:ext>
                </a:extLst>
              </a:tr>
              <a:tr h="2214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dirty="0"/>
                        <a:t>个人收入</a:t>
                      </a:r>
                      <a:r>
                        <a:rPr lang="en-US" altLang="zh-CN" sz="1000" dirty="0"/>
                        <a:t>(PI)</a:t>
                      </a:r>
                      <a:endParaRPr lang="zh-CN" altLang="en-US" sz="1000" dirty="0"/>
                    </a:p>
                  </a:txBody>
                  <a:tcPr marL="46101" marR="46101" marT="23051" marB="23051">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189940330"/>
                  </a:ext>
                </a:extLst>
              </a:tr>
              <a:tr h="221416">
                <a:tc>
                  <a:txBody>
                    <a:bodyPr/>
                    <a:lstStyle/>
                    <a:p>
                      <a:pPr marL="0" marR="0" lvl="0" indent="0" algn="l" defTabSz="461040" rtl="0" eaLnBrk="1" fontAlgn="auto" latinLnBrk="0" hangingPunct="1">
                        <a:lnSpc>
                          <a:spcPct val="100000"/>
                        </a:lnSpc>
                        <a:spcBef>
                          <a:spcPts val="0"/>
                        </a:spcBef>
                        <a:spcAft>
                          <a:spcPts val="0"/>
                        </a:spcAft>
                        <a:buClrTx/>
                        <a:buSzTx/>
                        <a:buFontTx/>
                        <a:buNone/>
                        <a:tabLst/>
                        <a:defRPr/>
                      </a:pPr>
                      <a:r>
                        <a:rPr lang="en-US" altLang="zh-CN" sz="1000" kern="1200" dirty="0">
                          <a:solidFill>
                            <a:schemeClr val="tx1"/>
                          </a:solidFill>
                          <a:latin typeface="KaiTi" panose="02010609060101010101" pitchFamily="49" charset="-122"/>
                          <a:ea typeface="KaiTi" panose="02010609060101010101" pitchFamily="49" charset="-122"/>
                          <a:cs typeface="+mn-cs"/>
                        </a:rPr>
                        <a:t>    </a:t>
                      </a:r>
                      <a:r>
                        <a:rPr lang="zh-CN" altLang="en-US" sz="1000" kern="1200" dirty="0">
                          <a:solidFill>
                            <a:schemeClr val="tx1"/>
                          </a:solidFill>
                          <a:latin typeface="KaiTi" panose="02010609060101010101" pitchFamily="49" charset="-122"/>
                          <a:ea typeface="KaiTi" panose="02010609060101010101" pitchFamily="49" charset="-122"/>
                          <a:cs typeface="+mn-cs"/>
                        </a:rPr>
                        <a:t>减：个人所得税和其他非税支付</a:t>
                      </a:r>
                    </a:p>
                  </a:txBody>
                  <a:tcPr marL="46101" marR="46101" marT="23051" marB="23051">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468205936"/>
                  </a:ext>
                </a:extLst>
              </a:tr>
              <a:tr h="2214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dirty="0"/>
                        <a:t>个人可支配收入</a:t>
                      </a:r>
                      <a:r>
                        <a:rPr lang="en-US" altLang="zh-CN" sz="1000" dirty="0"/>
                        <a:t>(DPI)</a:t>
                      </a:r>
                      <a:endParaRPr lang="zh-CN" altLang="en-US" sz="1000" dirty="0"/>
                    </a:p>
                  </a:txBody>
                  <a:tcPr marL="46101" marR="46101" marT="23051" marB="23051">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35906635"/>
                  </a:ext>
                </a:extLst>
              </a:tr>
            </a:tbl>
          </a:graphicData>
        </a:graphic>
      </p:graphicFrame>
      <p:sp>
        <p:nvSpPr>
          <p:cNvPr id="4" name="日期占位符 3"/>
          <p:cNvSpPr>
            <a:spLocks noGrp="1"/>
          </p:cNvSpPr>
          <p:nvPr>
            <p:ph type="dt" sz="half" idx="10"/>
          </p:nvPr>
        </p:nvSpPr>
        <p:spPr/>
        <p:txBody>
          <a:bodyPr/>
          <a:lstStyle/>
          <a:p>
            <a:pPr marL="0" marR="0" lvl="0" indent="0" algn="l" defTabSz="230520" rtl="0" eaLnBrk="1" fontAlgn="auto" latinLnBrk="0" hangingPunct="1">
              <a:lnSpc>
                <a:spcPct val="100000"/>
              </a:lnSpc>
              <a:spcBef>
                <a:spcPts val="0"/>
              </a:spcBef>
              <a:spcAft>
                <a:spcPts val="0"/>
              </a:spcAft>
              <a:buClrTx/>
              <a:buSzTx/>
              <a:buFontTx/>
              <a:buNone/>
              <a:tabLst/>
              <a:defRPr/>
            </a:pPr>
            <a:fld id="{D36A27BF-7EEB-4598-807A-68A3710C1713}" type="datetime1">
              <a:rPr kumimoji="0" lang="zh-CN" altLang="en-US" sz="605"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pPr marL="0" marR="0" lvl="0" indent="0" algn="l" defTabSz="230520" rtl="0" eaLnBrk="1" fontAlgn="auto" latinLnBrk="0" hangingPunct="1">
                <a:lnSpc>
                  <a:spcPct val="100000"/>
                </a:lnSpc>
                <a:spcBef>
                  <a:spcPts val="0"/>
                </a:spcBef>
                <a:spcAft>
                  <a:spcPts val="0"/>
                </a:spcAft>
                <a:buClrTx/>
                <a:buSzTx/>
                <a:buFontTx/>
                <a:buNone/>
                <a:tabLst/>
                <a:defRPr/>
              </a:pPr>
              <a:t>2025/2/18</a:t>
            </a:fld>
            <a:endParaRPr kumimoji="0" lang="zh-CN" altLang="en-US" sz="605"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230520" rtl="0" eaLnBrk="1" fontAlgn="auto" latinLnBrk="0" hangingPunct="1">
              <a:lnSpc>
                <a:spcPct val="100000"/>
              </a:lnSpc>
              <a:spcBef>
                <a:spcPts val="0"/>
              </a:spcBef>
              <a:spcAft>
                <a:spcPts val="0"/>
              </a:spcAft>
              <a:buClrTx/>
              <a:buSzTx/>
              <a:buFontTx/>
              <a:buNone/>
              <a:tabLst/>
              <a:defRPr/>
            </a:pPr>
            <a:r>
              <a:rPr kumimoji="0" lang="zh-CN" altLang="en-US" sz="605"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a:t>
            </a:r>
            <a:r>
              <a:rPr kumimoji="0" lang="en-US" altLang="zh-CN" sz="605"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1</a:t>
            </a:r>
            <a:r>
              <a:rPr kumimoji="0" lang="zh-CN" altLang="en-US" sz="605"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节 国民收入核算的基本概念</a:t>
            </a:r>
          </a:p>
        </p:txBody>
      </p:sp>
      <p:sp>
        <p:nvSpPr>
          <p:cNvPr id="6" name="灯片编号占位符 5"/>
          <p:cNvSpPr>
            <a:spLocks noGrp="1"/>
          </p:cNvSpPr>
          <p:nvPr>
            <p:ph type="sldNum" sz="quarter" idx="12"/>
          </p:nvPr>
        </p:nvSpPr>
        <p:spPr/>
        <p:txBody>
          <a:bodyPr/>
          <a:lstStyle/>
          <a:p>
            <a:pPr marL="0" marR="0" lvl="0" indent="0" algn="r" defTabSz="230520" rtl="0" eaLnBrk="1" fontAlgn="auto" latinLnBrk="0" hangingPunct="1">
              <a:lnSpc>
                <a:spcPct val="100000"/>
              </a:lnSpc>
              <a:spcBef>
                <a:spcPts val="0"/>
              </a:spcBef>
              <a:spcAft>
                <a:spcPts val="0"/>
              </a:spcAft>
              <a:buClrTx/>
              <a:buSzTx/>
              <a:buFontTx/>
              <a:buNone/>
              <a:tabLst/>
              <a:defRPr/>
            </a:pPr>
            <a:fld id="{FAD6B5C5-F173-4E8F-B7DC-6ED3A3EC0E6C}" type="slidenum">
              <a:rPr kumimoji="0" lang="zh-CN" altLang="en-US" sz="605"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pPr marL="0" marR="0" lvl="0" indent="0" algn="r" defTabSz="230520" rtl="0" eaLnBrk="1" fontAlgn="auto" latinLnBrk="0" hangingPunct="1">
                <a:lnSpc>
                  <a:spcPct val="100000"/>
                </a:lnSpc>
                <a:spcBef>
                  <a:spcPts val="0"/>
                </a:spcBef>
                <a:spcAft>
                  <a:spcPts val="0"/>
                </a:spcAft>
                <a:buClrTx/>
                <a:buSzTx/>
                <a:buFontTx/>
                <a:buNone/>
                <a:tabLst/>
                <a:defRPr/>
              </a:pPr>
              <a:t>60</a:t>
            </a:fld>
            <a:endParaRPr kumimoji="0" lang="zh-CN" altLang="en-US" sz="605"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3" name="Rectangle 2">
            <a:extLst>
              <a:ext uri="{FF2B5EF4-FFF2-40B4-BE49-F238E27FC236}">
                <a16:creationId xmlns:a16="http://schemas.microsoft.com/office/drawing/2014/main" id="{D2AB40FA-7C1A-03AE-32AB-62928E50DD5B}"/>
              </a:ext>
            </a:extLst>
          </p:cNvPr>
          <p:cNvSpPr txBox="1">
            <a:spLocks noChangeArrowheads="1"/>
          </p:cNvSpPr>
          <p:nvPr/>
        </p:nvSpPr>
        <p:spPr bwMode="auto">
          <a:xfrm>
            <a:off x="230505" y="117641"/>
            <a:ext cx="4149090" cy="432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a:lstStyle>
          <a:p>
            <a:r>
              <a:rPr lang="en-US" altLang="zh-CN" sz="2017" dirty="0">
                <a:ea typeface="宋体" panose="02010600030101010101" pitchFamily="2" charset="-122"/>
              </a:rPr>
              <a:t> </a:t>
            </a:r>
            <a:r>
              <a:rPr lang="zh-CN" altLang="en-US" sz="2017" dirty="0">
                <a:ea typeface="宋体" panose="02010600030101010101" pitchFamily="2" charset="-122"/>
              </a:rPr>
              <a:t>与</a:t>
            </a:r>
            <a:r>
              <a:rPr lang="en-US" altLang="zh-CN" sz="2017" dirty="0">
                <a:ea typeface="宋体" panose="02010600030101010101" pitchFamily="2" charset="-122"/>
              </a:rPr>
              <a:t>GDP</a:t>
            </a:r>
            <a:r>
              <a:rPr lang="zh-CN" altLang="en-US" sz="2017" dirty="0">
                <a:ea typeface="宋体" panose="02010600030101010101" pitchFamily="2" charset="-122"/>
              </a:rPr>
              <a:t>相关的其他指标</a:t>
            </a:r>
            <a:endParaRPr lang="zh-CN" altLang="zh-CN" sz="2017" dirty="0">
              <a:ea typeface="宋体" panose="02010600030101010101" pitchFamily="2" charset="-122"/>
            </a:endParaRPr>
          </a:p>
        </p:txBody>
      </p:sp>
    </p:spTree>
    <p:extLst>
      <p:ext uri="{BB962C8B-B14F-4D97-AF65-F5344CB8AC3E}">
        <p14:creationId xmlns:p14="http://schemas.microsoft.com/office/powerpoint/2010/main" val="15125258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F91ABC4-4BB8-27C8-338A-4761B3433670}"/>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一国收入的衡量</a:t>
            </a:r>
          </a:p>
        </p:txBody>
      </p:sp>
      <p:sp>
        <p:nvSpPr>
          <p:cNvPr id="3" name="灯片编号占位符 2">
            <a:extLst>
              <a:ext uri="{FF2B5EF4-FFF2-40B4-BE49-F238E27FC236}">
                <a16:creationId xmlns:a16="http://schemas.microsoft.com/office/drawing/2014/main" id="{5A32EAFA-E741-E485-1389-22E1691A0FB2}"/>
              </a:ext>
            </a:extLst>
          </p:cNvPr>
          <p:cNvSpPr>
            <a:spLocks noGrp="1"/>
          </p:cNvSpPr>
          <p:nvPr>
            <p:ph type="sldNum" sz="quarter" idx="11"/>
          </p:nvPr>
        </p:nvSpPr>
        <p:spPr/>
        <p:txBody>
          <a:bodyPr/>
          <a:lstStyle/>
          <a:p>
            <a:pPr defTabSz="461040" fontAlgn="base">
              <a:spcBef>
                <a:spcPct val="0"/>
              </a:spcBef>
              <a:spcAft>
                <a:spcPct val="0"/>
              </a:spcAft>
            </a:pPr>
            <a:fld id="{8966A34F-B625-4C4C-8FC0-13EDAC74ED18}" type="slidenum">
              <a:rPr lang="zh-CN" altLang="zh-CN">
                <a:latin typeface="Arial" panose="020B0604020202020204" pitchFamily="34" charset="0"/>
              </a:rPr>
              <a:pPr defTabSz="461040" fontAlgn="base">
                <a:spcBef>
                  <a:spcPct val="0"/>
                </a:spcBef>
                <a:spcAft>
                  <a:spcPct val="0"/>
                </a:spcAft>
              </a:pPr>
              <a:t>61</a:t>
            </a:fld>
            <a:endParaRPr lang="en-US" altLang="zh-CN">
              <a:latin typeface="Arial" panose="020B0604020202020204" pitchFamily="34" charset="0"/>
            </a:endParaRPr>
          </a:p>
        </p:txBody>
      </p:sp>
      <p:sp>
        <p:nvSpPr>
          <p:cNvPr id="66562" name="Rectangle 6">
            <a:extLst>
              <a:ext uri="{FF2B5EF4-FFF2-40B4-BE49-F238E27FC236}">
                <a16:creationId xmlns:a16="http://schemas.microsoft.com/office/drawing/2014/main" id="{2DF87EEE-0AC4-1A7A-2DB1-DF5C8B283402}"/>
              </a:ext>
            </a:extLst>
          </p:cNvPr>
          <p:cNvSpPr>
            <a:spLocks noGrp="1" noChangeArrowheads="1"/>
          </p:cNvSpPr>
          <p:nvPr>
            <p:ph type="title" idx="4294967295"/>
          </p:nvPr>
        </p:nvSpPr>
        <p:spPr/>
        <p:txBody>
          <a:bodyPr/>
          <a:lstStyle/>
          <a:p>
            <a:r>
              <a:rPr lang="en-US" altLang="zh-CN">
                <a:ea typeface="宋体" panose="02010600030101010101" pitchFamily="2" charset="-122"/>
              </a:rPr>
              <a:t>GDP</a:t>
            </a:r>
            <a:r>
              <a:rPr lang="zh-CN" altLang="zh-CN">
                <a:ea typeface="宋体" panose="02010600030101010101" pitchFamily="2" charset="-122"/>
              </a:rPr>
              <a:t>与经济福利</a:t>
            </a:r>
          </a:p>
        </p:txBody>
      </p:sp>
      <p:sp>
        <p:nvSpPr>
          <p:cNvPr id="66563" name="Rectangle 7">
            <a:extLst>
              <a:ext uri="{FF2B5EF4-FFF2-40B4-BE49-F238E27FC236}">
                <a16:creationId xmlns:a16="http://schemas.microsoft.com/office/drawing/2014/main" id="{B628DF13-7C6B-3502-B4C9-D75AB9472917}"/>
              </a:ext>
            </a:extLst>
          </p:cNvPr>
          <p:cNvSpPr>
            <a:spLocks noGrp="1" noChangeArrowheads="1"/>
          </p:cNvSpPr>
          <p:nvPr>
            <p:ph type="body" idx="4294967295"/>
          </p:nvPr>
        </p:nvSpPr>
        <p:spPr>
          <a:xfrm>
            <a:off x="230505" y="512220"/>
            <a:ext cx="4149090" cy="2583577"/>
          </a:xfrm>
        </p:spPr>
        <p:txBody>
          <a:bodyPr/>
          <a:lstStyle/>
          <a:p>
            <a:pPr>
              <a:spcBef>
                <a:spcPct val="50000"/>
              </a:spcBef>
            </a:pPr>
            <a:r>
              <a:rPr lang="zh-CN" altLang="zh-CN" b="1">
                <a:solidFill>
                  <a:srgbClr val="660066"/>
                </a:solidFill>
                <a:ea typeface="宋体" panose="02010600030101010101" pitchFamily="2" charset="-122"/>
              </a:rPr>
              <a:t>人均真实 GDP是衡量普通人生活水平的主要指标</a:t>
            </a:r>
          </a:p>
          <a:p>
            <a:pPr>
              <a:spcBef>
                <a:spcPct val="50000"/>
              </a:spcBef>
            </a:pPr>
            <a:endParaRPr lang="zh-CN" altLang="zh-CN" b="1" i="1">
              <a:solidFill>
                <a:srgbClr val="660066"/>
              </a:solidFill>
              <a:ea typeface="宋体" panose="02010600030101010101" pitchFamily="2" charset="-122"/>
            </a:endParaRPr>
          </a:p>
          <a:p>
            <a:pPr>
              <a:spcBef>
                <a:spcPct val="50000"/>
              </a:spcBef>
            </a:pPr>
            <a:r>
              <a:rPr lang="zh-CN" altLang="zh-CN">
                <a:ea typeface="宋体" panose="02010600030101010101" pitchFamily="2" charset="-122"/>
              </a:rPr>
              <a:t>但GDP不是衡量经济福利的完美指标</a:t>
            </a:r>
          </a:p>
          <a:p>
            <a:pPr>
              <a:spcBef>
                <a:spcPct val="50000"/>
              </a:spcBef>
              <a:buFont typeface="Wingdings" pitchFamily="2" charset="2"/>
              <a:buNone/>
            </a:pPr>
            <a:endParaRPr lang="zh-CN" altLang="zh-CN">
              <a:ea typeface="宋体" panose="02010600030101010101" pitchFamily="2" charset="-122"/>
            </a:endParaRPr>
          </a:p>
          <a:p>
            <a:pPr>
              <a:spcBef>
                <a:spcPct val="50000"/>
              </a:spcBef>
            </a:pPr>
            <a:r>
              <a:rPr lang="zh-CN" altLang="zh-CN">
                <a:ea typeface="宋体" panose="02010600030101010101" pitchFamily="2" charset="-122"/>
              </a:rPr>
              <a:t>罗伯特·肯尼迪慷慨激昂地批评了这种经济衡量指标：</a:t>
            </a:r>
          </a:p>
        </p:txBody>
      </p:sp>
    </p:spTree>
  </p:cSld>
  <p:clrMapOvr>
    <a:masterClrMapping/>
  </p:clrMapOvr>
  <p:transition>
    <p:wipe dir="r"/>
  </p:transition>
</p:sld>
</file>

<file path=ppt/slides/slide6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67F2D65-4745-BFB2-CC7C-03AFE7B9BC35}"/>
              </a:ext>
            </a:extLst>
          </p:cNvPr>
          <p:cNvSpPr>
            <a:spLocks noGrp="1" noChangeArrowheads="1"/>
          </p:cNvSpPr>
          <p:nvPr>
            <p:ph type="title" idx="4294967295"/>
          </p:nvPr>
        </p:nvSpPr>
        <p:spPr>
          <a:xfrm>
            <a:off x="165676" y="114439"/>
            <a:ext cx="2670016" cy="272124"/>
          </a:xfrm>
        </p:spPr>
        <p:txBody>
          <a:bodyPr/>
          <a:lstStyle/>
          <a:p>
            <a:pPr algn="l"/>
            <a:r>
              <a:rPr lang="zh-CN" altLang="zh-CN" sz="1664">
                <a:solidFill>
                  <a:srgbClr val="990033"/>
                </a:solidFill>
                <a:latin typeface="Times New Roman" panose="02020603050405020304" pitchFamily="18" charset="0"/>
                <a:ea typeface="宋体" panose="02010600030101010101" pitchFamily="2" charset="-122"/>
              </a:rPr>
              <a:t>国内生产总值</a:t>
            </a:r>
            <a:r>
              <a:rPr lang="en-US" altLang="zh-CN" sz="1664">
                <a:solidFill>
                  <a:srgbClr val="990033"/>
                </a:solidFill>
                <a:latin typeface="Times New Roman" panose="02020603050405020304" pitchFamily="18" charset="0"/>
                <a:ea typeface="宋体" panose="02010600030101010101" pitchFamily="2" charset="-122"/>
              </a:rPr>
              <a:t>……</a:t>
            </a:r>
          </a:p>
        </p:txBody>
      </p:sp>
      <p:sp>
        <p:nvSpPr>
          <p:cNvPr id="68611" name="Rectangle 3">
            <a:extLst>
              <a:ext uri="{FF2B5EF4-FFF2-40B4-BE49-F238E27FC236}">
                <a16:creationId xmlns:a16="http://schemas.microsoft.com/office/drawing/2014/main" id="{CD9BCA0F-056C-076C-8ECC-E5817E37D214}"/>
              </a:ext>
            </a:extLst>
          </p:cNvPr>
          <p:cNvSpPr>
            <a:spLocks noGrp="1" noChangeArrowheads="1"/>
          </p:cNvSpPr>
          <p:nvPr>
            <p:ph type="body" idx="4294967295"/>
          </p:nvPr>
        </p:nvSpPr>
        <p:spPr>
          <a:xfrm>
            <a:off x="144066" y="490610"/>
            <a:ext cx="2932536" cy="1551907"/>
          </a:xfrm>
          <a:solidFill>
            <a:schemeClr val="bg1"/>
          </a:solidFill>
        </p:spPr>
        <p:txBody>
          <a:bodyPr/>
          <a:lstStyle/>
          <a:p>
            <a:pPr marL="0" indent="0">
              <a:lnSpc>
                <a:spcPct val="95000"/>
              </a:lnSpc>
              <a:spcBef>
                <a:spcPct val="20000"/>
              </a:spcBef>
              <a:buNone/>
            </a:pPr>
            <a:r>
              <a:rPr lang="zh-CN" altLang="zh-CN">
                <a:latin typeface="Times New Roman" panose="02020603050405020304" pitchFamily="18" charset="0"/>
                <a:ea typeface="宋体" panose="02010600030101010101" pitchFamily="2" charset="-122"/>
              </a:rPr>
              <a:t>“……并没有考虑到我们孩子的健康、他们的教育质量，或者他们做游戏的快乐。它也没有包括我们的诗歌之美和婚姻的稳定，以及我们关于公共问题争论的智慧和我们公务员的廉正。它既没有衡量我们的勇气、我们的智慧，也没有衡量我</a:t>
            </a:r>
          </a:p>
        </p:txBody>
      </p:sp>
      <p:sp>
        <p:nvSpPr>
          <p:cNvPr id="68612" name="Text Box 5">
            <a:extLst>
              <a:ext uri="{FF2B5EF4-FFF2-40B4-BE49-F238E27FC236}">
                <a16:creationId xmlns:a16="http://schemas.microsoft.com/office/drawing/2014/main" id="{27A8CA99-D5B1-FED5-B163-BA7FD0B78B2E}"/>
              </a:ext>
            </a:extLst>
          </p:cNvPr>
          <p:cNvSpPr txBox="1">
            <a:spLocks noChangeArrowheads="1"/>
          </p:cNvSpPr>
          <p:nvPr/>
        </p:nvSpPr>
        <p:spPr bwMode="auto">
          <a:xfrm>
            <a:off x="157672" y="800352"/>
            <a:ext cx="2658811" cy="305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lnSpc>
                <a:spcPct val="105000"/>
              </a:lnSpc>
              <a:spcBef>
                <a:spcPct val="20000"/>
              </a:spcBef>
              <a:spcAft>
                <a:spcPct val="0"/>
              </a:spcAft>
              <a:buClr>
                <a:srgbClr val="00B85C"/>
              </a:buClr>
              <a:buSzPct val="120000"/>
            </a:pPr>
            <a:r>
              <a:rPr lang="zh-CN" altLang="zh-CN" sz="1412">
                <a:solidFill>
                  <a:srgbClr val="000000"/>
                </a:solidFill>
                <a:latin typeface="Times New Roman" panose="02020603050405020304" pitchFamily="18" charset="0"/>
                <a:ea typeface="宋体" panose="02010600030101010101" pitchFamily="2" charset="-122"/>
              </a:rPr>
              <a:t> </a:t>
            </a:r>
            <a:endParaRPr lang="en-US" altLang="zh-CN" sz="908">
              <a:solidFill>
                <a:srgbClr val="000000"/>
              </a:solidFill>
              <a:ea typeface="宋体" panose="02010600030101010101" pitchFamily="2" charset="-122"/>
            </a:endParaRPr>
          </a:p>
        </p:txBody>
      </p:sp>
      <p:pic>
        <p:nvPicPr>
          <p:cNvPr id="68613" name="Picture 8" descr="rfk">
            <a:extLst>
              <a:ext uri="{FF2B5EF4-FFF2-40B4-BE49-F238E27FC236}">
                <a16:creationId xmlns:a16="http://schemas.microsoft.com/office/drawing/2014/main" id="{58619989-9CA9-563C-4EC6-8015CF1F2E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1666" t="9743" r="10001" b="1218"/>
          <a:stretch>
            <a:fillRect/>
          </a:stretch>
        </p:blipFill>
        <p:spPr bwMode="auto">
          <a:xfrm>
            <a:off x="3123823" y="115240"/>
            <a:ext cx="1319801" cy="182002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68614" name="Rectangle 6">
            <a:extLst>
              <a:ext uri="{FF2B5EF4-FFF2-40B4-BE49-F238E27FC236}">
                <a16:creationId xmlns:a16="http://schemas.microsoft.com/office/drawing/2014/main" id="{03A6CB47-CF0D-AB27-A8F9-F75F5336675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41428746-BB56-D440-B86A-2EDC6FE71733}"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62</a:t>
            </a:fld>
            <a:endParaRPr lang="en-US" altLang="zh-CN" sz="857">
              <a:solidFill>
                <a:srgbClr val="777777"/>
              </a:solidFill>
              <a:latin typeface="Tahoma" panose="020B0604030504040204" pitchFamily="34" charset="0"/>
              <a:ea typeface="宋体" panose="02010600030101010101" pitchFamily="2" charset="-122"/>
            </a:endParaRPr>
          </a:p>
        </p:txBody>
      </p:sp>
      <p:sp>
        <p:nvSpPr>
          <p:cNvPr id="68615" name="Text Box 7">
            <a:extLst>
              <a:ext uri="{FF2B5EF4-FFF2-40B4-BE49-F238E27FC236}">
                <a16:creationId xmlns:a16="http://schemas.microsoft.com/office/drawing/2014/main" id="{3A3D205E-75D1-8C46-19D6-65A006669FC9}"/>
              </a:ext>
            </a:extLst>
          </p:cNvPr>
          <p:cNvSpPr txBox="1">
            <a:spLocks noChangeArrowheads="1"/>
          </p:cNvSpPr>
          <p:nvPr/>
        </p:nvSpPr>
        <p:spPr bwMode="auto">
          <a:xfrm>
            <a:off x="144066" y="1952877"/>
            <a:ext cx="4289154" cy="1259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lnSpc>
                <a:spcPct val="105000"/>
              </a:lnSpc>
              <a:spcBef>
                <a:spcPct val="20000"/>
              </a:spcBef>
              <a:spcAft>
                <a:spcPct val="0"/>
              </a:spcAft>
              <a:buClr>
                <a:srgbClr val="00B85C"/>
              </a:buClr>
              <a:buSzPct val="120000"/>
            </a:pPr>
            <a:r>
              <a:rPr lang="zh-CN" altLang="zh-CN" sz="1412">
                <a:solidFill>
                  <a:srgbClr val="000000"/>
                </a:solidFill>
                <a:latin typeface="Times New Roman" panose="02020603050405020304" pitchFamily="18" charset="0"/>
                <a:ea typeface="宋体" panose="02010600030101010101" pitchFamily="2" charset="-122"/>
              </a:rPr>
              <a:t>们对祖国的热爱。简言之，它衡量一切，但并不包括           使我们的生活有意义的东西；它可以告诉我们关于美  国人的一切，但没有告诉我们为什么我们以做一个美国人而骄傲</a:t>
            </a:r>
            <a:r>
              <a:rPr lang="zh-CN" altLang="en-US" sz="1412">
                <a:solidFill>
                  <a:srgbClr val="000000"/>
                </a:solidFill>
                <a:latin typeface="Times New Roman" panose="02020603050405020304" pitchFamily="18" charset="0"/>
                <a:ea typeface="宋体" panose="02010600030101010101" pitchFamily="2" charset="-122"/>
              </a:rPr>
              <a:t>	</a:t>
            </a:r>
          </a:p>
          <a:p>
            <a:pPr defTabSz="461040" fontAlgn="base">
              <a:lnSpc>
                <a:spcPct val="105000"/>
              </a:lnSpc>
              <a:spcBef>
                <a:spcPct val="20000"/>
              </a:spcBef>
              <a:spcAft>
                <a:spcPct val="0"/>
              </a:spcAft>
              <a:buClr>
                <a:srgbClr val="00B85C"/>
              </a:buClr>
              <a:buSzPct val="120000"/>
            </a:pPr>
            <a:r>
              <a:rPr lang="zh-CN" altLang="zh-CN" sz="1412">
                <a:solidFill>
                  <a:srgbClr val="000000"/>
                </a:solidFill>
                <a:latin typeface="Times New Roman" panose="02020603050405020304" pitchFamily="18" charset="0"/>
                <a:ea typeface="宋体" panose="02010600030101010101" pitchFamily="2" charset="-122"/>
              </a:rPr>
              <a:t>参议员</a:t>
            </a:r>
            <a:r>
              <a:rPr lang="zh-CN" altLang="zh-CN" sz="1412">
                <a:solidFill>
                  <a:srgbClr val="000000"/>
                </a:solidFill>
                <a:ea typeface="宋体" panose="02010600030101010101" pitchFamily="2" charset="-122"/>
              </a:rPr>
              <a:t>罗伯特</a:t>
            </a:r>
            <a:r>
              <a:rPr lang="zh-CN" altLang="zh-CN" sz="1412">
                <a:solidFill>
                  <a:srgbClr val="000000"/>
                </a:solidFill>
              </a:rPr>
              <a:t>·</a:t>
            </a:r>
            <a:r>
              <a:rPr lang="zh-CN" altLang="zh-CN" sz="1412">
                <a:solidFill>
                  <a:srgbClr val="000000"/>
                </a:solidFill>
                <a:ea typeface="宋体" panose="02010600030101010101" pitchFamily="2" charset="-122"/>
              </a:rPr>
              <a:t>肯尼迪，1968</a:t>
            </a:r>
            <a:r>
              <a:rPr lang="en-US" altLang="zh-CN" sz="1412">
                <a:solidFill>
                  <a:srgbClr val="000000"/>
                </a:solidFill>
                <a:latin typeface="Times New Roman" panose="02020603050405020304" pitchFamily="18" charset="0"/>
                <a:ea typeface="宋体" panose="02010600030101010101" pitchFamily="2" charset="-122"/>
              </a:rPr>
              <a:t>				</a:t>
            </a:r>
            <a:endParaRPr lang="en-US" altLang="zh-CN" sz="908">
              <a:solidFill>
                <a:srgbClr val="000000"/>
              </a:solidFill>
              <a:ea typeface="宋体" panose="0201060003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8611">
                                            <p:txEl>
                                              <p:pRg st="0" end="0"/>
                                            </p:txEl>
                                          </p:spTgt>
                                        </p:tgtEl>
                                        <p:attrNameLst>
                                          <p:attrName>style.visibility</p:attrName>
                                        </p:attrNameLst>
                                      </p:cBhvr>
                                      <p:to>
                                        <p:strVal val="visible"/>
                                      </p:to>
                                    </p:set>
                                    <p:animEffect transition="in" filter="dissolve">
                                      <p:cBhvr>
                                        <p:cTn id="7" dur="500"/>
                                        <p:tgtEl>
                                          <p:spTgt spid="68611">
                                            <p:txEl>
                                              <p:pRg st="0" end="0"/>
                                            </p:txEl>
                                          </p:spTgt>
                                        </p:tgtEl>
                                      </p:cBhvr>
                                    </p:animEffect>
                                  </p:childTnLst>
                                  <p:subTnLst>
                                    <p:animClr clrSpc="rgb" dir="cw">
                                      <p:cBhvr override="childStyle">
                                        <p:cTn dur="1" fill="hold" display="0" masterRel="nextClick" afterEffect="1"/>
                                        <p:tgtEl>
                                          <p:spTgt spid="68611">
                                            <p:txEl>
                                              <p:pRg st="0" end="0"/>
                                            </p:txEl>
                                          </p:spTgt>
                                        </p:tgtEl>
                                        <p:attrNameLst>
                                          <p:attrName>ppt_c</p:attrName>
                                        </p:attrNameLst>
                                      </p:cBhvr>
                                      <p:to>
                                        <a:srgbClr val="336699"/>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8612"/>
                                        </p:tgtEl>
                                        <p:attrNameLst>
                                          <p:attrName>style.visibility</p:attrName>
                                        </p:attrNameLst>
                                      </p:cBhvr>
                                      <p:to>
                                        <p:strVal val="visible"/>
                                      </p:to>
                                    </p:set>
                                    <p:animEffect transition="in" filter="dissolve">
                                      <p:cBhvr>
                                        <p:cTn id="12" dur="500"/>
                                        <p:tgtEl>
                                          <p:spTgt spid="68612"/>
                                        </p:tgtEl>
                                      </p:cBhvr>
                                    </p:animEffect>
                                  </p:childTnLst>
                                  <p:subTnLst>
                                    <p:animClr clrSpc="rgb" dir="cw">
                                      <p:cBhvr override="childStyle">
                                        <p:cTn dur="1" fill="hold" display="0" masterRel="nextClick" afterEffect="1"/>
                                        <p:tgtEl>
                                          <p:spTgt spid="68612"/>
                                        </p:tgtEl>
                                        <p:attrNameLst>
                                          <p:attrName>ppt_c</p:attrName>
                                        </p:attrNameLst>
                                      </p:cBhvr>
                                      <p:to>
                                        <a:srgbClr val="336699"/>
                                      </p:to>
                                    </p:animClr>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68615"/>
                                        </p:tgtEl>
                                        <p:attrNameLst>
                                          <p:attrName>style.visibility</p:attrName>
                                        </p:attrNameLst>
                                      </p:cBhvr>
                                      <p:to>
                                        <p:strVal val="visible"/>
                                      </p:to>
                                    </p:set>
                                    <p:animEffect transition="in" filter="dissolve">
                                      <p:cBhvr>
                                        <p:cTn id="17" dur="500"/>
                                        <p:tgtEl>
                                          <p:spTgt spid="686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build="p" autoUpdateAnimBg="0"/>
      <p:bldP spid="68612" grpId="0" autoUpdateAnimBg="0"/>
      <p:bldP spid="68615"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35917DDD-115D-0191-2151-23C4FD339597}"/>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一国收入的衡量</a:t>
            </a:r>
          </a:p>
        </p:txBody>
      </p:sp>
      <p:sp>
        <p:nvSpPr>
          <p:cNvPr id="3" name="灯片编号占位符 2">
            <a:extLst>
              <a:ext uri="{FF2B5EF4-FFF2-40B4-BE49-F238E27FC236}">
                <a16:creationId xmlns:a16="http://schemas.microsoft.com/office/drawing/2014/main" id="{E4B511DE-22C2-0233-6523-A705A1DBCD95}"/>
              </a:ext>
            </a:extLst>
          </p:cNvPr>
          <p:cNvSpPr>
            <a:spLocks noGrp="1"/>
          </p:cNvSpPr>
          <p:nvPr>
            <p:ph type="sldNum" sz="quarter" idx="11"/>
          </p:nvPr>
        </p:nvSpPr>
        <p:spPr/>
        <p:txBody>
          <a:bodyPr/>
          <a:lstStyle/>
          <a:p>
            <a:pPr defTabSz="461040" fontAlgn="base">
              <a:spcBef>
                <a:spcPct val="0"/>
              </a:spcBef>
              <a:spcAft>
                <a:spcPct val="0"/>
              </a:spcAft>
            </a:pPr>
            <a:fld id="{D3401AC5-545C-6A4F-A01B-BB5BD37906B4}" type="slidenum">
              <a:rPr lang="zh-CN" altLang="zh-CN">
                <a:latin typeface="Arial" panose="020B0604020202020204" pitchFamily="34" charset="0"/>
              </a:rPr>
              <a:pPr defTabSz="461040" fontAlgn="base">
                <a:spcBef>
                  <a:spcPct val="0"/>
                </a:spcBef>
                <a:spcAft>
                  <a:spcPct val="0"/>
                </a:spcAft>
              </a:pPr>
              <a:t>63</a:t>
            </a:fld>
            <a:endParaRPr lang="en-US" altLang="zh-CN">
              <a:latin typeface="Arial" panose="020B0604020202020204" pitchFamily="34" charset="0"/>
            </a:endParaRPr>
          </a:p>
        </p:txBody>
      </p:sp>
      <p:sp>
        <p:nvSpPr>
          <p:cNvPr id="70658" name="Rectangle 4">
            <a:extLst>
              <a:ext uri="{FF2B5EF4-FFF2-40B4-BE49-F238E27FC236}">
                <a16:creationId xmlns:a16="http://schemas.microsoft.com/office/drawing/2014/main" id="{EEA3966F-8815-F813-DC0B-524D2F4A2288}"/>
              </a:ext>
            </a:extLst>
          </p:cNvPr>
          <p:cNvSpPr>
            <a:spLocks noGrp="1" noChangeArrowheads="1"/>
          </p:cNvSpPr>
          <p:nvPr>
            <p:ph type="title" idx="4294967295"/>
          </p:nvPr>
        </p:nvSpPr>
        <p:spPr/>
        <p:txBody>
          <a:bodyPr/>
          <a:lstStyle/>
          <a:p>
            <a:r>
              <a:rPr lang="en-US" altLang="zh-CN">
                <a:ea typeface="宋体" panose="02010600030101010101" pitchFamily="2" charset="-122"/>
              </a:rPr>
              <a:t>GDP </a:t>
            </a:r>
            <a:r>
              <a:rPr lang="zh-CN" altLang="zh-CN">
                <a:ea typeface="宋体" panose="02010600030101010101" pitchFamily="2" charset="-122"/>
              </a:rPr>
              <a:t>并没有评价</a:t>
            </a:r>
            <a:r>
              <a:rPr lang="en-US" altLang="zh-CN">
                <a:ea typeface="宋体" panose="02010600030101010101" pitchFamily="2" charset="-122"/>
              </a:rPr>
              <a:t>:</a:t>
            </a:r>
          </a:p>
        </p:txBody>
      </p:sp>
      <p:sp>
        <p:nvSpPr>
          <p:cNvPr id="70659" name="Rectangle 5">
            <a:extLst>
              <a:ext uri="{FF2B5EF4-FFF2-40B4-BE49-F238E27FC236}">
                <a16:creationId xmlns:a16="http://schemas.microsoft.com/office/drawing/2014/main" id="{20BBFB1C-E6AA-7BA7-A635-AC90683552EB}"/>
              </a:ext>
            </a:extLst>
          </p:cNvPr>
          <p:cNvSpPr>
            <a:spLocks noGrp="1" noChangeArrowheads="1"/>
          </p:cNvSpPr>
          <p:nvPr>
            <p:ph type="body" idx="4294967295"/>
          </p:nvPr>
        </p:nvSpPr>
        <p:spPr>
          <a:xfrm>
            <a:off x="188086" y="515422"/>
            <a:ext cx="4191509" cy="2524350"/>
          </a:xfrm>
        </p:spPr>
        <p:txBody>
          <a:bodyPr/>
          <a:lstStyle/>
          <a:p>
            <a:pPr>
              <a:spcBef>
                <a:spcPct val="50000"/>
              </a:spcBef>
            </a:pPr>
            <a:r>
              <a:rPr lang="zh-CN" altLang="zh-CN">
                <a:ea typeface="宋体" panose="02010600030101010101" pitchFamily="2" charset="-122"/>
              </a:rPr>
              <a:t>环境质量</a:t>
            </a:r>
          </a:p>
          <a:p>
            <a:pPr>
              <a:spcBef>
                <a:spcPct val="50000"/>
              </a:spcBef>
            </a:pPr>
            <a:r>
              <a:rPr lang="zh-CN" altLang="zh-CN">
                <a:ea typeface="宋体" panose="02010600030101010101" pitchFamily="2" charset="-122"/>
              </a:rPr>
              <a:t>闲暇时间</a:t>
            </a:r>
          </a:p>
          <a:p>
            <a:pPr>
              <a:spcBef>
                <a:spcPct val="50000"/>
              </a:spcBef>
            </a:pPr>
            <a:r>
              <a:rPr lang="zh-CN" altLang="zh-CN">
                <a:ea typeface="宋体" panose="02010600030101010101" pitchFamily="2" charset="-122"/>
              </a:rPr>
              <a:t>非市场性活动，比如家长在家里对他或她孩子的照顾</a:t>
            </a:r>
          </a:p>
          <a:p>
            <a:pPr>
              <a:spcBef>
                <a:spcPct val="50000"/>
              </a:spcBef>
            </a:pPr>
            <a:r>
              <a:rPr lang="zh-CN" altLang="zh-CN">
                <a:ea typeface="宋体" panose="02010600030101010101" pitchFamily="2" charset="-122"/>
              </a:rPr>
              <a:t>收入的公平分配 </a:t>
            </a:r>
          </a:p>
        </p:txBody>
      </p:sp>
    </p:spTree>
  </p:cSld>
  <p:clrMapOvr>
    <a:masterClrMapping/>
  </p:clrMapOvr>
  <p:transition>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82FBE256-E2C1-2291-0797-521D63FD10CC}"/>
              </a:ext>
            </a:extLst>
          </p:cNvPr>
          <p:cNvSpPr>
            <a:spLocks noGrp="1"/>
          </p:cNvSpPr>
          <p:nvPr>
            <p:ph type="ftr" sz="quarter" idx="10"/>
          </p:nvPr>
        </p:nvSpPr>
        <p:spPr/>
        <p:txBody>
          <a:bodyPr/>
          <a:lstStyle/>
          <a:p>
            <a:pPr defTabSz="461040" fontAlgn="base">
              <a:spcBef>
                <a:spcPct val="0"/>
              </a:spcBef>
              <a:spcAft>
                <a:spcPct val="0"/>
              </a:spcAft>
            </a:pPr>
            <a:r>
              <a:rPr lang="zh-CN" altLang="zh-CN" sz="908">
                <a:latin typeface="Arial" panose="020B0604020202020204" pitchFamily="34" charset="0"/>
              </a:rPr>
              <a:t>一国收入的衡量</a:t>
            </a:r>
          </a:p>
        </p:txBody>
      </p:sp>
      <p:sp>
        <p:nvSpPr>
          <p:cNvPr id="3" name="灯片编号占位符 2">
            <a:extLst>
              <a:ext uri="{FF2B5EF4-FFF2-40B4-BE49-F238E27FC236}">
                <a16:creationId xmlns:a16="http://schemas.microsoft.com/office/drawing/2014/main" id="{810863C3-A7A1-EC62-6378-CE97158E837A}"/>
              </a:ext>
            </a:extLst>
          </p:cNvPr>
          <p:cNvSpPr>
            <a:spLocks noGrp="1"/>
          </p:cNvSpPr>
          <p:nvPr>
            <p:ph type="sldNum" sz="quarter" idx="11"/>
          </p:nvPr>
        </p:nvSpPr>
        <p:spPr/>
        <p:txBody>
          <a:bodyPr/>
          <a:lstStyle/>
          <a:p>
            <a:pPr defTabSz="461040" fontAlgn="base">
              <a:spcBef>
                <a:spcPct val="0"/>
              </a:spcBef>
              <a:spcAft>
                <a:spcPct val="0"/>
              </a:spcAft>
            </a:pPr>
            <a:fld id="{4D4FF68D-D511-A649-88EF-7C112D50B33C}" type="slidenum">
              <a:rPr lang="zh-CN" altLang="zh-CN">
                <a:latin typeface="Arial" panose="020B0604020202020204" pitchFamily="34" charset="0"/>
              </a:rPr>
              <a:pPr defTabSz="461040" fontAlgn="base">
                <a:spcBef>
                  <a:spcPct val="0"/>
                </a:spcBef>
                <a:spcAft>
                  <a:spcPct val="0"/>
                </a:spcAft>
              </a:pPr>
              <a:t>64</a:t>
            </a:fld>
            <a:endParaRPr lang="en-US" altLang="zh-CN">
              <a:latin typeface="Arial" panose="020B0604020202020204" pitchFamily="34" charset="0"/>
            </a:endParaRPr>
          </a:p>
        </p:txBody>
      </p:sp>
      <p:sp>
        <p:nvSpPr>
          <p:cNvPr id="72706" name="Rectangle 4">
            <a:extLst>
              <a:ext uri="{FF2B5EF4-FFF2-40B4-BE49-F238E27FC236}">
                <a16:creationId xmlns:a16="http://schemas.microsoft.com/office/drawing/2014/main" id="{6A8ECA34-7096-1DED-9F1D-C8FA05BF16D9}"/>
              </a:ext>
            </a:extLst>
          </p:cNvPr>
          <p:cNvSpPr>
            <a:spLocks noGrp="1" noChangeArrowheads="1"/>
          </p:cNvSpPr>
          <p:nvPr>
            <p:ph type="title" idx="4294967295"/>
          </p:nvPr>
        </p:nvSpPr>
        <p:spPr/>
        <p:txBody>
          <a:bodyPr/>
          <a:lstStyle/>
          <a:p>
            <a:r>
              <a:rPr lang="zh-CN" altLang="zh-CN">
                <a:ea typeface="宋体" panose="02010600030101010101" pitchFamily="2" charset="-122"/>
              </a:rPr>
              <a:t>为什么我们还要关注</a:t>
            </a:r>
            <a:r>
              <a:rPr lang="en-US" altLang="zh-CN">
                <a:ea typeface="宋体" panose="02010600030101010101" pitchFamily="2" charset="-122"/>
              </a:rPr>
              <a:t>GDP?</a:t>
            </a:r>
          </a:p>
        </p:txBody>
      </p:sp>
      <p:sp>
        <p:nvSpPr>
          <p:cNvPr id="72707" name="Rectangle 5">
            <a:extLst>
              <a:ext uri="{FF2B5EF4-FFF2-40B4-BE49-F238E27FC236}">
                <a16:creationId xmlns:a16="http://schemas.microsoft.com/office/drawing/2014/main" id="{D881F895-7E2A-9831-5F22-B1E8C49B0699}"/>
              </a:ext>
            </a:extLst>
          </p:cNvPr>
          <p:cNvSpPr>
            <a:spLocks noGrp="1" noChangeArrowheads="1"/>
          </p:cNvSpPr>
          <p:nvPr>
            <p:ph type="body" idx="4294967295"/>
          </p:nvPr>
        </p:nvSpPr>
        <p:spPr>
          <a:xfrm>
            <a:off x="230505" y="512220"/>
            <a:ext cx="4149090" cy="2583577"/>
          </a:xfrm>
        </p:spPr>
        <p:txBody>
          <a:bodyPr/>
          <a:lstStyle/>
          <a:p>
            <a:pPr>
              <a:spcBef>
                <a:spcPct val="50000"/>
              </a:spcBef>
            </a:pPr>
            <a:r>
              <a:rPr lang="zh-CN" altLang="zh-CN">
                <a:ea typeface="宋体" panose="02010600030101010101" pitchFamily="2" charset="-122"/>
              </a:rPr>
              <a:t>GDP高的国家能提供更好的学校，更清洁的环境，更好的医疗福利等等</a:t>
            </a:r>
          </a:p>
          <a:p>
            <a:pPr>
              <a:spcBef>
                <a:spcPct val="50000"/>
              </a:spcBef>
            </a:pPr>
            <a:r>
              <a:rPr lang="zh-CN" altLang="zh-CN">
                <a:ea typeface="宋体" panose="02010600030101010101" pitchFamily="2" charset="-122"/>
              </a:rPr>
              <a:t>生活质量的许多指标与GDP成正比，比如：</a:t>
            </a:r>
          </a:p>
        </p:txBody>
      </p:sp>
    </p:spTree>
  </p:cSld>
  <p:clrMapOvr>
    <a:masterClrMapping/>
  </p:clrMapOvr>
  <p:transition>
    <p:wipe dir="r"/>
  </p:transition>
</p:sld>
</file>

<file path=ppt/slides/slide65.xml><?xml version="1.0" encoding="utf-8"?>
<p:sld xmlns:a="http://schemas.openxmlformats.org/drawingml/2006/main" xmlns:r="http://schemas.openxmlformats.org/officeDocument/2006/relationships" xmlns:p="http://schemas.openxmlformats.org/presentationml/2006/main" showMasterSp="0">
  <p:cSld>
    <p:bg bwMode="auto">
      <p:bgPr>
        <a:solidFill>
          <a:srgbClr val="FFCCCC"/>
        </a:solidFill>
        <a:effectLst/>
      </p:bgPr>
    </p:bg>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AF28AD78-E59B-6166-5181-75771220F267}"/>
              </a:ext>
            </a:extLst>
          </p:cNvPr>
          <p:cNvSpPr>
            <a:spLocks noGrp="1" noChangeArrowheads="1"/>
          </p:cNvSpPr>
          <p:nvPr>
            <p:ph type="title"/>
          </p:nvPr>
        </p:nvSpPr>
        <p:spPr>
          <a:xfrm>
            <a:off x="172879" y="64817"/>
            <a:ext cx="4240332" cy="281728"/>
          </a:xfrm>
        </p:spPr>
        <p:txBody>
          <a:bodyPr/>
          <a:lstStyle/>
          <a:p>
            <a:r>
              <a:rPr lang="en-US" altLang="zh-CN" sz="1513">
                <a:ea typeface="宋体" panose="02010600030101010101" pitchFamily="2" charset="-122"/>
              </a:rPr>
              <a:t>12</a:t>
            </a:r>
            <a:r>
              <a:rPr lang="zh-CN" altLang="zh-CN" sz="1513">
                <a:ea typeface="宋体" panose="02010600030101010101" pitchFamily="2" charset="-122"/>
              </a:rPr>
              <a:t>个国家的</a:t>
            </a:r>
            <a:r>
              <a:rPr lang="en-US" altLang="zh-CN" sz="1513">
                <a:ea typeface="宋体" panose="02010600030101010101" pitchFamily="2" charset="-122"/>
              </a:rPr>
              <a:t>GDP</a:t>
            </a:r>
            <a:r>
              <a:rPr lang="zh-CN" altLang="zh-CN" sz="1513">
                <a:ea typeface="宋体" panose="02010600030101010101" pitchFamily="2" charset="-122"/>
              </a:rPr>
              <a:t>和预期寿命</a:t>
            </a:r>
          </a:p>
        </p:txBody>
      </p:sp>
      <p:sp>
        <p:nvSpPr>
          <p:cNvPr id="74755" name="Rectangle 3">
            <a:extLst>
              <a:ext uri="{FF2B5EF4-FFF2-40B4-BE49-F238E27FC236}">
                <a16:creationId xmlns:a16="http://schemas.microsoft.com/office/drawing/2014/main" id="{87981F23-EA53-BF3D-C11D-58D972C1A2BA}"/>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F17D712E-C3DC-CD43-8D2D-C62C949D09E6}" type="slidenum">
              <a:rPr lang="zh-CN" altLang="zh-CN" sz="857">
                <a:solidFill>
                  <a:srgbClr val="777777"/>
                </a:solidFill>
                <a:latin typeface="Arial" panose="020B0604020202020204" pitchFamily="34" charset="0"/>
                <a:ea typeface="宋体" panose="02010600030101010101" pitchFamily="2" charset="-122"/>
              </a:rPr>
              <a:pPr algn="r" defTabSz="461040" fontAlgn="base">
                <a:spcBef>
                  <a:spcPct val="0"/>
                </a:spcBef>
                <a:spcAft>
                  <a:spcPct val="0"/>
                </a:spcAft>
              </a:pPr>
              <a:t>65</a:t>
            </a:fld>
            <a:endParaRPr lang="en-US" altLang="zh-CN" sz="857">
              <a:solidFill>
                <a:srgbClr val="777777"/>
              </a:solidFill>
              <a:latin typeface="Arial" panose="020B0604020202020204" pitchFamily="34" charset="0"/>
              <a:ea typeface="宋体" panose="02010600030101010101" pitchFamily="2" charset="-122"/>
            </a:endParaRPr>
          </a:p>
        </p:txBody>
      </p:sp>
      <p:sp>
        <p:nvSpPr>
          <p:cNvPr id="74756" name="Text Box 4">
            <a:extLst>
              <a:ext uri="{FF2B5EF4-FFF2-40B4-BE49-F238E27FC236}">
                <a16:creationId xmlns:a16="http://schemas.microsoft.com/office/drawing/2014/main" id="{B9FBD350-7046-8D8D-A9C0-5AFD56443DCD}"/>
              </a:ext>
            </a:extLst>
          </p:cNvPr>
          <p:cNvSpPr txBox="1">
            <a:spLocks noChangeArrowheads="1"/>
          </p:cNvSpPr>
          <p:nvPr/>
        </p:nvSpPr>
        <p:spPr bwMode="auto">
          <a:xfrm rot="16200000">
            <a:off x="-643092" y="1472498"/>
            <a:ext cx="1906468" cy="270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160" b="1">
                <a:solidFill>
                  <a:srgbClr val="000000"/>
                </a:solidFill>
                <a:ea typeface="宋体" panose="02010600030101010101" pitchFamily="2" charset="-122"/>
              </a:rPr>
              <a:t>预期寿命 </a:t>
            </a:r>
            <a:r>
              <a:rPr lang="en-US" altLang="zh-CN" sz="1160" b="1">
                <a:solidFill>
                  <a:srgbClr val="000000"/>
                </a:solidFill>
                <a:ea typeface="宋体" panose="02010600030101010101" pitchFamily="2" charset="-122"/>
              </a:rPr>
              <a:t>(</a:t>
            </a:r>
            <a:r>
              <a:rPr lang="zh-CN" altLang="zh-CN" sz="1160" b="1">
                <a:solidFill>
                  <a:srgbClr val="000000"/>
                </a:solidFill>
                <a:ea typeface="宋体" panose="02010600030101010101" pitchFamily="2" charset="-122"/>
              </a:rPr>
              <a:t>年</a:t>
            </a:r>
            <a:r>
              <a:rPr lang="en-US" altLang="zh-CN" sz="1160" b="1">
                <a:solidFill>
                  <a:srgbClr val="000000"/>
                </a:solidFill>
                <a:ea typeface="宋体" panose="02010600030101010101" pitchFamily="2" charset="-122"/>
              </a:rPr>
              <a:t>)</a:t>
            </a:r>
          </a:p>
        </p:txBody>
      </p:sp>
      <p:sp>
        <p:nvSpPr>
          <p:cNvPr id="74757" name="Text Box 5">
            <a:extLst>
              <a:ext uri="{FF2B5EF4-FFF2-40B4-BE49-F238E27FC236}">
                <a16:creationId xmlns:a16="http://schemas.microsoft.com/office/drawing/2014/main" id="{E427BF55-49CB-2427-D57C-ABE25B6B0BF2}"/>
              </a:ext>
            </a:extLst>
          </p:cNvPr>
          <p:cNvSpPr txBox="1">
            <a:spLocks noChangeArrowheads="1"/>
          </p:cNvSpPr>
          <p:nvPr/>
        </p:nvSpPr>
        <p:spPr bwMode="auto">
          <a:xfrm>
            <a:off x="989251" y="3147821"/>
            <a:ext cx="3163841" cy="270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160" b="1">
                <a:solidFill>
                  <a:srgbClr val="000000"/>
                </a:solidFill>
                <a:ea typeface="宋体" panose="02010600030101010101" pitchFamily="2" charset="-122"/>
              </a:rPr>
              <a:t>人均真实</a:t>
            </a:r>
            <a:r>
              <a:rPr lang="en-US" altLang="zh-CN" sz="1160" b="1">
                <a:solidFill>
                  <a:srgbClr val="000000"/>
                </a:solidFill>
                <a:ea typeface="宋体" panose="02010600030101010101" pitchFamily="2" charset="-122"/>
              </a:rPr>
              <a:t>GDP</a:t>
            </a:r>
          </a:p>
        </p:txBody>
      </p:sp>
      <p:pic>
        <p:nvPicPr>
          <p:cNvPr id="74758" name="Picture 6">
            <a:extLst>
              <a:ext uri="{FF2B5EF4-FFF2-40B4-BE49-F238E27FC236}">
                <a16:creationId xmlns:a16="http://schemas.microsoft.com/office/drawing/2014/main" id="{EC3F94E4-1B75-B2B8-50A7-FF862DBB480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618" y="306527"/>
            <a:ext cx="3951400" cy="2867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4759" name="Text Box 6">
            <a:extLst>
              <a:ext uri="{FF2B5EF4-FFF2-40B4-BE49-F238E27FC236}">
                <a16:creationId xmlns:a16="http://schemas.microsoft.com/office/drawing/2014/main" id="{CB0BE66D-8611-4A23-641E-BC606627E434}"/>
              </a:ext>
            </a:extLst>
          </p:cNvPr>
          <p:cNvSpPr txBox="1">
            <a:spLocks noChangeArrowheads="1"/>
          </p:cNvSpPr>
          <p:nvPr/>
        </p:nvSpPr>
        <p:spPr bwMode="auto">
          <a:xfrm>
            <a:off x="3571227" y="806754"/>
            <a:ext cx="344157"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美国</a:t>
            </a:r>
          </a:p>
        </p:txBody>
      </p:sp>
      <p:sp>
        <p:nvSpPr>
          <p:cNvPr id="74760" name="Text Box 7">
            <a:extLst>
              <a:ext uri="{FF2B5EF4-FFF2-40B4-BE49-F238E27FC236}">
                <a16:creationId xmlns:a16="http://schemas.microsoft.com/office/drawing/2014/main" id="{6285A255-3248-99E0-E1B0-24FD49FC20BB}"/>
              </a:ext>
            </a:extLst>
          </p:cNvPr>
          <p:cNvSpPr txBox="1">
            <a:spLocks noChangeArrowheads="1"/>
          </p:cNvSpPr>
          <p:nvPr/>
        </p:nvSpPr>
        <p:spPr bwMode="auto">
          <a:xfrm>
            <a:off x="2449916" y="970829"/>
            <a:ext cx="636290"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德国</a:t>
            </a:r>
          </a:p>
        </p:txBody>
      </p:sp>
      <p:sp>
        <p:nvSpPr>
          <p:cNvPr id="74761" name="Text Box 8">
            <a:extLst>
              <a:ext uri="{FF2B5EF4-FFF2-40B4-BE49-F238E27FC236}">
                <a16:creationId xmlns:a16="http://schemas.microsoft.com/office/drawing/2014/main" id="{C864503E-E0BB-C19A-AD0E-20FB5BB6E895}"/>
              </a:ext>
            </a:extLst>
          </p:cNvPr>
          <p:cNvSpPr txBox="1">
            <a:spLocks noChangeArrowheads="1"/>
          </p:cNvSpPr>
          <p:nvPr/>
        </p:nvSpPr>
        <p:spPr bwMode="auto">
          <a:xfrm>
            <a:off x="2870908" y="624271"/>
            <a:ext cx="465012"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日本</a:t>
            </a:r>
          </a:p>
        </p:txBody>
      </p:sp>
      <p:sp>
        <p:nvSpPr>
          <p:cNvPr id="74762" name="Text Box 10">
            <a:extLst>
              <a:ext uri="{FF2B5EF4-FFF2-40B4-BE49-F238E27FC236}">
                <a16:creationId xmlns:a16="http://schemas.microsoft.com/office/drawing/2014/main" id="{2EFBD37A-EB39-929D-0844-BAF7A71324CA}"/>
              </a:ext>
            </a:extLst>
          </p:cNvPr>
          <p:cNvSpPr txBox="1">
            <a:spLocks noChangeArrowheads="1"/>
          </p:cNvSpPr>
          <p:nvPr/>
        </p:nvSpPr>
        <p:spPr bwMode="auto">
          <a:xfrm>
            <a:off x="1512689" y="945218"/>
            <a:ext cx="541046"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墨西哥</a:t>
            </a:r>
          </a:p>
        </p:txBody>
      </p:sp>
      <p:sp>
        <p:nvSpPr>
          <p:cNvPr id="74763" name="Text Box 11">
            <a:extLst>
              <a:ext uri="{FF2B5EF4-FFF2-40B4-BE49-F238E27FC236}">
                <a16:creationId xmlns:a16="http://schemas.microsoft.com/office/drawing/2014/main" id="{935BEA62-22A3-E74A-89B1-F0611CF252C8}"/>
              </a:ext>
            </a:extLst>
          </p:cNvPr>
          <p:cNvSpPr txBox="1">
            <a:spLocks noChangeArrowheads="1"/>
          </p:cNvSpPr>
          <p:nvPr/>
        </p:nvSpPr>
        <p:spPr bwMode="auto">
          <a:xfrm>
            <a:off x="1629543" y="1650339"/>
            <a:ext cx="523438"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俄罗斯</a:t>
            </a:r>
          </a:p>
        </p:txBody>
      </p:sp>
      <p:sp>
        <p:nvSpPr>
          <p:cNvPr id="74764" name="Text Box 12">
            <a:extLst>
              <a:ext uri="{FF2B5EF4-FFF2-40B4-BE49-F238E27FC236}">
                <a16:creationId xmlns:a16="http://schemas.microsoft.com/office/drawing/2014/main" id="{76D9EFB0-2BB3-E586-85C8-9A3BBE3500F8}"/>
              </a:ext>
            </a:extLst>
          </p:cNvPr>
          <p:cNvSpPr txBox="1">
            <a:spLocks noChangeArrowheads="1"/>
          </p:cNvSpPr>
          <p:nvPr/>
        </p:nvSpPr>
        <p:spPr bwMode="auto">
          <a:xfrm>
            <a:off x="1376627" y="1186928"/>
            <a:ext cx="427395"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巴西</a:t>
            </a:r>
          </a:p>
        </p:txBody>
      </p:sp>
      <p:sp>
        <p:nvSpPr>
          <p:cNvPr id="74765" name="Text Box 13">
            <a:extLst>
              <a:ext uri="{FF2B5EF4-FFF2-40B4-BE49-F238E27FC236}">
                <a16:creationId xmlns:a16="http://schemas.microsoft.com/office/drawing/2014/main" id="{B93C7041-A5B3-866A-D167-3E9951999F71}"/>
              </a:ext>
            </a:extLst>
          </p:cNvPr>
          <p:cNvSpPr txBox="1">
            <a:spLocks noChangeArrowheads="1"/>
          </p:cNvSpPr>
          <p:nvPr/>
        </p:nvSpPr>
        <p:spPr bwMode="auto">
          <a:xfrm>
            <a:off x="1197346" y="737923"/>
            <a:ext cx="412188"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中国</a:t>
            </a:r>
          </a:p>
        </p:txBody>
      </p:sp>
      <p:sp>
        <p:nvSpPr>
          <p:cNvPr id="74766" name="Line 14">
            <a:extLst>
              <a:ext uri="{FF2B5EF4-FFF2-40B4-BE49-F238E27FC236}">
                <a16:creationId xmlns:a16="http://schemas.microsoft.com/office/drawing/2014/main" id="{B802161A-7C00-0FC1-E064-D7B06DAB9DAF}"/>
              </a:ext>
            </a:extLst>
          </p:cNvPr>
          <p:cNvSpPr>
            <a:spLocks noChangeShapeType="1"/>
          </p:cNvSpPr>
          <p:nvPr/>
        </p:nvSpPr>
        <p:spPr bwMode="auto">
          <a:xfrm flipV="1">
            <a:off x="1287787" y="896395"/>
            <a:ext cx="89641" cy="32334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74767" name="Text Box 16">
            <a:extLst>
              <a:ext uri="{FF2B5EF4-FFF2-40B4-BE49-F238E27FC236}">
                <a16:creationId xmlns:a16="http://schemas.microsoft.com/office/drawing/2014/main" id="{09673687-9159-D4CD-A0D2-162BF18E1E10}"/>
              </a:ext>
            </a:extLst>
          </p:cNvPr>
          <p:cNvSpPr txBox="1">
            <a:spLocks noChangeArrowheads="1"/>
          </p:cNvSpPr>
          <p:nvPr/>
        </p:nvSpPr>
        <p:spPr bwMode="auto">
          <a:xfrm>
            <a:off x="1214953" y="1760789"/>
            <a:ext cx="378573"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印度</a:t>
            </a:r>
          </a:p>
        </p:txBody>
      </p:sp>
      <p:sp>
        <p:nvSpPr>
          <p:cNvPr id="74768" name="Text Box 17">
            <a:extLst>
              <a:ext uri="{FF2B5EF4-FFF2-40B4-BE49-F238E27FC236}">
                <a16:creationId xmlns:a16="http://schemas.microsoft.com/office/drawing/2014/main" id="{C1AA103E-096B-CE55-D9A4-3215E2CCD074}"/>
              </a:ext>
            </a:extLst>
          </p:cNvPr>
          <p:cNvSpPr txBox="1">
            <a:spLocks noChangeArrowheads="1"/>
          </p:cNvSpPr>
          <p:nvPr/>
        </p:nvSpPr>
        <p:spPr bwMode="auto">
          <a:xfrm>
            <a:off x="670705" y="555440"/>
            <a:ext cx="697918"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印度尼西亚</a:t>
            </a:r>
          </a:p>
        </p:txBody>
      </p:sp>
      <p:sp>
        <p:nvSpPr>
          <p:cNvPr id="74769" name="Line 17">
            <a:extLst>
              <a:ext uri="{FF2B5EF4-FFF2-40B4-BE49-F238E27FC236}">
                <a16:creationId xmlns:a16="http://schemas.microsoft.com/office/drawing/2014/main" id="{BBA4E362-1DC9-77D3-CCDE-255D078A45E9}"/>
              </a:ext>
            </a:extLst>
          </p:cNvPr>
          <p:cNvSpPr>
            <a:spLocks noChangeShapeType="1"/>
          </p:cNvSpPr>
          <p:nvPr/>
        </p:nvSpPr>
        <p:spPr bwMode="auto">
          <a:xfrm>
            <a:off x="1090097" y="1696760"/>
            <a:ext cx="148868" cy="1368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74770" name="Line 18">
            <a:extLst>
              <a:ext uri="{FF2B5EF4-FFF2-40B4-BE49-F238E27FC236}">
                <a16:creationId xmlns:a16="http://schemas.microsoft.com/office/drawing/2014/main" id="{938BC202-49D7-3D99-3D59-48AE50380903}"/>
              </a:ext>
            </a:extLst>
          </p:cNvPr>
          <p:cNvSpPr>
            <a:spLocks noChangeShapeType="1"/>
          </p:cNvSpPr>
          <p:nvPr/>
        </p:nvSpPr>
        <p:spPr bwMode="auto">
          <a:xfrm flipH="1" flipV="1">
            <a:off x="946031" y="719515"/>
            <a:ext cx="120055" cy="60267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74771" name="Text Box 14">
            <a:extLst>
              <a:ext uri="{FF2B5EF4-FFF2-40B4-BE49-F238E27FC236}">
                <a16:creationId xmlns:a16="http://schemas.microsoft.com/office/drawing/2014/main" id="{DF1A88A5-D7A2-60AB-0B3E-B798F2162FC2}"/>
              </a:ext>
            </a:extLst>
          </p:cNvPr>
          <p:cNvSpPr txBox="1">
            <a:spLocks noChangeArrowheads="1"/>
          </p:cNvSpPr>
          <p:nvPr/>
        </p:nvSpPr>
        <p:spPr bwMode="auto">
          <a:xfrm>
            <a:off x="1236564" y="1408629"/>
            <a:ext cx="613079"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巴基斯坦</a:t>
            </a:r>
          </a:p>
        </p:txBody>
      </p:sp>
      <p:sp>
        <p:nvSpPr>
          <p:cNvPr id="74772" name="Text Box 15">
            <a:extLst>
              <a:ext uri="{FF2B5EF4-FFF2-40B4-BE49-F238E27FC236}">
                <a16:creationId xmlns:a16="http://schemas.microsoft.com/office/drawing/2014/main" id="{1C6CCFF4-70C6-69EC-CA5D-E8E42AFDC9D3}"/>
              </a:ext>
            </a:extLst>
          </p:cNvPr>
          <p:cNvSpPr txBox="1">
            <a:spLocks noChangeArrowheads="1"/>
          </p:cNvSpPr>
          <p:nvPr/>
        </p:nvSpPr>
        <p:spPr bwMode="auto">
          <a:xfrm>
            <a:off x="1056481" y="1981690"/>
            <a:ext cx="765149"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孟加拉国</a:t>
            </a:r>
          </a:p>
        </p:txBody>
      </p:sp>
      <p:sp>
        <p:nvSpPr>
          <p:cNvPr id="74773" name="Line 21">
            <a:extLst>
              <a:ext uri="{FF2B5EF4-FFF2-40B4-BE49-F238E27FC236}">
                <a16:creationId xmlns:a16="http://schemas.microsoft.com/office/drawing/2014/main" id="{8A50B73A-A4C4-1F44-A097-0168719C955A}"/>
              </a:ext>
            </a:extLst>
          </p:cNvPr>
          <p:cNvSpPr>
            <a:spLocks noChangeShapeType="1"/>
          </p:cNvSpPr>
          <p:nvPr/>
        </p:nvSpPr>
        <p:spPr bwMode="auto">
          <a:xfrm flipV="1">
            <a:off x="1008460" y="1501471"/>
            <a:ext cx="254516" cy="8643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74774" name="Line 22">
            <a:extLst>
              <a:ext uri="{FF2B5EF4-FFF2-40B4-BE49-F238E27FC236}">
                <a16:creationId xmlns:a16="http://schemas.microsoft.com/office/drawing/2014/main" id="{F0DC799A-5C7F-280D-80BF-6D030271B1F6}"/>
              </a:ext>
            </a:extLst>
          </p:cNvPr>
          <p:cNvSpPr>
            <a:spLocks noChangeShapeType="1"/>
          </p:cNvSpPr>
          <p:nvPr/>
        </p:nvSpPr>
        <p:spPr bwMode="auto">
          <a:xfrm>
            <a:off x="1577519" y="1656741"/>
            <a:ext cx="80837" cy="664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74775" name="Line 23">
            <a:extLst>
              <a:ext uri="{FF2B5EF4-FFF2-40B4-BE49-F238E27FC236}">
                <a16:creationId xmlns:a16="http://schemas.microsoft.com/office/drawing/2014/main" id="{DB7242A5-B21D-263E-520B-B74AEC7290F5}"/>
              </a:ext>
            </a:extLst>
          </p:cNvPr>
          <p:cNvSpPr>
            <a:spLocks noChangeShapeType="1"/>
          </p:cNvSpPr>
          <p:nvPr/>
        </p:nvSpPr>
        <p:spPr bwMode="auto">
          <a:xfrm>
            <a:off x="982047" y="1762389"/>
            <a:ext cx="137663" cy="22490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74776" name="Text Box 15">
            <a:extLst>
              <a:ext uri="{FF2B5EF4-FFF2-40B4-BE49-F238E27FC236}">
                <a16:creationId xmlns:a16="http://schemas.microsoft.com/office/drawing/2014/main" id="{8853DAE8-FE38-EBE7-97F1-93C9C93FDFEE}"/>
              </a:ext>
            </a:extLst>
          </p:cNvPr>
          <p:cNvSpPr txBox="1">
            <a:spLocks noChangeArrowheads="1"/>
          </p:cNvSpPr>
          <p:nvPr/>
        </p:nvSpPr>
        <p:spPr bwMode="auto">
          <a:xfrm>
            <a:off x="943630" y="2412286"/>
            <a:ext cx="441801" cy="32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尼日利亚</a:t>
            </a:r>
          </a:p>
        </p:txBody>
      </p:sp>
    </p:spTree>
  </p:cSld>
  <p:clrMapOvr>
    <a:masterClrMapping/>
  </p:clrMapOvr>
  <p:transition>
    <p:wipe dir="r"/>
  </p:transition>
</p:sld>
</file>

<file path=ppt/slides/slide66.xml><?xml version="1.0" encoding="utf-8"?>
<p:sld xmlns:a="http://schemas.openxmlformats.org/drawingml/2006/main" xmlns:r="http://schemas.openxmlformats.org/officeDocument/2006/relationships" xmlns:p="http://schemas.openxmlformats.org/presentationml/2006/main" showMasterSp="0">
  <p:cSld>
    <p:bg bwMode="auto">
      <p:bgPr>
        <a:solidFill>
          <a:srgbClr val="FFCCCC"/>
        </a:solidFill>
        <a:effectLst/>
      </p:bgPr>
    </p:bg>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B2F72EA5-D280-B3D4-4C15-60442E9EF0A0}"/>
              </a:ext>
            </a:extLst>
          </p:cNvPr>
          <p:cNvSpPr>
            <a:spLocks noGrp="1" noChangeArrowheads="1"/>
          </p:cNvSpPr>
          <p:nvPr>
            <p:ph type="title"/>
          </p:nvPr>
        </p:nvSpPr>
        <p:spPr>
          <a:xfrm>
            <a:off x="172879" y="64817"/>
            <a:ext cx="4240332" cy="281728"/>
          </a:xfrm>
        </p:spPr>
        <p:txBody>
          <a:bodyPr/>
          <a:lstStyle/>
          <a:p>
            <a:r>
              <a:rPr lang="en-US" altLang="zh-CN" sz="1513">
                <a:ea typeface="宋体" panose="02010600030101010101" pitchFamily="2" charset="-122"/>
              </a:rPr>
              <a:t>12</a:t>
            </a:r>
            <a:r>
              <a:rPr lang="zh-CN" altLang="zh-CN" sz="1513">
                <a:ea typeface="宋体" panose="02010600030101010101" pitchFamily="2" charset="-122"/>
              </a:rPr>
              <a:t>个国家的</a:t>
            </a:r>
            <a:r>
              <a:rPr lang="en-US" altLang="zh-CN" sz="1513">
                <a:ea typeface="宋体" panose="02010600030101010101" pitchFamily="2" charset="-122"/>
              </a:rPr>
              <a:t>GDP</a:t>
            </a:r>
            <a:r>
              <a:rPr lang="zh-CN" altLang="zh-CN" sz="1513">
                <a:ea typeface="宋体" panose="02010600030101010101" pitchFamily="2" charset="-122"/>
              </a:rPr>
              <a:t>与成人识字率</a:t>
            </a:r>
          </a:p>
        </p:txBody>
      </p:sp>
      <p:sp>
        <p:nvSpPr>
          <p:cNvPr id="76803" name="Rectangle 3">
            <a:extLst>
              <a:ext uri="{FF2B5EF4-FFF2-40B4-BE49-F238E27FC236}">
                <a16:creationId xmlns:a16="http://schemas.microsoft.com/office/drawing/2014/main" id="{2A484CB1-C473-3D79-A23B-65C3D5937CD1}"/>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9FC14E18-C35A-3B4A-96EF-A7051BD929DF}" type="slidenum">
              <a:rPr lang="zh-CN" altLang="zh-CN" sz="857">
                <a:solidFill>
                  <a:srgbClr val="777777"/>
                </a:solidFill>
                <a:latin typeface="Arial" panose="020B0604020202020204" pitchFamily="34" charset="0"/>
                <a:ea typeface="宋体" panose="02010600030101010101" pitchFamily="2" charset="-122"/>
              </a:rPr>
              <a:pPr algn="r" defTabSz="461040" fontAlgn="base">
                <a:spcBef>
                  <a:spcPct val="0"/>
                </a:spcBef>
                <a:spcAft>
                  <a:spcPct val="0"/>
                </a:spcAft>
              </a:pPr>
              <a:t>66</a:t>
            </a:fld>
            <a:endParaRPr lang="en-US" altLang="zh-CN" sz="857">
              <a:solidFill>
                <a:srgbClr val="777777"/>
              </a:solidFill>
              <a:latin typeface="Arial" panose="020B0604020202020204" pitchFamily="34" charset="0"/>
              <a:ea typeface="宋体" panose="02010600030101010101" pitchFamily="2" charset="-122"/>
            </a:endParaRPr>
          </a:p>
        </p:txBody>
      </p:sp>
      <p:sp>
        <p:nvSpPr>
          <p:cNvPr id="76804" name="Text Box 4">
            <a:extLst>
              <a:ext uri="{FF2B5EF4-FFF2-40B4-BE49-F238E27FC236}">
                <a16:creationId xmlns:a16="http://schemas.microsoft.com/office/drawing/2014/main" id="{B8442E15-2425-4DEE-343C-9CD9496A6F0A}"/>
              </a:ext>
            </a:extLst>
          </p:cNvPr>
          <p:cNvSpPr txBox="1">
            <a:spLocks noChangeArrowheads="1"/>
          </p:cNvSpPr>
          <p:nvPr/>
        </p:nvSpPr>
        <p:spPr bwMode="auto">
          <a:xfrm rot="16200000">
            <a:off x="-284529" y="1365620"/>
            <a:ext cx="1270178" cy="627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160" b="1">
                <a:solidFill>
                  <a:srgbClr val="000000"/>
                </a:solidFill>
                <a:ea typeface="宋体" panose="02010600030101010101" pitchFamily="2" charset="-122"/>
              </a:rPr>
              <a:t>成人识字率 </a:t>
            </a:r>
            <a:br>
              <a:rPr lang="zh-CN" altLang="zh-CN" sz="1160" b="1">
                <a:solidFill>
                  <a:srgbClr val="000000"/>
                </a:solidFill>
                <a:ea typeface="宋体" panose="02010600030101010101" pitchFamily="2" charset="-122"/>
              </a:rPr>
            </a:br>
            <a:r>
              <a:rPr lang="zh-CN" altLang="zh-CN" sz="1160" b="1">
                <a:solidFill>
                  <a:srgbClr val="000000"/>
                </a:solidFill>
                <a:ea typeface="宋体" panose="02010600030101010101" pitchFamily="2" charset="-122"/>
              </a:rPr>
              <a:t>（占总人口的百分）比</a:t>
            </a:r>
            <a:r>
              <a:rPr lang="en-US" altLang="zh-CN" sz="1160" b="1">
                <a:solidFill>
                  <a:srgbClr val="000000"/>
                </a:solidFill>
                <a:ea typeface="宋体" panose="02010600030101010101" pitchFamily="2" charset="-122"/>
              </a:rPr>
              <a:t>)</a:t>
            </a:r>
          </a:p>
        </p:txBody>
      </p:sp>
      <p:sp>
        <p:nvSpPr>
          <p:cNvPr id="76805" name="Text Box 5">
            <a:extLst>
              <a:ext uri="{FF2B5EF4-FFF2-40B4-BE49-F238E27FC236}">
                <a16:creationId xmlns:a16="http://schemas.microsoft.com/office/drawing/2014/main" id="{833E5476-4003-D073-5EF2-45582F040705}"/>
              </a:ext>
            </a:extLst>
          </p:cNvPr>
          <p:cNvSpPr txBox="1">
            <a:spLocks noChangeArrowheads="1"/>
          </p:cNvSpPr>
          <p:nvPr/>
        </p:nvSpPr>
        <p:spPr bwMode="auto">
          <a:xfrm>
            <a:off x="1018064" y="3155024"/>
            <a:ext cx="3163841" cy="270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160" b="1">
                <a:solidFill>
                  <a:srgbClr val="000000"/>
                </a:solidFill>
                <a:ea typeface="宋体" panose="02010600030101010101" pitchFamily="2" charset="-122"/>
              </a:rPr>
              <a:t>人均真实</a:t>
            </a:r>
            <a:r>
              <a:rPr lang="en-US" altLang="zh-CN" sz="1160" b="1">
                <a:solidFill>
                  <a:srgbClr val="000000"/>
                </a:solidFill>
                <a:ea typeface="宋体" panose="02010600030101010101" pitchFamily="2" charset="-122"/>
              </a:rPr>
              <a:t>GDP</a:t>
            </a:r>
          </a:p>
        </p:txBody>
      </p:sp>
      <p:pic>
        <p:nvPicPr>
          <p:cNvPr id="76806" name="Picture 6">
            <a:extLst>
              <a:ext uri="{FF2B5EF4-FFF2-40B4-BE49-F238E27FC236}">
                <a16:creationId xmlns:a16="http://schemas.microsoft.com/office/drawing/2014/main" id="{BAD7DE8C-7C1E-040D-94B0-B4914FDDDE3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0246" y="299323"/>
            <a:ext cx="3961805" cy="28749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6807" name="Text Box 6">
            <a:extLst>
              <a:ext uri="{FF2B5EF4-FFF2-40B4-BE49-F238E27FC236}">
                <a16:creationId xmlns:a16="http://schemas.microsoft.com/office/drawing/2014/main" id="{0597821D-6267-E088-F59B-2B7BD937F4F8}"/>
              </a:ext>
            </a:extLst>
          </p:cNvPr>
          <p:cNvSpPr txBox="1">
            <a:spLocks noChangeArrowheads="1"/>
          </p:cNvSpPr>
          <p:nvPr/>
        </p:nvSpPr>
        <p:spPr bwMode="auto">
          <a:xfrm>
            <a:off x="3662468" y="481806"/>
            <a:ext cx="344157"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美国</a:t>
            </a:r>
            <a:endParaRPr lang="zh-CN" altLang="en-US" sz="1059">
              <a:solidFill>
                <a:srgbClr val="000000"/>
              </a:solidFill>
              <a:ea typeface="宋体" panose="02010600030101010101" pitchFamily="2" charset="-122"/>
            </a:endParaRPr>
          </a:p>
        </p:txBody>
      </p:sp>
      <p:sp>
        <p:nvSpPr>
          <p:cNvPr id="76808" name="Text Box 7">
            <a:extLst>
              <a:ext uri="{FF2B5EF4-FFF2-40B4-BE49-F238E27FC236}">
                <a16:creationId xmlns:a16="http://schemas.microsoft.com/office/drawing/2014/main" id="{0EA481AA-E0ED-B0C6-BAF8-562E5A2BB1FD}"/>
              </a:ext>
            </a:extLst>
          </p:cNvPr>
          <p:cNvSpPr txBox="1">
            <a:spLocks noChangeArrowheads="1"/>
          </p:cNvSpPr>
          <p:nvPr/>
        </p:nvSpPr>
        <p:spPr bwMode="auto">
          <a:xfrm>
            <a:off x="2333063" y="578651"/>
            <a:ext cx="636290"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德国</a:t>
            </a:r>
          </a:p>
        </p:txBody>
      </p:sp>
      <p:sp>
        <p:nvSpPr>
          <p:cNvPr id="76809" name="Text Box 8">
            <a:extLst>
              <a:ext uri="{FF2B5EF4-FFF2-40B4-BE49-F238E27FC236}">
                <a16:creationId xmlns:a16="http://schemas.microsoft.com/office/drawing/2014/main" id="{53ECCDFF-D21C-D03F-878B-6E9312EBBB0D}"/>
              </a:ext>
            </a:extLst>
          </p:cNvPr>
          <p:cNvSpPr txBox="1">
            <a:spLocks noChangeArrowheads="1"/>
          </p:cNvSpPr>
          <p:nvPr/>
        </p:nvSpPr>
        <p:spPr bwMode="auto">
          <a:xfrm>
            <a:off x="3098212" y="603462"/>
            <a:ext cx="465012"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日本</a:t>
            </a:r>
          </a:p>
        </p:txBody>
      </p:sp>
      <p:sp>
        <p:nvSpPr>
          <p:cNvPr id="76810" name="Line 10">
            <a:extLst>
              <a:ext uri="{FF2B5EF4-FFF2-40B4-BE49-F238E27FC236}">
                <a16:creationId xmlns:a16="http://schemas.microsoft.com/office/drawing/2014/main" id="{87EB3563-C154-EAE8-9811-E7F47615CE33}"/>
              </a:ext>
            </a:extLst>
          </p:cNvPr>
          <p:cNvSpPr>
            <a:spLocks noChangeShapeType="1"/>
          </p:cNvSpPr>
          <p:nvPr/>
        </p:nvSpPr>
        <p:spPr bwMode="auto">
          <a:xfrm>
            <a:off x="3013373" y="497014"/>
            <a:ext cx="124056" cy="1512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76811" name="Line 11">
            <a:extLst>
              <a:ext uri="{FF2B5EF4-FFF2-40B4-BE49-F238E27FC236}">
                <a16:creationId xmlns:a16="http://schemas.microsoft.com/office/drawing/2014/main" id="{6B51259A-DE53-3512-6584-595ED2F3528A}"/>
              </a:ext>
            </a:extLst>
          </p:cNvPr>
          <p:cNvSpPr>
            <a:spLocks noChangeShapeType="1"/>
          </p:cNvSpPr>
          <p:nvPr/>
        </p:nvSpPr>
        <p:spPr bwMode="auto">
          <a:xfrm flipH="1">
            <a:off x="2738048" y="504217"/>
            <a:ext cx="75234" cy="824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76812" name="Text Box 10">
            <a:extLst>
              <a:ext uri="{FF2B5EF4-FFF2-40B4-BE49-F238E27FC236}">
                <a16:creationId xmlns:a16="http://schemas.microsoft.com/office/drawing/2014/main" id="{AA42BB1D-3C30-83EE-F3EF-B889240033B3}"/>
              </a:ext>
            </a:extLst>
          </p:cNvPr>
          <p:cNvSpPr txBox="1">
            <a:spLocks noChangeArrowheads="1"/>
          </p:cNvSpPr>
          <p:nvPr/>
        </p:nvSpPr>
        <p:spPr bwMode="auto">
          <a:xfrm>
            <a:off x="1650352" y="725117"/>
            <a:ext cx="541046"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墨西哥</a:t>
            </a:r>
          </a:p>
        </p:txBody>
      </p:sp>
      <p:sp>
        <p:nvSpPr>
          <p:cNvPr id="76813" name="Text Box 11">
            <a:extLst>
              <a:ext uri="{FF2B5EF4-FFF2-40B4-BE49-F238E27FC236}">
                <a16:creationId xmlns:a16="http://schemas.microsoft.com/office/drawing/2014/main" id="{BFF08A43-8079-8C6A-9EA3-7416B4F93D4F}"/>
              </a:ext>
            </a:extLst>
          </p:cNvPr>
          <p:cNvSpPr txBox="1">
            <a:spLocks noChangeArrowheads="1"/>
          </p:cNvSpPr>
          <p:nvPr/>
        </p:nvSpPr>
        <p:spPr bwMode="auto">
          <a:xfrm>
            <a:off x="1648752" y="448191"/>
            <a:ext cx="523438"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俄罗斯</a:t>
            </a:r>
          </a:p>
        </p:txBody>
      </p:sp>
      <p:sp>
        <p:nvSpPr>
          <p:cNvPr id="76814" name="Text Box 12">
            <a:extLst>
              <a:ext uri="{FF2B5EF4-FFF2-40B4-BE49-F238E27FC236}">
                <a16:creationId xmlns:a16="http://schemas.microsoft.com/office/drawing/2014/main" id="{2E282154-7E06-0061-E6D1-5AE43CA8656B}"/>
              </a:ext>
            </a:extLst>
          </p:cNvPr>
          <p:cNvSpPr txBox="1">
            <a:spLocks noChangeArrowheads="1"/>
          </p:cNvSpPr>
          <p:nvPr/>
        </p:nvSpPr>
        <p:spPr bwMode="auto">
          <a:xfrm>
            <a:off x="1562312" y="982835"/>
            <a:ext cx="427395"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巴西</a:t>
            </a:r>
          </a:p>
        </p:txBody>
      </p:sp>
      <p:sp>
        <p:nvSpPr>
          <p:cNvPr id="76815" name="Text Box 13">
            <a:extLst>
              <a:ext uri="{FF2B5EF4-FFF2-40B4-BE49-F238E27FC236}">
                <a16:creationId xmlns:a16="http://schemas.microsoft.com/office/drawing/2014/main" id="{02A49683-59EF-380B-A340-DEC37D278977}"/>
              </a:ext>
            </a:extLst>
          </p:cNvPr>
          <p:cNvSpPr txBox="1">
            <a:spLocks noChangeArrowheads="1"/>
          </p:cNvSpPr>
          <p:nvPr/>
        </p:nvSpPr>
        <p:spPr bwMode="auto">
          <a:xfrm>
            <a:off x="1077291" y="466600"/>
            <a:ext cx="412188"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中国</a:t>
            </a:r>
          </a:p>
        </p:txBody>
      </p:sp>
      <p:sp>
        <p:nvSpPr>
          <p:cNvPr id="76816" name="Line 16">
            <a:extLst>
              <a:ext uri="{FF2B5EF4-FFF2-40B4-BE49-F238E27FC236}">
                <a16:creationId xmlns:a16="http://schemas.microsoft.com/office/drawing/2014/main" id="{52A2666E-8DE2-C053-911D-4DA5B9E9683A}"/>
              </a:ext>
            </a:extLst>
          </p:cNvPr>
          <p:cNvSpPr>
            <a:spLocks noChangeShapeType="1"/>
          </p:cNvSpPr>
          <p:nvPr/>
        </p:nvSpPr>
        <p:spPr bwMode="auto">
          <a:xfrm>
            <a:off x="1304594" y="617868"/>
            <a:ext cx="60828" cy="1136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76817" name="Line 17">
            <a:extLst>
              <a:ext uri="{FF2B5EF4-FFF2-40B4-BE49-F238E27FC236}">
                <a16:creationId xmlns:a16="http://schemas.microsoft.com/office/drawing/2014/main" id="{99E3B07D-DDB5-99F5-34A2-A45F92C3D0EF}"/>
              </a:ext>
            </a:extLst>
          </p:cNvPr>
          <p:cNvSpPr>
            <a:spLocks noChangeShapeType="1"/>
          </p:cNvSpPr>
          <p:nvPr/>
        </p:nvSpPr>
        <p:spPr bwMode="auto">
          <a:xfrm>
            <a:off x="1527096" y="889992"/>
            <a:ext cx="88841" cy="10084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76818" name="Text Box 16">
            <a:extLst>
              <a:ext uri="{FF2B5EF4-FFF2-40B4-BE49-F238E27FC236}">
                <a16:creationId xmlns:a16="http://schemas.microsoft.com/office/drawing/2014/main" id="{AF1EB1F5-6DE3-B042-C3AF-B35FFE5A8595}"/>
              </a:ext>
            </a:extLst>
          </p:cNvPr>
          <p:cNvSpPr txBox="1">
            <a:spLocks noChangeArrowheads="1"/>
          </p:cNvSpPr>
          <p:nvPr/>
        </p:nvSpPr>
        <p:spPr bwMode="auto">
          <a:xfrm>
            <a:off x="1203748" y="1904054"/>
            <a:ext cx="378573"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印度</a:t>
            </a:r>
          </a:p>
        </p:txBody>
      </p:sp>
      <p:sp>
        <p:nvSpPr>
          <p:cNvPr id="76819" name="Text Box 17">
            <a:extLst>
              <a:ext uri="{FF2B5EF4-FFF2-40B4-BE49-F238E27FC236}">
                <a16:creationId xmlns:a16="http://schemas.microsoft.com/office/drawing/2014/main" id="{3A5A8C43-DE23-A4F9-AB80-861EA2BA409D}"/>
              </a:ext>
            </a:extLst>
          </p:cNvPr>
          <p:cNvSpPr txBox="1">
            <a:spLocks noChangeArrowheads="1"/>
          </p:cNvSpPr>
          <p:nvPr/>
        </p:nvSpPr>
        <p:spPr bwMode="auto">
          <a:xfrm>
            <a:off x="1035672" y="1142107"/>
            <a:ext cx="697918"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印度尼西亚</a:t>
            </a:r>
          </a:p>
        </p:txBody>
      </p:sp>
      <p:sp>
        <p:nvSpPr>
          <p:cNvPr id="76820" name="Line 20">
            <a:extLst>
              <a:ext uri="{FF2B5EF4-FFF2-40B4-BE49-F238E27FC236}">
                <a16:creationId xmlns:a16="http://schemas.microsoft.com/office/drawing/2014/main" id="{5E79B515-2575-970C-EE57-DCD2EDAE31C5}"/>
              </a:ext>
            </a:extLst>
          </p:cNvPr>
          <p:cNvSpPr>
            <a:spLocks noChangeShapeType="1"/>
          </p:cNvSpPr>
          <p:nvPr/>
        </p:nvSpPr>
        <p:spPr bwMode="auto">
          <a:xfrm>
            <a:off x="1228560" y="866782"/>
            <a:ext cx="89641" cy="2897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76821" name="Text Box 15">
            <a:extLst>
              <a:ext uri="{FF2B5EF4-FFF2-40B4-BE49-F238E27FC236}">
                <a16:creationId xmlns:a16="http://schemas.microsoft.com/office/drawing/2014/main" id="{0BA276B1-C697-E389-927A-4CDC3E0C45A4}"/>
              </a:ext>
            </a:extLst>
          </p:cNvPr>
          <p:cNvSpPr txBox="1">
            <a:spLocks noChangeArrowheads="1"/>
          </p:cNvSpPr>
          <p:nvPr/>
        </p:nvSpPr>
        <p:spPr bwMode="auto">
          <a:xfrm>
            <a:off x="1078091" y="1579907"/>
            <a:ext cx="441801" cy="32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尼日利亚</a:t>
            </a:r>
          </a:p>
        </p:txBody>
      </p:sp>
      <p:sp>
        <p:nvSpPr>
          <p:cNvPr id="76822" name="Text Box 14">
            <a:extLst>
              <a:ext uri="{FF2B5EF4-FFF2-40B4-BE49-F238E27FC236}">
                <a16:creationId xmlns:a16="http://schemas.microsoft.com/office/drawing/2014/main" id="{C88DF457-6C09-9807-F1C8-C9373C0733A1}"/>
              </a:ext>
            </a:extLst>
          </p:cNvPr>
          <p:cNvSpPr txBox="1">
            <a:spLocks noChangeArrowheads="1"/>
          </p:cNvSpPr>
          <p:nvPr/>
        </p:nvSpPr>
        <p:spPr bwMode="auto">
          <a:xfrm>
            <a:off x="1107705" y="2266619"/>
            <a:ext cx="613079"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巴基斯坦</a:t>
            </a:r>
          </a:p>
        </p:txBody>
      </p:sp>
      <p:sp>
        <p:nvSpPr>
          <p:cNvPr id="76823" name="Text Box 15">
            <a:extLst>
              <a:ext uri="{FF2B5EF4-FFF2-40B4-BE49-F238E27FC236}">
                <a16:creationId xmlns:a16="http://schemas.microsoft.com/office/drawing/2014/main" id="{8CD0C1C2-B56D-979B-F97F-91BEEFB182DD}"/>
              </a:ext>
            </a:extLst>
          </p:cNvPr>
          <p:cNvSpPr txBox="1">
            <a:spLocks noChangeArrowheads="1"/>
          </p:cNvSpPr>
          <p:nvPr/>
        </p:nvSpPr>
        <p:spPr bwMode="auto">
          <a:xfrm>
            <a:off x="1105304" y="2538743"/>
            <a:ext cx="765149"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孟加拉国</a:t>
            </a:r>
          </a:p>
        </p:txBody>
      </p:sp>
    </p:spTree>
  </p:cSld>
  <p:clrMapOvr>
    <a:masterClrMapping/>
  </p:clrMapOvr>
  <p:transition>
    <p:pull dir="ld"/>
  </p:transition>
</p:sld>
</file>

<file path=ppt/slides/slide67.xml><?xml version="1.0" encoding="utf-8"?>
<p:sld xmlns:a="http://schemas.openxmlformats.org/drawingml/2006/main" xmlns:r="http://schemas.openxmlformats.org/officeDocument/2006/relationships" xmlns:p="http://schemas.openxmlformats.org/presentationml/2006/main" showMasterSp="0">
  <p:cSld>
    <p:bg bwMode="auto">
      <p:bgPr>
        <a:solidFill>
          <a:srgbClr val="FFCCCC"/>
        </a:solidFill>
        <a:effectLst/>
      </p:bgPr>
    </p:bg>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FB141E9F-1CD4-8C45-7982-7336C7677CA9}"/>
              </a:ext>
            </a:extLst>
          </p:cNvPr>
          <p:cNvSpPr>
            <a:spLocks noGrp="1" noChangeArrowheads="1"/>
          </p:cNvSpPr>
          <p:nvPr>
            <p:ph type="title"/>
          </p:nvPr>
        </p:nvSpPr>
        <p:spPr>
          <a:xfrm>
            <a:off x="172879" y="64817"/>
            <a:ext cx="4240332" cy="281728"/>
          </a:xfrm>
        </p:spPr>
        <p:txBody>
          <a:bodyPr/>
          <a:lstStyle/>
          <a:p>
            <a:r>
              <a:rPr lang="en-US" altLang="zh-CN" sz="1513">
                <a:ea typeface="宋体" panose="02010600030101010101" pitchFamily="2" charset="-122"/>
              </a:rPr>
              <a:t>12</a:t>
            </a:r>
            <a:r>
              <a:rPr lang="zh-CN" altLang="zh-CN" sz="1513">
                <a:ea typeface="宋体" panose="02010600030101010101" pitchFamily="2" charset="-122"/>
              </a:rPr>
              <a:t>个国家</a:t>
            </a:r>
            <a:r>
              <a:rPr lang="en-US" altLang="zh-CN" sz="1513">
                <a:ea typeface="宋体" panose="02010600030101010101" pitchFamily="2" charset="-122"/>
              </a:rPr>
              <a:t>GDP</a:t>
            </a:r>
            <a:r>
              <a:rPr lang="zh-CN" altLang="zh-CN" sz="1513">
                <a:ea typeface="宋体" panose="02010600030101010101" pitchFamily="2" charset="-122"/>
              </a:rPr>
              <a:t>与网络的使用</a:t>
            </a:r>
          </a:p>
        </p:txBody>
      </p:sp>
      <p:sp>
        <p:nvSpPr>
          <p:cNvPr id="78851" name="Rectangle 3">
            <a:extLst>
              <a:ext uri="{FF2B5EF4-FFF2-40B4-BE49-F238E27FC236}">
                <a16:creationId xmlns:a16="http://schemas.microsoft.com/office/drawing/2014/main" id="{A684D01B-74B1-FFD1-437A-7A2FBF27D660}"/>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4FCAFAAD-8D2B-894F-A06C-E4C3FB15F622}" type="slidenum">
              <a:rPr lang="zh-CN" altLang="zh-CN" sz="857">
                <a:solidFill>
                  <a:srgbClr val="777777"/>
                </a:solidFill>
                <a:latin typeface="Arial" panose="020B0604020202020204" pitchFamily="34" charset="0"/>
                <a:ea typeface="宋体" panose="02010600030101010101" pitchFamily="2" charset="-122"/>
              </a:rPr>
              <a:pPr algn="r" defTabSz="461040" fontAlgn="base">
                <a:spcBef>
                  <a:spcPct val="0"/>
                </a:spcBef>
                <a:spcAft>
                  <a:spcPct val="0"/>
                </a:spcAft>
              </a:pPr>
              <a:t>67</a:t>
            </a:fld>
            <a:endParaRPr lang="en-US" altLang="zh-CN" sz="857">
              <a:solidFill>
                <a:srgbClr val="777777"/>
              </a:solidFill>
              <a:latin typeface="Arial" panose="020B0604020202020204" pitchFamily="34" charset="0"/>
              <a:ea typeface="宋体" panose="02010600030101010101" pitchFamily="2" charset="-122"/>
            </a:endParaRPr>
          </a:p>
        </p:txBody>
      </p:sp>
      <p:sp>
        <p:nvSpPr>
          <p:cNvPr id="78852" name="Text Box 4">
            <a:extLst>
              <a:ext uri="{FF2B5EF4-FFF2-40B4-BE49-F238E27FC236}">
                <a16:creationId xmlns:a16="http://schemas.microsoft.com/office/drawing/2014/main" id="{0D0325A0-908C-8F31-2C4F-496DD4C9F9BE}"/>
              </a:ext>
            </a:extLst>
          </p:cNvPr>
          <p:cNvSpPr txBox="1">
            <a:spLocks noChangeArrowheads="1"/>
          </p:cNvSpPr>
          <p:nvPr/>
        </p:nvSpPr>
        <p:spPr bwMode="auto">
          <a:xfrm rot="16200000">
            <a:off x="-483820" y="1336420"/>
            <a:ext cx="1630343" cy="449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160" b="1" dirty="0">
                <a:solidFill>
                  <a:srgbClr val="000000"/>
                </a:solidFill>
                <a:ea typeface="宋体" panose="02010600030101010101" pitchFamily="2" charset="-122"/>
              </a:rPr>
              <a:t>网络的使用 </a:t>
            </a:r>
            <a:br>
              <a:rPr lang="zh-CN" altLang="zh-CN" sz="1160" b="1" dirty="0">
                <a:solidFill>
                  <a:srgbClr val="000000"/>
                </a:solidFill>
                <a:ea typeface="宋体" panose="02010600030101010101" pitchFamily="2" charset="-122"/>
              </a:rPr>
            </a:br>
            <a:r>
              <a:rPr lang="en-US" altLang="zh-CN" sz="1160" b="1" dirty="0">
                <a:solidFill>
                  <a:srgbClr val="000000"/>
                </a:solidFill>
                <a:ea typeface="宋体" panose="02010600030101010101" pitchFamily="2" charset="-122"/>
              </a:rPr>
              <a:t>( </a:t>
            </a:r>
            <a:r>
              <a:rPr lang="zh-CN" altLang="zh-CN" sz="1160" b="1" dirty="0">
                <a:solidFill>
                  <a:srgbClr val="000000"/>
                </a:solidFill>
                <a:ea typeface="宋体" panose="02010600030101010101" pitchFamily="2" charset="-122"/>
              </a:rPr>
              <a:t>占总人口的百分比</a:t>
            </a:r>
            <a:r>
              <a:rPr lang="en-US" altLang="zh-CN" sz="1160" b="1" dirty="0">
                <a:solidFill>
                  <a:srgbClr val="000000"/>
                </a:solidFill>
                <a:ea typeface="宋体" panose="02010600030101010101" pitchFamily="2" charset="-122"/>
              </a:rPr>
              <a:t>)</a:t>
            </a:r>
          </a:p>
        </p:txBody>
      </p:sp>
      <p:sp>
        <p:nvSpPr>
          <p:cNvPr id="78853" name="Text Box 5">
            <a:extLst>
              <a:ext uri="{FF2B5EF4-FFF2-40B4-BE49-F238E27FC236}">
                <a16:creationId xmlns:a16="http://schemas.microsoft.com/office/drawing/2014/main" id="{33FFBE67-4267-3393-8D3B-963173FE0172}"/>
              </a:ext>
            </a:extLst>
          </p:cNvPr>
          <p:cNvSpPr txBox="1">
            <a:spLocks noChangeArrowheads="1"/>
          </p:cNvSpPr>
          <p:nvPr/>
        </p:nvSpPr>
        <p:spPr bwMode="auto">
          <a:xfrm>
            <a:off x="1025268" y="3169431"/>
            <a:ext cx="3163841" cy="270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160" b="1">
                <a:solidFill>
                  <a:srgbClr val="000000"/>
                </a:solidFill>
                <a:ea typeface="宋体" panose="02010600030101010101" pitchFamily="2" charset="-122"/>
              </a:rPr>
              <a:t>人均真实</a:t>
            </a:r>
            <a:r>
              <a:rPr lang="en-US" altLang="zh-CN" sz="1160" b="1">
                <a:solidFill>
                  <a:srgbClr val="000000"/>
                </a:solidFill>
                <a:ea typeface="宋体" panose="02010600030101010101" pitchFamily="2" charset="-122"/>
              </a:rPr>
              <a:t>GDP</a:t>
            </a:r>
          </a:p>
        </p:txBody>
      </p:sp>
      <p:pic>
        <p:nvPicPr>
          <p:cNvPr id="78854" name="Picture 6">
            <a:extLst>
              <a:ext uri="{FF2B5EF4-FFF2-40B4-BE49-F238E27FC236}">
                <a16:creationId xmlns:a16="http://schemas.microsoft.com/office/drawing/2014/main" id="{16718A5C-63FF-7E9D-8595-A8FA5DE3678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7054" y="350547"/>
            <a:ext cx="3932992" cy="28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855" name="Text Box 6">
            <a:extLst>
              <a:ext uri="{FF2B5EF4-FFF2-40B4-BE49-F238E27FC236}">
                <a16:creationId xmlns:a16="http://schemas.microsoft.com/office/drawing/2014/main" id="{5FC8C731-C6F4-E239-9414-5B2F9A001D39}"/>
              </a:ext>
            </a:extLst>
          </p:cNvPr>
          <p:cNvSpPr txBox="1">
            <a:spLocks noChangeArrowheads="1"/>
          </p:cNvSpPr>
          <p:nvPr/>
        </p:nvSpPr>
        <p:spPr bwMode="auto">
          <a:xfrm>
            <a:off x="3521604" y="745927"/>
            <a:ext cx="344157"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美国</a:t>
            </a:r>
          </a:p>
        </p:txBody>
      </p:sp>
      <p:sp>
        <p:nvSpPr>
          <p:cNvPr id="78856" name="Text Box 7">
            <a:extLst>
              <a:ext uri="{FF2B5EF4-FFF2-40B4-BE49-F238E27FC236}">
                <a16:creationId xmlns:a16="http://schemas.microsoft.com/office/drawing/2014/main" id="{D96E1D54-FC98-92C0-0B3E-A2DF35C53DA9}"/>
              </a:ext>
            </a:extLst>
          </p:cNvPr>
          <p:cNvSpPr txBox="1">
            <a:spLocks noChangeArrowheads="1"/>
          </p:cNvSpPr>
          <p:nvPr/>
        </p:nvSpPr>
        <p:spPr bwMode="auto">
          <a:xfrm>
            <a:off x="2842095" y="1322990"/>
            <a:ext cx="636290"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德国</a:t>
            </a:r>
          </a:p>
        </p:txBody>
      </p:sp>
      <p:sp>
        <p:nvSpPr>
          <p:cNvPr id="78857" name="Text Box 8">
            <a:extLst>
              <a:ext uri="{FF2B5EF4-FFF2-40B4-BE49-F238E27FC236}">
                <a16:creationId xmlns:a16="http://schemas.microsoft.com/office/drawing/2014/main" id="{D9AC5A83-794B-7770-B9AD-6E24743AB4FB}"/>
              </a:ext>
            </a:extLst>
          </p:cNvPr>
          <p:cNvSpPr txBox="1">
            <a:spLocks noChangeArrowheads="1"/>
          </p:cNvSpPr>
          <p:nvPr/>
        </p:nvSpPr>
        <p:spPr bwMode="auto">
          <a:xfrm>
            <a:off x="2914128" y="638678"/>
            <a:ext cx="465012"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日本</a:t>
            </a:r>
          </a:p>
        </p:txBody>
      </p:sp>
      <p:sp>
        <p:nvSpPr>
          <p:cNvPr id="78858" name="Text Box 10">
            <a:extLst>
              <a:ext uri="{FF2B5EF4-FFF2-40B4-BE49-F238E27FC236}">
                <a16:creationId xmlns:a16="http://schemas.microsoft.com/office/drawing/2014/main" id="{95CEE0C7-61B3-B19E-7519-AAF51F3488E5}"/>
              </a:ext>
            </a:extLst>
          </p:cNvPr>
          <p:cNvSpPr txBox="1">
            <a:spLocks noChangeArrowheads="1"/>
          </p:cNvSpPr>
          <p:nvPr/>
        </p:nvSpPr>
        <p:spPr bwMode="auto">
          <a:xfrm>
            <a:off x="1764004" y="2137761"/>
            <a:ext cx="541046"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墨西哥</a:t>
            </a:r>
          </a:p>
        </p:txBody>
      </p:sp>
      <p:sp>
        <p:nvSpPr>
          <p:cNvPr id="78859" name="Text Box 11">
            <a:extLst>
              <a:ext uri="{FF2B5EF4-FFF2-40B4-BE49-F238E27FC236}">
                <a16:creationId xmlns:a16="http://schemas.microsoft.com/office/drawing/2014/main" id="{E273B720-304A-7E8C-D60B-B9D343D05EDC}"/>
              </a:ext>
            </a:extLst>
          </p:cNvPr>
          <p:cNvSpPr txBox="1">
            <a:spLocks noChangeArrowheads="1"/>
          </p:cNvSpPr>
          <p:nvPr/>
        </p:nvSpPr>
        <p:spPr bwMode="auto">
          <a:xfrm>
            <a:off x="1774409" y="2358662"/>
            <a:ext cx="523438"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俄罗斯</a:t>
            </a:r>
          </a:p>
        </p:txBody>
      </p:sp>
      <p:sp>
        <p:nvSpPr>
          <p:cNvPr id="78860" name="Line 12">
            <a:extLst>
              <a:ext uri="{FF2B5EF4-FFF2-40B4-BE49-F238E27FC236}">
                <a16:creationId xmlns:a16="http://schemas.microsoft.com/office/drawing/2014/main" id="{1984A654-DBEB-CF50-F66F-D2F8E3352FEF}"/>
              </a:ext>
            </a:extLst>
          </p:cNvPr>
          <p:cNvSpPr>
            <a:spLocks noChangeShapeType="1"/>
          </p:cNvSpPr>
          <p:nvPr/>
        </p:nvSpPr>
        <p:spPr bwMode="auto">
          <a:xfrm flipV="1">
            <a:off x="1667160" y="2226601"/>
            <a:ext cx="128858" cy="5042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78861" name="Line 13">
            <a:extLst>
              <a:ext uri="{FF2B5EF4-FFF2-40B4-BE49-F238E27FC236}">
                <a16:creationId xmlns:a16="http://schemas.microsoft.com/office/drawing/2014/main" id="{C80CD367-89B5-F47D-1E80-CA7260A29DDD}"/>
              </a:ext>
            </a:extLst>
          </p:cNvPr>
          <p:cNvSpPr>
            <a:spLocks noChangeShapeType="1"/>
          </p:cNvSpPr>
          <p:nvPr/>
        </p:nvSpPr>
        <p:spPr bwMode="auto">
          <a:xfrm>
            <a:off x="1679165" y="2396278"/>
            <a:ext cx="116853" cy="352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78862" name="Text Box 12">
            <a:extLst>
              <a:ext uri="{FF2B5EF4-FFF2-40B4-BE49-F238E27FC236}">
                <a16:creationId xmlns:a16="http://schemas.microsoft.com/office/drawing/2014/main" id="{E87D3B69-FE4B-FE9C-D36C-E60B16258B9D}"/>
              </a:ext>
            </a:extLst>
          </p:cNvPr>
          <p:cNvSpPr txBox="1">
            <a:spLocks noChangeArrowheads="1"/>
          </p:cNvSpPr>
          <p:nvPr/>
        </p:nvSpPr>
        <p:spPr bwMode="auto">
          <a:xfrm>
            <a:off x="1517491" y="1869639"/>
            <a:ext cx="427395"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巴西</a:t>
            </a:r>
          </a:p>
        </p:txBody>
      </p:sp>
      <p:sp>
        <p:nvSpPr>
          <p:cNvPr id="78863" name="Text Box 13">
            <a:extLst>
              <a:ext uri="{FF2B5EF4-FFF2-40B4-BE49-F238E27FC236}">
                <a16:creationId xmlns:a16="http://schemas.microsoft.com/office/drawing/2014/main" id="{E898DD3D-D2DA-A2BF-B2A4-17F3F8C6D25E}"/>
              </a:ext>
            </a:extLst>
          </p:cNvPr>
          <p:cNvSpPr txBox="1">
            <a:spLocks noChangeArrowheads="1"/>
          </p:cNvSpPr>
          <p:nvPr/>
        </p:nvSpPr>
        <p:spPr bwMode="auto">
          <a:xfrm>
            <a:off x="1535100" y="2505929"/>
            <a:ext cx="412188"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中国</a:t>
            </a:r>
          </a:p>
        </p:txBody>
      </p:sp>
      <p:sp>
        <p:nvSpPr>
          <p:cNvPr id="78864" name="Line 16">
            <a:extLst>
              <a:ext uri="{FF2B5EF4-FFF2-40B4-BE49-F238E27FC236}">
                <a16:creationId xmlns:a16="http://schemas.microsoft.com/office/drawing/2014/main" id="{ECCF566A-8201-E829-4925-6203C952B3AA}"/>
              </a:ext>
            </a:extLst>
          </p:cNvPr>
          <p:cNvSpPr>
            <a:spLocks noChangeShapeType="1"/>
          </p:cNvSpPr>
          <p:nvPr/>
        </p:nvSpPr>
        <p:spPr bwMode="auto">
          <a:xfrm flipV="1">
            <a:off x="1491080" y="2018506"/>
            <a:ext cx="182483" cy="2088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78865" name="Line 17">
            <a:extLst>
              <a:ext uri="{FF2B5EF4-FFF2-40B4-BE49-F238E27FC236}">
                <a16:creationId xmlns:a16="http://schemas.microsoft.com/office/drawing/2014/main" id="{B3CFBF2F-552A-6649-DD12-934368770997}"/>
              </a:ext>
            </a:extLst>
          </p:cNvPr>
          <p:cNvSpPr>
            <a:spLocks noChangeShapeType="1"/>
          </p:cNvSpPr>
          <p:nvPr/>
        </p:nvSpPr>
        <p:spPr bwMode="auto">
          <a:xfrm>
            <a:off x="1404640" y="2568357"/>
            <a:ext cx="144066" cy="1440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78866" name="Text Box 16">
            <a:extLst>
              <a:ext uri="{FF2B5EF4-FFF2-40B4-BE49-F238E27FC236}">
                <a16:creationId xmlns:a16="http://schemas.microsoft.com/office/drawing/2014/main" id="{ECFE4D5F-B982-BC59-CBEF-C17D25BFAB6F}"/>
              </a:ext>
            </a:extLst>
          </p:cNvPr>
          <p:cNvSpPr txBox="1">
            <a:spLocks noChangeArrowheads="1"/>
          </p:cNvSpPr>
          <p:nvPr/>
        </p:nvSpPr>
        <p:spPr bwMode="auto">
          <a:xfrm>
            <a:off x="1267777" y="2649194"/>
            <a:ext cx="378573"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印度</a:t>
            </a:r>
          </a:p>
        </p:txBody>
      </p:sp>
      <p:sp>
        <p:nvSpPr>
          <p:cNvPr id="78867" name="Text Box 17">
            <a:extLst>
              <a:ext uri="{FF2B5EF4-FFF2-40B4-BE49-F238E27FC236}">
                <a16:creationId xmlns:a16="http://schemas.microsoft.com/office/drawing/2014/main" id="{5E75ACB3-417B-4115-83C9-89949E36FAA2}"/>
              </a:ext>
            </a:extLst>
          </p:cNvPr>
          <p:cNvSpPr txBox="1">
            <a:spLocks noChangeArrowheads="1"/>
          </p:cNvSpPr>
          <p:nvPr/>
        </p:nvSpPr>
        <p:spPr bwMode="auto">
          <a:xfrm>
            <a:off x="785158" y="2004100"/>
            <a:ext cx="678709"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印度尼西亚</a:t>
            </a:r>
          </a:p>
        </p:txBody>
      </p:sp>
      <p:sp>
        <p:nvSpPr>
          <p:cNvPr id="78868" name="Line 20">
            <a:extLst>
              <a:ext uri="{FF2B5EF4-FFF2-40B4-BE49-F238E27FC236}">
                <a16:creationId xmlns:a16="http://schemas.microsoft.com/office/drawing/2014/main" id="{3C52EFDC-47C9-6FAF-2FE0-F0CFDCCE143F}"/>
              </a:ext>
            </a:extLst>
          </p:cNvPr>
          <p:cNvSpPr>
            <a:spLocks noChangeShapeType="1"/>
          </p:cNvSpPr>
          <p:nvPr/>
        </p:nvSpPr>
        <p:spPr bwMode="auto">
          <a:xfrm flipV="1">
            <a:off x="1182939" y="2734833"/>
            <a:ext cx="119255" cy="560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78869" name="Line 21">
            <a:extLst>
              <a:ext uri="{FF2B5EF4-FFF2-40B4-BE49-F238E27FC236}">
                <a16:creationId xmlns:a16="http://schemas.microsoft.com/office/drawing/2014/main" id="{C2E84CAA-E582-92F3-9018-72748FA5AAEF}"/>
              </a:ext>
            </a:extLst>
          </p:cNvPr>
          <p:cNvSpPr>
            <a:spLocks noChangeShapeType="1"/>
          </p:cNvSpPr>
          <p:nvPr/>
        </p:nvSpPr>
        <p:spPr bwMode="auto">
          <a:xfrm flipH="1" flipV="1">
            <a:off x="1122111" y="2162572"/>
            <a:ext cx="34416" cy="3953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78870" name="Text Box 15">
            <a:extLst>
              <a:ext uri="{FF2B5EF4-FFF2-40B4-BE49-F238E27FC236}">
                <a16:creationId xmlns:a16="http://schemas.microsoft.com/office/drawing/2014/main" id="{27C4F5F0-E037-776D-E7A9-E02FCCBCE608}"/>
              </a:ext>
            </a:extLst>
          </p:cNvPr>
          <p:cNvSpPr txBox="1">
            <a:spLocks noChangeArrowheads="1"/>
          </p:cNvSpPr>
          <p:nvPr/>
        </p:nvSpPr>
        <p:spPr bwMode="auto">
          <a:xfrm>
            <a:off x="16807" y="2585164"/>
            <a:ext cx="557855"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dirty="0">
                <a:solidFill>
                  <a:srgbClr val="000000"/>
                </a:solidFill>
                <a:ea typeface="宋体" panose="02010600030101010101" pitchFamily="2" charset="-122"/>
              </a:rPr>
              <a:t>尼日利亚</a:t>
            </a:r>
          </a:p>
        </p:txBody>
      </p:sp>
      <p:sp>
        <p:nvSpPr>
          <p:cNvPr id="78871" name="Line 23">
            <a:extLst>
              <a:ext uri="{FF2B5EF4-FFF2-40B4-BE49-F238E27FC236}">
                <a16:creationId xmlns:a16="http://schemas.microsoft.com/office/drawing/2014/main" id="{9F052718-0E5F-2303-8818-DC576BD83D09}"/>
              </a:ext>
            </a:extLst>
          </p:cNvPr>
          <p:cNvSpPr>
            <a:spLocks noChangeShapeType="1"/>
          </p:cNvSpPr>
          <p:nvPr/>
        </p:nvSpPr>
        <p:spPr bwMode="auto">
          <a:xfrm flipH="1" flipV="1">
            <a:off x="580265" y="2683610"/>
            <a:ext cx="341755" cy="272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78872" name="Text Box 15">
            <a:extLst>
              <a:ext uri="{FF2B5EF4-FFF2-40B4-BE49-F238E27FC236}">
                <a16:creationId xmlns:a16="http://schemas.microsoft.com/office/drawing/2014/main" id="{EB7A326A-693B-B1F8-B1D3-CE1B286DE137}"/>
              </a:ext>
            </a:extLst>
          </p:cNvPr>
          <p:cNvSpPr txBox="1">
            <a:spLocks noChangeArrowheads="1"/>
          </p:cNvSpPr>
          <p:nvPr/>
        </p:nvSpPr>
        <p:spPr bwMode="auto">
          <a:xfrm>
            <a:off x="800364" y="3177434"/>
            <a:ext cx="765149"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a:solidFill>
                  <a:srgbClr val="000000"/>
                </a:solidFill>
                <a:ea typeface="宋体" panose="02010600030101010101" pitchFamily="2" charset="-122"/>
              </a:rPr>
              <a:t>孟加拉国</a:t>
            </a:r>
          </a:p>
        </p:txBody>
      </p:sp>
      <p:sp>
        <p:nvSpPr>
          <p:cNvPr id="78873" name="Line 25">
            <a:extLst>
              <a:ext uri="{FF2B5EF4-FFF2-40B4-BE49-F238E27FC236}">
                <a16:creationId xmlns:a16="http://schemas.microsoft.com/office/drawing/2014/main" id="{02B1BA5E-9FE8-F864-267F-CA84D0AB2B39}"/>
              </a:ext>
            </a:extLst>
          </p:cNvPr>
          <p:cNvSpPr>
            <a:spLocks noChangeShapeType="1"/>
          </p:cNvSpPr>
          <p:nvPr/>
        </p:nvSpPr>
        <p:spPr bwMode="auto">
          <a:xfrm>
            <a:off x="1047678" y="2872496"/>
            <a:ext cx="77635" cy="33215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78874" name="Text Box 14">
            <a:extLst>
              <a:ext uri="{FF2B5EF4-FFF2-40B4-BE49-F238E27FC236}">
                <a16:creationId xmlns:a16="http://schemas.microsoft.com/office/drawing/2014/main" id="{5B34D133-214E-CEB3-8D4D-C0535C32C0B9}"/>
              </a:ext>
            </a:extLst>
          </p:cNvPr>
          <p:cNvSpPr txBox="1">
            <a:spLocks noChangeArrowheads="1"/>
          </p:cNvSpPr>
          <p:nvPr/>
        </p:nvSpPr>
        <p:spPr bwMode="auto">
          <a:xfrm>
            <a:off x="16807" y="2273022"/>
            <a:ext cx="596272" cy="162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defTabSz="461040" fontAlgn="base">
              <a:spcBef>
                <a:spcPct val="50000"/>
              </a:spcBef>
              <a:spcAft>
                <a:spcPct val="0"/>
              </a:spcAft>
            </a:pPr>
            <a:r>
              <a:rPr lang="zh-CN" altLang="zh-CN" sz="1059" dirty="0">
                <a:solidFill>
                  <a:srgbClr val="000000"/>
                </a:solidFill>
                <a:ea typeface="宋体" panose="02010600030101010101" pitchFamily="2" charset="-122"/>
              </a:rPr>
              <a:t>巴基斯坦</a:t>
            </a:r>
          </a:p>
        </p:txBody>
      </p:sp>
      <p:sp>
        <p:nvSpPr>
          <p:cNvPr id="78875" name="Line 27">
            <a:extLst>
              <a:ext uri="{FF2B5EF4-FFF2-40B4-BE49-F238E27FC236}">
                <a16:creationId xmlns:a16="http://schemas.microsoft.com/office/drawing/2014/main" id="{46AAE5D9-169C-C0B0-3DAA-A1D6A83426D4}"/>
              </a:ext>
            </a:extLst>
          </p:cNvPr>
          <p:cNvSpPr>
            <a:spLocks noChangeShapeType="1"/>
          </p:cNvSpPr>
          <p:nvPr/>
        </p:nvSpPr>
        <p:spPr bwMode="auto">
          <a:xfrm flipH="1" flipV="1">
            <a:off x="634689" y="2369066"/>
            <a:ext cx="392179" cy="22810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Tree>
  </p:cSld>
  <p:clrMapOvr>
    <a:masterClrMapping/>
  </p:clrMapOvr>
  <p:transition>
    <p:pull dir="ld"/>
  </p:transition>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0900" name="Rectangle 4">
            <a:extLst>
              <a:ext uri="{FF2B5EF4-FFF2-40B4-BE49-F238E27FC236}">
                <a16:creationId xmlns:a16="http://schemas.microsoft.com/office/drawing/2014/main" id="{06BBD981-163F-29F5-7F65-935BB91A2A9B}"/>
              </a:ext>
            </a:extLst>
          </p:cNvPr>
          <p:cNvSpPr>
            <a:spLocks noGrp="1" noChangeArrowheads="1"/>
          </p:cNvSpPr>
          <p:nvPr>
            <p:ph type="body" idx="1"/>
          </p:nvPr>
        </p:nvSpPr>
        <p:spPr>
          <a:xfrm>
            <a:off x="165676" y="911602"/>
            <a:ext cx="4191509" cy="2453918"/>
          </a:xfrm>
        </p:spPr>
        <p:txBody>
          <a:bodyPr/>
          <a:lstStyle/>
          <a:p>
            <a:pPr>
              <a:lnSpc>
                <a:spcPct val="85000"/>
              </a:lnSpc>
              <a:spcBef>
                <a:spcPct val="35000"/>
              </a:spcBef>
              <a:buClr>
                <a:srgbClr val="996633"/>
              </a:buClr>
            </a:pPr>
            <a:r>
              <a:rPr lang="zh-CN" altLang="zh-CN">
                <a:ea typeface="宋体" panose="02010600030101010101" pitchFamily="2" charset="-122"/>
              </a:rPr>
              <a:t>国内生产总值(GDP) 衡量一国的总收入与支出</a:t>
            </a:r>
          </a:p>
          <a:p>
            <a:pPr>
              <a:lnSpc>
                <a:spcPct val="85000"/>
              </a:lnSpc>
              <a:spcBef>
                <a:spcPct val="35000"/>
              </a:spcBef>
              <a:buClr>
                <a:srgbClr val="996633"/>
              </a:buClr>
            </a:pPr>
            <a:r>
              <a:rPr lang="zh-CN" altLang="zh-CN">
                <a:ea typeface="宋体" panose="02010600030101010101" pitchFamily="2" charset="-122"/>
              </a:rPr>
              <a:t>GDP的四个支出组成部分包括：消费，投资，政府购买和净出口</a:t>
            </a:r>
          </a:p>
          <a:p>
            <a:pPr>
              <a:lnSpc>
                <a:spcPct val="85000"/>
              </a:lnSpc>
              <a:spcBef>
                <a:spcPct val="35000"/>
              </a:spcBef>
              <a:buClr>
                <a:srgbClr val="996633"/>
              </a:buClr>
            </a:pPr>
            <a:r>
              <a:rPr lang="zh-CN" altLang="zh-CN">
                <a:ea typeface="宋体" panose="02010600030101010101" pitchFamily="2" charset="-122"/>
              </a:rPr>
              <a:t>名义GDP是用现期价格来衡量，真实GDP是用不变的基年价格来衡量，并经过通货膨胀的校正   </a:t>
            </a:r>
          </a:p>
          <a:p>
            <a:pPr>
              <a:lnSpc>
                <a:spcPct val="85000"/>
              </a:lnSpc>
              <a:spcBef>
                <a:spcPct val="35000"/>
              </a:spcBef>
              <a:buClr>
                <a:srgbClr val="996633"/>
              </a:buClr>
            </a:pPr>
            <a:r>
              <a:rPr lang="zh-CN" altLang="zh-CN">
                <a:ea typeface="宋体" panose="02010600030101010101" pitchFamily="2" charset="-122"/>
              </a:rPr>
              <a:t>GDP虽然不是一个完美的指标，但它仍是衡量一国经济福利的主要指标</a:t>
            </a:r>
          </a:p>
        </p:txBody>
      </p:sp>
      <p:sp>
        <p:nvSpPr>
          <p:cNvPr id="80901" name="Rectangle 5">
            <a:extLst>
              <a:ext uri="{FF2B5EF4-FFF2-40B4-BE49-F238E27FC236}">
                <a16:creationId xmlns:a16="http://schemas.microsoft.com/office/drawing/2014/main" id="{15E90820-28B3-F88C-EF41-5ABD78AEF79E}"/>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381FDD96-2E32-1D42-9EA2-BE5B29A09DD4}"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68</a:t>
            </a:fld>
            <a:endParaRPr lang="en-US" altLang="zh-CN" sz="857">
              <a:solidFill>
                <a:srgbClr val="777777"/>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9A7A9A07-3E0C-09E4-656C-FAF2FA870362}"/>
              </a:ext>
            </a:extLst>
          </p:cNvPr>
          <p:cNvSpPr>
            <a:spLocks noGrp="1"/>
          </p:cNvSpPr>
          <p:nvPr>
            <p:ph type="title"/>
          </p:nvPr>
        </p:nvSpPr>
        <p:spPr/>
        <p:txBody>
          <a:bodyPr/>
          <a:lstStyle/>
          <a:p>
            <a:r>
              <a:rPr kumimoji="1" lang="zh-CN" altLang="en-US" dirty="0"/>
              <a:t>本节总结</a:t>
            </a:r>
          </a:p>
        </p:txBody>
      </p:sp>
    </p:spTree>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942D0-B04B-BBEC-9497-527290109026}"/>
              </a:ext>
            </a:extLst>
          </p:cNvPr>
          <p:cNvSpPr>
            <a:spLocks noGrp="1"/>
          </p:cNvSpPr>
          <p:nvPr>
            <p:ph type="title"/>
          </p:nvPr>
        </p:nvSpPr>
        <p:spPr>
          <a:xfrm>
            <a:off x="95503" y="1545709"/>
            <a:ext cx="4419094" cy="369332"/>
          </a:xfrm>
        </p:spPr>
        <p:txBody>
          <a:bodyPr/>
          <a:lstStyle/>
          <a:p>
            <a:pPr algn="ctr"/>
            <a:r>
              <a:rPr kumimoji="1" lang="en-US" altLang="zh-CN" sz="2400" dirty="0"/>
              <a:t>Thanks!</a:t>
            </a:r>
            <a:endParaRPr kumimoji="1" lang="zh-CN" altLang="en-US" sz="2400" dirty="0"/>
          </a:p>
        </p:txBody>
      </p:sp>
    </p:spTree>
    <p:extLst>
      <p:ext uri="{BB962C8B-B14F-4D97-AF65-F5344CB8AC3E}">
        <p14:creationId xmlns:p14="http://schemas.microsoft.com/office/powerpoint/2010/main" val="34615429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Lecture07_MRM_Further_Issues" id="{24B43B47-24CB-46F7-B8C9-C4EBF626B1D6}" vid="{43F0D2F8-6075-47B2-B32A-3346D0B039E8}"/>
    </a:ext>
  </a:extLst>
</a:theme>
</file>

<file path=ppt/theme/theme2.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3.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4.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5.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6.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7.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8.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9.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0.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3.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4.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5.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6.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7.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8.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9.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0.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3.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4.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5.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6.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7.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8.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9.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30.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3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3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33.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34.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35.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36.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37.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38.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Office 主题​​</Template>
  <TotalTime>6572</TotalTime>
  <Words>8044</Words>
  <Application>Microsoft Macintosh PowerPoint</Application>
  <PresentationFormat>自定义</PresentationFormat>
  <Paragraphs>930</Paragraphs>
  <Slides>69</Slides>
  <Notes>38</Notes>
  <HiddenSlides>0</HiddenSlides>
  <MMClips>0</MMClips>
  <ScaleCrop>false</ScaleCrop>
  <HeadingPairs>
    <vt:vector size="8" baseType="variant">
      <vt:variant>
        <vt:lpstr>已用的字体</vt:lpstr>
      </vt:variant>
      <vt:variant>
        <vt:i4>17</vt:i4>
      </vt:variant>
      <vt:variant>
        <vt:lpstr>主题</vt:lpstr>
      </vt:variant>
      <vt:variant>
        <vt:i4>4</vt:i4>
      </vt:variant>
      <vt:variant>
        <vt:lpstr>嵌入 OLE 服务器</vt:lpstr>
      </vt:variant>
      <vt:variant>
        <vt:i4>1</vt:i4>
      </vt:variant>
      <vt:variant>
        <vt:lpstr>幻灯片标题</vt:lpstr>
      </vt:variant>
      <vt:variant>
        <vt:i4>69</vt:i4>
      </vt:variant>
    </vt:vector>
  </HeadingPairs>
  <TitlesOfParts>
    <vt:vector size="91" baseType="lpstr">
      <vt:lpstr>等线</vt:lpstr>
      <vt:lpstr>等线</vt:lpstr>
      <vt:lpstr>FangSong</vt:lpstr>
      <vt:lpstr>KaiTi</vt:lpstr>
      <vt:lpstr>宋体</vt:lpstr>
      <vt:lpstr>宋体</vt:lpstr>
      <vt:lpstr>Microsoft YaHei</vt:lpstr>
      <vt:lpstr>微软雅黑 Light</vt:lpstr>
      <vt:lpstr>Arial</vt:lpstr>
      <vt:lpstr>Book Antiqua</vt:lpstr>
      <vt:lpstr>Calibri</vt:lpstr>
      <vt:lpstr>Calibri Light</vt:lpstr>
      <vt:lpstr>Cambria Math</vt:lpstr>
      <vt:lpstr>Garamond</vt:lpstr>
      <vt:lpstr>Tahoma</vt:lpstr>
      <vt:lpstr>Times New Roman</vt:lpstr>
      <vt:lpstr>Wingdings</vt:lpstr>
      <vt:lpstr>Office 主题​​</vt:lpstr>
      <vt:lpstr>Custom Design</vt:lpstr>
      <vt:lpstr>1_Office 主题​​</vt:lpstr>
      <vt:lpstr>2_Office 主题​​</vt:lpstr>
      <vt:lpstr>Excel.Chart.8</vt:lpstr>
      <vt:lpstr>宏观经济学</vt:lpstr>
      <vt:lpstr>PowerPoint 演示文稿</vt:lpstr>
      <vt:lpstr>PowerPoint 演示文稿</vt:lpstr>
      <vt:lpstr>PowerPoint 演示文稿</vt:lpstr>
      <vt:lpstr>PowerPoint 演示文稿</vt:lpstr>
      <vt:lpstr>宏观经济学</vt:lpstr>
      <vt:lpstr>PowerPoint 演示文稿</vt:lpstr>
      <vt:lpstr>Open discuss：你想生活在什么样的国家？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微观经济学与宏观经济学</vt:lpstr>
      <vt:lpstr>微观经济学与宏观经济学</vt:lpstr>
      <vt:lpstr>宏观经济学研究什么</vt:lpstr>
      <vt:lpstr>1. 经济增长</vt:lpstr>
      <vt:lpstr>PowerPoint 演示文稿</vt:lpstr>
      <vt:lpstr>PowerPoint 演示文稿</vt:lpstr>
      <vt:lpstr>PowerPoint 演示文稿</vt:lpstr>
      <vt:lpstr>电影：《当幸福来敲门》</vt:lpstr>
      <vt:lpstr>收入与支出</vt:lpstr>
      <vt:lpstr>PowerPoint 演示文稿</vt:lpstr>
      <vt:lpstr>PowerPoint 演示文稿</vt:lpstr>
      <vt:lpstr>宏观经济学的第一个模型：循环流量图</vt:lpstr>
      <vt:lpstr>循环流量图</vt:lpstr>
      <vt:lpstr>循环流量图</vt:lpstr>
      <vt:lpstr>这张图省略了什么</vt:lpstr>
      <vt:lpstr>国内生产总值（GDP）：</vt:lpstr>
      <vt:lpstr>国内生产总值 (GDP) ：</vt:lpstr>
      <vt:lpstr>国内生产总值 (GDP)：</vt:lpstr>
      <vt:lpstr>国内生产总值 (GDP)：</vt:lpstr>
      <vt:lpstr>国内生产总值 (GDP)：</vt:lpstr>
      <vt:lpstr>国内生产总值 (GDP)：</vt:lpstr>
      <vt:lpstr>GDP的组成部分</vt:lpstr>
      <vt:lpstr>消费 (C)</vt:lpstr>
      <vt:lpstr>投资 （I）</vt:lpstr>
      <vt:lpstr>政府购买 （G）</vt:lpstr>
      <vt:lpstr>净出口 （NX）</vt:lpstr>
      <vt:lpstr>主动学习  1    GDP及其组成部分</vt:lpstr>
      <vt:lpstr>主动学习  1    参考答案</vt:lpstr>
      <vt:lpstr>主动学习  1    参考答案</vt:lpstr>
      <vt:lpstr>真实GDP与名义GDP</vt:lpstr>
      <vt:lpstr>例：</vt:lpstr>
      <vt:lpstr>例：</vt:lpstr>
      <vt:lpstr>例:</vt:lpstr>
      <vt:lpstr>例：</vt:lpstr>
      <vt:lpstr>美国的名义GDP与真实GDP：   1965-2007</vt:lpstr>
      <vt:lpstr> GDP平减指数</vt:lpstr>
      <vt:lpstr>例：</vt:lpstr>
      <vt:lpstr>主动学习  2    GDP的计算</vt:lpstr>
      <vt:lpstr>主动学习  2    参考答案</vt:lpstr>
      <vt:lpstr>主动学习  2    参考答案</vt:lpstr>
      <vt:lpstr>PowerPoint 演示文稿</vt:lpstr>
      <vt:lpstr>PowerPoint 演示文稿</vt:lpstr>
      <vt:lpstr>GDP与经济福利</vt:lpstr>
      <vt:lpstr>国内生产总值……</vt:lpstr>
      <vt:lpstr>GDP 并没有评价:</vt:lpstr>
      <vt:lpstr>为什么我们还要关注GDP?</vt:lpstr>
      <vt:lpstr>12个国家的GDP和预期寿命</vt:lpstr>
      <vt:lpstr>12个国家的GDP与成人识字率</vt:lpstr>
      <vt:lpstr>12个国家GDP与网络的使用</vt:lpstr>
      <vt:lpstr>本节总结</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公共部门经济学</dc:title>
  <dc:creator>QD5164</dc:creator>
  <cp:keywords>()</cp:keywords>
  <cp:lastModifiedBy>Zhiqing YANG</cp:lastModifiedBy>
  <cp:revision>1519</cp:revision>
  <dcterms:created xsi:type="dcterms:W3CDTF">2022-08-17T03:42:51Z</dcterms:created>
  <dcterms:modified xsi:type="dcterms:W3CDTF">2025-02-18T07:37:40Z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2014-11-25T00:00:00Z</vt:filetime>
  </property>
  <property fmtid="{D5CDD505-2E9C-101B-9397-08002B2CF9AE}" pid="3" name="Creator">
    <vt:lpwstr>LaTeX with Beamer class version 3.33</vt:lpwstr>
  </property>
  <property fmtid="{D5CDD505-2E9C-101B-9397-08002B2CF9AE}" pid="4" name="LastSaved">
    <vt:filetime>2018-11-23T00:00:00Z</vt:filetime>
  </property>
</Properties>
</file>